
<file path=[Content_Types].xml><?xml version="1.0" encoding="utf-8"?>
<Types xmlns="http://schemas.openxmlformats.org/package/2006/content-types">
  <Default Extension="bin" ContentType="application/vnd.openxmlformats-officedocument.oleObject"/>
  <Default Extension="png" ContentType="image/png"/>
  <Default Extension="jpeg" ContentType="image/jpeg"/>
  <Default Extension="wmf" ContentType="image/x-wmf"/>
  <Default Extension="rels" ContentType="application/vnd.openxmlformats-package.relationships+xml"/>
  <Default Extension="xml" ContentType="application/xml"/>
  <Default Extension="wav" ContentType="audio/wav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9"/>
  </p:notesMasterIdLst>
  <p:sldIdLst>
    <p:sldId id="591" r:id="rId2"/>
    <p:sldId id="593" r:id="rId3"/>
    <p:sldId id="765" r:id="rId4"/>
    <p:sldId id="767" r:id="rId5"/>
    <p:sldId id="766" r:id="rId6"/>
    <p:sldId id="768" r:id="rId7"/>
    <p:sldId id="769" r:id="rId8"/>
    <p:sldId id="771" r:id="rId9"/>
    <p:sldId id="772" r:id="rId10"/>
    <p:sldId id="773" r:id="rId11"/>
    <p:sldId id="774" r:id="rId12"/>
    <p:sldId id="775" r:id="rId13"/>
    <p:sldId id="776" r:id="rId14"/>
    <p:sldId id="777" r:id="rId15"/>
    <p:sldId id="778" r:id="rId16"/>
    <p:sldId id="779" r:id="rId17"/>
    <p:sldId id="780" r:id="rId18"/>
    <p:sldId id="781" r:id="rId19"/>
    <p:sldId id="782" r:id="rId20"/>
    <p:sldId id="783" r:id="rId21"/>
    <p:sldId id="784" r:id="rId22"/>
    <p:sldId id="785" r:id="rId23"/>
    <p:sldId id="786" r:id="rId24"/>
    <p:sldId id="788" r:id="rId25"/>
    <p:sldId id="789" r:id="rId26"/>
    <p:sldId id="790" r:id="rId27"/>
    <p:sldId id="791" r:id="rId28"/>
    <p:sldId id="792" r:id="rId29"/>
    <p:sldId id="793" r:id="rId30"/>
    <p:sldId id="794" r:id="rId31"/>
    <p:sldId id="795" r:id="rId32"/>
    <p:sldId id="796" r:id="rId33"/>
    <p:sldId id="797" r:id="rId34"/>
    <p:sldId id="798" r:id="rId35"/>
    <p:sldId id="799" r:id="rId36"/>
    <p:sldId id="800" r:id="rId37"/>
    <p:sldId id="801" r:id="rId38"/>
  </p:sldIdLst>
  <p:sldSz cx="12192000" cy="6858000"/>
  <p:notesSz cx="6858000" cy="9144000"/>
  <p:defaultTextStyle>
    <a:defPPr>
      <a:defRPr lang="zh-CN"/>
    </a:defPPr>
    <a:lvl1pPr algn="l" rtl="0" fontAlgn="base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1pPr>
    <a:lvl2pPr marL="457200" algn="l" rtl="0" fontAlgn="base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2pPr>
    <a:lvl3pPr marL="914400" algn="l" rtl="0" fontAlgn="base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5pPr>
    <a:lvl6pPr marL="2286000" algn="l" defTabSz="914400" rtl="0" eaLnBrk="1" latinLnBrk="0" hangingPunct="1">
      <a:defRPr kumimoji="1" sz="24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6pPr>
    <a:lvl7pPr marL="2743200" algn="l" defTabSz="914400" rtl="0" eaLnBrk="1" latinLnBrk="0" hangingPunct="1">
      <a:defRPr kumimoji="1" sz="24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7pPr>
    <a:lvl8pPr marL="3200400" algn="l" defTabSz="914400" rtl="0" eaLnBrk="1" latinLnBrk="0" hangingPunct="1">
      <a:defRPr kumimoji="1" sz="24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8pPr>
    <a:lvl9pPr marL="3657600" algn="l" defTabSz="914400" rtl="0" eaLnBrk="1" latinLnBrk="0" hangingPunct="1">
      <a:defRPr kumimoji="1" sz="24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776" userDrawn="1">
          <p15:clr>
            <a:srgbClr val="A4A3A4"/>
          </p15:clr>
        </p15:guide>
        <p15:guide id="2" pos="2496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  <a:srgbClr val="006600"/>
    <a:srgbClr val="FFFFCC"/>
    <a:srgbClr val="FF00FF"/>
    <a:srgbClr val="FF66FF"/>
    <a:srgbClr val="00FFFF"/>
    <a:srgbClr val="CC0000"/>
    <a:srgbClr val="9900FF"/>
    <a:srgbClr val="FF3300"/>
    <a:srgbClr val="3399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181" autoAdjust="0"/>
    <p:restoredTop sz="93929" autoAdjust="0"/>
  </p:normalViewPr>
  <p:slideViewPr>
    <p:cSldViewPr>
      <p:cViewPr varScale="1">
        <p:scale>
          <a:sx n="84" d="100"/>
          <a:sy n="84" d="100"/>
        </p:scale>
        <p:origin x="528" y="90"/>
      </p:cViewPr>
      <p:guideLst>
        <p:guide orient="horz" pos="1776"/>
        <p:guide pos="2496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18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notesMaster" Target="notesMasters/notesMaster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2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95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endParaRPr lang="en-US" altLang="zh-CN"/>
          </a:p>
        </p:txBody>
      </p:sp>
      <p:sp>
        <p:nvSpPr>
          <p:cNvPr id="25395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endParaRPr lang="en-US" altLang="zh-CN"/>
          </a:p>
        </p:txBody>
      </p:sp>
      <p:sp>
        <p:nvSpPr>
          <p:cNvPr id="25395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381000" y="685800"/>
            <a:ext cx="6096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</p:spPr>
      </p:sp>
      <p:sp>
        <p:nvSpPr>
          <p:cNvPr id="253957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25395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endParaRPr lang="en-US" altLang="zh-CN"/>
          </a:p>
        </p:txBody>
      </p:sp>
      <p:sp>
        <p:nvSpPr>
          <p:cNvPr id="25395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30B762F2-DB06-4FCD-A130-F3FD2F633840}" type="slidenum">
              <a:rPr lang="en-US" altLang="zh-CN"/>
              <a:pPr/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1pPr>
    <a:lvl2pPr marL="4572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2pPr>
    <a:lvl3pPr marL="9144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3pPr>
    <a:lvl4pPr marL="13716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4pPr>
    <a:lvl5pPr marL="18288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62F55492-E8C8-44E7-96B1-9781C97FF1BF}" type="slidenum">
              <a:rPr lang="en-US" altLang="zh-CN"/>
              <a:pPr/>
              <a:t>5</a:t>
            </a:fld>
            <a:endParaRPr lang="en-US" altLang="zh-CN"/>
          </a:p>
        </p:txBody>
      </p:sp>
      <p:sp>
        <p:nvSpPr>
          <p:cNvPr id="95949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95949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</p:spPr>
        <p:txBody>
          <a:bodyPr/>
          <a:lstStyle/>
          <a:p>
            <a:r>
              <a:rPr lang="en-US" altLang="zh-CN"/>
              <a:t>1946</a:t>
            </a:r>
            <a:r>
              <a:rPr lang="zh-CN" altLang="en-US"/>
              <a:t>年，第一台电子计算机问世，应用领域迅速扩大，软硬件飞速发展，程序设计语言相继问世。</a:t>
            </a:r>
          </a:p>
          <a:p>
            <a:r>
              <a:rPr lang="zh-CN" altLang="en-US"/>
              <a:t>程序设计语言</a:t>
            </a:r>
            <a:r>
              <a:rPr lang="en-US" altLang="zh-CN"/>
              <a:t>:</a:t>
            </a:r>
            <a:r>
              <a:rPr lang="zh-CN" altLang="en-US"/>
              <a:t>将自然语言形式化为有格式的语言</a:t>
            </a:r>
          </a:p>
          <a:p>
            <a:r>
              <a:rPr lang="en-US" altLang="zh-CN"/>
              <a:t>1</a:t>
            </a:r>
            <a:r>
              <a:rPr lang="zh-CN" altLang="en-US"/>
              <a:t>。机器语言：</a:t>
            </a:r>
          </a:p>
          <a:p>
            <a:pPr lvl="2">
              <a:buClr>
                <a:schemeClr val="tx2"/>
              </a:buClr>
              <a:buFontTx/>
              <a:buChar char="•"/>
            </a:pPr>
            <a:r>
              <a:rPr lang="zh-CN" altLang="en-US"/>
              <a:t>计算机能够认识的语言</a:t>
            </a:r>
          </a:p>
          <a:p>
            <a:pPr lvl="2">
              <a:buClr>
                <a:schemeClr val="tx2"/>
              </a:buClr>
              <a:buFontTx/>
              <a:buChar char="•"/>
            </a:pPr>
            <a:r>
              <a:rPr lang="zh-CN" altLang="en-US"/>
              <a:t>计算机的基础是数字电路</a:t>
            </a:r>
          </a:p>
          <a:p>
            <a:pPr lvl="2">
              <a:buClr>
                <a:schemeClr val="tx2"/>
              </a:buClr>
              <a:buFontTx/>
              <a:buChar char="•"/>
            </a:pPr>
            <a:r>
              <a:rPr lang="zh-CN" altLang="en-US"/>
              <a:t>机器语言就是数字电路里的电信号</a:t>
            </a:r>
          </a:p>
          <a:p>
            <a:pPr lvl="2">
              <a:buClr>
                <a:schemeClr val="tx2"/>
              </a:buClr>
              <a:buFontTx/>
              <a:buChar char="•"/>
            </a:pPr>
            <a:r>
              <a:rPr lang="zh-CN" altLang="en-US"/>
              <a:t>将在</a:t>
            </a:r>
            <a:r>
              <a:rPr lang="en-US" altLang="zh-CN"/>
              <a:t>《</a:t>
            </a:r>
            <a:r>
              <a:rPr lang="zh-CN" altLang="en-US"/>
              <a:t>计算机组成</a:t>
            </a:r>
            <a:r>
              <a:rPr lang="en-US" altLang="zh-CN"/>
              <a:t>》</a:t>
            </a:r>
            <a:r>
              <a:rPr lang="zh-CN" altLang="en-US"/>
              <a:t>课程中学习</a:t>
            </a:r>
          </a:p>
          <a:p>
            <a:pPr lvl="2">
              <a:buClr>
                <a:schemeClr val="tx2"/>
              </a:buClr>
              <a:buFontTx/>
              <a:buChar char="•"/>
            </a:pPr>
            <a:r>
              <a:rPr lang="zh-CN" altLang="en-US"/>
              <a:t>都是二进制文件</a:t>
            </a:r>
          </a:p>
          <a:p>
            <a:pPr lvl="2">
              <a:buClr>
                <a:schemeClr val="tx2"/>
              </a:buClr>
              <a:buFontTx/>
              <a:buChar char="•"/>
            </a:pPr>
            <a:r>
              <a:rPr lang="zh-CN" altLang="en-US"/>
              <a:t>一条机器语言成为一条指令</a:t>
            </a:r>
          </a:p>
          <a:p>
            <a:pPr lvl="2">
              <a:buClr>
                <a:schemeClr val="tx2"/>
              </a:buClr>
              <a:buFontTx/>
              <a:buChar char="•"/>
            </a:pPr>
            <a:r>
              <a:rPr lang="zh-CN" altLang="en-US"/>
              <a:t>指令是不可分割的最小功能单元</a:t>
            </a:r>
          </a:p>
          <a:p>
            <a:r>
              <a:rPr lang="zh-CN" altLang="en-US"/>
              <a:t>定义：一种</a:t>
            </a:r>
            <a:r>
              <a:rPr lang="en-US" altLang="zh-CN"/>
              <a:t>CPU</a:t>
            </a:r>
            <a:r>
              <a:rPr lang="zh-CN" altLang="en-US"/>
              <a:t>的指令系统，由该</a:t>
            </a:r>
            <a:r>
              <a:rPr lang="en-US" altLang="zh-CN"/>
              <a:t>CPU</a:t>
            </a:r>
            <a:r>
              <a:rPr lang="zh-CN" altLang="en-US"/>
              <a:t>可识别的</a:t>
            </a:r>
            <a:r>
              <a:rPr lang="en-US" altLang="zh-CN"/>
              <a:t>0</a:t>
            </a:r>
            <a:r>
              <a:rPr lang="zh-CN" altLang="en-US"/>
              <a:t>、</a:t>
            </a:r>
            <a:r>
              <a:rPr lang="en-US" altLang="zh-CN"/>
              <a:t>1</a:t>
            </a:r>
            <a:r>
              <a:rPr lang="zh-CN" altLang="en-US"/>
              <a:t>序列构成的指令码组成。</a:t>
            </a:r>
          </a:p>
          <a:p>
            <a:r>
              <a:rPr lang="zh-CN" altLang="en-US"/>
              <a:t>特点：</a:t>
            </a:r>
          </a:p>
          <a:p>
            <a:r>
              <a:rPr lang="zh-CN" altLang="en-US"/>
              <a:t>执行效率高</a:t>
            </a:r>
          </a:p>
          <a:p>
            <a:r>
              <a:rPr lang="zh-CN" altLang="en-US"/>
              <a:t>不直观，不易查错，生产效率低。</a:t>
            </a:r>
          </a:p>
          <a:p>
            <a:r>
              <a:rPr lang="en-US" altLang="zh-CN"/>
              <a:t>2</a:t>
            </a:r>
            <a:r>
              <a:rPr lang="zh-CN" altLang="en-US"/>
              <a:t>。汇编语言</a:t>
            </a:r>
          </a:p>
          <a:p>
            <a:r>
              <a:rPr lang="zh-CN" altLang="en-US"/>
              <a:t>定义：用助记符号描述的指令系统</a:t>
            </a:r>
          </a:p>
          <a:p>
            <a:r>
              <a:rPr lang="zh-CN" altLang="en-US"/>
              <a:t>特点：</a:t>
            </a:r>
          </a:p>
          <a:p>
            <a:r>
              <a:rPr lang="zh-CN" altLang="en-US"/>
              <a:t>生产效率高，质量好，执行效率较高；</a:t>
            </a:r>
          </a:p>
          <a:p>
            <a:r>
              <a:rPr lang="zh-CN" altLang="en-US"/>
              <a:t>要经汇编程序汇编成目标程序（机器语言）才能执行，依赖硬件。</a:t>
            </a:r>
          </a:p>
          <a:p>
            <a:r>
              <a:rPr lang="zh-CN" altLang="en-US"/>
              <a:t>（面向机器的语言</a:t>
            </a:r>
            <a:r>
              <a:rPr lang="en-US" altLang="zh-CN"/>
              <a:t>----</a:t>
            </a:r>
            <a:r>
              <a:rPr lang="zh-CN" altLang="en-US"/>
              <a:t>依</a:t>
            </a:r>
            <a:r>
              <a:rPr lang="en-US" altLang="zh-CN"/>
              <a:t>CPU</a:t>
            </a:r>
            <a:r>
              <a:rPr lang="zh-CN" altLang="en-US"/>
              <a:t>不同而异）</a:t>
            </a:r>
          </a:p>
          <a:p>
            <a:r>
              <a:rPr lang="en-US" altLang="zh-CN"/>
              <a:t>3</a:t>
            </a:r>
            <a:r>
              <a:rPr lang="zh-CN" altLang="en-US"/>
              <a:t>。高级语言</a:t>
            </a:r>
          </a:p>
          <a:p>
            <a:r>
              <a:rPr lang="zh-CN" altLang="en-US"/>
              <a:t>特点：</a:t>
            </a:r>
          </a:p>
          <a:p>
            <a:r>
              <a:rPr lang="zh-CN" altLang="en-US"/>
              <a:t>编程效率高，不必考虑硬件；</a:t>
            </a:r>
          </a:p>
          <a:p>
            <a:r>
              <a:rPr lang="zh-CN" altLang="en-US"/>
              <a:t>执行效率低，要经编译、连接后才能执行。</a:t>
            </a:r>
          </a:p>
          <a:p>
            <a:r>
              <a:rPr lang="zh-CN" altLang="en-US"/>
              <a:t>面向过程的程序设计语言</a:t>
            </a:r>
          </a:p>
          <a:p>
            <a:r>
              <a:rPr lang="zh-CN" altLang="en-US"/>
              <a:t>认为解题过程是数据被加工的过程</a:t>
            </a:r>
          </a:p>
          <a:p>
            <a:r>
              <a:rPr lang="zh-CN" altLang="en-US"/>
              <a:t>程序</a:t>
            </a:r>
            <a:r>
              <a:rPr lang="en-US" altLang="zh-CN"/>
              <a:t>=</a:t>
            </a:r>
            <a:r>
              <a:rPr lang="zh-CN" altLang="en-US"/>
              <a:t>数据结构</a:t>
            </a:r>
            <a:r>
              <a:rPr lang="en-US" altLang="zh-CN"/>
              <a:t>+</a:t>
            </a:r>
            <a:r>
              <a:rPr lang="zh-CN" altLang="en-US"/>
              <a:t>算法</a:t>
            </a:r>
          </a:p>
          <a:p>
            <a:r>
              <a:rPr lang="en-US" altLang="zh-CN"/>
              <a:t>C</a:t>
            </a:r>
            <a:r>
              <a:rPr lang="zh-CN" altLang="en-US"/>
              <a:t>语言是面向过程的高级语言</a:t>
            </a:r>
          </a:p>
          <a:p>
            <a:r>
              <a:rPr lang="zh-CN" altLang="en-US"/>
              <a:t>           面向对象的程序设计语言</a:t>
            </a:r>
          </a:p>
          <a:p>
            <a:r>
              <a:rPr lang="zh-CN" altLang="en-US"/>
              <a:t>一种结构模拟方法。认为：现实世界由对象组成，对象是数据和方法的封装体；客观世界可以分类，每个对象是类的一个实例。</a:t>
            </a:r>
          </a:p>
          <a:p>
            <a:r>
              <a:rPr lang="zh-CN" altLang="en-US"/>
              <a:t>特点：比面向过程的语言更清晰、易懂，适宜编更大规模程序，是程序设计的主流</a:t>
            </a:r>
          </a:p>
          <a:p>
            <a:endParaRPr lang="zh-CN" altLang="en-US"/>
          </a:p>
          <a:p>
            <a:r>
              <a:rPr lang="zh-CN" altLang="en-US"/>
              <a:t>程序设计语言基本成分：</a:t>
            </a:r>
          </a:p>
          <a:p>
            <a:r>
              <a:rPr lang="zh-CN" altLang="en-US"/>
              <a:t>。数据成分</a:t>
            </a:r>
          </a:p>
          <a:p>
            <a:r>
              <a:rPr lang="zh-CN" altLang="en-US"/>
              <a:t>。运算成分</a:t>
            </a:r>
          </a:p>
          <a:p>
            <a:r>
              <a:rPr lang="zh-CN" altLang="en-US"/>
              <a:t>。控制成分</a:t>
            </a:r>
          </a:p>
          <a:p>
            <a:r>
              <a:rPr lang="zh-CN" altLang="en-US"/>
              <a:t>。传输成分	</a:t>
            </a:r>
          </a:p>
          <a:p>
            <a:endParaRPr lang="zh-CN" altLang="en-US"/>
          </a:p>
          <a:p>
            <a:r>
              <a:rPr lang="zh-CN" altLang="en-US"/>
              <a:t>程序设计语言定义：用于书写计算机程序的语言。通常指实现高级语言。</a:t>
            </a:r>
          </a:p>
          <a:p>
            <a:r>
              <a:rPr lang="zh-CN" altLang="en-US"/>
              <a:t>语言的基础是一组记号与一组规则。</a:t>
            </a:r>
          </a:p>
          <a:p>
            <a:r>
              <a:rPr lang="zh-CN" altLang="en-US"/>
              <a:t>程序设计语言包括：</a:t>
            </a:r>
          </a:p>
          <a:p>
            <a:r>
              <a:rPr lang="zh-CN" altLang="en-US"/>
              <a:t>语法：记号的组合规则</a:t>
            </a:r>
          </a:p>
          <a:p>
            <a:r>
              <a:rPr lang="zh-CN" altLang="en-US"/>
              <a:t>语义：记号的特定意义</a:t>
            </a:r>
          </a:p>
          <a:p>
            <a:r>
              <a:rPr lang="zh-CN" altLang="en-US"/>
              <a:t>语用：程序与使用者的关系</a:t>
            </a:r>
          </a:p>
          <a:p>
            <a:endParaRPr lang="zh-CN" altLang="en-US"/>
          </a:p>
          <a:p>
            <a:endParaRPr lang="en-US" altLang="zh-CN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8C29F726-26D0-48EB-81BA-28A89B89A3A0}" type="slidenum">
              <a:rPr lang="en-US" altLang="zh-CN"/>
              <a:pPr/>
              <a:t>6</a:t>
            </a:fld>
            <a:endParaRPr lang="en-US" altLang="zh-CN"/>
          </a:p>
        </p:txBody>
      </p:sp>
      <p:sp>
        <p:nvSpPr>
          <p:cNvPr id="104960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104960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</p:spPr>
        <p:txBody>
          <a:bodyPr/>
          <a:lstStyle/>
          <a:p>
            <a:r>
              <a:rPr lang="en-US" altLang="zh-CN"/>
              <a:t>1946</a:t>
            </a:r>
            <a:r>
              <a:rPr lang="zh-CN" altLang="en-US"/>
              <a:t>年，第一台电子计算机问世，应用领域迅速扩大，软硬件飞速发展，程序设计语言相继问世。</a:t>
            </a:r>
          </a:p>
          <a:p>
            <a:r>
              <a:rPr lang="zh-CN" altLang="en-US"/>
              <a:t>程序设计语言</a:t>
            </a:r>
            <a:r>
              <a:rPr lang="en-US" altLang="zh-CN"/>
              <a:t>:</a:t>
            </a:r>
            <a:r>
              <a:rPr lang="zh-CN" altLang="en-US"/>
              <a:t>将自然语言形式化为有格式的语言</a:t>
            </a:r>
          </a:p>
          <a:p>
            <a:r>
              <a:rPr lang="en-US" altLang="zh-CN"/>
              <a:t>1</a:t>
            </a:r>
            <a:r>
              <a:rPr lang="zh-CN" altLang="en-US"/>
              <a:t>。机器语言：</a:t>
            </a:r>
          </a:p>
          <a:p>
            <a:pPr lvl="2">
              <a:buClr>
                <a:schemeClr val="tx2"/>
              </a:buClr>
              <a:buFontTx/>
              <a:buChar char="•"/>
            </a:pPr>
            <a:r>
              <a:rPr lang="zh-CN" altLang="en-US"/>
              <a:t>计算机能够认识的语言</a:t>
            </a:r>
          </a:p>
          <a:p>
            <a:pPr lvl="2">
              <a:buClr>
                <a:schemeClr val="tx2"/>
              </a:buClr>
              <a:buFontTx/>
              <a:buChar char="•"/>
            </a:pPr>
            <a:r>
              <a:rPr lang="zh-CN" altLang="en-US"/>
              <a:t>计算机的基础是数字电路</a:t>
            </a:r>
          </a:p>
          <a:p>
            <a:pPr lvl="2">
              <a:buClr>
                <a:schemeClr val="tx2"/>
              </a:buClr>
              <a:buFontTx/>
              <a:buChar char="•"/>
            </a:pPr>
            <a:r>
              <a:rPr lang="zh-CN" altLang="en-US"/>
              <a:t>机器语言就是数字电路里的电信号</a:t>
            </a:r>
          </a:p>
          <a:p>
            <a:pPr lvl="2">
              <a:buClr>
                <a:schemeClr val="tx2"/>
              </a:buClr>
              <a:buFontTx/>
              <a:buChar char="•"/>
            </a:pPr>
            <a:r>
              <a:rPr lang="zh-CN" altLang="en-US"/>
              <a:t>将在</a:t>
            </a:r>
            <a:r>
              <a:rPr lang="en-US" altLang="zh-CN"/>
              <a:t>《</a:t>
            </a:r>
            <a:r>
              <a:rPr lang="zh-CN" altLang="en-US"/>
              <a:t>计算机组成</a:t>
            </a:r>
            <a:r>
              <a:rPr lang="en-US" altLang="zh-CN"/>
              <a:t>》</a:t>
            </a:r>
            <a:r>
              <a:rPr lang="zh-CN" altLang="en-US"/>
              <a:t>课程中学习</a:t>
            </a:r>
          </a:p>
          <a:p>
            <a:pPr lvl="2">
              <a:buClr>
                <a:schemeClr val="tx2"/>
              </a:buClr>
              <a:buFontTx/>
              <a:buChar char="•"/>
            </a:pPr>
            <a:r>
              <a:rPr lang="zh-CN" altLang="en-US"/>
              <a:t>都是二进制文件</a:t>
            </a:r>
          </a:p>
          <a:p>
            <a:pPr lvl="2">
              <a:buClr>
                <a:schemeClr val="tx2"/>
              </a:buClr>
              <a:buFontTx/>
              <a:buChar char="•"/>
            </a:pPr>
            <a:r>
              <a:rPr lang="zh-CN" altLang="en-US"/>
              <a:t>一条机器语言成为一条指令</a:t>
            </a:r>
          </a:p>
          <a:p>
            <a:pPr lvl="2">
              <a:buClr>
                <a:schemeClr val="tx2"/>
              </a:buClr>
              <a:buFontTx/>
              <a:buChar char="•"/>
            </a:pPr>
            <a:r>
              <a:rPr lang="zh-CN" altLang="en-US"/>
              <a:t>指令是不可分割的最小功能单元</a:t>
            </a:r>
          </a:p>
          <a:p>
            <a:r>
              <a:rPr lang="zh-CN" altLang="en-US"/>
              <a:t>定义：一种</a:t>
            </a:r>
            <a:r>
              <a:rPr lang="en-US" altLang="zh-CN"/>
              <a:t>CPU</a:t>
            </a:r>
            <a:r>
              <a:rPr lang="zh-CN" altLang="en-US"/>
              <a:t>的指令系统，由该</a:t>
            </a:r>
            <a:r>
              <a:rPr lang="en-US" altLang="zh-CN"/>
              <a:t>CPU</a:t>
            </a:r>
            <a:r>
              <a:rPr lang="zh-CN" altLang="en-US"/>
              <a:t>可识别的</a:t>
            </a:r>
            <a:r>
              <a:rPr lang="en-US" altLang="zh-CN"/>
              <a:t>0</a:t>
            </a:r>
            <a:r>
              <a:rPr lang="zh-CN" altLang="en-US"/>
              <a:t>、</a:t>
            </a:r>
            <a:r>
              <a:rPr lang="en-US" altLang="zh-CN"/>
              <a:t>1</a:t>
            </a:r>
            <a:r>
              <a:rPr lang="zh-CN" altLang="en-US"/>
              <a:t>序列构成的指令码组成。</a:t>
            </a:r>
          </a:p>
          <a:p>
            <a:r>
              <a:rPr lang="zh-CN" altLang="en-US"/>
              <a:t>特点：</a:t>
            </a:r>
          </a:p>
          <a:p>
            <a:r>
              <a:rPr lang="zh-CN" altLang="en-US"/>
              <a:t>执行效率高</a:t>
            </a:r>
          </a:p>
          <a:p>
            <a:r>
              <a:rPr lang="zh-CN" altLang="en-US"/>
              <a:t>不直观，不易查错，生产效率低。</a:t>
            </a:r>
          </a:p>
          <a:p>
            <a:r>
              <a:rPr lang="en-US" altLang="zh-CN"/>
              <a:t>2</a:t>
            </a:r>
            <a:r>
              <a:rPr lang="zh-CN" altLang="en-US"/>
              <a:t>。汇编语言</a:t>
            </a:r>
          </a:p>
          <a:p>
            <a:r>
              <a:rPr lang="zh-CN" altLang="en-US"/>
              <a:t>定义：用助记符号描述的指令系统</a:t>
            </a:r>
          </a:p>
          <a:p>
            <a:r>
              <a:rPr lang="zh-CN" altLang="en-US"/>
              <a:t>特点：</a:t>
            </a:r>
          </a:p>
          <a:p>
            <a:r>
              <a:rPr lang="zh-CN" altLang="en-US"/>
              <a:t>生产效率高，质量好，执行效率较高；</a:t>
            </a:r>
          </a:p>
          <a:p>
            <a:r>
              <a:rPr lang="zh-CN" altLang="en-US"/>
              <a:t>要经汇编程序汇编成目标程序（机器语言）才能执行，依赖硬件。</a:t>
            </a:r>
          </a:p>
          <a:p>
            <a:r>
              <a:rPr lang="zh-CN" altLang="en-US"/>
              <a:t>（面向机器的语言</a:t>
            </a:r>
            <a:r>
              <a:rPr lang="en-US" altLang="zh-CN"/>
              <a:t>----</a:t>
            </a:r>
            <a:r>
              <a:rPr lang="zh-CN" altLang="en-US"/>
              <a:t>依</a:t>
            </a:r>
            <a:r>
              <a:rPr lang="en-US" altLang="zh-CN"/>
              <a:t>CPU</a:t>
            </a:r>
            <a:r>
              <a:rPr lang="zh-CN" altLang="en-US"/>
              <a:t>不同而异）</a:t>
            </a:r>
          </a:p>
          <a:p>
            <a:r>
              <a:rPr lang="en-US" altLang="zh-CN"/>
              <a:t>3</a:t>
            </a:r>
            <a:r>
              <a:rPr lang="zh-CN" altLang="en-US"/>
              <a:t>。高级语言</a:t>
            </a:r>
          </a:p>
          <a:p>
            <a:r>
              <a:rPr lang="zh-CN" altLang="en-US"/>
              <a:t>特点：</a:t>
            </a:r>
          </a:p>
          <a:p>
            <a:r>
              <a:rPr lang="zh-CN" altLang="en-US"/>
              <a:t>编程效率高，不必考虑硬件；</a:t>
            </a:r>
          </a:p>
          <a:p>
            <a:r>
              <a:rPr lang="zh-CN" altLang="en-US"/>
              <a:t>执行效率低，要经编译、连接后才能执行。</a:t>
            </a:r>
          </a:p>
          <a:p>
            <a:r>
              <a:rPr lang="zh-CN" altLang="en-US"/>
              <a:t>面向过程的程序设计语言</a:t>
            </a:r>
          </a:p>
          <a:p>
            <a:r>
              <a:rPr lang="zh-CN" altLang="en-US"/>
              <a:t>认为解题过程是数据被加工的过程</a:t>
            </a:r>
          </a:p>
          <a:p>
            <a:r>
              <a:rPr lang="zh-CN" altLang="en-US"/>
              <a:t>程序</a:t>
            </a:r>
            <a:r>
              <a:rPr lang="en-US" altLang="zh-CN"/>
              <a:t>=</a:t>
            </a:r>
            <a:r>
              <a:rPr lang="zh-CN" altLang="en-US"/>
              <a:t>数据结构</a:t>
            </a:r>
            <a:r>
              <a:rPr lang="en-US" altLang="zh-CN"/>
              <a:t>+</a:t>
            </a:r>
            <a:r>
              <a:rPr lang="zh-CN" altLang="en-US"/>
              <a:t>算法</a:t>
            </a:r>
          </a:p>
          <a:p>
            <a:r>
              <a:rPr lang="en-US" altLang="zh-CN"/>
              <a:t>C</a:t>
            </a:r>
            <a:r>
              <a:rPr lang="zh-CN" altLang="en-US"/>
              <a:t>语言是面向过程的高级语言</a:t>
            </a:r>
          </a:p>
          <a:p>
            <a:r>
              <a:rPr lang="zh-CN" altLang="en-US"/>
              <a:t>           面向对象的程序设计语言</a:t>
            </a:r>
          </a:p>
          <a:p>
            <a:r>
              <a:rPr lang="zh-CN" altLang="en-US"/>
              <a:t>一种结构模拟方法。认为：现实世界由对象组成，对象是数据和方法的封装体；客观世界可以分类，每个对象是类的一个实例。</a:t>
            </a:r>
          </a:p>
          <a:p>
            <a:r>
              <a:rPr lang="zh-CN" altLang="en-US"/>
              <a:t>特点：比面向过程的语言更清晰、易懂，适宜编更大规模程序，是程序设计的主流</a:t>
            </a:r>
          </a:p>
          <a:p>
            <a:endParaRPr lang="zh-CN" altLang="en-US"/>
          </a:p>
          <a:p>
            <a:r>
              <a:rPr lang="zh-CN" altLang="en-US"/>
              <a:t>程序设计语言基本成分：</a:t>
            </a:r>
          </a:p>
          <a:p>
            <a:r>
              <a:rPr lang="zh-CN" altLang="en-US"/>
              <a:t>。数据成分</a:t>
            </a:r>
          </a:p>
          <a:p>
            <a:r>
              <a:rPr lang="zh-CN" altLang="en-US"/>
              <a:t>。运算成分</a:t>
            </a:r>
          </a:p>
          <a:p>
            <a:r>
              <a:rPr lang="zh-CN" altLang="en-US"/>
              <a:t>。控制成分</a:t>
            </a:r>
          </a:p>
          <a:p>
            <a:r>
              <a:rPr lang="zh-CN" altLang="en-US"/>
              <a:t>。传输成分	</a:t>
            </a:r>
          </a:p>
          <a:p>
            <a:endParaRPr lang="zh-CN" altLang="en-US"/>
          </a:p>
          <a:p>
            <a:r>
              <a:rPr lang="zh-CN" altLang="en-US"/>
              <a:t>程序设计语言定义：用于书写计算机程序的语言。通常指实现高级语言。</a:t>
            </a:r>
          </a:p>
          <a:p>
            <a:r>
              <a:rPr lang="zh-CN" altLang="en-US"/>
              <a:t>语言的基础是一组记号与一组规则。</a:t>
            </a:r>
          </a:p>
          <a:p>
            <a:r>
              <a:rPr lang="zh-CN" altLang="en-US"/>
              <a:t>程序设计语言包括：</a:t>
            </a:r>
          </a:p>
          <a:p>
            <a:r>
              <a:rPr lang="zh-CN" altLang="en-US"/>
              <a:t>语法：记号的组合规则</a:t>
            </a:r>
          </a:p>
          <a:p>
            <a:r>
              <a:rPr lang="zh-CN" altLang="en-US"/>
              <a:t>语义：记号的特定意义</a:t>
            </a:r>
          </a:p>
          <a:p>
            <a:r>
              <a:rPr lang="zh-CN" altLang="en-US"/>
              <a:t>语用：程序与使用者的关系</a:t>
            </a:r>
          </a:p>
          <a:p>
            <a:endParaRPr lang="zh-CN" altLang="en-US"/>
          </a:p>
          <a:p>
            <a:endParaRPr lang="en-US" altLang="zh-CN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6BC655E6-0AAD-4BBE-870D-82AD39C80F70}" type="slidenum">
              <a:rPr lang="en-US" altLang="zh-CN"/>
              <a:pPr/>
              <a:t>7</a:t>
            </a:fld>
            <a:endParaRPr lang="en-US" altLang="zh-CN"/>
          </a:p>
        </p:txBody>
      </p:sp>
      <p:sp>
        <p:nvSpPr>
          <p:cNvPr id="105165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105165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</p:spPr>
        <p:txBody>
          <a:bodyPr/>
          <a:lstStyle/>
          <a:p>
            <a:r>
              <a:rPr lang="en-US" altLang="zh-CN"/>
              <a:t>1946</a:t>
            </a:r>
            <a:r>
              <a:rPr lang="zh-CN" altLang="en-US"/>
              <a:t>年，第一台电子计算机问世，应用领域迅速扩大，软硬件飞速发展，程序设计语言相继问世。</a:t>
            </a:r>
          </a:p>
          <a:p>
            <a:r>
              <a:rPr lang="zh-CN" altLang="en-US"/>
              <a:t>程序设计语言</a:t>
            </a:r>
            <a:r>
              <a:rPr lang="en-US" altLang="zh-CN"/>
              <a:t>:</a:t>
            </a:r>
            <a:r>
              <a:rPr lang="zh-CN" altLang="en-US"/>
              <a:t>将自然语言形式化为有格式的语言</a:t>
            </a:r>
          </a:p>
          <a:p>
            <a:r>
              <a:rPr lang="en-US" altLang="zh-CN"/>
              <a:t>1</a:t>
            </a:r>
            <a:r>
              <a:rPr lang="zh-CN" altLang="en-US"/>
              <a:t>。机器语言：</a:t>
            </a:r>
          </a:p>
          <a:p>
            <a:pPr lvl="2">
              <a:buClr>
                <a:schemeClr val="tx2"/>
              </a:buClr>
              <a:buFontTx/>
              <a:buChar char="•"/>
            </a:pPr>
            <a:r>
              <a:rPr lang="zh-CN" altLang="en-US"/>
              <a:t>计算机能够认识的语言</a:t>
            </a:r>
          </a:p>
          <a:p>
            <a:pPr lvl="2">
              <a:buClr>
                <a:schemeClr val="tx2"/>
              </a:buClr>
              <a:buFontTx/>
              <a:buChar char="•"/>
            </a:pPr>
            <a:r>
              <a:rPr lang="zh-CN" altLang="en-US"/>
              <a:t>计算机的基础是数字电路</a:t>
            </a:r>
          </a:p>
          <a:p>
            <a:pPr lvl="2">
              <a:buClr>
                <a:schemeClr val="tx2"/>
              </a:buClr>
              <a:buFontTx/>
              <a:buChar char="•"/>
            </a:pPr>
            <a:r>
              <a:rPr lang="zh-CN" altLang="en-US"/>
              <a:t>机器语言就是数字电路里的电信号</a:t>
            </a:r>
          </a:p>
          <a:p>
            <a:pPr lvl="2">
              <a:buClr>
                <a:schemeClr val="tx2"/>
              </a:buClr>
              <a:buFontTx/>
              <a:buChar char="•"/>
            </a:pPr>
            <a:r>
              <a:rPr lang="zh-CN" altLang="en-US"/>
              <a:t>将在</a:t>
            </a:r>
            <a:r>
              <a:rPr lang="en-US" altLang="zh-CN"/>
              <a:t>《</a:t>
            </a:r>
            <a:r>
              <a:rPr lang="zh-CN" altLang="en-US"/>
              <a:t>计算机组成</a:t>
            </a:r>
            <a:r>
              <a:rPr lang="en-US" altLang="zh-CN"/>
              <a:t>》</a:t>
            </a:r>
            <a:r>
              <a:rPr lang="zh-CN" altLang="en-US"/>
              <a:t>课程中学习</a:t>
            </a:r>
          </a:p>
          <a:p>
            <a:pPr lvl="2">
              <a:buClr>
                <a:schemeClr val="tx2"/>
              </a:buClr>
              <a:buFontTx/>
              <a:buChar char="•"/>
            </a:pPr>
            <a:r>
              <a:rPr lang="zh-CN" altLang="en-US"/>
              <a:t>都是二进制文件</a:t>
            </a:r>
          </a:p>
          <a:p>
            <a:pPr lvl="2">
              <a:buClr>
                <a:schemeClr val="tx2"/>
              </a:buClr>
              <a:buFontTx/>
              <a:buChar char="•"/>
            </a:pPr>
            <a:r>
              <a:rPr lang="zh-CN" altLang="en-US"/>
              <a:t>一条机器语言成为一条指令</a:t>
            </a:r>
          </a:p>
          <a:p>
            <a:pPr lvl="2">
              <a:buClr>
                <a:schemeClr val="tx2"/>
              </a:buClr>
              <a:buFontTx/>
              <a:buChar char="•"/>
            </a:pPr>
            <a:r>
              <a:rPr lang="zh-CN" altLang="en-US"/>
              <a:t>指令是不可分割的最小功能单元</a:t>
            </a:r>
          </a:p>
          <a:p>
            <a:r>
              <a:rPr lang="zh-CN" altLang="en-US"/>
              <a:t>定义：一种</a:t>
            </a:r>
            <a:r>
              <a:rPr lang="en-US" altLang="zh-CN"/>
              <a:t>CPU</a:t>
            </a:r>
            <a:r>
              <a:rPr lang="zh-CN" altLang="en-US"/>
              <a:t>的指令系统，由该</a:t>
            </a:r>
            <a:r>
              <a:rPr lang="en-US" altLang="zh-CN"/>
              <a:t>CPU</a:t>
            </a:r>
            <a:r>
              <a:rPr lang="zh-CN" altLang="en-US"/>
              <a:t>可识别的</a:t>
            </a:r>
            <a:r>
              <a:rPr lang="en-US" altLang="zh-CN"/>
              <a:t>0</a:t>
            </a:r>
            <a:r>
              <a:rPr lang="zh-CN" altLang="en-US"/>
              <a:t>、</a:t>
            </a:r>
            <a:r>
              <a:rPr lang="en-US" altLang="zh-CN"/>
              <a:t>1</a:t>
            </a:r>
            <a:r>
              <a:rPr lang="zh-CN" altLang="en-US"/>
              <a:t>序列构成的指令码组成。</a:t>
            </a:r>
          </a:p>
          <a:p>
            <a:r>
              <a:rPr lang="zh-CN" altLang="en-US"/>
              <a:t>特点：</a:t>
            </a:r>
          </a:p>
          <a:p>
            <a:r>
              <a:rPr lang="zh-CN" altLang="en-US"/>
              <a:t>执行效率高</a:t>
            </a:r>
          </a:p>
          <a:p>
            <a:r>
              <a:rPr lang="zh-CN" altLang="en-US"/>
              <a:t>不直观，不易查错，生产效率低。</a:t>
            </a:r>
          </a:p>
          <a:p>
            <a:r>
              <a:rPr lang="en-US" altLang="zh-CN"/>
              <a:t>2</a:t>
            </a:r>
            <a:r>
              <a:rPr lang="zh-CN" altLang="en-US"/>
              <a:t>。汇编语言</a:t>
            </a:r>
          </a:p>
          <a:p>
            <a:r>
              <a:rPr lang="zh-CN" altLang="en-US"/>
              <a:t>定义：用助记符号描述的指令系统</a:t>
            </a:r>
          </a:p>
          <a:p>
            <a:r>
              <a:rPr lang="zh-CN" altLang="en-US"/>
              <a:t>特点：</a:t>
            </a:r>
          </a:p>
          <a:p>
            <a:r>
              <a:rPr lang="zh-CN" altLang="en-US"/>
              <a:t>生产效率高，质量好，执行效率较高；</a:t>
            </a:r>
          </a:p>
          <a:p>
            <a:r>
              <a:rPr lang="zh-CN" altLang="en-US"/>
              <a:t>要经汇编程序汇编成目标程序（机器语言）才能执行，依赖硬件。</a:t>
            </a:r>
          </a:p>
          <a:p>
            <a:r>
              <a:rPr lang="zh-CN" altLang="en-US"/>
              <a:t>（面向机器的语言</a:t>
            </a:r>
            <a:r>
              <a:rPr lang="en-US" altLang="zh-CN"/>
              <a:t>----</a:t>
            </a:r>
            <a:r>
              <a:rPr lang="zh-CN" altLang="en-US"/>
              <a:t>依</a:t>
            </a:r>
            <a:r>
              <a:rPr lang="en-US" altLang="zh-CN"/>
              <a:t>CPU</a:t>
            </a:r>
            <a:r>
              <a:rPr lang="zh-CN" altLang="en-US"/>
              <a:t>不同而异）</a:t>
            </a:r>
          </a:p>
          <a:p>
            <a:r>
              <a:rPr lang="en-US" altLang="zh-CN"/>
              <a:t>3</a:t>
            </a:r>
            <a:r>
              <a:rPr lang="zh-CN" altLang="en-US"/>
              <a:t>。高级语言</a:t>
            </a:r>
          </a:p>
          <a:p>
            <a:r>
              <a:rPr lang="zh-CN" altLang="en-US"/>
              <a:t>特点：</a:t>
            </a:r>
          </a:p>
          <a:p>
            <a:r>
              <a:rPr lang="zh-CN" altLang="en-US"/>
              <a:t>编程效率高，不必考虑硬件；</a:t>
            </a:r>
          </a:p>
          <a:p>
            <a:r>
              <a:rPr lang="zh-CN" altLang="en-US"/>
              <a:t>执行效率低，要经编译、连接后才能执行。</a:t>
            </a:r>
          </a:p>
          <a:p>
            <a:r>
              <a:rPr lang="zh-CN" altLang="en-US"/>
              <a:t>面向过程的程序设计语言</a:t>
            </a:r>
          </a:p>
          <a:p>
            <a:r>
              <a:rPr lang="zh-CN" altLang="en-US"/>
              <a:t>认为解题过程是数据被加工的过程</a:t>
            </a:r>
          </a:p>
          <a:p>
            <a:r>
              <a:rPr lang="zh-CN" altLang="en-US"/>
              <a:t>程序</a:t>
            </a:r>
            <a:r>
              <a:rPr lang="en-US" altLang="zh-CN"/>
              <a:t>=</a:t>
            </a:r>
            <a:r>
              <a:rPr lang="zh-CN" altLang="en-US"/>
              <a:t>数据结构</a:t>
            </a:r>
            <a:r>
              <a:rPr lang="en-US" altLang="zh-CN"/>
              <a:t>+</a:t>
            </a:r>
            <a:r>
              <a:rPr lang="zh-CN" altLang="en-US"/>
              <a:t>算法</a:t>
            </a:r>
          </a:p>
          <a:p>
            <a:r>
              <a:rPr lang="en-US" altLang="zh-CN"/>
              <a:t>C</a:t>
            </a:r>
            <a:r>
              <a:rPr lang="zh-CN" altLang="en-US"/>
              <a:t>语言是面向过程的高级语言</a:t>
            </a:r>
          </a:p>
          <a:p>
            <a:r>
              <a:rPr lang="zh-CN" altLang="en-US"/>
              <a:t>           面向对象的程序设计语言</a:t>
            </a:r>
          </a:p>
          <a:p>
            <a:r>
              <a:rPr lang="zh-CN" altLang="en-US"/>
              <a:t>一种结构模拟方法。认为：现实世界由对象组成，对象是数据和方法的封装体；客观世界可以分类，每个对象是类的一个实例。</a:t>
            </a:r>
          </a:p>
          <a:p>
            <a:r>
              <a:rPr lang="zh-CN" altLang="en-US"/>
              <a:t>特点：比面向过程的语言更清晰、易懂，适宜编更大规模程序，是程序设计的主流</a:t>
            </a:r>
          </a:p>
          <a:p>
            <a:endParaRPr lang="zh-CN" altLang="en-US"/>
          </a:p>
          <a:p>
            <a:r>
              <a:rPr lang="zh-CN" altLang="en-US"/>
              <a:t>程序设计语言基本成分：</a:t>
            </a:r>
          </a:p>
          <a:p>
            <a:r>
              <a:rPr lang="zh-CN" altLang="en-US"/>
              <a:t>。数据成分</a:t>
            </a:r>
          </a:p>
          <a:p>
            <a:r>
              <a:rPr lang="zh-CN" altLang="en-US"/>
              <a:t>。运算成分</a:t>
            </a:r>
          </a:p>
          <a:p>
            <a:r>
              <a:rPr lang="zh-CN" altLang="en-US"/>
              <a:t>。控制成分</a:t>
            </a:r>
          </a:p>
          <a:p>
            <a:r>
              <a:rPr lang="zh-CN" altLang="en-US"/>
              <a:t>。传输成分	</a:t>
            </a:r>
          </a:p>
          <a:p>
            <a:endParaRPr lang="zh-CN" altLang="en-US"/>
          </a:p>
          <a:p>
            <a:r>
              <a:rPr lang="zh-CN" altLang="en-US"/>
              <a:t>程序设计语言定义：用于书写计算机程序的语言。通常指实现高级语言。</a:t>
            </a:r>
          </a:p>
          <a:p>
            <a:r>
              <a:rPr lang="zh-CN" altLang="en-US"/>
              <a:t>语言的基础是一组记号与一组规则。</a:t>
            </a:r>
          </a:p>
          <a:p>
            <a:r>
              <a:rPr lang="zh-CN" altLang="en-US"/>
              <a:t>程序设计语言包括：</a:t>
            </a:r>
          </a:p>
          <a:p>
            <a:r>
              <a:rPr lang="zh-CN" altLang="en-US"/>
              <a:t>语法：记号的组合规则</a:t>
            </a:r>
          </a:p>
          <a:p>
            <a:r>
              <a:rPr lang="zh-CN" altLang="en-US"/>
              <a:t>语义：记号的特定意义</a:t>
            </a:r>
          </a:p>
          <a:p>
            <a:r>
              <a:rPr lang="zh-CN" altLang="en-US"/>
              <a:t>语用：程序与使用者的关系</a:t>
            </a:r>
          </a:p>
          <a:p>
            <a:endParaRPr lang="zh-CN" altLang="en-US"/>
          </a:p>
          <a:p>
            <a:endParaRPr lang="en-US" altLang="zh-CN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20902704-531B-45BF-BD96-3F5313060046}" type="slidenum">
              <a:rPr lang="en-US" altLang="zh-CN"/>
              <a:pPr/>
              <a:t>9</a:t>
            </a:fld>
            <a:endParaRPr lang="en-US" altLang="zh-CN"/>
          </a:p>
        </p:txBody>
      </p:sp>
      <p:sp>
        <p:nvSpPr>
          <p:cNvPr id="105574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105574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</p:spPr>
        <p:txBody>
          <a:bodyPr/>
          <a:lstStyle/>
          <a:p>
            <a:r>
              <a:rPr lang="en-US" altLang="zh-CN"/>
              <a:t>1946</a:t>
            </a:r>
            <a:r>
              <a:rPr lang="zh-CN" altLang="en-US"/>
              <a:t>年，第一台电子计算机问世，应用领域迅速扩大，软硬件飞速发展，程序设计语言相继问世。</a:t>
            </a:r>
          </a:p>
          <a:p>
            <a:r>
              <a:rPr lang="zh-CN" altLang="en-US"/>
              <a:t>程序设计语言</a:t>
            </a:r>
            <a:r>
              <a:rPr lang="en-US" altLang="zh-CN"/>
              <a:t>:</a:t>
            </a:r>
            <a:r>
              <a:rPr lang="zh-CN" altLang="en-US"/>
              <a:t>将自然语言形式化为有格式的语言</a:t>
            </a:r>
          </a:p>
          <a:p>
            <a:r>
              <a:rPr lang="en-US" altLang="zh-CN"/>
              <a:t>1</a:t>
            </a:r>
            <a:r>
              <a:rPr lang="zh-CN" altLang="en-US"/>
              <a:t>。机器语言：</a:t>
            </a:r>
          </a:p>
          <a:p>
            <a:pPr lvl="2">
              <a:buClr>
                <a:schemeClr val="tx2"/>
              </a:buClr>
              <a:buFontTx/>
              <a:buChar char="•"/>
            </a:pPr>
            <a:r>
              <a:rPr lang="zh-CN" altLang="en-US"/>
              <a:t>计算机能够认识的语言</a:t>
            </a:r>
          </a:p>
          <a:p>
            <a:pPr lvl="2">
              <a:buClr>
                <a:schemeClr val="tx2"/>
              </a:buClr>
              <a:buFontTx/>
              <a:buChar char="•"/>
            </a:pPr>
            <a:r>
              <a:rPr lang="zh-CN" altLang="en-US"/>
              <a:t>计算机的基础是数字电路</a:t>
            </a:r>
          </a:p>
          <a:p>
            <a:pPr lvl="2">
              <a:buClr>
                <a:schemeClr val="tx2"/>
              </a:buClr>
              <a:buFontTx/>
              <a:buChar char="•"/>
            </a:pPr>
            <a:r>
              <a:rPr lang="zh-CN" altLang="en-US"/>
              <a:t>机器语言就是数字电路里的电信号</a:t>
            </a:r>
          </a:p>
          <a:p>
            <a:pPr lvl="2">
              <a:buClr>
                <a:schemeClr val="tx2"/>
              </a:buClr>
              <a:buFontTx/>
              <a:buChar char="•"/>
            </a:pPr>
            <a:r>
              <a:rPr lang="zh-CN" altLang="en-US"/>
              <a:t>将在</a:t>
            </a:r>
            <a:r>
              <a:rPr lang="en-US" altLang="zh-CN"/>
              <a:t>《</a:t>
            </a:r>
            <a:r>
              <a:rPr lang="zh-CN" altLang="en-US"/>
              <a:t>计算机组成</a:t>
            </a:r>
            <a:r>
              <a:rPr lang="en-US" altLang="zh-CN"/>
              <a:t>》</a:t>
            </a:r>
            <a:r>
              <a:rPr lang="zh-CN" altLang="en-US"/>
              <a:t>课程中学习</a:t>
            </a:r>
          </a:p>
          <a:p>
            <a:pPr lvl="2">
              <a:buClr>
                <a:schemeClr val="tx2"/>
              </a:buClr>
              <a:buFontTx/>
              <a:buChar char="•"/>
            </a:pPr>
            <a:r>
              <a:rPr lang="zh-CN" altLang="en-US"/>
              <a:t>都是二进制文件</a:t>
            </a:r>
          </a:p>
          <a:p>
            <a:pPr lvl="2">
              <a:buClr>
                <a:schemeClr val="tx2"/>
              </a:buClr>
              <a:buFontTx/>
              <a:buChar char="•"/>
            </a:pPr>
            <a:r>
              <a:rPr lang="zh-CN" altLang="en-US"/>
              <a:t>一条机器语言成为一条指令</a:t>
            </a:r>
          </a:p>
          <a:p>
            <a:pPr lvl="2">
              <a:buClr>
                <a:schemeClr val="tx2"/>
              </a:buClr>
              <a:buFontTx/>
              <a:buChar char="•"/>
            </a:pPr>
            <a:r>
              <a:rPr lang="zh-CN" altLang="en-US"/>
              <a:t>指令是不可分割的最小功能单元</a:t>
            </a:r>
          </a:p>
          <a:p>
            <a:r>
              <a:rPr lang="zh-CN" altLang="en-US"/>
              <a:t>定义：一种</a:t>
            </a:r>
            <a:r>
              <a:rPr lang="en-US" altLang="zh-CN"/>
              <a:t>CPU</a:t>
            </a:r>
            <a:r>
              <a:rPr lang="zh-CN" altLang="en-US"/>
              <a:t>的指令系统，由该</a:t>
            </a:r>
            <a:r>
              <a:rPr lang="en-US" altLang="zh-CN"/>
              <a:t>CPU</a:t>
            </a:r>
            <a:r>
              <a:rPr lang="zh-CN" altLang="en-US"/>
              <a:t>可识别的</a:t>
            </a:r>
            <a:r>
              <a:rPr lang="en-US" altLang="zh-CN"/>
              <a:t>0</a:t>
            </a:r>
            <a:r>
              <a:rPr lang="zh-CN" altLang="en-US"/>
              <a:t>、</a:t>
            </a:r>
            <a:r>
              <a:rPr lang="en-US" altLang="zh-CN"/>
              <a:t>1</a:t>
            </a:r>
            <a:r>
              <a:rPr lang="zh-CN" altLang="en-US"/>
              <a:t>序列构成的指令码组成。</a:t>
            </a:r>
          </a:p>
          <a:p>
            <a:r>
              <a:rPr lang="zh-CN" altLang="en-US"/>
              <a:t>特点：</a:t>
            </a:r>
          </a:p>
          <a:p>
            <a:r>
              <a:rPr lang="zh-CN" altLang="en-US"/>
              <a:t>执行效率高</a:t>
            </a:r>
          </a:p>
          <a:p>
            <a:r>
              <a:rPr lang="zh-CN" altLang="en-US"/>
              <a:t>不直观，不易查错，生产效率低。</a:t>
            </a:r>
          </a:p>
          <a:p>
            <a:r>
              <a:rPr lang="en-US" altLang="zh-CN"/>
              <a:t>2</a:t>
            </a:r>
            <a:r>
              <a:rPr lang="zh-CN" altLang="en-US"/>
              <a:t>。汇编语言</a:t>
            </a:r>
          </a:p>
          <a:p>
            <a:r>
              <a:rPr lang="zh-CN" altLang="en-US"/>
              <a:t>定义：用助记符号描述的指令系统</a:t>
            </a:r>
          </a:p>
          <a:p>
            <a:r>
              <a:rPr lang="zh-CN" altLang="en-US"/>
              <a:t>特点：</a:t>
            </a:r>
          </a:p>
          <a:p>
            <a:r>
              <a:rPr lang="zh-CN" altLang="en-US"/>
              <a:t>生产效率高，质量好，执行效率较高；</a:t>
            </a:r>
          </a:p>
          <a:p>
            <a:r>
              <a:rPr lang="zh-CN" altLang="en-US"/>
              <a:t>要经汇编程序汇编成目标程序（机器语言）才能执行，依赖硬件。</a:t>
            </a:r>
          </a:p>
          <a:p>
            <a:r>
              <a:rPr lang="zh-CN" altLang="en-US"/>
              <a:t>（面向机器的语言</a:t>
            </a:r>
            <a:r>
              <a:rPr lang="en-US" altLang="zh-CN"/>
              <a:t>----</a:t>
            </a:r>
            <a:r>
              <a:rPr lang="zh-CN" altLang="en-US"/>
              <a:t>依</a:t>
            </a:r>
            <a:r>
              <a:rPr lang="en-US" altLang="zh-CN"/>
              <a:t>CPU</a:t>
            </a:r>
            <a:r>
              <a:rPr lang="zh-CN" altLang="en-US"/>
              <a:t>不同而异）</a:t>
            </a:r>
          </a:p>
          <a:p>
            <a:r>
              <a:rPr lang="en-US" altLang="zh-CN"/>
              <a:t>3</a:t>
            </a:r>
            <a:r>
              <a:rPr lang="zh-CN" altLang="en-US"/>
              <a:t>。高级语言</a:t>
            </a:r>
          </a:p>
          <a:p>
            <a:r>
              <a:rPr lang="zh-CN" altLang="en-US"/>
              <a:t>特点：</a:t>
            </a:r>
          </a:p>
          <a:p>
            <a:r>
              <a:rPr lang="zh-CN" altLang="en-US"/>
              <a:t>编程效率高，不必考虑硬件；</a:t>
            </a:r>
          </a:p>
          <a:p>
            <a:r>
              <a:rPr lang="zh-CN" altLang="en-US"/>
              <a:t>执行效率低，要经编译、连接后才能执行。</a:t>
            </a:r>
          </a:p>
          <a:p>
            <a:r>
              <a:rPr lang="zh-CN" altLang="en-US"/>
              <a:t>面向过程的程序设计语言</a:t>
            </a:r>
          </a:p>
          <a:p>
            <a:r>
              <a:rPr lang="zh-CN" altLang="en-US"/>
              <a:t>认为解题过程是数据被加工的过程</a:t>
            </a:r>
          </a:p>
          <a:p>
            <a:r>
              <a:rPr lang="zh-CN" altLang="en-US"/>
              <a:t>程序</a:t>
            </a:r>
            <a:r>
              <a:rPr lang="en-US" altLang="zh-CN"/>
              <a:t>=</a:t>
            </a:r>
            <a:r>
              <a:rPr lang="zh-CN" altLang="en-US"/>
              <a:t>数据结构</a:t>
            </a:r>
            <a:r>
              <a:rPr lang="en-US" altLang="zh-CN"/>
              <a:t>+</a:t>
            </a:r>
            <a:r>
              <a:rPr lang="zh-CN" altLang="en-US"/>
              <a:t>算法</a:t>
            </a:r>
          </a:p>
          <a:p>
            <a:r>
              <a:rPr lang="en-US" altLang="zh-CN"/>
              <a:t>C</a:t>
            </a:r>
            <a:r>
              <a:rPr lang="zh-CN" altLang="en-US"/>
              <a:t>语言是面向过程的高级语言</a:t>
            </a:r>
          </a:p>
          <a:p>
            <a:r>
              <a:rPr lang="zh-CN" altLang="en-US"/>
              <a:t>           面向对象的程序设计语言</a:t>
            </a:r>
          </a:p>
          <a:p>
            <a:r>
              <a:rPr lang="zh-CN" altLang="en-US"/>
              <a:t>一种结构模拟方法。认为：现实世界由对象组成，对象是数据和方法的封装体；客观世界可以分类，每个对象是类的一个实例。</a:t>
            </a:r>
          </a:p>
          <a:p>
            <a:r>
              <a:rPr lang="zh-CN" altLang="en-US"/>
              <a:t>特点：比面向过程的语言更清晰、易懂，适宜编更大规模程序，是程序设计的主流</a:t>
            </a:r>
          </a:p>
          <a:p>
            <a:endParaRPr lang="zh-CN" altLang="en-US"/>
          </a:p>
          <a:p>
            <a:r>
              <a:rPr lang="zh-CN" altLang="en-US"/>
              <a:t>程序设计语言基本成分：</a:t>
            </a:r>
          </a:p>
          <a:p>
            <a:r>
              <a:rPr lang="zh-CN" altLang="en-US"/>
              <a:t>。数据成分</a:t>
            </a:r>
          </a:p>
          <a:p>
            <a:r>
              <a:rPr lang="zh-CN" altLang="en-US"/>
              <a:t>。运算成分</a:t>
            </a:r>
          </a:p>
          <a:p>
            <a:r>
              <a:rPr lang="zh-CN" altLang="en-US"/>
              <a:t>。控制成分</a:t>
            </a:r>
          </a:p>
          <a:p>
            <a:r>
              <a:rPr lang="zh-CN" altLang="en-US"/>
              <a:t>。传输成分	</a:t>
            </a:r>
          </a:p>
          <a:p>
            <a:endParaRPr lang="zh-CN" altLang="en-US"/>
          </a:p>
          <a:p>
            <a:r>
              <a:rPr lang="zh-CN" altLang="en-US"/>
              <a:t>程序设计语言定义：用于书写计算机程序的语言。通常指实现高级语言。</a:t>
            </a:r>
          </a:p>
          <a:p>
            <a:r>
              <a:rPr lang="zh-CN" altLang="en-US"/>
              <a:t>语言的基础是一组记号与一组规则。</a:t>
            </a:r>
          </a:p>
          <a:p>
            <a:r>
              <a:rPr lang="zh-CN" altLang="en-US"/>
              <a:t>程序设计语言包括：</a:t>
            </a:r>
          </a:p>
          <a:p>
            <a:r>
              <a:rPr lang="zh-CN" altLang="en-US"/>
              <a:t>语法：记号的组合规则</a:t>
            </a:r>
          </a:p>
          <a:p>
            <a:r>
              <a:rPr lang="zh-CN" altLang="en-US"/>
              <a:t>语义：记号的特定意义</a:t>
            </a:r>
          </a:p>
          <a:p>
            <a:r>
              <a:rPr lang="zh-CN" altLang="en-US"/>
              <a:t>语用：程序与使用者的关系</a:t>
            </a:r>
          </a:p>
          <a:p>
            <a:endParaRPr lang="zh-CN" altLang="en-US"/>
          </a:p>
          <a:p>
            <a:endParaRPr lang="en-US" altLang="zh-CN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0B762F2-DB06-4FCD-A130-F3FD2F633840}" type="slidenum">
              <a:rPr lang="en-US" altLang="zh-CN" smtClean="0"/>
              <a:pPr/>
              <a:t>10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65112167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39E2DE68-B716-45A5-8BAF-25CA090557BD}" type="slidenum">
              <a:rPr lang="en-US" altLang="zh-CN"/>
              <a:pPr/>
              <a:t>11</a:t>
            </a:fld>
            <a:endParaRPr lang="en-US" altLang="zh-CN"/>
          </a:p>
        </p:txBody>
      </p:sp>
      <p:sp>
        <p:nvSpPr>
          <p:cNvPr id="105881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105881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</p:spPr>
        <p:txBody>
          <a:bodyPr/>
          <a:lstStyle/>
          <a:p>
            <a:r>
              <a:rPr lang="en-US" altLang="zh-CN"/>
              <a:t>1946</a:t>
            </a:r>
            <a:r>
              <a:rPr lang="zh-CN" altLang="en-US"/>
              <a:t>年，第一台电子计算机问世，应用领域迅速扩大，软硬件飞速发展，程序设计语言相继问世。</a:t>
            </a:r>
          </a:p>
          <a:p>
            <a:r>
              <a:rPr lang="zh-CN" altLang="en-US"/>
              <a:t>程序设计语言</a:t>
            </a:r>
            <a:r>
              <a:rPr lang="en-US" altLang="zh-CN"/>
              <a:t>:</a:t>
            </a:r>
            <a:r>
              <a:rPr lang="zh-CN" altLang="en-US"/>
              <a:t>将自然语言形式化为有格式的语言</a:t>
            </a:r>
          </a:p>
          <a:p>
            <a:r>
              <a:rPr lang="en-US" altLang="zh-CN"/>
              <a:t>1</a:t>
            </a:r>
            <a:r>
              <a:rPr lang="zh-CN" altLang="en-US"/>
              <a:t>。机器语言：</a:t>
            </a:r>
          </a:p>
          <a:p>
            <a:pPr lvl="2">
              <a:buClr>
                <a:schemeClr val="tx2"/>
              </a:buClr>
              <a:buFontTx/>
              <a:buChar char="•"/>
            </a:pPr>
            <a:r>
              <a:rPr lang="zh-CN" altLang="en-US"/>
              <a:t>计算机能够认识的语言</a:t>
            </a:r>
          </a:p>
          <a:p>
            <a:pPr lvl="2">
              <a:buClr>
                <a:schemeClr val="tx2"/>
              </a:buClr>
              <a:buFontTx/>
              <a:buChar char="•"/>
            </a:pPr>
            <a:r>
              <a:rPr lang="zh-CN" altLang="en-US"/>
              <a:t>计算机的基础是数字电路</a:t>
            </a:r>
          </a:p>
          <a:p>
            <a:pPr lvl="2">
              <a:buClr>
                <a:schemeClr val="tx2"/>
              </a:buClr>
              <a:buFontTx/>
              <a:buChar char="•"/>
            </a:pPr>
            <a:r>
              <a:rPr lang="zh-CN" altLang="en-US"/>
              <a:t>机器语言就是数字电路里的电信号</a:t>
            </a:r>
          </a:p>
          <a:p>
            <a:pPr lvl="2">
              <a:buClr>
                <a:schemeClr val="tx2"/>
              </a:buClr>
              <a:buFontTx/>
              <a:buChar char="•"/>
            </a:pPr>
            <a:r>
              <a:rPr lang="zh-CN" altLang="en-US"/>
              <a:t>将在</a:t>
            </a:r>
            <a:r>
              <a:rPr lang="en-US" altLang="zh-CN"/>
              <a:t>《</a:t>
            </a:r>
            <a:r>
              <a:rPr lang="zh-CN" altLang="en-US"/>
              <a:t>计算机组成</a:t>
            </a:r>
            <a:r>
              <a:rPr lang="en-US" altLang="zh-CN"/>
              <a:t>》</a:t>
            </a:r>
            <a:r>
              <a:rPr lang="zh-CN" altLang="en-US"/>
              <a:t>课程中学习</a:t>
            </a:r>
          </a:p>
          <a:p>
            <a:pPr lvl="2">
              <a:buClr>
                <a:schemeClr val="tx2"/>
              </a:buClr>
              <a:buFontTx/>
              <a:buChar char="•"/>
            </a:pPr>
            <a:r>
              <a:rPr lang="zh-CN" altLang="en-US"/>
              <a:t>都是二进制文件</a:t>
            </a:r>
          </a:p>
          <a:p>
            <a:pPr lvl="2">
              <a:buClr>
                <a:schemeClr val="tx2"/>
              </a:buClr>
              <a:buFontTx/>
              <a:buChar char="•"/>
            </a:pPr>
            <a:r>
              <a:rPr lang="zh-CN" altLang="en-US"/>
              <a:t>一条机器语言成为一条指令</a:t>
            </a:r>
          </a:p>
          <a:p>
            <a:pPr lvl="2">
              <a:buClr>
                <a:schemeClr val="tx2"/>
              </a:buClr>
              <a:buFontTx/>
              <a:buChar char="•"/>
            </a:pPr>
            <a:r>
              <a:rPr lang="zh-CN" altLang="en-US"/>
              <a:t>指令是不可分割的最小功能单元</a:t>
            </a:r>
          </a:p>
          <a:p>
            <a:r>
              <a:rPr lang="zh-CN" altLang="en-US"/>
              <a:t>定义：一种</a:t>
            </a:r>
            <a:r>
              <a:rPr lang="en-US" altLang="zh-CN"/>
              <a:t>CPU</a:t>
            </a:r>
            <a:r>
              <a:rPr lang="zh-CN" altLang="en-US"/>
              <a:t>的指令系统，由该</a:t>
            </a:r>
            <a:r>
              <a:rPr lang="en-US" altLang="zh-CN"/>
              <a:t>CPU</a:t>
            </a:r>
            <a:r>
              <a:rPr lang="zh-CN" altLang="en-US"/>
              <a:t>可识别的</a:t>
            </a:r>
            <a:r>
              <a:rPr lang="en-US" altLang="zh-CN"/>
              <a:t>0</a:t>
            </a:r>
            <a:r>
              <a:rPr lang="zh-CN" altLang="en-US"/>
              <a:t>、</a:t>
            </a:r>
            <a:r>
              <a:rPr lang="en-US" altLang="zh-CN"/>
              <a:t>1</a:t>
            </a:r>
            <a:r>
              <a:rPr lang="zh-CN" altLang="en-US"/>
              <a:t>序列构成的指令码组成。</a:t>
            </a:r>
          </a:p>
          <a:p>
            <a:r>
              <a:rPr lang="zh-CN" altLang="en-US"/>
              <a:t>特点：</a:t>
            </a:r>
          </a:p>
          <a:p>
            <a:r>
              <a:rPr lang="zh-CN" altLang="en-US"/>
              <a:t>执行效率高</a:t>
            </a:r>
          </a:p>
          <a:p>
            <a:r>
              <a:rPr lang="zh-CN" altLang="en-US"/>
              <a:t>不直观，不易查错，生产效率低。</a:t>
            </a:r>
          </a:p>
          <a:p>
            <a:r>
              <a:rPr lang="en-US" altLang="zh-CN"/>
              <a:t>2</a:t>
            </a:r>
            <a:r>
              <a:rPr lang="zh-CN" altLang="en-US"/>
              <a:t>。汇编语言</a:t>
            </a:r>
          </a:p>
          <a:p>
            <a:r>
              <a:rPr lang="zh-CN" altLang="en-US"/>
              <a:t>定义：用助记符号描述的指令系统</a:t>
            </a:r>
          </a:p>
          <a:p>
            <a:r>
              <a:rPr lang="zh-CN" altLang="en-US"/>
              <a:t>特点：</a:t>
            </a:r>
          </a:p>
          <a:p>
            <a:r>
              <a:rPr lang="zh-CN" altLang="en-US"/>
              <a:t>生产效率高，质量好，执行效率较高；</a:t>
            </a:r>
          </a:p>
          <a:p>
            <a:r>
              <a:rPr lang="zh-CN" altLang="en-US"/>
              <a:t>要经汇编程序汇编成目标程序（机器语言）才能执行，依赖硬件。</a:t>
            </a:r>
          </a:p>
          <a:p>
            <a:r>
              <a:rPr lang="zh-CN" altLang="en-US"/>
              <a:t>（面向机器的语言</a:t>
            </a:r>
            <a:r>
              <a:rPr lang="en-US" altLang="zh-CN"/>
              <a:t>----</a:t>
            </a:r>
            <a:r>
              <a:rPr lang="zh-CN" altLang="en-US"/>
              <a:t>依</a:t>
            </a:r>
            <a:r>
              <a:rPr lang="en-US" altLang="zh-CN"/>
              <a:t>CPU</a:t>
            </a:r>
            <a:r>
              <a:rPr lang="zh-CN" altLang="en-US"/>
              <a:t>不同而异）</a:t>
            </a:r>
          </a:p>
          <a:p>
            <a:r>
              <a:rPr lang="en-US" altLang="zh-CN"/>
              <a:t>3</a:t>
            </a:r>
            <a:r>
              <a:rPr lang="zh-CN" altLang="en-US"/>
              <a:t>。高级语言</a:t>
            </a:r>
          </a:p>
          <a:p>
            <a:r>
              <a:rPr lang="zh-CN" altLang="en-US"/>
              <a:t>特点：</a:t>
            </a:r>
          </a:p>
          <a:p>
            <a:r>
              <a:rPr lang="zh-CN" altLang="en-US"/>
              <a:t>编程效率高，不必考虑硬件；</a:t>
            </a:r>
          </a:p>
          <a:p>
            <a:r>
              <a:rPr lang="zh-CN" altLang="en-US"/>
              <a:t>执行效率低，要经编译、连接后才能执行。</a:t>
            </a:r>
          </a:p>
          <a:p>
            <a:r>
              <a:rPr lang="zh-CN" altLang="en-US"/>
              <a:t>面向过程的程序设计语言</a:t>
            </a:r>
          </a:p>
          <a:p>
            <a:r>
              <a:rPr lang="zh-CN" altLang="en-US"/>
              <a:t>认为解题过程是数据被加工的过程</a:t>
            </a:r>
          </a:p>
          <a:p>
            <a:r>
              <a:rPr lang="zh-CN" altLang="en-US"/>
              <a:t>程序</a:t>
            </a:r>
            <a:r>
              <a:rPr lang="en-US" altLang="zh-CN"/>
              <a:t>=</a:t>
            </a:r>
            <a:r>
              <a:rPr lang="zh-CN" altLang="en-US"/>
              <a:t>数据结构</a:t>
            </a:r>
            <a:r>
              <a:rPr lang="en-US" altLang="zh-CN"/>
              <a:t>+</a:t>
            </a:r>
            <a:r>
              <a:rPr lang="zh-CN" altLang="en-US"/>
              <a:t>算法</a:t>
            </a:r>
          </a:p>
          <a:p>
            <a:r>
              <a:rPr lang="en-US" altLang="zh-CN"/>
              <a:t>C</a:t>
            </a:r>
            <a:r>
              <a:rPr lang="zh-CN" altLang="en-US"/>
              <a:t>语言是面向过程的高级语言</a:t>
            </a:r>
          </a:p>
          <a:p>
            <a:r>
              <a:rPr lang="zh-CN" altLang="en-US"/>
              <a:t>           面向对象的程序设计语言</a:t>
            </a:r>
          </a:p>
          <a:p>
            <a:r>
              <a:rPr lang="zh-CN" altLang="en-US"/>
              <a:t>一种结构模拟方法。认为：现实世界由对象组成，对象是数据和方法的封装体；客观世界可以分类，每个对象是类的一个实例。</a:t>
            </a:r>
          </a:p>
          <a:p>
            <a:r>
              <a:rPr lang="zh-CN" altLang="en-US"/>
              <a:t>特点：比面向过程的语言更清晰、易懂，适宜编更大规模程序，是程序设计的主流</a:t>
            </a:r>
          </a:p>
          <a:p>
            <a:endParaRPr lang="zh-CN" altLang="en-US"/>
          </a:p>
          <a:p>
            <a:r>
              <a:rPr lang="zh-CN" altLang="en-US"/>
              <a:t>程序设计语言基本成分：</a:t>
            </a:r>
          </a:p>
          <a:p>
            <a:r>
              <a:rPr lang="zh-CN" altLang="en-US"/>
              <a:t>。数据成分</a:t>
            </a:r>
          </a:p>
          <a:p>
            <a:r>
              <a:rPr lang="zh-CN" altLang="en-US"/>
              <a:t>。运算成分</a:t>
            </a:r>
          </a:p>
          <a:p>
            <a:r>
              <a:rPr lang="zh-CN" altLang="en-US"/>
              <a:t>。控制成分</a:t>
            </a:r>
          </a:p>
          <a:p>
            <a:r>
              <a:rPr lang="zh-CN" altLang="en-US"/>
              <a:t>。传输成分	</a:t>
            </a:r>
          </a:p>
          <a:p>
            <a:endParaRPr lang="zh-CN" altLang="en-US"/>
          </a:p>
          <a:p>
            <a:r>
              <a:rPr lang="zh-CN" altLang="en-US"/>
              <a:t>程序设计语言定义：用于书写计算机程序的语言。通常指实现高级语言。</a:t>
            </a:r>
          </a:p>
          <a:p>
            <a:r>
              <a:rPr lang="zh-CN" altLang="en-US"/>
              <a:t>语言的基础是一组记号与一组规则。</a:t>
            </a:r>
          </a:p>
          <a:p>
            <a:r>
              <a:rPr lang="zh-CN" altLang="en-US"/>
              <a:t>程序设计语言包括：</a:t>
            </a:r>
          </a:p>
          <a:p>
            <a:r>
              <a:rPr lang="zh-CN" altLang="en-US"/>
              <a:t>语法：记号的组合规则</a:t>
            </a:r>
          </a:p>
          <a:p>
            <a:r>
              <a:rPr lang="zh-CN" altLang="en-US"/>
              <a:t>语义：记号的特定意义</a:t>
            </a:r>
          </a:p>
          <a:p>
            <a:r>
              <a:rPr lang="zh-CN" altLang="en-US"/>
              <a:t>语用：程序与使用者的关系</a:t>
            </a:r>
          </a:p>
          <a:p>
            <a:endParaRPr lang="zh-CN" altLang="en-US"/>
          </a:p>
          <a:p>
            <a:endParaRPr lang="en-US" altLang="zh-CN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B0C2BFB3-3326-4206-A58D-FF61C054AEB8}" type="slidenum">
              <a:rPr lang="en-US" altLang="zh-CN"/>
              <a:pPr/>
              <a:t>12</a:t>
            </a:fld>
            <a:endParaRPr lang="en-US" altLang="zh-CN"/>
          </a:p>
        </p:txBody>
      </p:sp>
      <p:sp>
        <p:nvSpPr>
          <p:cNvPr id="106086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106086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</p:spPr>
        <p:txBody>
          <a:bodyPr/>
          <a:lstStyle/>
          <a:p>
            <a:r>
              <a:rPr lang="en-US" altLang="zh-CN"/>
              <a:t>1946</a:t>
            </a:r>
            <a:r>
              <a:rPr lang="zh-CN" altLang="en-US"/>
              <a:t>年，第一台电子计算机问世，应用领域迅速扩大，软硬件飞速发展，程序设计语言相继问世。</a:t>
            </a:r>
          </a:p>
          <a:p>
            <a:r>
              <a:rPr lang="zh-CN" altLang="en-US"/>
              <a:t>程序设计语言</a:t>
            </a:r>
            <a:r>
              <a:rPr lang="en-US" altLang="zh-CN"/>
              <a:t>:</a:t>
            </a:r>
            <a:r>
              <a:rPr lang="zh-CN" altLang="en-US"/>
              <a:t>将自然语言形式化为有格式的语言</a:t>
            </a:r>
          </a:p>
          <a:p>
            <a:r>
              <a:rPr lang="en-US" altLang="zh-CN"/>
              <a:t>1</a:t>
            </a:r>
            <a:r>
              <a:rPr lang="zh-CN" altLang="en-US"/>
              <a:t>。机器语言：</a:t>
            </a:r>
          </a:p>
          <a:p>
            <a:pPr lvl="2">
              <a:buClr>
                <a:schemeClr val="tx2"/>
              </a:buClr>
              <a:buFontTx/>
              <a:buChar char="•"/>
            </a:pPr>
            <a:r>
              <a:rPr lang="zh-CN" altLang="en-US"/>
              <a:t>计算机能够认识的语言</a:t>
            </a:r>
          </a:p>
          <a:p>
            <a:pPr lvl="2">
              <a:buClr>
                <a:schemeClr val="tx2"/>
              </a:buClr>
              <a:buFontTx/>
              <a:buChar char="•"/>
            </a:pPr>
            <a:r>
              <a:rPr lang="zh-CN" altLang="en-US"/>
              <a:t>计算机的基础是数字电路</a:t>
            </a:r>
          </a:p>
          <a:p>
            <a:pPr lvl="2">
              <a:buClr>
                <a:schemeClr val="tx2"/>
              </a:buClr>
              <a:buFontTx/>
              <a:buChar char="•"/>
            </a:pPr>
            <a:r>
              <a:rPr lang="zh-CN" altLang="en-US"/>
              <a:t>机器语言就是数字电路里的电信号</a:t>
            </a:r>
          </a:p>
          <a:p>
            <a:pPr lvl="2">
              <a:buClr>
                <a:schemeClr val="tx2"/>
              </a:buClr>
              <a:buFontTx/>
              <a:buChar char="•"/>
            </a:pPr>
            <a:r>
              <a:rPr lang="zh-CN" altLang="en-US"/>
              <a:t>将在</a:t>
            </a:r>
            <a:r>
              <a:rPr lang="en-US" altLang="zh-CN"/>
              <a:t>《</a:t>
            </a:r>
            <a:r>
              <a:rPr lang="zh-CN" altLang="en-US"/>
              <a:t>计算机组成</a:t>
            </a:r>
            <a:r>
              <a:rPr lang="en-US" altLang="zh-CN"/>
              <a:t>》</a:t>
            </a:r>
            <a:r>
              <a:rPr lang="zh-CN" altLang="en-US"/>
              <a:t>课程中学习</a:t>
            </a:r>
          </a:p>
          <a:p>
            <a:pPr lvl="2">
              <a:buClr>
                <a:schemeClr val="tx2"/>
              </a:buClr>
              <a:buFontTx/>
              <a:buChar char="•"/>
            </a:pPr>
            <a:r>
              <a:rPr lang="zh-CN" altLang="en-US"/>
              <a:t>都是二进制文件</a:t>
            </a:r>
          </a:p>
          <a:p>
            <a:pPr lvl="2">
              <a:buClr>
                <a:schemeClr val="tx2"/>
              </a:buClr>
              <a:buFontTx/>
              <a:buChar char="•"/>
            </a:pPr>
            <a:r>
              <a:rPr lang="zh-CN" altLang="en-US"/>
              <a:t>一条机器语言成为一条指令</a:t>
            </a:r>
          </a:p>
          <a:p>
            <a:pPr lvl="2">
              <a:buClr>
                <a:schemeClr val="tx2"/>
              </a:buClr>
              <a:buFontTx/>
              <a:buChar char="•"/>
            </a:pPr>
            <a:r>
              <a:rPr lang="zh-CN" altLang="en-US"/>
              <a:t>指令是不可分割的最小功能单元</a:t>
            </a:r>
          </a:p>
          <a:p>
            <a:r>
              <a:rPr lang="zh-CN" altLang="en-US"/>
              <a:t>定义：一种</a:t>
            </a:r>
            <a:r>
              <a:rPr lang="en-US" altLang="zh-CN"/>
              <a:t>CPU</a:t>
            </a:r>
            <a:r>
              <a:rPr lang="zh-CN" altLang="en-US"/>
              <a:t>的指令系统，由该</a:t>
            </a:r>
            <a:r>
              <a:rPr lang="en-US" altLang="zh-CN"/>
              <a:t>CPU</a:t>
            </a:r>
            <a:r>
              <a:rPr lang="zh-CN" altLang="en-US"/>
              <a:t>可识别的</a:t>
            </a:r>
            <a:r>
              <a:rPr lang="en-US" altLang="zh-CN"/>
              <a:t>0</a:t>
            </a:r>
            <a:r>
              <a:rPr lang="zh-CN" altLang="en-US"/>
              <a:t>、</a:t>
            </a:r>
            <a:r>
              <a:rPr lang="en-US" altLang="zh-CN"/>
              <a:t>1</a:t>
            </a:r>
            <a:r>
              <a:rPr lang="zh-CN" altLang="en-US"/>
              <a:t>序列构成的指令码组成。</a:t>
            </a:r>
          </a:p>
          <a:p>
            <a:r>
              <a:rPr lang="zh-CN" altLang="en-US"/>
              <a:t>特点：</a:t>
            </a:r>
          </a:p>
          <a:p>
            <a:r>
              <a:rPr lang="zh-CN" altLang="en-US"/>
              <a:t>执行效率高</a:t>
            </a:r>
          </a:p>
          <a:p>
            <a:r>
              <a:rPr lang="zh-CN" altLang="en-US"/>
              <a:t>不直观，不易查错，生产效率低。</a:t>
            </a:r>
          </a:p>
          <a:p>
            <a:r>
              <a:rPr lang="en-US" altLang="zh-CN"/>
              <a:t>2</a:t>
            </a:r>
            <a:r>
              <a:rPr lang="zh-CN" altLang="en-US"/>
              <a:t>。汇编语言</a:t>
            </a:r>
          </a:p>
          <a:p>
            <a:r>
              <a:rPr lang="zh-CN" altLang="en-US"/>
              <a:t>定义：用助记符号描述的指令系统</a:t>
            </a:r>
          </a:p>
          <a:p>
            <a:r>
              <a:rPr lang="zh-CN" altLang="en-US"/>
              <a:t>特点：</a:t>
            </a:r>
          </a:p>
          <a:p>
            <a:r>
              <a:rPr lang="zh-CN" altLang="en-US"/>
              <a:t>生产效率高，质量好，执行效率较高；</a:t>
            </a:r>
          </a:p>
          <a:p>
            <a:r>
              <a:rPr lang="zh-CN" altLang="en-US"/>
              <a:t>要经汇编程序汇编成目标程序（机器语言）才能执行，依赖硬件。</a:t>
            </a:r>
          </a:p>
          <a:p>
            <a:r>
              <a:rPr lang="zh-CN" altLang="en-US"/>
              <a:t>（面向机器的语言</a:t>
            </a:r>
            <a:r>
              <a:rPr lang="en-US" altLang="zh-CN"/>
              <a:t>----</a:t>
            </a:r>
            <a:r>
              <a:rPr lang="zh-CN" altLang="en-US"/>
              <a:t>依</a:t>
            </a:r>
            <a:r>
              <a:rPr lang="en-US" altLang="zh-CN"/>
              <a:t>CPU</a:t>
            </a:r>
            <a:r>
              <a:rPr lang="zh-CN" altLang="en-US"/>
              <a:t>不同而异）</a:t>
            </a:r>
          </a:p>
          <a:p>
            <a:r>
              <a:rPr lang="en-US" altLang="zh-CN"/>
              <a:t>3</a:t>
            </a:r>
            <a:r>
              <a:rPr lang="zh-CN" altLang="en-US"/>
              <a:t>。高级语言</a:t>
            </a:r>
          </a:p>
          <a:p>
            <a:r>
              <a:rPr lang="zh-CN" altLang="en-US"/>
              <a:t>特点：</a:t>
            </a:r>
          </a:p>
          <a:p>
            <a:r>
              <a:rPr lang="zh-CN" altLang="en-US"/>
              <a:t>编程效率高，不必考虑硬件；</a:t>
            </a:r>
          </a:p>
          <a:p>
            <a:r>
              <a:rPr lang="zh-CN" altLang="en-US"/>
              <a:t>执行效率低，要经编译、连接后才能执行。</a:t>
            </a:r>
          </a:p>
          <a:p>
            <a:r>
              <a:rPr lang="zh-CN" altLang="en-US"/>
              <a:t>面向过程的程序设计语言</a:t>
            </a:r>
          </a:p>
          <a:p>
            <a:r>
              <a:rPr lang="zh-CN" altLang="en-US"/>
              <a:t>认为解题过程是数据被加工的过程</a:t>
            </a:r>
          </a:p>
          <a:p>
            <a:r>
              <a:rPr lang="zh-CN" altLang="en-US"/>
              <a:t>程序</a:t>
            </a:r>
            <a:r>
              <a:rPr lang="en-US" altLang="zh-CN"/>
              <a:t>=</a:t>
            </a:r>
            <a:r>
              <a:rPr lang="zh-CN" altLang="en-US"/>
              <a:t>数据结构</a:t>
            </a:r>
            <a:r>
              <a:rPr lang="en-US" altLang="zh-CN"/>
              <a:t>+</a:t>
            </a:r>
            <a:r>
              <a:rPr lang="zh-CN" altLang="en-US"/>
              <a:t>算法</a:t>
            </a:r>
          </a:p>
          <a:p>
            <a:r>
              <a:rPr lang="en-US" altLang="zh-CN"/>
              <a:t>C</a:t>
            </a:r>
            <a:r>
              <a:rPr lang="zh-CN" altLang="en-US"/>
              <a:t>语言是面向过程的高级语言</a:t>
            </a:r>
          </a:p>
          <a:p>
            <a:r>
              <a:rPr lang="zh-CN" altLang="en-US"/>
              <a:t>           面向对象的程序设计语言</a:t>
            </a:r>
          </a:p>
          <a:p>
            <a:r>
              <a:rPr lang="zh-CN" altLang="en-US"/>
              <a:t>一种结构模拟方法。认为：现实世界由对象组成，对象是数据和方法的封装体；客观世界可以分类，每个对象是类的一个实例。</a:t>
            </a:r>
          </a:p>
          <a:p>
            <a:r>
              <a:rPr lang="zh-CN" altLang="en-US"/>
              <a:t>特点：比面向过程的语言更清晰、易懂，适宜编更大规模程序，是程序设计的主流</a:t>
            </a:r>
          </a:p>
          <a:p>
            <a:endParaRPr lang="zh-CN" altLang="en-US"/>
          </a:p>
          <a:p>
            <a:r>
              <a:rPr lang="zh-CN" altLang="en-US"/>
              <a:t>程序设计语言基本成分：</a:t>
            </a:r>
          </a:p>
          <a:p>
            <a:r>
              <a:rPr lang="zh-CN" altLang="en-US"/>
              <a:t>。数据成分</a:t>
            </a:r>
          </a:p>
          <a:p>
            <a:r>
              <a:rPr lang="zh-CN" altLang="en-US"/>
              <a:t>。运算成分</a:t>
            </a:r>
          </a:p>
          <a:p>
            <a:r>
              <a:rPr lang="zh-CN" altLang="en-US"/>
              <a:t>。控制成分</a:t>
            </a:r>
          </a:p>
          <a:p>
            <a:r>
              <a:rPr lang="zh-CN" altLang="en-US"/>
              <a:t>。传输成分	</a:t>
            </a:r>
          </a:p>
          <a:p>
            <a:endParaRPr lang="zh-CN" altLang="en-US"/>
          </a:p>
          <a:p>
            <a:r>
              <a:rPr lang="zh-CN" altLang="en-US"/>
              <a:t>程序设计语言定义：用于书写计算机程序的语言。通常指实现高级语言。</a:t>
            </a:r>
          </a:p>
          <a:p>
            <a:r>
              <a:rPr lang="zh-CN" altLang="en-US"/>
              <a:t>语言的基础是一组记号与一组规则。</a:t>
            </a:r>
          </a:p>
          <a:p>
            <a:r>
              <a:rPr lang="zh-CN" altLang="en-US"/>
              <a:t>程序设计语言包括：</a:t>
            </a:r>
          </a:p>
          <a:p>
            <a:r>
              <a:rPr lang="zh-CN" altLang="en-US"/>
              <a:t>语法：记号的组合规则</a:t>
            </a:r>
          </a:p>
          <a:p>
            <a:r>
              <a:rPr lang="zh-CN" altLang="en-US"/>
              <a:t>语义：记号的特定意义</a:t>
            </a:r>
          </a:p>
          <a:p>
            <a:r>
              <a:rPr lang="zh-CN" altLang="en-US"/>
              <a:t>语用：程序与使用者的关系</a:t>
            </a:r>
          </a:p>
          <a:p>
            <a:endParaRPr lang="zh-CN" altLang="en-US"/>
          </a:p>
          <a:p>
            <a:endParaRPr lang="en-US" altLang="zh-CN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BEC2F856-21E2-4B09-8F6A-5088CC2DFE72}" type="slidenum">
              <a:rPr lang="en-US" altLang="zh-CN"/>
              <a:pPr/>
              <a:t>13</a:t>
            </a:fld>
            <a:endParaRPr lang="en-US" altLang="zh-CN"/>
          </a:p>
        </p:txBody>
      </p:sp>
      <p:sp>
        <p:nvSpPr>
          <p:cNvPr id="106291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106291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</p:spPr>
        <p:txBody>
          <a:bodyPr/>
          <a:lstStyle/>
          <a:p>
            <a:r>
              <a:rPr lang="en-US" altLang="zh-CN"/>
              <a:t>1946</a:t>
            </a:r>
            <a:r>
              <a:rPr lang="zh-CN" altLang="en-US"/>
              <a:t>年，第一台电子计算机问世，应用领域迅速扩大，软硬件飞速发展，程序设计语言相继问世。</a:t>
            </a:r>
          </a:p>
          <a:p>
            <a:r>
              <a:rPr lang="zh-CN" altLang="en-US"/>
              <a:t>程序设计语言</a:t>
            </a:r>
            <a:r>
              <a:rPr lang="en-US" altLang="zh-CN"/>
              <a:t>:</a:t>
            </a:r>
            <a:r>
              <a:rPr lang="zh-CN" altLang="en-US"/>
              <a:t>将自然语言形式化为有格式的语言</a:t>
            </a:r>
          </a:p>
          <a:p>
            <a:r>
              <a:rPr lang="en-US" altLang="zh-CN"/>
              <a:t>1</a:t>
            </a:r>
            <a:r>
              <a:rPr lang="zh-CN" altLang="en-US"/>
              <a:t>。机器语言：</a:t>
            </a:r>
          </a:p>
          <a:p>
            <a:pPr lvl="2">
              <a:buClr>
                <a:schemeClr val="tx2"/>
              </a:buClr>
              <a:buFontTx/>
              <a:buChar char="•"/>
            </a:pPr>
            <a:r>
              <a:rPr lang="zh-CN" altLang="en-US"/>
              <a:t>计算机能够认识的语言</a:t>
            </a:r>
          </a:p>
          <a:p>
            <a:pPr lvl="2">
              <a:buClr>
                <a:schemeClr val="tx2"/>
              </a:buClr>
              <a:buFontTx/>
              <a:buChar char="•"/>
            </a:pPr>
            <a:r>
              <a:rPr lang="zh-CN" altLang="en-US"/>
              <a:t>计算机的基础是数字电路</a:t>
            </a:r>
          </a:p>
          <a:p>
            <a:pPr lvl="2">
              <a:buClr>
                <a:schemeClr val="tx2"/>
              </a:buClr>
              <a:buFontTx/>
              <a:buChar char="•"/>
            </a:pPr>
            <a:r>
              <a:rPr lang="zh-CN" altLang="en-US"/>
              <a:t>机器语言就是数字电路里的电信号</a:t>
            </a:r>
          </a:p>
          <a:p>
            <a:pPr lvl="2">
              <a:buClr>
                <a:schemeClr val="tx2"/>
              </a:buClr>
              <a:buFontTx/>
              <a:buChar char="•"/>
            </a:pPr>
            <a:r>
              <a:rPr lang="zh-CN" altLang="en-US"/>
              <a:t>将在</a:t>
            </a:r>
            <a:r>
              <a:rPr lang="en-US" altLang="zh-CN"/>
              <a:t>《</a:t>
            </a:r>
            <a:r>
              <a:rPr lang="zh-CN" altLang="en-US"/>
              <a:t>计算机组成</a:t>
            </a:r>
            <a:r>
              <a:rPr lang="en-US" altLang="zh-CN"/>
              <a:t>》</a:t>
            </a:r>
            <a:r>
              <a:rPr lang="zh-CN" altLang="en-US"/>
              <a:t>课程中学习</a:t>
            </a:r>
          </a:p>
          <a:p>
            <a:pPr lvl="2">
              <a:buClr>
                <a:schemeClr val="tx2"/>
              </a:buClr>
              <a:buFontTx/>
              <a:buChar char="•"/>
            </a:pPr>
            <a:r>
              <a:rPr lang="zh-CN" altLang="en-US"/>
              <a:t>都是二进制文件</a:t>
            </a:r>
          </a:p>
          <a:p>
            <a:pPr lvl="2">
              <a:buClr>
                <a:schemeClr val="tx2"/>
              </a:buClr>
              <a:buFontTx/>
              <a:buChar char="•"/>
            </a:pPr>
            <a:r>
              <a:rPr lang="zh-CN" altLang="en-US"/>
              <a:t>一条机器语言成为一条指令</a:t>
            </a:r>
          </a:p>
          <a:p>
            <a:pPr lvl="2">
              <a:buClr>
                <a:schemeClr val="tx2"/>
              </a:buClr>
              <a:buFontTx/>
              <a:buChar char="•"/>
            </a:pPr>
            <a:r>
              <a:rPr lang="zh-CN" altLang="en-US"/>
              <a:t>指令是不可分割的最小功能单元</a:t>
            </a:r>
          </a:p>
          <a:p>
            <a:r>
              <a:rPr lang="zh-CN" altLang="en-US"/>
              <a:t>定义：一种</a:t>
            </a:r>
            <a:r>
              <a:rPr lang="en-US" altLang="zh-CN"/>
              <a:t>CPU</a:t>
            </a:r>
            <a:r>
              <a:rPr lang="zh-CN" altLang="en-US"/>
              <a:t>的指令系统，由该</a:t>
            </a:r>
            <a:r>
              <a:rPr lang="en-US" altLang="zh-CN"/>
              <a:t>CPU</a:t>
            </a:r>
            <a:r>
              <a:rPr lang="zh-CN" altLang="en-US"/>
              <a:t>可识别的</a:t>
            </a:r>
            <a:r>
              <a:rPr lang="en-US" altLang="zh-CN"/>
              <a:t>0</a:t>
            </a:r>
            <a:r>
              <a:rPr lang="zh-CN" altLang="en-US"/>
              <a:t>、</a:t>
            </a:r>
            <a:r>
              <a:rPr lang="en-US" altLang="zh-CN"/>
              <a:t>1</a:t>
            </a:r>
            <a:r>
              <a:rPr lang="zh-CN" altLang="en-US"/>
              <a:t>序列构成的指令码组成。</a:t>
            </a:r>
          </a:p>
          <a:p>
            <a:r>
              <a:rPr lang="zh-CN" altLang="en-US"/>
              <a:t>特点：</a:t>
            </a:r>
          </a:p>
          <a:p>
            <a:r>
              <a:rPr lang="zh-CN" altLang="en-US"/>
              <a:t>执行效率高</a:t>
            </a:r>
          </a:p>
          <a:p>
            <a:r>
              <a:rPr lang="zh-CN" altLang="en-US"/>
              <a:t>不直观，不易查错，生产效率低。</a:t>
            </a:r>
          </a:p>
          <a:p>
            <a:r>
              <a:rPr lang="en-US" altLang="zh-CN"/>
              <a:t>2</a:t>
            </a:r>
            <a:r>
              <a:rPr lang="zh-CN" altLang="en-US"/>
              <a:t>。汇编语言</a:t>
            </a:r>
          </a:p>
          <a:p>
            <a:r>
              <a:rPr lang="zh-CN" altLang="en-US"/>
              <a:t>定义：用助记符号描述的指令系统</a:t>
            </a:r>
          </a:p>
          <a:p>
            <a:r>
              <a:rPr lang="zh-CN" altLang="en-US"/>
              <a:t>特点：</a:t>
            </a:r>
          </a:p>
          <a:p>
            <a:r>
              <a:rPr lang="zh-CN" altLang="en-US"/>
              <a:t>生产效率高，质量好，执行效率较高；</a:t>
            </a:r>
          </a:p>
          <a:p>
            <a:r>
              <a:rPr lang="zh-CN" altLang="en-US"/>
              <a:t>要经汇编程序汇编成目标程序（机器语言）才能执行，依赖硬件。</a:t>
            </a:r>
          </a:p>
          <a:p>
            <a:r>
              <a:rPr lang="zh-CN" altLang="en-US"/>
              <a:t>（面向机器的语言</a:t>
            </a:r>
            <a:r>
              <a:rPr lang="en-US" altLang="zh-CN"/>
              <a:t>----</a:t>
            </a:r>
            <a:r>
              <a:rPr lang="zh-CN" altLang="en-US"/>
              <a:t>依</a:t>
            </a:r>
            <a:r>
              <a:rPr lang="en-US" altLang="zh-CN"/>
              <a:t>CPU</a:t>
            </a:r>
            <a:r>
              <a:rPr lang="zh-CN" altLang="en-US"/>
              <a:t>不同而异）</a:t>
            </a:r>
          </a:p>
          <a:p>
            <a:r>
              <a:rPr lang="en-US" altLang="zh-CN"/>
              <a:t>3</a:t>
            </a:r>
            <a:r>
              <a:rPr lang="zh-CN" altLang="en-US"/>
              <a:t>。高级语言</a:t>
            </a:r>
          </a:p>
          <a:p>
            <a:r>
              <a:rPr lang="zh-CN" altLang="en-US"/>
              <a:t>特点：</a:t>
            </a:r>
          </a:p>
          <a:p>
            <a:r>
              <a:rPr lang="zh-CN" altLang="en-US"/>
              <a:t>编程效率高，不必考虑硬件；</a:t>
            </a:r>
          </a:p>
          <a:p>
            <a:r>
              <a:rPr lang="zh-CN" altLang="en-US"/>
              <a:t>执行效率低，要经编译、连接后才能执行。</a:t>
            </a:r>
          </a:p>
          <a:p>
            <a:r>
              <a:rPr lang="zh-CN" altLang="en-US"/>
              <a:t>面向过程的程序设计语言</a:t>
            </a:r>
          </a:p>
          <a:p>
            <a:r>
              <a:rPr lang="zh-CN" altLang="en-US"/>
              <a:t>认为解题过程是数据被加工的过程</a:t>
            </a:r>
          </a:p>
          <a:p>
            <a:r>
              <a:rPr lang="zh-CN" altLang="en-US"/>
              <a:t>程序</a:t>
            </a:r>
            <a:r>
              <a:rPr lang="en-US" altLang="zh-CN"/>
              <a:t>=</a:t>
            </a:r>
            <a:r>
              <a:rPr lang="zh-CN" altLang="en-US"/>
              <a:t>数据结构</a:t>
            </a:r>
            <a:r>
              <a:rPr lang="en-US" altLang="zh-CN"/>
              <a:t>+</a:t>
            </a:r>
            <a:r>
              <a:rPr lang="zh-CN" altLang="en-US"/>
              <a:t>算法</a:t>
            </a:r>
          </a:p>
          <a:p>
            <a:r>
              <a:rPr lang="en-US" altLang="zh-CN"/>
              <a:t>C</a:t>
            </a:r>
            <a:r>
              <a:rPr lang="zh-CN" altLang="en-US"/>
              <a:t>语言是面向过程的高级语言</a:t>
            </a:r>
          </a:p>
          <a:p>
            <a:r>
              <a:rPr lang="zh-CN" altLang="en-US"/>
              <a:t>           面向对象的程序设计语言</a:t>
            </a:r>
          </a:p>
          <a:p>
            <a:r>
              <a:rPr lang="zh-CN" altLang="en-US"/>
              <a:t>一种结构模拟方法。认为：现实世界由对象组成，对象是数据和方法的封装体；客观世界可以分类，每个对象是类的一个实例。</a:t>
            </a:r>
          </a:p>
          <a:p>
            <a:r>
              <a:rPr lang="zh-CN" altLang="en-US"/>
              <a:t>特点：比面向过程的语言更清晰、易懂，适宜编更大规模程序，是程序设计的主流</a:t>
            </a:r>
          </a:p>
          <a:p>
            <a:endParaRPr lang="zh-CN" altLang="en-US"/>
          </a:p>
          <a:p>
            <a:r>
              <a:rPr lang="zh-CN" altLang="en-US"/>
              <a:t>程序设计语言基本成分：</a:t>
            </a:r>
          </a:p>
          <a:p>
            <a:r>
              <a:rPr lang="zh-CN" altLang="en-US"/>
              <a:t>。数据成分</a:t>
            </a:r>
          </a:p>
          <a:p>
            <a:r>
              <a:rPr lang="zh-CN" altLang="en-US"/>
              <a:t>。运算成分</a:t>
            </a:r>
          </a:p>
          <a:p>
            <a:r>
              <a:rPr lang="zh-CN" altLang="en-US"/>
              <a:t>。控制成分</a:t>
            </a:r>
          </a:p>
          <a:p>
            <a:r>
              <a:rPr lang="zh-CN" altLang="en-US"/>
              <a:t>。传输成分	</a:t>
            </a:r>
          </a:p>
          <a:p>
            <a:endParaRPr lang="zh-CN" altLang="en-US"/>
          </a:p>
          <a:p>
            <a:r>
              <a:rPr lang="zh-CN" altLang="en-US"/>
              <a:t>程序设计语言定义：用于书写计算机程序的语言。通常指实现高级语言。</a:t>
            </a:r>
          </a:p>
          <a:p>
            <a:r>
              <a:rPr lang="zh-CN" altLang="en-US"/>
              <a:t>语言的基础是一组记号与一组规则。</a:t>
            </a:r>
          </a:p>
          <a:p>
            <a:r>
              <a:rPr lang="zh-CN" altLang="en-US"/>
              <a:t>程序设计语言包括：</a:t>
            </a:r>
          </a:p>
          <a:p>
            <a:r>
              <a:rPr lang="zh-CN" altLang="en-US"/>
              <a:t>语法：记号的组合规则</a:t>
            </a:r>
          </a:p>
          <a:p>
            <a:r>
              <a:rPr lang="zh-CN" altLang="en-US"/>
              <a:t>语义：记号的特定意义</a:t>
            </a:r>
          </a:p>
          <a:p>
            <a:r>
              <a:rPr lang="zh-CN" altLang="en-US"/>
              <a:t>语用：程序与使用者的关系</a:t>
            </a:r>
          </a:p>
          <a:p>
            <a:endParaRPr lang="zh-CN" altLang="en-US"/>
          </a:p>
          <a:p>
            <a:endParaRPr lang="en-US" altLang="zh-CN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490BE285-8B5A-436F-B4BE-A588ACF783D5}" type="slidenum">
              <a:rPr lang="en-US" altLang="zh-CN"/>
              <a:pPr/>
              <a:t>14</a:t>
            </a:fld>
            <a:endParaRPr lang="en-US" altLang="zh-CN"/>
          </a:p>
        </p:txBody>
      </p:sp>
      <p:sp>
        <p:nvSpPr>
          <p:cNvPr id="106496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106496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</p:spPr>
        <p:txBody>
          <a:bodyPr/>
          <a:lstStyle/>
          <a:p>
            <a:r>
              <a:rPr lang="en-US" altLang="zh-CN" dirty="0"/>
              <a:t>1946</a:t>
            </a:r>
            <a:r>
              <a:rPr lang="zh-CN" altLang="en-US" dirty="0"/>
              <a:t>年，第一台电子计算机问世，应用领域迅速扩大，软硬件飞速发展，程序设计语言相继问世。</a:t>
            </a:r>
          </a:p>
          <a:p>
            <a:r>
              <a:rPr lang="zh-CN" altLang="en-US" dirty="0"/>
              <a:t>程序设计语言</a:t>
            </a:r>
            <a:r>
              <a:rPr lang="en-US" altLang="zh-CN" dirty="0"/>
              <a:t>:</a:t>
            </a:r>
            <a:r>
              <a:rPr lang="zh-CN" altLang="en-US" dirty="0"/>
              <a:t>将自然语言形式化为有格式的语言</a:t>
            </a:r>
          </a:p>
          <a:p>
            <a:r>
              <a:rPr lang="en-US" altLang="zh-CN" dirty="0"/>
              <a:t>1</a:t>
            </a:r>
            <a:r>
              <a:rPr lang="zh-CN" altLang="en-US" dirty="0"/>
              <a:t>。机器语言：</a:t>
            </a:r>
          </a:p>
          <a:p>
            <a:pPr lvl="2">
              <a:buClr>
                <a:schemeClr val="tx2"/>
              </a:buClr>
              <a:buFontTx/>
              <a:buChar char="•"/>
            </a:pPr>
            <a:r>
              <a:rPr lang="zh-CN" altLang="en-US" dirty="0"/>
              <a:t>计算机能够认识的语言</a:t>
            </a:r>
          </a:p>
          <a:p>
            <a:pPr lvl="2">
              <a:buClr>
                <a:schemeClr val="tx2"/>
              </a:buClr>
              <a:buFontTx/>
              <a:buChar char="•"/>
            </a:pPr>
            <a:r>
              <a:rPr lang="zh-CN" altLang="en-US" dirty="0"/>
              <a:t>计算机的基础是数字电路</a:t>
            </a:r>
          </a:p>
          <a:p>
            <a:pPr lvl="2">
              <a:buClr>
                <a:schemeClr val="tx2"/>
              </a:buClr>
              <a:buFontTx/>
              <a:buChar char="•"/>
            </a:pPr>
            <a:r>
              <a:rPr lang="zh-CN" altLang="en-US" dirty="0"/>
              <a:t>机器语言就是数字电路里的电信号</a:t>
            </a:r>
          </a:p>
          <a:p>
            <a:pPr lvl="2">
              <a:buClr>
                <a:schemeClr val="tx2"/>
              </a:buClr>
              <a:buFontTx/>
              <a:buChar char="•"/>
            </a:pPr>
            <a:r>
              <a:rPr lang="zh-CN" altLang="en-US" dirty="0"/>
              <a:t>将在</a:t>
            </a:r>
            <a:r>
              <a:rPr lang="en-US" altLang="zh-CN" dirty="0"/>
              <a:t>《</a:t>
            </a:r>
            <a:r>
              <a:rPr lang="zh-CN" altLang="en-US" dirty="0"/>
              <a:t>计算机组成</a:t>
            </a:r>
            <a:r>
              <a:rPr lang="en-US" altLang="zh-CN" dirty="0"/>
              <a:t>》</a:t>
            </a:r>
            <a:r>
              <a:rPr lang="zh-CN" altLang="en-US" dirty="0"/>
              <a:t>课程中学习</a:t>
            </a:r>
          </a:p>
          <a:p>
            <a:pPr lvl="2">
              <a:buClr>
                <a:schemeClr val="tx2"/>
              </a:buClr>
              <a:buFontTx/>
              <a:buChar char="•"/>
            </a:pPr>
            <a:r>
              <a:rPr lang="zh-CN" altLang="en-US" dirty="0"/>
              <a:t>都是二进制文件</a:t>
            </a:r>
          </a:p>
          <a:p>
            <a:pPr lvl="2">
              <a:buClr>
                <a:schemeClr val="tx2"/>
              </a:buClr>
              <a:buFontTx/>
              <a:buChar char="•"/>
            </a:pPr>
            <a:r>
              <a:rPr lang="zh-CN" altLang="en-US" dirty="0"/>
              <a:t>一条机器语言成为一条指令</a:t>
            </a:r>
          </a:p>
          <a:p>
            <a:pPr lvl="2">
              <a:buClr>
                <a:schemeClr val="tx2"/>
              </a:buClr>
              <a:buFontTx/>
              <a:buChar char="•"/>
            </a:pPr>
            <a:r>
              <a:rPr lang="zh-CN" altLang="en-US" dirty="0"/>
              <a:t>指令是不可分割的最小功能单元</a:t>
            </a:r>
          </a:p>
          <a:p>
            <a:r>
              <a:rPr lang="zh-CN" altLang="en-US" dirty="0"/>
              <a:t>定义：一种</a:t>
            </a:r>
            <a:r>
              <a:rPr lang="en-US" altLang="zh-CN" dirty="0"/>
              <a:t>CPU</a:t>
            </a:r>
            <a:r>
              <a:rPr lang="zh-CN" altLang="en-US" dirty="0"/>
              <a:t>的指令系统，由该</a:t>
            </a:r>
            <a:r>
              <a:rPr lang="en-US" altLang="zh-CN" dirty="0"/>
              <a:t>CPU</a:t>
            </a:r>
            <a:r>
              <a:rPr lang="zh-CN" altLang="en-US" dirty="0"/>
              <a:t>可识别的</a:t>
            </a:r>
            <a:r>
              <a:rPr lang="en-US" altLang="zh-CN" dirty="0"/>
              <a:t>0</a:t>
            </a:r>
            <a:r>
              <a:rPr lang="zh-CN" altLang="en-US" dirty="0"/>
              <a:t>、</a:t>
            </a:r>
            <a:r>
              <a:rPr lang="en-US" altLang="zh-CN" dirty="0"/>
              <a:t>1</a:t>
            </a:r>
            <a:r>
              <a:rPr lang="zh-CN" altLang="en-US" dirty="0"/>
              <a:t>序列构成的指令码组成。</a:t>
            </a:r>
          </a:p>
          <a:p>
            <a:r>
              <a:rPr lang="zh-CN" altLang="en-US" dirty="0"/>
              <a:t>特点：</a:t>
            </a:r>
          </a:p>
          <a:p>
            <a:r>
              <a:rPr lang="zh-CN" altLang="en-US" dirty="0"/>
              <a:t>执行效率高</a:t>
            </a:r>
          </a:p>
          <a:p>
            <a:r>
              <a:rPr lang="zh-CN" altLang="en-US" dirty="0"/>
              <a:t>不直观，不易查错，生产效率低。</a:t>
            </a:r>
          </a:p>
          <a:p>
            <a:r>
              <a:rPr lang="en-US" altLang="zh-CN" dirty="0"/>
              <a:t>2</a:t>
            </a:r>
            <a:r>
              <a:rPr lang="zh-CN" altLang="en-US" dirty="0"/>
              <a:t>。汇编语言</a:t>
            </a:r>
          </a:p>
          <a:p>
            <a:r>
              <a:rPr lang="zh-CN" altLang="en-US" dirty="0"/>
              <a:t>定义：用助记符号描述的指令系统</a:t>
            </a:r>
          </a:p>
          <a:p>
            <a:r>
              <a:rPr lang="zh-CN" altLang="en-US" dirty="0"/>
              <a:t>特点：</a:t>
            </a:r>
          </a:p>
          <a:p>
            <a:r>
              <a:rPr lang="zh-CN" altLang="en-US" dirty="0"/>
              <a:t>生产效率高，质量好，执行效率较高；</a:t>
            </a:r>
          </a:p>
          <a:p>
            <a:r>
              <a:rPr lang="zh-CN" altLang="en-US" dirty="0"/>
              <a:t>要经汇编程序汇编成目标程序（机器语言）才能执行，依赖硬件。</a:t>
            </a:r>
          </a:p>
          <a:p>
            <a:r>
              <a:rPr lang="zh-CN" altLang="en-US" dirty="0"/>
              <a:t>（面向机器的语言</a:t>
            </a:r>
            <a:r>
              <a:rPr lang="en-US" altLang="zh-CN" dirty="0"/>
              <a:t>----</a:t>
            </a:r>
            <a:r>
              <a:rPr lang="zh-CN" altLang="en-US" dirty="0"/>
              <a:t>依</a:t>
            </a:r>
            <a:r>
              <a:rPr lang="en-US" altLang="zh-CN" dirty="0"/>
              <a:t>CPU</a:t>
            </a:r>
            <a:r>
              <a:rPr lang="zh-CN" altLang="en-US" dirty="0"/>
              <a:t>不同而异）</a:t>
            </a:r>
          </a:p>
          <a:p>
            <a:r>
              <a:rPr lang="en-US" altLang="zh-CN" dirty="0"/>
              <a:t>3</a:t>
            </a:r>
            <a:r>
              <a:rPr lang="zh-CN" altLang="en-US" dirty="0"/>
              <a:t>。高级语言</a:t>
            </a:r>
          </a:p>
          <a:p>
            <a:r>
              <a:rPr lang="zh-CN" altLang="en-US" dirty="0"/>
              <a:t>特点：</a:t>
            </a:r>
          </a:p>
          <a:p>
            <a:r>
              <a:rPr lang="zh-CN" altLang="en-US" dirty="0"/>
              <a:t>编程效率高，不必考虑硬件；</a:t>
            </a:r>
          </a:p>
          <a:p>
            <a:r>
              <a:rPr lang="zh-CN" altLang="en-US" dirty="0"/>
              <a:t>执行效率低，要经编译、连接后才能执行。</a:t>
            </a:r>
          </a:p>
          <a:p>
            <a:r>
              <a:rPr lang="zh-CN" altLang="en-US" dirty="0"/>
              <a:t>面向过程的程序设计语言</a:t>
            </a:r>
          </a:p>
          <a:p>
            <a:r>
              <a:rPr lang="zh-CN" altLang="en-US" dirty="0"/>
              <a:t>认为解题过程是数据被加工的过程</a:t>
            </a:r>
          </a:p>
          <a:p>
            <a:r>
              <a:rPr lang="zh-CN" altLang="en-US" dirty="0"/>
              <a:t>程序</a:t>
            </a:r>
            <a:r>
              <a:rPr lang="en-US" altLang="zh-CN" dirty="0"/>
              <a:t>=</a:t>
            </a:r>
            <a:r>
              <a:rPr lang="zh-CN" altLang="en-US" dirty="0"/>
              <a:t>数据结构</a:t>
            </a:r>
            <a:r>
              <a:rPr lang="en-US" altLang="zh-CN" dirty="0"/>
              <a:t>+</a:t>
            </a:r>
            <a:r>
              <a:rPr lang="zh-CN" altLang="en-US" dirty="0"/>
              <a:t>算法</a:t>
            </a:r>
          </a:p>
          <a:p>
            <a:r>
              <a:rPr lang="en-US" altLang="zh-CN" dirty="0"/>
              <a:t>C</a:t>
            </a:r>
            <a:r>
              <a:rPr lang="zh-CN" altLang="en-US" dirty="0"/>
              <a:t>语言是面向过程的高级语言</a:t>
            </a:r>
          </a:p>
          <a:p>
            <a:r>
              <a:rPr lang="zh-CN" altLang="en-US" dirty="0"/>
              <a:t>           面向对象的程序设计语言</a:t>
            </a:r>
          </a:p>
          <a:p>
            <a:r>
              <a:rPr lang="zh-CN" altLang="en-US" dirty="0"/>
              <a:t>一种结构模拟方法。认为：现实世界由对象组成，对象是数据和方法的封装体；客观世界可以分类，每个对象是类的一个实例。</a:t>
            </a:r>
          </a:p>
          <a:p>
            <a:r>
              <a:rPr lang="zh-CN" altLang="en-US" dirty="0"/>
              <a:t>特点：比面向过程的语言更清晰、易懂，适宜编更大规模程序，是程序设计的主流</a:t>
            </a:r>
          </a:p>
          <a:p>
            <a:endParaRPr lang="zh-CN" altLang="en-US" dirty="0"/>
          </a:p>
          <a:p>
            <a:r>
              <a:rPr lang="zh-CN" altLang="en-US" dirty="0"/>
              <a:t>程序设计语言基本成分：</a:t>
            </a:r>
          </a:p>
          <a:p>
            <a:r>
              <a:rPr lang="zh-CN" altLang="en-US" dirty="0"/>
              <a:t>。数据成分</a:t>
            </a:r>
          </a:p>
          <a:p>
            <a:r>
              <a:rPr lang="zh-CN" altLang="en-US" dirty="0"/>
              <a:t>。运算成分</a:t>
            </a:r>
          </a:p>
          <a:p>
            <a:r>
              <a:rPr lang="zh-CN" altLang="en-US" dirty="0"/>
              <a:t>。控制成分</a:t>
            </a:r>
          </a:p>
          <a:p>
            <a:r>
              <a:rPr lang="zh-CN" altLang="en-US" dirty="0"/>
              <a:t>。传输成分	</a:t>
            </a:r>
          </a:p>
          <a:p>
            <a:endParaRPr lang="zh-CN" altLang="en-US" dirty="0"/>
          </a:p>
          <a:p>
            <a:r>
              <a:rPr lang="zh-CN" altLang="en-US" dirty="0"/>
              <a:t>程序设计语言定义：用于书写计算机程序的语言。通常指实现高级语言。</a:t>
            </a:r>
          </a:p>
          <a:p>
            <a:r>
              <a:rPr lang="zh-CN" altLang="en-US" dirty="0"/>
              <a:t>语言的基础是一组记号与一组规则。</a:t>
            </a:r>
          </a:p>
          <a:p>
            <a:r>
              <a:rPr lang="zh-CN" altLang="en-US" dirty="0"/>
              <a:t>程序设计语言包括：</a:t>
            </a:r>
          </a:p>
          <a:p>
            <a:r>
              <a:rPr lang="zh-CN" altLang="en-US" dirty="0"/>
              <a:t>语法：记号的组合规则</a:t>
            </a:r>
          </a:p>
          <a:p>
            <a:r>
              <a:rPr lang="zh-CN" altLang="en-US" dirty="0"/>
              <a:t>语义：记号的特定意义</a:t>
            </a:r>
          </a:p>
          <a:p>
            <a:r>
              <a:rPr lang="zh-CN" altLang="en-US" dirty="0"/>
              <a:t>语用：程序与使用者的关系</a:t>
            </a:r>
          </a:p>
          <a:p>
            <a:endParaRPr lang="zh-CN" altLang="en-US" dirty="0"/>
          </a:p>
          <a:p>
            <a:endParaRPr lang="en-US" altLang="zh-CN" dirty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8E0F2096-01A7-4DDC-8823-B006DFC99D2A}" type="slidenum">
              <a:rPr lang="en-US" altLang="zh-CN"/>
              <a:pPr/>
              <a:t>15</a:t>
            </a:fld>
            <a:endParaRPr lang="en-US" altLang="zh-CN"/>
          </a:p>
        </p:txBody>
      </p:sp>
      <p:sp>
        <p:nvSpPr>
          <p:cNvPr id="106701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106701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</p:spPr>
        <p:txBody>
          <a:bodyPr/>
          <a:lstStyle/>
          <a:p>
            <a:r>
              <a:rPr lang="en-US" altLang="zh-CN"/>
              <a:t>1946</a:t>
            </a:r>
            <a:r>
              <a:rPr lang="zh-CN" altLang="en-US"/>
              <a:t>年，第一台电子计算机问世，应用领域迅速扩大，软硬件飞速发展，程序设计语言相继问世。</a:t>
            </a:r>
          </a:p>
          <a:p>
            <a:r>
              <a:rPr lang="zh-CN" altLang="en-US"/>
              <a:t>程序设计语言</a:t>
            </a:r>
            <a:r>
              <a:rPr lang="en-US" altLang="zh-CN"/>
              <a:t>:</a:t>
            </a:r>
            <a:r>
              <a:rPr lang="zh-CN" altLang="en-US"/>
              <a:t>将自然语言形式化为有格式的语言</a:t>
            </a:r>
          </a:p>
          <a:p>
            <a:r>
              <a:rPr lang="en-US" altLang="zh-CN"/>
              <a:t>1</a:t>
            </a:r>
            <a:r>
              <a:rPr lang="zh-CN" altLang="en-US"/>
              <a:t>。机器语言：</a:t>
            </a:r>
          </a:p>
          <a:p>
            <a:pPr lvl="2">
              <a:buClr>
                <a:schemeClr val="tx2"/>
              </a:buClr>
              <a:buFontTx/>
              <a:buChar char="•"/>
            </a:pPr>
            <a:r>
              <a:rPr lang="zh-CN" altLang="en-US"/>
              <a:t>计算机能够认识的语言</a:t>
            </a:r>
          </a:p>
          <a:p>
            <a:pPr lvl="2">
              <a:buClr>
                <a:schemeClr val="tx2"/>
              </a:buClr>
              <a:buFontTx/>
              <a:buChar char="•"/>
            </a:pPr>
            <a:r>
              <a:rPr lang="zh-CN" altLang="en-US"/>
              <a:t>计算机的基础是数字电路</a:t>
            </a:r>
          </a:p>
          <a:p>
            <a:pPr lvl="2">
              <a:buClr>
                <a:schemeClr val="tx2"/>
              </a:buClr>
              <a:buFontTx/>
              <a:buChar char="•"/>
            </a:pPr>
            <a:r>
              <a:rPr lang="zh-CN" altLang="en-US"/>
              <a:t>机器语言就是数字电路里的电信号</a:t>
            </a:r>
          </a:p>
          <a:p>
            <a:pPr lvl="2">
              <a:buClr>
                <a:schemeClr val="tx2"/>
              </a:buClr>
              <a:buFontTx/>
              <a:buChar char="•"/>
            </a:pPr>
            <a:r>
              <a:rPr lang="zh-CN" altLang="en-US"/>
              <a:t>将在</a:t>
            </a:r>
            <a:r>
              <a:rPr lang="en-US" altLang="zh-CN"/>
              <a:t>《</a:t>
            </a:r>
            <a:r>
              <a:rPr lang="zh-CN" altLang="en-US"/>
              <a:t>计算机组成</a:t>
            </a:r>
            <a:r>
              <a:rPr lang="en-US" altLang="zh-CN"/>
              <a:t>》</a:t>
            </a:r>
            <a:r>
              <a:rPr lang="zh-CN" altLang="en-US"/>
              <a:t>课程中学习</a:t>
            </a:r>
          </a:p>
          <a:p>
            <a:pPr lvl="2">
              <a:buClr>
                <a:schemeClr val="tx2"/>
              </a:buClr>
              <a:buFontTx/>
              <a:buChar char="•"/>
            </a:pPr>
            <a:r>
              <a:rPr lang="zh-CN" altLang="en-US"/>
              <a:t>都是二进制文件</a:t>
            </a:r>
          </a:p>
          <a:p>
            <a:pPr lvl="2">
              <a:buClr>
                <a:schemeClr val="tx2"/>
              </a:buClr>
              <a:buFontTx/>
              <a:buChar char="•"/>
            </a:pPr>
            <a:r>
              <a:rPr lang="zh-CN" altLang="en-US"/>
              <a:t>一条机器语言成为一条指令</a:t>
            </a:r>
          </a:p>
          <a:p>
            <a:pPr lvl="2">
              <a:buClr>
                <a:schemeClr val="tx2"/>
              </a:buClr>
              <a:buFontTx/>
              <a:buChar char="•"/>
            </a:pPr>
            <a:r>
              <a:rPr lang="zh-CN" altLang="en-US"/>
              <a:t>指令是不可分割的最小功能单元</a:t>
            </a:r>
          </a:p>
          <a:p>
            <a:r>
              <a:rPr lang="zh-CN" altLang="en-US"/>
              <a:t>定义：一种</a:t>
            </a:r>
            <a:r>
              <a:rPr lang="en-US" altLang="zh-CN"/>
              <a:t>CPU</a:t>
            </a:r>
            <a:r>
              <a:rPr lang="zh-CN" altLang="en-US"/>
              <a:t>的指令系统，由该</a:t>
            </a:r>
            <a:r>
              <a:rPr lang="en-US" altLang="zh-CN"/>
              <a:t>CPU</a:t>
            </a:r>
            <a:r>
              <a:rPr lang="zh-CN" altLang="en-US"/>
              <a:t>可识别的</a:t>
            </a:r>
            <a:r>
              <a:rPr lang="en-US" altLang="zh-CN"/>
              <a:t>0</a:t>
            </a:r>
            <a:r>
              <a:rPr lang="zh-CN" altLang="en-US"/>
              <a:t>、</a:t>
            </a:r>
            <a:r>
              <a:rPr lang="en-US" altLang="zh-CN"/>
              <a:t>1</a:t>
            </a:r>
            <a:r>
              <a:rPr lang="zh-CN" altLang="en-US"/>
              <a:t>序列构成的指令码组成。</a:t>
            </a:r>
          </a:p>
          <a:p>
            <a:r>
              <a:rPr lang="zh-CN" altLang="en-US"/>
              <a:t>特点：</a:t>
            </a:r>
          </a:p>
          <a:p>
            <a:r>
              <a:rPr lang="zh-CN" altLang="en-US"/>
              <a:t>执行效率高</a:t>
            </a:r>
          </a:p>
          <a:p>
            <a:r>
              <a:rPr lang="zh-CN" altLang="en-US"/>
              <a:t>不直观，不易查错，生产效率低。</a:t>
            </a:r>
          </a:p>
          <a:p>
            <a:r>
              <a:rPr lang="en-US" altLang="zh-CN"/>
              <a:t>2</a:t>
            </a:r>
            <a:r>
              <a:rPr lang="zh-CN" altLang="en-US"/>
              <a:t>。汇编语言</a:t>
            </a:r>
          </a:p>
          <a:p>
            <a:r>
              <a:rPr lang="zh-CN" altLang="en-US"/>
              <a:t>定义：用助记符号描述的指令系统</a:t>
            </a:r>
          </a:p>
          <a:p>
            <a:r>
              <a:rPr lang="zh-CN" altLang="en-US"/>
              <a:t>特点：</a:t>
            </a:r>
          </a:p>
          <a:p>
            <a:r>
              <a:rPr lang="zh-CN" altLang="en-US"/>
              <a:t>生产效率高，质量好，执行效率较高；</a:t>
            </a:r>
          </a:p>
          <a:p>
            <a:r>
              <a:rPr lang="zh-CN" altLang="en-US"/>
              <a:t>要经汇编程序汇编成目标程序（机器语言）才能执行，依赖硬件。</a:t>
            </a:r>
          </a:p>
          <a:p>
            <a:r>
              <a:rPr lang="zh-CN" altLang="en-US"/>
              <a:t>（面向机器的语言</a:t>
            </a:r>
            <a:r>
              <a:rPr lang="en-US" altLang="zh-CN"/>
              <a:t>----</a:t>
            </a:r>
            <a:r>
              <a:rPr lang="zh-CN" altLang="en-US"/>
              <a:t>依</a:t>
            </a:r>
            <a:r>
              <a:rPr lang="en-US" altLang="zh-CN"/>
              <a:t>CPU</a:t>
            </a:r>
            <a:r>
              <a:rPr lang="zh-CN" altLang="en-US"/>
              <a:t>不同而异）</a:t>
            </a:r>
          </a:p>
          <a:p>
            <a:r>
              <a:rPr lang="en-US" altLang="zh-CN"/>
              <a:t>3</a:t>
            </a:r>
            <a:r>
              <a:rPr lang="zh-CN" altLang="en-US"/>
              <a:t>。高级语言</a:t>
            </a:r>
          </a:p>
          <a:p>
            <a:r>
              <a:rPr lang="zh-CN" altLang="en-US"/>
              <a:t>特点：</a:t>
            </a:r>
          </a:p>
          <a:p>
            <a:r>
              <a:rPr lang="zh-CN" altLang="en-US"/>
              <a:t>编程效率高，不必考虑硬件；</a:t>
            </a:r>
          </a:p>
          <a:p>
            <a:r>
              <a:rPr lang="zh-CN" altLang="en-US"/>
              <a:t>执行效率低，要经编译、连接后才能执行。</a:t>
            </a:r>
          </a:p>
          <a:p>
            <a:r>
              <a:rPr lang="zh-CN" altLang="en-US"/>
              <a:t>面向过程的程序设计语言</a:t>
            </a:r>
          </a:p>
          <a:p>
            <a:r>
              <a:rPr lang="zh-CN" altLang="en-US"/>
              <a:t>认为解题过程是数据被加工的过程</a:t>
            </a:r>
          </a:p>
          <a:p>
            <a:r>
              <a:rPr lang="zh-CN" altLang="en-US"/>
              <a:t>程序</a:t>
            </a:r>
            <a:r>
              <a:rPr lang="en-US" altLang="zh-CN"/>
              <a:t>=</a:t>
            </a:r>
            <a:r>
              <a:rPr lang="zh-CN" altLang="en-US"/>
              <a:t>数据结构</a:t>
            </a:r>
            <a:r>
              <a:rPr lang="en-US" altLang="zh-CN"/>
              <a:t>+</a:t>
            </a:r>
            <a:r>
              <a:rPr lang="zh-CN" altLang="en-US"/>
              <a:t>算法</a:t>
            </a:r>
          </a:p>
          <a:p>
            <a:r>
              <a:rPr lang="en-US" altLang="zh-CN"/>
              <a:t>C</a:t>
            </a:r>
            <a:r>
              <a:rPr lang="zh-CN" altLang="en-US"/>
              <a:t>语言是面向过程的高级语言</a:t>
            </a:r>
          </a:p>
          <a:p>
            <a:r>
              <a:rPr lang="zh-CN" altLang="en-US"/>
              <a:t>           面向对象的程序设计语言</a:t>
            </a:r>
          </a:p>
          <a:p>
            <a:r>
              <a:rPr lang="zh-CN" altLang="en-US"/>
              <a:t>一种结构模拟方法。认为：现实世界由对象组成，对象是数据和方法的封装体；客观世界可以分类，每个对象是类的一个实例。</a:t>
            </a:r>
          </a:p>
          <a:p>
            <a:r>
              <a:rPr lang="zh-CN" altLang="en-US"/>
              <a:t>特点：比面向过程的语言更清晰、易懂，适宜编更大规模程序，是程序设计的主流</a:t>
            </a:r>
          </a:p>
          <a:p>
            <a:endParaRPr lang="zh-CN" altLang="en-US"/>
          </a:p>
          <a:p>
            <a:r>
              <a:rPr lang="zh-CN" altLang="en-US"/>
              <a:t>程序设计语言基本成分：</a:t>
            </a:r>
          </a:p>
          <a:p>
            <a:r>
              <a:rPr lang="zh-CN" altLang="en-US"/>
              <a:t>。数据成分</a:t>
            </a:r>
          </a:p>
          <a:p>
            <a:r>
              <a:rPr lang="zh-CN" altLang="en-US"/>
              <a:t>。运算成分</a:t>
            </a:r>
          </a:p>
          <a:p>
            <a:r>
              <a:rPr lang="zh-CN" altLang="en-US"/>
              <a:t>。控制成分</a:t>
            </a:r>
          </a:p>
          <a:p>
            <a:r>
              <a:rPr lang="zh-CN" altLang="en-US"/>
              <a:t>。传输成分	</a:t>
            </a:r>
          </a:p>
          <a:p>
            <a:endParaRPr lang="zh-CN" altLang="en-US"/>
          </a:p>
          <a:p>
            <a:r>
              <a:rPr lang="zh-CN" altLang="en-US"/>
              <a:t>程序设计语言定义：用于书写计算机程序的语言。通常指实现高级语言。</a:t>
            </a:r>
          </a:p>
          <a:p>
            <a:r>
              <a:rPr lang="zh-CN" altLang="en-US"/>
              <a:t>语言的基础是一组记号与一组规则。</a:t>
            </a:r>
          </a:p>
          <a:p>
            <a:r>
              <a:rPr lang="zh-CN" altLang="en-US"/>
              <a:t>程序设计语言包括：</a:t>
            </a:r>
          </a:p>
          <a:p>
            <a:r>
              <a:rPr lang="zh-CN" altLang="en-US"/>
              <a:t>语法：记号的组合规则</a:t>
            </a:r>
          </a:p>
          <a:p>
            <a:r>
              <a:rPr lang="zh-CN" altLang="en-US"/>
              <a:t>语义：记号的特定意义</a:t>
            </a:r>
          </a:p>
          <a:p>
            <a:r>
              <a:rPr lang="zh-CN" altLang="en-US"/>
              <a:t>语用：程序与使用者的关系</a:t>
            </a:r>
          </a:p>
          <a:p>
            <a:endParaRPr lang="zh-CN" altLang="en-US"/>
          </a:p>
          <a:p>
            <a:endParaRPr lang="en-US" altLang="zh-CN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1348FA05-75B8-4916-AB46-A5B300CF68A4}" type="slidenum">
              <a:rPr lang="en-US" altLang="zh-CN"/>
              <a:pPr/>
              <a:t>16</a:t>
            </a:fld>
            <a:endParaRPr lang="en-US" altLang="zh-CN"/>
          </a:p>
        </p:txBody>
      </p:sp>
      <p:sp>
        <p:nvSpPr>
          <p:cNvPr id="106905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106905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</p:spPr>
        <p:txBody>
          <a:bodyPr/>
          <a:lstStyle/>
          <a:p>
            <a:r>
              <a:rPr lang="en-US" altLang="zh-CN"/>
              <a:t>1946</a:t>
            </a:r>
            <a:r>
              <a:rPr lang="zh-CN" altLang="en-US"/>
              <a:t>年，第一台电子计算机问世，应用领域迅速扩大，软硬件飞速发展，程序设计语言相继问世。</a:t>
            </a:r>
          </a:p>
          <a:p>
            <a:r>
              <a:rPr lang="zh-CN" altLang="en-US"/>
              <a:t>程序设计语言</a:t>
            </a:r>
            <a:r>
              <a:rPr lang="en-US" altLang="zh-CN"/>
              <a:t>:</a:t>
            </a:r>
            <a:r>
              <a:rPr lang="zh-CN" altLang="en-US"/>
              <a:t>将自然语言形式化为有格式的语言</a:t>
            </a:r>
          </a:p>
          <a:p>
            <a:r>
              <a:rPr lang="en-US" altLang="zh-CN"/>
              <a:t>1</a:t>
            </a:r>
            <a:r>
              <a:rPr lang="zh-CN" altLang="en-US"/>
              <a:t>。机器语言：</a:t>
            </a:r>
          </a:p>
          <a:p>
            <a:pPr lvl="2">
              <a:buClr>
                <a:schemeClr val="tx2"/>
              </a:buClr>
              <a:buFontTx/>
              <a:buChar char="•"/>
            </a:pPr>
            <a:r>
              <a:rPr lang="zh-CN" altLang="en-US"/>
              <a:t>计算机能够认识的语言</a:t>
            </a:r>
          </a:p>
          <a:p>
            <a:pPr lvl="2">
              <a:buClr>
                <a:schemeClr val="tx2"/>
              </a:buClr>
              <a:buFontTx/>
              <a:buChar char="•"/>
            </a:pPr>
            <a:r>
              <a:rPr lang="zh-CN" altLang="en-US"/>
              <a:t>计算机的基础是数字电路</a:t>
            </a:r>
          </a:p>
          <a:p>
            <a:pPr lvl="2">
              <a:buClr>
                <a:schemeClr val="tx2"/>
              </a:buClr>
              <a:buFontTx/>
              <a:buChar char="•"/>
            </a:pPr>
            <a:r>
              <a:rPr lang="zh-CN" altLang="en-US"/>
              <a:t>机器语言就是数字电路里的电信号</a:t>
            </a:r>
          </a:p>
          <a:p>
            <a:pPr lvl="2">
              <a:buClr>
                <a:schemeClr val="tx2"/>
              </a:buClr>
              <a:buFontTx/>
              <a:buChar char="•"/>
            </a:pPr>
            <a:r>
              <a:rPr lang="zh-CN" altLang="en-US"/>
              <a:t>将在</a:t>
            </a:r>
            <a:r>
              <a:rPr lang="en-US" altLang="zh-CN"/>
              <a:t>《</a:t>
            </a:r>
            <a:r>
              <a:rPr lang="zh-CN" altLang="en-US"/>
              <a:t>计算机组成</a:t>
            </a:r>
            <a:r>
              <a:rPr lang="en-US" altLang="zh-CN"/>
              <a:t>》</a:t>
            </a:r>
            <a:r>
              <a:rPr lang="zh-CN" altLang="en-US"/>
              <a:t>课程中学习</a:t>
            </a:r>
          </a:p>
          <a:p>
            <a:pPr lvl="2">
              <a:buClr>
                <a:schemeClr val="tx2"/>
              </a:buClr>
              <a:buFontTx/>
              <a:buChar char="•"/>
            </a:pPr>
            <a:r>
              <a:rPr lang="zh-CN" altLang="en-US"/>
              <a:t>都是二进制文件</a:t>
            </a:r>
          </a:p>
          <a:p>
            <a:pPr lvl="2">
              <a:buClr>
                <a:schemeClr val="tx2"/>
              </a:buClr>
              <a:buFontTx/>
              <a:buChar char="•"/>
            </a:pPr>
            <a:r>
              <a:rPr lang="zh-CN" altLang="en-US"/>
              <a:t>一条机器语言成为一条指令</a:t>
            </a:r>
          </a:p>
          <a:p>
            <a:pPr lvl="2">
              <a:buClr>
                <a:schemeClr val="tx2"/>
              </a:buClr>
              <a:buFontTx/>
              <a:buChar char="•"/>
            </a:pPr>
            <a:r>
              <a:rPr lang="zh-CN" altLang="en-US"/>
              <a:t>指令是不可分割的最小功能单元</a:t>
            </a:r>
          </a:p>
          <a:p>
            <a:r>
              <a:rPr lang="zh-CN" altLang="en-US"/>
              <a:t>定义：一种</a:t>
            </a:r>
            <a:r>
              <a:rPr lang="en-US" altLang="zh-CN"/>
              <a:t>CPU</a:t>
            </a:r>
            <a:r>
              <a:rPr lang="zh-CN" altLang="en-US"/>
              <a:t>的指令系统，由该</a:t>
            </a:r>
            <a:r>
              <a:rPr lang="en-US" altLang="zh-CN"/>
              <a:t>CPU</a:t>
            </a:r>
            <a:r>
              <a:rPr lang="zh-CN" altLang="en-US"/>
              <a:t>可识别的</a:t>
            </a:r>
            <a:r>
              <a:rPr lang="en-US" altLang="zh-CN"/>
              <a:t>0</a:t>
            </a:r>
            <a:r>
              <a:rPr lang="zh-CN" altLang="en-US"/>
              <a:t>、</a:t>
            </a:r>
            <a:r>
              <a:rPr lang="en-US" altLang="zh-CN"/>
              <a:t>1</a:t>
            </a:r>
            <a:r>
              <a:rPr lang="zh-CN" altLang="en-US"/>
              <a:t>序列构成的指令码组成。</a:t>
            </a:r>
          </a:p>
          <a:p>
            <a:r>
              <a:rPr lang="zh-CN" altLang="en-US"/>
              <a:t>特点：</a:t>
            </a:r>
          </a:p>
          <a:p>
            <a:r>
              <a:rPr lang="zh-CN" altLang="en-US"/>
              <a:t>执行效率高</a:t>
            </a:r>
          </a:p>
          <a:p>
            <a:r>
              <a:rPr lang="zh-CN" altLang="en-US"/>
              <a:t>不直观，不易查错，生产效率低。</a:t>
            </a:r>
          </a:p>
          <a:p>
            <a:r>
              <a:rPr lang="en-US" altLang="zh-CN"/>
              <a:t>2</a:t>
            </a:r>
            <a:r>
              <a:rPr lang="zh-CN" altLang="en-US"/>
              <a:t>。汇编语言</a:t>
            </a:r>
          </a:p>
          <a:p>
            <a:r>
              <a:rPr lang="zh-CN" altLang="en-US"/>
              <a:t>定义：用助记符号描述的指令系统</a:t>
            </a:r>
          </a:p>
          <a:p>
            <a:r>
              <a:rPr lang="zh-CN" altLang="en-US"/>
              <a:t>特点：</a:t>
            </a:r>
          </a:p>
          <a:p>
            <a:r>
              <a:rPr lang="zh-CN" altLang="en-US"/>
              <a:t>生产效率高，质量好，执行效率较高；</a:t>
            </a:r>
          </a:p>
          <a:p>
            <a:r>
              <a:rPr lang="zh-CN" altLang="en-US"/>
              <a:t>要经汇编程序汇编成目标程序（机器语言）才能执行，依赖硬件。</a:t>
            </a:r>
          </a:p>
          <a:p>
            <a:r>
              <a:rPr lang="zh-CN" altLang="en-US"/>
              <a:t>（面向机器的语言</a:t>
            </a:r>
            <a:r>
              <a:rPr lang="en-US" altLang="zh-CN"/>
              <a:t>----</a:t>
            </a:r>
            <a:r>
              <a:rPr lang="zh-CN" altLang="en-US"/>
              <a:t>依</a:t>
            </a:r>
            <a:r>
              <a:rPr lang="en-US" altLang="zh-CN"/>
              <a:t>CPU</a:t>
            </a:r>
            <a:r>
              <a:rPr lang="zh-CN" altLang="en-US"/>
              <a:t>不同而异）</a:t>
            </a:r>
          </a:p>
          <a:p>
            <a:r>
              <a:rPr lang="en-US" altLang="zh-CN"/>
              <a:t>3</a:t>
            </a:r>
            <a:r>
              <a:rPr lang="zh-CN" altLang="en-US"/>
              <a:t>。高级语言</a:t>
            </a:r>
          </a:p>
          <a:p>
            <a:r>
              <a:rPr lang="zh-CN" altLang="en-US"/>
              <a:t>特点：</a:t>
            </a:r>
          </a:p>
          <a:p>
            <a:r>
              <a:rPr lang="zh-CN" altLang="en-US"/>
              <a:t>编程效率高，不必考虑硬件；</a:t>
            </a:r>
          </a:p>
          <a:p>
            <a:r>
              <a:rPr lang="zh-CN" altLang="en-US"/>
              <a:t>执行效率低，要经编译、连接后才能执行。</a:t>
            </a:r>
          </a:p>
          <a:p>
            <a:r>
              <a:rPr lang="zh-CN" altLang="en-US"/>
              <a:t>面向过程的程序设计语言</a:t>
            </a:r>
          </a:p>
          <a:p>
            <a:r>
              <a:rPr lang="zh-CN" altLang="en-US"/>
              <a:t>认为解题过程是数据被加工的过程</a:t>
            </a:r>
          </a:p>
          <a:p>
            <a:r>
              <a:rPr lang="zh-CN" altLang="en-US"/>
              <a:t>程序</a:t>
            </a:r>
            <a:r>
              <a:rPr lang="en-US" altLang="zh-CN"/>
              <a:t>=</a:t>
            </a:r>
            <a:r>
              <a:rPr lang="zh-CN" altLang="en-US"/>
              <a:t>数据结构</a:t>
            </a:r>
            <a:r>
              <a:rPr lang="en-US" altLang="zh-CN"/>
              <a:t>+</a:t>
            </a:r>
            <a:r>
              <a:rPr lang="zh-CN" altLang="en-US"/>
              <a:t>算法</a:t>
            </a:r>
          </a:p>
          <a:p>
            <a:r>
              <a:rPr lang="en-US" altLang="zh-CN"/>
              <a:t>C</a:t>
            </a:r>
            <a:r>
              <a:rPr lang="zh-CN" altLang="en-US"/>
              <a:t>语言是面向过程的高级语言</a:t>
            </a:r>
          </a:p>
          <a:p>
            <a:r>
              <a:rPr lang="zh-CN" altLang="en-US"/>
              <a:t>           面向对象的程序设计语言</a:t>
            </a:r>
          </a:p>
          <a:p>
            <a:r>
              <a:rPr lang="zh-CN" altLang="en-US"/>
              <a:t>一种结构模拟方法。认为：现实世界由对象组成，对象是数据和方法的封装体；客观世界可以分类，每个对象是类的一个实例。</a:t>
            </a:r>
          </a:p>
          <a:p>
            <a:r>
              <a:rPr lang="zh-CN" altLang="en-US"/>
              <a:t>特点：比面向过程的语言更清晰、易懂，适宜编更大规模程序，是程序设计的主流</a:t>
            </a:r>
          </a:p>
          <a:p>
            <a:endParaRPr lang="zh-CN" altLang="en-US"/>
          </a:p>
          <a:p>
            <a:r>
              <a:rPr lang="zh-CN" altLang="en-US"/>
              <a:t>程序设计语言基本成分：</a:t>
            </a:r>
          </a:p>
          <a:p>
            <a:r>
              <a:rPr lang="zh-CN" altLang="en-US"/>
              <a:t>。数据成分</a:t>
            </a:r>
          </a:p>
          <a:p>
            <a:r>
              <a:rPr lang="zh-CN" altLang="en-US"/>
              <a:t>。运算成分</a:t>
            </a:r>
          </a:p>
          <a:p>
            <a:r>
              <a:rPr lang="zh-CN" altLang="en-US"/>
              <a:t>。控制成分</a:t>
            </a:r>
          </a:p>
          <a:p>
            <a:r>
              <a:rPr lang="zh-CN" altLang="en-US"/>
              <a:t>。传输成分	</a:t>
            </a:r>
          </a:p>
          <a:p>
            <a:endParaRPr lang="zh-CN" altLang="en-US"/>
          </a:p>
          <a:p>
            <a:r>
              <a:rPr lang="zh-CN" altLang="en-US"/>
              <a:t>程序设计语言定义：用于书写计算机程序的语言。通常指实现高级语言。</a:t>
            </a:r>
          </a:p>
          <a:p>
            <a:r>
              <a:rPr lang="zh-CN" altLang="en-US"/>
              <a:t>语言的基础是一组记号与一组规则。</a:t>
            </a:r>
          </a:p>
          <a:p>
            <a:r>
              <a:rPr lang="zh-CN" altLang="en-US"/>
              <a:t>程序设计语言包括：</a:t>
            </a:r>
          </a:p>
          <a:p>
            <a:r>
              <a:rPr lang="zh-CN" altLang="en-US"/>
              <a:t>语法：记号的组合规则</a:t>
            </a:r>
          </a:p>
          <a:p>
            <a:r>
              <a:rPr lang="zh-CN" altLang="en-US"/>
              <a:t>语义：记号的特定意义</a:t>
            </a:r>
          </a:p>
          <a:p>
            <a:r>
              <a:rPr lang="zh-CN" altLang="en-US"/>
              <a:t>语用：程序与使用者的关系</a:t>
            </a:r>
          </a:p>
          <a:p>
            <a:endParaRPr lang="zh-CN" altLang="en-US"/>
          </a:p>
          <a:p>
            <a:endParaRPr lang="en-US" altLang="zh-CN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BB07EFAC-C3C6-443D-B8F6-8A25A88098A8}" type="slidenum">
              <a:rPr lang="en-US" altLang="zh-CN"/>
              <a:pPr/>
              <a:t>17</a:t>
            </a:fld>
            <a:endParaRPr lang="en-US" altLang="zh-CN"/>
          </a:p>
        </p:txBody>
      </p:sp>
      <p:sp>
        <p:nvSpPr>
          <p:cNvPr id="107110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107110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</p:spPr>
        <p:txBody>
          <a:bodyPr/>
          <a:lstStyle/>
          <a:p>
            <a:r>
              <a:rPr lang="en-US" altLang="zh-CN"/>
              <a:t>1946</a:t>
            </a:r>
            <a:r>
              <a:rPr lang="zh-CN" altLang="en-US"/>
              <a:t>年，第一台电子计算机问世，应用领域迅速扩大，软硬件飞速发展，程序设计语言相继问世。</a:t>
            </a:r>
          </a:p>
          <a:p>
            <a:r>
              <a:rPr lang="zh-CN" altLang="en-US"/>
              <a:t>程序设计语言</a:t>
            </a:r>
            <a:r>
              <a:rPr lang="en-US" altLang="zh-CN"/>
              <a:t>:</a:t>
            </a:r>
            <a:r>
              <a:rPr lang="zh-CN" altLang="en-US"/>
              <a:t>将自然语言形式化为有格式的语言</a:t>
            </a:r>
          </a:p>
          <a:p>
            <a:r>
              <a:rPr lang="en-US" altLang="zh-CN"/>
              <a:t>1</a:t>
            </a:r>
            <a:r>
              <a:rPr lang="zh-CN" altLang="en-US"/>
              <a:t>。机器语言：</a:t>
            </a:r>
          </a:p>
          <a:p>
            <a:pPr lvl="2">
              <a:buClr>
                <a:schemeClr val="tx2"/>
              </a:buClr>
              <a:buFontTx/>
              <a:buChar char="•"/>
            </a:pPr>
            <a:r>
              <a:rPr lang="zh-CN" altLang="en-US"/>
              <a:t>计算机能够认识的语言</a:t>
            </a:r>
          </a:p>
          <a:p>
            <a:pPr lvl="2">
              <a:buClr>
                <a:schemeClr val="tx2"/>
              </a:buClr>
              <a:buFontTx/>
              <a:buChar char="•"/>
            </a:pPr>
            <a:r>
              <a:rPr lang="zh-CN" altLang="en-US"/>
              <a:t>计算机的基础是数字电路</a:t>
            </a:r>
          </a:p>
          <a:p>
            <a:pPr lvl="2">
              <a:buClr>
                <a:schemeClr val="tx2"/>
              </a:buClr>
              <a:buFontTx/>
              <a:buChar char="•"/>
            </a:pPr>
            <a:r>
              <a:rPr lang="zh-CN" altLang="en-US"/>
              <a:t>机器语言就是数字电路里的电信号</a:t>
            </a:r>
          </a:p>
          <a:p>
            <a:pPr lvl="2">
              <a:buClr>
                <a:schemeClr val="tx2"/>
              </a:buClr>
              <a:buFontTx/>
              <a:buChar char="•"/>
            </a:pPr>
            <a:r>
              <a:rPr lang="zh-CN" altLang="en-US"/>
              <a:t>将在</a:t>
            </a:r>
            <a:r>
              <a:rPr lang="en-US" altLang="zh-CN"/>
              <a:t>《</a:t>
            </a:r>
            <a:r>
              <a:rPr lang="zh-CN" altLang="en-US"/>
              <a:t>计算机组成</a:t>
            </a:r>
            <a:r>
              <a:rPr lang="en-US" altLang="zh-CN"/>
              <a:t>》</a:t>
            </a:r>
            <a:r>
              <a:rPr lang="zh-CN" altLang="en-US"/>
              <a:t>课程中学习</a:t>
            </a:r>
          </a:p>
          <a:p>
            <a:pPr lvl="2">
              <a:buClr>
                <a:schemeClr val="tx2"/>
              </a:buClr>
              <a:buFontTx/>
              <a:buChar char="•"/>
            </a:pPr>
            <a:r>
              <a:rPr lang="zh-CN" altLang="en-US"/>
              <a:t>都是二进制文件</a:t>
            </a:r>
          </a:p>
          <a:p>
            <a:pPr lvl="2">
              <a:buClr>
                <a:schemeClr val="tx2"/>
              </a:buClr>
              <a:buFontTx/>
              <a:buChar char="•"/>
            </a:pPr>
            <a:r>
              <a:rPr lang="zh-CN" altLang="en-US"/>
              <a:t>一条机器语言成为一条指令</a:t>
            </a:r>
          </a:p>
          <a:p>
            <a:pPr lvl="2">
              <a:buClr>
                <a:schemeClr val="tx2"/>
              </a:buClr>
              <a:buFontTx/>
              <a:buChar char="•"/>
            </a:pPr>
            <a:r>
              <a:rPr lang="zh-CN" altLang="en-US"/>
              <a:t>指令是不可分割的最小功能单元</a:t>
            </a:r>
          </a:p>
          <a:p>
            <a:r>
              <a:rPr lang="zh-CN" altLang="en-US"/>
              <a:t>定义：一种</a:t>
            </a:r>
            <a:r>
              <a:rPr lang="en-US" altLang="zh-CN"/>
              <a:t>CPU</a:t>
            </a:r>
            <a:r>
              <a:rPr lang="zh-CN" altLang="en-US"/>
              <a:t>的指令系统，由该</a:t>
            </a:r>
            <a:r>
              <a:rPr lang="en-US" altLang="zh-CN"/>
              <a:t>CPU</a:t>
            </a:r>
            <a:r>
              <a:rPr lang="zh-CN" altLang="en-US"/>
              <a:t>可识别的</a:t>
            </a:r>
            <a:r>
              <a:rPr lang="en-US" altLang="zh-CN"/>
              <a:t>0</a:t>
            </a:r>
            <a:r>
              <a:rPr lang="zh-CN" altLang="en-US"/>
              <a:t>、</a:t>
            </a:r>
            <a:r>
              <a:rPr lang="en-US" altLang="zh-CN"/>
              <a:t>1</a:t>
            </a:r>
            <a:r>
              <a:rPr lang="zh-CN" altLang="en-US"/>
              <a:t>序列构成的指令码组成。</a:t>
            </a:r>
          </a:p>
          <a:p>
            <a:r>
              <a:rPr lang="zh-CN" altLang="en-US"/>
              <a:t>特点：</a:t>
            </a:r>
          </a:p>
          <a:p>
            <a:r>
              <a:rPr lang="zh-CN" altLang="en-US"/>
              <a:t>执行效率高</a:t>
            </a:r>
          </a:p>
          <a:p>
            <a:r>
              <a:rPr lang="zh-CN" altLang="en-US"/>
              <a:t>不直观，不易查错，生产效率低。</a:t>
            </a:r>
          </a:p>
          <a:p>
            <a:r>
              <a:rPr lang="en-US" altLang="zh-CN"/>
              <a:t>2</a:t>
            </a:r>
            <a:r>
              <a:rPr lang="zh-CN" altLang="en-US"/>
              <a:t>。汇编语言</a:t>
            </a:r>
          </a:p>
          <a:p>
            <a:r>
              <a:rPr lang="zh-CN" altLang="en-US"/>
              <a:t>定义：用助记符号描述的指令系统</a:t>
            </a:r>
          </a:p>
          <a:p>
            <a:r>
              <a:rPr lang="zh-CN" altLang="en-US"/>
              <a:t>特点：</a:t>
            </a:r>
          </a:p>
          <a:p>
            <a:r>
              <a:rPr lang="zh-CN" altLang="en-US"/>
              <a:t>生产效率高，质量好，执行效率较高；</a:t>
            </a:r>
          </a:p>
          <a:p>
            <a:r>
              <a:rPr lang="zh-CN" altLang="en-US"/>
              <a:t>要经汇编程序汇编成目标程序（机器语言）才能执行，依赖硬件。</a:t>
            </a:r>
          </a:p>
          <a:p>
            <a:r>
              <a:rPr lang="zh-CN" altLang="en-US"/>
              <a:t>（面向机器的语言</a:t>
            </a:r>
            <a:r>
              <a:rPr lang="en-US" altLang="zh-CN"/>
              <a:t>----</a:t>
            </a:r>
            <a:r>
              <a:rPr lang="zh-CN" altLang="en-US"/>
              <a:t>依</a:t>
            </a:r>
            <a:r>
              <a:rPr lang="en-US" altLang="zh-CN"/>
              <a:t>CPU</a:t>
            </a:r>
            <a:r>
              <a:rPr lang="zh-CN" altLang="en-US"/>
              <a:t>不同而异）</a:t>
            </a:r>
          </a:p>
          <a:p>
            <a:r>
              <a:rPr lang="en-US" altLang="zh-CN"/>
              <a:t>3</a:t>
            </a:r>
            <a:r>
              <a:rPr lang="zh-CN" altLang="en-US"/>
              <a:t>。高级语言</a:t>
            </a:r>
          </a:p>
          <a:p>
            <a:r>
              <a:rPr lang="zh-CN" altLang="en-US"/>
              <a:t>特点：</a:t>
            </a:r>
          </a:p>
          <a:p>
            <a:r>
              <a:rPr lang="zh-CN" altLang="en-US"/>
              <a:t>编程效率高，不必考虑硬件；</a:t>
            </a:r>
          </a:p>
          <a:p>
            <a:r>
              <a:rPr lang="zh-CN" altLang="en-US"/>
              <a:t>执行效率低，要经编译、连接后才能执行。</a:t>
            </a:r>
          </a:p>
          <a:p>
            <a:r>
              <a:rPr lang="zh-CN" altLang="en-US"/>
              <a:t>面向过程的程序设计语言</a:t>
            </a:r>
          </a:p>
          <a:p>
            <a:r>
              <a:rPr lang="zh-CN" altLang="en-US"/>
              <a:t>认为解题过程是数据被加工的过程</a:t>
            </a:r>
          </a:p>
          <a:p>
            <a:r>
              <a:rPr lang="zh-CN" altLang="en-US"/>
              <a:t>程序</a:t>
            </a:r>
            <a:r>
              <a:rPr lang="en-US" altLang="zh-CN"/>
              <a:t>=</a:t>
            </a:r>
            <a:r>
              <a:rPr lang="zh-CN" altLang="en-US"/>
              <a:t>数据结构</a:t>
            </a:r>
            <a:r>
              <a:rPr lang="en-US" altLang="zh-CN"/>
              <a:t>+</a:t>
            </a:r>
            <a:r>
              <a:rPr lang="zh-CN" altLang="en-US"/>
              <a:t>算法</a:t>
            </a:r>
          </a:p>
          <a:p>
            <a:r>
              <a:rPr lang="en-US" altLang="zh-CN"/>
              <a:t>C</a:t>
            </a:r>
            <a:r>
              <a:rPr lang="zh-CN" altLang="en-US"/>
              <a:t>语言是面向过程的高级语言</a:t>
            </a:r>
          </a:p>
          <a:p>
            <a:r>
              <a:rPr lang="zh-CN" altLang="en-US"/>
              <a:t>           面向对象的程序设计语言</a:t>
            </a:r>
          </a:p>
          <a:p>
            <a:r>
              <a:rPr lang="zh-CN" altLang="en-US"/>
              <a:t>一种结构模拟方法。认为：现实世界由对象组成，对象是数据和方法的封装体；客观世界可以分类，每个对象是类的一个实例。</a:t>
            </a:r>
          </a:p>
          <a:p>
            <a:r>
              <a:rPr lang="zh-CN" altLang="en-US"/>
              <a:t>特点：比面向过程的语言更清晰、易懂，适宜编更大规模程序，是程序设计的主流</a:t>
            </a:r>
          </a:p>
          <a:p>
            <a:endParaRPr lang="zh-CN" altLang="en-US"/>
          </a:p>
          <a:p>
            <a:r>
              <a:rPr lang="zh-CN" altLang="en-US"/>
              <a:t>程序设计语言基本成分：</a:t>
            </a:r>
          </a:p>
          <a:p>
            <a:r>
              <a:rPr lang="zh-CN" altLang="en-US"/>
              <a:t>。数据成分</a:t>
            </a:r>
          </a:p>
          <a:p>
            <a:r>
              <a:rPr lang="zh-CN" altLang="en-US"/>
              <a:t>。运算成分</a:t>
            </a:r>
          </a:p>
          <a:p>
            <a:r>
              <a:rPr lang="zh-CN" altLang="en-US"/>
              <a:t>。控制成分</a:t>
            </a:r>
          </a:p>
          <a:p>
            <a:r>
              <a:rPr lang="zh-CN" altLang="en-US"/>
              <a:t>。传输成分	</a:t>
            </a:r>
          </a:p>
          <a:p>
            <a:endParaRPr lang="zh-CN" altLang="en-US"/>
          </a:p>
          <a:p>
            <a:r>
              <a:rPr lang="zh-CN" altLang="en-US"/>
              <a:t>程序设计语言定义：用于书写计算机程序的语言。通常指实现高级语言。</a:t>
            </a:r>
          </a:p>
          <a:p>
            <a:r>
              <a:rPr lang="zh-CN" altLang="en-US"/>
              <a:t>语言的基础是一组记号与一组规则。</a:t>
            </a:r>
          </a:p>
          <a:p>
            <a:r>
              <a:rPr lang="zh-CN" altLang="en-US"/>
              <a:t>程序设计语言包括：</a:t>
            </a:r>
          </a:p>
          <a:p>
            <a:r>
              <a:rPr lang="zh-CN" altLang="en-US"/>
              <a:t>语法：记号的组合规则</a:t>
            </a:r>
          </a:p>
          <a:p>
            <a:r>
              <a:rPr lang="zh-CN" altLang="en-US"/>
              <a:t>语义：记号的特定意义</a:t>
            </a:r>
          </a:p>
          <a:p>
            <a:r>
              <a:rPr lang="zh-CN" altLang="en-US"/>
              <a:t>语用：程序与使用者的关系</a:t>
            </a:r>
          </a:p>
          <a:p>
            <a:endParaRPr lang="zh-CN" altLang="en-US"/>
          </a:p>
          <a:p>
            <a:endParaRPr lang="en-US" altLang="zh-CN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170121F1-D41A-4219-B1A8-63893A5E0674}" type="slidenum">
              <a:rPr lang="en-US" altLang="zh-CN"/>
              <a:pPr/>
              <a:t>18</a:t>
            </a:fld>
            <a:endParaRPr lang="en-US" altLang="zh-CN"/>
          </a:p>
        </p:txBody>
      </p:sp>
      <p:sp>
        <p:nvSpPr>
          <p:cNvPr id="107315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107315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</p:spPr>
        <p:txBody>
          <a:bodyPr/>
          <a:lstStyle/>
          <a:p>
            <a:r>
              <a:rPr lang="en-US" altLang="zh-CN"/>
              <a:t>1946</a:t>
            </a:r>
            <a:r>
              <a:rPr lang="zh-CN" altLang="en-US"/>
              <a:t>年，第一台电子计算机问世，应用领域迅速扩大，软硬件飞速发展，程序设计语言相继问世。</a:t>
            </a:r>
          </a:p>
          <a:p>
            <a:r>
              <a:rPr lang="zh-CN" altLang="en-US"/>
              <a:t>程序设计语言</a:t>
            </a:r>
            <a:r>
              <a:rPr lang="en-US" altLang="zh-CN"/>
              <a:t>:</a:t>
            </a:r>
            <a:r>
              <a:rPr lang="zh-CN" altLang="en-US"/>
              <a:t>将自然语言形式化为有格式的语言</a:t>
            </a:r>
          </a:p>
          <a:p>
            <a:r>
              <a:rPr lang="en-US" altLang="zh-CN"/>
              <a:t>1</a:t>
            </a:r>
            <a:r>
              <a:rPr lang="zh-CN" altLang="en-US"/>
              <a:t>。机器语言：</a:t>
            </a:r>
          </a:p>
          <a:p>
            <a:pPr lvl="2">
              <a:buClr>
                <a:schemeClr val="tx2"/>
              </a:buClr>
              <a:buFontTx/>
              <a:buChar char="•"/>
            </a:pPr>
            <a:r>
              <a:rPr lang="zh-CN" altLang="en-US"/>
              <a:t>计算机能够认识的语言</a:t>
            </a:r>
          </a:p>
          <a:p>
            <a:pPr lvl="2">
              <a:buClr>
                <a:schemeClr val="tx2"/>
              </a:buClr>
              <a:buFontTx/>
              <a:buChar char="•"/>
            </a:pPr>
            <a:r>
              <a:rPr lang="zh-CN" altLang="en-US"/>
              <a:t>计算机的基础是数字电路</a:t>
            </a:r>
          </a:p>
          <a:p>
            <a:pPr lvl="2">
              <a:buClr>
                <a:schemeClr val="tx2"/>
              </a:buClr>
              <a:buFontTx/>
              <a:buChar char="•"/>
            </a:pPr>
            <a:r>
              <a:rPr lang="zh-CN" altLang="en-US"/>
              <a:t>机器语言就是数字电路里的电信号</a:t>
            </a:r>
          </a:p>
          <a:p>
            <a:pPr lvl="2">
              <a:buClr>
                <a:schemeClr val="tx2"/>
              </a:buClr>
              <a:buFontTx/>
              <a:buChar char="•"/>
            </a:pPr>
            <a:r>
              <a:rPr lang="zh-CN" altLang="en-US"/>
              <a:t>将在</a:t>
            </a:r>
            <a:r>
              <a:rPr lang="en-US" altLang="zh-CN"/>
              <a:t>《</a:t>
            </a:r>
            <a:r>
              <a:rPr lang="zh-CN" altLang="en-US"/>
              <a:t>计算机组成</a:t>
            </a:r>
            <a:r>
              <a:rPr lang="en-US" altLang="zh-CN"/>
              <a:t>》</a:t>
            </a:r>
            <a:r>
              <a:rPr lang="zh-CN" altLang="en-US"/>
              <a:t>课程中学习</a:t>
            </a:r>
          </a:p>
          <a:p>
            <a:pPr lvl="2">
              <a:buClr>
                <a:schemeClr val="tx2"/>
              </a:buClr>
              <a:buFontTx/>
              <a:buChar char="•"/>
            </a:pPr>
            <a:r>
              <a:rPr lang="zh-CN" altLang="en-US"/>
              <a:t>都是二进制文件</a:t>
            </a:r>
          </a:p>
          <a:p>
            <a:pPr lvl="2">
              <a:buClr>
                <a:schemeClr val="tx2"/>
              </a:buClr>
              <a:buFontTx/>
              <a:buChar char="•"/>
            </a:pPr>
            <a:r>
              <a:rPr lang="zh-CN" altLang="en-US"/>
              <a:t>一条机器语言成为一条指令</a:t>
            </a:r>
          </a:p>
          <a:p>
            <a:pPr lvl="2">
              <a:buClr>
                <a:schemeClr val="tx2"/>
              </a:buClr>
              <a:buFontTx/>
              <a:buChar char="•"/>
            </a:pPr>
            <a:r>
              <a:rPr lang="zh-CN" altLang="en-US"/>
              <a:t>指令是不可分割的最小功能单元</a:t>
            </a:r>
          </a:p>
          <a:p>
            <a:r>
              <a:rPr lang="zh-CN" altLang="en-US"/>
              <a:t>定义：一种</a:t>
            </a:r>
            <a:r>
              <a:rPr lang="en-US" altLang="zh-CN"/>
              <a:t>CPU</a:t>
            </a:r>
            <a:r>
              <a:rPr lang="zh-CN" altLang="en-US"/>
              <a:t>的指令系统，由该</a:t>
            </a:r>
            <a:r>
              <a:rPr lang="en-US" altLang="zh-CN"/>
              <a:t>CPU</a:t>
            </a:r>
            <a:r>
              <a:rPr lang="zh-CN" altLang="en-US"/>
              <a:t>可识别的</a:t>
            </a:r>
            <a:r>
              <a:rPr lang="en-US" altLang="zh-CN"/>
              <a:t>0</a:t>
            </a:r>
            <a:r>
              <a:rPr lang="zh-CN" altLang="en-US"/>
              <a:t>、</a:t>
            </a:r>
            <a:r>
              <a:rPr lang="en-US" altLang="zh-CN"/>
              <a:t>1</a:t>
            </a:r>
            <a:r>
              <a:rPr lang="zh-CN" altLang="en-US"/>
              <a:t>序列构成的指令码组成。</a:t>
            </a:r>
          </a:p>
          <a:p>
            <a:r>
              <a:rPr lang="zh-CN" altLang="en-US"/>
              <a:t>特点：</a:t>
            </a:r>
          </a:p>
          <a:p>
            <a:r>
              <a:rPr lang="zh-CN" altLang="en-US"/>
              <a:t>执行效率高</a:t>
            </a:r>
          </a:p>
          <a:p>
            <a:r>
              <a:rPr lang="zh-CN" altLang="en-US"/>
              <a:t>不直观，不易查错，生产效率低。</a:t>
            </a:r>
          </a:p>
          <a:p>
            <a:r>
              <a:rPr lang="en-US" altLang="zh-CN"/>
              <a:t>2</a:t>
            </a:r>
            <a:r>
              <a:rPr lang="zh-CN" altLang="en-US"/>
              <a:t>。汇编语言</a:t>
            </a:r>
          </a:p>
          <a:p>
            <a:r>
              <a:rPr lang="zh-CN" altLang="en-US"/>
              <a:t>定义：用助记符号描述的指令系统</a:t>
            </a:r>
          </a:p>
          <a:p>
            <a:r>
              <a:rPr lang="zh-CN" altLang="en-US"/>
              <a:t>特点：</a:t>
            </a:r>
          </a:p>
          <a:p>
            <a:r>
              <a:rPr lang="zh-CN" altLang="en-US"/>
              <a:t>生产效率高，质量好，执行效率较高；</a:t>
            </a:r>
          </a:p>
          <a:p>
            <a:r>
              <a:rPr lang="zh-CN" altLang="en-US"/>
              <a:t>要经汇编程序汇编成目标程序（机器语言）才能执行，依赖硬件。</a:t>
            </a:r>
          </a:p>
          <a:p>
            <a:r>
              <a:rPr lang="zh-CN" altLang="en-US"/>
              <a:t>（面向机器的语言</a:t>
            </a:r>
            <a:r>
              <a:rPr lang="en-US" altLang="zh-CN"/>
              <a:t>----</a:t>
            </a:r>
            <a:r>
              <a:rPr lang="zh-CN" altLang="en-US"/>
              <a:t>依</a:t>
            </a:r>
            <a:r>
              <a:rPr lang="en-US" altLang="zh-CN"/>
              <a:t>CPU</a:t>
            </a:r>
            <a:r>
              <a:rPr lang="zh-CN" altLang="en-US"/>
              <a:t>不同而异）</a:t>
            </a:r>
          </a:p>
          <a:p>
            <a:r>
              <a:rPr lang="en-US" altLang="zh-CN"/>
              <a:t>3</a:t>
            </a:r>
            <a:r>
              <a:rPr lang="zh-CN" altLang="en-US"/>
              <a:t>。高级语言</a:t>
            </a:r>
          </a:p>
          <a:p>
            <a:r>
              <a:rPr lang="zh-CN" altLang="en-US"/>
              <a:t>特点：</a:t>
            </a:r>
          </a:p>
          <a:p>
            <a:r>
              <a:rPr lang="zh-CN" altLang="en-US"/>
              <a:t>编程效率高，不必考虑硬件；</a:t>
            </a:r>
          </a:p>
          <a:p>
            <a:r>
              <a:rPr lang="zh-CN" altLang="en-US"/>
              <a:t>执行效率低，要经编译、连接后才能执行。</a:t>
            </a:r>
          </a:p>
          <a:p>
            <a:r>
              <a:rPr lang="zh-CN" altLang="en-US"/>
              <a:t>面向过程的程序设计语言</a:t>
            </a:r>
          </a:p>
          <a:p>
            <a:r>
              <a:rPr lang="zh-CN" altLang="en-US"/>
              <a:t>认为解题过程是数据被加工的过程</a:t>
            </a:r>
          </a:p>
          <a:p>
            <a:r>
              <a:rPr lang="zh-CN" altLang="en-US"/>
              <a:t>程序</a:t>
            </a:r>
            <a:r>
              <a:rPr lang="en-US" altLang="zh-CN"/>
              <a:t>=</a:t>
            </a:r>
            <a:r>
              <a:rPr lang="zh-CN" altLang="en-US"/>
              <a:t>数据结构</a:t>
            </a:r>
            <a:r>
              <a:rPr lang="en-US" altLang="zh-CN"/>
              <a:t>+</a:t>
            </a:r>
            <a:r>
              <a:rPr lang="zh-CN" altLang="en-US"/>
              <a:t>算法</a:t>
            </a:r>
          </a:p>
          <a:p>
            <a:r>
              <a:rPr lang="en-US" altLang="zh-CN"/>
              <a:t>C</a:t>
            </a:r>
            <a:r>
              <a:rPr lang="zh-CN" altLang="en-US"/>
              <a:t>语言是面向过程的高级语言</a:t>
            </a:r>
          </a:p>
          <a:p>
            <a:r>
              <a:rPr lang="zh-CN" altLang="en-US"/>
              <a:t>           面向对象的程序设计语言</a:t>
            </a:r>
          </a:p>
          <a:p>
            <a:r>
              <a:rPr lang="zh-CN" altLang="en-US"/>
              <a:t>一种结构模拟方法。认为：现实世界由对象组成，对象是数据和方法的封装体；客观世界可以分类，每个对象是类的一个实例。</a:t>
            </a:r>
          </a:p>
          <a:p>
            <a:r>
              <a:rPr lang="zh-CN" altLang="en-US"/>
              <a:t>特点：比面向过程的语言更清晰、易懂，适宜编更大规模程序，是程序设计的主流</a:t>
            </a:r>
          </a:p>
          <a:p>
            <a:endParaRPr lang="zh-CN" altLang="en-US"/>
          </a:p>
          <a:p>
            <a:r>
              <a:rPr lang="zh-CN" altLang="en-US"/>
              <a:t>程序设计语言基本成分：</a:t>
            </a:r>
          </a:p>
          <a:p>
            <a:r>
              <a:rPr lang="zh-CN" altLang="en-US"/>
              <a:t>。数据成分</a:t>
            </a:r>
          </a:p>
          <a:p>
            <a:r>
              <a:rPr lang="zh-CN" altLang="en-US"/>
              <a:t>。运算成分</a:t>
            </a:r>
          </a:p>
          <a:p>
            <a:r>
              <a:rPr lang="zh-CN" altLang="en-US"/>
              <a:t>。控制成分</a:t>
            </a:r>
          </a:p>
          <a:p>
            <a:r>
              <a:rPr lang="zh-CN" altLang="en-US"/>
              <a:t>。传输成分	</a:t>
            </a:r>
          </a:p>
          <a:p>
            <a:endParaRPr lang="zh-CN" altLang="en-US"/>
          </a:p>
          <a:p>
            <a:r>
              <a:rPr lang="zh-CN" altLang="en-US"/>
              <a:t>程序设计语言定义：用于书写计算机程序的语言。通常指实现高级语言。</a:t>
            </a:r>
          </a:p>
          <a:p>
            <a:r>
              <a:rPr lang="zh-CN" altLang="en-US"/>
              <a:t>语言的基础是一组记号与一组规则。</a:t>
            </a:r>
          </a:p>
          <a:p>
            <a:r>
              <a:rPr lang="zh-CN" altLang="en-US"/>
              <a:t>程序设计语言包括：</a:t>
            </a:r>
          </a:p>
          <a:p>
            <a:r>
              <a:rPr lang="zh-CN" altLang="en-US"/>
              <a:t>语法：记号的组合规则</a:t>
            </a:r>
          </a:p>
          <a:p>
            <a:r>
              <a:rPr lang="zh-CN" altLang="en-US"/>
              <a:t>语义：记号的特定意义</a:t>
            </a:r>
          </a:p>
          <a:p>
            <a:r>
              <a:rPr lang="zh-CN" altLang="en-US"/>
              <a:t>语用：程序与使用者的关系</a:t>
            </a:r>
          </a:p>
          <a:p>
            <a:endParaRPr lang="zh-CN" altLang="en-US"/>
          </a:p>
          <a:p>
            <a:endParaRPr lang="en-US" altLang="zh-CN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D37A21D7-6811-484F-88A1-3DE14D863A2A}" type="slidenum">
              <a:rPr lang="en-US" altLang="zh-CN"/>
              <a:pPr/>
              <a:t>19</a:t>
            </a:fld>
            <a:endParaRPr lang="en-US" altLang="zh-CN"/>
          </a:p>
        </p:txBody>
      </p:sp>
      <p:sp>
        <p:nvSpPr>
          <p:cNvPr id="107520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107520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</p:spPr>
        <p:txBody>
          <a:bodyPr/>
          <a:lstStyle/>
          <a:p>
            <a:r>
              <a:rPr lang="en-US" altLang="zh-CN"/>
              <a:t>1946</a:t>
            </a:r>
            <a:r>
              <a:rPr lang="zh-CN" altLang="en-US"/>
              <a:t>年，第一台电子计算机问世，应用领域迅速扩大，软硬件飞速发展，程序设计语言相继问世。</a:t>
            </a:r>
          </a:p>
          <a:p>
            <a:r>
              <a:rPr lang="zh-CN" altLang="en-US"/>
              <a:t>程序设计语言</a:t>
            </a:r>
            <a:r>
              <a:rPr lang="en-US" altLang="zh-CN"/>
              <a:t>:</a:t>
            </a:r>
            <a:r>
              <a:rPr lang="zh-CN" altLang="en-US"/>
              <a:t>将自然语言形式化为有格式的语言</a:t>
            </a:r>
          </a:p>
          <a:p>
            <a:r>
              <a:rPr lang="en-US" altLang="zh-CN"/>
              <a:t>1</a:t>
            </a:r>
            <a:r>
              <a:rPr lang="zh-CN" altLang="en-US"/>
              <a:t>。机器语言：</a:t>
            </a:r>
          </a:p>
          <a:p>
            <a:pPr lvl="2">
              <a:buClr>
                <a:schemeClr val="tx2"/>
              </a:buClr>
              <a:buFontTx/>
              <a:buChar char="•"/>
            </a:pPr>
            <a:r>
              <a:rPr lang="zh-CN" altLang="en-US"/>
              <a:t>计算机能够认识的语言</a:t>
            </a:r>
          </a:p>
          <a:p>
            <a:pPr lvl="2">
              <a:buClr>
                <a:schemeClr val="tx2"/>
              </a:buClr>
              <a:buFontTx/>
              <a:buChar char="•"/>
            </a:pPr>
            <a:r>
              <a:rPr lang="zh-CN" altLang="en-US"/>
              <a:t>计算机的基础是数字电路</a:t>
            </a:r>
          </a:p>
          <a:p>
            <a:pPr lvl="2">
              <a:buClr>
                <a:schemeClr val="tx2"/>
              </a:buClr>
              <a:buFontTx/>
              <a:buChar char="•"/>
            </a:pPr>
            <a:r>
              <a:rPr lang="zh-CN" altLang="en-US"/>
              <a:t>机器语言就是数字电路里的电信号</a:t>
            </a:r>
          </a:p>
          <a:p>
            <a:pPr lvl="2">
              <a:buClr>
                <a:schemeClr val="tx2"/>
              </a:buClr>
              <a:buFontTx/>
              <a:buChar char="•"/>
            </a:pPr>
            <a:r>
              <a:rPr lang="zh-CN" altLang="en-US"/>
              <a:t>将在</a:t>
            </a:r>
            <a:r>
              <a:rPr lang="en-US" altLang="zh-CN"/>
              <a:t>《</a:t>
            </a:r>
            <a:r>
              <a:rPr lang="zh-CN" altLang="en-US"/>
              <a:t>计算机组成</a:t>
            </a:r>
            <a:r>
              <a:rPr lang="en-US" altLang="zh-CN"/>
              <a:t>》</a:t>
            </a:r>
            <a:r>
              <a:rPr lang="zh-CN" altLang="en-US"/>
              <a:t>课程中学习</a:t>
            </a:r>
          </a:p>
          <a:p>
            <a:pPr lvl="2">
              <a:buClr>
                <a:schemeClr val="tx2"/>
              </a:buClr>
              <a:buFontTx/>
              <a:buChar char="•"/>
            </a:pPr>
            <a:r>
              <a:rPr lang="zh-CN" altLang="en-US"/>
              <a:t>都是二进制文件</a:t>
            </a:r>
          </a:p>
          <a:p>
            <a:pPr lvl="2">
              <a:buClr>
                <a:schemeClr val="tx2"/>
              </a:buClr>
              <a:buFontTx/>
              <a:buChar char="•"/>
            </a:pPr>
            <a:r>
              <a:rPr lang="zh-CN" altLang="en-US"/>
              <a:t>一条机器语言成为一条指令</a:t>
            </a:r>
          </a:p>
          <a:p>
            <a:pPr lvl="2">
              <a:buClr>
                <a:schemeClr val="tx2"/>
              </a:buClr>
              <a:buFontTx/>
              <a:buChar char="•"/>
            </a:pPr>
            <a:r>
              <a:rPr lang="zh-CN" altLang="en-US"/>
              <a:t>指令是不可分割的最小功能单元</a:t>
            </a:r>
          </a:p>
          <a:p>
            <a:r>
              <a:rPr lang="zh-CN" altLang="en-US"/>
              <a:t>定义：一种</a:t>
            </a:r>
            <a:r>
              <a:rPr lang="en-US" altLang="zh-CN"/>
              <a:t>CPU</a:t>
            </a:r>
            <a:r>
              <a:rPr lang="zh-CN" altLang="en-US"/>
              <a:t>的指令系统，由该</a:t>
            </a:r>
            <a:r>
              <a:rPr lang="en-US" altLang="zh-CN"/>
              <a:t>CPU</a:t>
            </a:r>
            <a:r>
              <a:rPr lang="zh-CN" altLang="en-US"/>
              <a:t>可识别的</a:t>
            </a:r>
            <a:r>
              <a:rPr lang="en-US" altLang="zh-CN"/>
              <a:t>0</a:t>
            </a:r>
            <a:r>
              <a:rPr lang="zh-CN" altLang="en-US"/>
              <a:t>、</a:t>
            </a:r>
            <a:r>
              <a:rPr lang="en-US" altLang="zh-CN"/>
              <a:t>1</a:t>
            </a:r>
            <a:r>
              <a:rPr lang="zh-CN" altLang="en-US"/>
              <a:t>序列构成的指令码组成。</a:t>
            </a:r>
          </a:p>
          <a:p>
            <a:r>
              <a:rPr lang="zh-CN" altLang="en-US"/>
              <a:t>特点：</a:t>
            </a:r>
          </a:p>
          <a:p>
            <a:r>
              <a:rPr lang="zh-CN" altLang="en-US"/>
              <a:t>执行效率高</a:t>
            </a:r>
          </a:p>
          <a:p>
            <a:r>
              <a:rPr lang="zh-CN" altLang="en-US"/>
              <a:t>不直观，不易查错，生产效率低。</a:t>
            </a:r>
          </a:p>
          <a:p>
            <a:r>
              <a:rPr lang="en-US" altLang="zh-CN"/>
              <a:t>2</a:t>
            </a:r>
            <a:r>
              <a:rPr lang="zh-CN" altLang="en-US"/>
              <a:t>。汇编语言</a:t>
            </a:r>
          </a:p>
          <a:p>
            <a:r>
              <a:rPr lang="zh-CN" altLang="en-US"/>
              <a:t>定义：用助记符号描述的指令系统</a:t>
            </a:r>
          </a:p>
          <a:p>
            <a:r>
              <a:rPr lang="zh-CN" altLang="en-US"/>
              <a:t>特点：</a:t>
            </a:r>
          </a:p>
          <a:p>
            <a:r>
              <a:rPr lang="zh-CN" altLang="en-US"/>
              <a:t>生产效率高，质量好，执行效率较高；</a:t>
            </a:r>
          </a:p>
          <a:p>
            <a:r>
              <a:rPr lang="zh-CN" altLang="en-US"/>
              <a:t>要经汇编程序汇编成目标程序（机器语言）才能执行，依赖硬件。</a:t>
            </a:r>
          </a:p>
          <a:p>
            <a:r>
              <a:rPr lang="zh-CN" altLang="en-US"/>
              <a:t>（面向机器的语言</a:t>
            </a:r>
            <a:r>
              <a:rPr lang="en-US" altLang="zh-CN"/>
              <a:t>----</a:t>
            </a:r>
            <a:r>
              <a:rPr lang="zh-CN" altLang="en-US"/>
              <a:t>依</a:t>
            </a:r>
            <a:r>
              <a:rPr lang="en-US" altLang="zh-CN"/>
              <a:t>CPU</a:t>
            </a:r>
            <a:r>
              <a:rPr lang="zh-CN" altLang="en-US"/>
              <a:t>不同而异）</a:t>
            </a:r>
          </a:p>
          <a:p>
            <a:r>
              <a:rPr lang="en-US" altLang="zh-CN"/>
              <a:t>3</a:t>
            </a:r>
            <a:r>
              <a:rPr lang="zh-CN" altLang="en-US"/>
              <a:t>。高级语言</a:t>
            </a:r>
          </a:p>
          <a:p>
            <a:r>
              <a:rPr lang="zh-CN" altLang="en-US"/>
              <a:t>特点：</a:t>
            </a:r>
          </a:p>
          <a:p>
            <a:r>
              <a:rPr lang="zh-CN" altLang="en-US"/>
              <a:t>编程效率高，不必考虑硬件；</a:t>
            </a:r>
          </a:p>
          <a:p>
            <a:r>
              <a:rPr lang="zh-CN" altLang="en-US"/>
              <a:t>执行效率低，要经编译、连接后才能执行。</a:t>
            </a:r>
          </a:p>
          <a:p>
            <a:r>
              <a:rPr lang="zh-CN" altLang="en-US"/>
              <a:t>面向过程的程序设计语言</a:t>
            </a:r>
          </a:p>
          <a:p>
            <a:r>
              <a:rPr lang="zh-CN" altLang="en-US"/>
              <a:t>认为解题过程是数据被加工的过程</a:t>
            </a:r>
          </a:p>
          <a:p>
            <a:r>
              <a:rPr lang="zh-CN" altLang="en-US"/>
              <a:t>程序</a:t>
            </a:r>
            <a:r>
              <a:rPr lang="en-US" altLang="zh-CN"/>
              <a:t>=</a:t>
            </a:r>
            <a:r>
              <a:rPr lang="zh-CN" altLang="en-US"/>
              <a:t>数据结构</a:t>
            </a:r>
            <a:r>
              <a:rPr lang="en-US" altLang="zh-CN"/>
              <a:t>+</a:t>
            </a:r>
            <a:r>
              <a:rPr lang="zh-CN" altLang="en-US"/>
              <a:t>算法</a:t>
            </a:r>
          </a:p>
          <a:p>
            <a:r>
              <a:rPr lang="en-US" altLang="zh-CN"/>
              <a:t>C</a:t>
            </a:r>
            <a:r>
              <a:rPr lang="zh-CN" altLang="en-US"/>
              <a:t>语言是面向过程的高级语言</a:t>
            </a:r>
          </a:p>
          <a:p>
            <a:r>
              <a:rPr lang="zh-CN" altLang="en-US"/>
              <a:t>           面向对象的程序设计语言</a:t>
            </a:r>
          </a:p>
          <a:p>
            <a:r>
              <a:rPr lang="zh-CN" altLang="en-US"/>
              <a:t>一种结构模拟方法。认为：现实世界由对象组成，对象是数据和方法的封装体；客观世界可以分类，每个对象是类的一个实例。</a:t>
            </a:r>
          </a:p>
          <a:p>
            <a:r>
              <a:rPr lang="zh-CN" altLang="en-US"/>
              <a:t>特点：比面向过程的语言更清晰、易懂，适宜编更大规模程序，是程序设计的主流</a:t>
            </a:r>
          </a:p>
          <a:p>
            <a:endParaRPr lang="zh-CN" altLang="en-US"/>
          </a:p>
          <a:p>
            <a:r>
              <a:rPr lang="zh-CN" altLang="en-US"/>
              <a:t>程序设计语言基本成分：</a:t>
            </a:r>
          </a:p>
          <a:p>
            <a:r>
              <a:rPr lang="zh-CN" altLang="en-US"/>
              <a:t>。数据成分</a:t>
            </a:r>
          </a:p>
          <a:p>
            <a:r>
              <a:rPr lang="zh-CN" altLang="en-US"/>
              <a:t>。运算成分</a:t>
            </a:r>
          </a:p>
          <a:p>
            <a:r>
              <a:rPr lang="zh-CN" altLang="en-US"/>
              <a:t>。控制成分</a:t>
            </a:r>
          </a:p>
          <a:p>
            <a:r>
              <a:rPr lang="zh-CN" altLang="en-US"/>
              <a:t>。传输成分	</a:t>
            </a:r>
          </a:p>
          <a:p>
            <a:endParaRPr lang="zh-CN" altLang="en-US"/>
          </a:p>
          <a:p>
            <a:r>
              <a:rPr lang="zh-CN" altLang="en-US"/>
              <a:t>程序设计语言定义：用于书写计算机程序的语言。通常指实现高级语言。</a:t>
            </a:r>
          </a:p>
          <a:p>
            <a:r>
              <a:rPr lang="zh-CN" altLang="en-US"/>
              <a:t>语言的基础是一组记号与一组规则。</a:t>
            </a:r>
          </a:p>
          <a:p>
            <a:r>
              <a:rPr lang="zh-CN" altLang="en-US"/>
              <a:t>程序设计语言包括：</a:t>
            </a:r>
          </a:p>
          <a:p>
            <a:r>
              <a:rPr lang="zh-CN" altLang="en-US"/>
              <a:t>语法：记号的组合规则</a:t>
            </a:r>
          </a:p>
          <a:p>
            <a:r>
              <a:rPr lang="zh-CN" altLang="en-US"/>
              <a:t>语义：记号的特定意义</a:t>
            </a:r>
          </a:p>
          <a:p>
            <a:r>
              <a:rPr lang="zh-CN" altLang="en-US"/>
              <a:t>语用：程序与使用者的关系</a:t>
            </a:r>
          </a:p>
          <a:p>
            <a:endParaRPr lang="zh-CN" altLang="en-US"/>
          </a:p>
          <a:p>
            <a:endParaRPr lang="en-US" altLang="zh-CN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6137B85E-41CB-456B-867E-867557AD84DA}" type="slidenum">
              <a:rPr lang="en-US" altLang="zh-CN"/>
              <a:pPr/>
              <a:t>20</a:t>
            </a:fld>
            <a:endParaRPr lang="en-US" altLang="zh-CN"/>
          </a:p>
        </p:txBody>
      </p:sp>
      <p:sp>
        <p:nvSpPr>
          <p:cNvPr id="107725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107725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</p:spPr>
        <p:txBody>
          <a:bodyPr/>
          <a:lstStyle/>
          <a:p>
            <a:r>
              <a:rPr lang="en-US" altLang="zh-CN"/>
              <a:t>1946</a:t>
            </a:r>
            <a:r>
              <a:rPr lang="zh-CN" altLang="en-US"/>
              <a:t>年，第一台电子计算机问世，应用领域迅速扩大，软硬件飞速发展，程序设计语言相继问世。</a:t>
            </a:r>
          </a:p>
          <a:p>
            <a:r>
              <a:rPr lang="zh-CN" altLang="en-US"/>
              <a:t>程序设计语言</a:t>
            </a:r>
            <a:r>
              <a:rPr lang="en-US" altLang="zh-CN"/>
              <a:t>:</a:t>
            </a:r>
            <a:r>
              <a:rPr lang="zh-CN" altLang="en-US"/>
              <a:t>将自然语言形式化为有格式的语言</a:t>
            </a:r>
          </a:p>
          <a:p>
            <a:r>
              <a:rPr lang="en-US" altLang="zh-CN"/>
              <a:t>1</a:t>
            </a:r>
            <a:r>
              <a:rPr lang="zh-CN" altLang="en-US"/>
              <a:t>。机器语言：</a:t>
            </a:r>
          </a:p>
          <a:p>
            <a:pPr lvl="2">
              <a:buClr>
                <a:schemeClr val="tx2"/>
              </a:buClr>
              <a:buFontTx/>
              <a:buChar char="•"/>
            </a:pPr>
            <a:r>
              <a:rPr lang="zh-CN" altLang="en-US"/>
              <a:t>计算机能够认识的语言</a:t>
            </a:r>
          </a:p>
          <a:p>
            <a:pPr lvl="2">
              <a:buClr>
                <a:schemeClr val="tx2"/>
              </a:buClr>
              <a:buFontTx/>
              <a:buChar char="•"/>
            </a:pPr>
            <a:r>
              <a:rPr lang="zh-CN" altLang="en-US"/>
              <a:t>计算机的基础是数字电路</a:t>
            </a:r>
          </a:p>
          <a:p>
            <a:pPr lvl="2">
              <a:buClr>
                <a:schemeClr val="tx2"/>
              </a:buClr>
              <a:buFontTx/>
              <a:buChar char="•"/>
            </a:pPr>
            <a:r>
              <a:rPr lang="zh-CN" altLang="en-US"/>
              <a:t>机器语言就是数字电路里的电信号</a:t>
            </a:r>
          </a:p>
          <a:p>
            <a:pPr lvl="2">
              <a:buClr>
                <a:schemeClr val="tx2"/>
              </a:buClr>
              <a:buFontTx/>
              <a:buChar char="•"/>
            </a:pPr>
            <a:r>
              <a:rPr lang="zh-CN" altLang="en-US"/>
              <a:t>将在</a:t>
            </a:r>
            <a:r>
              <a:rPr lang="en-US" altLang="zh-CN"/>
              <a:t>《</a:t>
            </a:r>
            <a:r>
              <a:rPr lang="zh-CN" altLang="en-US"/>
              <a:t>计算机组成</a:t>
            </a:r>
            <a:r>
              <a:rPr lang="en-US" altLang="zh-CN"/>
              <a:t>》</a:t>
            </a:r>
            <a:r>
              <a:rPr lang="zh-CN" altLang="en-US"/>
              <a:t>课程中学习</a:t>
            </a:r>
          </a:p>
          <a:p>
            <a:pPr lvl="2">
              <a:buClr>
                <a:schemeClr val="tx2"/>
              </a:buClr>
              <a:buFontTx/>
              <a:buChar char="•"/>
            </a:pPr>
            <a:r>
              <a:rPr lang="zh-CN" altLang="en-US"/>
              <a:t>都是二进制文件</a:t>
            </a:r>
          </a:p>
          <a:p>
            <a:pPr lvl="2">
              <a:buClr>
                <a:schemeClr val="tx2"/>
              </a:buClr>
              <a:buFontTx/>
              <a:buChar char="•"/>
            </a:pPr>
            <a:r>
              <a:rPr lang="zh-CN" altLang="en-US"/>
              <a:t>一条机器语言成为一条指令</a:t>
            </a:r>
          </a:p>
          <a:p>
            <a:pPr lvl="2">
              <a:buClr>
                <a:schemeClr val="tx2"/>
              </a:buClr>
              <a:buFontTx/>
              <a:buChar char="•"/>
            </a:pPr>
            <a:r>
              <a:rPr lang="zh-CN" altLang="en-US"/>
              <a:t>指令是不可分割的最小功能单元</a:t>
            </a:r>
          </a:p>
          <a:p>
            <a:r>
              <a:rPr lang="zh-CN" altLang="en-US"/>
              <a:t>定义：一种</a:t>
            </a:r>
            <a:r>
              <a:rPr lang="en-US" altLang="zh-CN"/>
              <a:t>CPU</a:t>
            </a:r>
            <a:r>
              <a:rPr lang="zh-CN" altLang="en-US"/>
              <a:t>的指令系统，由该</a:t>
            </a:r>
            <a:r>
              <a:rPr lang="en-US" altLang="zh-CN"/>
              <a:t>CPU</a:t>
            </a:r>
            <a:r>
              <a:rPr lang="zh-CN" altLang="en-US"/>
              <a:t>可识别的</a:t>
            </a:r>
            <a:r>
              <a:rPr lang="en-US" altLang="zh-CN"/>
              <a:t>0</a:t>
            </a:r>
            <a:r>
              <a:rPr lang="zh-CN" altLang="en-US"/>
              <a:t>、</a:t>
            </a:r>
            <a:r>
              <a:rPr lang="en-US" altLang="zh-CN"/>
              <a:t>1</a:t>
            </a:r>
            <a:r>
              <a:rPr lang="zh-CN" altLang="en-US"/>
              <a:t>序列构成的指令码组成。</a:t>
            </a:r>
          </a:p>
          <a:p>
            <a:r>
              <a:rPr lang="zh-CN" altLang="en-US"/>
              <a:t>特点：</a:t>
            </a:r>
          </a:p>
          <a:p>
            <a:r>
              <a:rPr lang="zh-CN" altLang="en-US"/>
              <a:t>执行效率高</a:t>
            </a:r>
          </a:p>
          <a:p>
            <a:r>
              <a:rPr lang="zh-CN" altLang="en-US"/>
              <a:t>不直观，不易查错，生产效率低。</a:t>
            </a:r>
          </a:p>
          <a:p>
            <a:r>
              <a:rPr lang="en-US" altLang="zh-CN"/>
              <a:t>2</a:t>
            </a:r>
            <a:r>
              <a:rPr lang="zh-CN" altLang="en-US"/>
              <a:t>。汇编语言</a:t>
            </a:r>
          </a:p>
          <a:p>
            <a:r>
              <a:rPr lang="zh-CN" altLang="en-US"/>
              <a:t>定义：用助记符号描述的指令系统</a:t>
            </a:r>
          </a:p>
          <a:p>
            <a:r>
              <a:rPr lang="zh-CN" altLang="en-US"/>
              <a:t>特点：</a:t>
            </a:r>
          </a:p>
          <a:p>
            <a:r>
              <a:rPr lang="zh-CN" altLang="en-US"/>
              <a:t>生产效率高，质量好，执行效率较高；</a:t>
            </a:r>
          </a:p>
          <a:p>
            <a:r>
              <a:rPr lang="zh-CN" altLang="en-US"/>
              <a:t>要经汇编程序汇编成目标程序（机器语言）才能执行，依赖硬件。</a:t>
            </a:r>
          </a:p>
          <a:p>
            <a:r>
              <a:rPr lang="zh-CN" altLang="en-US"/>
              <a:t>（面向机器的语言</a:t>
            </a:r>
            <a:r>
              <a:rPr lang="en-US" altLang="zh-CN"/>
              <a:t>----</a:t>
            </a:r>
            <a:r>
              <a:rPr lang="zh-CN" altLang="en-US"/>
              <a:t>依</a:t>
            </a:r>
            <a:r>
              <a:rPr lang="en-US" altLang="zh-CN"/>
              <a:t>CPU</a:t>
            </a:r>
            <a:r>
              <a:rPr lang="zh-CN" altLang="en-US"/>
              <a:t>不同而异）</a:t>
            </a:r>
          </a:p>
          <a:p>
            <a:r>
              <a:rPr lang="en-US" altLang="zh-CN"/>
              <a:t>3</a:t>
            </a:r>
            <a:r>
              <a:rPr lang="zh-CN" altLang="en-US"/>
              <a:t>。高级语言</a:t>
            </a:r>
          </a:p>
          <a:p>
            <a:r>
              <a:rPr lang="zh-CN" altLang="en-US"/>
              <a:t>特点：</a:t>
            </a:r>
          </a:p>
          <a:p>
            <a:r>
              <a:rPr lang="zh-CN" altLang="en-US"/>
              <a:t>编程效率高，不必考虑硬件；</a:t>
            </a:r>
          </a:p>
          <a:p>
            <a:r>
              <a:rPr lang="zh-CN" altLang="en-US"/>
              <a:t>执行效率低，要经编译、连接后才能执行。</a:t>
            </a:r>
          </a:p>
          <a:p>
            <a:r>
              <a:rPr lang="zh-CN" altLang="en-US"/>
              <a:t>面向过程的程序设计语言</a:t>
            </a:r>
          </a:p>
          <a:p>
            <a:r>
              <a:rPr lang="zh-CN" altLang="en-US"/>
              <a:t>认为解题过程是数据被加工的过程</a:t>
            </a:r>
          </a:p>
          <a:p>
            <a:r>
              <a:rPr lang="zh-CN" altLang="en-US"/>
              <a:t>程序</a:t>
            </a:r>
            <a:r>
              <a:rPr lang="en-US" altLang="zh-CN"/>
              <a:t>=</a:t>
            </a:r>
            <a:r>
              <a:rPr lang="zh-CN" altLang="en-US"/>
              <a:t>数据结构</a:t>
            </a:r>
            <a:r>
              <a:rPr lang="en-US" altLang="zh-CN"/>
              <a:t>+</a:t>
            </a:r>
            <a:r>
              <a:rPr lang="zh-CN" altLang="en-US"/>
              <a:t>算法</a:t>
            </a:r>
          </a:p>
          <a:p>
            <a:r>
              <a:rPr lang="en-US" altLang="zh-CN"/>
              <a:t>C</a:t>
            </a:r>
            <a:r>
              <a:rPr lang="zh-CN" altLang="en-US"/>
              <a:t>语言是面向过程的高级语言</a:t>
            </a:r>
          </a:p>
          <a:p>
            <a:r>
              <a:rPr lang="zh-CN" altLang="en-US"/>
              <a:t>           面向对象的程序设计语言</a:t>
            </a:r>
          </a:p>
          <a:p>
            <a:r>
              <a:rPr lang="zh-CN" altLang="en-US"/>
              <a:t>一种结构模拟方法。认为：现实世界由对象组成，对象是数据和方法的封装体；客观世界可以分类，每个对象是类的一个实例。</a:t>
            </a:r>
          </a:p>
          <a:p>
            <a:r>
              <a:rPr lang="zh-CN" altLang="en-US"/>
              <a:t>特点：比面向过程的语言更清晰、易懂，适宜编更大规模程序，是程序设计的主流</a:t>
            </a:r>
          </a:p>
          <a:p>
            <a:endParaRPr lang="zh-CN" altLang="en-US"/>
          </a:p>
          <a:p>
            <a:r>
              <a:rPr lang="zh-CN" altLang="en-US"/>
              <a:t>程序设计语言基本成分：</a:t>
            </a:r>
          </a:p>
          <a:p>
            <a:r>
              <a:rPr lang="zh-CN" altLang="en-US"/>
              <a:t>。数据成分</a:t>
            </a:r>
          </a:p>
          <a:p>
            <a:r>
              <a:rPr lang="zh-CN" altLang="en-US"/>
              <a:t>。运算成分</a:t>
            </a:r>
          </a:p>
          <a:p>
            <a:r>
              <a:rPr lang="zh-CN" altLang="en-US"/>
              <a:t>。控制成分</a:t>
            </a:r>
          </a:p>
          <a:p>
            <a:r>
              <a:rPr lang="zh-CN" altLang="en-US"/>
              <a:t>。传输成分	</a:t>
            </a:r>
          </a:p>
          <a:p>
            <a:endParaRPr lang="zh-CN" altLang="en-US"/>
          </a:p>
          <a:p>
            <a:r>
              <a:rPr lang="zh-CN" altLang="en-US"/>
              <a:t>程序设计语言定义：用于书写计算机程序的语言。通常指实现高级语言。</a:t>
            </a:r>
          </a:p>
          <a:p>
            <a:r>
              <a:rPr lang="zh-CN" altLang="en-US"/>
              <a:t>语言的基础是一组记号与一组规则。</a:t>
            </a:r>
          </a:p>
          <a:p>
            <a:r>
              <a:rPr lang="zh-CN" altLang="en-US"/>
              <a:t>程序设计语言包括：</a:t>
            </a:r>
          </a:p>
          <a:p>
            <a:r>
              <a:rPr lang="zh-CN" altLang="en-US"/>
              <a:t>语法：记号的组合规则</a:t>
            </a:r>
          </a:p>
          <a:p>
            <a:r>
              <a:rPr lang="zh-CN" altLang="en-US"/>
              <a:t>语义：记号的特定意义</a:t>
            </a:r>
          </a:p>
          <a:p>
            <a:r>
              <a:rPr lang="zh-CN" altLang="en-US"/>
              <a:t>语用：程序与使用者的关系</a:t>
            </a:r>
          </a:p>
          <a:p>
            <a:endParaRPr lang="zh-CN" altLang="en-US"/>
          </a:p>
          <a:p>
            <a:endParaRPr lang="en-US" altLang="zh-CN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731731EE-95A2-4A8A-853C-7FC6884EF83D}" type="slidenum">
              <a:rPr lang="en-US" altLang="zh-CN"/>
              <a:pPr/>
              <a:t>21</a:t>
            </a:fld>
            <a:endParaRPr lang="en-US" altLang="zh-CN"/>
          </a:p>
        </p:txBody>
      </p:sp>
      <p:sp>
        <p:nvSpPr>
          <p:cNvPr id="107929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107929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</p:spPr>
        <p:txBody>
          <a:bodyPr/>
          <a:lstStyle/>
          <a:p>
            <a:r>
              <a:rPr lang="en-US" altLang="zh-CN"/>
              <a:t>1946</a:t>
            </a:r>
            <a:r>
              <a:rPr lang="zh-CN" altLang="en-US"/>
              <a:t>年，第一台电子计算机问世，应用领域迅速扩大，软硬件飞速发展，程序设计语言相继问世。</a:t>
            </a:r>
          </a:p>
          <a:p>
            <a:r>
              <a:rPr lang="zh-CN" altLang="en-US"/>
              <a:t>程序设计语言</a:t>
            </a:r>
            <a:r>
              <a:rPr lang="en-US" altLang="zh-CN"/>
              <a:t>:</a:t>
            </a:r>
            <a:r>
              <a:rPr lang="zh-CN" altLang="en-US"/>
              <a:t>将自然语言形式化为有格式的语言</a:t>
            </a:r>
          </a:p>
          <a:p>
            <a:r>
              <a:rPr lang="en-US" altLang="zh-CN"/>
              <a:t>1</a:t>
            </a:r>
            <a:r>
              <a:rPr lang="zh-CN" altLang="en-US"/>
              <a:t>。机器语言：</a:t>
            </a:r>
          </a:p>
          <a:p>
            <a:pPr lvl="2">
              <a:buClr>
                <a:schemeClr val="tx2"/>
              </a:buClr>
              <a:buFontTx/>
              <a:buChar char="•"/>
            </a:pPr>
            <a:r>
              <a:rPr lang="zh-CN" altLang="en-US"/>
              <a:t>计算机能够认识的语言</a:t>
            </a:r>
          </a:p>
          <a:p>
            <a:pPr lvl="2">
              <a:buClr>
                <a:schemeClr val="tx2"/>
              </a:buClr>
              <a:buFontTx/>
              <a:buChar char="•"/>
            </a:pPr>
            <a:r>
              <a:rPr lang="zh-CN" altLang="en-US"/>
              <a:t>计算机的基础是数字电路</a:t>
            </a:r>
          </a:p>
          <a:p>
            <a:pPr lvl="2">
              <a:buClr>
                <a:schemeClr val="tx2"/>
              </a:buClr>
              <a:buFontTx/>
              <a:buChar char="•"/>
            </a:pPr>
            <a:r>
              <a:rPr lang="zh-CN" altLang="en-US"/>
              <a:t>机器语言就是数字电路里的电信号</a:t>
            </a:r>
          </a:p>
          <a:p>
            <a:pPr lvl="2">
              <a:buClr>
                <a:schemeClr val="tx2"/>
              </a:buClr>
              <a:buFontTx/>
              <a:buChar char="•"/>
            </a:pPr>
            <a:r>
              <a:rPr lang="zh-CN" altLang="en-US"/>
              <a:t>将在</a:t>
            </a:r>
            <a:r>
              <a:rPr lang="en-US" altLang="zh-CN"/>
              <a:t>《</a:t>
            </a:r>
            <a:r>
              <a:rPr lang="zh-CN" altLang="en-US"/>
              <a:t>计算机组成</a:t>
            </a:r>
            <a:r>
              <a:rPr lang="en-US" altLang="zh-CN"/>
              <a:t>》</a:t>
            </a:r>
            <a:r>
              <a:rPr lang="zh-CN" altLang="en-US"/>
              <a:t>课程中学习</a:t>
            </a:r>
          </a:p>
          <a:p>
            <a:pPr lvl="2">
              <a:buClr>
                <a:schemeClr val="tx2"/>
              </a:buClr>
              <a:buFontTx/>
              <a:buChar char="•"/>
            </a:pPr>
            <a:r>
              <a:rPr lang="zh-CN" altLang="en-US"/>
              <a:t>都是二进制文件</a:t>
            </a:r>
          </a:p>
          <a:p>
            <a:pPr lvl="2">
              <a:buClr>
                <a:schemeClr val="tx2"/>
              </a:buClr>
              <a:buFontTx/>
              <a:buChar char="•"/>
            </a:pPr>
            <a:r>
              <a:rPr lang="zh-CN" altLang="en-US"/>
              <a:t>一条机器语言成为一条指令</a:t>
            </a:r>
          </a:p>
          <a:p>
            <a:pPr lvl="2">
              <a:buClr>
                <a:schemeClr val="tx2"/>
              </a:buClr>
              <a:buFontTx/>
              <a:buChar char="•"/>
            </a:pPr>
            <a:r>
              <a:rPr lang="zh-CN" altLang="en-US"/>
              <a:t>指令是不可分割的最小功能单元</a:t>
            </a:r>
          </a:p>
          <a:p>
            <a:r>
              <a:rPr lang="zh-CN" altLang="en-US"/>
              <a:t>定义：一种</a:t>
            </a:r>
            <a:r>
              <a:rPr lang="en-US" altLang="zh-CN"/>
              <a:t>CPU</a:t>
            </a:r>
            <a:r>
              <a:rPr lang="zh-CN" altLang="en-US"/>
              <a:t>的指令系统，由该</a:t>
            </a:r>
            <a:r>
              <a:rPr lang="en-US" altLang="zh-CN"/>
              <a:t>CPU</a:t>
            </a:r>
            <a:r>
              <a:rPr lang="zh-CN" altLang="en-US"/>
              <a:t>可识别的</a:t>
            </a:r>
            <a:r>
              <a:rPr lang="en-US" altLang="zh-CN"/>
              <a:t>0</a:t>
            </a:r>
            <a:r>
              <a:rPr lang="zh-CN" altLang="en-US"/>
              <a:t>、</a:t>
            </a:r>
            <a:r>
              <a:rPr lang="en-US" altLang="zh-CN"/>
              <a:t>1</a:t>
            </a:r>
            <a:r>
              <a:rPr lang="zh-CN" altLang="en-US"/>
              <a:t>序列构成的指令码组成。</a:t>
            </a:r>
          </a:p>
          <a:p>
            <a:r>
              <a:rPr lang="zh-CN" altLang="en-US"/>
              <a:t>特点：</a:t>
            </a:r>
          </a:p>
          <a:p>
            <a:r>
              <a:rPr lang="zh-CN" altLang="en-US"/>
              <a:t>执行效率高</a:t>
            </a:r>
          </a:p>
          <a:p>
            <a:r>
              <a:rPr lang="zh-CN" altLang="en-US"/>
              <a:t>不直观，不易查错，生产效率低。</a:t>
            </a:r>
          </a:p>
          <a:p>
            <a:r>
              <a:rPr lang="en-US" altLang="zh-CN"/>
              <a:t>2</a:t>
            </a:r>
            <a:r>
              <a:rPr lang="zh-CN" altLang="en-US"/>
              <a:t>。汇编语言</a:t>
            </a:r>
          </a:p>
          <a:p>
            <a:r>
              <a:rPr lang="zh-CN" altLang="en-US"/>
              <a:t>定义：用助记符号描述的指令系统</a:t>
            </a:r>
          </a:p>
          <a:p>
            <a:r>
              <a:rPr lang="zh-CN" altLang="en-US"/>
              <a:t>特点：</a:t>
            </a:r>
          </a:p>
          <a:p>
            <a:r>
              <a:rPr lang="zh-CN" altLang="en-US"/>
              <a:t>生产效率高，质量好，执行效率较高；</a:t>
            </a:r>
          </a:p>
          <a:p>
            <a:r>
              <a:rPr lang="zh-CN" altLang="en-US"/>
              <a:t>要经汇编程序汇编成目标程序（机器语言）才能执行，依赖硬件。</a:t>
            </a:r>
          </a:p>
          <a:p>
            <a:r>
              <a:rPr lang="zh-CN" altLang="en-US"/>
              <a:t>（面向机器的语言</a:t>
            </a:r>
            <a:r>
              <a:rPr lang="en-US" altLang="zh-CN"/>
              <a:t>----</a:t>
            </a:r>
            <a:r>
              <a:rPr lang="zh-CN" altLang="en-US"/>
              <a:t>依</a:t>
            </a:r>
            <a:r>
              <a:rPr lang="en-US" altLang="zh-CN"/>
              <a:t>CPU</a:t>
            </a:r>
            <a:r>
              <a:rPr lang="zh-CN" altLang="en-US"/>
              <a:t>不同而异）</a:t>
            </a:r>
          </a:p>
          <a:p>
            <a:r>
              <a:rPr lang="en-US" altLang="zh-CN"/>
              <a:t>3</a:t>
            </a:r>
            <a:r>
              <a:rPr lang="zh-CN" altLang="en-US"/>
              <a:t>。高级语言</a:t>
            </a:r>
          </a:p>
          <a:p>
            <a:r>
              <a:rPr lang="zh-CN" altLang="en-US"/>
              <a:t>特点：</a:t>
            </a:r>
          </a:p>
          <a:p>
            <a:r>
              <a:rPr lang="zh-CN" altLang="en-US"/>
              <a:t>编程效率高，不必考虑硬件；</a:t>
            </a:r>
          </a:p>
          <a:p>
            <a:r>
              <a:rPr lang="zh-CN" altLang="en-US"/>
              <a:t>执行效率低，要经编译、连接后才能执行。</a:t>
            </a:r>
          </a:p>
          <a:p>
            <a:r>
              <a:rPr lang="zh-CN" altLang="en-US"/>
              <a:t>面向过程的程序设计语言</a:t>
            </a:r>
          </a:p>
          <a:p>
            <a:r>
              <a:rPr lang="zh-CN" altLang="en-US"/>
              <a:t>认为解题过程是数据被加工的过程</a:t>
            </a:r>
          </a:p>
          <a:p>
            <a:r>
              <a:rPr lang="zh-CN" altLang="en-US"/>
              <a:t>程序</a:t>
            </a:r>
            <a:r>
              <a:rPr lang="en-US" altLang="zh-CN"/>
              <a:t>=</a:t>
            </a:r>
            <a:r>
              <a:rPr lang="zh-CN" altLang="en-US"/>
              <a:t>数据结构</a:t>
            </a:r>
            <a:r>
              <a:rPr lang="en-US" altLang="zh-CN"/>
              <a:t>+</a:t>
            </a:r>
            <a:r>
              <a:rPr lang="zh-CN" altLang="en-US"/>
              <a:t>算法</a:t>
            </a:r>
          </a:p>
          <a:p>
            <a:r>
              <a:rPr lang="en-US" altLang="zh-CN"/>
              <a:t>C</a:t>
            </a:r>
            <a:r>
              <a:rPr lang="zh-CN" altLang="en-US"/>
              <a:t>语言是面向过程的高级语言</a:t>
            </a:r>
          </a:p>
          <a:p>
            <a:r>
              <a:rPr lang="zh-CN" altLang="en-US"/>
              <a:t>           面向对象的程序设计语言</a:t>
            </a:r>
          </a:p>
          <a:p>
            <a:r>
              <a:rPr lang="zh-CN" altLang="en-US"/>
              <a:t>一种结构模拟方法。认为：现实世界由对象组成，对象是数据和方法的封装体；客观世界可以分类，每个对象是类的一个实例。</a:t>
            </a:r>
          </a:p>
          <a:p>
            <a:r>
              <a:rPr lang="zh-CN" altLang="en-US"/>
              <a:t>特点：比面向过程的语言更清晰、易懂，适宜编更大规模程序，是程序设计的主流</a:t>
            </a:r>
          </a:p>
          <a:p>
            <a:endParaRPr lang="zh-CN" altLang="en-US"/>
          </a:p>
          <a:p>
            <a:r>
              <a:rPr lang="zh-CN" altLang="en-US"/>
              <a:t>程序设计语言基本成分：</a:t>
            </a:r>
          </a:p>
          <a:p>
            <a:r>
              <a:rPr lang="zh-CN" altLang="en-US"/>
              <a:t>。数据成分</a:t>
            </a:r>
          </a:p>
          <a:p>
            <a:r>
              <a:rPr lang="zh-CN" altLang="en-US"/>
              <a:t>。运算成分</a:t>
            </a:r>
          </a:p>
          <a:p>
            <a:r>
              <a:rPr lang="zh-CN" altLang="en-US"/>
              <a:t>。控制成分</a:t>
            </a:r>
          </a:p>
          <a:p>
            <a:r>
              <a:rPr lang="zh-CN" altLang="en-US"/>
              <a:t>。传输成分	</a:t>
            </a:r>
          </a:p>
          <a:p>
            <a:endParaRPr lang="zh-CN" altLang="en-US"/>
          </a:p>
          <a:p>
            <a:r>
              <a:rPr lang="zh-CN" altLang="en-US"/>
              <a:t>程序设计语言定义：用于书写计算机程序的语言。通常指实现高级语言。</a:t>
            </a:r>
          </a:p>
          <a:p>
            <a:r>
              <a:rPr lang="zh-CN" altLang="en-US"/>
              <a:t>语言的基础是一组记号与一组规则。</a:t>
            </a:r>
          </a:p>
          <a:p>
            <a:r>
              <a:rPr lang="zh-CN" altLang="en-US"/>
              <a:t>程序设计语言包括：</a:t>
            </a:r>
          </a:p>
          <a:p>
            <a:r>
              <a:rPr lang="zh-CN" altLang="en-US"/>
              <a:t>语法：记号的组合规则</a:t>
            </a:r>
          </a:p>
          <a:p>
            <a:r>
              <a:rPr lang="zh-CN" altLang="en-US"/>
              <a:t>语义：记号的特定意义</a:t>
            </a:r>
          </a:p>
          <a:p>
            <a:r>
              <a:rPr lang="zh-CN" altLang="en-US"/>
              <a:t>语用：程序与使用者的关系</a:t>
            </a:r>
          </a:p>
          <a:p>
            <a:endParaRPr lang="zh-CN" altLang="en-US"/>
          </a:p>
          <a:p>
            <a:endParaRPr lang="en-US" altLang="zh-CN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3B415DF2-7270-48FC-BAB9-0A8C1C1F37FD}" type="slidenum">
              <a:rPr lang="en-US" altLang="zh-CN"/>
              <a:pPr/>
              <a:t>22</a:t>
            </a:fld>
            <a:endParaRPr lang="en-US" altLang="zh-CN"/>
          </a:p>
        </p:txBody>
      </p:sp>
      <p:sp>
        <p:nvSpPr>
          <p:cNvPr id="108134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108134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</p:spPr>
        <p:txBody>
          <a:bodyPr/>
          <a:lstStyle/>
          <a:p>
            <a:r>
              <a:rPr lang="en-US" altLang="zh-CN"/>
              <a:t>1946</a:t>
            </a:r>
            <a:r>
              <a:rPr lang="zh-CN" altLang="en-US"/>
              <a:t>年，第一台电子计算机问世，应用领域迅速扩大，软硬件飞速发展，程序设计语言相继问世。</a:t>
            </a:r>
          </a:p>
          <a:p>
            <a:r>
              <a:rPr lang="zh-CN" altLang="en-US"/>
              <a:t>程序设计语言</a:t>
            </a:r>
            <a:r>
              <a:rPr lang="en-US" altLang="zh-CN"/>
              <a:t>:</a:t>
            </a:r>
            <a:r>
              <a:rPr lang="zh-CN" altLang="en-US"/>
              <a:t>将自然语言形式化为有格式的语言</a:t>
            </a:r>
          </a:p>
          <a:p>
            <a:r>
              <a:rPr lang="en-US" altLang="zh-CN"/>
              <a:t>1</a:t>
            </a:r>
            <a:r>
              <a:rPr lang="zh-CN" altLang="en-US"/>
              <a:t>。机器语言：</a:t>
            </a:r>
          </a:p>
          <a:p>
            <a:pPr lvl="2">
              <a:buClr>
                <a:schemeClr val="tx2"/>
              </a:buClr>
              <a:buFontTx/>
              <a:buChar char="•"/>
            </a:pPr>
            <a:r>
              <a:rPr lang="zh-CN" altLang="en-US"/>
              <a:t>计算机能够认识的语言</a:t>
            </a:r>
          </a:p>
          <a:p>
            <a:pPr lvl="2">
              <a:buClr>
                <a:schemeClr val="tx2"/>
              </a:buClr>
              <a:buFontTx/>
              <a:buChar char="•"/>
            </a:pPr>
            <a:r>
              <a:rPr lang="zh-CN" altLang="en-US"/>
              <a:t>计算机的基础是数字电路</a:t>
            </a:r>
          </a:p>
          <a:p>
            <a:pPr lvl="2">
              <a:buClr>
                <a:schemeClr val="tx2"/>
              </a:buClr>
              <a:buFontTx/>
              <a:buChar char="•"/>
            </a:pPr>
            <a:r>
              <a:rPr lang="zh-CN" altLang="en-US"/>
              <a:t>机器语言就是数字电路里的电信号</a:t>
            </a:r>
          </a:p>
          <a:p>
            <a:pPr lvl="2">
              <a:buClr>
                <a:schemeClr val="tx2"/>
              </a:buClr>
              <a:buFontTx/>
              <a:buChar char="•"/>
            </a:pPr>
            <a:r>
              <a:rPr lang="zh-CN" altLang="en-US"/>
              <a:t>将在</a:t>
            </a:r>
            <a:r>
              <a:rPr lang="en-US" altLang="zh-CN"/>
              <a:t>《</a:t>
            </a:r>
            <a:r>
              <a:rPr lang="zh-CN" altLang="en-US"/>
              <a:t>计算机组成</a:t>
            </a:r>
            <a:r>
              <a:rPr lang="en-US" altLang="zh-CN"/>
              <a:t>》</a:t>
            </a:r>
            <a:r>
              <a:rPr lang="zh-CN" altLang="en-US"/>
              <a:t>课程中学习</a:t>
            </a:r>
          </a:p>
          <a:p>
            <a:pPr lvl="2">
              <a:buClr>
                <a:schemeClr val="tx2"/>
              </a:buClr>
              <a:buFontTx/>
              <a:buChar char="•"/>
            </a:pPr>
            <a:r>
              <a:rPr lang="zh-CN" altLang="en-US"/>
              <a:t>都是二进制文件</a:t>
            </a:r>
          </a:p>
          <a:p>
            <a:pPr lvl="2">
              <a:buClr>
                <a:schemeClr val="tx2"/>
              </a:buClr>
              <a:buFontTx/>
              <a:buChar char="•"/>
            </a:pPr>
            <a:r>
              <a:rPr lang="zh-CN" altLang="en-US"/>
              <a:t>一条机器语言成为一条指令</a:t>
            </a:r>
          </a:p>
          <a:p>
            <a:pPr lvl="2">
              <a:buClr>
                <a:schemeClr val="tx2"/>
              </a:buClr>
              <a:buFontTx/>
              <a:buChar char="•"/>
            </a:pPr>
            <a:r>
              <a:rPr lang="zh-CN" altLang="en-US"/>
              <a:t>指令是不可分割的最小功能单元</a:t>
            </a:r>
          </a:p>
          <a:p>
            <a:r>
              <a:rPr lang="zh-CN" altLang="en-US"/>
              <a:t>定义：一种</a:t>
            </a:r>
            <a:r>
              <a:rPr lang="en-US" altLang="zh-CN"/>
              <a:t>CPU</a:t>
            </a:r>
            <a:r>
              <a:rPr lang="zh-CN" altLang="en-US"/>
              <a:t>的指令系统，由该</a:t>
            </a:r>
            <a:r>
              <a:rPr lang="en-US" altLang="zh-CN"/>
              <a:t>CPU</a:t>
            </a:r>
            <a:r>
              <a:rPr lang="zh-CN" altLang="en-US"/>
              <a:t>可识别的</a:t>
            </a:r>
            <a:r>
              <a:rPr lang="en-US" altLang="zh-CN"/>
              <a:t>0</a:t>
            </a:r>
            <a:r>
              <a:rPr lang="zh-CN" altLang="en-US"/>
              <a:t>、</a:t>
            </a:r>
            <a:r>
              <a:rPr lang="en-US" altLang="zh-CN"/>
              <a:t>1</a:t>
            </a:r>
            <a:r>
              <a:rPr lang="zh-CN" altLang="en-US"/>
              <a:t>序列构成的指令码组成。</a:t>
            </a:r>
          </a:p>
          <a:p>
            <a:r>
              <a:rPr lang="zh-CN" altLang="en-US"/>
              <a:t>特点：</a:t>
            </a:r>
          </a:p>
          <a:p>
            <a:r>
              <a:rPr lang="zh-CN" altLang="en-US"/>
              <a:t>执行效率高</a:t>
            </a:r>
          </a:p>
          <a:p>
            <a:r>
              <a:rPr lang="zh-CN" altLang="en-US"/>
              <a:t>不直观，不易查错，生产效率低。</a:t>
            </a:r>
          </a:p>
          <a:p>
            <a:r>
              <a:rPr lang="en-US" altLang="zh-CN"/>
              <a:t>2</a:t>
            </a:r>
            <a:r>
              <a:rPr lang="zh-CN" altLang="en-US"/>
              <a:t>。汇编语言</a:t>
            </a:r>
          </a:p>
          <a:p>
            <a:r>
              <a:rPr lang="zh-CN" altLang="en-US"/>
              <a:t>定义：用助记符号描述的指令系统</a:t>
            </a:r>
          </a:p>
          <a:p>
            <a:r>
              <a:rPr lang="zh-CN" altLang="en-US"/>
              <a:t>特点：</a:t>
            </a:r>
          </a:p>
          <a:p>
            <a:r>
              <a:rPr lang="zh-CN" altLang="en-US"/>
              <a:t>生产效率高，质量好，执行效率较高；</a:t>
            </a:r>
          </a:p>
          <a:p>
            <a:r>
              <a:rPr lang="zh-CN" altLang="en-US"/>
              <a:t>要经汇编程序汇编成目标程序（机器语言）才能执行，依赖硬件。</a:t>
            </a:r>
          </a:p>
          <a:p>
            <a:r>
              <a:rPr lang="zh-CN" altLang="en-US"/>
              <a:t>（面向机器的语言</a:t>
            </a:r>
            <a:r>
              <a:rPr lang="en-US" altLang="zh-CN"/>
              <a:t>----</a:t>
            </a:r>
            <a:r>
              <a:rPr lang="zh-CN" altLang="en-US"/>
              <a:t>依</a:t>
            </a:r>
            <a:r>
              <a:rPr lang="en-US" altLang="zh-CN"/>
              <a:t>CPU</a:t>
            </a:r>
            <a:r>
              <a:rPr lang="zh-CN" altLang="en-US"/>
              <a:t>不同而异）</a:t>
            </a:r>
          </a:p>
          <a:p>
            <a:r>
              <a:rPr lang="en-US" altLang="zh-CN"/>
              <a:t>3</a:t>
            </a:r>
            <a:r>
              <a:rPr lang="zh-CN" altLang="en-US"/>
              <a:t>。高级语言</a:t>
            </a:r>
          </a:p>
          <a:p>
            <a:r>
              <a:rPr lang="zh-CN" altLang="en-US"/>
              <a:t>特点：</a:t>
            </a:r>
          </a:p>
          <a:p>
            <a:r>
              <a:rPr lang="zh-CN" altLang="en-US"/>
              <a:t>编程效率高，不必考虑硬件；</a:t>
            </a:r>
          </a:p>
          <a:p>
            <a:r>
              <a:rPr lang="zh-CN" altLang="en-US"/>
              <a:t>执行效率低，要经编译、连接后才能执行。</a:t>
            </a:r>
          </a:p>
          <a:p>
            <a:r>
              <a:rPr lang="zh-CN" altLang="en-US"/>
              <a:t>面向过程的程序设计语言</a:t>
            </a:r>
          </a:p>
          <a:p>
            <a:r>
              <a:rPr lang="zh-CN" altLang="en-US"/>
              <a:t>认为解题过程是数据被加工的过程</a:t>
            </a:r>
          </a:p>
          <a:p>
            <a:r>
              <a:rPr lang="zh-CN" altLang="en-US"/>
              <a:t>程序</a:t>
            </a:r>
            <a:r>
              <a:rPr lang="en-US" altLang="zh-CN"/>
              <a:t>=</a:t>
            </a:r>
            <a:r>
              <a:rPr lang="zh-CN" altLang="en-US"/>
              <a:t>数据结构</a:t>
            </a:r>
            <a:r>
              <a:rPr lang="en-US" altLang="zh-CN"/>
              <a:t>+</a:t>
            </a:r>
            <a:r>
              <a:rPr lang="zh-CN" altLang="en-US"/>
              <a:t>算法</a:t>
            </a:r>
          </a:p>
          <a:p>
            <a:r>
              <a:rPr lang="en-US" altLang="zh-CN"/>
              <a:t>C</a:t>
            </a:r>
            <a:r>
              <a:rPr lang="zh-CN" altLang="en-US"/>
              <a:t>语言是面向过程的高级语言</a:t>
            </a:r>
          </a:p>
          <a:p>
            <a:r>
              <a:rPr lang="zh-CN" altLang="en-US"/>
              <a:t>           面向对象的程序设计语言</a:t>
            </a:r>
          </a:p>
          <a:p>
            <a:r>
              <a:rPr lang="zh-CN" altLang="en-US"/>
              <a:t>一种结构模拟方法。认为：现实世界由对象组成，对象是数据和方法的封装体；客观世界可以分类，每个对象是类的一个实例。</a:t>
            </a:r>
          </a:p>
          <a:p>
            <a:r>
              <a:rPr lang="zh-CN" altLang="en-US"/>
              <a:t>特点：比面向过程的语言更清晰、易懂，适宜编更大规模程序，是程序设计的主流</a:t>
            </a:r>
          </a:p>
          <a:p>
            <a:endParaRPr lang="zh-CN" altLang="en-US"/>
          </a:p>
          <a:p>
            <a:r>
              <a:rPr lang="zh-CN" altLang="en-US"/>
              <a:t>程序设计语言基本成分：</a:t>
            </a:r>
          </a:p>
          <a:p>
            <a:r>
              <a:rPr lang="zh-CN" altLang="en-US"/>
              <a:t>。数据成分</a:t>
            </a:r>
          </a:p>
          <a:p>
            <a:r>
              <a:rPr lang="zh-CN" altLang="en-US"/>
              <a:t>。运算成分</a:t>
            </a:r>
          </a:p>
          <a:p>
            <a:r>
              <a:rPr lang="zh-CN" altLang="en-US"/>
              <a:t>。控制成分</a:t>
            </a:r>
          </a:p>
          <a:p>
            <a:r>
              <a:rPr lang="zh-CN" altLang="en-US"/>
              <a:t>。传输成分	</a:t>
            </a:r>
          </a:p>
          <a:p>
            <a:endParaRPr lang="zh-CN" altLang="en-US"/>
          </a:p>
          <a:p>
            <a:r>
              <a:rPr lang="zh-CN" altLang="en-US"/>
              <a:t>程序设计语言定义：用于书写计算机程序的语言。通常指实现高级语言。</a:t>
            </a:r>
          </a:p>
          <a:p>
            <a:r>
              <a:rPr lang="zh-CN" altLang="en-US"/>
              <a:t>语言的基础是一组记号与一组规则。</a:t>
            </a:r>
          </a:p>
          <a:p>
            <a:r>
              <a:rPr lang="zh-CN" altLang="en-US"/>
              <a:t>程序设计语言包括：</a:t>
            </a:r>
          </a:p>
          <a:p>
            <a:r>
              <a:rPr lang="zh-CN" altLang="en-US"/>
              <a:t>语法：记号的组合规则</a:t>
            </a:r>
          </a:p>
          <a:p>
            <a:r>
              <a:rPr lang="zh-CN" altLang="en-US"/>
              <a:t>语义：记号的特定意义</a:t>
            </a:r>
          </a:p>
          <a:p>
            <a:r>
              <a:rPr lang="zh-CN" altLang="en-US"/>
              <a:t>语用：程序与使用者的关系</a:t>
            </a:r>
          </a:p>
          <a:p>
            <a:endParaRPr lang="zh-CN" altLang="en-US"/>
          </a:p>
          <a:p>
            <a:endParaRPr lang="en-US" altLang="zh-CN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2361D8A4-4A42-470D-9169-54C4254B1DD2}" type="slidenum">
              <a:rPr lang="en-US" altLang="zh-CN"/>
              <a:pPr/>
              <a:t>23</a:t>
            </a:fld>
            <a:endParaRPr lang="en-US" altLang="zh-CN"/>
          </a:p>
        </p:txBody>
      </p:sp>
      <p:sp>
        <p:nvSpPr>
          <p:cNvPr id="108339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108339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</p:spPr>
        <p:txBody>
          <a:bodyPr/>
          <a:lstStyle/>
          <a:p>
            <a:r>
              <a:rPr lang="en-US" altLang="zh-CN"/>
              <a:t>1946</a:t>
            </a:r>
            <a:r>
              <a:rPr lang="zh-CN" altLang="en-US"/>
              <a:t>年，第一台电子计算机问世，应用领域迅速扩大，软硬件飞速发展，程序设计语言相继问世。</a:t>
            </a:r>
          </a:p>
          <a:p>
            <a:r>
              <a:rPr lang="zh-CN" altLang="en-US"/>
              <a:t>程序设计语言</a:t>
            </a:r>
            <a:r>
              <a:rPr lang="en-US" altLang="zh-CN"/>
              <a:t>:</a:t>
            </a:r>
            <a:r>
              <a:rPr lang="zh-CN" altLang="en-US"/>
              <a:t>将自然语言形式化为有格式的语言</a:t>
            </a:r>
          </a:p>
          <a:p>
            <a:r>
              <a:rPr lang="en-US" altLang="zh-CN"/>
              <a:t>1</a:t>
            </a:r>
            <a:r>
              <a:rPr lang="zh-CN" altLang="en-US"/>
              <a:t>。机器语言：</a:t>
            </a:r>
          </a:p>
          <a:p>
            <a:pPr lvl="2">
              <a:buClr>
                <a:schemeClr val="tx2"/>
              </a:buClr>
              <a:buFontTx/>
              <a:buChar char="•"/>
            </a:pPr>
            <a:r>
              <a:rPr lang="zh-CN" altLang="en-US"/>
              <a:t>计算机能够认识的语言</a:t>
            </a:r>
          </a:p>
          <a:p>
            <a:pPr lvl="2">
              <a:buClr>
                <a:schemeClr val="tx2"/>
              </a:buClr>
              <a:buFontTx/>
              <a:buChar char="•"/>
            </a:pPr>
            <a:r>
              <a:rPr lang="zh-CN" altLang="en-US"/>
              <a:t>计算机的基础是数字电路</a:t>
            </a:r>
          </a:p>
          <a:p>
            <a:pPr lvl="2">
              <a:buClr>
                <a:schemeClr val="tx2"/>
              </a:buClr>
              <a:buFontTx/>
              <a:buChar char="•"/>
            </a:pPr>
            <a:r>
              <a:rPr lang="zh-CN" altLang="en-US"/>
              <a:t>机器语言就是数字电路里的电信号</a:t>
            </a:r>
          </a:p>
          <a:p>
            <a:pPr lvl="2">
              <a:buClr>
                <a:schemeClr val="tx2"/>
              </a:buClr>
              <a:buFontTx/>
              <a:buChar char="•"/>
            </a:pPr>
            <a:r>
              <a:rPr lang="zh-CN" altLang="en-US"/>
              <a:t>将在</a:t>
            </a:r>
            <a:r>
              <a:rPr lang="en-US" altLang="zh-CN"/>
              <a:t>《</a:t>
            </a:r>
            <a:r>
              <a:rPr lang="zh-CN" altLang="en-US"/>
              <a:t>计算机组成</a:t>
            </a:r>
            <a:r>
              <a:rPr lang="en-US" altLang="zh-CN"/>
              <a:t>》</a:t>
            </a:r>
            <a:r>
              <a:rPr lang="zh-CN" altLang="en-US"/>
              <a:t>课程中学习</a:t>
            </a:r>
          </a:p>
          <a:p>
            <a:pPr lvl="2">
              <a:buClr>
                <a:schemeClr val="tx2"/>
              </a:buClr>
              <a:buFontTx/>
              <a:buChar char="•"/>
            </a:pPr>
            <a:r>
              <a:rPr lang="zh-CN" altLang="en-US"/>
              <a:t>都是二进制文件</a:t>
            </a:r>
          </a:p>
          <a:p>
            <a:pPr lvl="2">
              <a:buClr>
                <a:schemeClr val="tx2"/>
              </a:buClr>
              <a:buFontTx/>
              <a:buChar char="•"/>
            </a:pPr>
            <a:r>
              <a:rPr lang="zh-CN" altLang="en-US"/>
              <a:t>一条机器语言成为一条指令</a:t>
            </a:r>
          </a:p>
          <a:p>
            <a:pPr lvl="2">
              <a:buClr>
                <a:schemeClr val="tx2"/>
              </a:buClr>
              <a:buFontTx/>
              <a:buChar char="•"/>
            </a:pPr>
            <a:r>
              <a:rPr lang="zh-CN" altLang="en-US"/>
              <a:t>指令是不可分割的最小功能单元</a:t>
            </a:r>
          </a:p>
          <a:p>
            <a:r>
              <a:rPr lang="zh-CN" altLang="en-US"/>
              <a:t>定义：一种</a:t>
            </a:r>
            <a:r>
              <a:rPr lang="en-US" altLang="zh-CN"/>
              <a:t>CPU</a:t>
            </a:r>
            <a:r>
              <a:rPr lang="zh-CN" altLang="en-US"/>
              <a:t>的指令系统，由该</a:t>
            </a:r>
            <a:r>
              <a:rPr lang="en-US" altLang="zh-CN"/>
              <a:t>CPU</a:t>
            </a:r>
            <a:r>
              <a:rPr lang="zh-CN" altLang="en-US"/>
              <a:t>可识别的</a:t>
            </a:r>
            <a:r>
              <a:rPr lang="en-US" altLang="zh-CN"/>
              <a:t>0</a:t>
            </a:r>
            <a:r>
              <a:rPr lang="zh-CN" altLang="en-US"/>
              <a:t>、</a:t>
            </a:r>
            <a:r>
              <a:rPr lang="en-US" altLang="zh-CN"/>
              <a:t>1</a:t>
            </a:r>
            <a:r>
              <a:rPr lang="zh-CN" altLang="en-US"/>
              <a:t>序列构成的指令码组成。</a:t>
            </a:r>
          </a:p>
          <a:p>
            <a:r>
              <a:rPr lang="zh-CN" altLang="en-US"/>
              <a:t>特点：</a:t>
            </a:r>
          </a:p>
          <a:p>
            <a:r>
              <a:rPr lang="zh-CN" altLang="en-US"/>
              <a:t>执行效率高</a:t>
            </a:r>
          </a:p>
          <a:p>
            <a:r>
              <a:rPr lang="zh-CN" altLang="en-US"/>
              <a:t>不直观，不易查错，生产效率低。</a:t>
            </a:r>
          </a:p>
          <a:p>
            <a:r>
              <a:rPr lang="en-US" altLang="zh-CN"/>
              <a:t>2</a:t>
            </a:r>
            <a:r>
              <a:rPr lang="zh-CN" altLang="en-US"/>
              <a:t>。汇编语言</a:t>
            </a:r>
          </a:p>
          <a:p>
            <a:r>
              <a:rPr lang="zh-CN" altLang="en-US"/>
              <a:t>定义：用助记符号描述的指令系统</a:t>
            </a:r>
          </a:p>
          <a:p>
            <a:r>
              <a:rPr lang="zh-CN" altLang="en-US"/>
              <a:t>特点：</a:t>
            </a:r>
          </a:p>
          <a:p>
            <a:r>
              <a:rPr lang="zh-CN" altLang="en-US"/>
              <a:t>生产效率高，质量好，执行效率较高；</a:t>
            </a:r>
          </a:p>
          <a:p>
            <a:r>
              <a:rPr lang="zh-CN" altLang="en-US"/>
              <a:t>要经汇编程序汇编成目标程序（机器语言）才能执行，依赖硬件。</a:t>
            </a:r>
          </a:p>
          <a:p>
            <a:r>
              <a:rPr lang="zh-CN" altLang="en-US"/>
              <a:t>（面向机器的语言</a:t>
            </a:r>
            <a:r>
              <a:rPr lang="en-US" altLang="zh-CN"/>
              <a:t>----</a:t>
            </a:r>
            <a:r>
              <a:rPr lang="zh-CN" altLang="en-US"/>
              <a:t>依</a:t>
            </a:r>
            <a:r>
              <a:rPr lang="en-US" altLang="zh-CN"/>
              <a:t>CPU</a:t>
            </a:r>
            <a:r>
              <a:rPr lang="zh-CN" altLang="en-US"/>
              <a:t>不同而异）</a:t>
            </a:r>
          </a:p>
          <a:p>
            <a:r>
              <a:rPr lang="en-US" altLang="zh-CN"/>
              <a:t>3</a:t>
            </a:r>
            <a:r>
              <a:rPr lang="zh-CN" altLang="en-US"/>
              <a:t>。高级语言</a:t>
            </a:r>
          </a:p>
          <a:p>
            <a:r>
              <a:rPr lang="zh-CN" altLang="en-US"/>
              <a:t>特点：</a:t>
            </a:r>
          </a:p>
          <a:p>
            <a:r>
              <a:rPr lang="zh-CN" altLang="en-US"/>
              <a:t>编程效率高，不必考虑硬件；</a:t>
            </a:r>
          </a:p>
          <a:p>
            <a:r>
              <a:rPr lang="zh-CN" altLang="en-US"/>
              <a:t>执行效率低，要经编译、连接后才能执行。</a:t>
            </a:r>
          </a:p>
          <a:p>
            <a:r>
              <a:rPr lang="zh-CN" altLang="en-US"/>
              <a:t>面向过程的程序设计语言</a:t>
            </a:r>
          </a:p>
          <a:p>
            <a:r>
              <a:rPr lang="zh-CN" altLang="en-US"/>
              <a:t>认为解题过程是数据被加工的过程</a:t>
            </a:r>
          </a:p>
          <a:p>
            <a:r>
              <a:rPr lang="zh-CN" altLang="en-US"/>
              <a:t>程序</a:t>
            </a:r>
            <a:r>
              <a:rPr lang="en-US" altLang="zh-CN"/>
              <a:t>=</a:t>
            </a:r>
            <a:r>
              <a:rPr lang="zh-CN" altLang="en-US"/>
              <a:t>数据结构</a:t>
            </a:r>
            <a:r>
              <a:rPr lang="en-US" altLang="zh-CN"/>
              <a:t>+</a:t>
            </a:r>
            <a:r>
              <a:rPr lang="zh-CN" altLang="en-US"/>
              <a:t>算法</a:t>
            </a:r>
          </a:p>
          <a:p>
            <a:r>
              <a:rPr lang="en-US" altLang="zh-CN"/>
              <a:t>C</a:t>
            </a:r>
            <a:r>
              <a:rPr lang="zh-CN" altLang="en-US"/>
              <a:t>语言是面向过程的高级语言</a:t>
            </a:r>
          </a:p>
          <a:p>
            <a:r>
              <a:rPr lang="zh-CN" altLang="en-US"/>
              <a:t>           面向对象的程序设计语言</a:t>
            </a:r>
          </a:p>
          <a:p>
            <a:r>
              <a:rPr lang="zh-CN" altLang="en-US"/>
              <a:t>一种结构模拟方法。认为：现实世界由对象组成，对象是数据和方法的封装体；客观世界可以分类，每个对象是类的一个实例。</a:t>
            </a:r>
          </a:p>
          <a:p>
            <a:r>
              <a:rPr lang="zh-CN" altLang="en-US"/>
              <a:t>特点：比面向过程的语言更清晰、易懂，适宜编更大规模程序，是程序设计的主流</a:t>
            </a:r>
          </a:p>
          <a:p>
            <a:endParaRPr lang="zh-CN" altLang="en-US"/>
          </a:p>
          <a:p>
            <a:r>
              <a:rPr lang="zh-CN" altLang="en-US"/>
              <a:t>程序设计语言基本成分：</a:t>
            </a:r>
          </a:p>
          <a:p>
            <a:r>
              <a:rPr lang="zh-CN" altLang="en-US"/>
              <a:t>。数据成分</a:t>
            </a:r>
          </a:p>
          <a:p>
            <a:r>
              <a:rPr lang="zh-CN" altLang="en-US"/>
              <a:t>。运算成分</a:t>
            </a:r>
          </a:p>
          <a:p>
            <a:r>
              <a:rPr lang="zh-CN" altLang="en-US"/>
              <a:t>。控制成分</a:t>
            </a:r>
          </a:p>
          <a:p>
            <a:r>
              <a:rPr lang="zh-CN" altLang="en-US"/>
              <a:t>。传输成分	</a:t>
            </a:r>
          </a:p>
          <a:p>
            <a:endParaRPr lang="zh-CN" altLang="en-US"/>
          </a:p>
          <a:p>
            <a:r>
              <a:rPr lang="zh-CN" altLang="en-US"/>
              <a:t>程序设计语言定义：用于书写计算机程序的语言。通常指实现高级语言。</a:t>
            </a:r>
          </a:p>
          <a:p>
            <a:r>
              <a:rPr lang="zh-CN" altLang="en-US"/>
              <a:t>语言的基础是一组记号与一组规则。</a:t>
            </a:r>
          </a:p>
          <a:p>
            <a:r>
              <a:rPr lang="zh-CN" altLang="en-US"/>
              <a:t>程序设计语言包括：</a:t>
            </a:r>
          </a:p>
          <a:p>
            <a:r>
              <a:rPr lang="zh-CN" altLang="en-US"/>
              <a:t>语法：记号的组合规则</a:t>
            </a:r>
          </a:p>
          <a:p>
            <a:r>
              <a:rPr lang="zh-CN" altLang="en-US"/>
              <a:t>语义：记号的特定意义</a:t>
            </a:r>
          </a:p>
          <a:p>
            <a:r>
              <a:rPr lang="zh-CN" altLang="en-US"/>
              <a:t>语用：程序与使用者的关系</a:t>
            </a:r>
          </a:p>
          <a:p>
            <a:endParaRPr lang="zh-CN" altLang="en-US"/>
          </a:p>
          <a:p>
            <a:endParaRPr lang="en-US" altLang="zh-CN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AD582431-E3C1-4A43-ACD6-AEBA5AA12EE2}" type="slidenum">
              <a:rPr lang="en-US" altLang="zh-CN"/>
              <a:pPr/>
              <a:t>24</a:t>
            </a:fld>
            <a:endParaRPr lang="en-US" altLang="zh-CN"/>
          </a:p>
        </p:txBody>
      </p:sp>
      <p:sp>
        <p:nvSpPr>
          <p:cNvPr id="108749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108749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</p:spPr>
        <p:txBody>
          <a:bodyPr/>
          <a:lstStyle/>
          <a:p>
            <a:r>
              <a:rPr lang="en-US" altLang="zh-CN"/>
              <a:t>1946</a:t>
            </a:r>
            <a:r>
              <a:rPr lang="zh-CN" altLang="en-US"/>
              <a:t>年，第一台电子计算机问世，应用领域迅速扩大，软硬件飞速发展，程序设计语言相继问世。</a:t>
            </a:r>
          </a:p>
          <a:p>
            <a:r>
              <a:rPr lang="zh-CN" altLang="en-US"/>
              <a:t>程序设计语言</a:t>
            </a:r>
            <a:r>
              <a:rPr lang="en-US" altLang="zh-CN"/>
              <a:t>:</a:t>
            </a:r>
            <a:r>
              <a:rPr lang="zh-CN" altLang="en-US"/>
              <a:t>将自然语言形式化为有格式的语言</a:t>
            </a:r>
          </a:p>
          <a:p>
            <a:r>
              <a:rPr lang="en-US" altLang="zh-CN"/>
              <a:t>1</a:t>
            </a:r>
            <a:r>
              <a:rPr lang="zh-CN" altLang="en-US"/>
              <a:t>。机器语言：</a:t>
            </a:r>
          </a:p>
          <a:p>
            <a:pPr lvl="2">
              <a:buClr>
                <a:schemeClr val="tx2"/>
              </a:buClr>
              <a:buFontTx/>
              <a:buChar char="•"/>
            </a:pPr>
            <a:r>
              <a:rPr lang="zh-CN" altLang="en-US"/>
              <a:t>计算机能够认识的语言</a:t>
            </a:r>
          </a:p>
          <a:p>
            <a:pPr lvl="2">
              <a:buClr>
                <a:schemeClr val="tx2"/>
              </a:buClr>
              <a:buFontTx/>
              <a:buChar char="•"/>
            </a:pPr>
            <a:r>
              <a:rPr lang="zh-CN" altLang="en-US"/>
              <a:t>计算机的基础是数字电路</a:t>
            </a:r>
          </a:p>
          <a:p>
            <a:pPr lvl="2">
              <a:buClr>
                <a:schemeClr val="tx2"/>
              </a:buClr>
              <a:buFontTx/>
              <a:buChar char="•"/>
            </a:pPr>
            <a:r>
              <a:rPr lang="zh-CN" altLang="en-US"/>
              <a:t>机器语言就是数字电路里的电信号</a:t>
            </a:r>
          </a:p>
          <a:p>
            <a:pPr lvl="2">
              <a:buClr>
                <a:schemeClr val="tx2"/>
              </a:buClr>
              <a:buFontTx/>
              <a:buChar char="•"/>
            </a:pPr>
            <a:r>
              <a:rPr lang="zh-CN" altLang="en-US"/>
              <a:t>将在</a:t>
            </a:r>
            <a:r>
              <a:rPr lang="en-US" altLang="zh-CN"/>
              <a:t>《</a:t>
            </a:r>
            <a:r>
              <a:rPr lang="zh-CN" altLang="en-US"/>
              <a:t>计算机组成</a:t>
            </a:r>
            <a:r>
              <a:rPr lang="en-US" altLang="zh-CN"/>
              <a:t>》</a:t>
            </a:r>
            <a:r>
              <a:rPr lang="zh-CN" altLang="en-US"/>
              <a:t>课程中学习</a:t>
            </a:r>
          </a:p>
          <a:p>
            <a:pPr lvl="2">
              <a:buClr>
                <a:schemeClr val="tx2"/>
              </a:buClr>
              <a:buFontTx/>
              <a:buChar char="•"/>
            </a:pPr>
            <a:r>
              <a:rPr lang="zh-CN" altLang="en-US"/>
              <a:t>都是二进制文件</a:t>
            </a:r>
          </a:p>
          <a:p>
            <a:pPr lvl="2">
              <a:buClr>
                <a:schemeClr val="tx2"/>
              </a:buClr>
              <a:buFontTx/>
              <a:buChar char="•"/>
            </a:pPr>
            <a:r>
              <a:rPr lang="zh-CN" altLang="en-US"/>
              <a:t>一条机器语言成为一条指令</a:t>
            </a:r>
          </a:p>
          <a:p>
            <a:pPr lvl="2">
              <a:buClr>
                <a:schemeClr val="tx2"/>
              </a:buClr>
              <a:buFontTx/>
              <a:buChar char="•"/>
            </a:pPr>
            <a:r>
              <a:rPr lang="zh-CN" altLang="en-US"/>
              <a:t>指令是不可分割的最小功能单元</a:t>
            </a:r>
          </a:p>
          <a:p>
            <a:r>
              <a:rPr lang="zh-CN" altLang="en-US"/>
              <a:t>定义：一种</a:t>
            </a:r>
            <a:r>
              <a:rPr lang="en-US" altLang="zh-CN"/>
              <a:t>CPU</a:t>
            </a:r>
            <a:r>
              <a:rPr lang="zh-CN" altLang="en-US"/>
              <a:t>的指令系统，由该</a:t>
            </a:r>
            <a:r>
              <a:rPr lang="en-US" altLang="zh-CN"/>
              <a:t>CPU</a:t>
            </a:r>
            <a:r>
              <a:rPr lang="zh-CN" altLang="en-US"/>
              <a:t>可识别的</a:t>
            </a:r>
            <a:r>
              <a:rPr lang="en-US" altLang="zh-CN"/>
              <a:t>0</a:t>
            </a:r>
            <a:r>
              <a:rPr lang="zh-CN" altLang="en-US"/>
              <a:t>、</a:t>
            </a:r>
            <a:r>
              <a:rPr lang="en-US" altLang="zh-CN"/>
              <a:t>1</a:t>
            </a:r>
            <a:r>
              <a:rPr lang="zh-CN" altLang="en-US"/>
              <a:t>序列构成的指令码组成。</a:t>
            </a:r>
          </a:p>
          <a:p>
            <a:r>
              <a:rPr lang="zh-CN" altLang="en-US"/>
              <a:t>特点：</a:t>
            </a:r>
          </a:p>
          <a:p>
            <a:r>
              <a:rPr lang="zh-CN" altLang="en-US"/>
              <a:t>执行效率高</a:t>
            </a:r>
          </a:p>
          <a:p>
            <a:r>
              <a:rPr lang="zh-CN" altLang="en-US"/>
              <a:t>不直观，不易查错，生产效率低。</a:t>
            </a:r>
          </a:p>
          <a:p>
            <a:r>
              <a:rPr lang="en-US" altLang="zh-CN"/>
              <a:t>2</a:t>
            </a:r>
            <a:r>
              <a:rPr lang="zh-CN" altLang="en-US"/>
              <a:t>。汇编语言</a:t>
            </a:r>
          </a:p>
          <a:p>
            <a:r>
              <a:rPr lang="zh-CN" altLang="en-US"/>
              <a:t>定义：用助记符号描述的指令系统</a:t>
            </a:r>
          </a:p>
          <a:p>
            <a:r>
              <a:rPr lang="zh-CN" altLang="en-US"/>
              <a:t>特点：</a:t>
            </a:r>
          </a:p>
          <a:p>
            <a:r>
              <a:rPr lang="zh-CN" altLang="en-US"/>
              <a:t>生产效率高，质量好，执行效率较高；</a:t>
            </a:r>
          </a:p>
          <a:p>
            <a:r>
              <a:rPr lang="zh-CN" altLang="en-US"/>
              <a:t>要经汇编程序汇编成目标程序（机器语言）才能执行，依赖硬件。</a:t>
            </a:r>
          </a:p>
          <a:p>
            <a:r>
              <a:rPr lang="zh-CN" altLang="en-US"/>
              <a:t>（面向机器的语言</a:t>
            </a:r>
            <a:r>
              <a:rPr lang="en-US" altLang="zh-CN"/>
              <a:t>----</a:t>
            </a:r>
            <a:r>
              <a:rPr lang="zh-CN" altLang="en-US"/>
              <a:t>依</a:t>
            </a:r>
            <a:r>
              <a:rPr lang="en-US" altLang="zh-CN"/>
              <a:t>CPU</a:t>
            </a:r>
            <a:r>
              <a:rPr lang="zh-CN" altLang="en-US"/>
              <a:t>不同而异）</a:t>
            </a:r>
          </a:p>
          <a:p>
            <a:r>
              <a:rPr lang="en-US" altLang="zh-CN"/>
              <a:t>3</a:t>
            </a:r>
            <a:r>
              <a:rPr lang="zh-CN" altLang="en-US"/>
              <a:t>。高级语言</a:t>
            </a:r>
          </a:p>
          <a:p>
            <a:r>
              <a:rPr lang="zh-CN" altLang="en-US"/>
              <a:t>特点：</a:t>
            </a:r>
          </a:p>
          <a:p>
            <a:r>
              <a:rPr lang="zh-CN" altLang="en-US"/>
              <a:t>编程效率高，不必考虑硬件；</a:t>
            </a:r>
          </a:p>
          <a:p>
            <a:r>
              <a:rPr lang="zh-CN" altLang="en-US"/>
              <a:t>执行效率低，要经编译、连接后才能执行。</a:t>
            </a:r>
          </a:p>
          <a:p>
            <a:r>
              <a:rPr lang="zh-CN" altLang="en-US"/>
              <a:t>面向过程的程序设计语言</a:t>
            </a:r>
          </a:p>
          <a:p>
            <a:r>
              <a:rPr lang="zh-CN" altLang="en-US"/>
              <a:t>认为解题过程是数据被加工的过程</a:t>
            </a:r>
          </a:p>
          <a:p>
            <a:r>
              <a:rPr lang="zh-CN" altLang="en-US"/>
              <a:t>程序</a:t>
            </a:r>
            <a:r>
              <a:rPr lang="en-US" altLang="zh-CN"/>
              <a:t>=</a:t>
            </a:r>
            <a:r>
              <a:rPr lang="zh-CN" altLang="en-US"/>
              <a:t>数据结构</a:t>
            </a:r>
            <a:r>
              <a:rPr lang="en-US" altLang="zh-CN"/>
              <a:t>+</a:t>
            </a:r>
            <a:r>
              <a:rPr lang="zh-CN" altLang="en-US"/>
              <a:t>算法</a:t>
            </a:r>
          </a:p>
          <a:p>
            <a:r>
              <a:rPr lang="en-US" altLang="zh-CN"/>
              <a:t>C</a:t>
            </a:r>
            <a:r>
              <a:rPr lang="zh-CN" altLang="en-US"/>
              <a:t>语言是面向过程的高级语言</a:t>
            </a:r>
          </a:p>
          <a:p>
            <a:r>
              <a:rPr lang="zh-CN" altLang="en-US"/>
              <a:t>           面向对象的程序设计语言</a:t>
            </a:r>
          </a:p>
          <a:p>
            <a:r>
              <a:rPr lang="zh-CN" altLang="en-US"/>
              <a:t>一种结构模拟方法。认为：现实世界由对象组成，对象是数据和方法的封装体；客观世界可以分类，每个对象是类的一个实例。</a:t>
            </a:r>
          </a:p>
          <a:p>
            <a:r>
              <a:rPr lang="zh-CN" altLang="en-US"/>
              <a:t>特点：比面向过程的语言更清晰、易懂，适宜编更大规模程序，是程序设计的主流</a:t>
            </a:r>
          </a:p>
          <a:p>
            <a:endParaRPr lang="zh-CN" altLang="en-US"/>
          </a:p>
          <a:p>
            <a:r>
              <a:rPr lang="zh-CN" altLang="en-US"/>
              <a:t>程序设计语言基本成分：</a:t>
            </a:r>
          </a:p>
          <a:p>
            <a:r>
              <a:rPr lang="zh-CN" altLang="en-US"/>
              <a:t>。数据成分</a:t>
            </a:r>
          </a:p>
          <a:p>
            <a:r>
              <a:rPr lang="zh-CN" altLang="en-US"/>
              <a:t>。运算成分</a:t>
            </a:r>
          </a:p>
          <a:p>
            <a:r>
              <a:rPr lang="zh-CN" altLang="en-US"/>
              <a:t>。控制成分</a:t>
            </a:r>
          </a:p>
          <a:p>
            <a:r>
              <a:rPr lang="zh-CN" altLang="en-US"/>
              <a:t>。传输成分	</a:t>
            </a:r>
          </a:p>
          <a:p>
            <a:endParaRPr lang="zh-CN" altLang="en-US"/>
          </a:p>
          <a:p>
            <a:r>
              <a:rPr lang="zh-CN" altLang="en-US"/>
              <a:t>程序设计语言定义：用于书写计算机程序的语言。通常指实现高级语言。</a:t>
            </a:r>
          </a:p>
          <a:p>
            <a:r>
              <a:rPr lang="zh-CN" altLang="en-US"/>
              <a:t>语言的基础是一组记号与一组规则。</a:t>
            </a:r>
          </a:p>
          <a:p>
            <a:r>
              <a:rPr lang="zh-CN" altLang="en-US"/>
              <a:t>程序设计语言包括：</a:t>
            </a:r>
          </a:p>
          <a:p>
            <a:r>
              <a:rPr lang="zh-CN" altLang="en-US"/>
              <a:t>语法：记号的组合规则</a:t>
            </a:r>
          </a:p>
          <a:p>
            <a:r>
              <a:rPr lang="zh-CN" altLang="en-US"/>
              <a:t>语义：记号的特定意义</a:t>
            </a:r>
          </a:p>
          <a:p>
            <a:r>
              <a:rPr lang="zh-CN" altLang="en-US"/>
              <a:t>语用：程序与使用者的关系</a:t>
            </a:r>
          </a:p>
          <a:p>
            <a:endParaRPr lang="zh-CN" altLang="en-US"/>
          </a:p>
          <a:p>
            <a:endParaRPr lang="en-US" altLang="zh-CN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66BAC287-2680-4949-B678-AB2CF4CF96FE}" type="slidenum">
              <a:rPr lang="en-US" altLang="zh-CN"/>
              <a:pPr/>
              <a:t>25</a:t>
            </a:fld>
            <a:endParaRPr lang="en-US" altLang="zh-CN"/>
          </a:p>
        </p:txBody>
      </p:sp>
      <p:sp>
        <p:nvSpPr>
          <p:cNvPr id="108953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108953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</p:spPr>
        <p:txBody>
          <a:bodyPr/>
          <a:lstStyle/>
          <a:p>
            <a:r>
              <a:rPr lang="en-US" altLang="zh-CN"/>
              <a:t>1946</a:t>
            </a:r>
            <a:r>
              <a:rPr lang="zh-CN" altLang="en-US"/>
              <a:t>年，第一台电子计算机问世，应用领域迅速扩大，软硬件飞速发展，程序设计语言相继问世。</a:t>
            </a:r>
          </a:p>
          <a:p>
            <a:r>
              <a:rPr lang="zh-CN" altLang="en-US"/>
              <a:t>程序设计语言</a:t>
            </a:r>
            <a:r>
              <a:rPr lang="en-US" altLang="zh-CN"/>
              <a:t>:</a:t>
            </a:r>
            <a:r>
              <a:rPr lang="zh-CN" altLang="en-US"/>
              <a:t>将自然语言形式化为有格式的语言</a:t>
            </a:r>
          </a:p>
          <a:p>
            <a:r>
              <a:rPr lang="en-US" altLang="zh-CN"/>
              <a:t>1</a:t>
            </a:r>
            <a:r>
              <a:rPr lang="zh-CN" altLang="en-US"/>
              <a:t>。机器语言：</a:t>
            </a:r>
          </a:p>
          <a:p>
            <a:pPr lvl="2">
              <a:buClr>
                <a:schemeClr val="tx2"/>
              </a:buClr>
              <a:buFontTx/>
              <a:buChar char="•"/>
            </a:pPr>
            <a:r>
              <a:rPr lang="zh-CN" altLang="en-US"/>
              <a:t>计算机能够认识的语言</a:t>
            </a:r>
          </a:p>
          <a:p>
            <a:pPr lvl="2">
              <a:buClr>
                <a:schemeClr val="tx2"/>
              </a:buClr>
              <a:buFontTx/>
              <a:buChar char="•"/>
            </a:pPr>
            <a:r>
              <a:rPr lang="zh-CN" altLang="en-US"/>
              <a:t>计算机的基础是数字电路</a:t>
            </a:r>
          </a:p>
          <a:p>
            <a:pPr lvl="2">
              <a:buClr>
                <a:schemeClr val="tx2"/>
              </a:buClr>
              <a:buFontTx/>
              <a:buChar char="•"/>
            </a:pPr>
            <a:r>
              <a:rPr lang="zh-CN" altLang="en-US"/>
              <a:t>机器语言就是数字电路里的电信号</a:t>
            </a:r>
          </a:p>
          <a:p>
            <a:pPr lvl="2">
              <a:buClr>
                <a:schemeClr val="tx2"/>
              </a:buClr>
              <a:buFontTx/>
              <a:buChar char="•"/>
            </a:pPr>
            <a:r>
              <a:rPr lang="zh-CN" altLang="en-US"/>
              <a:t>将在</a:t>
            </a:r>
            <a:r>
              <a:rPr lang="en-US" altLang="zh-CN"/>
              <a:t>《</a:t>
            </a:r>
            <a:r>
              <a:rPr lang="zh-CN" altLang="en-US"/>
              <a:t>计算机组成</a:t>
            </a:r>
            <a:r>
              <a:rPr lang="en-US" altLang="zh-CN"/>
              <a:t>》</a:t>
            </a:r>
            <a:r>
              <a:rPr lang="zh-CN" altLang="en-US"/>
              <a:t>课程中学习</a:t>
            </a:r>
          </a:p>
          <a:p>
            <a:pPr lvl="2">
              <a:buClr>
                <a:schemeClr val="tx2"/>
              </a:buClr>
              <a:buFontTx/>
              <a:buChar char="•"/>
            </a:pPr>
            <a:r>
              <a:rPr lang="zh-CN" altLang="en-US"/>
              <a:t>都是二进制文件</a:t>
            </a:r>
          </a:p>
          <a:p>
            <a:pPr lvl="2">
              <a:buClr>
                <a:schemeClr val="tx2"/>
              </a:buClr>
              <a:buFontTx/>
              <a:buChar char="•"/>
            </a:pPr>
            <a:r>
              <a:rPr lang="zh-CN" altLang="en-US"/>
              <a:t>一条机器语言成为一条指令</a:t>
            </a:r>
          </a:p>
          <a:p>
            <a:pPr lvl="2">
              <a:buClr>
                <a:schemeClr val="tx2"/>
              </a:buClr>
              <a:buFontTx/>
              <a:buChar char="•"/>
            </a:pPr>
            <a:r>
              <a:rPr lang="zh-CN" altLang="en-US"/>
              <a:t>指令是不可分割的最小功能单元</a:t>
            </a:r>
          </a:p>
          <a:p>
            <a:r>
              <a:rPr lang="zh-CN" altLang="en-US"/>
              <a:t>定义：一种</a:t>
            </a:r>
            <a:r>
              <a:rPr lang="en-US" altLang="zh-CN"/>
              <a:t>CPU</a:t>
            </a:r>
            <a:r>
              <a:rPr lang="zh-CN" altLang="en-US"/>
              <a:t>的指令系统，由该</a:t>
            </a:r>
            <a:r>
              <a:rPr lang="en-US" altLang="zh-CN"/>
              <a:t>CPU</a:t>
            </a:r>
            <a:r>
              <a:rPr lang="zh-CN" altLang="en-US"/>
              <a:t>可识别的</a:t>
            </a:r>
            <a:r>
              <a:rPr lang="en-US" altLang="zh-CN"/>
              <a:t>0</a:t>
            </a:r>
            <a:r>
              <a:rPr lang="zh-CN" altLang="en-US"/>
              <a:t>、</a:t>
            </a:r>
            <a:r>
              <a:rPr lang="en-US" altLang="zh-CN"/>
              <a:t>1</a:t>
            </a:r>
            <a:r>
              <a:rPr lang="zh-CN" altLang="en-US"/>
              <a:t>序列构成的指令码组成。</a:t>
            </a:r>
          </a:p>
          <a:p>
            <a:r>
              <a:rPr lang="zh-CN" altLang="en-US"/>
              <a:t>特点：</a:t>
            </a:r>
          </a:p>
          <a:p>
            <a:r>
              <a:rPr lang="zh-CN" altLang="en-US"/>
              <a:t>执行效率高</a:t>
            </a:r>
          </a:p>
          <a:p>
            <a:r>
              <a:rPr lang="zh-CN" altLang="en-US"/>
              <a:t>不直观，不易查错，生产效率低。</a:t>
            </a:r>
          </a:p>
          <a:p>
            <a:r>
              <a:rPr lang="en-US" altLang="zh-CN"/>
              <a:t>2</a:t>
            </a:r>
            <a:r>
              <a:rPr lang="zh-CN" altLang="en-US"/>
              <a:t>。汇编语言</a:t>
            </a:r>
          </a:p>
          <a:p>
            <a:r>
              <a:rPr lang="zh-CN" altLang="en-US"/>
              <a:t>定义：用助记符号描述的指令系统</a:t>
            </a:r>
          </a:p>
          <a:p>
            <a:r>
              <a:rPr lang="zh-CN" altLang="en-US"/>
              <a:t>特点：</a:t>
            </a:r>
          </a:p>
          <a:p>
            <a:r>
              <a:rPr lang="zh-CN" altLang="en-US"/>
              <a:t>生产效率高，质量好，执行效率较高；</a:t>
            </a:r>
          </a:p>
          <a:p>
            <a:r>
              <a:rPr lang="zh-CN" altLang="en-US"/>
              <a:t>要经汇编程序汇编成目标程序（机器语言）才能执行，依赖硬件。</a:t>
            </a:r>
          </a:p>
          <a:p>
            <a:r>
              <a:rPr lang="zh-CN" altLang="en-US"/>
              <a:t>（面向机器的语言</a:t>
            </a:r>
            <a:r>
              <a:rPr lang="en-US" altLang="zh-CN"/>
              <a:t>----</a:t>
            </a:r>
            <a:r>
              <a:rPr lang="zh-CN" altLang="en-US"/>
              <a:t>依</a:t>
            </a:r>
            <a:r>
              <a:rPr lang="en-US" altLang="zh-CN"/>
              <a:t>CPU</a:t>
            </a:r>
            <a:r>
              <a:rPr lang="zh-CN" altLang="en-US"/>
              <a:t>不同而异）</a:t>
            </a:r>
          </a:p>
          <a:p>
            <a:r>
              <a:rPr lang="en-US" altLang="zh-CN"/>
              <a:t>3</a:t>
            </a:r>
            <a:r>
              <a:rPr lang="zh-CN" altLang="en-US"/>
              <a:t>。高级语言</a:t>
            </a:r>
          </a:p>
          <a:p>
            <a:r>
              <a:rPr lang="zh-CN" altLang="en-US"/>
              <a:t>特点：</a:t>
            </a:r>
          </a:p>
          <a:p>
            <a:r>
              <a:rPr lang="zh-CN" altLang="en-US"/>
              <a:t>编程效率高，不必考虑硬件；</a:t>
            </a:r>
          </a:p>
          <a:p>
            <a:r>
              <a:rPr lang="zh-CN" altLang="en-US"/>
              <a:t>执行效率低，要经编译、连接后才能执行。</a:t>
            </a:r>
          </a:p>
          <a:p>
            <a:r>
              <a:rPr lang="zh-CN" altLang="en-US"/>
              <a:t>面向过程的程序设计语言</a:t>
            </a:r>
          </a:p>
          <a:p>
            <a:r>
              <a:rPr lang="zh-CN" altLang="en-US"/>
              <a:t>认为解题过程是数据被加工的过程</a:t>
            </a:r>
          </a:p>
          <a:p>
            <a:r>
              <a:rPr lang="zh-CN" altLang="en-US"/>
              <a:t>程序</a:t>
            </a:r>
            <a:r>
              <a:rPr lang="en-US" altLang="zh-CN"/>
              <a:t>=</a:t>
            </a:r>
            <a:r>
              <a:rPr lang="zh-CN" altLang="en-US"/>
              <a:t>数据结构</a:t>
            </a:r>
            <a:r>
              <a:rPr lang="en-US" altLang="zh-CN"/>
              <a:t>+</a:t>
            </a:r>
            <a:r>
              <a:rPr lang="zh-CN" altLang="en-US"/>
              <a:t>算法</a:t>
            </a:r>
          </a:p>
          <a:p>
            <a:r>
              <a:rPr lang="en-US" altLang="zh-CN"/>
              <a:t>C</a:t>
            </a:r>
            <a:r>
              <a:rPr lang="zh-CN" altLang="en-US"/>
              <a:t>语言是面向过程的高级语言</a:t>
            </a:r>
          </a:p>
          <a:p>
            <a:r>
              <a:rPr lang="zh-CN" altLang="en-US"/>
              <a:t>           面向对象的程序设计语言</a:t>
            </a:r>
          </a:p>
          <a:p>
            <a:r>
              <a:rPr lang="zh-CN" altLang="en-US"/>
              <a:t>一种结构模拟方法。认为：现实世界由对象组成，对象是数据和方法的封装体；客观世界可以分类，每个对象是类的一个实例。</a:t>
            </a:r>
          </a:p>
          <a:p>
            <a:r>
              <a:rPr lang="zh-CN" altLang="en-US"/>
              <a:t>特点：比面向过程的语言更清晰、易懂，适宜编更大规模程序，是程序设计的主流</a:t>
            </a:r>
          </a:p>
          <a:p>
            <a:endParaRPr lang="zh-CN" altLang="en-US"/>
          </a:p>
          <a:p>
            <a:r>
              <a:rPr lang="zh-CN" altLang="en-US"/>
              <a:t>程序设计语言基本成分：</a:t>
            </a:r>
          </a:p>
          <a:p>
            <a:r>
              <a:rPr lang="zh-CN" altLang="en-US"/>
              <a:t>。数据成分</a:t>
            </a:r>
          </a:p>
          <a:p>
            <a:r>
              <a:rPr lang="zh-CN" altLang="en-US"/>
              <a:t>。运算成分</a:t>
            </a:r>
          </a:p>
          <a:p>
            <a:r>
              <a:rPr lang="zh-CN" altLang="en-US"/>
              <a:t>。控制成分</a:t>
            </a:r>
          </a:p>
          <a:p>
            <a:r>
              <a:rPr lang="zh-CN" altLang="en-US"/>
              <a:t>。传输成分	</a:t>
            </a:r>
          </a:p>
          <a:p>
            <a:endParaRPr lang="zh-CN" altLang="en-US"/>
          </a:p>
          <a:p>
            <a:r>
              <a:rPr lang="zh-CN" altLang="en-US"/>
              <a:t>程序设计语言定义：用于书写计算机程序的语言。通常指实现高级语言。</a:t>
            </a:r>
          </a:p>
          <a:p>
            <a:r>
              <a:rPr lang="zh-CN" altLang="en-US"/>
              <a:t>语言的基础是一组记号与一组规则。</a:t>
            </a:r>
          </a:p>
          <a:p>
            <a:r>
              <a:rPr lang="zh-CN" altLang="en-US"/>
              <a:t>程序设计语言包括：</a:t>
            </a:r>
          </a:p>
          <a:p>
            <a:r>
              <a:rPr lang="zh-CN" altLang="en-US"/>
              <a:t>语法：记号的组合规则</a:t>
            </a:r>
          </a:p>
          <a:p>
            <a:r>
              <a:rPr lang="zh-CN" altLang="en-US"/>
              <a:t>语义：记号的特定意义</a:t>
            </a:r>
          </a:p>
          <a:p>
            <a:r>
              <a:rPr lang="zh-CN" altLang="en-US"/>
              <a:t>语用：程序与使用者的关系</a:t>
            </a:r>
          </a:p>
          <a:p>
            <a:endParaRPr lang="zh-CN" altLang="en-US"/>
          </a:p>
          <a:p>
            <a:endParaRPr lang="en-US" altLang="zh-CN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0F462628-9A4C-4C45-A704-CDC3BED09992}" type="slidenum">
              <a:rPr lang="en-US" altLang="zh-CN"/>
              <a:pPr/>
              <a:t>26</a:t>
            </a:fld>
            <a:endParaRPr lang="en-US" altLang="zh-CN"/>
          </a:p>
        </p:txBody>
      </p:sp>
      <p:sp>
        <p:nvSpPr>
          <p:cNvPr id="109158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109158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</p:spPr>
        <p:txBody>
          <a:bodyPr/>
          <a:lstStyle/>
          <a:p>
            <a:r>
              <a:rPr lang="en-US" altLang="zh-CN"/>
              <a:t>1946</a:t>
            </a:r>
            <a:r>
              <a:rPr lang="zh-CN" altLang="en-US"/>
              <a:t>年，第一台电子计算机问世，应用领域迅速扩大，软硬件飞速发展，程序设计语言相继问世。</a:t>
            </a:r>
          </a:p>
          <a:p>
            <a:r>
              <a:rPr lang="zh-CN" altLang="en-US"/>
              <a:t>程序设计语言</a:t>
            </a:r>
            <a:r>
              <a:rPr lang="en-US" altLang="zh-CN"/>
              <a:t>:</a:t>
            </a:r>
            <a:r>
              <a:rPr lang="zh-CN" altLang="en-US"/>
              <a:t>将自然语言形式化为有格式的语言</a:t>
            </a:r>
          </a:p>
          <a:p>
            <a:r>
              <a:rPr lang="en-US" altLang="zh-CN"/>
              <a:t>1</a:t>
            </a:r>
            <a:r>
              <a:rPr lang="zh-CN" altLang="en-US"/>
              <a:t>。机器语言：</a:t>
            </a:r>
          </a:p>
          <a:p>
            <a:pPr lvl="2">
              <a:buClr>
                <a:schemeClr val="tx2"/>
              </a:buClr>
              <a:buFontTx/>
              <a:buChar char="•"/>
            </a:pPr>
            <a:r>
              <a:rPr lang="zh-CN" altLang="en-US"/>
              <a:t>计算机能够认识的语言</a:t>
            </a:r>
          </a:p>
          <a:p>
            <a:pPr lvl="2">
              <a:buClr>
                <a:schemeClr val="tx2"/>
              </a:buClr>
              <a:buFontTx/>
              <a:buChar char="•"/>
            </a:pPr>
            <a:r>
              <a:rPr lang="zh-CN" altLang="en-US"/>
              <a:t>计算机的基础是数字电路</a:t>
            </a:r>
          </a:p>
          <a:p>
            <a:pPr lvl="2">
              <a:buClr>
                <a:schemeClr val="tx2"/>
              </a:buClr>
              <a:buFontTx/>
              <a:buChar char="•"/>
            </a:pPr>
            <a:r>
              <a:rPr lang="zh-CN" altLang="en-US"/>
              <a:t>机器语言就是数字电路里的电信号</a:t>
            </a:r>
          </a:p>
          <a:p>
            <a:pPr lvl="2">
              <a:buClr>
                <a:schemeClr val="tx2"/>
              </a:buClr>
              <a:buFontTx/>
              <a:buChar char="•"/>
            </a:pPr>
            <a:r>
              <a:rPr lang="zh-CN" altLang="en-US"/>
              <a:t>将在</a:t>
            </a:r>
            <a:r>
              <a:rPr lang="en-US" altLang="zh-CN"/>
              <a:t>《</a:t>
            </a:r>
            <a:r>
              <a:rPr lang="zh-CN" altLang="en-US"/>
              <a:t>计算机组成</a:t>
            </a:r>
            <a:r>
              <a:rPr lang="en-US" altLang="zh-CN"/>
              <a:t>》</a:t>
            </a:r>
            <a:r>
              <a:rPr lang="zh-CN" altLang="en-US"/>
              <a:t>课程中学习</a:t>
            </a:r>
          </a:p>
          <a:p>
            <a:pPr lvl="2">
              <a:buClr>
                <a:schemeClr val="tx2"/>
              </a:buClr>
              <a:buFontTx/>
              <a:buChar char="•"/>
            </a:pPr>
            <a:r>
              <a:rPr lang="zh-CN" altLang="en-US"/>
              <a:t>都是二进制文件</a:t>
            </a:r>
          </a:p>
          <a:p>
            <a:pPr lvl="2">
              <a:buClr>
                <a:schemeClr val="tx2"/>
              </a:buClr>
              <a:buFontTx/>
              <a:buChar char="•"/>
            </a:pPr>
            <a:r>
              <a:rPr lang="zh-CN" altLang="en-US"/>
              <a:t>一条机器语言成为一条指令</a:t>
            </a:r>
          </a:p>
          <a:p>
            <a:pPr lvl="2">
              <a:buClr>
                <a:schemeClr val="tx2"/>
              </a:buClr>
              <a:buFontTx/>
              <a:buChar char="•"/>
            </a:pPr>
            <a:r>
              <a:rPr lang="zh-CN" altLang="en-US"/>
              <a:t>指令是不可分割的最小功能单元</a:t>
            </a:r>
          </a:p>
          <a:p>
            <a:r>
              <a:rPr lang="zh-CN" altLang="en-US"/>
              <a:t>定义：一种</a:t>
            </a:r>
            <a:r>
              <a:rPr lang="en-US" altLang="zh-CN"/>
              <a:t>CPU</a:t>
            </a:r>
            <a:r>
              <a:rPr lang="zh-CN" altLang="en-US"/>
              <a:t>的指令系统，由该</a:t>
            </a:r>
            <a:r>
              <a:rPr lang="en-US" altLang="zh-CN"/>
              <a:t>CPU</a:t>
            </a:r>
            <a:r>
              <a:rPr lang="zh-CN" altLang="en-US"/>
              <a:t>可识别的</a:t>
            </a:r>
            <a:r>
              <a:rPr lang="en-US" altLang="zh-CN"/>
              <a:t>0</a:t>
            </a:r>
            <a:r>
              <a:rPr lang="zh-CN" altLang="en-US"/>
              <a:t>、</a:t>
            </a:r>
            <a:r>
              <a:rPr lang="en-US" altLang="zh-CN"/>
              <a:t>1</a:t>
            </a:r>
            <a:r>
              <a:rPr lang="zh-CN" altLang="en-US"/>
              <a:t>序列构成的指令码组成。</a:t>
            </a:r>
          </a:p>
          <a:p>
            <a:r>
              <a:rPr lang="zh-CN" altLang="en-US"/>
              <a:t>特点：</a:t>
            </a:r>
          </a:p>
          <a:p>
            <a:r>
              <a:rPr lang="zh-CN" altLang="en-US"/>
              <a:t>执行效率高</a:t>
            </a:r>
          </a:p>
          <a:p>
            <a:r>
              <a:rPr lang="zh-CN" altLang="en-US"/>
              <a:t>不直观，不易查错，生产效率低。</a:t>
            </a:r>
          </a:p>
          <a:p>
            <a:r>
              <a:rPr lang="en-US" altLang="zh-CN"/>
              <a:t>2</a:t>
            </a:r>
            <a:r>
              <a:rPr lang="zh-CN" altLang="en-US"/>
              <a:t>。汇编语言</a:t>
            </a:r>
          </a:p>
          <a:p>
            <a:r>
              <a:rPr lang="zh-CN" altLang="en-US"/>
              <a:t>定义：用助记符号描述的指令系统</a:t>
            </a:r>
          </a:p>
          <a:p>
            <a:r>
              <a:rPr lang="zh-CN" altLang="en-US"/>
              <a:t>特点：</a:t>
            </a:r>
          </a:p>
          <a:p>
            <a:r>
              <a:rPr lang="zh-CN" altLang="en-US"/>
              <a:t>生产效率高，质量好，执行效率较高；</a:t>
            </a:r>
          </a:p>
          <a:p>
            <a:r>
              <a:rPr lang="zh-CN" altLang="en-US"/>
              <a:t>要经汇编程序汇编成目标程序（机器语言）才能执行，依赖硬件。</a:t>
            </a:r>
          </a:p>
          <a:p>
            <a:r>
              <a:rPr lang="zh-CN" altLang="en-US"/>
              <a:t>（面向机器的语言</a:t>
            </a:r>
            <a:r>
              <a:rPr lang="en-US" altLang="zh-CN"/>
              <a:t>----</a:t>
            </a:r>
            <a:r>
              <a:rPr lang="zh-CN" altLang="en-US"/>
              <a:t>依</a:t>
            </a:r>
            <a:r>
              <a:rPr lang="en-US" altLang="zh-CN"/>
              <a:t>CPU</a:t>
            </a:r>
            <a:r>
              <a:rPr lang="zh-CN" altLang="en-US"/>
              <a:t>不同而异）</a:t>
            </a:r>
          </a:p>
          <a:p>
            <a:r>
              <a:rPr lang="en-US" altLang="zh-CN"/>
              <a:t>3</a:t>
            </a:r>
            <a:r>
              <a:rPr lang="zh-CN" altLang="en-US"/>
              <a:t>。高级语言</a:t>
            </a:r>
          </a:p>
          <a:p>
            <a:r>
              <a:rPr lang="zh-CN" altLang="en-US"/>
              <a:t>特点：</a:t>
            </a:r>
          </a:p>
          <a:p>
            <a:r>
              <a:rPr lang="zh-CN" altLang="en-US"/>
              <a:t>编程效率高，不必考虑硬件；</a:t>
            </a:r>
          </a:p>
          <a:p>
            <a:r>
              <a:rPr lang="zh-CN" altLang="en-US"/>
              <a:t>执行效率低，要经编译、连接后才能执行。</a:t>
            </a:r>
          </a:p>
          <a:p>
            <a:r>
              <a:rPr lang="zh-CN" altLang="en-US"/>
              <a:t>面向过程的程序设计语言</a:t>
            </a:r>
          </a:p>
          <a:p>
            <a:r>
              <a:rPr lang="zh-CN" altLang="en-US"/>
              <a:t>认为解题过程是数据被加工的过程</a:t>
            </a:r>
          </a:p>
          <a:p>
            <a:r>
              <a:rPr lang="zh-CN" altLang="en-US"/>
              <a:t>程序</a:t>
            </a:r>
            <a:r>
              <a:rPr lang="en-US" altLang="zh-CN"/>
              <a:t>=</a:t>
            </a:r>
            <a:r>
              <a:rPr lang="zh-CN" altLang="en-US"/>
              <a:t>数据结构</a:t>
            </a:r>
            <a:r>
              <a:rPr lang="en-US" altLang="zh-CN"/>
              <a:t>+</a:t>
            </a:r>
            <a:r>
              <a:rPr lang="zh-CN" altLang="en-US"/>
              <a:t>算法</a:t>
            </a:r>
          </a:p>
          <a:p>
            <a:r>
              <a:rPr lang="en-US" altLang="zh-CN"/>
              <a:t>C</a:t>
            </a:r>
            <a:r>
              <a:rPr lang="zh-CN" altLang="en-US"/>
              <a:t>语言是面向过程的高级语言</a:t>
            </a:r>
          </a:p>
          <a:p>
            <a:r>
              <a:rPr lang="zh-CN" altLang="en-US"/>
              <a:t>           面向对象的程序设计语言</a:t>
            </a:r>
          </a:p>
          <a:p>
            <a:r>
              <a:rPr lang="zh-CN" altLang="en-US"/>
              <a:t>一种结构模拟方法。认为：现实世界由对象组成，对象是数据和方法的封装体；客观世界可以分类，每个对象是类的一个实例。</a:t>
            </a:r>
          </a:p>
          <a:p>
            <a:r>
              <a:rPr lang="zh-CN" altLang="en-US"/>
              <a:t>特点：比面向过程的语言更清晰、易懂，适宜编更大规模程序，是程序设计的主流</a:t>
            </a:r>
          </a:p>
          <a:p>
            <a:endParaRPr lang="zh-CN" altLang="en-US"/>
          </a:p>
          <a:p>
            <a:r>
              <a:rPr lang="zh-CN" altLang="en-US"/>
              <a:t>程序设计语言基本成分：</a:t>
            </a:r>
          </a:p>
          <a:p>
            <a:r>
              <a:rPr lang="zh-CN" altLang="en-US"/>
              <a:t>。数据成分</a:t>
            </a:r>
          </a:p>
          <a:p>
            <a:r>
              <a:rPr lang="zh-CN" altLang="en-US"/>
              <a:t>。运算成分</a:t>
            </a:r>
          </a:p>
          <a:p>
            <a:r>
              <a:rPr lang="zh-CN" altLang="en-US"/>
              <a:t>。控制成分</a:t>
            </a:r>
          </a:p>
          <a:p>
            <a:r>
              <a:rPr lang="zh-CN" altLang="en-US"/>
              <a:t>。传输成分	</a:t>
            </a:r>
          </a:p>
          <a:p>
            <a:endParaRPr lang="zh-CN" altLang="en-US"/>
          </a:p>
          <a:p>
            <a:r>
              <a:rPr lang="zh-CN" altLang="en-US"/>
              <a:t>程序设计语言定义：用于书写计算机程序的语言。通常指实现高级语言。</a:t>
            </a:r>
          </a:p>
          <a:p>
            <a:r>
              <a:rPr lang="zh-CN" altLang="en-US"/>
              <a:t>语言的基础是一组记号与一组规则。</a:t>
            </a:r>
          </a:p>
          <a:p>
            <a:r>
              <a:rPr lang="zh-CN" altLang="en-US"/>
              <a:t>程序设计语言包括：</a:t>
            </a:r>
          </a:p>
          <a:p>
            <a:r>
              <a:rPr lang="zh-CN" altLang="en-US"/>
              <a:t>语法：记号的组合规则</a:t>
            </a:r>
          </a:p>
          <a:p>
            <a:r>
              <a:rPr lang="zh-CN" altLang="en-US"/>
              <a:t>语义：记号的特定意义</a:t>
            </a:r>
          </a:p>
          <a:p>
            <a:r>
              <a:rPr lang="zh-CN" altLang="en-US"/>
              <a:t>语用：程序与使用者的关系</a:t>
            </a:r>
          </a:p>
          <a:p>
            <a:endParaRPr lang="zh-CN" altLang="en-US"/>
          </a:p>
          <a:p>
            <a:endParaRPr lang="en-US" altLang="zh-CN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010EB4B8-61CF-425A-9949-84E5D63012C6}" type="slidenum">
              <a:rPr lang="en-US" altLang="zh-CN"/>
              <a:pPr/>
              <a:t>27</a:t>
            </a:fld>
            <a:endParaRPr lang="en-US" altLang="zh-CN"/>
          </a:p>
        </p:txBody>
      </p:sp>
      <p:sp>
        <p:nvSpPr>
          <p:cNvPr id="109363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109363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</p:spPr>
        <p:txBody>
          <a:bodyPr/>
          <a:lstStyle/>
          <a:p>
            <a:r>
              <a:rPr lang="en-US" altLang="zh-CN"/>
              <a:t>1946</a:t>
            </a:r>
            <a:r>
              <a:rPr lang="zh-CN" altLang="en-US"/>
              <a:t>年，第一台电子计算机问世，应用领域迅速扩大，软硬件飞速发展，程序设计语言相继问世。</a:t>
            </a:r>
          </a:p>
          <a:p>
            <a:r>
              <a:rPr lang="zh-CN" altLang="en-US"/>
              <a:t>程序设计语言</a:t>
            </a:r>
            <a:r>
              <a:rPr lang="en-US" altLang="zh-CN"/>
              <a:t>:</a:t>
            </a:r>
            <a:r>
              <a:rPr lang="zh-CN" altLang="en-US"/>
              <a:t>将自然语言形式化为有格式的语言</a:t>
            </a:r>
          </a:p>
          <a:p>
            <a:r>
              <a:rPr lang="en-US" altLang="zh-CN"/>
              <a:t>1</a:t>
            </a:r>
            <a:r>
              <a:rPr lang="zh-CN" altLang="en-US"/>
              <a:t>。机器语言：</a:t>
            </a:r>
          </a:p>
          <a:p>
            <a:pPr lvl="2">
              <a:buClr>
                <a:schemeClr val="tx2"/>
              </a:buClr>
              <a:buFontTx/>
              <a:buChar char="•"/>
            </a:pPr>
            <a:r>
              <a:rPr lang="zh-CN" altLang="en-US"/>
              <a:t>计算机能够认识的语言</a:t>
            </a:r>
          </a:p>
          <a:p>
            <a:pPr lvl="2">
              <a:buClr>
                <a:schemeClr val="tx2"/>
              </a:buClr>
              <a:buFontTx/>
              <a:buChar char="•"/>
            </a:pPr>
            <a:r>
              <a:rPr lang="zh-CN" altLang="en-US"/>
              <a:t>计算机的基础是数字电路</a:t>
            </a:r>
          </a:p>
          <a:p>
            <a:pPr lvl="2">
              <a:buClr>
                <a:schemeClr val="tx2"/>
              </a:buClr>
              <a:buFontTx/>
              <a:buChar char="•"/>
            </a:pPr>
            <a:r>
              <a:rPr lang="zh-CN" altLang="en-US"/>
              <a:t>机器语言就是数字电路里的电信号</a:t>
            </a:r>
          </a:p>
          <a:p>
            <a:pPr lvl="2">
              <a:buClr>
                <a:schemeClr val="tx2"/>
              </a:buClr>
              <a:buFontTx/>
              <a:buChar char="•"/>
            </a:pPr>
            <a:r>
              <a:rPr lang="zh-CN" altLang="en-US"/>
              <a:t>将在</a:t>
            </a:r>
            <a:r>
              <a:rPr lang="en-US" altLang="zh-CN"/>
              <a:t>《</a:t>
            </a:r>
            <a:r>
              <a:rPr lang="zh-CN" altLang="en-US"/>
              <a:t>计算机组成</a:t>
            </a:r>
            <a:r>
              <a:rPr lang="en-US" altLang="zh-CN"/>
              <a:t>》</a:t>
            </a:r>
            <a:r>
              <a:rPr lang="zh-CN" altLang="en-US"/>
              <a:t>课程中学习</a:t>
            </a:r>
          </a:p>
          <a:p>
            <a:pPr lvl="2">
              <a:buClr>
                <a:schemeClr val="tx2"/>
              </a:buClr>
              <a:buFontTx/>
              <a:buChar char="•"/>
            </a:pPr>
            <a:r>
              <a:rPr lang="zh-CN" altLang="en-US"/>
              <a:t>都是二进制文件</a:t>
            </a:r>
          </a:p>
          <a:p>
            <a:pPr lvl="2">
              <a:buClr>
                <a:schemeClr val="tx2"/>
              </a:buClr>
              <a:buFontTx/>
              <a:buChar char="•"/>
            </a:pPr>
            <a:r>
              <a:rPr lang="zh-CN" altLang="en-US"/>
              <a:t>一条机器语言成为一条指令</a:t>
            </a:r>
          </a:p>
          <a:p>
            <a:pPr lvl="2">
              <a:buClr>
                <a:schemeClr val="tx2"/>
              </a:buClr>
              <a:buFontTx/>
              <a:buChar char="•"/>
            </a:pPr>
            <a:r>
              <a:rPr lang="zh-CN" altLang="en-US"/>
              <a:t>指令是不可分割的最小功能单元</a:t>
            </a:r>
          </a:p>
          <a:p>
            <a:r>
              <a:rPr lang="zh-CN" altLang="en-US"/>
              <a:t>定义：一种</a:t>
            </a:r>
            <a:r>
              <a:rPr lang="en-US" altLang="zh-CN"/>
              <a:t>CPU</a:t>
            </a:r>
            <a:r>
              <a:rPr lang="zh-CN" altLang="en-US"/>
              <a:t>的指令系统，由该</a:t>
            </a:r>
            <a:r>
              <a:rPr lang="en-US" altLang="zh-CN"/>
              <a:t>CPU</a:t>
            </a:r>
            <a:r>
              <a:rPr lang="zh-CN" altLang="en-US"/>
              <a:t>可识别的</a:t>
            </a:r>
            <a:r>
              <a:rPr lang="en-US" altLang="zh-CN"/>
              <a:t>0</a:t>
            </a:r>
            <a:r>
              <a:rPr lang="zh-CN" altLang="en-US"/>
              <a:t>、</a:t>
            </a:r>
            <a:r>
              <a:rPr lang="en-US" altLang="zh-CN"/>
              <a:t>1</a:t>
            </a:r>
            <a:r>
              <a:rPr lang="zh-CN" altLang="en-US"/>
              <a:t>序列构成的指令码组成。</a:t>
            </a:r>
          </a:p>
          <a:p>
            <a:r>
              <a:rPr lang="zh-CN" altLang="en-US"/>
              <a:t>特点：</a:t>
            </a:r>
          </a:p>
          <a:p>
            <a:r>
              <a:rPr lang="zh-CN" altLang="en-US"/>
              <a:t>执行效率高</a:t>
            </a:r>
          </a:p>
          <a:p>
            <a:r>
              <a:rPr lang="zh-CN" altLang="en-US"/>
              <a:t>不直观，不易查错，生产效率低。</a:t>
            </a:r>
          </a:p>
          <a:p>
            <a:r>
              <a:rPr lang="en-US" altLang="zh-CN"/>
              <a:t>2</a:t>
            </a:r>
            <a:r>
              <a:rPr lang="zh-CN" altLang="en-US"/>
              <a:t>。汇编语言</a:t>
            </a:r>
          </a:p>
          <a:p>
            <a:r>
              <a:rPr lang="zh-CN" altLang="en-US"/>
              <a:t>定义：用助记符号描述的指令系统</a:t>
            </a:r>
          </a:p>
          <a:p>
            <a:r>
              <a:rPr lang="zh-CN" altLang="en-US"/>
              <a:t>特点：</a:t>
            </a:r>
          </a:p>
          <a:p>
            <a:r>
              <a:rPr lang="zh-CN" altLang="en-US"/>
              <a:t>生产效率高，质量好，执行效率较高；</a:t>
            </a:r>
          </a:p>
          <a:p>
            <a:r>
              <a:rPr lang="zh-CN" altLang="en-US"/>
              <a:t>要经汇编程序汇编成目标程序（机器语言）才能执行，依赖硬件。</a:t>
            </a:r>
          </a:p>
          <a:p>
            <a:r>
              <a:rPr lang="zh-CN" altLang="en-US"/>
              <a:t>（面向机器的语言</a:t>
            </a:r>
            <a:r>
              <a:rPr lang="en-US" altLang="zh-CN"/>
              <a:t>----</a:t>
            </a:r>
            <a:r>
              <a:rPr lang="zh-CN" altLang="en-US"/>
              <a:t>依</a:t>
            </a:r>
            <a:r>
              <a:rPr lang="en-US" altLang="zh-CN"/>
              <a:t>CPU</a:t>
            </a:r>
            <a:r>
              <a:rPr lang="zh-CN" altLang="en-US"/>
              <a:t>不同而异）</a:t>
            </a:r>
          </a:p>
          <a:p>
            <a:r>
              <a:rPr lang="en-US" altLang="zh-CN"/>
              <a:t>3</a:t>
            </a:r>
            <a:r>
              <a:rPr lang="zh-CN" altLang="en-US"/>
              <a:t>。高级语言</a:t>
            </a:r>
          </a:p>
          <a:p>
            <a:r>
              <a:rPr lang="zh-CN" altLang="en-US"/>
              <a:t>特点：</a:t>
            </a:r>
          </a:p>
          <a:p>
            <a:r>
              <a:rPr lang="zh-CN" altLang="en-US"/>
              <a:t>编程效率高，不必考虑硬件；</a:t>
            </a:r>
          </a:p>
          <a:p>
            <a:r>
              <a:rPr lang="zh-CN" altLang="en-US"/>
              <a:t>执行效率低，要经编译、连接后才能执行。</a:t>
            </a:r>
          </a:p>
          <a:p>
            <a:r>
              <a:rPr lang="zh-CN" altLang="en-US"/>
              <a:t>面向过程的程序设计语言</a:t>
            </a:r>
          </a:p>
          <a:p>
            <a:r>
              <a:rPr lang="zh-CN" altLang="en-US"/>
              <a:t>认为解题过程是数据被加工的过程</a:t>
            </a:r>
          </a:p>
          <a:p>
            <a:r>
              <a:rPr lang="zh-CN" altLang="en-US"/>
              <a:t>程序</a:t>
            </a:r>
            <a:r>
              <a:rPr lang="en-US" altLang="zh-CN"/>
              <a:t>=</a:t>
            </a:r>
            <a:r>
              <a:rPr lang="zh-CN" altLang="en-US"/>
              <a:t>数据结构</a:t>
            </a:r>
            <a:r>
              <a:rPr lang="en-US" altLang="zh-CN"/>
              <a:t>+</a:t>
            </a:r>
            <a:r>
              <a:rPr lang="zh-CN" altLang="en-US"/>
              <a:t>算法</a:t>
            </a:r>
          </a:p>
          <a:p>
            <a:r>
              <a:rPr lang="en-US" altLang="zh-CN"/>
              <a:t>C</a:t>
            </a:r>
            <a:r>
              <a:rPr lang="zh-CN" altLang="en-US"/>
              <a:t>语言是面向过程的高级语言</a:t>
            </a:r>
          </a:p>
          <a:p>
            <a:r>
              <a:rPr lang="zh-CN" altLang="en-US"/>
              <a:t>           面向对象的程序设计语言</a:t>
            </a:r>
          </a:p>
          <a:p>
            <a:r>
              <a:rPr lang="zh-CN" altLang="en-US"/>
              <a:t>一种结构模拟方法。认为：现实世界由对象组成，对象是数据和方法的封装体；客观世界可以分类，每个对象是类的一个实例。</a:t>
            </a:r>
          </a:p>
          <a:p>
            <a:r>
              <a:rPr lang="zh-CN" altLang="en-US"/>
              <a:t>特点：比面向过程的语言更清晰、易懂，适宜编更大规模程序，是程序设计的主流</a:t>
            </a:r>
          </a:p>
          <a:p>
            <a:endParaRPr lang="zh-CN" altLang="en-US"/>
          </a:p>
          <a:p>
            <a:r>
              <a:rPr lang="zh-CN" altLang="en-US"/>
              <a:t>程序设计语言基本成分：</a:t>
            </a:r>
          </a:p>
          <a:p>
            <a:r>
              <a:rPr lang="zh-CN" altLang="en-US"/>
              <a:t>。数据成分</a:t>
            </a:r>
          </a:p>
          <a:p>
            <a:r>
              <a:rPr lang="zh-CN" altLang="en-US"/>
              <a:t>。运算成分</a:t>
            </a:r>
          </a:p>
          <a:p>
            <a:r>
              <a:rPr lang="zh-CN" altLang="en-US"/>
              <a:t>。控制成分</a:t>
            </a:r>
          </a:p>
          <a:p>
            <a:r>
              <a:rPr lang="zh-CN" altLang="en-US"/>
              <a:t>。传输成分	</a:t>
            </a:r>
          </a:p>
          <a:p>
            <a:endParaRPr lang="zh-CN" altLang="en-US"/>
          </a:p>
          <a:p>
            <a:r>
              <a:rPr lang="zh-CN" altLang="en-US"/>
              <a:t>程序设计语言定义：用于书写计算机程序的语言。通常指实现高级语言。</a:t>
            </a:r>
          </a:p>
          <a:p>
            <a:r>
              <a:rPr lang="zh-CN" altLang="en-US"/>
              <a:t>语言的基础是一组记号与一组规则。</a:t>
            </a:r>
          </a:p>
          <a:p>
            <a:r>
              <a:rPr lang="zh-CN" altLang="en-US"/>
              <a:t>程序设计语言包括：</a:t>
            </a:r>
          </a:p>
          <a:p>
            <a:r>
              <a:rPr lang="zh-CN" altLang="en-US"/>
              <a:t>语法：记号的组合规则</a:t>
            </a:r>
          </a:p>
          <a:p>
            <a:r>
              <a:rPr lang="zh-CN" altLang="en-US"/>
              <a:t>语义：记号的特定意义</a:t>
            </a:r>
          </a:p>
          <a:p>
            <a:r>
              <a:rPr lang="zh-CN" altLang="en-US"/>
              <a:t>语用：程序与使用者的关系</a:t>
            </a:r>
          </a:p>
          <a:p>
            <a:endParaRPr lang="zh-CN" altLang="en-US"/>
          </a:p>
          <a:p>
            <a:endParaRPr lang="en-US" altLang="zh-CN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E9EE0FB0-3197-4B69-9EB2-DCB54B014C40}" type="slidenum">
              <a:rPr lang="en-US" altLang="zh-CN"/>
              <a:pPr/>
              <a:t>28</a:t>
            </a:fld>
            <a:endParaRPr lang="en-US" altLang="zh-CN"/>
          </a:p>
        </p:txBody>
      </p:sp>
      <p:sp>
        <p:nvSpPr>
          <p:cNvPr id="109568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109568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</p:spPr>
        <p:txBody>
          <a:bodyPr/>
          <a:lstStyle/>
          <a:p>
            <a:r>
              <a:rPr lang="en-US" altLang="zh-CN"/>
              <a:t>1946</a:t>
            </a:r>
            <a:r>
              <a:rPr lang="zh-CN" altLang="en-US"/>
              <a:t>年，第一台电子计算机问世，应用领域迅速扩大，软硬件飞速发展，程序设计语言相继问世。</a:t>
            </a:r>
          </a:p>
          <a:p>
            <a:r>
              <a:rPr lang="zh-CN" altLang="en-US"/>
              <a:t>程序设计语言</a:t>
            </a:r>
            <a:r>
              <a:rPr lang="en-US" altLang="zh-CN"/>
              <a:t>:</a:t>
            </a:r>
            <a:r>
              <a:rPr lang="zh-CN" altLang="en-US"/>
              <a:t>将自然语言形式化为有格式的语言</a:t>
            </a:r>
          </a:p>
          <a:p>
            <a:r>
              <a:rPr lang="en-US" altLang="zh-CN"/>
              <a:t>1</a:t>
            </a:r>
            <a:r>
              <a:rPr lang="zh-CN" altLang="en-US"/>
              <a:t>。机器语言：</a:t>
            </a:r>
          </a:p>
          <a:p>
            <a:pPr lvl="2">
              <a:buClr>
                <a:schemeClr val="tx2"/>
              </a:buClr>
              <a:buFontTx/>
              <a:buChar char="•"/>
            </a:pPr>
            <a:r>
              <a:rPr lang="zh-CN" altLang="en-US"/>
              <a:t>计算机能够认识的语言</a:t>
            </a:r>
          </a:p>
          <a:p>
            <a:pPr lvl="2">
              <a:buClr>
                <a:schemeClr val="tx2"/>
              </a:buClr>
              <a:buFontTx/>
              <a:buChar char="•"/>
            </a:pPr>
            <a:r>
              <a:rPr lang="zh-CN" altLang="en-US"/>
              <a:t>计算机的基础是数字电路</a:t>
            </a:r>
          </a:p>
          <a:p>
            <a:pPr lvl="2">
              <a:buClr>
                <a:schemeClr val="tx2"/>
              </a:buClr>
              <a:buFontTx/>
              <a:buChar char="•"/>
            </a:pPr>
            <a:r>
              <a:rPr lang="zh-CN" altLang="en-US"/>
              <a:t>机器语言就是数字电路里的电信号</a:t>
            </a:r>
          </a:p>
          <a:p>
            <a:pPr lvl="2">
              <a:buClr>
                <a:schemeClr val="tx2"/>
              </a:buClr>
              <a:buFontTx/>
              <a:buChar char="•"/>
            </a:pPr>
            <a:r>
              <a:rPr lang="zh-CN" altLang="en-US"/>
              <a:t>将在</a:t>
            </a:r>
            <a:r>
              <a:rPr lang="en-US" altLang="zh-CN"/>
              <a:t>《</a:t>
            </a:r>
            <a:r>
              <a:rPr lang="zh-CN" altLang="en-US"/>
              <a:t>计算机组成</a:t>
            </a:r>
            <a:r>
              <a:rPr lang="en-US" altLang="zh-CN"/>
              <a:t>》</a:t>
            </a:r>
            <a:r>
              <a:rPr lang="zh-CN" altLang="en-US"/>
              <a:t>课程中学习</a:t>
            </a:r>
          </a:p>
          <a:p>
            <a:pPr lvl="2">
              <a:buClr>
                <a:schemeClr val="tx2"/>
              </a:buClr>
              <a:buFontTx/>
              <a:buChar char="•"/>
            </a:pPr>
            <a:r>
              <a:rPr lang="zh-CN" altLang="en-US"/>
              <a:t>都是二进制文件</a:t>
            </a:r>
          </a:p>
          <a:p>
            <a:pPr lvl="2">
              <a:buClr>
                <a:schemeClr val="tx2"/>
              </a:buClr>
              <a:buFontTx/>
              <a:buChar char="•"/>
            </a:pPr>
            <a:r>
              <a:rPr lang="zh-CN" altLang="en-US"/>
              <a:t>一条机器语言成为一条指令</a:t>
            </a:r>
          </a:p>
          <a:p>
            <a:pPr lvl="2">
              <a:buClr>
                <a:schemeClr val="tx2"/>
              </a:buClr>
              <a:buFontTx/>
              <a:buChar char="•"/>
            </a:pPr>
            <a:r>
              <a:rPr lang="zh-CN" altLang="en-US"/>
              <a:t>指令是不可分割的最小功能单元</a:t>
            </a:r>
          </a:p>
          <a:p>
            <a:r>
              <a:rPr lang="zh-CN" altLang="en-US"/>
              <a:t>定义：一种</a:t>
            </a:r>
            <a:r>
              <a:rPr lang="en-US" altLang="zh-CN"/>
              <a:t>CPU</a:t>
            </a:r>
            <a:r>
              <a:rPr lang="zh-CN" altLang="en-US"/>
              <a:t>的指令系统，由该</a:t>
            </a:r>
            <a:r>
              <a:rPr lang="en-US" altLang="zh-CN"/>
              <a:t>CPU</a:t>
            </a:r>
            <a:r>
              <a:rPr lang="zh-CN" altLang="en-US"/>
              <a:t>可识别的</a:t>
            </a:r>
            <a:r>
              <a:rPr lang="en-US" altLang="zh-CN"/>
              <a:t>0</a:t>
            </a:r>
            <a:r>
              <a:rPr lang="zh-CN" altLang="en-US"/>
              <a:t>、</a:t>
            </a:r>
            <a:r>
              <a:rPr lang="en-US" altLang="zh-CN"/>
              <a:t>1</a:t>
            </a:r>
            <a:r>
              <a:rPr lang="zh-CN" altLang="en-US"/>
              <a:t>序列构成的指令码组成。</a:t>
            </a:r>
          </a:p>
          <a:p>
            <a:r>
              <a:rPr lang="zh-CN" altLang="en-US"/>
              <a:t>特点：</a:t>
            </a:r>
          </a:p>
          <a:p>
            <a:r>
              <a:rPr lang="zh-CN" altLang="en-US"/>
              <a:t>执行效率高</a:t>
            </a:r>
          </a:p>
          <a:p>
            <a:r>
              <a:rPr lang="zh-CN" altLang="en-US"/>
              <a:t>不直观，不易查错，生产效率低。</a:t>
            </a:r>
          </a:p>
          <a:p>
            <a:r>
              <a:rPr lang="en-US" altLang="zh-CN"/>
              <a:t>2</a:t>
            </a:r>
            <a:r>
              <a:rPr lang="zh-CN" altLang="en-US"/>
              <a:t>。汇编语言</a:t>
            </a:r>
          </a:p>
          <a:p>
            <a:r>
              <a:rPr lang="zh-CN" altLang="en-US"/>
              <a:t>定义：用助记符号描述的指令系统</a:t>
            </a:r>
          </a:p>
          <a:p>
            <a:r>
              <a:rPr lang="zh-CN" altLang="en-US"/>
              <a:t>特点：</a:t>
            </a:r>
          </a:p>
          <a:p>
            <a:r>
              <a:rPr lang="zh-CN" altLang="en-US"/>
              <a:t>生产效率高，质量好，执行效率较高；</a:t>
            </a:r>
          </a:p>
          <a:p>
            <a:r>
              <a:rPr lang="zh-CN" altLang="en-US"/>
              <a:t>要经汇编程序汇编成目标程序（机器语言）才能执行，依赖硬件。</a:t>
            </a:r>
          </a:p>
          <a:p>
            <a:r>
              <a:rPr lang="zh-CN" altLang="en-US"/>
              <a:t>（面向机器的语言</a:t>
            </a:r>
            <a:r>
              <a:rPr lang="en-US" altLang="zh-CN"/>
              <a:t>----</a:t>
            </a:r>
            <a:r>
              <a:rPr lang="zh-CN" altLang="en-US"/>
              <a:t>依</a:t>
            </a:r>
            <a:r>
              <a:rPr lang="en-US" altLang="zh-CN"/>
              <a:t>CPU</a:t>
            </a:r>
            <a:r>
              <a:rPr lang="zh-CN" altLang="en-US"/>
              <a:t>不同而异）</a:t>
            </a:r>
          </a:p>
          <a:p>
            <a:r>
              <a:rPr lang="en-US" altLang="zh-CN"/>
              <a:t>3</a:t>
            </a:r>
            <a:r>
              <a:rPr lang="zh-CN" altLang="en-US"/>
              <a:t>。高级语言</a:t>
            </a:r>
          </a:p>
          <a:p>
            <a:r>
              <a:rPr lang="zh-CN" altLang="en-US"/>
              <a:t>特点：</a:t>
            </a:r>
          </a:p>
          <a:p>
            <a:r>
              <a:rPr lang="zh-CN" altLang="en-US"/>
              <a:t>编程效率高，不必考虑硬件；</a:t>
            </a:r>
          </a:p>
          <a:p>
            <a:r>
              <a:rPr lang="zh-CN" altLang="en-US"/>
              <a:t>执行效率低，要经编译、连接后才能执行。</a:t>
            </a:r>
          </a:p>
          <a:p>
            <a:r>
              <a:rPr lang="zh-CN" altLang="en-US"/>
              <a:t>面向过程的程序设计语言</a:t>
            </a:r>
          </a:p>
          <a:p>
            <a:r>
              <a:rPr lang="zh-CN" altLang="en-US"/>
              <a:t>认为解题过程是数据被加工的过程</a:t>
            </a:r>
          </a:p>
          <a:p>
            <a:r>
              <a:rPr lang="zh-CN" altLang="en-US"/>
              <a:t>程序</a:t>
            </a:r>
            <a:r>
              <a:rPr lang="en-US" altLang="zh-CN"/>
              <a:t>=</a:t>
            </a:r>
            <a:r>
              <a:rPr lang="zh-CN" altLang="en-US"/>
              <a:t>数据结构</a:t>
            </a:r>
            <a:r>
              <a:rPr lang="en-US" altLang="zh-CN"/>
              <a:t>+</a:t>
            </a:r>
            <a:r>
              <a:rPr lang="zh-CN" altLang="en-US"/>
              <a:t>算法</a:t>
            </a:r>
          </a:p>
          <a:p>
            <a:r>
              <a:rPr lang="en-US" altLang="zh-CN"/>
              <a:t>C</a:t>
            </a:r>
            <a:r>
              <a:rPr lang="zh-CN" altLang="en-US"/>
              <a:t>语言是面向过程的高级语言</a:t>
            </a:r>
          </a:p>
          <a:p>
            <a:r>
              <a:rPr lang="zh-CN" altLang="en-US"/>
              <a:t>           面向对象的程序设计语言</a:t>
            </a:r>
          </a:p>
          <a:p>
            <a:r>
              <a:rPr lang="zh-CN" altLang="en-US"/>
              <a:t>一种结构模拟方法。认为：现实世界由对象组成，对象是数据和方法的封装体；客观世界可以分类，每个对象是类的一个实例。</a:t>
            </a:r>
          </a:p>
          <a:p>
            <a:r>
              <a:rPr lang="zh-CN" altLang="en-US"/>
              <a:t>特点：比面向过程的语言更清晰、易懂，适宜编更大规模程序，是程序设计的主流</a:t>
            </a:r>
          </a:p>
          <a:p>
            <a:endParaRPr lang="zh-CN" altLang="en-US"/>
          </a:p>
          <a:p>
            <a:r>
              <a:rPr lang="zh-CN" altLang="en-US"/>
              <a:t>程序设计语言基本成分：</a:t>
            </a:r>
          </a:p>
          <a:p>
            <a:r>
              <a:rPr lang="zh-CN" altLang="en-US"/>
              <a:t>。数据成分</a:t>
            </a:r>
          </a:p>
          <a:p>
            <a:r>
              <a:rPr lang="zh-CN" altLang="en-US"/>
              <a:t>。运算成分</a:t>
            </a:r>
          </a:p>
          <a:p>
            <a:r>
              <a:rPr lang="zh-CN" altLang="en-US"/>
              <a:t>。控制成分</a:t>
            </a:r>
          </a:p>
          <a:p>
            <a:r>
              <a:rPr lang="zh-CN" altLang="en-US"/>
              <a:t>。传输成分	</a:t>
            </a:r>
          </a:p>
          <a:p>
            <a:endParaRPr lang="zh-CN" altLang="en-US"/>
          </a:p>
          <a:p>
            <a:r>
              <a:rPr lang="zh-CN" altLang="en-US"/>
              <a:t>程序设计语言定义：用于书写计算机程序的语言。通常指实现高级语言。</a:t>
            </a:r>
          </a:p>
          <a:p>
            <a:r>
              <a:rPr lang="zh-CN" altLang="en-US"/>
              <a:t>语言的基础是一组记号与一组规则。</a:t>
            </a:r>
          </a:p>
          <a:p>
            <a:r>
              <a:rPr lang="zh-CN" altLang="en-US"/>
              <a:t>程序设计语言包括：</a:t>
            </a:r>
          </a:p>
          <a:p>
            <a:r>
              <a:rPr lang="zh-CN" altLang="en-US"/>
              <a:t>语法：记号的组合规则</a:t>
            </a:r>
          </a:p>
          <a:p>
            <a:r>
              <a:rPr lang="zh-CN" altLang="en-US"/>
              <a:t>语义：记号的特定意义</a:t>
            </a:r>
          </a:p>
          <a:p>
            <a:r>
              <a:rPr lang="zh-CN" altLang="en-US"/>
              <a:t>语用：程序与使用者的关系</a:t>
            </a:r>
          </a:p>
          <a:p>
            <a:endParaRPr lang="zh-CN" altLang="en-US"/>
          </a:p>
          <a:p>
            <a:endParaRPr lang="en-US" altLang="zh-CN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C12D6067-7093-478D-909E-D6C79091850E}" type="slidenum">
              <a:rPr lang="en-US" altLang="zh-CN"/>
              <a:pPr/>
              <a:t>29</a:t>
            </a:fld>
            <a:endParaRPr lang="en-US" altLang="zh-CN"/>
          </a:p>
        </p:txBody>
      </p:sp>
      <p:sp>
        <p:nvSpPr>
          <p:cNvPr id="109773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109773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</p:spPr>
        <p:txBody>
          <a:bodyPr/>
          <a:lstStyle/>
          <a:p>
            <a:r>
              <a:rPr lang="en-US" altLang="zh-CN"/>
              <a:t>1946</a:t>
            </a:r>
            <a:r>
              <a:rPr lang="zh-CN" altLang="en-US"/>
              <a:t>年，第一台电子计算机问世，应用领域迅速扩大，软硬件飞速发展，程序设计语言相继问世。</a:t>
            </a:r>
          </a:p>
          <a:p>
            <a:r>
              <a:rPr lang="zh-CN" altLang="en-US"/>
              <a:t>程序设计语言</a:t>
            </a:r>
            <a:r>
              <a:rPr lang="en-US" altLang="zh-CN"/>
              <a:t>:</a:t>
            </a:r>
            <a:r>
              <a:rPr lang="zh-CN" altLang="en-US"/>
              <a:t>将自然语言形式化为有格式的语言</a:t>
            </a:r>
          </a:p>
          <a:p>
            <a:r>
              <a:rPr lang="en-US" altLang="zh-CN"/>
              <a:t>1</a:t>
            </a:r>
            <a:r>
              <a:rPr lang="zh-CN" altLang="en-US"/>
              <a:t>。机器语言：</a:t>
            </a:r>
          </a:p>
          <a:p>
            <a:pPr lvl="2">
              <a:buClr>
                <a:schemeClr val="tx2"/>
              </a:buClr>
              <a:buFontTx/>
              <a:buChar char="•"/>
            </a:pPr>
            <a:r>
              <a:rPr lang="zh-CN" altLang="en-US"/>
              <a:t>计算机能够认识的语言</a:t>
            </a:r>
          </a:p>
          <a:p>
            <a:pPr lvl="2">
              <a:buClr>
                <a:schemeClr val="tx2"/>
              </a:buClr>
              <a:buFontTx/>
              <a:buChar char="•"/>
            </a:pPr>
            <a:r>
              <a:rPr lang="zh-CN" altLang="en-US"/>
              <a:t>计算机的基础是数字电路</a:t>
            </a:r>
          </a:p>
          <a:p>
            <a:pPr lvl="2">
              <a:buClr>
                <a:schemeClr val="tx2"/>
              </a:buClr>
              <a:buFontTx/>
              <a:buChar char="•"/>
            </a:pPr>
            <a:r>
              <a:rPr lang="zh-CN" altLang="en-US"/>
              <a:t>机器语言就是数字电路里的电信号</a:t>
            </a:r>
          </a:p>
          <a:p>
            <a:pPr lvl="2">
              <a:buClr>
                <a:schemeClr val="tx2"/>
              </a:buClr>
              <a:buFontTx/>
              <a:buChar char="•"/>
            </a:pPr>
            <a:r>
              <a:rPr lang="zh-CN" altLang="en-US"/>
              <a:t>将在</a:t>
            </a:r>
            <a:r>
              <a:rPr lang="en-US" altLang="zh-CN"/>
              <a:t>《</a:t>
            </a:r>
            <a:r>
              <a:rPr lang="zh-CN" altLang="en-US"/>
              <a:t>计算机组成</a:t>
            </a:r>
            <a:r>
              <a:rPr lang="en-US" altLang="zh-CN"/>
              <a:t>》</a:t>
            </a:r>
            <a:r>
              <a:rPr lang="zh-CN" altLang="en-US"/>
              <a:t>课程中学习</a:t>
            </a:r>
          </a:p>
          <a:p>
            <a:pPr lvl="2">
              <a:buClr>
                <a:schemeClr val="tx2"/>
              </a:buClr>
              <a:buFontTx/>
              <a:buChar char="•"/>
            </a:pPr>
            <a:r>
              <a:rPr lang="zh-CN" altLang="en-US"/>
              <a:t>都是二进制文件</a:t>
            </a:r>
          </a:p>
          <a:p>
            <a:pPr lvl="2">
              <a:buClr>
                <a:schemeClr val="tx2"/>
              </a:buClr>
              <a:buFontTx/>
              <a:buChar char="•"/>
            </a:pPr>
            <a:r>
              <a:rPr lang="zh-CN" altLang="en-US"/>
              <a:t>一条机器语言成为一条指令</a:t>
            </a:r>
          </a:p>
          <a:p>
            <a:pPr lvl="2">
              <a:buClr>
                <a:schemeClr val="tx2"/>
              </a:buClr>
              <a:buFontTx/>
              <a:buChar char="•"/>
            </a:pPr>
            <a:r>
              <a:rPr lang="zh-CN" altLang="en-US"/>
              <a:t>指令是不可分割的最小功能单元</a:t>
            </a:r>
          </a:p>
          <a:p>
            <a:r>
              <a:rPr lang="zh-CN" altLang="en-US"/>
              <a:t>定义：一种</a:t>
            </a:r>
            <a:r>
              <a:rPr lang="en-US" altLang="zh-CN"/>
              <a:t>CPU</a:t>
            </a:r>
            <a:r>
              <a:rPr lang="zh-CN" altLang="en-US"/>
              <a:t>的指令系统，由该</a:t>
            </a:r>
            <a:r>
              <a:rPr lang="en-US" altLang="zh-CN"/>
              <a:t>CPU</a:t>
            </a:r>
            <a:r>
              <a:rPr lang="zh-CN" altLang="en-US"/>
              <a:t>可识别的</a:t>
            </a:r>
            <a:r>
              <a:rPr lang="en-US" altLang="zh-CN"/>
              <a:t>0</a:t>
            </a:r>
            <a:r>
              <a:rPr lang="zh-CN" altLang="en-US"/>
              <a:t>、</a:t>
            </a:r>
            <a:r>
              <a:rPr lang="en-US" altLang="zh-CN"/>
              <a:t>1</a:t>
            </a:r>
            <a:r>
              <a:rPr lang="zh-CN" altLang="en-US"/>
              <a:t>序列构成的指令码组成。</a:t>
            </a:r>
          </a:p>
          <a:p>
            <a:r>
              <a:rPr lang="zh-CN" altLang="en-US"/>
              <a:t>特点：</a:t>
            </a:r>
          </a:p>
          <a:p>
            <a:r>
              <a:rPr lang="zh-CN" altLang="en-US"/>
              <a:t>执行效率高</a:t>
            </a:r>
          </a:p>
          <a:p>
            <a:r>
              <a:rPr lang="zh-CN" altLang="en-US"/>
              <a:t>不直观，不易查错，生产效率低。</a:t>
            </a:r>
          </a:p>
          <a:p>
            <a:r>
              <a:rPr lang="en-US" altLang="zh-CN"/>
              <a:t>2</a:t>
            </a:r>
            <a:r>
              <a:rPr lang="zh-CN" altLang="en-US"/>
              <a:t>。汇编语言</a:t>
            </a:r>
          </a:p>
          <a:p>
            <a:r>
              <a:rPr lang="zh-CN" altLang="en-US"/>
              <a:t>定义：用助记符号描述的指令系统</a:t>
            </a:r>
          </a:p>
          <a:p>
            <a:r>
              <a:rPr lang="zh-CN" altLang="en-US"/>
              <a:t>特点：</a:t>
            </a:r>
          </a:p>
          <a:p>
            <a:r>
              <a:rPr lang="zh-CN" altLang="en-US"/>
              <a:t>生产效率高，质量好，执行效率较高；</a:t>
            </a:r>
          </a:p>
          <a:p>
            <a:r>
              <a:rPr lang="zh-CN" altLang="en-US"/>
              <a:t>要经汇编程序汇编成目标程序（机器语言）才能执行，依赖硬件。</a:t>
            </a:r>
          </a:p>
          <a:p>
            <a:r>
              <a:rPr lang="zh-CN" altLang="en-US"/>
              <a:t>（面向机器的语言</a:t>
            </a:r>
            <a:r>
              <a:rPr lang="en-US" altLang="zh-CN"/>
              <a:t>----</a:t>
            </a:r>
            <a:r>
              <a:rPr lang="zh-CN" altLang="en-US"/>
              <a:t>依</a:t>
            </a:r>
            <a:r>
              <a:rPr lang="en-US" altLang="zh-CN"/>
              <a:t>CPU</a:t>
            </a:r>
            <a:r>
              <a:rPr lang="zh-CN" altLang="en-US"/>
              <a:t>不同而异）</a:t>
            </a:r>
          </a:p>
          <a:p>
            <a:r>
              <a:rPr lang="en-US" altLang="zh-CN"/>
              <a:t>3</a:t>
            </a:r>
            <a:r>
              <a:rPr lang="zh-CN" altLang="en-US"/>
              <a:t>。高级语言</a:t>
            </a:r>
          </a:p>
          <a:p>
            <a:r>
              <a:rPr lang="zh-CN" altLang="en-US"/>
              <a:t>特点：</a:t>
            </a:r>
          </a:p>
          <a:p>
            <a:r>
              <a:rPr lang="zh-CN" altLang="en-US"/>
              <a:t>编程效率高，不必考虑硬件；</a:t>
            </a:r>
          </a:p>
          <a:p>
            <a:r>
              <a:rPr lang="zh-CN" altLang="en-US"/>
              <a:t>执行效率低，要经编译、连接后才能执行。</a:t>
            </a:r>
          </a:p>
          <a:p>
            <a:r>
              <a:rPr lang="zh-CN" altLang="en-US"/>
              <a:t>面向过程的程序设计语言</a:t>
            </a:r>
          </a:p>
          <a:p>
            <a:r>
              <a:rPr lang="zh-CN" altLang="en-US"/>
              <a:t>认为解题过程是数据被加工的过程</a:t>
            </a:r>
          </a:p>
          <a:p>
            <a:r>
              <a:rPr lang="zh-CN" altLang="en-US"/>
              <a:t>程序</a:t>
            </a:r>
            <a:r>
              <a:rPr lang="en-US" altLang="zh-CN"/>
              <a:t>=</a:t>
            </a:r>
            <a:r>
              <a:rPr lang="zh-CN" altLang="en-US"/>
              <a:t>数据结构</a:t>
            </a:r>
            <a:r>
              <a:rPr lang="en-US" altLang="zh-CN"/>
              <a:t>+</a:t>
            </a:r>
            <a:r>
              <a:rPr lang="zh-CN" altLang="en-US"/>
              <a:t>算法</a:t>
            </a:r>
          </a:p>
          <a:p>
            <a:r>
              <a:rPr lang="en-US" altLang="zh-CN"/>
              <a:t>C</a:t>
            </a:r>
            <a:r>
              <a:rPr lang="zh-CN" altLang="en-US"/>
              <a:t>语言是面向过程的高级语言</a:t>
            </a:r>
          </a:p>
          <a:p>
            <a:r>
              <a:rPr lang="zh-CN" altLang="en-US"/>
              <a:t>           面向对象的程序设计语言</a:t>
            </a:r>
          </a:p>
          <a:p>
            <a:r>
              <a:rPr lang="zh-CN" altLang="en-US"/>
              <a:t>一种结构模拟方法。认为：现实世界由对象组成，对象是数据和方法的封装体；客观世界可以分类，每个对象是类的一个实例。</a:t>
            </a:r>
          </a:p>
          <a:p>
            <a:r>
              <a:rPr lang="zh-CN" altLang="en-US"/>
              <a:t>特点：比面向过程的语言更清晰、易懂，适宜编更大规模程序，是程序设计的主流</a:t>
            </a:r>
          </a:p>
          <a:p>
            <a:endParaRPr lang="zh-CN" altLang="en-US"/>
          </a:p>
          <a:p>
            <a:r>
              <a:rPr lang="zh-CN" altLang="en-US"/>
              <a:t>程序设计语言基本成分：</a:t>
            </a:r>
          </a:p>
          <a:p>
            <a:r>
              <a:rPr lang="zh-CN" altLang="en-US"/>
              <a:t>。数据成分</a:t>
            </a:r>
          </a:p>
          <a:p>
            <a:r>
              <a:rPr lang="zh-CN" altLang="en-US"/>
              <a:t>。运算成分</a:t>
            </a:r>
          </a:p>
          <a:p>
            <a:r>
              <a:rPr lang="zh-CN" altLang="en-US"/>
              <a:t>。控制成分</a:t>
            </a:r>
          </a:p>
          <a:p>
            <a:r>
              <a:rPr lang="zh-CN" altLang="en-US"/>
              <a:t>。传输成分	</a:t>
            </a:r>
          </a:p>
          <a:p>
            <a:endParaRPr lang="zh-CN" altLang="en-US"/>
          </a:p>
          <a:p>
            <a:r>
              <a:rPr lang="zh-CN" altLang="en-US"/>
              <a:t>程序设计语言定义：用于书写计算机程序的语言。通常指实现高级语言。</a:t>
            </a:r>
          </a:p>
          <a:p>
            <a:r>
              <a:rPr lang="zh-CN" altLang="en-US"/>
              <a:t>语言的基础是一组记号与一组规则。</a:t>
            </a:r>
          </a:p>
          <a:p>
            <a:r>
              <a:rPr lang="zh-CN" altLang="en-US"/>
              <a:t>程序设计语言包括：</a:t>
            </a:r>
          </a:p>
          <a:p>
            <a:r>
              <a:rPr lang="zh-CN" altLang="en-US"/>
              <a:t>语法：记号的组合规则</a:t>
            </a:r>
          </a:p>
          <a:p>
            <a:r>
              <a:rPr lang="zh-CN" altLang="en-US"/>
              <a:t>语义：记号的特定意义</a:t>
            </a:r>
          </a:p>
          <a:p>
            <a:r>
              <a:rPr lang="zh-CN" altLang="en-US"/>
              <a:t>语用：程序与使用者的关系</a:t>
            </a:r>
          </a:p>
          <a:p>
            <a:endParaRPr lang="zh-CN" altLang="en-US"/>
          </a:p>
          <a:p>
            <a:endParaRPr lang="en-US" altLang="zh-CN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D7EF52C4-3541-4F00-B229-14050545D8D0}" type="slidenum">
              <a:rPr lang="en-US" altLang="zh-CN"/>
              <a:pPr/>
              <a:t>30</a:t>
            </a:fld>
            <a:endParaRPr lang="en-US" altLang="zh-CN"/>
          </a:p>
        </p:txBody>
      </p:sp>
      <p:sp>
        <p:nvSpPr>
          <p:cNvPr id="109977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109977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</p:spPr>
        <p:txBody>
          <a:bodyPr/>
          <a:lstStyle/>
          <a:p>
            <a:r>
              <a:rPr lang="en-US" altLang="zh-CN"/>
              <a:t>1946</a:t>
            </a:r>
            <a:r>
              <a:rPr lang="zh-CN" altLang="en-US"/>
              <a:t>年，第一台电子计算机问世，应用领域迅速扩大，软硬件飞速发展，程序设计语言相继问世。</a:t>
            </a:r>
          </a:p>
          <a:p>
            <a:r>
              <a:rPr lang="zh-CN" altLang="en-US"/>
              <a:t>程序设计语言</a:t>
            </a:r>
            <a:r>
              <a:rPr lang="en-US" altLang="zh-CN"/>
              <a:t>:</a:t>
            </a:r>
            <a:r>
              <a:rPr lang="zh-CN" altLang="en-US"/>
              <a:t>将自然语言形式化为有格式的语言</a:t>
            </a:r>
          </a:p>
          <a:p>
            <a:r>
              <a:rPr lang="en-US" altLang="zh-CN"/>
              <a:t>1</a:t>
            </a:r>
            <a:r>
              <a:rPr lang="zh-CN" altLang="en-US"/>
              <a:t>。机器语言：</a:t>
            </a:r>
          </a:p>
          <a:p>
            <a:pPr lvl="2">
              <a:buClr>
                <a:schemeClr val="tx2"/>
              </a:buClr>
              <a:buFontTx/>
              <a:buChar char="•"/>
            </a:pPr>
            <a:r>
              <a:rPr lang="zh-CN" altLang="en-US"/>
              <a:t>计算机能够认识的语言</a:t>
            </a:r>
          </a:p>
          <a:p>
            <a:pPr lvl="2">
              <a:buClr>
                <a:schemeClr val="tx2"/>
              </a:buClr>
              <a:buFontTx/>
              <a:buChar char="•"/>
            </a:pPr>
            <a:r>
              <a:rPr lang="zh-CN" altLang="en-US"/>
              <a:t>计算机的基础是数字电路</a:t>
            </a:r>
          </a:p>
          <a:p>
            <a:pPr lvl="2">
              <a:buClr>
                <a:schemeClr val="tx2"/>
              </a:buClr>
              <a:buFontTx/>
              <a:buChar char="•"/>
            </a:pPr>
            <a:r>
              <a:rPr lang="zh-CN" altLang="en-US"/>
              <a:t>机器语言就是数字电路里的电信号</a:t>
            </a:r>
          </a:p>
          <a:p>
            <a:pPr lvl="2">
              <a:buClr>
                <a:schemeClr val="tx2"/>
              </a:buClr>
              <a:buFontTx/>
              <a:buChar char="•"/>
            </a:pPr>
            <a:r>
              <a:rPr lang="zh-CN" altLang="en-US"/>
              <a:t>将在</a:t>
            </a:r>
            <a:r>
              <a:rPr lang="en-US" altLang="zh-CN"/>
              <a:t>《</a:t>
            </a:r>
            <a:r>
              <a:rPr lang="zh-CN" altLang="en-US"/>
              <a:t>计算机组成</a:t>
            </a:r>
            <a:r>
              <a:rPr lang="en-US" altLang="zh-CN"/>
              <a:t>》</a:t>
            </a:r>
            <a:r>
              <a:rPr lang="zh-CN" altLang="en-US"/>
              <a:t>课程中学习</a:t>
            </a:r>
          </a:p>
          <a:p>
            <a:pPr lvl="2">
              <a:buClr>
                <a:schemeClr val="tx2"/>
              </a:buClr>
              <a:buFontTx/>
              <a:buChar char="•"/>
            </a:pPr>
            <a:r>
              <a:rPr lang="zh-CN" altLang="en-US"/>
              <a:t>都是二进制文件</a:t>
            </a:r>
          </a:p>
          <a:p>
            <a:pPr lvl="2">
              <a:buClr>
                <a:schemeClr val="tx2"/>
              </a:buClr>
              <a:buFontTx/>
              <a:buChar char="•"/>
            </a:pPr>
            <a:r>
              <a:rPr lang="zh-CN" altLang="en-US"/>
              <a:t>一条机器语言成为一条指令</a:t>
            </a:r>
          </a:p>
          <a:p>
            <a:pPr lvl="2">
              <a:buClr>
                <a:schemeClr val="tx2"/>
              </a:buClr>
              <a:buFontTx/>
              <a:buChar char="•"/>
            </a:pPr>
            <a:r>
              <a:rPr lang="zh-CN" altLang="en-US"/>
              <a:t>指令是不可分割的最小功能单元</a:t>
            </a:r>
          </a:p>
          <a:p>
            <a:r>
              <a:rPr lang="zh-CN" altLang="en-US"/>
              <a:t>定义：一种</a:t>
            </a:r>
            <a:r>
              <a:rPr lang="en-US" altLang="zh-CN"/>
              <a:t>CPU</a:t>
            </a:r>
            <a:r>
              <a:rPr lang="zh-CN" altLang="en-US"/>
              <a:t>的指令系统，由该</a:t>
            </a:r>
            <a:r>
              <a:rPr lang="en-US" altLang="zh-CN"/>
              <a:t>CPU</a:t>
            </a:r>
            <a:r>
              <a:rPr lang="zh-CN" altLang="en-US"/>
              <a:t>可识别的</a:t>
            </a:r>
            <a:r>
              <a:rPr lang="en-US" altLang="zh-CN"/>
              <a:t>0</a:t>
            </a:r>
            <a:r>
              <a:rPr lang="zh-CN" altLang="en-US"/>
              <a:t>、</a:t>
            </a:r>
            <a:r>
              <a:rPr lang="en-US" altLang="zh-CN"/>
              <a:t>1</a:t>
            </a:r>
            <a:r>
              <a:rPr lang="zh-CN" altLang="en-US"/>
              <a:t>序列构成的指令码组成。</a:t>
            </a:r>
          </a:p>
          <a:p>
            <a:r>
              <a:rPr lang="zh-CN" altLang="en-US"/>
              <a:t>特点：</a:t>
            </a:r>
          </a:p>
          <a:p>
            <a:r>
              <a:rPr lang="zh-CN" altLang="en-US"/>
              <a:t>执行效率高</a:t>
            </a:r>
          </a:p>
          <a:p>
            <a:r>
              <a:rPr lang="zh-CN" altLang="en-US"/>
              <a:t>不直观，不易查错，生产效率低。</a:t>
            </a:r>
          </a:p>
          <a:p>
            <a:r>
              <a:rPr lang="en-US" altLang="zh-CN"/>
              <a:t>2</a:t>
            </a:r>
            <a:r>
              <a:rPr lang="zh-CN" altLang="en-US"/>
              <a:t>。汇编语言</a:t>
            </a:r>
          </a:p>
          <a:p>
            <a:r>
              <a:rPr lang="zh-CN" altLang="en-US"/>
              <a:t>定义：用助记符号描述的指令系统</a:t>
            </a:r>
          </a:p>
          <a:p>
            <a:r>
              <a:rPr lang="zh-CN" altLang="en-US"/>
              <a:t>特点：</a:t>
            </a:r>
          </a:p>
          <a:p>
            <a:r>
              <a:rPr lang="zh-CN" altLang="en-US"/>
              <a:t>生产效率高，质量好，执行效率较高；</a:t>
            </a:r>
          </a:p>
          <a:p>
            <a:r>
              <a:rPr lang="zh-CN" altLang="en-US"/>
              <a:t>要经汇编程序汇编成目标程序（机器语言）才能执行，依赖硬件。</a:t>
            </a:r>
          </a:p>
          <a:p>
            <a:r>
              <a:rPr lang="zh-CN" altLang="en-US"/>
              <a:t>（面向机器的语言</a:t>
            </a:r>
            <a:r>
              <a:rPr lang="en-US" altLang="zh-CN"/>
              <a:t>----</a:t>
            </a:r>
            <a:r>
              <a:rPr lang="zh-CN" altLang="en-US"/>
              <a:t>依</a:t>
            </a:r>
            <a:r>
              <a:rPr lang="en-US" altLang="zh-CN"/>
              <a:t>CPU</a:t>
            </a:r>
            <a:r>
              <a:rPr lang="zh-CN" altLang="en-US"/>
              <a:t>不同而异）</a:t>
            </a:r>
          </a:p>
          <a:p>
            <a:r>
              <a:rPr lang="en-US" altLang="zh-CN"/>
              <a:t>3</a:t>
            </a:r>
            <a:r>
              <a:rPr lang="zh-CN" altLang="en-US"/>
              <a:t>。高级语言</a:t>
            </a:r>
          </a:p>
          <a:p>
            <a:r>
              <a:rPr lang="zh-CN" altLang="en-US"/>
              <a:t>特点：</a:t>
            </a:r>
          </a:p>
          <a:p>
            <a:r>
              <a:rPr lang="zh-CN" altLang="en-US"/>
              <a:t>编程效率高，不必考虑硬件；</a:t>
            </a:r>
          </a:p>
          <a:p>
            <a:r>
              <a:rPr lang="zh-CN" altLang="en-US"/>
              <a:t>执行效率低，要经编译、连接后才能执行。</a:t>
            </a:r>
          </a:p>
          <a:p>
            <a:r>
              <a:rPr lang="zh-CN" altLang="en-US"/>
              <a:t>面向过程的程序设计语言</a:t>
            </a:r>
          </a:p>
          <a:p>
            <a:r>
              <a:rPr lang="zh-CN" altLang="en-US"/>
              <a:t>认为解题过程是数据被加工的过程</a:t>
            </a:r>
          </a:p>
          <a:p>
            <a:r>
              <a:rPr lang="zh-CN" altLang="en-US"/>
              <a:t>程序</a:t>
            </a:r>
            <a:r>
              <a:rPr lang="en-US" altLang="zh-CN"/>
              <a:t>=</a:t>
            </a:r>
            <a:r>
              <a:rPr lang="zh-CN" altLang="en-US"/>
              <a:t>数据结构</a:t>
            </a:r>
            <a:r>
              <a:rPr lang="en-US" altLang="zh-CN"/>
              <a:t>+</a:t>
            </a:r>
            <a:r>
              <a:rPr lang="zh-CN" altLang="en-US"/>
              <a:t>算法</a:t>
            </a:r>
          </a:p>
          <a:p>
            <a:r>
              <a:rPr lang="en-US" altLang="zh-CN"/>
              <a:t>C</a:t>
            </a:r>
            <a:r>
              <a:rPr lang="zh-CN" altLang="en-US"/>
              <a:t>语言是面向过程的高级语言</a:t>
            </a:r>
          </a:p>
          <a:p>
            <a:r>
              <a:rPr lang="zh-CN" altLang="en-US"/>
              <a:t>           面向对象的程序设计语言</a:t>
            </a:r>
          </a:p>
          <a:p>
            <a:r>
              <a:rPr lang="zh-CN" altLang="en-US"/>
              <a:t>一种结构模拟方法。认为：现实世界由对象组成，对象是数据和方法的封装体；客观世界可以分类，每个对象是类的一个实例。</a:t>
            </a:r>
          </a:p>
          <a:p>
            <a:r>
              <a:rPr lang="zh-CN" altLang="en-US"/>
              <a:t>特点：比面向过程的语言更清晰、易懂，适宜编更大规模程序，是程序设计的主流</a:t>
            </a:r>
          </a:p>
          <a:p>
            <a:endParaRPr lang="zh-CN" altLang="en-US"/>
          </a:p>
          <a:p>
            <a:r>
              <a:rPr lang="zh-CN" altLang="en-US"/>
              <a:t>程序设计语言基本成分：</a:t>
            </a:r>
          </a:p>
          <a:p>
            <a:r>
              <a:rPr lang="zh-CN" altLang="en-US"/>
              <a:t>。数据成分</a:t>
            </a:r>
          </a:p>
          <a:p>
            <a:r>
              <a:rPr lang="zh-CN" altLang="en-US"/>
              <a:t>。运算成分</a:t>
            </a:r>
          </a:p>
          <a:p>
            <a:r>
              <a:rPr lang="zh-CN" altLang="en-US"/>
              <a:t>。控制成分</a:t>
            </a:r>
          </a:p>
          <a:p>
            <a:r>
              <a:rPr lang="zh-CN" altLang="en-US"/>
              <a:t>。传输成分	</a:t>
            </a:r>
          </a:p>
          <a:p>
            <a:endParaRPr lang="zh-CN" altLang="en-US"/>
          </a:p>
          <a:p>
            <a:r>
              <a:rPr lang="zh-CN" altLang="en-US"/>
              <a:t>程序设计语言定义：用于书写计算机程序的语言。通常指实现高级语言。</a:t>
            </a:r>
          </a:p>
          <a:p>
            <a:r>
              <a:rPr lang="zh-CN" altLang="en-US"/>
              <a:t>语言的基础是一组记号与一组规则。</a:t>
            </a:r>
          </a:p>
          <a:p>
            <a:r>
              <a:rPr lang="zh-CN" altLang="en-US"/>
              <a:t>程序设计语言包括：</a:t>
            </a:r>
          </a:p>
          <a:p>
            <a:r>
              <a:rPr lang="zh-CN" altLang="en-US"/>
              <a:t>语法：记号的组合规则</a:t>
            </a:r>
          </a:p>
          <a:p>
            <a:r>
              <a:rPr lang="zh-CN" altLang="en-US"/>
              <a:t>语义：记号的特定意义</a:t>
            </a:r>
          </a:p>
          <a:p>
            <a:r>
              <a:rPr lang="zh-CN" altLang="en-US"/>
              <a:t>语用：程序与使用者的关系</a:t>
            </a:r>
          </a:p>
          <a:p>
            <a:endParaRPr lang="zh-CN" altLang="en-US"/>
          </a:p>
          <a:p>
            <a:endParaRPr lang="en-US" altLang="zh-CN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D20831A4-BAB5-4B05-9309-F91C1CE56FF4}" type="slidenum">
              <a:rPr lang="en-US" altLang="zh-CN"/>
              <a:pPr/>
              <a:t>31</a:t>
            </a:fld>
            <a:endParaRPr lang="en-US" altLang="zh-CN"/>
          </a:p>
        </p:txBody>
      </p:sp>
      <p:sp>
        <p:nvSpPr>
          <p:cNvPr id="110182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110182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</p:spPr>
        <p:txBody>
          <a:bodyPr/>
          <a:lstStyle/>
          <a:p>
            <a:r>
              <a:rPr lang="en-US" altLang="zh-CN"/>
              <a:t>1946</a:t>
            </a:r>
            <a:r>
              <a:rPr lang="zh-CN" altLang="en-US"/>
              <a:t>年，第一台电子计算机问世，应用领域迅速扩大，软硬件飞速发展，程序设计语言相继问世。</a:t>
            </a:r>
          </a:p>
          <a:p>
            <a:r>
              <a:rPr lang="zh-CN" altLang="en-US"/>
              <a:t>程序设计语言</a:t>
            </a:r>
            <a:r>
              <a:rPr lang="en-US" altLang="zh-CN"/>
              <a:t>:</a:t>
            </a:r>
            <a:r>
              <a:rPr lang="zh-CN" altLang="en-US"/>
              <a:t>将自然语言形式化为有格式的语言</a:t>
            </a:r>
          </a:p>
          <a:p>
            <a:r>
              <a:rPr lang="en-US" altLang="zh-CN"/>
              <a:t>1</a:t>
            </a:r>
            <a:r>
              <a:rPr lang="zh-CN" altLang="en-US"/>
              <a:t>。机器语言：</a:t>
            </a:r>
          </a:p>
          <a:p>
            <a:pPr lvl="2">
              <a:buClr>
                <a:schemeClr val="tx2"/>
              </a:buClr>
              <a:buFontTx/>
              <a:buChar char="•"/>
            </a:pPr>
            <a:r>
              <a:rPr lang="zh-CN" altLang="en-US"/>
              <a:t>计算机能够认识的语言</a:t>
            </a:r>
          </a:p>
          <a:p>
            <a:pPr lvl="2">
              <a:buClr>
                <a:schemeClr val="tx2"/>
              </a:buClr>
              <a:buFontTx/>
              <a:buChar char="•"/>
            </a:pPr>
            <a:r>
              <a:rPr lang="zh-CN" altLang="en-US"/>
              <a:t>计算机的基础是数字电路</a:t>
            </a:r>
          </a:p>
          <a:p>
            <a:pPr lvl="2">
              <a:buClr>
                <a:schemeClr val="tx2"/>
              </a:buClr>
              <a:buFontTx/>
              <a:buChar char="•"/>
            </a:pPr>
            <a:r>
              <a:rPr lang="zh-CN" altLang="en-US"/>
              <a:t>机器语言就是数字电路里的电信号</a:t>
            </a:r>
          </a:p>
          <a:p>
            <a:pPr lvl="2">
              <a:buClr>
                <a:schemeClr val="tx2"/>
              </a:buClr>
              <a:buFontTx/>
              <a:buChar char="•"/>
            </a:pPr>
            <a:r>
              <a:rPr lang="zh-CN" altLang="en-US"/>
              <a:t>将在</a:t>
            </a:r>
            <a:r>
              <a:rPr lang="en-US" altLang="zh-CN"/>
              <a:t>《</a:t>
            </a:r>
            <a:r>
              <a:rPr lang="zh-CN" altLang="en-US"/>
              <a:t>计算机组成</a:t>
            </a:r>
            <a:r>
              <a:rPr lang="en-US" altLang="zh-CN"/>
              <a:t>》</a:t>
            </a:r>
            <a:r>
              <a:rPr lang="zh-CN" altLang="en-US"/>
              <a:t>课程中学习</a:t>
            </a:r>
          </a:p>
          <a:p>
            <a:pPr lvl="2">
              <a:buClr>
                <a:schemeClr val="tx2"/>
              </a:buClr>
              <a:buFontTx/>
              <a:buChar char="•"/>
            </a:pPr>
            <a:r>
              <a:rPr lang="zh-CN" altLang="en-US"/>
              <a:t>都是二进制文件</a:t>
            </a:r>
          </a:p>
          <a:p>
            <a:pPr lvl="2">
              <a:buClr>
                <a:schemeClr val="tx2"/>
              </a:buClr>
              <a:buFontTx/>
              <a:buChar char="•"/>
            </a:pPr>
            <a:r>
              <a:rPr lang="zh-CN" altLang="en-US"/>
              <a:t>一条机器语言成为一条指令</a:t>
            </a:r>
          </a:p>
          <a:p>
            <a:pPr lvl="2">
              <a:buClr>
                <a:schemeClr val="tx2"/>
              </a:buClr>
              <a:buFontTx/>
              <a:buChar char="•"/>
            </a:pPr>
            <a:r>
              <a:rPr lang="zh-CN" altLang="en-US"/>
              <a:t>指令是不可分割的最小功能单元</a:t>
            </a:r>
          </a:p>
          <a:p>
            <a:r>
              <a:rPr lang="zh-CN" altLang="en-US"/>
              <a:t>定义：一种</a:t>
            </a:r>
            <a:r>
              <a:rPr lang="en-US" altLang="zh-CN"/>
              <a:t>CPU</a:t>
            </a:r>
            <a:r>
              <a:rPr lang="zh-CN" altLang="en-US"/>
              <a:t>的指令系统，由该</a:t>
            </a:r>
            <a:r>
              <a:rPr lang="en-US" altLang="zh-CN"/>
              <a:t>CPU</a:t>
            </a:r>
            <a:r>
              <a:rPr lang="zh-CN" altLang="en-US"/>
              <a:t>可识别的</a:t>
            </a:r>
            <a:r>
              <a:rPr lang="en-US" altLang="zh-CN"/>
              <a:t>0</a:t>
            </a:r>
            <a:r>
              <a:rPr lang="zh-CN" altLang="en-US"/>
              <a:t>、</a:t>
            </a:r>
            <a:r>
              <a:rPr lang="en-US" altLang="zh-CN"/>
              <a:t>1</a:t>
            </a:r>
            <a:r>
              <a:rPr lang="zh-CN" altLang="en-US"/>
              <a:t>序列构成的指令码组成。</a:t>
            </a:r>
          </a:p>
          <a:p>
            <a:r>
              <a:rPr lang="zh-CN" altLang="en-US"/>
              <a:t>特点：</a:t>
            </a:r>
          </a:p>
          <a:p>
            <a:r>
              <a:rPr lang="zh-CN" altLang="en-US"/>
              <a:t>执行效率高</a:t>
            </a:r>
          </a:p>
          <a:p>
            <a:r>
              <a:rPr lang="zh-CN" altLang="en-US"/>
              <a:t>不直观，不易查错，生产效率低。</a:t>
            </a:r>
          </a:p>
          <a:p>
            <a:r>
              <a:rPr lang="en-US" altLang="zh-CN"/>
              <a:t>2</a:t>
            </a:r>
            <a:r>
              <a:rPr lang="zh-CN" altLang="en-US"/>
              <a:t>。汇编语言</a:t>
            </a:r>
          </a:p>
          <a:p>
            <a:r>
              <a:rPr lang="zh-CN" altLang="en-US"/>
              <a:t>定义：用助记符号描述的指令系统</a:t>
            </a:r>
          </a:p>
          <a:p>
            <a:r>
              <a:rPr lang="zh-CN" altLang="en-US"/>
              <a:t>特点：</a:t>
            </a:r>
          </a:p>
          <a:p>
            <a:r>
              <a:rPr lang="zh-CN" altLang="en-US"/>
              <a:t>生产效率高，质量好，执行效率较高；</a:t>
            </a:r>
          </a:p>
          <a:p>
            <a:r>
              <a:rPr lang="zh-CN" altLang="en-US"/>
              <a:t>要经汇编程序汇编成目标程序（机器语言）才能执行，依赖硬件。</a:t>
            </a:r>
          </a:p>
          <a:p>
            <a:r>
              <a:rPr lang="zh-CN" altLang="en-US"/>
              <a:t>（面向机器的语言</a:t>
            </a:r>
            <a:r>
              <a:rPr lang="en-US" altLang="zh-CN"/>
              <a:t>----</a:t>
            </a:r>
            <a:r>
              <a:rPr lang="zh-CN" altLang="en-US"/>
              <a:t>依</a:t>
            </a:r>
            <a:r>
              <a:rPr lang="en-US" altLang="zh-CN"/>
              <a:t>CPU</a:t>
            </a:r>
            <a:r>
              <a:rPr lang="zh-CN" altLang="en-US"/>
              <a:t>不同而异）</a:t>
            </a:r>
          </a:p>
          <a:p>
            <a:r>
              <a:rPr lang="en-US" altLang="zh-CN"/>
              <a:t>3</a:t>
            </a:r>
            <a:r>
              <a:rPr lang="zh-CN" altLang="en-US"/>
              <a:t>。高级语言</a:t>
            </a:r>
          </a:p>
          <a:p>
            <a:r>
              <a:rPr lang="zh-CN" altLang="en-US"/>
              <a:t>特点：</a:t>
            </a:r>
          </a:p>
          <a:p>
            <a:r>
              <a:rPr lang="zh-CN" altLang="en-US"/>
              <a:t>编程效率高，不必考虑硬件；</a:t>
            </a:r>
          </a:p>
          <a:p>
            <a:r>
              <a:rPr lang="zh-CN" altLang="en-US"/>
              <a:t>执行效率低，要经编译、连接后才能执行。</a:t>
            </a:r>
          </a:p>
          <a:p>
            <a:r>
              <a:rPr lang="zh-CN" altLang="en-US"/>
              <a:t>面向过程的程序设计语言</a:t>
            </a:r>
          </a:p>
          <a:p>
            <a:r>
              <a:rPr lang="zh-CN" altLang="en-US"/>
              <a:t>认为解题过程是数据被加工的过程</a:t>
            </a:r>
          </a:p>
          <a:p>
            <a:r>
              <a:rPr lang="zh-CN" altLang="en-US"/>
              <a:t>程序</a:t>
            </a:r>
            <a:r>
              <a:rPr lang="en-US" altLang="zh-CN"/>
              <a:t>=</a:t>
            </a:r>
            <a:r>
              <a:rPr lang="zh-CN" altLang="en-US"/>
              <a:t>数据结构</a:t>
            </a:r>
            <a:r>
              <a:rPr lang="en-US" altLang="zh-CN"/>
              <a:t>+</a:t>
            </a:r>
            <a:r>
              <a:rPr lang="zh-CN" altLang="en-US"/>
              <a:t>算法</a:t>
            </a:r>
          </a:p>
          <a:p>
            <a:r>
              <a:rPr lang="en-US" altLang="zh-CN"/>
              <a:t>C</a:t>
            </a:r>
            <a:r>
              <a:rPr lang="zh-CN" altLang="en-US"/>
              <a:t>语言是面向过程的高级语言</a:t>
            </a:r>
          </a:p>
          <a:p>
            <a:r>
              <a:rPr lang="zh-CN" altLang="en-US"/>
              <a:t>           面向对象的程序设计语言</a:t>
            </a:r>
          </a:p>
          <a:p>
            <a:r>
              <a:rPr lang="zh-CN" altLang="en-US"/>
              <a:t>一种结构模拟方法。认为：现实世界由对象组成，对象是数据和方法的封装体；客观世界可以分类，每个对象是类的一个实例。</a:t>
            </a:r>
          </a:p>
          <a:p>
            <a:r>
              <a:rPr lang="zh-CN" altLang="en-US"/>
              <a:t>特点：比面向过程的语言更清晰、易懂，适宜编更大规模程序，是程序设计的主流</a:t>
            </a:r>
          </a:p>
          <a:p>
            <a:endParaRPr lang="zh-CN" altLang="en-US"/>
          </a:p>
          <a:p>
            <a:r>
              <a:rPr lang="zh-CN" altLang="en-US"/>
              <a:t>程序设计语言基本成分：</a:t>
            </a:r>
          </a:p>
          <a:p>
            <a:r>
              <a:rPr lang="zh-CN" altLang="en-US"/>
              <a:t>。数据成分</a:t>
            </a:r>
          </a:p>
          <a:p>
            <a:r>
              <a:rPr lang="zh-CN" altLang="en-US"/>
              <a:t>。运算成分</a:t>
            </a:r>
          </a:p>
          <a:p>
            <a:r>
              <a:rPr lang="zh-CN" altLang="en-US"/>
              <a:t>。控制成分</a:t>
            </a:r>
          </a:p>
          <a:p>
            <a:r>
              <a:rPr lang="zh-CN" altLang="en-US"/>
              <a:t>。传输成分	</a:t>
            </a:r>
          </a:p>
          <a:p>
            <a:endParaRPr lang="zh-CN" altLang="en-US"/>
          </a:p>
          <a:p>
            <a:r>
              <a:rPr lang="zh-CN" altLang="en-US"/>
              <a:t>程序设计语言定义：用于书写计算机程序的语言。通常指实现高级语言。</a:t>
            </a:r>
          </a:p>
          <a:p>
            <a:r>
              <a:rPr lang="zh-CN" altLang="en-US"/>
              <a:t>语言的基础是一组记号与一组规则。</a:t>
            </a:r>
          </a:p>
          <a:p>
            <a:r>
              <a:rPr lang="zh-CN" altLang="en-US"/>
              <a:t>程序设计语言包括：</a:t>
            </a:r>
          </a:p>
          <a:p>
            <a:r>
              <a:rPr lang="zh-CN" altLang="en-US"/>
              <a:t>语法：记号的组合规则</a:t>
            </a:r>
          </a:p>
          <a:p>
            <a:r>
              <a:rPr lang="zh-CN" altLang="en-US"/>
              <a:t>语义：记号的特定意义</a:t>
            </a:r>
          </a:p>
          <a:p>
            <a:r>
              <a:rPr lang="zh-CN" altLang="en-US"/>
              <a:t>语用：程序与使用者的关系</a:t>
            </a:r>
          </a:p>
          <a:p>
            <a:endParaRPr lang="zh-CN" altLang="en-US"/>
          </a:p>
          <a:p>
            <a:endParaRPr lang="en-US" altLang="zh-CN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97A34DFB-0B51-4718-BC51-1F6C9852FEBE}" type="slidenum">
              <a:rPr lang="en-US" altLang="zh-CN"/>
              <a:pPr/>
              <a:t>32</a:t>
            </a:fld>
            <a:endParaRPr lang="en-US" altLang="zh-CN"/>
          </a:p>
        </p:txBody>
      </p:sp>
      <p:sp>
        <p:nvSpPr>
          <p:cNvPr id="110387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110387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</p:spPr>
        <p:txBody>
          <a:bodyPr/>
          <a:lstStyle/>
          <a:p>
            <a:r>
              <a:rPr lang="en-US" altLang="zh-CN"/>
              <a:t>1946</a:t>
            </a:r>
            <a:r>
              <a:rPr lang="zh-CN" altLang="en-US"/>
              <a:t>年，第一台电子计算机问世，应用领域迅速扩大，软硬件飞速发展，程序设计语言相继问世。</a:t>
            </a:r>
          </a:p>
          <a:p>
            <a:r>
              <a:rPr lang="zh-CN" altLang="en-US"/>
              <a:t>程序设计语言</a:t>
            </a:r>
            <a:r>
              <a:rPr lang="en-US" altLang="zh-CN"/>
              <a:t>:</a:t>
            </a:r>
            <a:r>
              <a:rPr lang="zh-CN" altLang="en-US"/>
              <a:t>将自然语言形式化为有格式的语言</a:t>
            </a:r>
          </a:p>
          <a:p>
            <a:r>
              <a:rPr lang="en-US" altLang="zh-CN"/>
              <a:t>1</a:t>
            </a:r>
            <a:r>
              <a:rPr lang="zh-CN" altLang="en-US"/>
              <a:t>。机器语言：</a:t>
            </a:r>
          </a:p>
          <a:p>
            <a:pPr lvl="2">
              <a:buClr>
                <a:schemeClr val="tx2"/>
              </a:buClr>
              <a:buFontTx/>
              <a:buChar char="•"/>
            </a:pPr>
            <a:r>
              <a:rPr lang="zh-CN" altLang="en-US"/>
              <a:t>计算机能够认识的语言</a:t>
            </a:r>
          </a:p>
          <a:p>
            <a:pPr lvl="2">
              <a:buClr>
                <a:schemeClr val="tx2"/>
              </a:buClr>
              <a:buFontTx/>
              <a:buChar char="•"/>
            </a:pPr>
            <a:r>
              <a:rPr lang="zh-CN" altLang="en-US"/>
              <a:t>计算机的基础是数字电路</a:t>
            </a:r>
          </a:p>
          <a:p>
            <a:pPr lvl="2">
              <a:buClr>
                <a:schemeClr val="tx2"/>
              </a:buClr>
              <a:buFontTx/>
              <a:buChar char="•"/>
            </a:pPr>
            <a:r>
              <a:rPr lang="zh-CN" altLang="en-US"/>
              <a:t>机器语言就是数字电路里的电信号</a:t>
            </a:r>
          </a:p>
          <a:p>
            <a:pPr lvl="2">
              <a:buClr>
                <a:schemeClr val="tx2"/>
              </a:buClr>
              <a:buFontTx/>
              <a:buChar char="•"/>
            </a:pPr>
            <a:r>
              <a:rPr lang="zh-CN" altLang="en-US"/>
              <a:t>将在</a:t>
            </a:r>
            <a:r>
              <a:rPr lang="en-US" altLang="zh-CN"/>
              <a:t>《</a:t>
            </a:r>
            <a:r>
              <a:rPr lang="zh-CN" altLang="en-US"/>
              <a:t>计算机组成</a:t>
            </a:r>
            <a:r>
              <a:rPr lang="en-US" altLang="zh-CN"/>
              <a:t>》</a:t>
            </a:r>
            <a:r>
              <a:rPr lang="zh-CN" altLang="en-US"/>
              <a:t>课程中学习</a:t>
            </a:r>
          </a:p>
          <a:p>
            <a:pPr lvl="2">
              <a:buClr>
                <a:schemeClr val="tx2"/>
              </a:buClr>
              <a:buFontTx/>
              <a:buChar char="•"/>
            </a:pPr>
            <a:r>
              <a:rPr lang="zh-CN" altLang="en-US"/>
              <a:t>都是二进制文件</a:t>
            </a:r>
          </a:p>
          <a:p>
            <a:pPr lvl="2">
              <a:buClr>
                <a:schemeClr val="tx2"/>
              </a:buClr>
              <a:buFontTx/>
              <a:buChar char="•"/>
            </a:pPr>
            <a:r>
              <a:rPr lang="zh-CN" altLang="en-US"/>
              <a:t>一条机器语言成为一条指令</a:t>
            </a:r>
          </a:p>
          <a:p>
            <a:pPr lvl="2">
              <a:buClr>
                <a:schemeClr val="tx2"/>
              </a:buClr>
              <a:buFontTx/>
              <a:buChar char="•"/>
            </a:pPr>
            <a:r>
              <a:rPr lang="zh-CN" altLang="en-US"/>
              <a:t>指令是不可分割的最小功能单元</a:t>
            </a:r>
          </a:p>
          <a:p>
            <a:r>
              <a:rPr lang="zh-CN" altLang="en-US"/>
              <a:t>定义：一种</a:t>
            </a:r>
            <a:r>
              <a:rPr lang="en-US" altLang="zh-CN"/>
              <a:t>CPU</a:t>
            </a:r>
            <a:r>
              <a:rPr lang="zh-CN" altLang="en-US"/>
              <a:t>的指令系统，由该</a:t>
            </a:r>
            <a:r>
              <a:rPr lang="en-US" altLang="zh-CN"/>
              <a:t>CPU</a:t>
            </a:r>
            <a:r>
              <a:rPr lang="zh-CN" altLang="en-US"/>
              <a:t>可识别的</a:t>
            </a:r>
            <a:r>
              <a:rPr lang="en-US" altLang="zh-CN"/>
              <a:t>0</a:t>
            </a:r>
            <a:r>
              <a:rPr lang="zh-CN" altLang="en-US"/>
              <a:t>、</a:t>
            </a:r>
            <a:r>
              <a:rPr lang="en-US" altLang="zh-CN"/>
              <a:t>1</a:t>
            </a:r>
            <a:r>
              <a:rPr lang="zh-CN" altLang="en-US"/>
              <a:t>序列构成的指令码组成。</a:t>
            </a:r>
          </a:p>
          <a:p>
            <a:r>
              <a:rPr lang="zh-CN" altLang="en-US"/>
              <a:t>特点：</a:t>
            </a:r>
          </a:p>
          <a:p>
            <a:r>
              <a:rPr lang="zh-CN" altLang="en-US"/>
              <a:t>执行效率高</a:t>
            </a:r>
          </a:p>
          <a:p>
            <a:r>
              <a:rPr lang="zh-CN" altLang="en-US"/>
              <a:t>不直观，不易查错，生产效率低。</a:t>
            </a:r>
          </a:p>
          <a:p>
            <a:r>
              <a:rPr lang="en-US" altLang="zh-CN"/>
              <a:t>2</a:t>
            </a:r>
            <a:r>
              <a:rPr lang="zh-CN" altLang="en-US"/>
              <a:t>。汇编语言</a:t>
            </a:r>
          </a:p>
          <a:p>
            <a:r>
              <a:rPr lang="zh-CN" altLang="en-US"/>
              <a:t>定义：用助记符号描述的指令系统</a:t>
            </a:r>
          </a:p>
          <a:p>
            <a:r>
              <a:rPr lang="zh-CN" altLang="en-US"/>
              <a:t>特点：</a:t>
            </a:r>
          </a:p>
          <a:p>
            <a:r>
              <a:rPr lang="zh-CN" altLang="en-US"/>
              <a:t>生产效率高，质量好，执行效率较高；</a:t>
            </a:r>
          </a:p>
          <a:p>
            <a:r>
              <a:rPr lang="zh-CN" altLang="en-US"/>
              <a:t>要经汇编程序汇编成目标程序（机器语言）才能执行，依赖硬件。</a:t>
            </a:r>
          </a:p>
          <a:p>
            <a:r>
              <a:rPr lang="zh-CN" altLang="en-US"/>
              <a:t>（面向机器的语言</a:t>
            </a:r>
            <a:r>
              <a:rPr lang="en-US" altLang="zh-CN"/>
              <a:t>----</a:t>
            </a:r>
            <a:r>
              <a:rPr lang="zh-CN" altLang="en-US"/>
              <a:t>依</a:t>
            </a:r>
            <a:r>
              <a:rPr lang="en-US" altLang="zh-CN"/>
              <a:t>CPU</a:t>
            </a:r>
            <a:r>
              <a:rPr lang="zh-CN" altLang="en-US"/>
              <a:t>不同而异）</a:t>
            </a:r>
          </a:p>
          <a:p>
            <a:r>
              <a:rPr lang="en-US" altLang="zh-CN"/>
              <a:t>3</a:t>
            </a:r>
            <a:r>
              <a:rPr lang="zh-CN" altLang="en-US"/>
              <a:t>。高级语言</a:t>
            </a:r>
          </a:p>
          <a:p>
            <a:r>
              <a:rPr lang="zh-CN" altLang="en-US"/>
              <a:t>特点：</a:t>
            </a:r>
          </a:p>
          <a:p>
            <a:r>
              <a:rPr lang="zh-CN" altLang="en-US"/>
              <a:t>编程效率高，不必考虑硬件；</a:t>
            </a:r>
          </a:p>
          <a:p>
            <a:r>
              <a:rPr lang="zh-CN" altLang="en-US"/>
              <a:t>执行效率低，要经编译、连接后才能执行。</a:t>
            </a:r>
          </a:p>
          <a:p>
            <a:r>
              <a:rPr lang="zh-CN" altLang="en-US"/>
              <a:t>面向过程的程序设计语言</a:t>
            </a:r>
          </a:p>
          <a:p>
            <a:r>
              <a:rPr lang="zh-CN" altLang="en-US"/>
              <a:t>认为解题过程是数据被加工的过程</a:t>
            </a:r>
          </a:p>
          <a:p>
            <a:r>
              <a:rPr lang="zh-CN" altLang="en-US"/>
              <a:t>程序</a:t>
            </a:r>
            <a:r>
              <a:rPr lang="en-US" altLang="zh-CN"/>
              <a:t>=</a:t>
            </a:r>
            <a:r>
              <a:rPr lang="zh-CN" altLang="en-US"/>
              <a:t>数据结构</a:t>
            </a:r>
            <a:r>
              <a:rPr lang="en-US" altLang="zh-CN"/>
              <a:t>+</a:t>
            </a:r>
            <a:r>
              <a:rPr lang="zh-CN" altLang="en-US"/>
              <a:t>算法</a:t>
            </a:r>
          </a:p>
          <a:p>
            <a:r>
              <a:rPr lang="en-US" altLang="zh-CN"/>
              <a:t>C</a:t>
            </a:r>
            <a:r>
              <a:rPr lang="zh-CN" altLang="en-US"/>
              <a:t>语言是面向过程的高级语言</a:t>
            </a:r>
          </a:p>
          <a:p>
            <a:r>
              <a:rPr lang="zh-CN" altLang="en-US"/>
              <a:t>           面向对象的程序设计语言</a:t>
            </a:r>
          </a:p>
          <a:p>
            <a:r>
              <a:rPr lang="zh-CN" altLang="en-US"/>
              <a:t>一种结构模拟方法。认为：现实世界由对象组成，对象是数据和方法的封装体；客观世界可以分类，每个对象是类的一个实例。</a:t>
            </a:r>
          </a:p>
          <a:p>
            <a:r>
              <a:rPr lang="zh-CN" altLang="en-US"/>
              <a:t>特点：比面向过程的语言更清晰、易懂，适宜编更大规模程序，是程序设计的主流</a:t>
            </a:r>
          </a:p>
          <a:p>
            <a:endParaRPr lang="zh-CN" altLang="en-US"/>
          </a:p>
          <a:p>
            <a:r>
              <a:rPr lang="zh-CN" altLang="en-US"/>
              <a:t>程序设计语言基本成分：</a:t>
            </a:r>
          </a:p>
          <a:p>
            <a:r>
              <a:rPr lang="zh-CN" altLang="en-US"/>
              <a:t>。数据成分</a:t>
            </a:r>
          </a:p>
          <a:p>
            <a:r>
              <a:rPr lang="zh-CN" altLang="en-US"/>
              <a:t>。运算成分</a:t>
            </a:r>
          </a:p>
          <a:p>
            <a:r>
              <a:rPr lang="zh-CN" altLang="en-US"/>
              <a:t>。控制成分</a:t>
            </a:r>
          </a:p>
          <a:p>
            <a:r>
              <a:rPr lang="zh-CN" altLang="en-US"/>
              <a:t>。传输成分	</a:t>
            </a:r>
          </a:p>
          <a:p>
            <a:endParaRPr lang="zh-CN" altLang="en-US"/>
          </a:p>
          <a:p>
            <a:r>
              <a:rPr lang="zh-CN" altLang="en-US"/>
              <a:t>程序设计语言定义：用于书写计算机程序的语言。通常指实现高级语言。</a:t>
            </a:r>
          </a:p>
          <a:p>
            <a:r>
              <a:rPr lang="zh-CN" altLang="en-US"/>
              <a:t>语言的基础是一组记号与一组规则。</a:t>
            </a:r>
          </a:p>
          <a:p>
            <a:r>
              <a:rPr lang="zh-CN" altLang="en-US"/>
              <a:t>程序设计语言包括：</a:t>
            </a:r>
          </a:p>
          <a:p>
            <a:r>
              <a:rPr lang="zh-CN" altLang="en-US"/>
              <a:t>语法：记号的组合规则</a:t>
            </a:r>
          </a:p>
          <a:p>
            <a:r>
              <a:rPr lang="zh-CN" altLang="en-US"/>
              <a:t>语义：记号的特定意义</a:t>
            </a:r>
          </a:p>
          <a:p>
            <a:r>
              <a:rPr lang="zh-CN" altLang="en-US"/>
              <a:t>语用：程序与使用者的关系</a:t>
            </a:r>
          </a:p>
          <a:p>
            <a:endParaRPr lang="zh-CN" altLang="en-US"/>
          </a:p>
          <a:p>
            <a:endParaRPr lang="en-US" altLang="zh-CN"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C53B4476-033F-44E9-B308-D09EDABB58DB}" type="slidenum">
              <a:rPr lang="en-US" altLang="zh-CN"/>
              <a:pPr/>
              <a:t>33</a:t>
            </a:fld>
            <a:endParaRPr lang="en-US" altLang="zh-CN"/>
          </a:p>
        </p:txBody>
      </p:sp>
      <p:sp>
        <p:nvSpPr>
          <p:cNvPr id="110592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110592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</p:spPr>
        <p:txBody>
          <a:bodyPr/>
          <a:lstStyle/>
          <a:p>
            <a:r>
              <a:rPr lang="en-US" altLang="zh-CN"/>
              <a:t>1946</a:t>
            </a:r>
            <a:r>
              <a:rPr lang="zh-CN" altLang="en-US"/>
              <a:t>年，第一台电子计算机问世，应用领域迅速扩大，软硬件飞速发展，程序设计语言相继问世。</a:t>
            </a:r>
          </a:p>
          <a:p>
            <a:r>
              <a:rPr lang="zh-CN" altLang="en-US"/>
              <a:t>程序设计语言</a:t>
            </a:r>
            <a:r>
              <a:rPr lang="en-US" altLang="zh-CN"/>
              <a:t>:</a:t>
            </a:r>
            <a:r>
              <a:rPr lang="zh-CN" altLang="en-US"/>
              <a:t>将自然语言形式化为有格式的语言</a:t>
            </a:r>
          </a:p>
          <a:p>
            <a:r>
              <a:rPr lang="en-US" altLang="zh-CN"/>
              <a:t>1</a:t>
            </a:r>
            <a:r>
              <a:rPr lang="zh-CN" altLang="en-US"/>
              <a:t>。机器语言：</a:t>
            </a:r>
          </a:p>
          <a:p>
            <a:pPr lvl="2">
              <a:buClr>
                <a:schemeClr val="tx2"/>
              </a:buClr>
              <a:buFontTx/>
              <a:buChar char="•"/>
            </a:pPr>
            <a:r>
              <a:rPr lang="zh-CN" altLang="en-US"/>
              <a:t>计算机能够认识的语言</a:t>
            </a:r>
          </a:p>
          <a:p>
            <a:pPr lvl="2">
              <a:buClr>
                <a:schemeClr val="tx2"/>
              </a:buClr>
              <a:buFontTx/>
              <a:buChar char="•"/>
            </a:pPr>
            <a:r>
              <a:rPr lang="zh-CN" altLang="en-US"/>
              <a:t>计算机的基础是数字电路</a:t>
            </a:r>
          </a:p>
          <a:p>
            <a:pPr lvl="2">
              <a:buClr>
                <a:schemeClr val="tx2"/>
              </a:buClr>
              <a:buFontTx/>
              <a:buChar char="•"/>
            </a:pPr>
            <a:r>
              <a:rPr lang="zh-CN" altLang="en-US"/>
              <a:t>机器语言就是数字电路里的电信号</a:t>
            </a:r>
          </a:p>
          <a:p>
            <a:pPr lvl="2">
              <a:buClr>
                <a:schemeClr val="tx2"/>
              </a:buClr>
              <a:buFontTx/>
              <a:buChar char="•"/>
            </a:pPr>
            <a:r>
              <a:rPr lang="zh-CN" altLang="en-US"/>
              <a:t>将在</a:t>
            </a:r>
            <a:r>
              <a:rPr lang="en-US" altLang="zh-CN"/>
              <a:t>《</a:t>
            </a:r>
            <a:r>
              <a:rPr lang="zh-CN" altLang="en-US"/>
              <a:t>计算机组成</a:t>
            </a:r>
            <a:r>
              <a:rPr lang="en-US" altLang="zh-CN"/>
              <a:t>》</a:t>
            </a:r>
            <a:r>
              <a:rPr lang="zh-CN" altLang="en-US"/>
              <a:t>课程中学习</a:t>
            </a:r>
          </a:p>
          <a:p>
            <a:pPr lvl="2">
              <a:buClr>
                <a:schemeClr val="tx2"/>
              </a:buClr>
              <a:buFontTx/>
              <a:buChar char="•"/>
            </a:pPr>
            <a:r>
              <a:rPr lang="zh-CN" altLang="en-US"/>
              <a:t>都是二进制文件</a:t>
            </a:r>
          </a:p>
          <a:p>
            <a:pPr lvl="2">
              <a:buClr>
                <a:schemeClr val="tx2"/>
              </a:buClr>
              <a:buFontTx/>
              <a:buChar char="•"/>
            </a:pPr>
            <a:r>
              <a:rPr lang="zh-CN" altLang="en-US"/>
              <a:t>一条机器语言成为一条指令</a:t>
            </a:r>
          </a:p>
          <a:p>
            <a:pPr lvl="2">
              <a:buClr>
                <a:schemeClr val="tx2"/>
              </a:buClr>
              <a:buFontTx/>
              <a:buChar char="•"/>
            </a:pPr>
            <a:r>
              <a:rPr lang="zh-CN" altLang="en-US"/>
              <a:t>指令是不可分割的最小功能单元</a:t>
            </a:r>
          </a:p>
          <a:p>
            <a:r>
              <a:rPr lang="zh-CN" altLang="en-US"/>
              <a:t>定义：一种</a:t>
            </a:r>
            <a:r>
              <a:rPr lang="en-US" altLang="zh-CN"/>
              <a:t>CPU</a:t>
            </a:r>
            <a:r>
              <a:rPr lang="zh-CN" altLang="en-US"/>
              <a:t>的指令系统，由该</a:t>
            </a:r>
            <a:r>
              <a:rPr lang="en-US" altLang="zh-CN"/>
              <a:t>CPU</a:t>
            </a:r>
            <a:r>
              <a:rPr lang="zh-CN" altLang="en-US"/>
              <a:t>可识别的</a:t>
            </a:r>
            <a:r>
              <a:rPr lang="en-US" altLang="zh-CN"/>
              <a:t>0</a:t>
            </a:r>
            <a:r>
              <a:rPr lang="zh-CN" altLang="en-US"/>
              <a:t>、</a:t>
            </a:r>
            <a:r>
              <a:rPr lang="en-US" altLang="zh-CN"/>
              <a:t>1</a:t>
            </a:r>
            <a:r>
              <a:rPr lang="zh-CN" altLang="en-US"/>
              <a:t>序列构成的指令码组成。</a:t>
            </a:r>
          </a:p>
          <a:p>
            <a:r>
              <a:rPr lang="zh-CN" altLang="en-US"/>
              <a:t>特点：</a:t>
            </a:r>
          </a:p>
          <a:p>
            <a:r>
              <a:rPr lang="zh-CN" altLang="en-US"/>
              <a:t>执行效率高</a:t>
            </a:r>
          </a:p>
          <a:p>
            <a:r>
              <a:rPr lang="zh-CN" altLang="en-US"/>
              <a:t>不直观，不易查错，生产效率低。</a:t>
            </a:r>
          </a:p>
          <a:p>
            <a:r>
              <a:rPr lang="en-US" altLang="zh-CN"/>
              <a:t>2</a:t>
            </a:r>
            <a:r>
              <a:rPr lang="zh-CN" altLang="en-US"/>
              <a:t>。汇编语言</a:t>
            </a:r>
          </a:p>
          <a:p>
            <a:r>
              <a:rPr lang="zh-CN" altLang="en-US"/>
              <a:t>定义：用助记符号描述的指令系统</a:t>
            </a:r>
          </a:p>
          <a:p>
            <a:r>
              <a:rPr lang="zh-CN" altLang="en-US"/>
              <a:t>特点：</a:t>
            </a:r>
          </a:p>
          <a:p>
            <a:r>
              <a:rPr lang="zh-CN" altLang="en-US"/>
              <a:t>生产效率高，质量好，执行效率较高；</a:t>
            </a:r>
          </a:p>
          <a:p>
            <a:r>
              <a:rPr lang="zh-CN" altLang="en-US"/>
              <a:t>要经汇编程序汇编成目标程序（机器语言）才能执行，依赖硬件。</a:t>
            </a:r>
          </a:p>
          <a:p>
            <a:r>
              <a:rPr lang="zh-CN" altLang="en-US"/>
              <a:t>（面向机器的语言</a:t>
            </a:r>
            <a:r>
              <a:rPr lang="en-US" altLang="zh-CN"/>
              <a:t>----</a:t>
            </a:r>
            <a:r>
              <a:rPr lang="zh-CN" altLang="en-US"/>
              <a:t>依</a:t>
            </a:r>
            <a:r>
              <a:rPr lang="en-US" altLang="zh-CN"/>
              <a:t>CPU</a:t>
            </a:r>
            <a:r>
              <a:rPr lang="zh-CN" altLang="en-US"/>
              <a:t>不同而异）</a:t>
            </a:r>
          </a:p>
          <a:p>
            <a:r>
              <a:rPr lang="en-US" altLang="zh-CN"/>
              <a:t>3</a:t>
            </a:r>
            <a:r>
              <a:rPr lang="zh-CN" altLang="en-US"/>
              <a:t>。高级语言</a:t>
            </a:r>
          </a:p>
          <a:p>
            <a:r>
              <a:rPr lang="zh-CN" altLang="en-US"/>
              <a:t>特点：</a:t>
            </a:r>
          </a:p>
          <a:p>
            <a:r>
              <a:rPr lang="zh-CN" altLang="en-US"/>
              <a:t>编程效率高，不必考虑硬件；</a:t>
            </a:r>
          </a:p>
          <a:p>
            <a:r>
              <a:rPr lang="zh-CN" altLang="en-US"/>
              <a:t>执行效率低，要经编译、连接后才能执行。</a:t>
            </a:r>
          </a:p>
          <a:p>
            <a:r>
              <a:rPr lang="zh-CN" altLang="en-US"/>
              <a:t>面向过程的程序设计语言</a:t>
            </a:r>
          </a:p>
          <a:p>
            <a:r>
              <a:rPr lang="zh-CN" altLang="en-US"/>
              <a:t>认为解题过程是数据被加工的过程</a:t>
            </a:r>
          </a:p>
          <a:p>
            <a:r>
              <a:rPr lang="zh-CN" altLang="en-US"/>
              <a:t>程序</a:t>
            </a:r>
            <a:r>
              <a:rPr lang="en-US" altLang="zh-CN"/>
              <a:t>=</a:t>
            </a:r>
            <a:r>
              <a:rPr lang="zh-CN" altLang="en-US"/>
              <a:t>数据结构</a:t>
            </a:r>
            <a:r>
              <a:rPr lang="en-US" altLang="zh-CN"/>
              <a:t>+</a:t>
            </a:r>
            <a:r>
              <a:rPr lang="zh-CN" altLang="en-US"/>
              <a:t>算法</a:t>
            </a:r>
          </a:p>
          <a:p>
            <a:r>
              <a:rPr lang="en-US" altLang="zh-CN"/>
              <a:t>C</a:t>
            </a:r>
            <a:r>
              <a:rPr lang="zh-CN" altLang="en-US"/>
              <a:t>语言是面向过程的高级语言</a:t>
            </a:r>
          </a:p>
          <a:p>
            <a:r>
              <a:rPr lang="zh-CN" altLang="en-US"/>
              <a:t>           面向对象的程序设计语言</a:t>
            </a:r>
          </a:p>
          <a:p>
            <a:r>
              <a:rPr lang="zh-CN" altLang="en-US"/>
              <a:t>一种结构模拟方法。认为：现实世界由对象组成，对象是数据和方法的封装体；客观世界可以分类，每个对象是类的一个实例。</a:t>
            </a:r>
          </a:p>
          <a:p>
            <a:r>
              <a:rPr lang="zh-CN" altLang="en-US"/>
              <a:t>特点：比面向过程的语言更清晰、易懂，适宜编更大规模程序，是程序设计的主流</a:t>
            </a:r>
          </a:p>
          <a:p>
            <a:endParaRPr lang="zh-CN" altLang="en-US"/>
          </a:p>
          <a:p>
            <a:r>
              <a:rPr lang="zh-CN" altLang="en-US"/>
              <a:t>程序设计语言基本成分：</a:t>
            </a:r>
          </a:p>
          <a:p>
            <a:r>
              <a:rPr lang="zh-CN" altLang="en-US"/>
              <a:t>。数据成分</a:t>
            </a:r>
          </a:p>
          <a:p>
            <a:r>
              <a:rPr lang="zh-CN" altLang="en-US"/>
              <a:t>。运算成分</a:t>
            </a:r>
          </a:p>
          <a:p>
            <a:r>
              <a:rPr lang="zh-CN" altLang="en-US"/>
              <a:t>。控制成分</a:t>
            </a:r>
          </a:p>
          <a:p>
            <a:r>
              <a:rPr lang="zh-CN" altLang="en-US"/>
              <a:t>。传输成分	</a:t>
            </a:r>
          </a:p>
          <a:p>
            <a:endParaRPr lang="zh-CN" altLang="en-US"/>
          </a:p>
          <a:p>
            <a:r>
              <a:rPr lang="zh-CN" altLang="en-US"/>
              <a:t>程序设计语言定义：用于书写计算机程序的语言。通常指实现高级语言。</a:t>
            </a:r>
          </a:p>
          <a:p>
            <a:r>
              <a:rPr lang="zh-CN" altLang="en-US"/>
              <a:t>语言的基础是一组记号与一组规则。</a:t>
            </a:r>
          </a:p>
          <a:p>
            <a:r>
              <a:rPr lang="zh-CN" altLang="en-US"/>
              <a:t>程序设计语言包括：</a:t>
            </a:r>
          </a:p>
          <a:p>
            <a:r>
              <a:rPr lang="zh-CN" altLang="en-US"/>
              <a:t>语法：记号的组合规则</a:t>
            </a:r>
          </a:p>
          <a:p>
            <a:r>
              <a:rPr lang="zh-CN" altLang="en-US"/>
              <a:t>语义：记号的特定意义</a:t>
            </a:r>
          </a:p>
          <a:p>
            <a:r>
              <a:rPr lang="zh-CN" altLang="en-US"/>
              <a:t>语用：程序与使用者的关系</a:t>
            </a:r>
          </a:p>
          <a:p>
            <a:endParaRPr lang="zh-CN" altLang="en-US"/>
          </a:p>
          <a:p>
            <a:endParaRPr lang="en-US" altLang="zh-CN"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A4BCF155-2BA6-40A8-8326-D6CC4874BF36}" type="slidenum">
              <a:rPr lang="en-US" altLang="zh-CN"/>
              <a:pPr/>
              <a:t>34</a:t>
            </a:fld>
            <a:endParaRPr lang="en-US" altLang="zh-CN"/>
          </a:p>
        </p:txBody>
      </p:sp>
      <p:sp>
        <p:nvSpPr>
          <p:cNvPr id="110797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110797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</p:spPr>
        <p:txBody>
          <a:bodyPr/>
          <a:lstStyle/>
          <a:p>
            <a:r>
              <a:rPr lang="en-US" altLang="zh-CN"/>
              <a:t>1946</a:t>
            </a:r>
            <a:r>
              <a:rPr lang="zh-CN" altLang="en-US"/>
              <a:t>年，第一台电子计算机问世，应用领域迅速扩大，软硬件飞速发展，程序设计语言相继问世。</a:t>
            </a:r>
          </a:p>
          <a:p>
            <a:r>
              <a:rPr lang="zh-CN" altLang="en-US"/>
              <a:t>程序设计语言</a:t>
            </a:r>
            <a:r>
              <a:rPr lang="en-US" altLang="zh-CN"/>
              <a:t>:</a:t>
            </a:r>
            <a:r>
              <a:rPr lang="zh-CN" altLang="en-US"/>
              <a:t>将自然语言形式化为有格式的语言</a:t>
            </a:r>
          </a:p>
          <a:p>
            <a:r>
              <a:rPr lang="en-US" altLang="zh-CN"/>
              <a:t>1</a:t>
            </a:r>
            <a:r>
              <a:rPr lang="zh-CN" altLang="en-US"/>
              <a:t>。机器语言：</a:t>
            </a:r>
          </a:p>
          <a:p>
            <a:pPr lvl="2">
              <a:buClr>
                <a:schemeClr val="tx2"/>
              </a:buClr>
              <a:buFontTx/>
              <a:buChar char="•"/>
            </a:pPr>
            <a:r>
              <a:rPr lang="zh-CN" altLang="en-US"/>
              <a:t>计算机能够认识的语言</a:t>
            </a:r>
          </a:p>
          <a:p>
            <a:pPr lvl="2">
              <a:buClr>
                <a:schemeClr val="tx2"/>
              </a:buClr>
              <a:buFontTx/>
              <a:buChar char="•"/>
            </a:pPr>
            <a:r>
              <a:rPr lang="zh-CN" altLang="en-US"/>
              <a:t>计算机的基础是数字电路</a:t>
            </a:r>
          </a:p>
          <a:p>
            <a:pPr lvl="2">
              <a:buClr>
                <a:schemeClr val="tx2"/>
              </a:buClr>
              <a:buFontTx/>
              <a:buChar char="•"/>
            </a:pPr>
            <a:r>
              <a:rPr lang="zh-CN" altLang="en-US"/>
              <a:t>机器语言就是数字电路里的电信号</a:t>
            </a:r>
          </a:p>
          <a:p>
            <a:pPr lvl="2">
              <a:buClr>
                <a:schemeClr val="tx2"/>
              </a:buClr>
              <a:buFontTx/>
              <a:buChar char="•"/>
            </a:pPr>
            <a:r>
              <a:rPr lang="zh-CN" altLang="en-US"/>
              <a:t>将在</a:t>
            </a:r>
            <a:r>
              <a:rPr lang="en-US" altLang="zh-CN"/>
              <a:t>《</a:t>
            </a:r>
            <a:r>
              <a:rPr lang="zh-CN" altLang="en-US"/>
              <a:t>计算机组成</a:t>
            </a:r>
            <a:r>
              <a:rPr lang="en-US" altLang="zh-CN"/>
              <a:t>》</a:t>
            </a:r>
            <a:r>
              <a:rPr lang="zh-CN" altLang="en-US"/>
              <a:t>课程中学习</a:t>
            </a:r>
          </a:p>
          <a:p>
            <a:pPr lvl="2">
              <a:buClr>
                <a:schemeClr val="tx2"/>
              </a:buClr>
              <a:buFontTx/>
              <a:buChar char="•"/>
            </a:pPr>
            <a:r>
              <a:rPr lang="zh-CN" altLang="en-US"/>
              <a:t>都是二进制文件</a:t>
            </a:r>
          </a:p>
          <a:p>
            <a:pPr lvl="2">
              <a:buClr>
                <a:schemeClr val="tx2"/>
              </a:buClr>
              <a:buFontTx/>
              <a:buChar char="•"/>
            </a:pPr>
            <a:r>
              <a:rPr lang="zh-CN" altLang="en-US"/>
              <a:t>一条机器语言成为一条指令</a:t>
            </a:r>
          </a:p>
          <a:p>
            <a:pPr lvl="2">
              <a:buClr>
                <a:schemeClr val="tx2"/>
              </a:buClr>
              <a:buFontTx/>
              <a:buChar char="•"/>
            </a:pPr>
            <a:r>
              <a:rPr lang="zh-CN" altLang="en-US"/>
              <a:t>指令是不可分割的最小功能单元</a:t>
            </a:r>
          </a:p>
          <a:p>
            <a:r>
              <a:rPr lang="zh-CN" altLang="en-US"/>
              <a:t>定义：一种</a:t>
            </a:r>
            <a:r>
              <a:rPr lang="en-US" altLang="zh-CN"/>
              <a:t>CPU</a:t>
            </a:r>
            <a:r>
              <a:rPr lang="zh-CN" altLang="en-US"/>
              <a:t>的指令系统，由该</a:t>
            </a:r>
            <a:r>
              <a:rPr lang="en-US" altLang="zh-CN"/>
              <a:t>CPU</a:t>
            </a:r>
            <a:r>
              <a:rPr lang="zh-CN" altLang="en-US"/>
              <a:t>可识别的</a:t>
            </a:r>
            <a:r>
              <a:rPr lang="en-US" altLang="zh-CN"/>
              <a:t>0</a:t>
            </a:r>
            <a:r>
              <a:rPr lang="zh-CN" altLang="en-US"/>
              <a:t>、</a:t>
            </a:r>
            <a:r>
              <a:rPr lang="en-US" altLang="zh-CN"/>
              <a:t>1</a:t>
            </a:r>
            <a:r>
              <a:rPr lang="zh-CN" altLang="en-US"/>
              <a:t>序列构成的指令码组成。</a:t>
            </a:r>
          </a:p>
          <a:p>
            <a:r>
              <a:rPr lang="zh-CN" altLang="en-US"/>
              <a:t>特点：</a:t>
            </a:r>
          </a:p>
          <a:p>
            <a:r>
              <a:rPr lang="zh-CN" altLang="en-US"/>
              <a:t>执行效率高</a:t>
            </a:r>
          </a:p>
          <a:p>
            <a:r>
              <a:rPr lang="zh-CN" altLang="en-US"/>
              <a:t>不直观，不易查错，生产效率低。</a:t>
            </a:r>
          </a:p>
          <a:p>
            <a:r>
              <a:rPr lang="en-US" altLang="zh-CN"/>
              <a:t>2</a:t>
            </a:r>
            <a:r>
              <a:rPr lang="zh-CN" altLang="en-US"/>
              <a:t>。汇编语言</a:t>
            </a:r>
          </a:p>
          <a:p>
            <a:r>
              <a:rPr lang="zh-CN" altLang="en-US"/>
              <a:t>定义：用助记符号描述的指令系统</a:t>
            </a:r>
          </a:p>
          <a:p>
            <a:r>
              <a:rPr lang="zh-CN" altLang="en-US"/>
              <a:t>特点：</a:t>
            </a:r>
          </a:p>
          <a:p>
            <a:r>
              <a:rPr lang="zh-CN" altLang="en-US"/>
              <a:t>生产效率高，质量好，执行效率较高；</a:t>
            </a:r>
          </a:p>
          <a:p>
            <a:r>
              <a:rPr lang="zh-CN" altLang="en-US"/>
              <a:t>要经汇编程序汇编成目标程序（机器语言）才能执行，依赖硬件。</a:t>
            </a:r>
          </a:p>
          <a:p>
            <a:r>
              <a:rPr lang="zh-CN" altLang="en-US"/>
              <a:t>（面向机器的语言</a:t>
            </a:r>
            <a:r>
              <a:rPr lang="en-US" altLang="zh-CN"/>
              <a:t>----</a:t>
            </a:r>
            <a:r>
              <a:rPr lang="zh-CN" altLang="en-US"/>
              <a:t>依</a:t>
            </a:r>
            <a:r>
              <a:rPr lang="en-US" altLang="zh-CN"/>
              <a:t>CPU</a:t>
            </a:r>
            <a:r>
              <a:rPr lang="zh-CN" altLang="en-US"/>
              <a:t>不同而异）</a:t>
            </a:r>
          </a:p>
          <a:p>
            <a:r>
              <a:rPr lang="en-US" altLang="zh-CN"/>
              <a:t>3</a:t>
            </a:r>
            <a:r>
              <a:rPr lang="zh-CN" altLang="en-US"/>
              <a:t>。高级语言</a:t>
            </a:r>
          </a:p>
          <a:p>
            <a:r>
              <a:rPr lang="zh-CN" altLang="en-US"/>
              <a:t>特点：</a:t>
            </a:r>
          </a:p>
          <a:p>
            <a:r>
              <a:rPr lang="zh-CN" altLang="en-US"/>
              <a:t>编程效率高，不必考虑硬件；</a:t>
            </a:r>
          </a:p>
          <a:p>
            <a:r>
              <a:rPr lang="zh-CN" altLang="en-US"/>
              <a:t>执行效率低，要经编译、连接后才能执行。</a:t>
            </a:r>
          </a:p>
          <a:p>
            <a:r>
              <a:rPr lang="zh-CN" altLang="en-US"/>
              <a:t>面向过程的程序设计语言</a:t>
            </a:r>
          </a:p>
          <a:p>
            <a:r>
              <a:rPr lang="zh-CN" altLang="en-US"/>
              <a:t>认为解题过程是数据被加工的过程</a:t>
            </a:r>
          </a:p>
          <a:p>
            <a:r>
              <a:rPr lang="zh-CN" altLang="en-US"/>
              <a:t>程序</a:t>
            </a:r>
            <a:r>
              <a:rPr lang="en-US" altLang="zh-CN"/>
              <a:t>=</a:t>
            </a:r>
            <a:r>
              <a:rPr lang="zh-CN" altLang="en-US"/>
              <a:t>数据结构</a:t>
            </a:r>
            <a:r>
              <a:rPr lang="en-US" altLang="zh-CN"/>
              <a:t>+</a:t>
            </a:r>
            <a:r>
              <a:rPr lang="zh-CN" altLang="en-US"/>
              <a:t>算法</a:t>
            </a:r>
          </a:p>
          <a:p>
            <a:r>
              <a:rPr lang="en-US" altLang="zh-CN"/>
              <a:t>C</a:t>
            </a:r>
            <a:r>
              <a:rPr lang="zh-CN" altLang="en-US"/>
              <a:t>语言是面向过程的高级语言</a:t>
            </a:r>
          </a:p>
          <a:p>
            <a:r>
              <a:rPr lang="zh-CN" altLang="en-US"/>
              <a:t>           面向对象的程序设计语言</a:t>
            </a:r>
          </a:p>
          <a:p>
            <a:r>
              <a:rPr lang="zh-CN" altLang="en-US"/>
              <a:t>一种结构模拟方法。认为：现实世界由对象组成，对象是数据和方法的封装体；客观世界可以分类，每个对象是类的一个实例。</a:t>
            </a:r>
          </a:p>
          <a:p>
            <a:r>
              <a:rPr lang="zh-CN" altLang="en-US"/>
              <a:t>特点：比面向过程的语言更清晰、易懂，适宜编更大规模程序，是程序设计的主流</a:t>
            </a:r>
          </a:p>
          <a:p>
            <a:endParaRPr lang="zh-CN" altLang="en-US"/>
          </a:p>
          <a:p>
            <a:r>
              <a:rPr lang="zh-CN" altLang="en-US"/>
              <a:t>程序设计语言基本成分：</a:t>
            </a:r>
          </a:p>
          <a:p>
            <a:r>
              <a:rPr lang="zh-CN" altLang="en-US"/>
              <a:t>。数据成分</a:t>
            </a:r>
          </a:p>
          <a:p>
            <a:r>
              <a:rPr lang="zh-CN" altLang="en-US"/>
              <a:t>。运算成分</a:t>
            </a:r>
          </a:p>
          <a:p>
            <a:r>
              <a:rPr lang="zh-CN" altLang="en-US"/>
              <a:t>。控制成分</a:t>
            </a:r>
          </a:p>
          <a:p>
            <a:r>
              <a:rPr lang="zh-CN" altLang="en-US"/>
              <a:t>。传输成分	</a:t>
            </a:r>
          </a:p>
          <a:p>
            <a:endParaRPr lang="zh-CN" altLang="en-US"/>
          </a:p>
          <a:p>
            <a:r>
              <a:rPr lang="zh-CN" altLang="en-US"/>
              <a:t>程序设计语言定义：用于书写计算机程序的语言。通常指实现高级语言。</a:t>
            </a:r>
          </a:p>
          <a:p>
            <a:r>
              <a:rPr lang="zh-CN" altLang="en-US"/>
              <a:t>语言的基础是一组记号与一组规则。</a:t>
            </a:r>
          </a:p>
          <a:p>
            <a:r>
              <a:rPr lang="zh-CN" altLang="en-US"/>
              <a:t>程序设计语言包括：</a:t>
            </a:r>
          </a:p>
          <a:p>
            <a:r>
              <a:rPr lang="zh-CN" altLang="en-US"/>
              <a:t>语法：记号的组合规则</a:t>
            </a:r>
          </a:p>
          <a:p>
            <a:r>
              <a:rPr lang="zh-CN" altLang="en-US"/>
              <a:t>语义：记号的特定意义</a:t>
            </a:r>
          </a:p>
          <a:p>
            <a:r>
              <a:rPr lang="zh-CN" altLang="en-US"/>
              <a:t>语用：程序与使用者的关系</a:t>
            </a:r>
          </a:p>
          <a:p>
            <a:endParaRPr lang="zh-CN" altLang="en-US"/>
          </a:p>
          <a:p>
            <a:endParaRPr lang="en-US" altLang="zh-CN"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06A39707-B630-46DA-B4D9-286DD97161B9}" type="slidenum">
              <a:rPr lang="en-US" altLang="zh-CN"/>
              <a:pPr/>
              <a:t>35</a:t>
            </a:fld>
            <a:endParaRPr lang="en-US" altLang="zh-CN"/>
          </a:p>
        </p:txBody>
      </p:sp>
      <p:sp>
        <p:nvSpPr>
          <p:cNvPr id="111001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111001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</p:spPr>
        <p:txBody>
          <a:bodyPr/>
          <a:lstStyle/>
          <a:p>
            <a:r>
              <a:rPr lang="en-US" altLang="zh-CN"/>
              <a:t>1946</a:t>
            </a:r>
            <a:r>
              <a:rPr lang="zh-CN" altLang="en-US"/>
              <a:t>年，第一台电子计算机问世，应用领域迅速扩大，软硬件飞速发展，程序设计语言相继问世。</a:t>
            </a:r>
          </a:p>
          <a:p>
            <a:r>
              <a:rPr lang="zh-CN" altLang="en-US"/>
              <a:t>程序设计语言</a:t>
            </a:r>
            <a:r>
              <a:rPr lang="en-US" altLang="zh-CN"/>
              <a:t>:</a:t>
            </a:r>
            <a:r>
              <a:rPr lang="zh-CN" altLang="en-US"/>
              <a:t>将自然语言形式化为有格式的语言</a:t>
            </a:r>
          </a:p>
          <a:p>
            <a:r>
              <a:rPr lang="en-US" altLang="zh-CN"/>
              <a:t>1</a:t>
            </a:r>
            <a:r>
              <a:rPr lang="zh-CN" altLang="en-US"/>
              <a:t>。机器语言：</a:t>
            </a:r>
          </a:p>
          <a:p>
            <a:pPr lvl="2">
              <a:buClr>
                <a:schemeClr val="tx2"/>
              </a:buClr>
              <a:buFontTx/>
              <a:buChar char="•"/>
            </a:pPr>
            <a:r>
              <a:rPr lang="zh-CN" altLang="en-US"/>
              <a:t>计算机能够认识的语言</a:t>
            </a:r>
          </a:p>
          <a:p>
            <a:pPr lvl="2">
              <a:buClr>
                <a:schemeClr val="tx2"/>
              </a:buClr>
              <a:buFontTx/>
              <a:buChar char="•"/>
            </a:pPr>
            <a:r>
              <a:rPr lang="zh-CN" altLang="en-US"/>
              <a:t>计算机的基础是数字电路</a:t>
            </a:r>
          </a:p>
          <a:p>
            <a:pPr lvl="2">
              <a:buClr>
                <a:schemeClr val="tx2"/>
              </a:buClr>
              <a:buFontTx/>
              <a:buChar char="•"/>
            </a:pPr>
            <a:r>
              <a:rPr lang="zh-CN" altLang="en-US"/>
              <a:t>机器语言就是数字电路里的电信号</a:t>
            </a:r>
          </a:p>
          <a:p>
            <a:pPr lvl="2">
              <a:buClr>
                <a:schemeClr val="tx2"/>
              </a:buClr>
              <a:buFontTx/>
              <a:buChar char="•"/>
            </a:pPr>
            <a:r>
              <a:rPr lang="zh-CN" altLang="en-US"/>
              <a:t>将在</a:t>
            </a:r>
            <a:r>
              <a:rPr lang="en-US" altLang="zh-CN"/>
              <a:t>《</a:t>
            </a:r>
            <a:r>
              <a:rPr lang="zh-CN" altLang="en-US"/>
              <a:t>计算机组成</a:t>
            </a:r>
            <a:r>
              <a:rPr lang="en-US" altLang="zh-CN"/>
              <a:t>》</a:t>
            </a:r>
            <a:r>
              <a:rPr lang="zh-CN" altLang="en-US"/>
              <a:t>课程中学习</a:t>
            </a:r>
          </a:p>
          <a:p>
            <a:pPr lvl="2">
              <a:buClr>
                <a:schemeClr val="tx2"/>
              </a:buClr>
              <a:buFontTx/>
              <a:buChar char="•"/>
            </a:pPr>
            <a:r>
              <a:rPr lang="zh-CN" altLang="en-US"/>
              <a:t>都是二进制文件</a:t>
            </a:r>
          </a:p>
          <a:p>
            <a:pPr lvl="2">
              <a:buClr>
                <a:schemeClr val="tx2"/>
              </a:buClr>
              <a:buFontTx/>
              <a:buChar char="•"/>
            </a:pPr>
            <a:r>
              <a:rPr lang="zh-CN" altLang="en-US"/>
              <a:t>一条机器语言成为一条指令</a:t>
            </a:r>
          </a:p>
          <a:p>
            <a:pPr lvl="2">
              <a:buClr>
                <a:schemeClr val="tx2"/>
              </a:buClr>
              <a:buFontTx/>
              <a:buChar char="•"/>
            </a:pPr>
            <a:r>
              <a:rPr lang="zh-CN" altLang="en-US"/>
              <a:t>指令是不可分割的最小功能单元</a:t>
            </a:r>
          </a:p>
          <a:p>
            <a:r>
              <a:rPr lang="zh-CN" altLang="en-US"/>
              <a:t>定义：一种</a:t>
            </a:r>
            <a:r>
              <a:rPr lang="en-US" altLang="zh-CN"/>
              <a:t>CPU</a:t>
            </a:r>
            <a:r>
              <a:rPr lang="zh-CN" altLang="en-US"/>
              <a:t>的指令系统，由该</a:t>
            </a:r>
            <a:r>
              <a:rPr lang="en-US" altLang="zh-CN"/>
              <a:t>CPU</a:t>
            </a:r>
            <a:r>
              <a:rPr lang="zh-CN" altLang="en-US"/>
              <a:t>可识别的</a:t>
            </a:r>
            <a:r>
              <a:rPr lang="en-US" altLang="zh-CN"/>
              <a:t>0</a:t>
            </a:r>
            <a:r>
              <a:rPr lang="zh-CN" altLang="en-US"/>
              <a:t>、</a:t>
            </a:r>
            <a:r>
              <a:rPr lang="en-US" altLang="zh-CN"/>
              <a:t>1</a:t>
            </a:r>
            <a:r>
              <a:rPr lang="zh-CN" altLang="en-US"/>
              <a:t>序列构成的指令码组成。</a:t>
            </a:r>
          </a:p>
          <a:p>
            <a:r>
              <a:rPr lang="zh-CN" altLang="en-US"/>
              <a:t>特点：</a:t>
            </a:r>
          </a:p>
          <a:p>
            <a:r>
              <a:rPr lang="zh-CN" altLang="en-US"/>
              <a:t>执行效率高</a:t>
            </a:r>
          </a:p>
          <a:p>
            <a:r>
              <a:rPr lang="zh-CN" altLang="en-US"/>
              <a:t>不直观，不易查错，生产效率低。</a:t>
            </a:r>
          </a:p>
          <a:p>
            <a:r>
              <a:rPr lang="en-US" altLang="zh-CN"/>
              <a:t>2</a:t>
            </a:r>
            <a:r>
              <a:rPr lang="zh-CN" altLang="en-US"/>
              <a:t>。汇编语言</a:t>
            </a:r>
          </a:p>
          <a:p>
            <a:r>
              <a:rPr lang="zh-CN" altLang="en-US"/>
              <a:t>定义：用助记符号描述的指令系统</a:t>
            </a:r>
          </a:p>
          <a:p>
            <a:r>
              <a:rPr lang="zh-CN" altLang="en-US"/>
              <a:t>特点：</a:t>
            </a:r>
          </a:p>
          <a:p>
            <a:r>
              <a:rPr lang="zh-CN" altLang="en-US"/>
              <a:t>生产效率高，质量好，执行效率较高；</a:t>
            </a:r>
          </a:p>
          <a:p>
            <a:r>
              <a:rPr lang="zh-CN" altLang="en-US"/>
              <a:t>要经汇编程序汇编成目标程序（机器语言）才能执行，依赖硬件。</a:t>
            </a:r>
          </a:p>
          <a:p>
            <a:r>
              <a:rPr lang="zh-CN" altLang="en-US"/>
              <a:t>（面向机器的语言</a:t>
            </a:r>
            <a:r>
              <a:rPr lang="en-US" altLang="zh-CN"/>
              <a:t>----</a:t>
            </a:r>
            <a:r>
              <a:rPr lang="zh-CN" altLang="en-US"/>
              <a:t>依</a:t>
            </a:r>
            <a:r>
              <a:rPr lang="en-US" altLang="zh-CN"/>
              <a:t>CPU</a:t>
            </a:r>
            <a:r>
              <a:rPr lang="zh-CN" altLang="en-US"/>
              <a:t>不同而异）</a:t>
            </a:r>
          </a:p>
          <a:p>
            <a:r>
              <a:rPr lang="en-US" altLang="zh-CN"/>
              <a:t>3</a:t>
            </a:r>
            <a:r>
              <a:rPr lang="zh-CN" altLang="en-US"/>
              <a:t>。高级语言</a:t>
            </a:r>
          </a:p>
          <a:p>
            <a:r>
              <a:rPr lang="zh-CN" altLang="en-US"/>
              <a:t>特点：</a:t>
            </a:r>
          </a:p>
          <a:p>
            <a:r>
              <a:rPr lang="zh-CN" altLang="en-US"/>
              <a:t>编程效率高，不必考虑硬件；</a:t>
            </a:r>
          </a:p>
          <a:p>
            <a:r>
              <a:rPr lang="zh-CN" altLang="en-US"/>
              <a:t>执行效率低，要经编译、连接后才能执行。</a:t>
            </a:r>
          </a:p>
          <a:p>
            <a:r>
              <a:rPr lang="zh-CN" altLang="en-US"/>
              <a:t>面向过程的程序设计语言</a:t>
            </a:r>
          </a:p>
          <a:p>
            <a:r>
              <a:rPr lang="zh-CN" altLang="en-US"/>
              <a:t>认为解题过程是数据被加工的过程</a:t>
            </a:r>
          </a:p>
          <a:p>
            <a:r>
              <a:rPr lang="zh-CN" altLang="en-US"/>
              <a:t>程序</a:t>
            </a:r>
            <a:r>
              <a:rPr lang="en-US" altLang="zh-CN"/>
              <a:t>=</a:t>
            </a:r>
            <a:r>
              <a:rPr lang="zh-CN" altLang="en-US"/>
              <a:t>数据结构</a:t>
            </a:r>
            <a:r>
              <a:rPr lang="en-US" altLang="zh-CN"/>
              <a:t>+</a:t>
            </a:r>
            <a:r>
              <a:rPr lang="zh-CN" altLang="en-US"/>
              <a:t>算法</a:t>
            </a:r>
          </a:p>
          <a:p>
            <a:r>
              <a:rPr lang="en-US" altLang="zh-CN"/>
              <a:t>C</a:t>
            </a:r>
            <a:r>
              <a:rPr lang="zh-CN" altLang="en-US"/>
              <a:t>语言是面向过程的高级语言</a:t>
            </a:r>
          </a:p>
          <a:p>
            <a:r>
              <a:rPr lang="zh-CN" altLang="en-US"/>
              <a:t>           面向对象的程序设计语言</a:t>
            </a:r>
          </a:p>
          <a:p>
            <a:r>
              <a:rPr lang="zh-CN" altLang="en-US"/>
              <a:t>一种结构模拟方法。认为：现实世界由对象组成，对象是数据和方法的封装体；客观世界可以分类，每个对象是类的一个实例。</a:t>
            </a:r>
          </a:p>
          <a:p>
            <a:r>
              <a:rPr lang="zh-CN" altLang="en-US"/>
              <a:t>特点：比面向过程的语言更清晰、易懂，适宜编更大规模程序，是程序设计的主流</a:t>
            </a:r>
          </a:p>
          <a:p>
            <a:endParaRPr lang="zh-CN" altLang="en-US"/>
          </a:p>
          <a:p>
            <a:r>
              <a:rPr lang="zh-CN" altLang="en-US"/>
              <a:t>程序设计语言基本成分：</a:t>
            </a:r>
          </a:p>
          <a:p>
            <a:r>
              <a:rPr lang="zh-CN" altLang="en-US"/>
              <a:t>。数据成分</a:t>
            </a:r>
          </a:p>
          <a:p>
            <a:r>
              <a:rPr lang="zh-CN" altLang="en-US"/>
              <a:t>。运算成分</a:t>
            </a:r>
          </a:p>
          <a:p>
            <a:r>
              <a:rPr lang="zh-CN" altLang="en-US"/>
              <a:t>。控制成分</a:t>
            </a:r>
          </a:p>
          <a:p>
            <a:r>
              <a:rPr lang="zh-CN" altLang="en-US"/>
              <a:t>。传输成分	</a:t>
            </a:r>
          </a:p>
          <a:p>
            <a:endParaRPr lang="zh-CN" altLang="en-US"/>
          </a:p>
          <a:p>
            <a:r>
              <a:rPr lang="zh-CN" altLang="en-US"/>
              <a:t>程序设计语言定义：用于书写计算机程序的语言。通常指实现高级语言。</a:t>
            </a:r>
          </a:p>
          <a:p>
            <a:r>
              <a:rPr lang="zh-CN" altLang="en-US"/>
              <a:t>语言的基础是一组记号与一组规则。</a:t>
            </a:r>
          </a:p>
          <a:p>
            <a:r>
              <a:rPr lang="zh-CN" altLang="en-US"/>
              <a:t>程序设计语言包括：</a:t>
            </a:r>
          </a:p>
          <a:p>
            <a:r>
              <a:rPr lang="zh-CN" altLang="en-US"/>
              <a:t>语法：记号的组合规则</a:t>
            </a:r>
          </a:p>
          <a:p>
            <a:r>
              <a:rPr lang="zh-CN" altLang="en-US"/>
              <a:t>语义：记号的特定意义</a:t>
            </a:r>
          </a:p>
          <a:p>
            <a:r>
              <a:rPr lang="zh-CN" altLang="en-US"/>
              <a:t>语用：程序与使用者的关系</a:t>
            </a:r>
          </a:p>
          <a:p>
            <a:endParaRPr lang="zh-CN" altLang="en-US"/>
          </a:p>
          <a:p>
            <a:endParaRPr lang="en-US" altLang="zh-CN"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F4EE7F39-98A8-4187-B1FE-749B5B814AA6}" type="slidenum">
              <a:rPr lang="en-US" altLang="zh-CN"/>
              <a:pPr/>
              <a:t>36</a:t>
            </a:fld>
            <a:endParaRPr lang="en-US" altLang="zh-CN"/>
          </a:p>
        </p:txBody>
      </p:sp>
      <p:sp>
        <p:nvSpPr>
          <p:cNvPr id="111206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111206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</p:spPr>
        <p:txBody>
          <a:bodyPr/>
          <a:lstStyle/>
          <a:p>
            <a:r>
              <a:rPr lang="en-US" altLang="zh-CN"/>
              <a:t>1946</a:t>
            </a:r>
            <a:r>
              <a:rPr lang="zh-CN" altLang="en-US"/>
              <a:t>年，第一台电子计算机问世，应用领域迅速扩大，软硬件飞速发展，程序设计语言相继问世。</a:t>
            </a:r>
          </a:p>
          <a:p>
            <a:r>
              <a:rPr lang="zh-CN" altLang="en-US"/>
              <a:t>程序设计语言</a:t>
            </a:r>
            <a:r>
              <a:rPr lang="en-US" altLang="zh-CN"/>
              <a:t>:</a:t>
            </a:r>
            <a:r>
              <a:rPr lang="zh-CN" altLang="en-US"/>
              <a:t>将自然语言形式化为有格式的语言</a:t>
            </a:r>
          </a:p>
          <a:p>
            <a:r>
              <a:rPr lang="en-US" altLang="zh-CN"/>
              <a:t>1</a:t>
            </a:r>
            <a:r>
              <a:rPr lang="zh-CN" altLang="en-US"/>
              <a:t>。机器语言：</a:t>
            </a:r>
          </a:p>
          <a:p>
            <a:pPr lvl="2">
              <a:buClr>
                <a:schemeClr val="tx2"/>
              </a:buClr>
              <a:buFontTx/>
              <a:buChar char="•"/>
            </a:pPr>
            <a:r>
              <a:rPr lang="zh-CN" altLang="en-US"/>
              <a:t>计算机能够认识的语言</a:t>
            </a:r>
          </a:p>
          <a:p>
            <a:pPr lvl="2">
              <a:buClr>
                <a:schemeClr val="tx2"/>
              </a:buClr>
              <a:buFontTx/>
              <a:buChar char="•"/>
            </a:pPr>
            <a:r>
              <a:rPr lang="zh-CN" altLang="en-US"/>
              <a:t>计算机的基础是数字电路</a:t>
            </a:r>
          </a:p>
          <a:p>
            <a:pPr lvl="2">
              <a:buClr>
                <a:schemeClr val="tx2"/>
              </a:buClr>
              <a:buFontTx/>
              <a:buChar char="•"/>
            </a:pPr>
            <a:r>
              <a:rPr lang="zh-CN" altLang="en-US"/>
              <a:t>机器语言就是数字电路里的电信号</a:t>
            </a:r>
          </a:p>
          <a:p>
            <a:pPr lvl="2">
              <a:buClr>
                <a:schemeClr val="tx2"/>
              </a:buClr>
              <a:buFontTx/>
              <a:buChar char="•"/>
            </a:pPr>
            <a:r>
              <a:rPr lang="zh-CN" altLang="en-US"/>
              <a:t>将在</a:t>
            </a:r>
            <a:r>
              <a:rPr lang="en-US" altLang="zh-CN"/>
              <a:t>《</a:t>
            </a:r>
            <a:r>
              <a:rPr lang="zh-CN" altLang="en-US"/>
              <a:t>计算机组成</a:t>
            </a:r>
            <a:r>
              <a:rPr lang="en-US" altLang="zh-CN"/>
              <a:t>》</a:t>
            </a:r>
            <a:r>
              <a:rPr lang="zh-CN" altLang="en-US"/>
              <a:t>课程中学习</a:t>
            </a:r>
          </a:p>
          <a:p>
            <a:pPr lvl="2">
              <a:buClr>
                <a:schemeClr val="tx2"/>
              </a:buClr>
              <a:buFontTx/>
              <a:buChar char="•"/>
            </a:pPr>
            <a:r>
              <a:rPr lang="zh-CN" altLang="en-US"/>
              <a:t>都是二进制文件</a:t>
            </a:r>
          </a:p>
          <a:p>
            <a:pPr lvl="2">
              <a:buClr>
                <a:schemeClr val="tx2"/>
              </a:buClr>
              <a:buFontTx/>
              <a:buChar char="•"/>
            </a:pPr>
            <a:r>
              <a:rPr lang="zh-CN" altLang="en-US"/>
              <a:t>一条机器语言成为一条指令</a:t>
            </a:r>
          </a:p>
          <a:p>
            <a:pPr lvl="2">
              <a:buClr>
                <a:schemeClr val="tx2"/>
              </a:buClr>
              <a:buFontTx/>
              <a:buChar char="•"/>
            </a:pPr>
            <a:r>
              <a:rPr lang="zh-CN" altLang="en-US"/>
              <a:t>指令是不可分割的最小功能单元</a:t>
            </a:r>
          </a:p>
          <a:p>
            <a:r>
              <a:rPr lang="zh-CN" altLang="en-US"/>
              <a:t>定义：一种</a:t>
            </a:r>
            <a:r>
              <a:rPr lang="en-US" altLang="zh-CN"/>
              <a:t>CPU</a:t>
            </a:r>
            <a:r>
              <a:rPr lang="zh-CN" altLang="en-US"/>
              <a:t>的指令系统，由该</a:t>
            </a:r>
            <a:r>
              <a:rPr lang="en-US" altLang="zh-CN"/>
              <a:t>CPU</a:t>
            </a:r>
            <a:r>
              <a:rPr lang="zh-CN" altLang="en-US"/>
              <a:t>可识别的</a:t>
            </a:r>
            <a:r>
              <a:rPr lang="en-US" altLang="zh-CN"/>
              <a:t>0</a:t>
            </a:r>
            <a:r>
              <a:rPr lang="zh-CN" altLang="en-US"/>
              <a:t>、</a:t>
            </a:r>
            <a:r>
              <a:rPr lang="en-US" altLang="zh-CN"/>
              <a:t>1</a:t>
            </a:r>
            <a:r>
              <a:rPr lang="zh-CN" altLang="en-US"/>
              <a:t>序列构成的指令码组成。</a:t>
            </a:r>
          </a:p>
          <a:p>
            <a:r>
              <a:rPr lang="zh-CN" altLang="en-US"/>
              <a:t>特点：</a:t>
            </a:r>
          </a:p>
          <a:p>
            <a:r>
              <a:rPr lang="zh-CN" altLang="en-US"/>
              <a:t>执行效率高</a:t>
            </a:r>
          </a:p>
          <a:p>
            <a:r>
              <a:rPr lang="zh-CN" altLang="en-US"/>
              <a:t>不直观，不易查错，生产效率低。</a:t>
            </a:r>
          </a:p>
          <a:p>
            <a:r>
              <a:rPr lang="en-US" altLang="zh-CN"/>
              <a:t>2</a:t>
            </a:r>
            <a:r>
              <a:rPr lang="zh-CN" altLang="en-US"/>
              <a:t>。汇编语言</a:t>
            </a:r>
          </a:p>
          <a:p>
            <a:r>
              <a:rPr lang="zh-CN" altLang="en-US"/>
              <a:t>定义：用助记符号描述的指令系统</a:t>
            </a:r>
          </a:p>
          <a:p>
            <a:r>
              <a:rPr lang="zh-CN" altLang="en-US"/>
              <a:t>特点：</a:t>
            </a:r>
          </a:p>
          <a:p>
            <a:r>
              <a:rPr lang="zh-CN" altLang="en-US"/>
              <a:t>生产效率高，质量好，执行效率较高；</a:t>
            </a:r>
          </a:p>
          <a:p>
            <a:r>
              <a:rPr lang="zh-CN" altLang="en-US"/>
              <a:t>要经汇编程序汇编成目标程序（机器语言）才能执行，依赖硬件。</a:t>
            </a:r>
          </a:p>
          <a:p>
            <a:r>
              <a:rPr lang="zh-CN" altLang="en-US"/>
              <a:t>（面向机器的语言</a:t>
            </a:r>
            <a:r>
              <a:rPr lang="en-US" altLang="zh-CN"/>
              <a:t>----</a:t>
            </a:r>
            <a:r>
              <a:rPr lang="zh-CN" altLang="en-US"/>
              <a:t>依</a:t>
            </a:r>
            <a:r>
              <a:rPr lang="en-US" altLang="zh-CN"/>
              <a:t>CPU</a:t>
            </a:r>
            <a:r>
              <a:rPr lang="zh-CN" altLang="en-US"/>
              <a:t>不同而异）</a:t>
            </a:r>
          </a:p>
          <a:p>
            <a:r>
              <a:rPr lang="en-US" altLang="zh-CN"/>
              <a:t>3</a:t>
            </a:r>
            <a:r>
              <a:rPr lang="zh-CN" altLang="en-US"/>
              <a:t>。高级语言</a:t>
            </a:r>
          </a:p>
          <a:p>
            <a:r>
              <a:rPr lang="zh-CN" altLang="en-US"/>
              <a:t>特点：</a:t>
            </a:r>
          </a:p>
          <a:p>
            <a:r>
              <a:rPr lang="zh-CN" altLang="en-US"/>
              <a:t>编程效率高，不必考虑硬件；</a:t>
            </a:r>
          </a:p>
          <a:p>
            <a:r>
              <a:rPr lang="zh-CN" altLang="en-US"/>
              <a:t>执行效率低，要经编译、连接后才能执行。</a:t>
            </a:r>
          </a:p>
          <a:p>
            <a:r>
              <a:rPr lang="zh-CN" altLang="en-US"/>
              <a:t>面向过程的程序设计语言</a:t>
            </a:r>
          </a:p>
          <a:p>
            <a:r>
              <a:rPr lang="zh-CN" altLang="en-US"/>
              <a:t>认为解题过程是数据被加工的过程</a:t>
            </a:r>
          </a:p>
          <a:p>
            <a:r>
              <a:rPr lang="zh-CN" altLang="en-US"/>
              <a:t>程序</a:t>
            </a:r>
            <a:r>
              <a:rPr lang="en-US" altLang="zh-CN"/>
              <a:t>=</a:t>
            </a:r>
            <a:r>
              <a:rPr lang="zh-CN" altLang="en-US"/>
              <a:t>数据结构</a:t>
            </a:r>
            <a:r>
              <a:rPr lang="en-US" altLang="zh-CN"/>
              <a:t>+</a:t>
            </a:r>
            <a:r>
              <a:rPr lang="zh-CN" altLang="en-US"/>
              <a:t>算法</a:t>
            </a:r>
          </a:p>
          <a:p>
            <a:r>
              <a:rPr lang="en-US" altLang="zh-CN"/>
              <a:t>C</a:t>
            </a:r>
            <a:r>
              <a:rPr lang="zh-CN" altLang="en-US"/>
              <a:t>语言是面向过程的高级语言</a:t>
            </a:r>
          </a:p>
          <a:p>
            <a:r>
              <a:rPr lang="zh-CN" altLang="en-US"/>
              <a:t>           面向对象的程序设计语言</a:t>
            </a:r>
          </a:p>
          <a:p>
            <a:r>
              <a:rPr lang="zh-CN" altLang="en-US"/>
              <a:t>一种结构模拟方法。认为：现实世界由对象组成，对象是数据和方法的封装体；客观世界可以分类，每个对象是类的一个实例。</a:t>
            </a:r>
          </a:p>
          <a:p>
            <a:r>
              <a:rPr lang="zh-CN" altLang="en-US"/>
              <a:t>特点：比面向过程的语言更清晰、易懂，适宜编更大规模程序，是程序设计的主流</a:t>
            </a:r>
          </a:p>
          <a:p>
            <a:endParaRPr lang="zh-CN" altLang="en-US"/>
          </a:p>
          <a:p>
            <a:r>
              <a:rPr lang="zh-CN" altLang="en-US"/>
              <a:t>程序设计语言基本成分：</a:t>
            </a:r>
          </a:p>
          <a:p>
            <a:r>
              <a:rPr lang="zh-CN" altLang="en-US"/>
              <a:t>。数据成分</a:t>
            </a:r>
          </a:p>
          <a:p>
            <a:r>
              <a:rPr lang="zh-CN" altLang="en-US"/>
              <a:t>。运算成分</a:t>
            </a:r>
          </a:p>
          <a:p>
            <a:r>
              <a:rPr lang="zh-CN" altLang="en-US"/>
              <a:t>。控制成分</a:t>
            </a:r>
          </a:p>
          <a:p>
            <a:r>
              <a:rPr lang="zh-CN" altLang="en-US"/>
              <a:t>。传输成分	</a:t>
            </a:r>
          </a:p>
          <a:p>
            <a:endParaRPr lang="zh-CN" altLang="en-US"/>
          </a:p>
          <a:p>
            <a:r>
              <a:rPr lang="zh-CN" altLang="en-US"/>
              <a:t>程序设计语言定义：用于书写计算机程序的语言。通常指实现高级语言。</a:t>
            </a:r>
          </a:p>
          <a:p>
            <a:r>
              <a:rPr lang="zh-CN" altLang="en-US"/>
              <a:t>语言的基础是一组记号与一组规则。</a:t>
            </a:r>
          </a:p>
          <a:p>
            <a:r>
              <a:rPr lang="zh-CN" altLang="en-US"/>
              <a:t>程序设计语言包括：</a:t>
            </a:r>
          </a:p>
          <a:p>
            <a:r>
              <a:rPr lang="zh-CN" altLang="en-US"/>
              <a:t>语法：记号的组合规则</a:t>
            </a:r>
          </a:p>
          <a:p>
            <a:r>
              <a:rPr lang="zh-CN" altLang="en-US"/>
              <a:t>语义：记号的特定意义</a:t>
            </a:r>
          </a:p>
          <a:p>
            <a:r>
              <a:rPr lang="zh-CN" altLang="en-US"/>
              <a:t>语用：程序与使用者的关系</a:t>
            </a:r>
          </a:p>
          <a:p>
            <a:endParaRPr lang="zh-CN" altLang="en-US"/>
          </a:p>
          <a:p>
            <a:endParaRPr lang="en-US" altLang="zh-CN"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4B1A84B1-BE09-43ED-94BA-F33A84814D00}" type="slidenum">
              <a:rPr lang="en-US" altLang="zh-CN"/>
              <a:pPr/>
              <a:t>37</a:t>
            </a:fld>
            <a:endParaRPr lang="en-US" altLang="zh-CN"/>
          </a:p>
        </p:txBody>
      </p:sp>
      <p:sp>
        <p:nvSpPr>
          <p:cNvPr id="111411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111411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</p:spPr>
        <p:txBody>
          <a:bodyPr/>
          <a:lstStyle/>
          <a:p>
            <a:r>
              <a:rPr lang="en-US" altLang="zh-CN"/>
              <a:t>1946</a:t>
            </a:r>
            <a:r>
              <a:rPr lang="zh-CN" altLang="en-US"/>
              <a:t>年，第一台电子计算机问世，应用领域迅速扩大，软硬件飞速发展，程序设计语言相继问世。</a:t>
            </a:r>
          </a:p>
          <a:p>
            <a:r>
              <a:rPr lang="zh-CN" altLang="en-US"/>
              <a:t>程序设计语言</a:t>
            </a:r>
            <a:r>
              <a:rPr lang="en-US" altLang="zh-CN"/>
              <a:t>:</a:t>
            </a:r>
            <a:r>
              <a:rPr lang="zh-CN" altLang="en-US"/>
              <a:t>将自然语言形式化为有格式的语言</a:t>
            </a:r>
          </a:p>
          <a:p>
            <a:r>
              <a:rPr lang="en-US" altLang="zh-CN"/>
              <a:t>1</a:t>
            </a:r>
            <a:r>
              <a:rPr lang="zh-CN" altLang="en-US"/>
              <a:t>。机器语言：</a:t>
            </a:r>
          </a:p>
          <a:p>
            <a:pPr lvl="2">
              <a:buClr>
                <a:schemeClr val="tx2"/>
              </a:buClr>
              <a:buFontTx/>
              <a:buChar char="•"/>
            </a:pPr>
            <a:r>
              <a:rPr lang="zh-CN" altLang="en-US"/>
              <a:t>计算机能够认识的语言</a:t>
            </a:r>
          </a:p>
          <a:p>
            <a:pPr lvl="2">
              <a:buClr>
                <a:schemeClr val="tx2"/>
              </a:buClr>
              <a:buFontTx/>
              <a:buChar char="•"/>
            </a:pPr>
            <a:r>
              <a:rPr lang="zh-CN" altLang="en-US"/>
              <a:t>计算机的基础是数字电路</a:t>
            </a:r>
          </a:p>
          <a:p>
            <a:pPr lvl="2">
              <a:buClr>
                <a:schemeClr val="tx2"/>
              </a:buClr>
              <a:buFontTx/>
              <a:buChar char="•"/>
            </a:pPr>
            <a:r>
              <a:rPr lang="zh-CN" altLang="en-US"/>
              <a:t>机器语言就是数字电路里的电信号</a:t>
            </a:r>
          </a:p>
          <a:p>
            <a:pPr lvl="2">
              <a:buClr>
                <a:schemeClr val="tx2"/>
              </a:buClr>
              <a:buFontTx/>
              <a:buChar char="•"/>
            </a:pPr>
            <a:r>
              <a:rPr lang="zh-CN" altLang="en-US"/>
              <a:t>将在</a:t>
            </a:r>
            <a:r>
              <a:rPr lang="en-US" altLang="zh-CN"/>
              <a:t>《</a:t>
            </a:r>
            <a:r>
              <a:rPr lang="zh-CN" altLang="en-US"/>
              <a:t>计算机组成</a:t>
            </a:r>
            <a:r>
              <a:rPr lang="en-US" altLang="zh-CN"/>
              <a:t>》</a:t>
            </a:r>
            <a:r>
              <a:rPr lang="zh-CN" altLang="en-US"/>
              <a:t>课程中学习</a:t>
            </a:r>
          </a:p>
          <a:p>
            <a:pPr lvl="2">
              <a:buClr>
                <a:schemeClr val="tx2"/>
              </a:buClr>
              <a:buFontTx/>
              <a:buChar char="•"/>
            </a:pPr>
            <a:r>
              <a:rPr lang="zh-CN" altLang="en-US"/>
              <a:t>都是二进制文件</a:t>
            </a:r>
          </a:p>
          <a:p>
            <a:pPr lvl="2">
              <a:buClr>
                <a:schemeClr val="tx2"/>
              </a:buClr>
              <a:buFontTx/>
              <a:buChar char="•"/>
            </a:pPr>
            <a:r>
              <a:rPr lang="zh-CN" altLang="en-US"/>
              <a:t>一条机器语言成为一条指令</a:t>
            </a:r>
          </a:p>
          <a:p>
            <a:pPr lvl="2">
              <a:buClr>
                <a:schemeClr val="tx2"/>
              </a:buClr>
              <a:buFontTx/>
              <a:buChar char="•"/>
            </a:pPr>
            <a:r>
              <a:rPr lang="zh-CN" altLang="en-US"/>
              <a:t>指令是不可分割的最小功能单元</a:t>
            </a:r>
          </a:p>
          <a:p>
            <a:r>
              <a:rPr lang="zh-CN" altLang="en-US"/>
              <a:t>定义：一种</a:t>
            </a:r>
            <a:r>
              <a:rPr lang="en-US" altLang="zh-CN"/>
              <a:t>CPU</a:t>
            </a:r>
            <a:r>
              <a:rPr lang="zh-CN" altLang="en-US"/>
              <a:t>的指令系统，由该</a:t>
            </a:r>
            <a:r>
              <a:rPr lang="en-US" altLang="zh-CN"/>
              <a:t>CPU</a:t>
            </a:r>
            <a:r>
              <a:rPr lang="zh-CN" altLang="en-US"/>
              <a:t>可识别的</a:t>
            </a:r>
            <a:r>
              <a:rPr lang="en-US" altLang="zh-CN"/>
              <a:t>0</a:t>
            </a:r>
            <a:r>
              <a:rPr lang="zh-CN" altLang="en-US"/>
              <a:t>、</a:t>
            </a:r>
            <a:r>
              <a:rPr lang="en-US" altLang="zh-CN"/>
              <a:t>1</a:t>
            </a:r>
            <a:r>
              <a:rPr lang="zh-CN" altLang="en-US"/>
              <a:t>序列构成的指令码组成。</a:t>
            </a:r>
          </a:p>
          <a:p>
            <a:r>
              <a:rPr lang="zh-CN" altLang="en-US"/>
              <a:t>特点：</a:t>
            </a:r>
          </a:p>
          <a:p>
            <a:r>
              <a:rPr lang="zh-CN" altLang="en-US"/>
              <a:t>执行效率高</a:t>
            </a:r>
          </a:p>
          <a:p>
            <a:r>
              <a:rPr lang="zh-CN" altLang="en-US"/>
              <a:t>不直观，不易查错，生产效率低。</a:t>
            </a:r>
          </a:p>
          <a:p>
            <a:r>
              <a:rPr lang="en-US" altLang="zh-CN"/>
              <a:t>2</a:t>
            </a:r>
            <a:r>
              <a:rPr lang="zh-CN" altLang="en-US"/>
              <a:t>。汇编语言</a:t>
            </a:r>
          </a:p>
          <a:p>
            <a:r>
              <a:rPr lang="zh-CN" altLang="en-US"/>
              <a:t>定义：用助记符号描述的指令系统</a:t>
            </a:r>
          </a:p>
          <a:p>
            <a:r>
              <a:rPr lang="zh-CN" altLang="en-US"/>
              <a:t>特点：</a:t>
            </a:r>
          </a:p>
          <a:p>
            <a:r>
              <a:rPr lang="zh-CN" altLang="en-US"/>
              <a:t>生产效率高，质量好，执行效率较高；</a:t>
            </a:r>
          </a:p>
          <a:p>
            <a:r>
              <a:rPr lang="zh-CN" altLang="en-US"/>
              <a:t>要经汇编程序汇编成目标程序（机器语言）才能执行，依赖硬件。</a:t>
            </a:r>
          </a:p>
          <a:p>
            <a:r>
              <a:rPr lang="zh-CN" altLang="en-US"/>
              <a:t>（面向机器的语言</a:t>
            </a:r>
            <a:r>
              <a:rPr lang="en-US" altLang="zh-CN"/>
              <a:t>----</a:t>
            </a:r>
            <a:r>
              <a:rPr lang="zh-CN" altLang="en-US"/>
              <a:t>依</a:t>
            </a:r>
            <a:r>
              <a:rPr lang="en-US" altLang="zh-CN"/>
              <a:t>CPU</a:t>
            </a:r>
            <a:r>
              <a:rPr lang="zh-CN" altLang="en-US"/>
              <a:t>不同而异）</a:t>
            </a:r>
          </a:p>
          <a:p>
            <a:r>
              <a:rPr lang="en-US" altLang="zh-CN"/>
              <a:t>3</a:t>
            </a:r>
            <a:r>
              <a:rPr lang="zh-CN" altLang="en-US"/>
              <a:t>。高级语言</a:t>
            </a:r>
          </a:p>
          <a:p>
            <a:r>
              <a:rPr lang="zh-CN" altLang="en-US"/>
              <a:t>特点：</a:t>
            </a:r>
          </a:p>
          <a:p>
            <a:r>
              <a:rPr lang="zh-CN" altLang="en-US"/>
              <a:t>编程效率高，不必考虑硬件；</a:t>
            </a:r>
          </a:p>
          <a:p>
            <a:r>
              <a:rPr lang="zh-CN" altLang="en-US"/>
              <a:t>执行效率低，要经编译、连接后才能执行。</a:t>
            </a:r>
          </a:p>
          <a:p>
            <a:r>
              <a:rPr lang="zh-CN" altLang="en-US"/>
              <a:t>面向过程的程序设计语言</a:t>
            </a:r>
          </a:p>
          <a:p>
            <a:r>
              <a:rPr lang="zh-CN" altLang="en-US"/>
              <a:t>认为解题过程是数据被加工的过程</a:t>
            </a:r>
          </a:p>
          <a:p>
            <a:r>
              <a:rPr lang="zh-CN" altLang="en-US"/>
              <a:t>程序</a:t>
            </a:r>
            <a:r>
              <a:rPr lang="en-US" altLang="zh-CN"/>
              <a:t>=</a:t>
            </a:r>
            <a:r>
              <a:rPr lang="zh-CN" altLang="en-US"/>
              <a:t>数据结构</a:t>
            </a:r>
            <a:r>
              <a:rPr lang="en-US" altLang="zh-CN"/>
              <a:t>+</a:t>
            </a:r>
            <a:r>
              <a:rPr lang="zh-CN" altLang="en-US"/>
              <a:t>算法</a:t>
            </a:r>
          </a:p>
          <a:p>
            <a:r>
              <a:rPr lang="en-US" altLang="zh-CN"/>
              <a:t>C</a:t>
            </a:r>
            <a:r>
              <a:rPr lang="zh-CN" altLang="en-US"/>
              <a:t>语言是面向过程的高级语言</a:t>
            </a:r>
          </a:p>
          <a:p>
            <a:r>
              <a:rPr lang="zh-CN" altLang="en-US"/>
              <a:t>           面向对象的程序设计语言</a:t>
            </a:r>
          </a:p>
          <a:p>
            <a:r>
              <a:rPr lang="zh-CN" altLang="en-US"/>
              <a:t>一种结构模拟方法。认为：现实世界由对象组成，对象是数据和方法的封装体；客观世界可以分类，每个对象是类的一个实例。</a:t>
            </a:r>
          </a:p>
          <a:p>
            <a:r>
              <a:rPr lang="zh-CN" altLang="en-US"/>
              <a:t>特点：比面向过程的语言更清晰、易懂，适宜编更大规模程序，是程序设计的主流</a:t>
            </a:r>
          </a:p>
          <a:p>
            <a:endParaRPr lang="zh-CN" altLang="en-US"/>
          </a:p>
          <a:p>
            <a:r>
              <a:rPr lang="zh-CN" altLang="en-US"/>
              <a:t>程序设计语言基本成分：</a:t>
            </a:r>
          </a:p>
          <a:p>
            <a:r>
              <a:rPr lang="zh-CN" altLang="en-US"/>
              <a:t>。数据成分</a:t>
            </a:r>
          </a:p>
          <a:p>
            <a:r>
              <a:rPr lang="zh-CN" altLang="en-US"/>
              <a:t>。运算成分</a:t>
            </a:r>
          </a:p>
          <a:p>
            <a:r>
              <a:rPr lang="zh-CN" altLang="en-US"/>
              <a:t>。控制成分</a:t>
            </a:r>
          </a:p>
          <a:p>
            <a:r>
              <a:rPr lang="zh-CN" altLang="en-US"/>
              <a:t>。传输成分	</a:t>
            </a:r>
          </a:p>
          <a:p>
            <a:endParaRPr lang="zh-CN" altLang="en-US"/>
          </a:p>
          <a:p>
            <a:r>
              <a:rPr lang="zh-CN" altLang="en-US"/>
              <a:t>程序设计语言定义：用于书写计算机程序的语言。通常指实现高级语言。</a:t>
            </a:r>
          </a:p>
          <a:p>
            <a:r>
              <a:rPr lang="zh-CN" altLang="en-US"/>
              <a:t>语言的基础是一组记号与一组规则。</a:t>
            </a:r>
          </a:p>
          <a:p>
            <a:r>
              <a:rPr lang="zh-CN" altLang="en-US"/>
              <a:t>程序设计语言包括：</a:t>
            </a:r>
          </a:p>
          <a:p>
            <a:r>
              <a:rPr lang="zh-CN" altLang="en-US"/>
              <a:t>语法：记号的组合规则</a:t>
            </a:r>
          </a:p>
          <a:p>
            <a:r>
              <a:rPr lang="zh-CN" altLang="en-US"/>
              <a:t>语义：记号的特定意义</a:t>
            </a:r>
          </a:p>
          <a:p>
            <a:r>
              <a:rPr lang="zh-CN" altLang="en-US"/>
              <a:t>语用：程序与使用者的关系</a:t>
            </a:r>
          </a:p>
          <a:p>
            <a:endParaRPr lang="zh-CN" altLang="en-US"/>
          </a:p>
          <a:p>
            <a:endParaRPr lang="en-US" altLang="zh-CN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FE68E47-D7A9-4900-8186-A3E5AE69C216}" type="slidenum">
              <a:rPr lang="en-US" altLang="zh-CN"/>
              <a:pPr/>
              <a:t>‹#›</a:t>
            </a:fld>
            <a:endParaRPr lang="en-US" altLang="zh-CN"/>
          </a:p>
        </p:txBody>
      </p:sp>
    </p:spTree>
  </p:cSld>
  <p:clrMapOvr>
    <a:masterClrMapping/>
  </p:clrMapOvr>
  <p:transition>
    <p:zoom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5D14481-8F8B-464D-99F4-B8F0476D26B5}" type="slidenum">
              <a:rPr lang="en-US" altLang="zh-CN"/>
              <a:pPr/>
              <a:t>‹#›</a:t>
            </a:fld>
            <a:endParaRPr lang="en-US" altLang="zh-CN"/>
          </a:p>
        </p:txBody>
      </p:sp>
    </p:spTree>
  </p:cSld>
  <p:clrMapOvr>
    <a:masterClrMapping/>
  </p:clrMapOvr>
  <p:transition>
    <p:zoom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E315DD4-36F9-4250-801E-73F3000DAB83}" type="slidenum">
              <a:rPr lang="en-US" altLang="zh-CN"/>
              <a:pPr/>
              <a:t>‹#›</a:t>
            </a:fld>
            <a:endParaRPr lang="en-US" altLang="zh-CN"/>
          </a:p>
        </p:txBody>
      </p:sp>
    </p:spTree>
  </p:cSld>
  <p:clrMapOvr>
    <a:masterClrMapping/>
  </p:clrMapOvr>
  <p:transition>
    <p:zoom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914400" y="1341438"/>
            <a:ext cx="5080000" cy="475456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97600" y="1341438"/>
            <a:ext cx="5080000" cy="475456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5270930-3067-42BE-B622-42E613F71CE4}" type="slidenum">
              <a:rPr lang="en-US" altLang="zh-CN"/>
              <a:pPr/>
              <a:t>‹#›</a:t>
            </a:fld>
            <a:endParaRPr lang="en-US" altLang="zh-CN"/>
          </a:p>
        </p:txBody>
      </p:sp>
    </p:spTree>
  </p:cSld>
  <p:clrMapOvr>
    <a:masterClrMapping/>
  </p:clrMapOvr>
  <p:transition>
    <p:zoom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D820988-E95B-4163-9417-E5A5817CDF29}" type="slidenum">
              <a:rPr lang="en-US" altLang="zh-CN"/>
              <a:pPr/>
              <a:t>‹#›</a:t>
            </a:fld>
            <a:endParaRPr lang="en-US" altLang="zh-CN"/>
          </a:p>
        </p:txBody>
      </p:sp>
    </p:spTree>
  </p:cSld>
  <p:clrMapOvr>
    <a:masterClrMapping/>
  </p:clrMapOvr>
  <p:transition>
    <p:zoom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52B9FF3-5093-4949-9ABA-456933D4A0FB}" type="slidenum">
              <a:rPr lang="en-US" altLang="zh-CN"/>
              <a:pPr/>
              <a:t>‹#›</a:t>
            </a:fld>
            <a:endParaRPr lang="en-US" altLang="zh-CN"/>
          </a:p>
        </p:txBody>
      </p:sp>
    </p:spTree>
  </p:cSld>
  <p:clrMapOvr>
    <a:masterClrMapping/>
  </p:clrMapOvr>
  <p:transition>
    <p:zoom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95E18EB-A05A-471D-9B57-C7BD47765E92}" type="slidenum">
              <a:rPr lang="en-US" altLang="zh-CN"/>
              <a:pPr/>
              <a:t>‹#›</a:t>
            </a:fld>
            <a:endParaRPr lang="en-US" altLang="zh-CN"/>
          </a:p>
        </p:txBody>
      </p:sp>
    </p:spTree>
  </p:cSld>
  <p:clrMapOvr>
    <a:masterClrMapping/>
  </p:clrMapOvr>
  <p:transition>
    <p:zoom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D6691D0-20AA-4C8B-9498-09EC292E4410}" type="slidenum">
              <a:rPr lang="en-US" altLang="zh-CN"/>
              <a:pPr/>
              <a:t>‹#›</a:t>
            </a:fld>
            <a:endParaRPr lang="en-US" altLang="zh-CN"/>
          </a:p>
        </p:txBody>
      </p:sp>
    </p:spTree>
  </p:cSld>
  <p:clrMapOvr>
    <a:masterClrMapping/>
  </p:clrMapOvr>
  <p:transition>
    <p:zoom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2B0DF90-CD5B-4FA7-9BCD-C60FDA4908D1}" type="slidenum">
              <a:rPr lang="en-US" altLang="zh-CN"/>
              <a:pPr/>
              <a:t>‹#›</a:t>
            </a:fld>
            <a:endParaRPr lang="en-US" altLang="zh-CN"/>
          </a:p>
        </p:txBody>
      </p:sp>
    </p:spTree>
  </p:cSld>
  <p:clrMapOvr>
    <a:masterClrMapping/>
  </p:clrMapOvr>
  <p:transition>
    <p:zoom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6D38636-6DE7-4D25-BBFC-1F929A8CD297}" type="slidenum">
              <a:rPr lang="en-US" altLang="zh-CN"/>
              <a:pPr/>
              <a:t>‹#›</a:t>
            </a:fld>
            <a:endParaRPr lang="en-US" altLang="zh-CN"/>
          </a:p>
        </p:txBody>
      </p:sp>
    </p:spTree>
  </p:cSld>
  <p:clrMapOvr>
    <a:masterClrMapping/>
  </p:clrMapOvr>
  <p:transition>
    <p:zoom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686800" y="115888"/>
            <a:ext cx="2590800" cy="5980112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914400" y="115888"/>
            <a:ext cx="7569200" cy="5980112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D259C8D-1F1A-4151-9C79-0311E05178B2}" type="slidenum">
              <a:rPr lang="en-US" altLang="zh-CN"/>
              <a:pPr/>
              <a:t>‹#›</a:t>
            </a:fld>
            <a:endParaRPr lang="en-US" altLang="zh-CN"/>
          </a:p>
        </p:txBody>
      </p:sp>
    </p:spTree>
  </p:cSld>
  <p:clrMapOvr>
    <a:masterClrMapping/>
  </p:clrMapOvr>
  <p:transition>
    <p:zoom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13" cstate="print"/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914400" y="115888"/>
            <a:ext cx="103632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1341438"/>
            <a:ext cx="10363200" cy="47545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914400" y="6248400"/>
            <a:ext cx="2540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b="1">
                <a:effectLst>
                  <a:outerShdw blurRad="38100" dist="38100" dir="2700000" algn="tl">
                    <a:srgbClr val="FFFFFF"/>
                  </a:outerShdw>
                </a:effectLst>
              </a:defRPr>
            </a:lvl1pPr>
          </a:lstStyle>
          <a:p>
            <a:endParaRPr lang="en-US" altLang="zh-CN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8400"/>
            <a:ext cx="3860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 b="1">
                <a:effectLst>
                  <a:outerShdw blurRad="38100" dist="38100" dir="2700000" algn="tl">
                    <a:srgbClr val="FFFFFF"/>
                  </a:outerShdw>
                </a:effectLst>
              </a:defRPr>
            </a:lvl1pPr>
          </a:lstStyle>
          <a:p>
            <a:endParaRPr lang="en-US" altLang="zh-CN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8400"/>
            <a:ext cx="2540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 b="1">
                <a:effectLst>
                  <a:outerShdw blurRad="38100" dist="38100" dir="2700000" algn="tl">
                    <a:srgbClr val="FFFFFF"/>
                  </a:outerShdw>
                </a:effectLst>
              </a:defRPr>
            </a:lvl1pPr>
          </a:lstStyle>
          <a:p>
            <a:fld id="{2E35B7C3-AFA2-4D3F-A355-6307501A38C8}" type="slidenum">
              <a:rPr lang="en-US" altLang="zh-CN"/>
              <a:pPr/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>
    <p:zoom/>
  </p:transition>
  <p:txStyles>
    <p:titleStyle>
      <a:lvl1pPr algn="ctr" rtl="0" fontAlgn="base">
        <a:spcBef>
          <a:spcPct val="0"/>
        </a:spcBef>
        <a:spcAft>
          <a:spcPct val="0"/>
        </a:spcAft>
        <a:defRPr kumimoji="1" sz="4400" b="1">
          <a:solidFill>
            <a:schemeClr val="tx2"/>
          </a:solidFill>
          <a:effectLst>
            <a:outerShdw blurRad="38100" dist="38100" dir="2700000" algn="tl">
              <a:srgbClr val="FFFFFF"/>
            </a:outerShdw>
          </a:effectLst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kumimoji="1" sz="4400" b="1">
          <a:solidFill>
            <a:schemeClr val="tx2"/>
          </a:solidFill>
          <a:effectLst>
            <a:outerShdw blurRad="38100" dist="38100" dir="2700000" algn="tl">
              <a:srgbClr val="FFFFFF"/>
            </a:outerShdw>
          </a:effectLst>
          <a:latin typeface="Times New Roman" pitchFamily="18" charset="0"/>
          <a:ea typeface="宋体" pitchFamily="2" charset="-122"/>
        </a:defRPr>
      </a:lvl2pPr>
      <a:lvl3pPr algn="ctr" rtl="0" fontAlgn="base">
        <a:spcBef>
          <a:spcPct val="0"/>
        </a:spcBef>
        <a:spcAft>
          <a:spcPct val="0"/>
        </a:spcAft>
        <a:defRPr kumimoji="1" sz="4400" b="1">
          <a:solidFill>
            <a:schemeClr val="tx2"/>
          </a:solidFill>
          <a:effectLst>
            <a:outerShdw blurRad="38100" dist="38100" dir="2700000" algn="tl">
              <a:srgbClr val="FFFFFF"/>
            </a:outerShdw>
          </a:effectLst>
          <a:latin typeface="Times New Roman" pitchFamily="18" charset="0"/>
          <a:ea typeface="宋体" pitchFamily="2" charset="-122"/>
        </a:defRPr>
      </a:lvl3pPr>
      <a:lvl4pPr algn="ctr" rtl="0" fontAlgn="base">
        <a:spcBef>
          <a:spcPct val="0"/>
        </a:spcBef>
        <a:spcAft>
          <a:spcPct val="0"/>
        </a:spcAft>
        <a:defRPr kumimoji="1" sz="4400" b="1">
          <a:solidFill>
            <a:schemeClr val="tx2"/>
          </a:solidFill>
          <a:effectLst>
            <a:outerShdw blurRad="38100" dist="38100" dir="2700000" algn="tl">
              <a:srgbClr val="FFFFFF"/>
            </a:outerShdw>
          </a:effectLst>
          <a:latin typeface="Times New Roman" pitchFamily="18" charset="0"/>
          <a:ea typeface="宋体" pitchFamily="2" charset="-122"/>
        </a:defRPr>
      </a:lvl4pPr>
      <a:lvl5pPr algn="ctr" rtl="0" fontAlgn="base">
        <a:spcBef>
          <a:spcPct val="0"/>
        </a:spcBef>
        <a:spcAft>
          <a:spcPct val="0"/>
        </a:spcAft>
        <a:defRPr kumimoji="1" sz="4400" b="1">
          <a:solidFill>
            <a:schemeClr val="tx2"/>
          </a:solidFill>
          <a:effectLst>
            <a:outerShdw blurRad="38100" dist="38100" dir="2700000" algn="tl">
              <a:srgbClr val="FFFFFF"/>
            </a:outerShdw>
          </a:effectLst>
          <a:latin typeface="Times New Roman" pitchFamily="18" charset="0"/>
          <a:ea typeface="宋体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kumimoji="1" sz="4400" b="1">
          <a:solidFill>
            <a:schemeClr val="tx2"/>
          </a:solidFill>
          <a:effectLst>
            <a:outerShdw blurRad="38100" dist="38100" dir="2700000" algn="tl">
              <a:srgbClr val="FFFFFF"/>
            </a:outerShdw>
          </a:effectLst>
          <a:latin typeface="Times New Roman" pitchFamily="18" charset="0"/>
          <a:ea typeface="宋体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kumimoji="1" sz="4400" b="1">
          <a:solidFill>
            <a:schemeClr val="tx2"/>
          </a:solidFill>
          <a:effectLst>
            <a:outerShdw blurRad="38100" dist="38100" dir="2700000" algn="tl">
              <a:srgbClr val="FFFFFF"/>
            </a:outerShdw>
          </a:effectLst>
          <a:latin typeface="Times New Roman" pitchFamily="18" charset="0"/>
          <a:ea typeface="宋体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kumimoji="1" sz="4400" b="1">
          <a:solidFill>
            <a:schemeClr val="tx2"/>
          </a:solidFill>
          <a:effectLst>
            <a:outerShdw blurRad="38100" dist="38100" dir="2700000" algn="tl">
              <a:srgbClr val="FFFFFF"/>
            </a:outerShdw>
          </a:effectLst>
          <a:latin typeface="Times New Roman" pitchFamily="18" charset="0"/>
          <a:ea typeface="宋体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kumimoji="1" sz="4400" b="1">
          <a:solidFill>
            <a:schemeClr val="tx2"/>
          </a:solidFill>
          <a:effectLst>
            <a:outerShdw blurRad="38100" dist="38100" dir="2700000" algn="tl">
              <a:srgbClr val="FFFFFF"/>
            </a:outerShdw>
          </a:effectLst>
          <a:latin typeface="Times New Roman" pitchFamily="18" charset="0"/>
          <a:ea typeface="宋体" pitchFamily="2" charset="-122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kumimoji="1" sz="3200" b="1">
          <a:solidFill>
            <a:schemeClr val="tx1"/>
          </a:solidFill>
          <a:effectLst>
            <a:outerShdw blurRad="38100" dist="38100" dir="2700000" algn="tl">
              <a:srgbClr val="FFFFFF"/>
            </a:outerShdw>
          </a:effectLst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kumimoji="1" sz="2800" b="1">
          <a:solidFill>
            <a:schemeClr val="tx1"/>
          </a:solidFill>
          <a:effectLst>
            <a:outerShdw blurRad="38100" dist="38100" dir="2700000" algn="tl">
              <a:srgbClr val="FFFFFF"/>
            </a:outerShdw>
          </a:effectLst>
          <a:latin typeface="+mn-lt"/>
          <a:ea typeface="+mn-ea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kumimoji="1" sz="2400" b="1">
          <a:solidFill>
            <a:schemeClr val="tx1"/>
          </a:solidFill>
          <a:effectLst>
            <a:outerShdw blurRad="38100" dist="38100" dir="2700000" algn="tl">
              <a:srgbClr val="FFFFFF"/>
            </a:outerShdw>
          </a:effectLst>
          <a:latin typeface="+mn-lt"/>
          <a:ea typeface="+mn-ea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kumimoji="1" sz="2000" b="1">
          <a:solidFill>
            <a:schemeClr val="tx1"/>
          </a:solidFill>
          <a:effectLst>
            <a:outerShdw blurRad="38100" dist="38100" dir="2700000" algn="tl">
              <a:srgbClr val="FFFFFF"/>
            </a:outerShdw>
          </a:effectLst>
          <a:latin typeface="+mn-lt"/>
          <a:ea typeface="+mn-ea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kumimoji="1" sz="2000" b="1">
          <a:solidFill>
            <a:schemeClr val="tx1"/>
          </a:solidFill>
          <a:effectLst>
            <a:outerShdw blurRad="38100" dist="38100" dir="2700000" algn="tl">
              <a:srgbClr val="FFFFFF"/>
            </a:outerShdw>
          </a:effectLst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kumimoji="1" sz="2000" b="1">
          <a:solidFill>
            <a:schemeClr val="tx1"/>
          </a:solidFill>
          <a:effectLst>
            <a:outerShdw blurRad="38100" dist="38100" dir="2700000" algn="tl">
              <a:srgbClr val="FFFFFF"/>
            </a:outerShdw>
          </a:effectLst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kumimoji="1" sz="2000" b="1">
          <a:solidFill>
            <a:schemeClr val="tx1"/>
          </a:solidFill>
          <a:effectLst>
            <a:outerShdw blurRad="38100" dist="38100" dir="2700000" algn="tl">
              <a:srgbClr val="FFFFFF"/>
            </a:outerShdw>
          </a:effectLst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kumimoji="1" sz="2000" b="1">
          <a:solidFill>
            <a:schemeClr val="tx1"/>
          </a:solidFill>
          <a:effectLst>
            <a:outerShdw blurRad="38100" dist="38100" dir="2700000" algn="tl">
              <a:srgbClr val="FFFFFF"/>
            </a:outerShdw>
          </a:effectLst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kumimoji="1" sz="2000" b="1">
          <a:solidFill>
            <a:schemeClr val="tx1"/>
          </a:solidFill>
          <a:effectLst>
            <a:outerShdw blurRad="38100" dist="38100" dir="2700000" algn="tl">
              <a:srgbClr val="FFFFFF"/>
            </a:outerShdw>
          </a:effectLst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.vml"/><Relationship Id="rId5" Type="http://schemas.openxmlformats.org/officeDocument/2006/relationships/image" Target="../media/image3.wmf"/><Relationship Id="rId4" Type="http://schemas.openxmlformats.org/officeDocument/2006/relationships/image" Target="../media/image2.wmf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audio" Target="../media/audio2.wav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jpeg"/><Relationship Id="rId4" Type="http://schemas.openxmlformats.org/officeDocument/2006/relationships/image" Target="../media/image4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audio" Target="../media/audio3.wav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audio" Target="../media/audio4.wav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4" Type="http://schemas.openxmlformats.org/officeDocument/2006/relationships/audio" Target="../media/audio4.wav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4" Type="http://schemas.openxmlformats.org/officeDocument/2006/relationships/audio" Target="../media/audio2.wav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4" Type="http://schemas.openxmlformats.org/officeDocument/2006/relationships/audio" Target="../media/audio4.wav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audio" Target="../media/audio4.wav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4" Type="http://schemas.openxmlformats.org/officeDocument/2006/relationships/audio" Target="../media/audio4.wav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audio" Target="../media/audio4.wav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5" Type="http://schemas.openxmlformats.org/officeDocument/2006/relationships/audio" Target="../media/audio2.wav"/><Relationship Id="rId4" Type="http://schemas.openxmlformats.org/officeDocument/2006/relationships/audio" Target="../media/audio4.wav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jpeg"/><Relationship Id="rId5" Type="http://schemas.openxmlformats.org/officeDocument/2006/relationships/audio" Target="../media/audio3.wav"/><Relationship Id="rId4" Type="http://schemas.openxmlformats.org/officeDocument/2006/relationships/audio" Target="../media/audio2.wav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png"/><Relationship Id="rId5" Type="http://schemas.openxmlformats.org/officeDocument/2006/relationships/audio" Target="../media/audio2.wav"/><Relationship Id="rId4" Type="http://schemas.openxmlformats.org/officeDocument/2006/relationships/audio" Target="../media/audio4.wav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Relationship Id="rId4" Type="http://schemas.openxmlformats.org/officeDocument/2006/relationships/audio" Target="../media/audio4.wav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Relationship Id="rId4" Type="http://schemas.openxmlformats.org/officeDocument/2006/relationships/audio" Target="../media/audio4.wav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8.jpeg"/><Relationship Id="rId4" Type="http://schemas.openxmlformats.org/officeDocument/2006/relationships/audio" Target="../media/audio3.wav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.jpe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Relationship Id="rId4" Type="http://schemas.openxmlformats.org/officeDocument/2006/relationships/audio" Target="../media/audio4.wav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.jpeg"/><Relationship Id="rId5" Type="http://schemas.openxmlformats.org/officeDocument/2006/relationships/audio" Target="../media/audio2.wav"/><Relationship Id="rId4" Type="http://schemas.openxmlformats.org/officeDocument/2006/relationships/audio" Target="../media/audio5.wav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8.jpeg"/><Relationship Id="rId4" Type="http://schemas.openxmlformats.org/officeDocument/2006/relationships/audio" Target="../media/audio3.wav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.jpe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Relationship Id="rId5" Type="http://schemas.openxmlformats.org/officeDocument/2006/relationships/audio" Target="../media/audio3.wav"/><Relationship Id="rId4" Type="http://schemas.openxmlformats.org/officeDocument/2006/relationships/audio" Target="../media/audio4.wav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8.jpeg"/><Relationship Id="rId4" Type="http://schemas.openxmlformats.org/officeDocument/2006/relationships/audio" Target="../media/audio3.wav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.jpe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.jpe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.jpe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7.xml"/><Relationship Id="rId4" Type="http://schemas.openxmlformats.org/officeDocument/2006/relationships/audio" Target="../media/audio4.wav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.jpeg"/><Relationship Id="rId5" Type="http://schemas.openxmlformats.org/officeDocument/2006/relationships/audio" Target="../media/audio4.wav"/><Relationship Id="rId4" Type="http://schemas.openxmlformats.org/officeDocument/2006/relationships/audio" Target="../media/audio5.wav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.jpeg"/><Relationship Id="rId5" Type="http://schemas.openxmlformats.org/officeDocument/2006/relationships/audio" Target="../media/audio3.wav"/><Relationship Id="rId4" Type="http://schemas.openxmlformats.org/officeDocument/2006/relationships/audio" Target="../media/audio2.wav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7.xml"/><Relationship Id="rId4" Type="http://schemas.openxmlformats.org/officeDocument/2006/relationships/audio" Target="../media/audio4.wav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7.xml"/><Relationship Id="rId4" Type="http://schemas.openxmlformats.org/officeDocument/2006/relationships/audio" Target="../media/audio4.wav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8.jpeg"/><Relationship Id="rId4" Type="http://schemas.openxmlformats.org/officeDocument/2006/relationships/audio" Target="../media/audio3.wav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.jpe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.jpe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7.xml"/><Relationship Id="rId4" Type="http://schemas.openxmlformats.org/officeDocument/2006/relationships/audio" Target="../media/audio3.wav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66946" name="Object 2"/>
          <p:cNvGraphicFramePr>
            <a:graphicFrameLocks noChangeAspect="1"/>
          </p:cNvGraphicFramePr>
          <p:nvPr/>
        </p:nvGraphicFramePr>
        <p:xfrm>
          <a:off x="2057400" y="4191001"/>
          <a:ext cx="1487488" cy="22018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66975" name="剪辑" r:id="rId3" imgW="3153960" imgH="4708080" progId="">
                  <p:embed/>
                </p:oleObj>
              </mc:Choice>
              <mc:Fallback>
                <p:oleObj name="剪辑" r:id="rId3" imgW="3153960" imgH="4708080" progId="">
                  <p:embed/>
                  <p:pic>
                    <p:nvPicPr>
                      <p:cNvPr id="0" name="Picture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57400" y="4191001"/>
                        <a:ext cx="1487488" cy="220186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466947" name="Group 3"/>
          <p:cNvGrpSpPr>
            <a:grpSpLocks/>
          </p:cNvGrpSpPr>
          <p:nvPr/>
        </p:nvGrpSpPr>
        <p:grpSpPr bwMode="auto">
          <a:xfrm>
            <a:off x="2566988" y="333376"/>
            <a:ext cx="7543800" cy="6119813"/>
            <a:chOff x="480" y="816"/>
            <a:chExt cx="4752" cy="2865"/>
          </a:xfrm>
        </p:grpSpPr>
        <p:sp>
          <p:nvSpPr>
            <p:cNvPr id="466948" name="Oval 4"/>
            <p:cNvSpPr>
              <a:spLocks noChangeArrowheads="1"/>
            </p:cNvSpPr>
            <p:nvPr/>
          </p:nvSpPr>
          <p:spPr bwMode="auto">
            <a:xfrm>
              <a:off x="480" y="816"/>
              <a:ext cx="4752" cy="2112"/>
            </a:xfrm>
            <a:prstGeom prst="ellipse">
              <a:avLst/>
            </a:prstGeom>
            <a:gradFill rotWithShape="0">
              <a:gsLst>
                <a:gs pos="0">
                  <a:srgbClr val="CC00FF">
                    <a:gamma/>
                    <a:shade val="46275"/>
                    <a:invGamma/>
                  </a:srgbClr>
                </a:gs>
                <a:gs pos="50000">
                  <a:srgbClr val="CC00FF"/>
                </a:gs>
                <a:gs pos="100000">
                  <a:srgbClr val="CC00FF">
                    <a:gamma/>
                    <a:shade val="46275"/>
                    <a:invGamma/>
                  </a:srgbClr>
                </a:gs>
              </a:gsLst>
              <a:lin ang="5400000" scaled="1"/>
            </a:gradFill>
            <a:ln w="12700">
              <a:noFill/>
              <a:round/>
              <a:headEnd/>
              <a:tailEnd/>
            </a:ln>
            <a:effectLst>
              <a:glow rad="101600">
                <a:schemeClr val="accent1">
                  <a:satMod val="175000"/>
                  <a:alpha val="40000"/>
                </a:schemeClr>
              </a:glow>
              <a:outerShdw blurRad="76200" dist="12700" dir="8100000" sy="-23000" kx="800400" algn="br" rotWithShape="0">
                <a:prstClr val="black">
                  <a:alpha val="20000"/>
                </a:prstClr>
              </a:outerShdw>
            </a:effectLst>
            <a:scene3d>
              <a:camera prst="orthographicFront">
                <a:rot lat="0" lon="0" rev="0"/>
              </a:camera>
              <a:lightRig rig="glow" dir="t">
                <a:rot lat="0" lon="0" rev="14100000"/>
              </a:lightRig>
            </a:scene3d>
            <a:sp3d prstMaterial="softEdge">
              <a:bevelT w="127000" prst="hardEdge"/>
            </a:sp3d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66949" name="Rectangle 5"/>
            <p:cNvSpPr>
              <a:spLocks noChangeArrowheads="1"/>
            </p:cNvSpPr>
            <p:nvPr/>
          </p:nvSpPr>
          <p:spPr bwMode="auto">
            <a:xfrm>
              <a:off x="1262" y="1522"/>
              <a:ext cx="3190" cy="663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>
              <a:outerShdw dist="35921" dir="2700000" algn="ctr" rotWithShape="0">
                <a:schemeClr val="bg2">
                  <a:alpha val="50000"/>
                </a:schemeClr>
              </a:outerShdw>
            </a:effectLst>
          </p:spPr>
          <p:txBody>
            <a:bodyPr wrap="none" anchor="ctr">
              <a:spAutoFit/>
            </a:bodyPr>
            <a:lstStyle/>
            <a:p>
              <a:pPr algn="ctr"/>
              <a:r>
                <a:rPr lang="zh-CN" altLang="en-US" sz="5400" b="1" dirty="0">
                  <a:solidFill>
                    <a:srgbClr val="FFFF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隶书" pitchFamily="49" charset="-122"/>
                  <a:ea typeface="隶书" pitchFamily="49" charset="-122"/>
                </a:rPr>
                <a:t>第</a:t>
              </a:r>
              <a:r>
                <a:rPr lang="en-US" altLang="zh-CN" sz="5400" b="1" dirty="0">
                  <a:solidFill>
                    <a:srgbClr val="FFFF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隶书" pitchFamily="49" charset="-122"/>
                  <a:ea typeface="隶书" pitchFamily="49" charset="-122"/>
                </a:rPr>
                <a:t>12</a:t>
              </a:r>
              <a:r>
                <a:rPr lang="zh-CN" altLang="en-US" sz="5400" b="1" dirty="0">
                  <a:solidFill>
                    <a:srgbClr val="FFFF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隶书" pitchFamily="49" charset="-122"/>
                  <a:ea typeface="隶书" pitchFamily="49" charset="-122"/>
                </a:rPr>
                <a:t>章  文  件</a:t>
              </a:r>
            </a:p>
            <a:p>
              <a:pPr algn="ctr"/>
              <a:r>
                <a:rPr lang="zh-CN" altLang="en-US" sz="3200" b="1" dirty="0">
                  <a:solidFill>
                    <a:srgbClr val="66FFFF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隶书" pitchFamily="49" charset="-122"/>
                  <a:ea typeface="隶书" pitchFamily="49" charset="-122"/>
                </a:rPr>
                <a:t>制作人：王敬华</a:t>
              </a:r>
            </a:p>
          </p:txBody>
        </p:sp>
        <p:pic>
          <p:nvPicPr>
            <p:cNvPr id="466950" name="Picture 6"/>
            <p:cNvPicPr>
              <a:picLocks noChangeAspect="1" noChangeArrowheads="1"/>
            </p:cNvPicPr>
            <p:nvPr/>
          </p:nvPicPr>
          <p:blipFill>
            <a:blip r:embed="rId5" cstate="print"/>
            <a:srcRect/>
            <a:stretch>
              <a:fillRect/>
            </a:stretch>
          </p:blipFill>
          <p:spPr bwMode="auto">
            <a:xfrm>
              <a:off x="2537" y="2496"/>
              <a:ext cx="2503" cy="1152"/>
            </a:xfrm>
            <a:prstGeom prst="rect">
              <a:avLst/>
            </a:prstGeom>
            <a:noFill/>
            <a:ln w="12700">
              <a:noFill/>
              <a:miter lim="800000"/>
              <a:headEnd type="none" w="sm" len="sm"/>
              <a:tailEnd type="none" w="sm" len="sm"/>
            </a:ln>
            <a:effectLst>
              <a:outerShdw dist="107763" dir="2700000" algn="ctr" rotWithShape="0">
                <a:schemeClr val="bg2">
                  <a:alpha val="50000"/>
                </a:schemeClr>
              </a:outerShdw>
            </a:effectLst>
          </p:spPr>
        </p:pic>
        <p:sp>
          <p:nvSpPr>
            <p:cNvPr id="466951" name="Line 7"/>
            <p:cNvSpPr>
              <a:spLocks noChangeShapeType="1"/>
            </p:cNvSpPr>
            <p:nvPr/>
          </p:nvSpPr>
          <p:spPr bwMode="auto">
            <a:xfrm>
              <a:off x="2304" y="3648"/>
              <a:ext cx="2784" cy="0"/>
            </a:xfrm>
            <a:prstGeom prst="line">
              <a:avLst/>
            </a:prstGeom>
            <a:noFill/>
            <a:ln w="38100">
              <a:pattFill prst="dkHorz">
                <a:fgClr>
                  <a:srgbClr val="00CCFF"/>
                </a:fgClr>
                <a:bgClr>
                  <a:srgbClr val="FFFFFF"/>
                </a:bgClr>
              </a:pattFill>
              <a:round/>
              <a:headEnd/>
              <a:tailEnd/>
            </a:ln>
            <a:effectLst>
              <a:outerShdw dist="107763" dir="2700000" algn="ctr" rotWithShape="0">
                <a:schemeClr val="bg2">
                  <a:alpha val="50000"/>
                </a:schemeClr>
              </a:outerShdw>
            </a:effec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66952" name="Line 8"/>
            <p:cNvSpPr>
              <a:spLocks noChangeShapeType="1"/>
            </p:cNvSpPr>
            <p:nvPr/>
          </p:nvSpPr>
          <p:spPr bwMode="auto">
            <a:xfrm>
              <a:off x="2160" y="3681"/>
              <a:ext cx="2784" cy="0"/>
            </a:xfrm>
            <a:prstGeom prst="line">
              <a:avLst/>
            </a:prstGeom>
            <a:noFill/>
            <a:ln w="38100">
              <a:pattFill prst="dkHorz">
                <a:fgClr>
                  <a:srgbClr val="00CCFF"/>
                </a:fgClr>
                <a:bgClr>
                  <a:srgbClr val="FFFFFF"/>
                </a:bgClr>
              </a:pattFill>
              <a:round/>
              <a:headEnd/>
              <a:tailEnd/>
            </a:ln>
            <a:effectLst>
              <a:outerShdw dist="107763" dir="2700000" algn="ctr" rotWithShape="0">
                <a:schemeClr val="bg2">
                  <a:alpha val="50000"/>
                </a:schemeClr>
              </a:outerShdw>
            </a:effectLst>
          </p:spPr>
          <p:txBody>
            <a:bodyPr wrap="none" anchor="ctr"/>
            <a:lstStyle/>
            <a:p>
              <a:endParaRPr lang="zh-CN" altLang="en-US"/>
            </a:p>
          </p:txBody>
        </p:sp>
      </p:grpSp>
    </p:spTree>
  </p:cSld>
  <p:clrMapOvr>
    <a:masterClrMapping/>
  </p:clrMapOvr>
  <p:transition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52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69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6694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6694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4669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500" fill="hold"/>
                                        <p:tgtEl>
                                          <p:spTgt spid="4669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1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69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4)">
                                      <p:cBhvr>
                                        <p:cTn id="15" dur="2000"/>
                                        <p:tgtEl>
                                          <p:spTgt spid="4669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8996" name="Rectangle 4"/>
          <p:cNvSpPr>
            <a:spLocks noChangeArrowheads="1"/>
          </p:cNvSpPr>
          <p:nvPr/>
        </p:nvSpPr>
        <p:spPr bwMode="auto">
          <a:xfrm>
            <a:off x="424011" y="128588"/>
            <a:ext cx="8462962" cy="609600"/>
          </a:xfrm>
          <a:prstGeom prst="rect">
            <a:avLst/>
          </a:prstGeom>
          <a:noFill/>
          <a:ln w="38100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r>
              <a:rPr lang="zh-CN" altLang="en-US" sz="4000" b="1" dirty="0">
                <a:solidFill>
                  <a:srgbClr val="FF33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华文琥珀" pitchFamily="2" charset="-122"/>
                <a:ea typeface="华文琥珀" pitchFamily="2" charset="-122"/>
                <a:cs typeface="ˎ̥"/>
              </a:rPr>
              <a:t>第</a:t>
            </a:r>
            <a:r>
              <a:rPr lang="en-US" altLang="zh-CN" sz="4000" b="1" dirty="0">
                <a:solidFill>
                  <a:srgbClr val="FF33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华文琥珀" pitchFamily="2" charset="-122"/>
                <a:ea typeface="华文琥珀" pitchFamily="2" charset="-122"/>
                <a:cs typeface="ˎ̥"/>
              </a:rPr>
              <a:t>12</a:t>
            </a:r>
            <a:r>
              <a:rPr lang="zh-CN" altLang="en-US" sz="4000" b="1" dirty="0">
                <a:solidFill>
                  <a:srgbClr val="FF33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华文琥珀" pitchFamily="2" charset="-122"/>
                <a:ea typeface="华文琥珀" pitchFamily="2" charset="-122"/>
                <a:cs typeface="ˎ̥"/>
              </a:rPr>
              <a:t>章：文 件</a:t>
            </a:r>
            <a:r>
              <a:rPr lang="zh-CN" altLang="en-US" sz="4400" dirty="0">
                <a:solidFill>
                  <a:srgbClr val="FF33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华文琥珀" pitchFamily="2" charset="-122"/>
                <a:ea typeface="华文琥珀" pitchFamily="2" charset="-122"/>
                <a:cs typeface="ˎ̥"/>
              </a:rPr>
              <a:t> </a:t>
            </a:r>
          </a:p>
        </p:txBody>
      </p:sp>
      <p:sp>
        <p:nvSpPr>
          <p:cNvPr id="468997" name="Text Box 5"/>
          <p:cNvSpPr txBox="1">
            <a:spLocks noChangeArrowheads="1"/>
          </p:cNvSpPr>
          <p:nvPr/>
        </p:nvSpPr>
        <p:spPr bwMode="auto">
          <a:xfrm>
            <a:off x="649089" y="836614"/>
            <a:ext cx="2926631" cy="579437"/>
          </a:xfrm>
          <a:prstGeom prst="rect">
            <a:avLst/>
          </a:prstGeom>
          <a:noFill/>
          <a:ln w="57150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marL="177800" indent="-177800">
              <a:spcBef>
                <a:spcPct val="50000"/>
              </a:spcBef>
              <a:buFont typeface="Wingdings" pitchFamily="2" charset="2"/>
              <a:buChar char="u"/>
              <a:tabLst>
                <a:tab pos="177800" algn="l"/>
              </a:tabLst>
            </a:pPr>
            <a:r>
              <a:rPr kumimoji="0" lang="zh-CN" altLang="en-US" sz="3200" b="1" dirty="0">
                <a:solidFill>
                  <a:srgbClr val="FF33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itchFamily="34" charset="0"/>
                <a:ea typeface="隶书" pitchFamily="49" charset="-122"/>
              </a:rPr>
              <a:t>学习的意义</a:t>
            </a:r>
            <a:r>
              <a:rPr kumimoji="0" lang="zh-CN" altLang="en-US" b="1" dirty="0">
                <a:effectLst>
                  <a:outerShdw blurRad="38100" dist="38100" dir="2700000" algn="tl">
                    <a:srgbClr val="FFFFFF"/>
                  </a:outerShdw>
                </a:effectLst>
              </a:rPr>
              <a:t>   </a:t>
            </a:r>
            <a:endParaRPr kumimoji="0" lang="zh-CN" altLang="en-US" dirty="0"/>
          </a:p>
        </p:txBody>
      </p:sp>
      <p:grpSp>
        <p:nvGrpSpPr>
          <p:cNvPr id="469014" name="Group 22"/>
          <p:cNvGrpSpPr>
            <a:grpSpLocks/>
          </p:cNvGrpSpPr>
          <p:nvPr/>
        </p:nvGrpSpPr>
        <p:grpSpPr bwMode="auto">
          <a:xfrm>
            <a:off x="-6202" y="0"/>
            <a:ext cx="446088" cy="6858000"/>
            <a:chOff x="0" y="0"/>
            <a:chExt cx="281" cy="4320"/>
          </a:xfrm>
        </p:grpSpPr>
        <p:sp>
          <p:nvSpPr>
            <p:cNvPr id="469015" name="Text Box 23"/>
            <p:cNvSpPr txBox="1">
              <a:spLocks noChangeArrowheads="1"/>
            </p:cNvSpPr>
            <p:nvPr/>
          </p:nvSpPr>
          <p:spPr bwMode="auto">
            <a:xfrm>
              <a:off x="0" y="0"/>
              <a:ext cx="281" cy="4320"/>
            </a:xfrm>
            <a:prstGeom prst="rect">
              <a:avLst/>
            </a:prstGeom>
            <a:gradFill rotWithShape="0">
              <a:gsLst>
                <a:gs pos="0">
                  <a:schemeClr val="hlink">
                    <a:gamma/>
                    <a:shade val="60784"/>
                    <a:invGamma/>
                  </a:schemeClr>
                </a:gs>
                <a:gs pos="50000">
                  <a:schemeClr val="hlink"/>
                </a:gs>
                <a:gs pos="100000">
                  <a:schemeClr val="hlink">
                    <a:gamma/>
                    <a:shade val="60784"/>
                    <a:invGamma/>
                  </a:schemeClr>
                </a:gs>
              </a:gsLst>
              <a:lin ang="0" scaled="1"/>
            </a:gradFill>
            <a:ln w="9525">
              <a:noFill/>
              <a:miter lim="800000"/>
              <a:headEnd/>
              <a:tailEnd/>
            </a:ln>
            <a:effectLst/>
          </p:spPr>
          <p:txBody>
            <a:bodyPr/>
            <a:lstStyle/>
            <a:p>
              <a:pPr eaLnBrk="0" hangingPunct="0">
                <a:spcBef>
                  <a:spcPct val="50000"/>
                </a:spcBef>
              </a:pPr>
              <a:endParaRPr lang="en-US" altLang="zh-CN" sz="1800" dirty="0">
                <a:solidFill>
                  <a:srgbClr val="3333CC"/>
                </a:solidFill>
                <a:latin typeface="Verdana" pitchFamily="34" charset="0"/>
              </a:endParaRPr>
            </a:p>
            <a:p>
              <a:pPr eaLnBrk="0" hangingPunct="0">
                <a:spcBef>
                  <a:spcPct val="50000"/>
                </a:spcBef>
              </a:pPr>
              <a:r>
                <a:rPr lang="zh-CN" altLang="en-US" sz="1600" b="1" dirty="0">
                  <a:solidFill>
                    <a:srgbClr val="3333CC"/>
                  </a:solidFill>
                  <a:latin typeface="Verdana" pitchFamily="34" charset="0"/>
                </a:rPr>
                <a:t>语言程序设计教程       </a:t>
              </a:r>
            </a:p>
            <a:p>
              <a:pPr eaLnBrk="0" hangingPunct="0">
                <a:spcBef>
                  <a:spcPct val="50000"/>
                </a:spcBef>
              </a:pPr>
              <a:r>
                <a:rPr lang="zh-CN" altLang="en-US" sz="1600" b="1" dirty="0">
                  <a:solidFill>
                    <a:srgbClr val="3333CC"/>
                  </a:solidFill>
                  <a:latin typeface="Verdana" pitchFamily="34" charset="0"/>
                </a:rPr>
                <a:t>第三版</a:t>
              </a:r>
            </a:p>
            <a:p>
              <a:pPr eaLnBrk="0" hangingPunct="0">
                <a:spcBef>
                  <a:spcPct val="50000"/>
                </a:spcBef>
              </a:pPr>
              <a:endParaRPr lang="zh-CN" altLang="en-US" sz="1600" b="1" dirty="0">
                <a:solidFill>
                  <a:srgbClr val="3333CC"/>
                </a:solidFill>
                <a:latin typeface="Verdana" pitchFamily="34" charset="0"/>
              </a:endParaRPr>
            </a:p>
            <a:p>
              <a:pPr eaLnBrk="0" hangingPunct="0">
                <a:spcBef>
                  <a:spcPct val="50000"/>
                </a:spcBef>
              </a:pPr>
              <a:endParaRPr lang="zh-CN" altLang="en-US" sz="1600" b="1" dirty="0">
                <a:solidFill>
                  <a:srgbClr val="3333CC"/>
                </a:solidFill>
                <a:latin typeface="Verdana" pitchFamily="34" charset="0"/>
              </a:endParaRPr>
            </a:p>
            <a:p>
              <a:pPr eaLnBrk="0" hangingPunct="0">
                <a:spcBef>
                  <a:spcPct val="50000"/>
                </a:spcBef>
              </a:pPr>
              <a:r>
                <a:rPr lang="zh-CN" altLang="en-US" sz="1600" b="1" dirty="0">
                  <a:solidFill>
                    <a:srgbClr val="3333CC"/>
                  </a:solidFill>
                  <a:latin typeface="Verdana" pitchFamily="34" charset="0"/>
                </a:rPr>
                <a:t>第十</a:t>
              </a:r>
            </a:p>
            <a:p>
              <a:pPr eaLnBrk="0" hangingPunct="0">
                <a:spcBef>
                  <a:spcPct val="50000"/>
                </a:spcBef>
              </a:pPr>
              <a:r>
                <a:rPr lang="zh-CN" altLang="en-US" sz="1600" b="1" dirty="0">
                  <a:solidFill>
                    <a:srgbClr val="3333CC"/>
                  </a:solidFill>
                  <a:latin typeface="Verdana" pitchFamily="34" charset="0"/>
                </a:rPr>
                <a:t>二章 </a:t>
              </a:r>
            </a:p>
            <a:p>
              <a:pPr eaLnBrk="0" hangingPunct="0">
                <a:spcBef>
                  <a:spcPct val="50000"/>
                </a:spcBef>
              </a:pPr>
              <a:endParaRPr lang="zh-CN" altLang="en-US" sz="1600" b="1" dirty="0">
                <a:solidFill>
                  <a:srgbClr val="3333CC"/>
                </a:solidFill>
                <a:latin typeface="Verdana" pitchFamily="34" charset="0"/>
              </a:endParaRPr>
            </a:p>
            <a:p>
              <a:pPr eaLnBrk="0" hangingPunct="0">
                <a:spcBef>
                  <a:spcPct val="50000"/>
                </a:spcBef>
              </a:pPr>
              <a:r>
                <a:rPr lang="zh-CN" altLang="en-US" sz="1600" b="1" dirty="0">
                  <a:solidFill>
                    <a:srgbClr val="3333CC"/>
                  </a:solidFill>
                  <a:latin typeface="Verdana" pitchFamily="34" charset="0"/>
                </a:rPr>
                <a:t>文</a:t>
              </a:r>
            </a:p>
            <a:p>
              <a:pPr eaLnBrk="0" hangingPunct="0">
                <a:spcBef>
                  <a:spcPct val="50000"/>
                </a:spcBef>
              </a:pPr>
              <a:endParaRPr lang="zh-CN" altLang="en-US" sz="1600" b="1" dirty="0">
                <a:solidFill>
                  <a:srgbClr val="3333CC"/>
                </a:solidFill>
                <a:latin typeface="Verdana" pitchFamily="34" charset="0"/>
              </a:endParaRPr>
            </a:p>
            <a:p>
              <a:pPr eaLnBrk="0" hangingPunct="0">
                <a:spcBef>
                  <a:spcPct val="50000"/>
                </a:spcBef>
              </a:pPr>
              <a:r>
                <a:rPr lang="zh-CN" altLang="en-US" sz="1600" b="1" dirty="0">
                  <a:solidFill>
                    <a:srgbClr val="3333CC"/>
                  </a:solidFill>
                  <a:latin typeface="Verdana" pitchFamily="34" charset="0"/>
                </a:rPr>
                <a:t>件</a:t>
              </a:r>
            </a:p>
          </p:txBody>
        </p:sp>
        <p:sp>
          <p:nvSpPr>
            <p:cNvPr id="469016" name="Text Box 24"/>
            <p:cNvSpPr txBox="1">
              <a:spLocks noChangeArrowheads="1"/>
            </p:cNvSpPr>
            <p:nvPr/>
          </p:nvSpPr>
          <p:spPr bwMode="auto">
            <a:xfrm>
              <a:off x="0" y="0"/>
              <a:ext cx="281" cy="231"/>
            </a:xfrm>
            <a:prstGeom prst="rect">
              <a:avLst/>
            </a:prstGeom>
            <a:gradFill rotWithShape="0">
              <a:gsLst>
                <a:gs pos="0">
                  <a:schemeClr val="hlink">
                    <a:gamma/>
                    <a:shade val="46275"/>
                    <a:invGamma/>
                  </a:schemeClr>
                </a:gs>
                <a:gs pos="50000">
                  <a:schemeClr val="hlink"/>
                </a:gs>
                <a:gs pos="100000">
                  <a:schemeClr val="hlink">
                    <a:gamma/>
                    <a:shade val="46275"/>
                    <a:invGamma/>
                  </a:schemeClr>
                </a:gs>
              </a:gsLst>
              <a:lin ang="0" scaled="1"/>
            </a:gradFill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eaLnBrk="0" hangingPunct="0">
                <a:spcBef>
                  <a:spcPct val="50000"/>
                </a:spcBef>
              </a:pPr>
              <a:r>
                <a:rPr lang="en-US" altLang="zh-CN" sz="1800" b="1">
                  <a:solidFill>
                    <a:srgbClr val="0000FF"/>
                  </a:solidFill>
                  <a:latin typeface="Arial" pitchFamily="34" charset="0"/>
                </a:rPr>
                <a:t>C</a:t>
              </a:r>
            </a:p>
          </p:txBody>
        </p:sp>
      </p:grpSp>
      <p:sp>
        <p:nvSpPr>
          <p:cNvPr id="469076" name="Text Box 84"/>
          <p:cNvSpPr txBox="1">
            <a:spLocks noChangeArrowheads="1"/>
          </p:cNvSpPr>
          <p:nvPr/>
        </p:nvSpPr>
        <p:spPr bwMode="auto">
          <a:xfrm>
            <a:off x="5803915" y="1773610"/>
            <a:ext cx="553998" cy="2232025"/>
          </a:xfrm>
          <a:prstGeom prst="rect">
            <a:avLst/>
          </a:prstGeom>
          <a:solidFill>
            <a:srgbClr val="33CCCC"/>
          </a:solidFill>
          <a:ln w="9525">
            <a:noFill/>
            <a:miter lim="800000"/>
            <a:headEnd/>
            <a:tailEnd/>
          </a:ln>
          <a:effectLst/>
          <a:scene3d>
            <a:camera prst="legacyObliqueTopRight"/>
            <a:lightRig rig="legacyFlat3" dir="b"/>
          </a:scene3d>
          <a:sp3d extrusionH="430200" prstMaterial="legacyMatte">
            <a:bevelT w="13500" h="13500" prst="angle"/>
            <a:bevelB w="13500" h="13500" prst="angle"/>
            <a:extrusionClr>
              <a:srgbClr val="33CCCC"/>
            </a:extrusionClr>
          </a:sp3d>
        </p:spPr>
        <p:txBody>
          <a:bodyPr vert="eaVert">
            <a:spAutoFit/>
            <a:flatTx/>
          </a:bodyPr>
          <a:lstStyle/>
          <a:p>
            <a:pPr algn="ctr">
              <a:spcBef>
                <a:spcPct val="50000"/>
              </a:spcBef>
            </a:pPr>
            <a:r>
              <a:rPr lang="en-US" altLang="zh-CN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楷体" pitchFamily="49" charset="-122"/>
              </a:rPr>
              <a:t>C</a:t>
            </a:r>
            <a:r>
              <a:rPr lang="zh-CN" altLang="en-US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楷体" pitchFamily="49" charset="-122"/>
              </a:rPr>
              <a:t>语言执行程序</a:t>
            </a:r>
          </a:p>
        </p:txBody>
      </p:sp>
      <p:sp>
        <p:nvSpPr>
          <p:cNvPr id="469077" name="AutoShape 85"/>
          <p:cNvSpPr>
            <a:spLocks noChangeArrowheads="1"/>
          </p:cNvSpPr>
          <p:nvPr/>
        </p:nvSpPr>
        <p:spPr bwMode="auto">
          <a:xfrm>
            <a:off x="4144913" y="2708648"/>
            <a:ext cx="1519039" cy="288925"/>
          </a:xfrm>
          <a:custGeom>
            <a:avLst/>
            <a:gdLst>
              <a:gd name="G0" fmla="+- 16200 0 0"/>
              <a:gd name="G1" fmla="+- 5400 0 0"/>
              <a:gd name="G2" fmla="+- 21600 0 5400"/>
              <a:gd name="G3" fmla="+- 10800 0 5400"/>
              <a:gd name="G4" fmla="+- 21600 0 16200"/>
              <a:gd name="G5" fmla="*/ G4 G3 10800"/>
              <a:gd name="G6" fmla="+- 21600 0 G5"/>
              <a:gd name="T0" fmla="*/ 16200 w 21600"/>
              <a:gd name="T1" fmla="*/ 0 h 21600"/>
              <a:gd name="T2" fmla="*/ 0 w 21600"/>
              <a:gd name="T3" fmla="*/ 10800 h 21600"/>
              <a:gd name="T4" fmla="*/ 16200 w 21600"/>
              <a:gd name="T5" fmla="*/ 21600 h 21600"/>
              <a:gd name="T6" fmla="*/ 21600 w 21600"/>
              <a:gd name="T7" fmla="*/ 10800 h 21600"/>
              <a:gd name="T8" fmla="*/ 17694720 60000 65536"/>
              <a:gd name="T9" fmla="*/ 11796480 60000 65536"/>
              <a:gd name="T10" fmla="*/ 5898240 60000 65536"/>
              <a:gd name="T11" fmla="*/ 0 60000 65536"/>
              <a:gd name="T12" fmla="*/ 3375 w 21600"/>
              <a:gd name="T13" fmla="*/ G1 h 21600"/>
              <a:gd name="T14" fmla="*/ G6 w 21600"/>
              <a:gd name="T15" fmla="*/ G2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16200" y="0"/>
                </a:moveTo>
                <a:lnTo>
                  <a:pt x="16200" y="5400"/>
                </a:lnTo>
                <a:lnTo>
                  <a:pt x="3375" y="5400"/>
                </a:lnTo>
                <a:lnTo>
                  <a:pt x="3375" y="16200"/>
                </a:lnTo>
                <a:lnTo>
                  <a:pt x="16200" y="16200"/>
                </a:lnTo>
                <a:lnTo>
                  <a:pt x="16200" y="21600"/>
                </a:lnTo>
                <a:lnTo>
                  <a:pt x="21600" y="10800"/>
                </a:lnTo>
                <a:close/>
              </a:path>
              <a:path w="21600" h="21600">
                <a:moveTo>
                  <a:pt x="1350" y="5400"/>
                </a:moveTo>
                <a:lnTo>
                  <a:pt x="1350" y="16200"/>
                </a:lnTo>
                <a:lnTo>
                  <a:pt x="2700" y="16200"/>
                </a:lnTo>
                <a:lnTo>
                  <a:pt x="2700" y="5400"/>
                </a:lnTo>
                <a:close/>
              </a:path>
              <a:path w="21600" h="21600">
                <a:moveTo>
                  <a:pt x="0" y="5400"/>
                </a:moveTo>
                <a:lnTo>
                  <a:pt x="0" y="16200"/>
                </a:lnTo>
                <a:lnTo>
                  <a:pt x="675" y="16200"/>
                </a:lnTo>
                <a:lnTo>
                  <a:pt x="675" y="5400"/>
                </a:lnTo>
                <a:close/>
              </a:path>
            </a:pathLst>
          </a:custGeom>
          <a:gradFill rotWithShape="1">
            <a:gsLst>
              <a:gs pos="0">
                <a:srgbClr val="00FFFF"/>
              </a:gs>
              <a:gs pos="100000">
                <a:srgbClr val="00FFFF">
                  <a:gamma/>
                  <a:shade val="46275"/>
                  <a:invGamma/>
                </a:srgbClr>
              </a:gs>
            </a:gsLst>
            <a:lin ang="5400000" scaled="1"/>
          </a:gradFill>
          <a:ln w="9525">
            <a:solidFill>
              <a:schemeClr val="tx1"/>
            </a:solidFill>
            <a:miter lim="800000"/>
            <a:headEnd/>
            <a:tailEnd/>
          </a:ln>
          <a:effectLst>
            <a:outerShdw dist="107763" dir="2700000" algn="ctr" rotWithShape="0">
              <a:schemeClr val="bg2">
                <a:alpha val="50000"/>
              </a:schemeClr>
            </a:outerShdw>
          </a:effectLst>
        </p:spPr>
        <p:txBody>
          <a:bodyPr wrap="none" anchor="ctr"/>
          <a:lstStyle/>
          <a:p>
            <a:endParaRPr lang="zh-CN" altLang="en-US"/>
          </a:p>
        </p:txBody>
      </p:sp>
      <p:grpSp>
        <p:nvGrpSpPr>
          <p:cNvPr id="469085" name="Group 93"/>
          <p:cNvGrpSpPr>
            <a:grpSpLocks/>
          </p:cNvGrpSpPr>
          <p:nvPr/>
        </p:nvGrpSpPr>
        <p:grpSpPr bwMode="auto">
          <a:xfrm>
            <a:off x="1674761" y="2006972"/>
            <a:ext cx="2351088" cy="2070100"/>
            <a:chOff x="158" y="1491"/>
            <a:chExt cx="1481" cy="1304"/>
          </a:xfrm>
        </p:grpSpPr>
        <p:pic>
          <p:nvPicPr>
            <p:cNvPr id="469081" name="Picture 89" descr="keyboad"/>
            <p:cNvPicPr>
              <a:picLocks noChangeAspect="1" noChangeArrowheads="1"/>
            </p:cNvPicPr>
            <p:nvPr/>
          </p:nvPicPr>
          <p:blipFill>
            <a:blip r:embed="rId4" cstate="print"/>
            <a:srcRect/>
            <a:stretch>
              <a:fillRect/>
            </a:stretch>
          </p:blipFill>
          <p:spPr bwMode="auto">
            <a:xfrm>
              <a:off x="158" y="1491"/>
              <a:ext cx="1481" cy="1061"/>
            </a:xfrm>
            <a:prstGeom prst="rect">
              <a:avLst/>
            </a:prstGeom>
            <a:noFill/>
            <a:effectLst>
              <a:outerShdw blurRad="50800" dist="106680" dir="2700000" algn="tl" rotWithShape="0">
                <a:prstClr val="black">
                  <a:alpha val="43000"/>
                </a:prstClr>
              </a:outerShdw>
            </a:effectLst>
          </p:spPr>
        </p:pic>
        <p:sp>
          <p:nvSpPr>
            <p:cNvPr id="469082" name="Text Box 90"/>
            <p:cNvSpPr txBox="1">
              <a:spLocks noChangeArrowheads="1"/>
            </p:cNvSpPr>
            <p:nvPr/>
          </p:nvSpPr>
          <p:spPr bwMode="auto">
            <a:xfrm>
              <a:off x="430" y="2507"/>
              <a:ext cx="953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b="1" dirty="0">
                  <a:solidFill>
                    <a:srgbClr val="CC00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ea typeface="隶书" pitchFamily="49" charset="-122"/>
                </a:rPr>
                <a:t>输入数据</a:t>
              </a:r>
            </a:p>
          </p:txBody>
        </p:sp>
      </p:grpSp>
      <p:sp>
        <p:nvSpPr>
          <p:cNvPr id="469084" name="AutoShape 92"/>
          <p:cNvSpPr>
            <a:spLocks noChangeArrowheads="1"/>
          </p:cNvSpPr>
          <p:nvPr/>
        </p:nvSpPr>
        <p:spPr bwMode="auto">
          <a:xfrm>
            <a:off x="6706528" y="2713410"/>
            <a:ext cx="1511994" cy="288925"/>
          </a:xfrm>
          <a:custGeom>
            <a:avLst/>
            <a:gdLst>
              <a:gd name="G0" fmla="+- 16200 0 0"/>
              <a:gd name="G1" fmla="+- 5400 0 0"/>
              <a:gd name="G2" fmla="+- 21600 0 5400"/>
              <a:gd name="G3" fmla="+- 10800 0 5400"/>
              <a:gd name="G4" fmla="+- 21600 0 16200"/>
              <a:gd name="G5" fmla="*/ G4 G3 10800"/>
              <a:gd name="G6" fmla="+- 21600 0 G5"/>
              <a:gd name="T0" fmla="*/ 16200 w 21600"/>
              <a:gd name="T1" fmla="*/ 0 h 21600"/>
              <a:gd name="T2" fmla="*/ 0 w 21600"/>
              <a:gd name="T3" fmla="*/ 10800 h 21600"/>
              <a:gd name="T4" fmla="*/ 16200 w 21600"/>
              <a:gd name="T5" fmla="*/ 21600 h 21600"/>
              <a:gd name="T6" fmla="*/ 21600 w 21600"/>
              <a:gd name="T7" fmla="*/ 10800 h 21600"/>
              <a:gd name="T8" fmla="*/ 17694720 60000 65536"/>
              <a:gd name="T9" fmla="*/ 11796480 60000 65536"/>
              <a:gd name="T10" fmla="*/ 5898240 60000 65536"/>
              <a:gd name="T11" fmla="*/ 0 60000 65536"/>
              <a:gd name="T12" fmla="*/ 3375 w 21600"/>
              <a:gd name="T13" fmla="*/ G1 h 21600"/>
              <a:gd name="T14" fmla="*/ G6 w 21600"/>
              <a:gd name="T15" fmla="*/ G2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16200" y="0"/>
                </a:moveTo>
                <a:lnTo>
                  <a:pt x="16200" y="5400"/>
                </a:lnTo>
                <a:lnTo>
                  <a:pt x="3375" y="5400"/>
                </a:lnTo>
                <a:lnTo>
                  <a:pt x="3375" y="16200"/>
                </a:lnTo>
                <a:lnTo>
                  <a:pt x="16200" y="16200"/>
                </a:lnTo>
                <a:lnTo>
                  <a:pt x="16200" y="21600"/>
                </a:lnTo>
                <a:lnTo>
                  <a:pt x="21600" y="10800"/>
                </a:lnTo>
                <a:close/>
              </a:path>
              <a:path w="21600" h="21600">
                <a:moveTo>
                  <a:pt x="1350" y="5400"/>
                </a:moveTo>
                <a:lnTo>
                  <a:pt x="1350" y="16200"/>
                </a:lnTo>
                <a:lnTo>
                  <a:pt x="2700" y="16200"/>
                </a:lnTo>
                <a:lnTo>
                  <a:pt x="2700" y="5400"/>
                </a:lnTo>
                <a:close/>
              </a:path>
              <a:path w="21600" h="21600">
                <a:moveTo>
                  <a:pt x="0" y="5400"/>
                </a:moveTo>
                <a:lnTo>
                  <a:pt x="0" y="16200"/>
                </a:lnTo>
                <a:lnTo>
                  <a:pt x="675" y="16200"/>
                </a:lnTo>
                <a:lnTo>
                  <a:pt x="675" y="5400"/>
                </a:lnTo>
                <a:close/>
              </a:path>
            </a:pathLst>
          </a:custGeom>
          <a:gradFill rotWithShape="1">
            <a:gsLst>
              <a:gs pos="0">
                <a:srgbClr val="00FFFF"/>
              </a:gs>
              <a:gs pos="100000">
                <a:srgbClr val="00FFFF">
                  <a:gamma/>
                  <a:shade val="46275"/>
                  <a:invGamma/>
                </a:srgbClr>
              </a:gs>
            </a:gsLst>
            <a:lin ang="5400000" scaled="1"/>
          </a:gradFill>
          <a:ln w="9525">
            <a:solidFill>
              <a:schemeClr val="tx1"/>
            </a:solidFill>
            <a:miter lim="800000"/>
            <a:headEnd/>
            <a:tailEnd/>
          </a:ln>
          <a:effectLst>
            <a:outerShdw dist="107763" dir="2700000" algn="ctr" rotWithShape="0">
              <a:schemeClr val="bg2">
                <a:alpha val="50000"/>
              </a:schemeClr>
            </a:outerShdw>
          </a:effectLst>
        </p:spPr>
        <p:txBody>
          <a:bodyPr wrap="none" anchor="ctr"/>
          <a:lstStyle/>
          <a:p>
            <a:endParaRPr lang="zh-CN" altLang="en-US"/>
          </a:p>
        </p:txBody>
      </p:sp>
      <p:grpSp>
        <p:nvGrpSpPr>
          <p:cNvPr id="469088" name="Group 96"/>
          <p:cNvGrpSpPr>
            <a:grpSpLocks/>
          </p:cNvGrpSpPr>
          <p:nvPr/>
        </p:nvGrpSpPr>
        <p:grpSpPr bwMode="auto">
          <a:xfrm>
            <a:off x="8371780" y="1773609"/>
            <a:ext cx="2044700" cy="2184400"/>
            <a:chOff x="3923" y="1088"/>
            <a:chExt cx="1288" cy="1376"/>
          </a:xfrm>
        </p:grpSpPr>
        <p:grpSp>
          <p:nvGrpSpPr>
            <p:cNvPr id="469086" name="Group 94"/>
            <p:cNvGrpSpPr>
              <a:grpSpLocks/>
            </p:cNvGrpSpPr>
            <p:nvPr/>
          </p:nvGrpSpPr>
          <p:grpSpPr bwMode="auto">
            <a:xfrm>
              <a:off x="3923" y="1088"/>
              <a:ext cx="1270" cy="1376"/>
              <a:chOff x="3923" y="1344"/>
              <a:chExt cx="1270" cy="1376"/>
            </a:xfrm>
          </p:grpSpPr>
          <p:pic>
            <p:nvPicPr>
              <p:cNvPr id="469080" name="Picture 88" descr="display"/>
              <p:cNvPicPr>
                <a:picLocks noChangeAspect="1" noChangeArrowheads="1"/>
              </p:cNvPicPr>
              <p:nvPr/>
            </p:nvPicPr>
            <p:blipFill>
              <a:blip r:embed="rId5" cstate="print"/>
              <a:srcRect/>
              <a:stretch>
                <a:fillRect/>
              </a:stretch>
            </p:blipFill>
            <p:spPr bwMode="auto">
              <a:xfrm>
                <a:off x="3923" y="1344"/>
                <a:ext cx="1270" cy="1146"/>
              </a:xfrm>
              <a:prstGeom prst="rect">
                <a:avLst/>
              </a:prstGeom>
              <a:noFill/>
              <a:effectLst>
                <a:outerShdw blurRad="50800" dist="106680" dir="2700000" algn="tl" rotWithShape="0">
                  <a:prstClr val="black">
                    <a:alpha val="43000"/>
                  </a:prstClr>
                </a:outerShdw>
              </a:effectLst>
            </p:spPr>
          </p:pic>
          <p:sp>
            <p:nvSpPr>
              <p:cNvPr id="469083" name="Text Box 91"/>
              <p:cNvSpPr txBox="1">
                <a:spLocks noChangeArrowheads="1"/>
              </p:cNvSpPr>
              <p:nvPr/>
            </p:nvSpPr>
            <p:spPr bwMode="auto">
              <a:xfrm>
                <a:off x="4142" y="2432"/>
                <a:ext cx="953" cy="28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zh-CN" altLang="en-US" b="1">
                    <a:solidFill>
                      <a:srgbClr val="CC0000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ea typeface="隶书" pitchFamily="49" charset="-122"/>
                  </a:rPr>
                  <a:t>输出数据</a:t>
                </a:r>
              </a:p>
            </p:txBody>
          </p:sp>
        </p:grpSp>
        <p:sp>
          <p:nvSpPr>
            <p:cNvPr id="469087" name="Text Box 95"/>
            <p:cNvSpPr txBox="1">
              <a:spLocks noChangeArrowheads="1"/>
            </p:cNvSpPr>
            <p:nvPr/>
          </p:nvSpPr>
          <p:spPr bwMode="auto">
            <a:xfrm>
              <a:off x="4259" y="1237"/>
              <a:ext cx="952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1800" b="1">
                  <a:solidFill>
                    <a:srgbClr val="00FFFF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</a:rPr>
                <a:t>100 200 300</a:t>
              </a:r>
            </a:p>
          </p:txBody>
        </p:sp>
      </p:grpSp>
      <p:sp>
        <p:nvSpPr>
          <p:cNvPr id="469089" name="AutoShape 97"/>
          <p:cNvSpPr>
            <a:spLocks noChangeArrowheads="1"/>
          </p:cNvSpPr>
          <p:nvPr/>
        </p:nvSpPr>
        <p:spPr bwMode="auto">
          <a:xfrm>
            <a:off x="6500118" y="595685"/>
            <a:ext cx="3097213" cy="792163"/>
          </a:xfrm>
          <a:prstGeom prst="wedgeRoundRectCallout">
            <a:avLst>
              <a:gd name="adj1" fmla="val 49537"/>
              <a:gd name="adj2" fmla="val 118338"/>
              <a:gd name="adj3" fmla="val 16667"/>
            </a:avLst>
          </a:prstGeom>
          <a:gradFill rotWithShape="1">
            <a:gsLst>
              <a:gs pos="0">
                <a:srgbClr val="00FFFF"/>
              </a:gs>
              <a:gs pos="100000">
                <a:schemeClr val="bg1"/>
              </a:gs>
            </a:gsLst>
            <a:lin ang="5400000" scaled="1"/>
          </a:gradFill>
          <a:ln w="19050">
            <a:solidFill>
              <a:srgbClr val="FF00FF"/>
            </a:solidFill>
            <a:miter lim="800000"/>
            <a:headEnd/>
            <a:tailEnd/>
          </a:ln>
          <a:effectLst>
            <a:outerShdw blurRad="50800" dist="106680" dir="2700000" algn="tl" rotWithShape="0">
              <a:prstClr val="black">
                <a:alpha val="43000"/>
              </a:prstClr>
            </a:outerShdw>
          </a:effectLst>
          <a:scene3d>
            <a:camera prst="orthographicFront"/>
            <a:lightRig rig="threePt" dir="t"/>
          </a:scene3d>
          <a:sp3d>
            <a:bevelT w="114300" prst="hardEdge"/>
          </a:sp3d>
        </p:spPr>
        <p:txBody>
          <a:bodyPr/>
          <a:lstStyle/>
          <a:p>
            <a:r>
              <a:rPr lang="zh-CN" altLang="en-US" sz="2000" b="1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楷体" pitchFamily="49" charset="-122"/>
              </a:rPr>
              <a:t>存在问题：</a:t>
            </a:r>
            <a:r>
              <a:rPr lang="zh-CN" altLang="en-US" sz="2000" b="1">
                <a:solidFill>
                  <a:schemeClr val="accent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楷体" pitchFamily="49" charset="-122"/>
              </a:rPr>
              <a:t>运行完毕，</a:t>
            </a:r>
          </a:p>
          <a:p>
            <a:r>
              <a:rPr lang="zh-CN" altLang="en-US" sz="2000" b="1">
                <a:solidFill>
                  <a:schemeClr val="accent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楷体" pitchFamily="49" charset="-122"/>
              </a:rPr>
              <a:t>                     结果消失！</a:t>
            </a:r>
          </a:p>
        </p:txBody>
      </p:sp>
      <p:sp>
        <p:nvSpPr>
          <p:cNvPr id="469090" name="AutoShape 98"/>
          <p:cNvSpPr>
            <a:spLocks noChangeArrowheads="1"/>
          </p:cNvSpPr>
          <p:nvPr/>
        </p:nvSpPr>
        <p:spPr bwMode="auto">
          <a:xfrm>
            <a:off x="6816154" y="4292501"/>
            <a:ext cx="3816350" cy="1728787"/>
          </a:xfrm>
          <a:prstGeom prst="cloudCallout">
            <a:avLst>
              <a:gd name="adj1" fmla="val -61416"/>
              <a:gd name="adj2" fmla="val -119478"/>
            </a:avLst>
          </a:prstGeom>
          <a:gradFill rotWithShape="1">
            <a:gsLst>
              <a:gs pos="0">
                <a:srgbClr val="FF99CC"/>
              </a:gs>
              <a:gs pos="100000">
                <a:schemeClr val="bg1"/>
              </a:gs>
            </a:gsLst>
            <a:lin ang="5400000" scaled="1"/>
          </a:gradFill>
          <a:ln w="19050">
            <a:solidFill>
              <a:srgbClr val="0000FF"/>
            </a:solidFill>
            <a:round/>
            <a:headEnd/>
            <a:tailEnd/>
          </a:ln>
          <a:effectLst>
            <a:outerShdw blurRad="50800" dist="106680" dir="2700000" algn="tl" rotWithShape="0">
              <a:prstClr val="black">
                <a:alpha val="43000"/>
              </a:prstClr>
            </a:outerShdw>
          </a:effectLst>
        </p:spPr>
        <p:txBody>
          <a:bodyPr/>
          <a:lstStyle/>
          <a:p>
            <a:pPr algn="ctr"/>
            <a:r>
              <a:rPr lang="zh-CN" altLang="en-US" b="1" dirty="0">
                <a:solidFill>
                  <a:srgbClr val="CC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隶书" pitchFamily="49" charset="-122"/>
                <a:ea typeface="隶书" pitchFamily="49" charset="-122"/>
              </a:rPr>
              <a:t>运行结果能否长期保存呢？</a:t>
            </a:r>
          </a:p>
        </p:txBody>
      </p:sp>
      <p:sp>
        <p:nvSpPr>
          <p:cNvPr id="469091" name="Text Box 99"/>
          <p:cNvSpPr txBox="1">
            <a:spLocks noChangeArrowheads="1"/>
          </p:cNvSpPr>
          <p:nvPr/>
        </p:nvSpPr>
        <p:spPr bwMode="auto">
          <a:xfrm>
            <a:off x="7967736" y="5276056"/>
            <a:ext cx="1944688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b="1" dirty="0">
                <a:solidFill>
                  <a:schemeClr val="accent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隶书" pitchFamily="49" charset="-122"/>
              </a:rPr>
              <a:t>使用文件！</a:t>
            </a:r>
          </a:p>
        </p:txBody>
      </p:sp>
      <p:sp>
        <p:nvSpPr>
          <p:cNvPr id="469092" name="Text Box 100"/>
          <p:cNvSpPr txBox="1">
            <a:spLocks noChangeArrowheads="1"/>
          </p:cNvSpPr>
          <p:nvPr/>
        </p:nvSpPr>
        <p:spPr bwMode="auto">
          <a:xfrm>
            <a:off x="1559942" y="4403725"/>
            <a:ext cx="4104010" cy="850900"/>
          </a:xfrm>
          <a:prstGeom prst="rect">
            <a:avLst/>
          </a:prstGeom>
          <a:gradFill rotWithShape="1">
            <a:gsLst>
              <a:gs pos="0">
                <a:srgbClr val="00FFFF"/>
              </a:gs>
              <a:gs pos="100000">
                <a:schemeClr val="bg1"/>
              </a:gs>
            </a:gsLst>
            <a:lin ang="5400000" scaled="1"/>
          </a:gradFill>
          <a:ln w="28575">
            <a:solidFill>
              <a:srgbClr val="FF00FF"/>
            </a:solidFill>
            <a:miter lim="800000"/>
            <a:headEnd/>
            <a:tailEnd/>
          </a:ln>
          <a:effectLst>
            <a:outerShdw blurRad="50800" dist="106680" dir="2700000" algn="tl" rotWithShape="0">
              <a:prstClr val="black">
                <a:alpha val="43000"/>
              </a:prstClr>
            </a:outerShdw>
          </a:effectLst>
          <a:scene3d>
            <a:camera prst="orthographicFront"/>
            <a:lightRig rig="threePt" dir="t"/>
          </a:scene3d>
          <a:sp3d>
            <a:bevelT w="114300" prst="hardEdge"/>
          </a:sp3d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dirty="0">
                <a:effectLst>
                  <a:outerShdw blurRad="38100" dist="38100" dir="2700000" algn="tl">
                    <a:srgbClr val="FFFFFF"/>
                  </a:outerShdw>
                </a:effectLst>
                <a:ea typeface="隶书" pitchFamily="49" charset="-122"/>
              </a:rPr>
              <a:t>文件无处不在，切不可视而不见，视而不理！</a:t>
            </a:r>
          </a:p>
        </p:txBody>
      </p:sp>
      <p:sp>
        <p:nvSpPr>
          <p:cNvPr id="469093" name="Text Box 101"/>
          <p:cNvSpPr txBox="1">
            <a:spLocks noChangeArrowheads="1"/>
          </p:cNvSpPr>
          <p:nvPr/>
        </p:nvSpPr>
        <p:spPr bwMode="auto">
          <a:xfrm>
            <a:off x="1559496" y="5897563"/>
            <a:ext cx="5532437" cy="707886"/>
          </a:xfrm>
          <a:prstGeom prst="rect">
            <a:avLst/>
          </a:prstGeom>
          <a:solidFill>
            <a:schemeClr val="bg1"/>
          </a:solidFill>
          <a:ln w="38100">
            <a:solidFill>
              <a:srgbClr val="0000FF"/>
            </a:solidFill>
            <a:miter lim="800000"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scene3d>
            <a:camera prst="orthographicFront"/>
            <a:lightRig rig="threePt" dir="t"/>
          </a:scene3d>
          <a:sp3d>
            <a:bevelT w="114300" prst="hardEdge"/>
          </a:sp3d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000" b="1" dirty="0">
                <a:solidFill>
                  <a:srgbClr val="CC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楷体" pitchFamily="49" charset="-122"/>
              </a:rPr>
              <a:t>如：</a:t>
            </a:r>
            <a:r>
              <a:rPr lang="en-US" altLang="zh-CN" sz="2000" b="1" dirty="0">
                <a:solidFill>
                  <a:srgbClr val="CC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楷体" pitchFamily="49" charset="-122"/>
              </a:rPr>
              <a:t>C</a:t>
            </a:r>
            <a:r>
              <a:rPr lang="zh-CN" altLang="en-US" sz="2000" b="1" dirty="0">
                <a:solidFill>
                  <a:srgbClr val="CC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楷体" pitchFamily="49" charset="-122"/>
              </a:rPr>
              <a:t>语言源程序文件（</a:t>
            </a:r>
            <a:r>
              <a:rPr lang="en-US" altLang="zh-CN" sz="2000" b="1" dirty="0">
                <a:solidFill>
                  <a:srgbClr val="CC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楷体" pitchFamily="49" charset="-122"/>
              </a:rPr>
              <a:t>.c</a:t>
            </a:r>
            <a:r>
              <a:rPr lang="zh-CN" altLang="en-US" sz="2000" b="1" dirty="0">
                <a:solidFill>
                  <a:srgbClr val="CC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楷体" pitchFamily="49" charset="-122"/>
              </a:rPr>
              <a:t>或</a:t>
            </a:r>
            <a:r>
              <a:rPr lang="en-US" altLang="zh-CN" sz="2000" b="1" dirty="0">
                <a:solidFill>
                  <a:srgbClr val="CC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楷体" pitchFamily="49" charset="-122"/>
              </a:rPr>
              <a:t>.</a:t>
            </a:r>
            <a:r>
              <a:rPr lang="en-US" altLang="zh-CN" sz="2000" b="1" dirty="0" err="1">
                <a:solidFill>
                  <a:srgbClr val="CC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楷体" pitchFamily="49" charset="-122"/>
              </a:rPr>
              <a:t>cpp</a:t>
            </a:r>
            <a:r>
              <a:rPr lang="zh-CN" altLang="en-US" sz="2000" b="1" dirty="0">
                <a:solidFill>
                  <a:srgbClr val="CC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楷体" pitchFamily="49" charset="-122"/>
              </a:rPr>
              <a:t>）、执行文件（</a:t>
            </a:r>
            <a:r>
              <a:rPr lang="en-US" altLang="zh-CN" sz="2000" b="1" dirty="0">
                <a:solidFill>
                  <a:srgbClr val="CC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楷体" pitchFamily="49" charset="-122"/>
              </a:rPr>
              <a:t>.exe</a:t>
            </a:r>
            <a:r>
              <a:rPr lang="zh-CN" altLang="en-US" sz="2000" b="1" dirty="0">
                <a:solidFill>
                  <a:srgbClr val="CC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楷体" pitchFamily="49" charset="-122"/>
              </a:rPr>
              <a:t>）、图片文件（</a:t>
            </a:r>
            <a:r>
              <a:rPr lang="en-US" altLang="zh-CN" sz="2000" b="1" dirty="0">
                <a:solidFill>
                  <a:srgbClr val="CC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楷体" pitchFamily="49" charset="-122"/>
              </a:rPr>
              <a:t>.jpg</a:t>
            </a:r>
            <a:r>
              <a:rPr lang="zh-CN" altLang="en-US" sz="2000" b="1" dirty="0">
                <a:solidFill>
                  <a:srgbClr val="CC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楷体" pitchFamily="49" charset="-122"/>
              </a:rPr>
              <a:t>）</a:t>
            </a:r>
            <a:r>
              <a:rPr lang="en-US" altLang="zh-CN" sz="2000" b="1" dirty="0">
                <a:solidFill>
                  <a:srgbClr val="CC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楷体" pitchFamily="49" charset="-122"/>
              </a:rPr>
              <a:t>……</a:t>
            </a:r>
            <a:r>
              <a:rPr lang="en-US" altLang="zh-CN" sz="2000" b="1" dirty="0">
                <a:effectLst>
                  <a:outerShdw blurRad="38100" dist="38100" dir="2700000" algn="tl">
                    <a:srgbClr val="FFFFFF"/>
                  </a:outerShdw>
                </a:effectLst>
                <a:latin typeface="+mn-lt"/>
                <a:ea typeface="楷体" pitchFamily="49" charset="-122"/>
              </a:rPr>
              <a:t>       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89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6899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6899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90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3" dur="500"/>
                                        <p:tgtEl>
                                          <p:spTgt spid="469076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90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8" dur="500"/>
                                        <p:tgtEl>
                                          <p:spTgt spid="469085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6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500"/>
                            </p:stCondLst>
                            <p:childTnLst>
                              <p:par>
                                <p:cTn id="20" presetID="18" presetClass="entr" presetSubtype="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90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22" dur="500"/>
                                        <p:tgtEl>
                                          <p:spTgt spid="469077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1000"/>
                            </p:stCondLst>
                            <p:childTnLst>
                              <p:par>
                                <p:cTn id="24" presetID="18" presetClass="entr" presetSubtype="3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90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26" dur="500"/>
                                        <p:tgtEl>
                                          <p:spTgt spid="469084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4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1500"/>
                            </p:stCondLst>
                            <p:childTnLst>
                              <p:par>
                                <p:cTn id="28" presetID="4" presetClass="entr" presetSubtype="3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90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30" dur="500"/>
                                        <p:tgtEl>
                                          <p:spTgt spid="469088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8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8" presetClass="entr" presetSubtype="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90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35" dur="500"/>
                                        <p:tgtEl>
                                          <p:spTgt spid="469089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3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laser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8" presetClass="entr" presetSubtype="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90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40" dur="500"/>
                                        <p:tgtEl>
                                          <p:spTgt spid="469090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8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90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45" dur="500"/>
                                        <p:tgtEl>
                                          <p:spTgt spid="469091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3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90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50" dur="500"/>
                                        <p:tgtEl>
                                          <p:spTgt spid="469092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8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90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55" dur="500"/>
                                        <p:tgtEl>
                                          <p:spTgt spid="469093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3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68997" grpId="0"/>
      <p:bldP spid="469076" grpId="0" animBg="1"/>
      <p:bldP spid="469077" grpId="0" animBg="1"/>
      <p:bldP spid="469084" grpId="0" animBg="1"/>
      <p:bldP spid="469089" grpId="0" animBg="1"/>
      <p:bldP spid="469090" grpId="0" animBg="1"/>
      <p:bldP spid="469091" grpId="0"/>
      <p:bldP spid="469092" grpId="0" animBg="1"/>
      <p:bldP spid="469093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7890" name="Text Box 2"/>
          <p:cNvSpPr txBox="1">
            <a:spLocks noChangeArrowheads="1"/>
          </p:cNvSpPr>
          <p:nvPr/>
        </p:nvSpPr>
        <p:spPr bwMode="auto">
          <a:xfrm>
            <a:off x="555329" y="168959"/>
            <a:ext cx="3889375" cy="579437"/>
          </a:xfrm>
          <a:prstGeom prst="rect">
            <a:avLst/>
          </a:prstGeom>
          <a:noFill/>
          <a:ln w="57150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marL="177800" indent="-177800">
              <a:spcBef>
                <a:spcPct val="50000"/>
              </a:spcBef>
              <a:buFont typeface="Wingdings" pitchFamily="2" charset="2"/>
              <a:buChar char="u"/>
              <a:tabLst>
                <a:tab pos="177800" algn="l"/>
              </a:tabLst>
            </a:pPr>
            <a:r>
              <a:rPr kumimoji="0" lang="zh-CN" altLang="en-US" sz="3200" b="1" dirty="0">
                <a:solidFill>
                  <a:srgbClr val="FF33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itchFamily="34" charset="0"/>
                <a:ea typeface="隶书" pitchFamily="49" charset="-122"/>
              </a:rPr>
              <a:t>学习目标</a:t>
            </a:r>
            <a:r>
              <a:rPr kumimoji="0" lang="zh-CN" altLang="en-US" b="1" dirty="0">
                <a:effectLst>
                  <a:outerShdw blurRad="38100" dist="38100" dir="2700000" algn="tl">
                    <a:srgbClr val="FFFFFF"/>
                  </a:outerShdw>
                </a:effectLst>
              </a:rPr>
              <a:t>  </a:t>
            </a:r>
            <a:endParaRPr kumimoji="0" lang="zh-CN" altLang="en-US" dirty="0"/>
          </a:p>
        </p:txBody>
      </p:sp>
      <p:sp>
        <p:nvSpPr>
          <p:cNvPr id="677903" name="Text Box 15"/>
          <p:cNvSpPr txBox="1">
            <a:spLocks noChangeArrowheads="1"/>
          </p:cNvSpPr>
          <p:nvPr/>
        </p:nvSpPr>
        <p:spPr bwMode="auto">
          <a:xfrm>
            <a:off x="529929" y="2597480"/>
            <a:ext cx="2520082" cy="579438"/>
          </a:xfrm>
          <a:prstGeom prst="rect">
            <a:avLst/>
          </a:prstGeom>
          <a:noFill/>
          <a:ln w="57150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marL="177800" indent="-177800">
              <a:spcBef>
                <a:spcPct val="50000"/>
              </a:spcBef>
              <a:buFont typeface="Wingdings" pitchFamily="2" charset="2"/>
              <a:buChar char="u"/>
              <a:tabLst>
                <a:tab pos="177800" algn="l"/>
              </a:tabLst>
            </a:pPr>
            <a:r>
              <a:rPr kumimoji="0" lang="zh-CN" altLang="en-US" sz="3200" b="1" dirty="0">
                <a:solidFill>
                  <a:srgbClr val="FF33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itchFamily="34" charset="0"/>
                <a:ea typeface="隶书" pitchFamily="49" charset="-122"/>
              </a:rPr>
              <a:t>学习内容</a:t>
            </a:r>
            <a:r>
              <a:rPr kumimoji="0" lang="zh-CN" altLang="en-US" b="1" dirty="0">
                <a:effectLst>
                  <a:outerShdw blurRad="38100" dist="38100" dir="2700000" algn="tl">
                    <a:srgbClr val="FFFFFF"/>
                  </a:outerShdw>
                </a:effectLst>
              </a:rPr>
              <a:t> </a:t>
            </a:r>
            <a:endParaRPr kumimoji="0" lang="zh-CN" altLang="en-US" dirty="0"/>
          </a:p>
        </p:txBody>
      </p:sp>
      <p:sp>
        <p:nvSpPr>
          <p:cNvPr id="677932" name="Rectangle 44"/>
          <p:cNvSpPr>
            <a:spLocks noChangeArrowheads="1"/>
          </p:cNvSpPr>
          <p:nvPr/>
        </p:nvSpPr>
        <p:spPr bwMode="auto">
          <a:xfrm>
            <a:off x="1098374" y="3226217"/>
            <a:ext cx="10326217" cy="3473450"/>
          </a:xfrm>
          <a:prstGeom prst="rect">
            <a:avLst/>
          </a:prstGeom>
          <a:gradFill flip="none" rotWithShape="1">
            <a:gsLst>
              <a:gs pos="0">
                <a:schemeClr val="bg1">
                  <a:shade val="30000"/>
                  <a:satMod val="115000"/>
                </a:schemeClr>
              </a:gs>
              <a:gs pos="50000">
                <a:schemeClr val="bg1">
                  <a:shade val="67500"/>
                  <a:satMod val="115000"/>
                </a:schemeClr>
              </a:gs>
              <a:gs pos="100000">
                <a:schemeClr val="bg1">
                  <a:shade val="100000"/>
                  <a:satMod val="115000"/>
                </a:schemeClr>
              </a:gs>
            </a:gsLst>
            <a:lin ang="13500000" scaled="1"/>
            <a:tileRect/>
          </a:gradFill>
          <a:ln w="28575">
            <a:solidFill>
              <a:srgbClr val="FF0000"/>
            </a:solidFill>
            <a:miter lim="800000"/>
            <a:headEnd/>
            <a:tailEnd/>
          </a:ln>
          <a:effectLst>
            <a:outerShdw blurRad="50800" dist="106680" dir="2700000" algn="tl" rotWithShape="0">
              <a:prstClr val="black">
                <a:alpha val="43000"/>
              </a:prstClr>
            </a:outerShdw>
          </a:effectLst>
          <a:scene3d>
            <a:camera prst="orthographicFront"/>
            <a:lightRig rig="threePt" dir="t"/>
          </a:scene3d>
          <a:sp3d>
            <a:bevelT w="114300" prst="hardEdge"/>
          </a:sp3d>
        </p:spPr>
        <p:txBody>
          <a:bodyPr wrap="square">
            <a:spAutoFit/>
          </a:bodyPr>
          <a:lstStyle/>
          <a:p>
            <a:pPr marL="180975">
              <a:buClr>
                <a:srgbClr val="FF0000"/>
              </a:buClr>
              <a:buFont typeface="Wingdings" pitchFamily="2" charset="2"/>
              <a:buChar char="ü"/>
            </a:pPr>
            <a:r>
              <a:rPr lang="en-US" altLang="zh-CN" sz="2000" b="1" dirty="0">
                <a:effectLst>
                  <a:outerShdw blurRad="38100" dist="38100" dir="2700000" algn="tl">
                    <a:srgbClr val="FFFFFF"/>
                  </a:outerShdw>
                </a:effectLst>
                <a:latin typeface="+mn-lt"/>
                <a:ea typeface="楷体" pitchFamily="49" charset="-122"/>
              </a:rPr>
              <a:t> </a:t>
            </a:r>
            <a:r>
              <a:rPr lang="zh-CN" altLang="en-US" sz="2000" b="1" dirty="0">
                <a:effectLst>
                  <a:outerShdw blurRad="38100" dist="38100" dir="2700000" algn="tl">
                    <a:srgbClr val="FFFFFF"/>
                  </a:outerShdw>
                </a:effectLst>
                <a:latin typeface="+mn-lt"/>
                <a:ea typeface="楷体" pitchFamily="49" charset="-122"/>
              </a:rPr>
              <a:t>文件的基本概念</a:t>
            </a:r>
          </a:p>
          <a:p>
            <a:pPr marL="180975">
              <a:buClr>
                <a:srgbClr val="FF0000"/>
              </a:buClr>
              <a:buFont typeface="Wingdings" pitchFamily="2" charset="2"/>
              <a:buChar char="ü"/>
            </a:pPr>
            <a:r>
              <a:rPr lang="zh-CN" altLang="en-US" sz="2000" b="1" dirty="0">
                <a:effectLst>
                  <a:outerShdw blurRad="38100" dist="38100" dir="2700000" algn="tl">
                    <a:srgbClr val="FFFFFF"/>
                  </a:outerShdw>
                </a:effectLst>
                <a:latin typeface="+mn-lt"/>
                <a:ea typeface="楷体" pitchFamily="49" charset="-122"/>
              </a:rPr>
              <a:t> 文件的类别</a:t>
            </a:r>
          </a:p>
          <a:p>
            <a:pPr marL="180975">
              <a:buClr>
                <a:srgbClr val="FF0000"/>
              </a:buClr>
              <a:buFont typeface="Wingdings" pitchFamily="2" charset="2"/>
              <a:buChar char="ü"/>
            </a:pPr>
            <a:r>
              <a:rPr lang="zh-CN" altLang="en-US" sz="2000" b="1" dirty="0">
                <a:effectLst>
                  <a:outerShdw blurRad="38100" dist="38100" dir="2700000" algn="tl">
                    <a:srgbClr val="FFFFFF"/>
                  </a:outerShdw>
                </a:effectLst>
                <a:latin typeface="+mn-lt"/>
                <a:ea typeface="楷体" pitchFamily="49" charset="-122"/>
              </a:rPr>
              <a:t> 文件操作概述</a:t>
            </a:r>
          </a:p>
          <a:p>
            <a:pPr marL="180975">
              <a:buClr>
                <a:srgbClr val="FF0000"/>
              </a:buClr>
              <a:buFont typeface="Wingdings" pitchFamily="2" charset="2"/>
              <a:buChar char="ü"/>
            </a:pPr>
            <a:r>
              <a:rPr lang="zh-CN" altLang="en-US" sz="2000" b="1" dirty="0">
                <a:effectLst>
                  <a:outerShdw blurRad="38100" dist="38100" dir="2700000" algn="tl">
                    <a:srgbClr val="FFFFFF"/>
                  </a:outerShdw>
                </a:effectLst>
                <a:latin typeface="+mn-lt"/>
                <a:ea typeface="楷体" pitchFamily="49" charset="-122"/>
              </a:rPr>
              <a:t> 文件指针</a:t>
            </a:r>
          </a:p>
          <a:p>
            <a:pPr marL="180975">
              <a:buClr>
                <a:srgbClr val="FF0000"/>
              </a:buClr>
              <a:buFont typeface="Wingdings" pitchFamily="2" charset="2"/>
              <a:buChar char="ü"/>
            </a:pPr>
            <a:r>
              <a:rPr lang="zh-CN" altLang="en-US" sz="2000" b="1" dirty="0">
                <a:effectLst>
                  <a:outerShdw blurRad="38100" dist="38100" dir="2700000" algn="tl">
                    <a:srgbClr val="FFFFFF"/>
                  </a:outerShdw>
                </a:effectLst>
                <a:latin typeface="+mn-lt"/>
                <a:ea typeface="楷体" pitchFamily="49" charset="-122"/>
              </a:rPr>
              <a:t> 文件的打开、读写和关闭</a:t>
            </a:r>
          </a:p>
          <a:p>
            <a:pPr marL="444500" lvl="1">
              <a:buClr>
                <a:srgbClr val="339933"/>
              </a:buClr>
              <a:buFont typeface="Wingdings" pitchFamily="2" charset="2"/>
              <a:buChar char="l"/>
            </a:pPr>
            <a:r>
              <a:rPr lang="zh-CN" altLang="en-US" sz="2000" b="1" dirty="0">
                <a:effectLst>
                  <a:outerShdw blurRad="38100" dist="38100" dir="2700000" algn="tl">
                    <a:srgbClr val="FFFFFF"/>
                  </a:outerShdw>
                </a:effectLst>
                <a:latin typeface="+mn-lt"/>
                <a:ea typeface="楷体" pitchFamily="49" charset="-122"/>
              </a:rPr>
              <a:t> 文件的打开与关闭</a:t>
            </a:r>
          </a:p>
          <a:p>
            <a:pPr marL="444500" lvl="1">
              <a:buClr>
                <a:srgbClr val="339933"/>
              </a:buClr>
              <a:buFont typeface="Wingdings" pitchFamily="2" charset="2"/>
              <a:buChar char="l"/>
            </a:pPr>
            <a:r>
              <a:rPr lang="zh-CN" altLang="en-US" sz="2000" b="1" dirty="0">
                <a:effectLst>
                  <a:outerShdw blurRad="38100" dist="38100" dir="2700000" algn="tl">
                    <a:srgbClr val="FFFFFF"/>
                  </a:outerShdw>
                </a:effectLst>
                <a:latin typeface="+mn-lt"/>
                <a:ea typeface="楷体" pitchFamily="49" charset="-122"/>
              </a:rPr>
              <a:t> 文件的读写</a:t>
            </a:r>
          </a:p>
          <a:p>
            <a:pPr marL="444500" lvl="1">
              <a:buClr>
                <a:srgbClr val="339933"/>
              </a:buClr>
              <a:buFont typeface="Wingdings" pitchFamily="2" charset="2"/>
              <a:buChar char="l"/>
            </a:pPr>
            <a:r>
              <a:rPr lang="zh-CN" altLang="en-US" sz="2000" b="1" dirty="0">
                <a:effectLst>
                  <a:outerShdw blurRad="38100" dist="38100" dir="2700000" algn="tl">
                    <a:srgbClr val="FFFFFF"/>
                  </a:outerShdw>
                </a:effectLst>
                <a:latin typeface="+mn-lt"/>
                <a:ea typeface="楷体" pitchFamily="49" charset="-122"/>
              </a:rPr>
              <a:t> 文件读写函数选用原则</a:t>
            </a:r>
          </a:p>
          <a:p>
            <a:pPr marL="180975">
              <a:buClr>
                <a:srgbClr val="FF0000"/>
              </a:buClr>
              <a:buFont typeface="Wingdings" pitchFamily="2" charset="2"/>
              <a:buChar char="ü"/>
            </a:pPr>
            <a:r>
              <a:rPr lang="zh-CN" altLang="en-US" sz="2000" b="1" dirty="0">
                <a:effectLst>
                  <a:outerShdw blurRad="38100" dist="38100" dir="2700000" algn="tl">
                    <a:srgbClr val="FFFFFF"/>
                  </a:outerShdw>
                </a:effectLst>
                <a:latin typeface="+mn-lt"/>
                <a:ea typeface="楷体" pitchFamily="49" charset="-122"/>
              </a:rPr>
              <a:t> 文件的定位读写</a:t>
            </a:r>
          </a:p>
          <a:p>
            <a:pPr marL="180975">
              <a:buClr>
                <a:srgbClr val="FF0000"/>
              </a:buClr>
              <a:buFont typeface="Wingdings" pitchFamily="2" charset="2"/>
              <a:buChar char="ü"/>
            </a:pPr>
            <a:r>
              <a:rPr lang="zh-CN" altLang="en-US" sz="2000" b="1" dirty="0">
                <a:effectLst>
                  <a:outerShdw blurRad="38100" dist="38100" dir="2700000" algn="tl">
                    <a:srgbClr val="FFFFFF"/>
                  </a:outerShdw>
                </a:effectLst>
                <a:latin typeface="+mn-lt"/>
                <a:ea typeface="楷体" pitchFamily="49" charset="-122"/>
              </a:rPr>
              <a:t> 文件应用综合举例</a:t>
            </a:r>
          </a:p>
          <a:p>
            <a:pPr marL="180975">
              <a:buClr>
                <a:srgbClr val="FF0000"/>
              </a:buClr>
              <a:buFont typeface="Wingdings" pitchFamily="2" charset="2"/>
              <a:buChar char="ü"/>
            </a:pPr>
            <a:r>
              <a:rPr lang="zh-CN" altLang="en-US" sz="2000" b="1" dirty="0">
                <a:effectLst>
                  <a:outerShdw blurRad="38100" dist="38100" dir="2700000" algn="tl">
                    <a:srgbClr val="FFFFFF"/>
                  </a:outerShdw>
                </a:effectLst>
                <a:latin typeface="+mn-lt"/>
                <a:ea typeface="楷体" pitchFamily="49" charset="-122"/>
              </a:rPr>
              <a:t> 本章小结</a:t>
            </a:r>
          </a:p>
        </p:txBody>
      </p:sp>
      <p:sp>
        <p:nvSpPr>
          <p:cNvPr id="677934" name="Rectangle 46"/>
          <p:cNvSpPr>
            <a:spLocks noChangeArrowheads="1"/>
          </p:cNvSpPr>
          <p:nvPr/>
        </p:nvSpPr>
        <p:spPr bwMode="auto">
          <a:xfrm>
            <a:off x="1126951" y="789672"/>
            <a:ext cx="10291014" cy="1631216"/>
          </a:xfrm>
          <a:prstGeom prst="rect">
            <a:avLst/>
          </a:prstGeom>
          <a:gradFill flip="none" rotWithShape="1">
            <a:gsLst>
              <a:gs pos="0">
                <a:schemeClr val="bg1">
                  <a:shade val="30000"/>
                  <a:satMod val="115000"/>
                </a:schemeClr>
              </a:gs>
              <a:gs pos="50000">
                <a:schemeClr val="bg1">
                  <a:shade val="67500"/>
                  <a:satMod val="115000"/>
                </a:schemeClr>
              </a:gs>
              <a:gs pos="100000">
                <a:schemeClr val="bg1">
                  <a:shade val="100000"/>
                  <a:satMod val="115000"/>
                </a:schemeClr>
              </a:gs>
            </a:gsLst>
            <a:lin ang="13500000" scaled="1"/>
            <a:tileRect/>
          </a:gradFill>
          <a:ln w="28575">
            <a:solidFill>
              <a:srgbClr val="FF0000"/>
            </a:solidFill>
            <a:miter lim="800000"/>
            <a:headEnd/>
            <a:tailEnd/>
          </a:ln>
          <a:effectLst>
            <a:outerShdw blurRad="50800" dist="106680" dir="2700000" algn="tl" rotWithShape="0">
              <a:prstClr val="black">
                <a:alpha val="43000"/>
              </a:prstClr>
            </a:outerShdw>
          </a:effectLst>
          <a:scene3d>
            <a:camera prst="orthographicFront"/>
            <a:lightRig rig="threePt" dir="t"/>
          </a:scene3d>
          <a:sp3d>
            <a:bevelT w="114300" prst="hardEdge"/>
          </a:sp3d>
        </p:spPr>
        <p:txBody>
          <a:bodyPr wrap="square">
            <a:spAutoFit/>
          </a:bodyPr>
          <a:lstStyle/>
          <a:p>
            <a:pPr marL="457200" indent="-276225">
              <a:buClr>
                <a:srgbClr val="FF0000"/>
              </a:buClr>
              <a:buFont typeface="Wingdings" pitchFamily="2" charset="2"/>
              <a:buChar char="ü"/>
            </a:pPr>
            <a:r>
              <a:rPr lang="en-US" altLang="zh-CN" sz="2000" b="1" dirty="0">
                <a:effectLst>
                  <a:outerShdw blurRad="38100" dist="38100" dir="2700000" algn="tl">
                    <a:srgbClr val="FFFFFF"/>
                  </a:outerShdw>
                </a:effectLst>
                <a:latin typeface="+mn-lt"/>
                <a:ea typeface="楷体" pitchFamily="49" charset="-122"/>
              </a:rPr>
              <a:t> </a:t>
            </a:r>
            <a:r>
              <a:rPr lang="zh-CN" altLang="en-US" sz="2000" b="1" dirty="0">
                <a:effectLst>
                  <a:outerShdw blurRad="38100" dist="38100" dir="2700000" algn="tl">
                    <a:srgbClr val="FFFFFF"/>
                  </a:outerShdw>
                </a:effectLst>
                <a:latin typeface="+mn-lt"/>
                <a:ea typeface="楷体" pitchFamily="49" charset="-122"/>
              </a:rPr>
              <a:t>理解文件的概念</a:t>
            </a:r>
            <a:r>
              <a:rPr lang="en-US" altLang="zh-CN" sz="2000" b="1" dirty="0">
                <a:effectLst>
                  <a:outerShdw blurRad="38100" dist="38100" dir="2700000" algn="tl">
                    <a:srgbClr val="FFFFFF"/>
                  </a:outerShdw>
                </a:effectLst>
                <a:latin typeface="+mn-lt"/>
                <a:ea typeface="楷体" pitchFamily="49" charset="-122"/>
              </a:rPr>
              <a:t>;</a:t>
            </a:r>
            <a:endParaRPr lang="zh-CN" altLang="en-US" sz="2000" b="1" dirty="0">
              <a:effectLst>
                <a:outerShdw blurRad="38100" dist="38100" dir="2700000" algn="tl">
                  <a:srgbClr val="FFFFFF"/>
                </a:outerShdw>
              </a:effectLst>
              <a:latin typeface="+mn-lt"/>
              <a:ea typeface="楷体" pitchFamily="49" charset="-122"/>
            </a:endParaRPr>
          </a:p>
          <a:p>
            <a:pPr marL="457200" indent="-276225">
              <a:buClr>
                <a:srgbClr val="FF0000"/>
              </a:buClr>
              <a:buFont typeface="Wingdings" pitchFamily="2" charset="2"/>
              <a:buChar char="ü"/>
            </a:pPr>
            <a:r>
              <a:rPr lang="zh-CN" altLang="en-US" sz="2000" b="1" dirty="0">
                <a:effectLst>
                  <a:outerShdw blurRad="38100" dist="38100" dir="2700000" algn="tl">
                    <a:srgbClr val="FFFFFF"/>
                  </a:outerShdw>
                </a:effectLst>
                <a:latin typeface="+mn-lt"/>
                <a:ea typeface="楷体" pitchFamily="49" charset="-122"/>
              </a:rPr>
              <a:t> 正确把握文本文件与二进制文件的区别；</a:t>
            </a:r>
          </a:p>
          <a:p>
            <a:pPr marL="457200" indent="-276225">
              <a:buClr>
                <a:srgbClr val="FF0000"/>
              </a:buClr>
              <a:buFont typeface="Wingdings" pitchFamily="2" charset="2"/>
              <a:buChar char="ü"/>
            </a:pPr>
            <a:r>
              <a:rPr lang="zh-CN" altLang="en-US" sz="2000" b="1" dirty="0">
                <a:effectLst>
                  <a:outerShdw blurRad="38100" dist="38100" dir="2700000" algn="tl">
                    <a:srgbClr val="FFFFFF"/>
                  </a:outerShdw>
                </a:effectLst>
                <a:latin typeface="+mn-lt"/>
                <a:ea typeface="楷体" pitchFamily="49" charset="-122"/>
              </a:rPr>
              <a:t> 掌握文件的打开、读写、定位以及关闭的方法；</a:t>
            </a:r>
          </a:p>
          <a:p>
            <a:pPr marL="457200" indent="-276225">
              <a:buClr>
                <a:srgbClr val="FF0000"/>
              </a:buClr>
              <a:buFont typeface="Wingdings" pitchFamily="2" charset="2"/>
              <a:buChar char="ü"/>
            </a:pPr>
            <a:r>
              <a:rPr lang="zh-CN" altLang="en-US" sz="2000" b="1" dirty="0">
                <a:effectLst>
                  <a:outerShdw blurRad="38100" dist="38100" dir="2700000" algn="tl">
                    <a:srgbClr val="FFFFFF"/>
                  </a:outerShdw>
                </a:effectLst>
                <a:latin typeface="+mn-lt"/>
                <a:ea typeface="楷体" pitchFamily="49" charset="-122"/>
              </a:rPr>
              <a:t> 掌握文件系统中有关文件操作的系统函数使用方法；</a:t>
            </a:r>
          </a:p>
          <a:p>
            <a:pPr marL="457200" indent="-276225">
              <a:buClr>
                <a:srgbClr val="FF0000"/>
              </a:buClr>
              <a:buFont typeface="Wingdings" pitchFamily="2" charset="2"/>
              <a:buChar char="ü"/>
            </a:pPr>
            <a:r>
              <a:rPr lang="zh-CN" altLang="en-US" sz="2000" b="1" dirty="0">
                <a:effectLst>
                  <a:outerShdw blurRad="38100" dist="38100" dir="2700000" algn="tl">
                    <a:srgbClr val="FFFFFF"/>
                  </a:outerShdw>
                </a:effectLst>
                <a:latin typeface="+mn-lt"/>
                <a:ea typeface="楷体" pitchFamily="49" charset="-122"/>
              </a:rPr>
              <a:t> 能设计对文件进行简单处理的实用程序。</a:t>
            </a:r>
          </a:p>
        </p:txBody>
      </p:sp>
      <p:grpSp>
        <p:nvGrpSpPr>
          <p:cNvPr id="677947" name="Group 59"/>
          <p:cNvGrpSpPr>
            <a:grpSpLocks/>
          </p:cNvGrpSpPr>
          <p:nvPr/>
        </p:nvGrpSpPr>
        <p:grpSpPr bwMode="auto">
          <a:xfrm>
            <a:off x="-9822" y="0"/>
            <a:ext cx="446088" cy="6858000"/>
            <a:chOff x="0" y="0"/>
            <a:chExt cx="281" cy="4320"/>
          </a:xfrm>
        </p:grpSpPr>
        <p:sp>
          <p:nvSpPr>
            <p:cNvPr id="677948" name="Text Box 60"/>
            <p:cNvSpPr txBox="1">
              <a:spLocks noChangeArrowheads="1"/>
            </p:cNvSpPr>
            <p:nvPr/>
          </p:nvSpPr>
          <p:spPr bwMode="auto">
            <a:xfrm>
              <a:off x="0" y="0"/>
              <a:ext cx="281" cy="4320"/>
            </a:xfrm>
            <a:prstGeom prst="rect">
              <a:avLst/>
            </a:prstGeom>
            <a:gradFill rotWithShape="0">
              <a:gsLst>
                <a:gs pos="0">
                  <a:schemeClr val="hlink">
                    <a:gamma/>
                    <a:shade val="60784"/>
                    <a:invGamma/>
                  </a:schemeClr>
                </a:gs>
                <a:gs pos="50000">
                  <a:schemeClr val="hlink"/>
                </a:gs>
                <a:gs pos="100000">
                  <a:schemeClr val="hlink">
                    <a:gamma/>
                    <a:shade val="60784"/>
                    <a:invGamma/>
                  </a:schemeClr>
                </a:gs>
              </a:gsLst>
              <a:lin ang="0" scaled="1"/>
            </a:gradFill>
            <a:ln w="9525">
              <a:noFill/>
              <a:miter lim="800000"/>
              <a:headEnd/>
              <a:tailEnd/>
            </a:ln>
            <a:effectLst/>
          </p:spPr>
          <p:txBody>
            <a:bodyPr/>
            <a:lstStyle/>
            <a:p>
              <a:pPr eaLnBrk="0" hangingPunct="0">
                <a:spcBef>
                  <a:spcPct val="50000"/>
                </a:spcBef>
              </a:pPr>
              <a:endParaRPr lang="en-US" altLang="zh-CN" sz="1800" dirty="0">
                <a:solidFill>
                  <a:srgbClr val="3333CC"/>
                </a:solidFill>
                <a:latin typeface="Verdana" pitchFamily="34" charset="0"/>
              </a:endParaRPr>
            </a:p>
            <a:p>
              <a:pPr eaLnBrk="0" hangingPunct="0">
                <a:spcBef>
                  <a:spcPct val="50000"/>
                </a:spcBef>
              </a:pPr>
              <a:r>
                <a:rPr lang="zh-CN" altLang="en-US" sz="1600" b="1" dirty="0">
                  <a:solidFill>
                    <a:srgbClr val="3333CC"/>
                  </a:solidFill>
                  <a:latin typeface="Verdana" pitchFamily="34" charset="0"/>
                </a:rPr>
                <a:t>语言程序设计教程       </a:t>
              </a:r>
            </a:p>
            <a:p>
              <a:pPr eaLnBrk="0" hangingPunct="0">
                <a:spcBef>
                  <a:spcPct val="50000"/>
                </a:spcBef>
              </a:pPr>
              <a:r>
                <a:rPr lang="zh-CN" altLang="en-US" sz="1600" b="1" dirty="0">
                  <a:solidFill>
                    <a:srgbClr val="3333CC"/>
                  </a:solidFill>
                  <a:latin typeface="Verdana" pitchFamily="34" charset="0"/>
                </a:rPr>
                <a:t>第三版</a:t>
              </a:r>
            </a:p>
            <a:p>
              <a:pPr eaLnBrk="0" hangingPunct="0">
                <a:spcBef>
                  <a:spcPct val="50000"/>
                </a:spcBef>
              </a:pPr>
              <a:endParaRPr lang="zh-CN" altLang="en-US" sz="1600" b="1" dirty="0">
                <a:solidFill>
                  <a:srgbClr val="3333CC"/>
                </a:solidFill>
                <a:latin typeface="Verdana" pitchFamily="34" charset="0"/>
              </a:endParaRPr>
            </a:p>
            <a:p>
              <a:pPr eaLnBrk="0" hangingPunct="0">
                <a:spcBef>
                  <a:spcPct val="50000"/>
                </a:spcBef>
              </a:pPr>
              <a:endParaRPr lang="zh-CN" altLang="en-US" sz="1600" b="1" dirty="0">
                <a:solidFill>
                  <a:srgbClr val="3333CC"/>
                </a:solidFill>
                <a:latin typeface="Verdana" pitchFamily="34" charset="0"/>
              </a:endParaRPr>
            </a:p>
            <a:p>
              <a:pPr eaLnBrk="0" hangingPunct="0">
                <a:spcBef>
                  <a:spcPct val="50000"/>
                </a:spcBef>
              </a:pPr>
              <a:r>
                <a:rPr lang="zh-CN" altLang="en-US" sz="1600" b="1" dirty="0">
                  <a:solidFill>
                    <a:srgbClr val="3333CC"/>
                  </a:solidFill>
                  <a:latin typeface="Verdana" pitchFamily="34" charset="0"/>
                </a:rPr>
                <a:t>第十</a:t>
              </a:r>
            </a:p>
            <a:p>
              <a:pPr eaLnBrk="0" hangingPunct="0">
                <a:spcBef>
                  <a:spcPct val="50000"/>
                </a:spcBef>
              </a:pPr>
              <a:r>
                <a:rPr lang="zh-CN" altLang="en-US" sz="1600" b="1" dirty="0">
                  <a:solidFill>
                    <a:srgbClr val="3333CC"/>
                  </a:solidFill>
                  <a:latin typeface="Verdana" pitchFamily="34" charset="0"/>
                </a:rPr>
                <a:t>二章 </a:t>
              </a:r>
            </a:p>
            <a:p>
              <a:pPr eaLnBrk="0" hangingPunct="0">
                <a:spcBef>
                  <a:spcPct val="50000"/>
                </a:spcBef>
              </a:pPr>
              <a:endParaRPr lang="zh-CN" altLang="en-US" sz="1600" b="1" dirty="0">
                <a:solidFill>
                  <a:srgbClr val="3333CC"/>
                </a:solidFill>
                <a:latin typeface="Verdana" pitchFamily="34" charset="0"/>
              </a:endParaRPr>
            </a:p>
            <a:p>
              <a:pPr eaLnBrk="0" hangingPunct="0">
                <a:spcBef>
                  <a:spcPct val="50000"/>
                </a:spcBef>
              </a:pPr>
              <a:r>
                <a:rPr lang="zh-CN" altLang="en-US" sz="1600" b="1" dirty="0">
                  <a:solidFill>
                    <a:srgbClr val="3333CC"/>
                  </a:solidFill>
                  <a:latin typeface="Verdana" pitchFamily="34" charset="0"/>
                </a:rPr>
                <a:t>文</a:t>
              </a:r>
            </a:p>
            <a:p>
              <a:pPr eaLnBrk="0" hangingPunct="0">
                <a:spcBef>
                  <a:spcPct val="50000"/>
                </a:spcBef>
              </a:pPr>
              <a:endParaRPr lang="zh-CN" altLang="en-US" sz="1600" b="1" dirty="0">
                <a:solidFill>
                  <a:srgbClr val="3333CC"/>
                </a:solidFill>
                <a:latin typeface="Verdana" pitchFamily="34" charset="0"/>
              </a:endParaRPr>
            </a:p>
            <a:p>
              <a:pPr eaLnBrk="0" hangingPunct="0">
                <a:spcBef>
                  <a:spcPct val="50000"/>
                </a:spcBef>
              </a:pPr>
              <a:r>
                <a:rPr lang="zh-CN" altLang="en-US" sz="1600" b="1" dirty="0">
                  <a:solidFill>
                    <a:srgbClr val="3333CC"/>
                  </a:solidFill>
                  <a:latin typeface="Verdana" pitchFamily="34" charset="0"/>
                </a:rPr>
                <a:t>件</a:t>
              </a:r>
            </a:p>
          </p:txBody>
        </p:sp>
        <p:sp>
          <p:nvSpPr>
            <p:cNvPr id="677949" name="Text Box 61"/>
            <p:cNvSpPr txBox="1">
              <a:spLocks noChangeArrowheads="1"/>
            </p:cNvSpPr>
            <p:nvPr/>
          </p:nvSpPr>
          <p:spPr bwMode="auto">
            <a:xfrm>
              <a:off x="0" y="0"/>
              <a:ext cx="281" cy="231"/>
            </a:xfrm>
            <a:prstGeom prst="rect">
              <a:avLst/>
            </a:prstGeom>
            <a:gradFill rotWithShape="0">
              <a:gsLst>
                <a:gs pos="0">
                  <a:schemeClr val="hlink">
                    <a:gamma/>
                    <a:shade val="46275"/>
                    <a:invGamma/>
                  </a:schemeClr>
                </a:gs>
                <a:gs pos="50000">
                  <a:schemeClr val="hlink"/>
                </a:gs>
                <a:gs pos="100000">
                  <a:schemeClr val="hlink">
                    <a:gamma/>
                    <a:shade val="46275"/>
                    <a:invGamma/>
                  </a:schemeClr>
                </a:gs>
              </a:gsLst>
              <a:lin ang="0" scaled="1"/>
            </a:gradFill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eaLnBrk="0" hangingPunct="0">
                <a:spcBef>
                  <a:spcPct val="50000"/>
                </a:spcBef>
              </a:pPr>
              <a:r>
                <a:rPr lang="en-US" altLang="zh-CN" sz="1800" b="1">
                  <a:solidFill>
                    <a:srgbClr val="0000FF"/>
                  </a:solidFill>
                  <a:latin typeface="Arial" pitchFamily="34" charset="0"/>
                </a:rPr>
                <a:t>C</a:t>
              </a:r>
            </a:p>
          </p:txBody>
        </p:sp>
      </p:grp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78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677890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79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2" dur="2000"/>
                                        <p:tgtEl>
                                          <p:spTgt spid="677934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hime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79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677903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79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22" dur="2000"/>
                                        <p:tgtEl>
                                          <p:spTgt spid="677932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hime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77890" grpId="0"/>
      <p:bldP spid="677903" grpId="0"/>
      <p:bldP spid="677932" grpId="0" animBg="1"/>
      <p:bldP spid="677934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7562" name="Rectangle 10"/>
          <p:cNvSpPr>
            <a:spLocks noChangeArrowheads="1"/>
          </p:cNvSpPr>
          <p:nvPr/>
        </p:nvSpPr>
        <p:spPr bwMode="auto">
          <a:xfrm>
            <a:off x="502942" y="44450"/>
            <a:ext cx="4922837" cy="6477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marL="342900" indent="-342900" algn="just">
              <a:spcBef>
                <a:spcPct val="20000"/>
              </a:spcBef>
            </a:pPr>
            <a:r>
              <a:rPr lang="en-US" altLang="zh-CN" sz="3200" b="1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隶书" pitchFamily="49" charset="-122"/>
                <a:ea typeface="隶书" pitchFamily="49" charset="-122"/>
              </a:rPr>
              <a:t>12.1  </a:t>
            </a:r>
            <a:r>
              <a:rPr lang="zh-CN" altLang="en-US" sz="3200" b="1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隶书" pitchFamily="49" charset="-122"/>
                <a:ea typeface="隶书" pitchFamily="49" charset="-122"/>
              </a:rPr>
              <a:t>文件的基本概念</a:t>
            </a:r>
          </a:p>
        </p:txBody>
      </p:sp>
      <p:sp>
        <p:nvSpPr>
          <p:cNvPr id="1047566" name="Rectangle 14"/>
          <p:cNvSpPr>
            <a:spLocks noChangeArrowheads="1"/>
          </p:cNvSpPr>
          <p:nvPr/>
        </p:nvSpPr>
        <p:spPr bwMode="auto">
          <a:xfrm>
            <a:off x="911424" y="757644"/>
            <a:ext cx="10848179" cy="375147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anchor="ctr">
            <a:spAutoFit/>
          </a:bodyPr>
          <a:lstStyle/>
          <a:p>
            <a:pPr marL="342900" indent="-342900">
              <a:lnSpc>
                <a:spcPts val="3200"/>
              </a:lnSpc>
              <a:buFont typeface="Wingdings" panose="05000000000000000000" pitchFamily="2" charset="2"/>
              <a:buChar char="Ø"/>
            </a:pPr>
            <a:r>
              <a:rPr lang="zh-CN" altLang="en-US" b="1" dirty="0">
                <a:solidFill>
                  <a:srgbClr val="D60093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隶书" pitchFamily="49" charset="-122"/>
                <a:ea typeface="隶书" pitchFamily="49" charset="-122"/>
              </a:rPr>
              <a:t>文件：</a:t>
            </a:r>
            <a:r>
              <a:rPr lang="zh-CN" altLang="en-US" b="1" dirty="0">
                <a:effectLst>
                  <a:outerShdw blurRad="38100" dist="38100" dir="2700000" algn="tl">
                    <a:srgbClr val="FFFFFF"/>
                  </a:outerShdw>
                </a:effectLst>
                <a:ea typeface="楷体" pitchFamily="49" charset="-122"/>
              </a:rPr>
              <a:t>存储在外部介质上数据的集合</a:t>
            </a:r>
            <a:r>
              <a:rPr lang="en-US" altLang="zh-CN" b="1" dirty="0">
                <a:effectLst>
                  <a:outerShdw blurRad="38100" dist="38100" dir="2700000" algn="tl">
                    <a:srgbClr val="FFFFFF"/>
                  </a:outerShdw>
                </a:effectLst>
                <a:ea typeface="楷体" pitchFamily="49" charset="-122"/>
              </a:rPr>
              <a:t>,</a:t>
            </a:r>
            <a:r>
              <a:rPr lang="zh-CN" altLang="en-US" b="1" dirty="0">
                <a:effectLst>
                  <a:outerShdw blurRad="38100" dist="38100" dir="2700000" algn="tl">
                    <a:srgbClr val="FFFFFF"/>
                  </a:outerShdw>
                </a:effectLst>
                <a:ea typeface="楷体" pitchFamily="49" charset="-122"/>
              </a:rPr>
              <a:t>是操作系统数据管理的单位。</a:t>
            </a:r>
            <a:endParaRPr lang="en-US" altLang="zh-CN" b="1" dirty="0">
              <a:solidFill>
                <a:srgbClr val="D60093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隶书" pitchFamily="49" charset="-122"/>
              <a:ea typeface="隶书" pitchFamily="49" charset="-122"/>
            </a:endParaRPr>
          </a:p>
          <a:p>
            <a:pPr marL="342900" indent="-342900">
              <a:lnSpc>
                <a:spcPts val="3200"/>
              </a:lnSpc>
              <a:buFont typeface="Wingdings" panose="05000000000000000000" pitchFamily="2" charset="2"/>
              <a:buChar char="Ø"/>
            </a:pPr>
            <a:r>
              <a:rPr lang="zh-CN" altLang="en-US" b="1" dirty="0">
                <a:solidFill>
                  <a:srgbClr val="D60093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隶书" pitchFamily="49" charset="-122"/>
                <a:ea typeface="隶书" pitchFamily="49" charset="-122"/>
              </a:rPr>
              <a:t>文件命名规则：</a:t>
            </a:r>
            <a:endParaRPr lang="en-US" altLang="zh-CN" b="1" dirty="0">
              <a:solidFill>
                <a:srgbClr val="D60093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隶书" pitchFamily="49" charset="-122"/>
              <a:ea typeface="隶书" pitchFamily="49" charset="-122"/>
            </a:endParaRPr>
          </a:p>
          <a:p>
            <a:pPr lvl="1">
              <a:lnSpc>
                <a:spcPts val="3200"/>
              </a:lnSpc>
            </a:pPr>
            <a:r>
              <a:rPr lang="zh-CN" altLang="en-US" b="1" dirty="0">
                <a:effectLst>
                  <a:outerShdw blurRad="38100" dist="38100" dir="2700000" algn="tl">
                    <a:srgbClr val="FFFFFF"/>
                  </a:outerShdw>
                </a:effectLst>
                <a:latin typeface="+mn-lt"/>
                <a:ea typeface="楷体" pitchFamily="49" charset="-122"/>
              </a:rPr>
              <a:t>为标识一个文件，每个文件都必须有一个文件名，其一般结构为：</a:t>
            </a:r>
            <a:endParaRPr lang="en-US" altLang="zh-CN" b="1" dirty="0">
              <a:effectLst>
                <a:outerShdw blurRad="38100" dist="38100" dir="2700000" algn="tl">
                  <a:srgbClr val="FFFFFF"/>
                </a:outerShdw>
              </a:effectLst>
              <a:latin typeface="+mn-lt"/>
              <a:ea typeface="楷体" pitchFamily="49" charset="-122"/>
            </a:endParaRPr>
          </a:p>
          <a:p>
            <a:pPr lvl="1">
              <a:lnSpc>
                <a:spcPts val="3200"/>
              </a:lnSpc>
            </a:pPr>
            <a:r>
              <a:rPr lang="zh-CN" altLang="en-US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楷体" pitchFamily="49" charset="-122"/>
              </a:rPr>
              <a:t>                            </a:t>
            </a:r>
            <a:r>
              <a:rPr lang="zh-CN" altLang="en-US" b="1" u="sng" dirty="0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楷体" pitchFamily="49" charset="-122"/>
              </a:rPr>
              <a:t>主文件名</a:t>
            </a:r>
            <a:r>
              <a:rPr lang="en-US" altLang="zh-CN" b="1" u="sng" dirty="0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楷体" pitchFamily="49" charset="-122"/>
              </a:rPr>
              <a:t>[.</a:t>
            </a:r>
            <a:r>
              <a:rPr lang="zh-CN" altLang="en-US" b="1" u="sng" dirty="0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楷体" pitchFamily="49" charset="-122"/>
              </a:rPr>
              <a:t>扩展名</a:t>
            </a:r>
            <a:r>
              <a:rPr lang="en-US" altLang="zh-CN" b="1" u="sng" dirty="0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楷体" pitchFamily="49" charset="-122"/>
              </a:rPr>
              <a:t>]</a:t>
            </a:r>
          </a:p>
          <a:p>
            <a:pPr lvl="1">
              <a:lnSpc>
                <a:spcPts val="3200"/>
              </a:lnSpc>
            </a:pPr>
            <a:r>
              <a:rPr lang="zh-CN" altLang="en-US" b="1" dirty="0">
                <a:effectLst>
                  <a:outerShdw blurRad="38100" dist="38100" dir="2700000" algn="tl">
                    <a:srgbClr val="FFFFFF"/>
                  </a:outerShdw>
                </a:effectLst>
                <a:latin typeface="+mn-lt"/>
                <a:ea typeface="楷体" pitchFamily="49" charset="-122"/>
              </a:rPr>
              <a:t>文件命名规则：遵循操作系统的约定。例如，一个</a:t>
            </a:r>
            <a:r>
              <a:rPr lang="en-US" altLang="zh-CN" b="1" dirty="0">
                <a:effectLst>
                  <a:outerShdw blurRad="38100" dist="38100" dir="2700000" algn="tl">
                    <a:srgbClr val="FFFFFF"/>
                  </a:outerShdw>
                </a:effectLst>
                <a:latin typeface="+mn-lt"/>
                <a:ea typeface="楷体" pitchFamily="49" charset="-122"/>
              </a:rPr>
              <a:t>C</a:t>
            </a:r>
            <a:r>
              <a:rPr lang="zh-CN" altLang="en-US" b="1" dirty="0">
                <a:effectLst>
                  <a:outerShdw blurRad="38100" dist="38100" dir="2700000" algn="tl">
                    <a:srgbClr val="FFFFFF"/>
                  </a:outerShdw>
                </a:effectLst>
                <a:latin typeface="+mn-lt"/>
                <a:ea typeface="楷体" pitchFamily="49" charset="-122"/>
              </a:rPr>
              <a:t>语言源程序名为：</a:t>
            </a:r>
            <a:r>
              <a:rPr lang="en-US" altLang="zh-CN" b="1" dirty="0" err="1">
                <a:effectLst>
                  <a:outerShdw blurRad="38100" dist="38100" dir="2700000" algn="tl">
                    <a:srgbClr val="FFFFFF"/>
                  </a:outerShdw>
                </a:effectLst>
                <a:latin typeface="+mn-lt"/>
                <a:ea typeface="楷体" pitchFamily="49" charset="-122"/>
              </a:rPr>
              <a:t>prg.c</a:t>
            </a:r>
            <a:r>
              <a:rPr lang="en-US" altLang="zh-CN" b="1" dirty="0">
                <a:effectLst>
                  <a:outerShdw blurRad="38100" dist="38100" dir="2700000" algn="tl">
                    <a:srgbClr val="FFFFFF"/>
                  </a:outerShdw>
                </a:effectLst>
                <a:latin typeface="+mn-lt"/>
                <a:ea typeface="楷体" pitchFamily="49" charset="-122"/>
              </a:rPr>
              <a:t> </a:t>
            </a:r>
          </a:p>
          <a:p>
            <a:pPr marL="342900" indent="-342900">
              <a:lnSpc>
                <a:spcPts val="3200"/>
              </a:lnSpc>
              <a:buFont typeface="Wingdings" panose="05000000000000000000" pitchFamily="2" charset="2"/>
              <a:buChar char="Ø"/>
            </a:pPr>
            <a:r>
              <a:rPr lang="zh-CN" altLang="en-US" b="1" dirty="0">
                <a:solidFill>
                  <a:srgbClr val="D60093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隶书" pitchFamily="49" charset="-122"/>
                <a:ea typeface="隶书" pitchFamily="49" charset="-122"/>
              </a:rPr>
              <a:t>使用数据文件的目的</a:t>
            </a:r>
            <a:r>
              <a:rPr lang="en-US" altLang="zh-CN" b="1" dirty="0">
                <a:solidFill>
                  <a:srgbClr val="D60093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隶书" pitchFamily="49" charset="-122"/>
                <a:ea typeface="隶书" pitchFamily="49" charset="-122"/>
              </a:rPr>
              <a:t>:</a:t>
            </a:r>
          </a:p>
          <a:p>
            <a:pPr marL="800100" lvl="1" indent="-342900">
              <a:lnSpc>
                <a:spcPts val="3200"/>
              </a:lnSpc>
              <a:buClr>
                <a:schemeClr val="accent1">
                  <a:lumMod val="50000"/>
                </a:schemeClr>
              </a:buClr>
              <a:buFont typeface="Wingdings" panose="05000000000000000000" pitchFamily="2" charset="2"/>
              <a:buChar char="l"/>
            </a:pPr>
            <a:r>
              <a:rPr lang="zh-CN" altLang="en-US" b="1" dirty="0">
                <a:effectLst>
                  <a:outerShdw blurRad="38100" dist="38100" dir="2700000" algn="tl">
                    <a:srgbClr val="FFFFFF"/>
                  </a:outerShdw>
                </a:effectLst>
                <a:ea typeface="楷体" pitchFamily="49" charset="-122"/>
              </a:rPr>
              <a:t>数据文件的改动不引起程序的改动</a:t>
            </a:r>
            <a:r>
              <a:rPr lang="en-US" altLang="zh-CN" b="1" dirty="0">
                <a:effectLst>
                  <a:outerShdw blurRad="38100" dist="38100" dir="2700000" algn="tl">
                    <a:srgbClr val="FFFFFF"/>
                  </a:outerShdw>
                </a:effectLst>
                <a:ea typeface="楷体" pitchFamily="49" charset="-122"/>
              </a:rPr>
              <a:t>——</a:t>
            </a:r>
            <a:r>
              <a:rPr lang="zh-CN" altLang="en-US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楷体" pitchFamily="49" charset="-122"/>
              </a:rPr>
              <a:t>程序与数据分离</a:t>
            </a:r>
            <a:endParaRPr lang="en-US" altLang="zh-CN" b="1" dirty="0">
              <a:effectLst>
                <a:outerShdw blurRad="38100" dist="38100" dir="2700000" algn="tl">
                  <a:srgbClr val="FFFFFF"/>
                </a:outerShdw>
              </a:effectLst>
              <a:ea typeface="楷体" pitchFamily="49" charset="-122"/>
            </a:endParaRPr>
          </a:p>
          <a:p>
            <a:pPr marL="800100" lvl="1" indent="-342900">
              <a:lnSpc>
                <a:spcPts val="3200"/>
              </a:lnSpc>
              <a:buClr>
                <a:schemeClr val="accent1">
                  <a:lumMod val="50000"/>
                </a:schemeClr>
              </a:buClr>
              <a:buFont typeface="Wingdings" panose="05000000000000000000" pitchFamily="2" charset="2"/>
              <a:buChar char="l"/>
            </a:pPr>
            <a:r>
              <a:rPr lang="zh-CN" altLang="en-US" b="1" dirty="0">
                <a:effectLst>
                  <a:outerShdw blurRad="38100" dist="38100" dir="2700000" algn="tl">
                    <a:srgbClr val="FFFFFF"/>
                  </a:outerShdw>
                </a:effectLst>
                <a:ea typeface="楷体" pitchFamily="49" charset="-122"/>
              </a:rPr>
              <a:t>不同程序可以访问同一数据文件中的数据</a:t>
            </a:r>
            <a:r>
              <a:rPr lang="en-US" altLang="zh-CN" b="1" dirty="0">
                <a:effectLst>
                  <a:outerShdw blurRad="38100" dist="38100" dir="2700000" algn="tl">
                    <a:srgbClr val="FFFFFF"/>
                  </a:outerShdw>
                </a:effectLst>
                <a:ea typeface="楷体" pitchFamily="49" charset="-122"/>
              </a:rPr>
              <a:t>——</a:t>
            </a:r>
            <a:r>
              <a:rPr lang="zh-CN" altLang="en-US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楷体" pitchFamily="49" charset="-122"/>
              </a:rPr>
              <a:t>数据共享</a:t>
            </a:r>
            <a:endParaRPr lang="en-US" altLang="zh-CN" b="1" dirty="0">
              <a:effectLst>
                <a:outerShdw blurRad="38100" dist="38100" dir="2700000" algn="tl">
                  <a:srgbClr val="FFFFFF"/>
                </a:outerShdw>
              </a:effectLst>
              <a:ea typeface="楷体" pitchFamily="49" charset="-122"/>
            </a:endParaRPr>
          </a:p>
          <a:p>
            <a:pPr marL="800100" lvl="1" indent="-342900">
              <a:lnSpc>
                <a:spcPts val="3200"/>
              </a:lnSpc>
              <a:buClr>
                <a:schemeClr val="accent1">
                  <a:lumMod val="50000"/>
                </a:schemeClr>
              </a:buClr>
              <a:buFont typeface="Wingdings" panose="05000000000000000000" pitchFamily="2" charset="2"/>
              <a:buChar char="l"/>
            </a:pPr>
            <a:r>
              <a:rPr lang="zh-CN" altLang="en-US" b="1" dirty="0">
                <a:effectLst>
                  <a:outerShdw blurRad="38100" dist="38100" dir="2700000" algn="tl">
                    <a:srgbClr val="FFFFFF"/>
                  </a:outerShdw>
                </a:effectLst>
                <a:ea typeface="楷体" pitchFamily="49" charset="-122"/>
              </a:rPr>
              <a:t>能</a:t>
            </a:r>
            <a:r>
              <a:rPr lang="zh-CN" altLang="en-US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楷体" pitchFamily="49" charset="-122"/>
              </a:rPr>
              <a:t>长期保存</a:t>
            </a:r>
            <a:r>
              <a:rPr lang="zh-CN" altLang="en-US" b="1" dirty="0">
                <a:effectLst>
                  <a:outerShdw blurRad="38100" dist="38100" dir="2700000" algn="tl">
                    <a:srgbClr val="FFFFFF"/>
                  </a:outerShdw>
                </a:effectLst>
                <a:ea typeface="楷体" pitchFamily="49" charset="-122"/>
              </a:rPr>
              <a:t>程序运行的中间数据或结果数据</a:t>
            </a:r>
            <a:endParaRPr lang="en-US" altLang="zh-CN" b="1" dirty="0">
              <a:effectLst>
                <a:outerShdw blurRad="38100" dist="38100" dir="2700000" algn="tl">
                  <a:srgbClr val="FFFFFF"/>
                </a:outerShdw>
              </a:effectLst>
              <a:latin typeface="+mn-lt"/>
              <a:ea typeface="楷体" pitchFamily="49" charset="-122"/>
            </a:endParaRPr>
          </a:p>
        </p:txBody>
      </p:sp>
      <p:grpSp>
        <p:nvGrpSpPr>
          <p:cNvPr id="1047567" name="Group 15"/>
          <p:cNvGrpSpPr>
            <a:grpSpLocks/>
          </p:cNvGrpSpPr>
          <p:nvPr/>
        </p:nvGrpSpPr>
        <p:grpSpPr bwMode="auto">
          <a:xfrm>
            <a:off x="-9822" y="0"/>
            <a:ext cx="446088" cy="6858000"/>
            <a:chOff x="0" y="0"/>
            <a:chExt cx="281" cy="4320"/>
          </a:xfrm>
        </p:grpSpPr>
        <p:sp>
          <p:nvSpPr>
            <p:cNvPr id="1047568" name="Text Box 16"/>
            <p:cNvSpPr txBox="1">
              <a:spLocks noChangeArrowheads="1"/>
            </p:cNvSpPr>
            <p:nvPr/>
          </p:nvSpPr>
          <p:spPr bwMode="auto">
            <a:xfrm>
              <a:off x="0" y="0"/>
              <a:ext cx="281" cy="4320"/>
            </a:xfrm>
            <a:prstGeom prst="rect">
              <a:avLst/>
            </a:prstGeom>
            <a:gradFill rotWithShape="0">
              <a:gsLst>
                <a:gs pos="0">
                  <a:schemeClr val="hlink">
                    <a:gamma/>
                    <a:shade val="60784"/>
                    <a:invGamma/>
                  </a:schemeClr>
                </a:gs>
                <a:gs pos="50000">
                  <a:schemeClr val="hlink"/>
                </a:gs>
                <a:gs pos="100000">
                  <a:schemeClr val="hlink">
                    <a:gamma/>
                    <a:shade val="60784"/>
                    <a:invGamma/>
                  </a:schemeClr>
                </a:gs>
              </a:gsLst>
              <a:lin ang="0" scaled="1"/>
            </a:gradFill>
            <a:ln w="9525">
              <a:noFill/>
              <a:miter lim="800000"/>
              <a:headEnd/>
              <a:tailEnd/>
            </a:ln>
            <a:effectLst/>
          </p:spPr>
          <p:txBody>
            <a:bodyPr/>
            <a:lstStyle/>
            <a:p>
              <a:pPr eaLnBrk="0" hangingPunct="0">
                <a:spcBef>
                  <a:spcPct val="50000"/>
                </a:spcBef>
              </a:pPr>
              <a:endParaRPr lang="en-US" altLang="zh-CN" sz="1800" dirty="0">
                <a:solidFill>
                  <a:srgbClr val="3333CC"/>
                </a:solidFill>
                <a:latin typeface="Verdana" pitchFamily="34" charset="0"/>
              </a:endParaRPr>
            </a:p>
            <a:p>
              <a:pPr eaLnBrk="0" hangingPunct="0">
                <a:spcBef>
                  <a:spcPct val="50000"/>
                </a:spcBef>
              </a:pPr>
              <a:r>
                <a:rPr lang="zh-CN" altLang="en-US" sz="1600" b="1" dirty="0">
                  <a:solidFill>
                    <a:srgbClr val="3333CC"/>
                  </a:solidFill>
                  <a:latin typeface="Verdana" pitchFamily="34" charset="0"/>
                </a:rPr>
                <a:t>语言程序设计教程       </a:t>
              </a:r>
            </a:p>
            <a:p>
              <a:pPr eaLnBrk="0" hangingPunct="0">
                <a:spcBef>
                  <a:spcPct val="50000"/>
                </a:spcBef>
              </a:pPr>
              <a:r>
                <a:rPr lang="zh-CN" altLang="en-US" sz="1600" b="1" dirty="0">
                  <a:solidFill>
                    <a:srgbClr val="3333CC"/>
                  </a:solidFill>
                  <a:latin typeface="Verdana" pitchFamily="34" charset="0"/>
                </a:rPr>
                <a:t>第三版</a:t>
              </a:r>
            </a:p>
            <a:p>
              <a:pPr eaLnBrk="0" hangingPunct="0">
                <a:spcBef>
                  <a:spcPct val="50000"/>
                </a:spcBef>
              </a:pPr>
              <a:endParaRPr lang="zh-CN" altLang="en-US" sz="1600" b="1" dirty="0">
                <a:solidFill>
                  <a:srgbClr val="3333CC"/>
                </a:solidFill>
                <a:latin typeface="Verdana" pitchFamily="34" charset="0"/>
              </a:endParaRPr>
            </a:p>
            <a:p>
              <a:pPr eaLnBrk="0" hangingPunct="0">
                <a:spcBef>
                  <a:spcPct val="50000"/>
                </a:spcBef>
              </a:pPr>
              <a:endParaRPr lang="zh-CN" altLang="en-US" sz="1600" b="1" dirty="0">
                <a:solidFill>
                  <a:srgbClr val="3333CC"/>
                </a:solidFill>
                <a:latin typeface="Verdana" pitchFamily="34" charset="0"/>
              </a:endParaRPr>
            </a:p>
            <a:p>
              <a:pPr eaLnBrk="0" hangingPunct="0">
                <a:spcBef>
                  <a:spcPct val="50000"/>
                </a:spcBef>
              </a:pPr>
              <a:r>
                <a:rPr lang="zh-CN" altLang="en-US" sz="1600" b="1" dirty="0">
                  <a:solidFill>
                    <a:srgbClr val="3333CC"/>
                  </a:solidFill>
                  <a:latin typeface="Verdana" pitchFamily="34" charset="0"/>
                </a:rPr>
                <a:t>第十</a:t>
              </a:r>
            </a:p>
            <a:p>
              <a:pPr eaLnBrk="0" hangingPunct="0">
                <a:spcBef>
                  <a:spcPct val="50000"/>
                </a:spcBef>
              </a:pPr>
              <a:r>
                <a:rPr lang="zh-CN" altLang="en-US" sz="1600" b="1" dirty="0">
                  <a:solidFill>
                    <a:srgbClr val="3333CC"/>
                  </a:solidFill>
                  <a:latin typeface="Verdana" pitchFamily="34" charset="0"/>
                </a:rPr>
                <a:t>二章 </a:t>
              </a:r>
            </a:p>
            <a:p>
              <a:pPr eaLnBrk="0" hangingPunct="0">
                <a:spcBef>
                  <a:spcPct val="50000"/>
                </a:spcBef>
              </a:pPr>
              <a:endParaRPr lang="zh-CN" altLang="en-US" sz="1600" b="1" dirty="0">
                <a:solidFill>
                  <a:srgbClr val="3333CC"/>
                </a:solidFill>
                <a:latin typeface="Verdana" pitchFamily="34" charset="0"/>
              </a:endParaRPr>
            </a:p>
            <a:p>
              <a:pPr eaLnBrk="0" hangingPunct="0">
                <a:spcBef>
                  <a:spcPct val="50000"/>
                </a:spcBef>
              </a:pPr>
              <a:r>
                <a:rPr lang="zh-CN" altLang="en-US" sz="1600" b="1" dirty="0">
                  <a:solidFill>
                    <a:srgbClr val="3333CC"/>
                  </a:solidFill>
                  <a:latin typeface="Verdana" pitchFamily="34" charset="0"/>
                </a:rPr>
                <a:t>文</a:t>
              </a:r>
            </a:p>
            <a:p>
              <a:pPr eaLnBrk="0" hangingPunct="0">
                <a:spcBef>
                  <a:spcPct val="50000"/>
                </a:spcBef>
              </a:pPr>
              <a:endParaRPr lang="zh-CN" altLang="en-US" sz="1600" b="1" dirty="0">
                <a:solidFill>
                  <a:srgbClr val="3333CC"/>
                </a:solidFill>
                <a:latin typeface="Verdana" pitchFamily="34" charset="0"/>
              </a:endParaRPr>
            </a:p>
            <a:p>
              <a:pPr eaLnBrk="0" hangingPunct="0">
                <a:spcBef>
                  <a:spcPct val="50000"/>
                </a:spcBef>
              </a:pPr>
              <a:r>
                <a:rPr lang="zh-CN" altLang="en-US" sz="1600" b="1" dirty="0">
                  <a:solidFill>
                    <a:srgbClr val="3333CC"/>
                  </a:solidFill>
                  <a:latin typeface="Verdana" pitchFamily="34" charset="0"/>
                </a:rPr>
                <a:t>件</a:t>
              </a:r>
            </a:p>
          </p:txBody>
        </p:sp>
        <p:sp>
          <p:nvSpPr>
            <p:cNvPr id="1047569" name="Text Box 17"/>
            <p:cNvSpPr txBox="1">
              <a:spLocks noChangeArrowheads="1"/>
            </p:cNvSpPr>
            <p:nvPr/>
          </p:nvSpPr>
          <p:spPr bwMode="auto">
            <a:xfrm>
              <a:off x="0" y="0"/>
              <a:ext cx="281" cy="231"/>
            </a:xfrm>
            <a:prstGeom prst="rect">
              <a:avLst/>
            </a:prstGeom>
            <a:gradFill rotWithShape="0">
              <a:gsLst>
                <a:gs pos="0">
                  <a:schemeClr val="hlink">
                    <a:gamma/>
                    <a:shade val="46275"/>
                    <a:invGamma/>
                  </a:schemeClr>
                </a:gs>
                <a:gs pos="50000">
                  <a:schemeClr val="hlink"/>
                </a:gs>
                <a:gs pos="100000">
                  <a:schemeClr val="hlink">
                    <a:gamma/>
                    <a:shade val="46275"/>
                    <a:invGamma/>
                  </a:schemeClr>
                </a:gs>
              </a:gsLst>
              <a:lin ang="0" scaled="1"/>
            </a:gradFill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eaLnBrk="0" hangingPunct="0">
                <a:spcBef>
                  <a:spcPct val="50000"/>
                </a:spcBef>
              </a:pPr>
              <a:r>
                <a:rPr lang="en-US" altLang="zh-CN" sz="1800" b="1">
                  <a:solidFill>
                    <a:srgbClr val="0000FF"/>
                  </a:solidFill>
                  <a:latin typeface="Arial" pitchFamily="34" charset="0"/>
                </a:rPr>
                <a:t>C</a:t>
              </a:r>
            </a:p>
          </p:txBody>
        </p:sp>
      </p:grpSp>
    </p:spTree>
  </p:cSld>
  <p:clrMapOvr>
    <a:masterClrMapping/>
  </p:clrMapOvr>
  <p:transition>
    <p:random/>
    <p:sndAc>
      <p:stSnd>
        <p:snd r:embed="rId2" name="CAMER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756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04756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04756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756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04756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04756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756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04756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04756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7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756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04756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04756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3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756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04756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04756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9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756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04756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04756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756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04756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04756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756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104756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104756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7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756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104756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104756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3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8466" name="Rectangle 2"/>
          <p:cNvSpPr>
            <a:spLocks noGrp="1" noChangeArrowheads="1"/>
          </p:cNvSpPr>
          <p:nvPr>
            <p:ph type="body" idx="4294967295"/>
          </p:nvPr>
        </p:nvSpPr>
        <p:spPr>
          <a:xfrm>
            <a:off x="502942" y="158750"/>
            <a:ext cx="4922837" cy="647700"/>
          </a:xfrm>
        </p:spPr>
        <p:txBody>
          <a:bodyPr/>
          <a:lstStyle/>
          <a:p>
            <a:pPr algn="just">
              <a:buFontTx/>
              <a:buNone/>
            </a:pPr>
            <a:r>
              <a:rPr lang="en-US" altLang="zh-CN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隶书" pitchFamily="49" charset="-122"/>
                <a:ea typeface="隶书" pitchFamily="49" charset="-122"/>
              </a:rPr>
              <a:t>12.2  </a:t>
            </a:r>
            <a:r>
              <a:rPr lang="zh-CN" altLang="en-US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隶书" pitchFamily="49" charset="-122"/>
                <a:ea typeface="隶书" pitchFamily="49" charset="-122"/>
              </a:rPr>
              <a:t>文件的类别</a:t>
            </a:r>
          </a:p>
        </p:txBody>
      </p:sp>
      <p:sp>
        <p:nvSpPr>
          <p:cNvPr id="958523" name="Rectangle 59"/>
          <p:cNvSpPr>
            <a:spLocks noChangeArrowheads="1"/>
          </p:cNvSpPr>
          <p:nvPr/>
        </p:nvSpPr>
        <p:spPr bwMode="auto">
          <a:xfrm>
            <a:off x="817267" y="708025"/>
            <a:ext cx="8137525" cy="5949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marL="342900" indent="-342900">
              <a:spcBef>
                <a:spcPct val="20000"/>
              </a:spcBef>
              <a:buFont typeface="Wingdings" pitchFamily="2" charset="2"/>
              <a:buChar char="Ø"/>
            </a:pPr>
            <a:r>
              <a:rPr lang="zh-CN" altLang="en-US" b="1" dirty="0">
                <a:solidFill>
                  <a:srgbClr val="D60093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隶书" pitchFamily="49" charset="-122"/>
                <a:ea typeface="隶书" pitchFamily="49" charset="-122"/>
              </a:rPr>
              <a:t>按文件的逻辑结构：</a:t>
            </a:r>
          </a:p>
          <a:p>
            <a:pPr marL="742950" lvl="1" indent="-285750">
              <a:spcBef>
                <a:spcPct val="20000"/>
              </a:spcBef>
              <a:buClr>
                <a:srgbClr val="339933"/>
              </a:buClr>
              <a:buFont typeface="Wingdings" pitchFamily="2" charset="2"/>
              <a:buChar char="l"/>
            </a:pPr>
            <a:r>
              <a:rPr lang="zh-CN" altLang="en-US" sz="2000" b="1" dirty="0">
                <a:effectLst>
                  <a:outerShdw blurRad="38100" dist="38100" dir="2700000" algn="tl">
                    <a:srgbClr val="FFFFFF"/>
                  </a:outerShdw>
                </a:effectLst>
                <a:latin typeface="+mn-lt"/>
                <a:ea typeface="楷体" pitchFamily="49" charset="-122"/>
              </a:rPr>
              <a:t>记录文件：由具有一定结构的记录组成（定长和不定长）</a:t>
            </a:r>
          </a:p>
          <a:p>
            <a:pPr marL="742950" lvl="1" indent="-285750">
              <a:spcBef>
                <a:spcPct val="20000"/>
              </a:spcBef>
              <a:buClr>
                <a:srgbClr val="339933"/>
              </a:buClr>
              <a:buFont typeface="Wingdings" pitchFamily="2" charset="2"/>
              <a:buChar char="l"/>
            </a:pPr>
            <a:r>
              <a:rPr lang="zh-CN" altLang="en-US" sz="2000" b="1" dirty="0">
                <a:effectLst>
                  <a:outerShdw blurRad="38100" dist="38100" dir="2700000" algn="tl">
                    <a:srgbClr val="FFFFFF"/>
                  </a:outerShdw>
                </a:effectLst>
                <a:latin typeface="+mn-lt"/>
                <a:ea typeface="楷体" pitchFamily="49" charset="-122"/>
              </a:rPr>
              <a:t>流式文件：由一个个字符（字节）数据顺序组成</a:t>
            </a:r>
          </a:p>
          <a:p>
            <a:pPr marL="342900" indent="-342900">
              <a:spcBef>
                <a:spcPct val="20000"/>
              </a:spcBef>
              <a:buFont typeface="Wingdings" pitchFamily="2" charset="2"/>
              <a:buChar char="Ø"/>
            </a:pPr>
            <a:r>
              <a:rPr lang="zh-CN" altLang="en-US" b="1" dirty="0">
                <a:solidFill>
                  <a:srgbClr val="D60093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隶书" pitchFamily="49" charset="-122"/>
                <a:ea typeface="隶书" pitchFamily="49" charset="-122"/>
              </a:rPr>
              <a:t>按存储介质：</a:t>
            </a:r>
          </a:p>
          <a:p>
            <a:pPr marL="742950" lvl="1" indent="-285750">
              <a:spcBef>
                <a:spcPct val="20000"/>
              </a:spcBef>
              <a:buClr>
                <a:srgbClr val="339933"/>
              </a:buClr>
              <a:buFont typeface="Wingdings" pitchFamily="2" charset="2"/>
              <a:buChar char="l"/>
            </a:pPr>
            <a:r>
              <a:rPr lang="zh-CN" altLang="en-US" sz="2000" b="1" dirty="0">
                <a:effectLst>
                  <a:outerShdw blurRad="38100" dist="38100" dir="2700000" algn="tl">
                    <a:srgbClr val="FFFFFF"/>
                  </a:outerShdw>
                </a:effectLst>
                <a:latin typeface="+mn-lt"/>
                <a:ea typeface="楷体" pitchFamily="49" charset="-122"/>
              </a:rPr>
              <a:t>普通文件：存储介质文件（磁盘、磁带等）</a:t>
            </a:r>
          </a:p>
          <a:p>
            <a:pPr marL="742950" lvl="1" indent="-285750">
              <a:spcBef>
                <a:spcPct val="20000"/>
              </a:spcBef>
              <a:buClr>
                <a:srgbClr val="339933"/>
              </a:buClr>
              <a:buFont typeface="Wingdings" pitchFamily="2" charset="2"/>
              <a:buChar char="l"/>
            </a:pPr>
            <a:r>
              <a:rPr lang="zh-CN" altLang="en-US" sz="2000" b="1" dirty="0">
                <a:effectLst>
                  <a:outerShdw blurRad="38100" dist="38100" dir="2700000" algn="tl">
                    <a:srgbClr val="FFFFFF"/>
                  </a:outerShdw>
                </a:effectLst>
                <a:latin typeface="+mn-lt"/>
                <a:ea typeface="楷体" pitchFamily="49" charset="-122"/>
              </a:rPr>
              <a:t>设备文件：非存储介质（键盘、显示器、打印机等）</a:t>
            </a:r>
          </a:p>
          <a:p>
            <a:pPr marL="342900" indent="-342900">
              <a:spcBef>
                <a:spcPct val="20000"/>
              </a:spcBef>
              <a:buFont typeface="Wingdings" pitchFamily="2" charset="2"/>
              <a:buChar char="Ø"/>
            </a:pPr>
            <a:r>
              <a:rPr lang="zh-CN" altLang="en-US" b="1" dirty="0">
                <a:solidFill>
                  <a:srgbClr val="D60093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隶书" pitchFamily="49" charset="-122"/>
                <a:ea typeface="隶书" pitchFamily="49" charset="-122"/>
              </a:rPr>
              <a:t>按文件的内容</a:t>
            </a:r>
          </a:p>
          <a:p>
            <a:pPr marL="742950" lvl="1" indent="-285750">
              <a:spcBef>
                <a:spcPct val="20000"/>
              </a:spcBef>
              <a:buClr>
                <a:srgbClr val="339933"/>
              </a:buClr>
              <a:buFont typeface="Wingdings" pitchFamily="2" charset="2"/>
              <a:buChar char="l"/>
            </a:pPr>
            <a:r>
              <a:rPr lang="zh-CN" altLang="en-US" sz="2000" b="1" dirty="0">
                <a:effectLst>
                  <a:outerShdw blurRad="38100" dist="38100" dir="2700000" algn="tl">
                    <a:srgbClr val="FFFFFF"/>
                  </a:outerShdw>
                </a:effectLst>
                <a:latin typeface="+mn-lt"/>
                <a:ea typeface="楷体" pitchFamily="49" charset="-122"/>
              </a:rPr>
              <a:t>程序文件。程序文件又可分为源文件、目标文件和可执行文件。</a:t>
            </a:r>
          </a:p>
          <a:p>
            <a:pPr marL="742950" lvl="1" indent="-285750">
              <a:spcBef>
                <a:spcPct val="20000"/>
              </a:spcBef>
              <a:buClr>
                <a:srgbClr val="339933"/>
              </a:buClr>
              <a:buFont typeface="Wingdings" pitchFamily="2" charset="2"/>
              <a:buChar char="l"/>
            </a:pPr>
            <a:r>
              <a:rPr lang="zh-CN" altLang="en-US" sz="2000" b="1" dirty="0">
                <a:effectLst>
                  <a:outerShdw blurRad="38100" dist="38100" dir="2700000" algn="tl">
                    <a:srgbClr val="FFFFFF"/>
                  </a:outerShdw>
                </a:effectLst>
                <a:latin typeface="+mn-lt"/>
                <a:ea typeface="楷体" pitchFamily="49" charset="-122"/>
              </a:rPr>
              <a:t>数据文件。如各种图像文件、声音文件等。</a:t>
            </a:r>
          </a:p>
          <a:p>
            <a:pPr marL="342900" indent="-342900">
              <a:spcBef>
                <a:spcPct val="20000"/>
              </a:spcBef>
              <a:buFont typeface="Wingdings" pitchFamily="2" charset="2"/>
              <a:buChar char="Ø"/>
            </a:pPr>
            <a:r>
              <a:rPr lang="zh-CN" altLang="en-US" b="1" dirty="0">
                <a:solidFill>
                  <a:srgbClr val="D60093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隶书" pitchFamily="49" charset="-122"/>
                <a:ea typeface="隶书" pitchFamily="49" charset="-122"/>
              </a:rPr>
              <a:t>根据文件的组织形式</a:t>
            </a:r>
          </a:p>
          <a:p>
            <a:pPr marL="742950" lvl="1" indent="-285750">
              <a:spcBef>
                <a:spcPct val="20000"/>
              </a:spcBef>
              <a:buClr>
                <a:srgbClr val="339933"/>
              </a:buClr>
              <a:buFont typeface="Wingdings" pitchFamily="2" charset="2"/>
              <a:buChar char="l"/>
            </a:pPr>
            <a:r>
              <a:rPr lang="zh-CN" altLang="en-US" sz="2000" b="1" dirty="0">
                <a:effectLst>
                  <a:outerShdw blurRad="38100" dist="38100" dir="2700000" algn="tl">
                    <a:srgbClr val="FFFFFF"/>
                  </a:outerShdw>
                </a:effectLst>
                <a:latin typeface="+mn-lt"/>
                <a:ea typeface="楷体" pitchFamily="49" charset="-122"/>
              </a:rPr>
              <a:t>顺序存取文件；</a:t>
            </a:r>
          </a:p>
          <a:p>
            <a:pPr marL="742950" lvl="1" indent="-285750">
              <a:spcBef>
                <a:spcPct val="20000"/>
              </a:spcBef>
              <a:buClr>
                <a:srgbClr val="339933"/>
              </a:buClr>
              <a:buFont typeface="Wingdings" pitchFamily="2" charset="2"/>
              <a:buChar char="l"/>
            </a:pPr>
            <a:r>
              <a:rPr lang="zh-CN" altLang="en-US" sz="2000" b="1" dirty="0">
                <a:effectLst>
                  <a:outerShdw blurRad="38100" dist="38100" dir="2700000" algn="tl">
                    <a:srgbClr val="FFFFFF"/>
                  </a:outerShdw>
                </a:effectLst>
                <a:latin typeface="+mn-lt"/>
                <a:ea typeface="楷体" pitchFamily="49" charset="-122"/>
              </a:rPr>
              <a:t>随机存取文件。</a:t>
            </a:r>
          </a:p>
          <a:p>
            <a:pPr marL="342900" indent="-342900">
              <a:spcBef>
                <a:spcPct val="20000"/>
              </a:spcBef>
              <a:buFont typeface="Wingdings" pitchFamily="2" charset="2"/>
              <a:buChar char="Ø"/>
            </a:pPr>
            <a:r>
              <a:rPr lang="zh-CN" altLang="en-US" b="1" dirty="0">
                <a:solidFill>
                  <a:srgbClr val="D60093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隶书" pitchFamily="49" charset="-122"/>
                <a:ea typeface="隶书" pitchFamily="49" charset="-122"/>
              </a:rPr>
              <a:t>按数据的组织形式：</a:t>
            </a:r>
          </a:p>
          <a:p>
            <a:pPr marL="742950" lvl="1" indent="-285750">
              <a:spcBef>
                <a:spcPct val="20000"/>
              </a:spcBef>
              <a:buClr>
                <a:srgbClr val="339933"/>
              </a:buClr>
              <a:buFont typeface="Wingdings" pitchFamily="2" charset="2"/>
              <a:buChar char="l"/>
            </a:pPr>
            <a:r>
              <a:rPr lang="zh-CN" altLang="zh-CN" sz="2000" b="1" dirty="0">
                <a:solidFill>
                  <a:srgbClr val="0066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楷体" pitchFamily="49" charset="-122"/>
              </a:rPr>
              <a:t>文本文件</a:t>
            </a:r>
            <a:r>
              <a:rPr lang="zh-CN" altLang="zh-CN" sz="2000" b="1" dirty="0">
                <a:effectLst>
                  <a:outerShdw blurRad="38100" dist="38100" dir="2700000" algn="tl">
                    <a:srgbClr val="FFFFFF"/>
                  </a:outerShdw>
                </a:effectLst>
                <a:latin typeface="+mn-lt"/>
                <a:ea typeface="楷体" pitchFamily="49" charset="-122"/>
              </a:rPr>
              <a:t>： </a:t>
            </a:r>
            <a:r>
              <a:rPr lang="en-US" altLang="zh-CN" sz="2000" b="1" dirty="0">
                <a:effectLst>
                  <a:outerShdw blurRad="38100" dist="38100" dir="2700000" algn="tl">
                    <a:srgbClr val="FFFFFF"/>
                  </a:outerShdw>
                </a:effectLst>
                <a:latin typeface="+mn-lt"/>
                <a:ea typeface="楷体" pitchFamily="49" charset="-122"/>
              </a:rPr>
              <a:t>ASCII</a:t>
            </a:r>
            <a:r>
              <a:rPr lang="zh-CN" altLang="zh-CN" sz="2000" b="1" dirty="0">
                <a:effectLst>
                  <a:outerShdw blurRad="38100" dist="38100" dir="2700000" algn="tl">
                    <a:srgbClr val="FFFFFF"/>
                  </a:outerShdw>
                </a:effectLst>
                <a:latin typeface="+mn-lt"/>
                <a:ea typeface="楷体" pitchFamily="49" charset="-122"/>
              </a:rPr>
              <a:t>文件，每个字节存放一个字符的</a:t>
            </a:r>
            <a:r>
              <a:rPr lang="en-US" altLang="zh-CN" sz="2000" b="1" dirty="0">
                <a:effectLst>
                  <a:outerShdw blurRad="38100" dist="38100" dir="2700000" algn="tl">
                    <a:srgbClr val="FFFFFF"/>
                  </a:outerShdw>
                </a:effectLst>
                <a:latin typeface="+mn-lt"/>
                <a:ea typeface="楷体" pitchFamily="49" charset="-122"/>
              </a:rPr>
              <a:t>ASCII</a:t>
            </a:r>
            <a:r>
              <a:rPr lang="zh-CN" altLang="zh-CN" sz="2000" b="1" dirty="0">
                <a:effectLst>
                  <a:outerShdw blurRad="38100" dist="38100" dir="2700000" algn="tl">
                    <a:srgbClr val="FFFFFF"/>
                  </a:outerShdw>
                </a:effectLst>
                <a:latin typeface="+mn-lt"/>
                <a:ea typeface="楷体" pitchFamily="49" charset="-122"/>
              </a:rPr>
              <a:t>码</a:t>
            </a:r>
          </a:p>
          <a:p>
            <a:pPr marL="742950" lvl="1" indent="-285750">
              <a:spcBef>
                <a:spcPct val="20000"/>
              </a:spcBef>
              <a:buClr>
                <a:srgbClr val="339933"/>
              </a:buClr>
              <a:buFont typeface="Wingdings" pitchFamily="2" charset="2"/>
              <a:buChar char="l"/>
            </a:pPr>
            <a:r>
              <a:rPr lang="zh-CN" altLang="zh-CN" sz="2000" b="1" dirty="0">
                <a:solidFill>
                  <a:srgbClr val="0066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楷体" pitchFamily="49" charset="-122"/>
              </a:rPr>
              <a:t>二进制文件</a:t>
            </a:r>
            <a:r>
              <a:rPr lang="zh-CN" altLang="zh-CN" sz="2000" b="1" dirty="0">
                <a:effectLst>
                  <a:outerShdw blurRad="38100" dist="38100" dir="2700000" algn="tl">
                    <a:srgbClr val="FFFFFF"/>
                  </a:outerShdw>
                </a:effectLst>
                <a:latin typeface="+mn-lt"/>
                <a:ea typeface="楷体" pitchFamily="49" charset="-122"/>
              </a:rPr>
              <a:t>：数据按其在内存中的存储形式原样存放</a:t>
            </a:r>
            <a:endParaRPr lang="zh-CN" altLang="en-US" sz="2000" b="1" dirty="0">
              <a:effectLst>
                <a:outerShdw blurRad="38100" dist="38100" dir="2700000" algn="tl">
                  <a:srgbClr val="FFFFFF"/>
                </a:outerShdw>
              </a:effectLst>
              <a:latin typeface="+mn-lt"/>
              <a:ea typeface="楷体" pitchFamily="49" charset="-122"/>
            </a:endParaRPr>
          </a:p>
        </p:txBody>
      </p:sp>
      <p:grpSp>
        <p:nvGrpSpPr>
          <p:cNvPr id="958527" name="Group 63"/>
          <p:cNvGrpSpPr>
            <a:grpSpLocks/>
          </p:cNvGrpSpPr>
          <p:nvPr/>
        </p:nvGrpSpPr>
        <p:grpSpPr bwMode="auto">
          <a:xfrm>
            <a:off x="-9822" y="0"/>
            <a:ext cx="446088" cy="6858000"/>
            <a:chOff x="0" y="0"/>
            <a:chExt cx="281" cy="4320"/>
          </a:xfrm>
        </p:grpSpPr>
        <p:sp>
          <p:nvSpPr>
            <p:cNvPr id="958528" name="Text Box 64"/>
            <p:cNvSpPr txBox="1">
              <a:spLocks noChangeArrowheads="1"/>
            </p:cNvSpPr>
            <p:nvPr/>
          </p:nvSpPr>
          <p:spPr bwMode="auto">
            <a:xfrm>
              <a:off x="0" y="0"/>
              <a:ext cx="281" cy="4320"/>
            </a:xfrm>
            <a:prstGeom prst="rect">
              <a:avLst/>
            </a:prstGeom>
            <a:gradFill rotWithShape="0">
              <a:gsLst>
                <a:gs pos="0">
                  <a:schemeClr val="hlink">
                    <a:gamma/>
                    <a:shade val="60784"/>
                    <a:invGamma/>
                  </a:schemeClr>
                </a:gs>
                <a:gs pos="50000">
                  <a:schemeClr val="hlink"/>
                </a:gs>
                <a:gs pos="100000">
                  <a:schemeClr val="hlink">
                    <a:gamma/>
                    <a:shade val="60784"/>
                    <a:invGamma/>
                  </a:schemeClr>
                </a:gs>
              </a:gsLst>
              <a:lin ang="0" scaled="1"/>
            </a:gradFill>
            <a:ln w="9525">
              <a:noFill/>
              <a:miter lim="800000"/>
              <a:headEnd/>
              <a:tailEnd/>
            </a:ln>
            <a:effectLst/>
          </p:spPr>
          <p:txBody>
            <a:bodyPr/>
            <a:lstStyle/>
            <a:p>
              <a:pPr eaLnBrk="0" hangingPunct="0">
                <a:spcBef>
                  <a:spcPct val="50000"/>
                </a:spcBef>
              </a:pPr>
              <a:endParaRPr lang="en-US" altLang="zh-CN" sz="1800" dirty="0">
                <a:solidFill>
                  <a:srgbClr val="3333CC"/>
                </a:solidFill>
                <a:latin typeface="Verdana" pitchFamily="34" charset="0"/>
              </a:endParaRPr>
            </a:p>
            <a:p>
              <a:pPr eaLnBrk="0" hangingPunct="0">
                <a:spcBef>
                  <a:spcPct val="50000"/>
                </a:spcBef>
              </a:pPr>
              <a:r>
                <a:rPr lang="zh-CN" altLang="en-US" sz="1600" b="1" dirty="0">
                  <a:solidFill>
                    <a:srgbClr val="3333CC"/>
                  </a:solidFill>
                  <a:latin typeface="Verdana" pitchFamily="34" charset="0"/>
                </a:rPr>
                <a:t>语言程序设计教程       </a:t>
              </a:r>
            </a:p>
            <a:p>
              <a:pPr eaLnBrk="0" hangingPunct="0">
                <a:spcBef>
                  <a:spcPct val="50000"/>
                </a:spcBef>
              </a:pPr>
              <a:r>
                <a:rPr lang="zh-CN" altLang="en-US" sz="1600" b="1" dirty="0">
                  <a:solidFill>
                    <a:srgbClr val="3333CC"/>
                  </a:solidFill>
                  <a:latin typeface="Verdana" pitchFamily="34" charset="0"/>
                </a:rPr>
                <a:t>第三版</a:t>
              </a:r>
            </a:p>
            <a:p>
              <a:pPr eaLnBrk="0" hangingPunct="0">
                <a:spcBef>
                  <a:spcPct val="50000"/>
                </a:spcBef>
              </a:pPr>
              <a:endParaRPr lang="zh-CN" altLang="en-US" sz="1600" b="1" dirty="0">
                <a:solidFill>
                  <a:srgbClr val="3333CC"/>
                </a:solidFill>
                <a:latin typeface="Verdana" pitchFamily="34" charset="0"/>
              </a:endParaRPr>
            </a:p>
            <a:p>
              <a:pPr eaLnBrk="0" hangingPunct="0">
                <a:spcBef>
                  <a:spcPct val="50000"/>
                </a:spcBef>
              </a:pPr>
              <a:endParaRPr lang="zh-CN" altLang="en-US" sz="1600" b="1" dirty="0">
                <a:solidFill>
                  <a:srgbClr val="3333CC"/>
                </a:solidFill>
                <a:latin typeface="Verdana" pitchFamily="34" charset="0"/>
              </a:endParaRPr>
            </a:p>
            <a:p>
              <a:pPr eaLnBrk="0" hangingPunct="0">
                <a:spcBef>
                  <a:spcPct val="50000"/>
                </a:spcBef>
              </a:pPr>
              <a:r>
                <a:rPr lang="zh-CN" altLang="en-US" sz="1600" b="1" dirty="0">
                  <a:solidFill>
                    <a:srgbClr val="3333CC"/>
                  </a:solidFill>
                  <a:latin typeface="Verdana" pitchFamily="34" charset="0"/>
                </a:rPr>
                <a:t>第十</a:t>
              </a:r>
            </a:p>
            <a:p>
              <a:pPr eaLnBrk="0" hangingPunct="0">
                <a:spcBef>
                  <a:spcPct val="50000"/>
                </a:spcBef>
              </a:pPr>
              <a:r>
                <a:rPr lang="zh-CN" altLang="en-US" sz="1600" b="1" dirty="0">
                  <a:solidFill>
                    <a:srgbClr val="3333CC"/>
                  </a:solidFill>
                  <a:latin typeface="Verdana" pitchFamily="34" charset="0"/>
                </a:rPr>
                <a:t>二章 </a:t>
              </a:r>
            </a:p>
            <a:p>
              <a:pPr eaLnBrk="0" hangingPunct="0">
                <a:spcBef>
                  <a:spcPct val="50000"/>
                </a:spcBef>
              </a:pPr>
              <a:endParaRPr lang="zh-CN" altLang="en-US" sz="1600" b="1" dirty="0">
                <a:solidFill>
                  <a:srgbClr val="3333CC"/>
                </a:solidFill>
                <a:latin typeface="Verdana" pitchFamily="34" charset="0"/>
              </a:endParaRPr>
            </a:p>
            <a:p>
              <a:pPr eaLnBrk="0" hangingPunct="0">
                <a:spcBef>
                  <a:spcPct val="50000"/>
                </a:spcBef>
              </a:pPr>
              <a:r>
                <a:rPr lang="zh-CN" altLang="en-US" sz="1600" b="1" dirty="0">
                  <a:solidFill>
                    <a:srgbClr val="3333CC"/>
                  </a:solidFill>
                  <a:latin typeface="Verdana" pitchFamily="34" charset="0"/>
                </a:rPr>
                <a:t>文</a:t>
              </a:r>
            </a:p>
            <a:p>
              <a:pPr eaLnBrk="0" hangingPunct="0">
                <a:spcBef>
                  <a:spcPct val="50000"/>
                </a:spcBef>
              </a:pPr>
              <a:endParaRPr lang="zh-CN" altLang="en-US" sz="1600" b="1" dirty="0">
                <a:solidFill>
                  <a:srgbClr val="3333CC"/>
                </a:solidFill>
                <a:latin typeface="Verdana" pitchFamily="34" charset="0"/>
              </a:endParaRPr>
            </a:p>
            <a:p>
              <a:pPr eaLnBrk="0" hangingPunct="0">
                <a:spcBef>
                  <a:spcPct val="50000"/>
                </a:spcBef>
              </a:pPr>
              <a:r>
                <a:rPr lang="zh-CN" altLang="en-US" sz="1600" b="1" dirty="0">
                  <a:solidFill>
                    <a:srgbClr val="3333CC"/>
                  </a:solidFill>
                  <a:latin typeface="Verdana" pitchFamily="34" charset="0"/>
                </a:rPr>
                <a:t>件</a:t>
              </a:r>
            </a:p>
          </p:txBody>
        </p:sp>
        <p:sp>
          <p:nvSpPr>
            <p:cNvPr id="958529" name="Text Box 65"/>
            <p:cNvSpPr txBox="1">
              <a:spLocks noChangeArrowheads="1"/>
            </p:cNvSpPr>
            <p:nvPr/>
          </p:nvSpPr>
          <p:spPr bwMode="auto">
            <a:xfrm>
              <a:off x="0" y="0"/>
              <a:ext cx="281" cy="231"/>
            </a:xfrm>
            <a:prstGeom prst="rect">
              <a:avLst/>
            </a:prstGeom>
            <a:gradFill rotWithShape="0">
              <a:gsLst>
                <a:gs pos="0">
                  <a:schemeClr val="hlink">
                    <a:gamma/>
                    <a:shade val="46275"/>
                    <a:invGamma/>
                  </a:schemeClr>
                </a:gs>
                <a:gs pos="50000">
                  <a:schemeClr val="hlink"/>
                </a:gs>
                <a:gs pos="100000">
                  <a:schemeClr val="hlink">
                    <a:gamma/>
                    <a:shade val="46275"/>
                    <a:invGamma/>
                  </a:schemeClr>
                </a:gs>
              </a:gsLst>
              <a:lin ang="0" scaled="1"/>
            </a:gradFill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eaLnBrk="0" hangingPunct="0">
                <a:spcBef>
                  <a:spcPct val="50000"/>
                </a:spcBef>
              </a:pPr>
              <a:r>
                <a:rPr lang="en-US" altLang="zh-CN" sz="1800" b="1">
                  <a:solidFill>
                    <a:srgbClr val="0000FF"/>
                  </a:solidFill>
                  <a:latin typeface="Arial" pitchFamily="34" charset="0"/>
                </a:rPr>
                <a:t>C</a:t>
              </a:r>
            </a:p>
          </p:txBody>
        </p:sp>
      </p:grpSp>
    </p:spTree>
  </p:cSld>
  <p:clrMapOvr>
    <a:masterClrMapping/>
  </p:clrMapOvr>
  <p:transition>
    <p:cover/>
    <p:sndAc>
      <p:stSnd>
        <p:snd r:embed="rId3" name="CAMER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85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9585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9585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85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9585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9585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85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9585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9585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7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852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95852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95852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3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852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95852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95852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9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852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95852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95852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852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95852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95852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852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95852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95852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7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852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95852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95852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3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852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95852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95852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9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852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95852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95852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6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852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95852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95852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7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852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9" dur="500" fill="hold"/>
                                        <p:tgtEl>
                                          <p:spTgt spid="95852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0" dur="500" fill="hold"/>
                                        <p:tgtEl>
                                          <p:spTgt spid="95852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77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852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5" dur="500" fill="hold"/>
                                        <p:tgtEl>
                                          <p:spTgt spid="95852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6" dur="500" fill="hold"/>
                                        <p:tgtEl>
                                          <p:spTgt spid="95852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83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852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1" dur="500" fill="hold"/>
                                        <p:tgtEl>
                                          <p:spTgt spid="95852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2" dur="500" fill="hold"/>
                                        <p:tgtEl>
                                          <p:spTgt spid="95852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89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58523" grpId="0" build="p" bldLvl="4" autoUpdateAnimBg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48617" name="Group 41"/>
          <p:cNvGrpSpPr>
            <a:grpSpLocks/>
          </p:cNvGrpSpPr>
          <p:nvPr/>
        </p:nvGrpSpPr>
        <p:grpSpPr bwMode="auto">
          <a:xfrm>
            <a:off x="4509714" y="450851"/>
            <a:ext cx="5545138" cy="1928813"/>
            <a:chOff x="2026" y="284"/>
            <a:chExt cx="3493" cy="1215"/>
          </a:xfrm>
        </p:grpSpPr>
        <p:sp>
          <p:nvSpPr>
            <p:cNvPr id="1048596" name="AutoShape 20"/>
            <p:cNvSpPr>
              <a:spLocks noChangeArrowheads="1"/>
            </p:cNvSpPr>
            <p:nvPr/>
          </p:nvSpPr>
          <p:spPr bwMode="auto">
            <a:xfrm>
              <a:off x="2026" y="592"/>
              <a:ext cx="3493" cy="907"/>
            </a:xfrm>
            <a:prstGeom prst="foldedCorner">
              <a:avLst>
                <a:gd name="adj" fmla="val 12500"/>
              </a:avLst>
            </a:prstGeom>
            <a:gradFill rotWithShape="1">
              <a:gsLst>
                <a:gs pos="0">
                  <a:srgbClr val="00FFFF"/>
                </a:gs>
                <a:gs pos="100000">
                  <a:schemeClr val="bg1"/>
                </a:gs>
              </a:gsLst>
              <a:lin ang="5400000" scaled="1"/>
            </a:gradFill>
            <a:ln w="25400">
              <a:solidFill>
                <a:schemeClr val="tx1"/>
              </a:solidFill>
              <a:round/>
              <a:headEnd/>
              <a:tailEnd/>
            </a:ln>
            <a:effectLst>
              <a:outerShdw blurRad="50800" dist="106680" dir="2700000" algn="tl" rotWithShape="0">
                <a:prstClr val="black">
                  <a:alpha val="43000"/>
                </a:prstClr>
              </a:outerShdw>
            </a:effectLst>
          </p:spPr>
          <p:txBody>
            <a:bodyPr wrap="none"/>
            <a:lstStyle/>
            <a:p>
              <a:r>
                <a:rPr lang="en-US" altLang="zh-CN" sz="2000" b="1" dirty="0">
                  <a:effectLst>
                    <a:outerShdw blurRad="38100" dist="38100" dir="2700000" algn="tl">
                      <a:srgbClr val="FFFFFF"/>
                    </a:outerShdw>
                  </a:effectLst>
                </a:rPr>
                <a:t>00110011 00110010 00110111 00110110 00110111</a:t>
              </a:r>
            </a:p>
          </p:txBody>
        </p:sp>
        <p:sp>
          <p:nvSpPr>
            <p:cNvPr id="1048615" name="Text Box 39"/>
            <p:cNvSpPr txBox="1">
              <a:spLocks noChangeArrowheads="1"/>
            </p:cNvSpPr>
            <p:nvPr/>
          </p:nvSpPr>
          <p:spPr bwMode="auto">
            <a:xfrm>
              <a:off x="3252" y="284"/>
              <a:ext cx="1044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b="1" u="sng">
                  <a:solidFill>
                    <a:srgbClr val="FF00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ea typeface="隶书" pitchFamily="49" charset="-122"/>
                </a:rPr>
                <a:t>文本文件</a:t>
              </a:r>
            </a:p>
          </p:txBody>
        </p:sp>
      </p:grpSp>
      <p:graphicFrame>
        <p:nvGraphicFramePr>
          <p:cNvPr id="1048628" name="Group 5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1181145"/>
              </p:ext>
            </p:extLst>
          </p:nvPr>
        </p:nvGraphicFramePr>
        <p:xfrm>
          <a:off x="1516904" y="2865438"/>
          <a:ext cx="1684337" cy="914400"/>
        </p:xfrm>
        <a:graphic>
          <a:graphicData uri="http://schemas.openxmlformats.org/drawingml/2006/table">
            <a:tbl>
              <a:tblPr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tblPr>
              <a:tblGrid>
                <a:gridCol w="168433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7621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rPr>
                        <a:t>1111 1111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rPr>
                        <a:t>0</a:t>
                      </a:r>
                      <a:r>
                        <a:rPr kumimoji="1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rPr>
                        <a:t>111 1111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048597" name="Text Box 21"/>
          <p:cNvSpPr txBox="1">
            <a:spLocks noChangeArrowheads="1"/>
          </p:cNvSpPr>
          <p:nvPr/>
        </p:nvSpPr>
        <p:spPr bwMode="auto">
          <a:xfrm>
            <a:off x="915821" y="2380818"/>
            <a:ext cx="2515883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000" b="1" dirty="0">
                <a:solidFill>
                  <a:srgbClr val="D60093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楷体_GB2312" pitchFamily="49" charset="-122"/>
              </a:rPr>
              <a:t>short int </a:t>
            </a:r>
            <a:r>
              <a:rPr lang="zh-CN" altLang="en-US" sz="2000" b="1" dirty="0">
                <a:solidFill>
                  <a:srgbClr val="D60093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数据</a:t>
            </a:r>
            <a:r>
              <a:rPr lang="en-US" altLang="zh-CN" sz="2000" b="1" dirty="0">
                <a:solidFill>
                  <a:srgbClr val="D60093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楷体_GB2312" pitchFamily="49" charset="-122"/>
              </a:rPr>
              <a:t>32767</a:t>
            </a:r>
          </a:p>
        </p:txBody>
      </p:sp>
      <p:grpSp>
        <p:nvGrpSpPr>
          <p:cNvPr id="1048602" name="Group 26"/>
          <p:cNvGrpSpPr>
            <a:grpSpLocks/>
          </p:cNvGrpSpPr>
          <p:nvPr/>
        </p:nvGrpSpPr>
        <p:grpSpPr bwMode="auto">
          <a:xfrm>
            <a:off x="4639890" y="1300163"/>
            <a:ext cx="936625" cy="569912"/>
            <a:chOff x="2000" y="1017"/>
            <a:chExt cx="590" cy="359"/>
          </a:xfrm>
        </p:grpSpPr>
        <p:sp>
          <p:nvSpPr>
            <p:cNvPr id="1048600" name="AutoShape 24"/>
            <p:cNvSpPr>
              <a:spLocks/>
            </p:cNvSpPr>
            <p:nvPr/>
          </p:nvSpPr>
          <p:spPr bwMode="auto">
            <a:xfrm rot="-5400000">
              <a:off x="2227" y="790"/>
              <a:ext cx="136" cy="590"/>
            </a:xfrm>
            <a:prstGeom prst="leftBrace">
              <a:avLst>
                <a:gd name="adj1" fmla="val 36152"/>
                <a:gd name="adj2" fmla="val 50000"/>
              </a:avLst>
            </a:prstGeom>
            <a:noFill/>
            <a:ln w="25400">
              <a:solidFill>
                <a:srgbClr val="0000FF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48601" name="Text Box 25"/>
            <p:cNvSpPr txBox="1">
              <a:spLocks noChangeArrowheads="1"/>
            </p:cNvSpPr>
            <p:nvPr/>
          </p:nvSpPr>
          <p:spPr bwMode="auto">
            <a:xfrm>
              <a:off x="2154" y="1126"/>
              <a:ext cx="318" cy="2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2000" b="1">
                  <a:solidFill>
                    <a:srgbClr val="D60093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</a:rPr>
                <a:t>'3'</a:t>
              </a:r>
              <a:r>
                <a:rPr lang="en-US" altLang="zh-CN" sz="2000"/>
                <a:t> </a:t>
              </a:r>
            </a:p>
          </p:txBody>
        </p:sp>
      </p:grpSp>
      <p:grpSp>
        <p:nvGrpSpPr>
          <p:cNvPr id="1048603" name="Group 27"/>
          <p:cNvGrpSpPr>
            <a:grpSpLocks/>
          </p:cNvGrpSpPr>
          <p:nvPr/>
        </p:nvGrpSpPr>
        <p:grpSpPr bwMode="auto">
          <a:xfrm>
            <a:off x="5713040" y="1287463"/>
            <a:ext cx="936625" cy="569912"/>
            <a:chOff x="2000" y="1017"/>
            <a:chExt cx="590" cy="359"/>
          </a:xfrm>
        </p:grpSpPr>
        <p:sp>
          <p:nvSpPr>
            <p:cNvPr id="1048604" name="AutoShape 28"/>
            <p:cNvSpPr>
              <a:spLocks/>
            </p:cNvSpPr>
            <p:nvPr/>
          </p:nvSpPr>
          <p:spPr bwMode="auto">
            <a:xfrm rot="-5400000">
              <a:off x="2227" y="790"/>
              <a:ext cx="136" cy="590"/>
            </a:xfrm>
            <a:prstGeom prst="leftBrace">
              <a:avLst>
                <a:gd name="adj1" fmla="val 36152"/>
                <a:gd name="adj2" fmla="val 50000"/>
              </a:avLst>
            </a:prstGeom>
            <a:noFill/>
            <a:ln w="25400">
              <a:solidFill>
                <a:srgbClr val="0000FF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48605" name="Text Box 29"/>
            <p:cNvSpPr txBox="1">
              <a:spLocks noChangeArrowheads="1"/>
            </p:cNvSpPr>
            <p:nvPr/>
          </p:nvSpPr>
          <p:spPr bwMode="auto">
            <a:xfrm>
              <a:off x="2154" y="1126"/>
              <a:ext cx="318" cy="2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2000" b="1">
                  <a:solidFill>
                    <a:srgbClr val="D60093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</a:rPr>
                <a:t>'2'</a:t>
              </a:r>
              <a:r>
                <a:rPr lang="en-US" altLang="zh-CN" sz="2000"/>
                <a:t> </a:t>
              </a:r>
            </a:p>
          </p:txBody>
        </p:sp>
      </p:grpSp>
      <p:grpSp>
        <p:nvGrpSpPr>
          <p:cNvPr id="1048606" name="Group 30"/>
          <p:cNvGrpSpPr>
            <a:grpSpLocks/>
          </p:cNvGrpSpPr>
          <p:nvPr/>
        </p:nvGrpSpPr>
        <p:grpSpPr bwMode="auto">
          <a:xfrm>
            <a:off x="6800478" y="1303338"/>
            <a:ext cx="936625" cy="569912"/>
            <a:chOff x="2000" y="1017"/>
            <a:chExt cx="590" cy="359"/>
          </a:xfrm>
        </p:grpSpPr>
        <p:sp>
          <p:nvSpPr>
            <p:cNvPr id="1048607" name="AutoShape 31"/>
            <p:cNvSpPr>
              <a:spLocks/>
            </p:cNvSpPr>
            <p:nvPr/>
          </p:nvSpPr>
          <p:spPr bwMode="auto">
            <a:xfrm rot="-5400000">
              <a:off x="2227" y="790"/>
              <a:ext cx="136" cy="590"/>
            </a:xfrm>
            <a:prstGeom prst="leftBrace">
              <a:avLst>
                <a:gd name="adj1" fmla="val 36152"/>
                <a:gd name="adj2" fmla="val 50000"/>
              </a:avLst>
            </a:prstGeom>
            <a:noFill/>
            <a:ln w="25400">
              <a:solidFill>
                <a:srgbClr val="0000FF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48608" name="Text Box 32"/>
            <p:cNvSpPr txBox="1">
              <a:spLocks noChangeArrowheads="1"/>
            </p:cNvSpPr>
            <p:nvPr/>
          </p:nvSpPr>
          <p:spPr bwMode="auto">
            <a:xfrm>
              <a:off x="2154" y="1126"/>
              <a:ext cx="318" cy="2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2000" b="1">
                  <a:solidFill>
                    <a:srgbClr val="D60093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</a:rPr>
                <a:t>'7'</a:t>
              </a:r>
              <a:r>
                <a:rPr lang="en-US" altLang="zh-CN" sz="2000"/>
                <a:t> </a:t>
              </a:r>
            </a:p>
          </p:txBody>
        </p:sp>
      </p:grpSp>
      <p:grpSp>
        <p:nvGrpSpPr>
          <p:cNvPr id="1048609" name="Group 33"/>
          <p:cNvGrpSpPr>
            <a:grpSpLocks/>
          </p:cNvGrpSpPr>
          <p:nvPr/>
        </p:nvGrpSpPr>
        <p:grpSpPr bwMode="auto">
          <a:xfrm>
            <a:off x="7801436" y="1290638"/>
            <a:ext cx="936625" cy="569912"/>
            <a:chOff x="2000" y="1017"/>
            <a:chExt cx="590" cy="359"/>
          </a:xfrm>
        </p:grpSpPr>
        <p:sp>
          <p:nvSpPr>
            <p:cNvPr id="1048610" name="AutoShape 34"/>
            <p:cNvSpPr>
              <a:spLocks/>
            </p:cNvSpPr>
            <p:nvPr/>
          </p:nvSpPr>
          <p:spPr bwMode="auto">
            <a:xfrm rot="-5400000">
              <a:off x="2227" y="790"/>
              <a:ext cx="136" cy="590"/>
            </a:xfrm>
            <a:prstGeom prst="leftBrace">
              <a:avLst>
                <a:gd name="adj1" fmla="val 36152"/>
                <a:gd name="adj2" fmla="val 50000"/>
              </a:avLst>
            </a:prstGeom>
            <a:noFill/>
            <a:ln w="25400">
              <a:solidFill>
                <a:srgbClr val="0000FF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48611" name="Text Box 35"/>
            <p:cNvSpPr txBox="1">
              <a:spLocks noChangeArrowheads="1"/>
            </p:cNvSpPr>
            <p:nvPr/>
          </p:nvSpPr>
          <p:spPr bwMode="auto">
            <a:xfrm>
              <a:off x="2154" y="1126"/>
              <a:ext cx="318" cy="2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2000" b="1">
                  <a:solidFill>
                    <a:srgbClr val="D60093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</a:rPr>
                <a:t>'6'</a:t>
              </a:r>
              <a:r>
                <a:rPr lang="en-US" altLang="zh-CN" sz="2000"/>
                <a:t> </a:t>
              </a:r>
            </a:p>
          </p:txBody>
        </p:sp>
      </p:grpSp>
      <p:grpSp>
        <p:nvGrpSpPr>
          <p:cNvPr id="1048612" name="Group 36"/>
          <p:cNvGrpSpPr>
            <a:grpSpLocks/>
          </p:cNvGrpSpPr>
          <p:nvPr/>
        </p:nvGrpSpPr>
        <p:grpSpPr bwMode="auto">
          <a:xfrm>
            <a:off x="8852777" y="1300163"/>
            <a:ext cx="936625" cy="569912"/>
            <a:chOff x="2000" y="1017"/>
            <a:chExt cx="590" cy="359"/>
          </a:xfrm>
        </p:grpSpPr>
        <p:sp>
          <p:nvSpPr>
            <p:cNvPr id="1048613" name="AutoShape 37"/>
            <p:cNvSpPr>
              <a:spLocks/>
            </p:cNvSpPr>
            <p:nvPr/>
          </p:nvSpPr>
          <p:spPr bwMode="auto">
            <a:xfrm rot="-5400000">
              <a:off x="2227" y="790"/>
              <a:ext cx="136" cy="590"/>
            </a:xfrm>
            <a:prstGeom prst="leftBrace">
              <a:avLst>
                <a:gd name="adj1" fmla="val 36152"/>
                <a:gd name="adj2" fmla="val 50000"/>
              </a:avLst>
            </a:prstGeom>
            <a:noFill/>
            <a:ln w="25400">
              <a:solidFill>
                <a:srgbClr val="0000FF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48614" name="Text Box 38"/>
            <p:cNvSpPr txBox="1">
              <a:spLocks noChangeArrowheads="1"/>
            </p:cNvSpPr>
            <p:nvPr/>
          </p:nvSpPr>
          <p:spPr bwMode="auto">
            <a:xfrm>
              <a:off x="2154" y="1126"/>
              <a:ext cx="318" cy="2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2000" b="1">
                  <a:solidFill>
                    <a:srgbClr val="D60093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</a:rPr>
                <a:t>'7'</a:t>
              </a:r>
              <a:r>
                <a:rPr lang="en-US" altLang="zh-CN" sz="2000"/>
                <a:t> </a:t>
              </a:r>
            </a:p>
          </p:txBody>
        </p:sp>
      </p:grpSp>
      <p:sp>
        <p:nvSpPr>
          <p:cNvPr id="1048616" name="Rectangle 40"/>
          <p:cNvSpPr>
            <a:spLocks noChangeArrowheads="1"/>
          </p:cNvSpPr>
          <p:nvPr/>
        </p:nvSpPr>
        <p:spPr bwMode="auto">
          <a:xfrm>
            <a:off x="5144715" y="1919289"/>
            <a:ext cx="4081463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r>
              <a:rPr lang="en-US" altLang="zh-CN" sz="2000" b="1" dirty="0">
                <a:solidFill>
                  <a:srgbClr val="D60093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隶书" pitchFamily="49" charset="-122"/>
              </a:rPr>
              <a:t>32767</a:t>
            </a:r>
            <a:r>
              <a:rPr lang="zh-CN" altLang="en-US" sz="2000" b="1" dirty="0">
                <a:solidFill>
                  <a:srgbClr val="D60093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隶书" pitchFamily="49" charset="-122"/>
              </a:rPr>
              <a:t>的各字符的</a:t>
            </a:r>
            <a:r>
              <a:rPr lang="en-US" altLang="zh-CN" sz="2000" b="1" dirty="0">
                <a:solidFill>
                  <a:srgbClr val="D60093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隶书" pitchFamily="49" charset="-122"/>
              </a:rPr>
              <a:t>ASCII</a:t>
            </a:r>
            <a:r>
              <a:rPr lang="zh-CN" altLang="en-US" sz="2000" b="1" dirty="0">
                <a:solidFill>
                  <a:srgbClr val="D60093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隶书" pitchFamily="49" charset="-122"/>
              </a:rPr>
              <a:t>码存放形式</a:t>
            </a:r>
          </a:p>
        </p:txBody>
      </p:sp>
      <p:grpSp>
        <p:nvGrpSpPr>
          <p:cNvPr id="1048625" name="Group 49"/>
          <p:cNvGrpSpPr>
            <a:grpSpLocks/>
          </p:cNvGrpSpPr>
          <p:nvPr/>
        </p:nvGrpSpPr>
        <p:grpSpPr bwMode="auto">
          <a:xfrm>
            <a:off x="4511303" y="3513138"/>
            <a:ext cx="5545137" cy="1928812"/>
            <a:chOff x="1973" y="2024"/>
            <a:chExt cx="3493" cy="1215"/>
          </a:xfrm>
        </p:grpSpPr>
        <p:sp>
          <p:nvSpPr>
            <p:cNvPr id="1048619" name="AutoShape 43"/>
            <p:cNvSpPr>
              <a:spLocks noChangeArrowheads="1"/>
            </p:cNvSpPr>
            <p:nvPr/>
          </p:nvSpPr>
          <p:spPr bwMode="auto">
            <a:xfrm>
              <a:off x="1973" y="2332"/>
              <a:ext cx="3493" cy="907"/>
            </a:xfrm>
            <a:prstGeom prst="foldedCorner">
              <a:avLst>
                <a:gd name="adj" fmla="val 12500"/>
              </a:avLst>
            </a:prstGeom>
            <a:gradFill rotWithShape="1">
              <a:gsLst>
                <a:gs pos="0">
                  <a:srgbClr val="FF99CC"/>
                </a:gs>
                <a:gs pos="100000">
                  <a:schemeClr val="bg1"/>
                </a:gs>
              </a:gsLst>
              <a:lin ang="5400000" scaled="1"/>
            </a:gradFill>
            <a:ln w="25400">
              <a:solidFill>
                <a:schemeClr val="tx1"/>
              </a:solidFill>
              <a:round/>
              <a:headEnd/>
              <a:tailEnd/>
            </a:ln>
            <a:effectLst>
              <a:outerShdw blurRad="50800" dist="106680" dir="2700000" algn="tl" rotWithShape="0">
                <a:prstClr val="black">
                  <a:alpha val="43000"/>
                </a:prstClr>
              </a:outerShdw>
            </a:effectLst>
          </p:spPr>
          <p:txBody>
            <a:bodyPr wrap="none"/>
            <a:lstStyle/>
            <a:p>
              <a:r>
                <a:rPr lang="en-US" altLang="zh-CN" sz="2000" b="1" dirty="0">
                  <a:effectLst>
                    <a:outerShdw blurRad="38100" dist="38100" dir="2700000" algn="tl">
                      <a:srgbClr val="FFFFFF"/>
                    </a:outerShdw>
                  </a:effectLst>
                </a:rPr>
                <a:t>0111111111111111</a:t>
              </a:r>
            </a:p>
          </p:txBody>
        </p:sp>
        <p:sp>
          <p:nvSpPr>
            <p:cNvPr id="1048620" name="Text Box 44"/>
            <p:cNvSpPr txBox="1">
              <a:spLocks noChangeArrowheads="1"/>
            </p:cNvSpPr>
            <p:nvPr/>
          </p:nvSpPr>
          <p:spPr bwMode="auto">
            <a:xfrm>
              <a:off x="3199" y="2024"/>
              <a:ext cx="1405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b="1" u="sng">
                  <a:solidFill>
                    <a:srgbClr val="FF00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ea typeface="隶书" pitchFamily="49" charset="-122"/>
                </a:rPr>
                <a:t>二进制文件</a:t>
              </a:r>
            </a:p>
          </p:txBody>
        </p:sp>
      </p:grpSp>
      <p:grpSp>
        <p:nvGrpSpPr>
          <p:cNvPr id="1048624" name="Group 48"/>
          <p:cNvGrpSpPr>
            <a:grpSpLocks/>
          </p:cNvGrpSpPr>
          <p:nvPr/>
        </p:nvGrpSpPr>
        <p:grpSpPr bwMode="auto">
          <a:xfrm>
            <a:off x="4641478" y="4365630"/>
            <a:ext cx="3097213" cy="611188"/>
            <a:chOff x="2055" y="2561"/>
            <a:chExt cx="1951" cy="385"/>
          </a:xfrm>
        </p:grpSpPr>
        <p:sp>
          <p:nvSpPr>
            <p:cNvPr id="1048622" name="AutoShape 46"/>
            <p:cNvSpPr>
              <a:spLocks/>
            </p:cNvSpPr>
            <p:nvPr/>
          </p:nvSpPr>
          <p:spPr bwMode="auto">
            <a:xfrm rot="16200000">
              <a:off x="2536" y="2080"/>
              <a:ext cx="136" cy="1097"/>
            </a:xfrm>
            <a:prstGeom prst="leftBrace">
              <a:avLst>
                <a:gd name="adj1" fmla="val 79688"/>
                <a:gd name="adj2" fmla="val 50000"/>
              </a:avLst>
            </a:prstGeom>
            <a:noFill/>
            <a:ln w="25400">
              <a:solidFill>
                <a:srgbClr val="0000FF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48623" name="Text Box 47"/>
            <p:cNvSpPr txBox="1">
              <a:spLocks noChangeArrowheads="1"/>
            </p:cNvSpPr>
            <p:nvPr/>
          </p:nvSpPr>
          <p:spPr bwMode="auto">
            <a:xfrm>
              <a:off x="2119" y="2696"/>
              <a:ext cx="1887" cy="2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2000" b="1" dirty="0">
                  <a:solidFill>
                    <a:srgbClr val="D60093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+mn-lt"/>
                  <a:ea typeface="隶书" pitchFamily="49" charset="-122"/>
                </a:rPr>
                <a:t>32767</a:t>
              </a:r>
              <a:r>
                <a:rPr lang="zh-CN" altLang="en-US" sz="2000" b="1" dirty="0">
                  <a:solidFill>
                    <a:srgbClr val="D60093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+mn-lt"/>
                  <a:ea typeface="隶书" pitchFamily="49" charset="-122"/>
                </a:rPr>
                <a:t>的二进制存放形式</a:t>
              </a:r>
            </a:p>
          </p:txBody>
        </p:sp>
      </p:grpSp>
      <p:sp>
        <p:nvSpPr>
          <p:cNvPr id="1048626" name="AutoShape 50"/>
          <p:cNvSpPr>
            <a:spLocks noChangeArrowheads="1"/>
          </p:cNvSpPr>
          <p:nvPr/>
        </p:nvSpPr>
        <p:spPr bwMode="auto">
          <a:xfrm rot="19342042">
            <a:off x="3146950" y="2646755"/>
            <a:ext cx="1386093" cy="312941"/>
          </a:xfrm>
          <a:custGeom>
            <a:avLst/>
            <a:gdLst>
              <a:gd name="G0" fmla="+- 16200 0 0"/>
              <a:gd name="G1" fmla="+- 5400 0 0"/>
              <a:gd name="G2" fmla="+- 21600 0 5400"/>
              <a:gd name="G3" fmla="+- 10800 0 5400"/>
              <a:gd name="G4" fmla="+- 21600 0 16200"/>
              <a:gd name="G5" fmla="*/ G4 G3 10800"/>
              <a:gd name="G6" fmla="+- 21600 0 G5"/>
              <a:gd name="T0" fmla="*/ 16200 w 21600"/>
              <a:gd name="T1" fmla="*/ 0 h 21600"/>
              <a:gd name="T2" fmla="*/ 0 w 21600"/>
              <a:gd name="T3" fmla="*/ 10800 h 21600"/>
              <a:gd name="T4" fmla="*/ 16200 w 21600"/>
              <a:gd name="T5" fmla="*/ 21600 h 21600"/>
              <a:gd name="T6" fmla="*/ 21600 w 21600"/>
              <a:gd name="T7" fmla="*/ 10800 h 21600"/>
              <a:gd name="T8" fmla="*/ 17694720 60000 65536"/>
              <a:gd name="T9" fmla="*/ 11796480 60000 65536"/>
              <a:gd name="T10" fmla="*/ 5898240 60000 65536"/>
              <a:gd name="T11" fmla="*/ 0 60000 65536"/>
              <a:gd name="T12" fmla="*/ 3375 w 21600"/>
              <a:gd name="T13" fmla="*/ G1 h 21600"/>
              <a:gd name="T14" fmla="*/ G6 w 21600"/>
              <a:gd name="T15" fmla="*/ G2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16200" y="0"/>
                </a:moveTo>
                <a:lnTo>
                  <a:pt x="16200" y="5400"/>
                </a:lnTo>
                <a:lnTo>
                  <a:pt x="3375" y="5400"/>
                </a:lnTo>
                <a:lnTo>
                  <a:pt x="3375" y="16200"/>
                </a:lnTo>
                <a:lnTo>
                  <a:pt x="16200" y="16200"/>
                </a:lnTo>
                <a:lnTo>
                  <a:pt x="16200" y="21600"/>
                </a:lnTo>
                <a:lnTo>
                  <a:pt x="21600" y="10800"/>
                </a:lnTo>
                <a:close/>
              </a:path>
              <a:path w="21600" h="21600">
                <a:moveTo>
                  <a:pt x="1350" y="5400"/>
                </a:moveTo>
                <a:lnTo>
                  <a:pt x="1350" y="16200"/>
                </a:lnTo>
                <a:lnTo>
                  <a:pt x="2700" y="16200"/>
                </a:lnTo>
                <a:lnTo>
                  <a:pt x="2700" y="5400"/>
                </a:lnTo>
                <a:close/>
              </a:path>
              <a:path w="21600" h="21600">
                <a:moveTo>
                  <a:pt x="0" y="5400"/>
                </a:moveTo>
                <a:lnTo>
                  <a:pt x="0" y="16200"/>
                </a:lnTo>
                <a:lnTo>
                  <a:pt x="675" y="16200"/>
                </a:lnTo>
                <a:lnTo>
                  <a:pt x="675" y="5400"/>
                </a:lnTo>
                <a:close/>
              </a:path>
            </a:pathLst>
          </a:custGeom>
          <a:gradFill rotWithShape="1">
            <a:gsLst>
              <a:gs pos="0">
                <a:srgbClr val="00FFFF"/>
              </a:gs>
              <a:gs pos="100000">
                <a:srgbClr val="00FFFF">
                  <a:gamma/>
                  <a:shade val="46275"/>
                  <a:invGamma/>
                </a:srgbClr>
              </a:gs>
            </a:gsLst>
            <a:lin ang="5400000" scaled="1"/>
          </a:gradFill>
          <a:ln w="9525">
            <a:solidFill>
              <a:schemeClr val="tx1"/>
            </a:solidFill>
            <a:miter lim="800000"/>
            <a:headEnd/>
            <a:tailEnd/>
          </a:ln>
          <a:effectLst>
            <a:outerShdw blurRad="50800" dist="106680" dir="2700000" algn="tl" rotWithShape="0">
              <a:prstClr val="black">
                <a:alpha val="43000"/>
              </a:prstClr>
            </a:outerShdw>
          </a:effec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48627" name="AutoShape 51"/>
          <p:cNvSpPr>
            <a:spLocks noChangeArrowheads="1"/>
          </p:cNvSpPr>
          <p:nvPr/>
        </p:nvSpPr>
        <p:spPr bwMode="auto">
          <a:xfrm rot="-19578435">
            <a:off x="3196875" y="3580476"/>
            <a:ext cx="1306277" cy="327901"/>
          </a:xfrm>
          <a:custGeom>
            <a:avLst/>
            <a:gdLst>
              <a:gd name="G0" fmla="+- 16200 0 0"/>
              <a:gd name="G1" fmla="+- 5400 0 0"/>
              <a:gd name="G2" fmla="+- 21600 0 5400"/>
              <a:gd name="G3" fmla="+- 10800 0 5400"/>
              <a:gd name="G4" fmla="+- 21600 0 16200"/>
              <a:gd name="G5" fmla="*/ G4 G3 10800"/>
              <a:gd name="G6" fmla="+- 21600 0 G5"/>
              <a:gd name="T0" fmla="*/ 16200 w 21600"/>
              <a:gd name="T1" fmla="*/ 0 h 21600"/>
              <a:gd name="T2" fmla="*/ 0 w 21600"/>
              <a:gd name="T3" fmla="*/ 10800 h 21600"/>
              <a:gd name="T4" fmla="*/ 16200 w 21600"/>
              <a:gd name="T5" fmla="*/ 21600 h 21600"/>
              <a:gd name="T6" fmla="*/ 21600 w 21600"/>
              <a:gd name="T7" fmla="*/ 10800 h 21600"/>
              <a:gd name="T8" fmla="*/ 17694720 60000 65536"/>
              <a:gd name="T9" fmla="*/ 11796480 60000 65536"/>
              <a:gd name="T10" fmla="*/ 5898240 60000 65536"/>
              <a:gd name="T11" fmla="*/ 0 60000 65536"/>
              <a:gd name="T12" fmla="*/ 3375 w 21600"/>
              <a:gd name="T13" fmla="*/ G1 h 21600"/>
              <a:gd name="T14" fmla="*/ G6 w 21600"/>
              <a:gd name="T15" fmla="*/ G2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16200" y="0"/>
                </a:moveTo>
                <a:lnTo>
                  <a:pt x="16200" y="5400"/>
                </a:lnTo>
                <a:lnTo>
                  <a:pt x="3375" y="5400"/>
                </a:lnTo>
                <a:lnTo>
                  <a:pt x="3375" y="16200"/>
                </a:lnTo>
                <a:lnTo>
                  <a:pt x="16200" y="16200"/>
                </a:lnTo>
                <a:lnTo>
                  <a:pt x="16200" y="21600"/>
                </a:lnTo>
                <a:lnTo>
                  <a:pt x="21600" y="10800"/>
                </a:lnTo>
                <a:close/>
              </a:path>
              <a:path w="21600" h="21600">
                <a:moveTo>
                  <a:pt x="1350" y="5400"/>
                </a:moveTo>
                <a:lnTo>
                  <a:pt x="1350" y="16200"/>
                </a:lnTo>
                <a:lnTo>
                  <a:pt x="2700" y="16200"/>
                </a:lnTo>
                <a:lnTo>
                  <a:pt x="2700" y="5400"/>
                </a:lnTo>
                <a:close/>
              </a:path>
              <a:path w="21600" h="21600">
                <a:moveTo>
                  <a:pt x="0" y="5400"/>
                </a:moveTo>
                <a:lnTo>
                  <a:pt x="0" y="16200"/>
                </a:lnTo>
                <a:lnTo>
                  <a:pt x="675" y="16200"/>
                </a:lnTo>
                <a:lnTo>
                  <a:pt x="675" y="5400"/>
                </a:lnTo>
                <a:close/>
              </a:path>
            </a:pathLst>
          </a:custGeom>
          <a:gradFill rotWithShape="1">
            <a:gsLst>
              <a:gs pos="0">
                <a:srgbClr val="FF99CC"/>
              </a:gs>
              <a:gs pos="100000">
                <a:srgbClr val="FF99CC">
                  <a:gamma/>
                  <a:shade val="46275"/>
                  <a:invGamma/>
                </a:srgbClr>
              </a:gs>
            </a:gsLst>
            <a:lin ang="5400000" scaled="1"/>
          </a:gradFill>
          <a:ln w="9525">
            <a:solidFill>
              <a:schemeClr val="tx1"/>
            </a:solidFill>
            <a:miter lim="800000"/>
            <a:headEnd/>
            <a:tailEnd/>
          </a:ln>
          <a:effectLst>
            <a:outerShdw blurRad="50800" dist="106680" dir="2700000" algn="tl" rotWithShape="0">
              <a:prstClr val="black">
                <a:alpha val="43000"/>
              </a:prstClr>
            </a:outerShdw>
          </a:effec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48630" name="AutoShape 54"/>
          <p:cNvSpPr>
            <a:spLocks noChangeArrowheads="1"/>
          </p:cNvSpPr>
          <p:nvPr/>
        </p:nvSpPr>
        <p:spPr bwMode="auto">
          <a:xfrm>
            <a:off x="1329580" y="4365625"/>
            <a:ext cx="1871662" cy="503238"/>
          </a:xfrm>
          <a:prstGeom prst="wedgeRoundRectCallout">
            <a:avLst>
              <a:gd name="adj1" fmla="val 1907"/>
              <a:gd name="adj2" fmla="val -192273"/>
              <a:gd name="adj3" fmla="val 16667"/>
            </a:avLst>
          </a:prstGeom>
          <a:gradFill rotWithShape="1">
            <a:gsLst>
              <a:gs pos="0">
                <a:srgbClr val="FFCC99"/>
              </a:gs>
              <a:gs pos="100000">
                <a:schemeClr val="bg1"/>
              </a:gs>
            </a:gsLst>
            <a:lin ang="5400000" scaled="1"/>
          </a:gradFill>
          <a:ln w="19050">
            <a:solidFill>
              <a:srgbClr val="FF00FF"/>
            </a:solidFill>
            <a:miter lim="800000"/>
            <a:headEnd/>
            <a:tailEnd/>
          </a:ln>
          <a:effectLst>
            <a:outerShdw blurRad="50800" dist="106680" dir="2700000" algn="tl" rotWithShape="0">
              <a:prstClr val="black">
                <a:alpha val="43000"/>
              </a:prstClr>
            </a:outerShdw>
          </a:effectLst>
          <a:scene3d>
            <a:camera prst="orthographicFront"/>
            <a:lightRig rig="threePt" dir="t"/>
          </a:scene3d>
          <a:sp3d>
            <a:bevelT w="114300" prst="hardEdge"/>
          </a:sp3d>
        </p:spPr>
        <p:txBody>
          <a:bodyPr/>
          <a:lstStyle/>
          <a:p>
            <a:pPr algn="ctr"/>
            <a:r>
              <a:rPr lang="zh-CN" altLang="en-US" sz="2000" b="1">
                <a:solidFill>
                  <a:schemeClr val="accent1">
                    <a:lumMod val="50000"/>
                  </a:schemeClr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楷体" pitchFamily="49" charset="-122"/>
              </a:rPr>
              <a:t>内存存放形式</a:t>
            </a:r>
          </a:p>
        </p:txBody>
      </p:sp>
      <p:sp>
        <p:nvSpPr>
          <p:cNvPr id="1048632" name="AutoShape 56"/>
          <p:cNvSpPr>
            <a:spLocks noChangeArrowheads="1"/>
          </p:cNvSpPr>
          <p:nvPr/>
        </p:nvSpPr>
        <p:spPr bwMode="auto">
          <a:xfrm>
            <a:off x="9466232" y="2780928"/>
            <a:ext cx="2318400" cy="965173"/>
          </a:xfrm>
          <a:prstGeom prst="wedgeRectCallout">
            <a:avLst>
              <a:gd name="adj1" fmla="val -60136"/>
              <a:gd name="adj2" fmla="val -127739"/>
            </a:avLst>
          </a:prstGeom>
          <a:gradFill rotWithShape="1">
            <a:gsLst>
              <a:gs pos="0">
                <a:srgbClr val="CCFFFF"/>
              </a:gs>
              <a:gs pos="100000">
                <a:schemeClr val="bg1"/>
              </a:gs>
            </a:gsLst>
            <a:lin ang="5400000" scaled="1"/>
          </a:gradFill>
          <a:ln w="9525">
            <a:solidFill>
              <a:schemeClr val="tx1"/>
            </a:solidFill>
            <a:miter lim="800000"/>
            <a:headEnd/>
            <a:tailEnd/>
          </a:ln>
          <a:effectLst>
            <a:outerShdw blurRad="50800" dist="106680" dir="2700000" algn="tl" rotWithShape="0">
              <a:prstClr val="black">
                <a:alpha val="43000"/>
              </a:prstClr>
            </a:outerShdw>
          </a:effectLst>
          <a:scene3d>
            <a:camera prst="orthographicFront"/>
            <a:lightRig rig="threePt" dir="t"/>
          </a:scene3d>
          <a:sp3d>
            <a:bevelT w="114300" prst="hardEdge"/>
          </a:sp3d>
        </p:spPr>
        <p:txBody>
          <a:bodyPr/>
          <a:lstStyle/>
          <a:p>
            <a:r>
              <a:rPr lang="zh-CN" altLang="en-US" sz="2000" b="1" u="sng" dirty="0">
                <a:solidFill>
                  <a:srgbClr val="FF33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楷体" pitchFamily="49" charset="-122"/>
              </a:rPr>
              <a:t>文本文件特点</a:t>
            </a:r>
            <a:r>
              <a:rPr lang="en-US" altLang="zh-CN" sz="2000" b="1" u="sng" dirty="0">
                <a:solidFill>
                  <a:srgbClr val="FF33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楷体" pitchFamily="49" charset="-122"/>
              </a:rPr>
              <a:t>:</a:t>
            </a:r>
          </a:p>
          <a:p>
            <a:r>
              <a:rPr lang="zh-CN" altLang="en-US" sz="2000" b="1" dirty="0">
                <a:solidFill>
                  <a:schemeClr val="accent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楷体" pitchFamily="49" charset="-122"/>
              </a:rPr>
              <a:t>存储量大、速度慢、便于对字符操作</a:t>
            </a:r>
          </a:p>
        </p:txBody>
      </p:sp>
      <p:sp>
        <p:nvSpPr>
          <p:cNvPr id="1048633" name="AutoShape 57"/>
          <p:cNvSpPr>
            <a:spLocks noChangeArrowheads="1"/>
          </p:cNvSpPr>
          <p:nvPr/>
        </p:nvSpPr>
        <p:spPr bwMode="auto">
          <a:xfrm>
            <a:off x="9048328" y="5672678"/>
            <a:ext cx="2318867" cy="1007317"/>
          </a:xfrm>
          <a:prstGeom prst="wedgeRectCallout">
            <a:avLst>
              <a:gd name="adj1" fmla="val -52204"/>
              <a:gd name="adj2" fmla="val -127153"/>
            </a:avLst>
          </a:prstGeom>
          <a:gradFill rotWithShape="1">
            <a:gsLst>
              <a:gs pos="0">
                <a:srgbClr val="FFCC99"/>
              </a:gs>
              <a:gs pos="100000">
                <a:schemeClr val="bg1"/>
              </a:gs>
            </a:gsLst>
            <a:lin ang="5400000" scaled="1"/>
          </a:gradFill>
          <a:ln w="9525">
            <a:solidFill>
              <a:schemeClr val="tx1"/>
            </a:solidFill>
            <a:miter lim="800000"/>
            <a:headEnd/>
            <a:tailEnd/>
          </a:ln>
          <a:effectLst>
            <a:outerShdw blurRad="50800" dist="106680" dir="2700000" algn="tl" rotWithShape="0">
              <a:prstClr val="black">
                <a:alpha val="43000"/>
              </a:prstClr>
            </a:outerShdw>
          </a:effectLst>
          <a:scene3d>
            <a:camera prst="orthographicFront"/>
            <a:lightRig rig="threePt" dir="t"/>
          </a:scene3d>
          <a:sp3d>
            <a:bevelT w="114300" prst="hardEdge"/>
          </a:sp3d>
        </p:spPr>
        <p:txBody>
          <a:bodyPr/>
          <a:lstStyle/>
          <a:p>
            <a:r>
              <a:rPr lang="zh-CN" altLang="en-US" sz="2000" b="1" u="sng" dirty="0">
                <a:solidFill>
                  <a:srgbClr val="FF33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楷体" pitchFamily="49" charset="-122"/>
              </a:rPr>
              <a:t>二进制文件特点</a:t>
            </a:r>
            <a:r>
              <a:rPr lang="en-US" altLang="zh-CN" sz="2000" b="1" u="sng" dirty="0">
                <a:solidFill>
                  <a:srgbClr val="FF33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楷体" pitchFamily="49" charset="-122"/>
              </a:rPr>
              <a:t>:</a:t>
            </a:r>
          </a:p>
          <a:p>
            <a:r>
              <a:rPr lang="zh-CN" altLang="en-US" sz="2000" b="1" dirty="0">
                <a:solidFill>
                  <a:schemeClr val="accent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楷体" pitchFamily="49" charset="-122"/>
              </a:rPr>
              <a:t>存储量小、速度快、便于存放中间结果</a:t>
            </a:r>
          </a:p>
        </p:txBody>
      </p:sp>
      <p:grpSp>
        <p:nvGrpSpPr>
          <p:cNvPr id="1048637" name="Group 61"/>
          <p:cNvGrpSpPr>
            <a:grpSpLocks/>
          </p:cNvGrpSpPr>
          <p:nvPr/>
        </p:nvGrpSpPr>
        <p:grpSpPr bwMode="auto">
          <a:xfrm>
            <a:off x="-21252" y="0"/>
            <a:ext cx="446088" cy="6858000"/>
            <a:chOff x="0" y="0"/>
            <a:chExt cx="281" cy="4320"/>
          </a:xfrm>
        </p:grpSpPr>
        <p:sp>
          <p:nvSpPr>
            <p:cNvPr id="1048638" name="Text Box 62"/>
            <p:cNvSpPr txBox="1">
              <a:spLocks noChangeArrowheads="1"/>
            </p:cNvSpPr>
            <p:nvPr/>
          </p:nvSpPr>
          <p:spPr bwMode="auto">
            <a:xfrm>
              <a:off x="0" y="0"/>
              <a:ext cx="281" cy="4320"/>
            </a:xfrm>
            <a:prstGeom prst="rect">
              <a:avLst/>
            </a:prstGeom>
            <a:gradFill rotWithShape="0">
              <a:gsLst>
                <a:gs pos="0">
                  <a:schemeClr val="hlink">
                    <a:gamma/>
                    <a:shade val="60784"/>
                    <a:invGamma/>
                  </a:schemeClr>
                </a:gs>
                <a:gs pos="50000">
                  <a:schemeClr val="hlink"/>
                </a:gs>
                <a:gs pos="100000">
                  <a:schemeClr val="hlink">
                    <a:gamma/>
                    <a:shade val="60784"/>
                    <a:invGamma/>
                  </a:schemeClr>
                </a:gs>
              </a:gsLst>
              <a:lin ang="0" scaled="1"/>
            </a:gradFill>
            <a:ln w="9525">
              <a:noFill/>
              <a:miter lim="800000"/>
              <a:headEnd/>
              <a:tailEnd/>
            </a:ln>
            <a:effectLst/>
          </p:spPr>
          <p:txBody>
            <a:bodyPr/>
            <a:lstStyle/>
            <a:p>
              <a:pPr eaLnBrk="0" hangingPunct="0">
                <a:spcBef>
                  <a:spcPct val="50000"/>
                </a:spcBef>
              </a:pPr>
              <a:endParaRPr lang="en-US" altLang="zh-CN" sz="1800" dirty="0">
                <a:solidFill>
                  <a:srgbClr val="3333CC"/>
                </a:solidFill>
                <a:latin typeface="Verdana" pitchFamily="34" charset="0"/>
              </a:endParaRPr>
            </a:p>
            <a:p>
              <a:pPr eaLnBrk="0" hangingPunct="0">
                <a:spcBef>
                  <a:spcPct val="50000"/>
                </a:spcBef>
              </a:pPr>
              <a:r>
                <a:rPr lang="zh-CN" altLang="en-US" sz="1600" b="1" dirty="0">
                  <a:solidFill>
                    <a:srgbClr val="3333CC"/>
                  </a:solidFill>
                  <a:latin typeface="Verdana" pitchFamily="34" charset="0"/>
                </a:rPr>
                <a:t>语言程序设计教程       </a:t>
              </a:r>
            </a:p>
            <a:p>
              <a:pPr eaLnBrk="0" hangingPunct="0">
                <a:spcBef>
                  <a:spcPct val="50000"/>
                </a:spcBef>
              </a:pPr>
              <a:r>
                <a:rPr lang="zh-CN" altLang="en-US" sz="1600" b="1" dirty="0">
                  <a:solidFill>
                    <a:srgbClr val="3333CC"/>
                  </a:solidFill>
                  <a:latin typeface="Verdana" pitchFamily="34" charset="0"/>
                </a:rPr>
                <a:t>第三版</a:t>
              </a:r>
            </a:p>
            <a:p>
              <a:pPr eaLnBrk="0" hangingPunct="0">
                <a:spcBef>
                  <a:spcPct val="50000"/>
                </a:spcBef>
              </a:pPr>
              <a:endParaRPr lang="zh-CN" altLang="en-US" sz="1600" b="1" dirty="0">
                <a:solidFill>
                  <a:srgbClr val="3333CC"/>
                </a:solidFill>
                <a:latin typeface="Verdana" pitchFamily="34" charset="0"/>
              </a:endParaRPr>
            </a:p>
            <a:p>
              <a:pPr eaLnBrk="0" hangingPunct="0">
                <a:spcBef>
                  <a:spcPct val="50000"/>
                </a:spcBef>
              </a:pPr>
              <a:endParaRPr lang="zh-CN" altLang="en-US" sz="1600" b="1" dirty="0">
                <a:solidFill>
                  <a:srgbClr val="3333CC"/>
                </a:solidFill>
                <a:latin typeface="Verdana" pitchFamily="34" charset="0"/>
              </a:endParaRPr>
            </a:p>
            <a:p>
              <a:pPr eaLnBrk="0" hangingPunct="0">
                <a:spcBef>
                  <a:spcPct val="50000"/>
                </a:spcBef>
              </a:pPr>
              <a:r>
                <a:rPr lang="zh-CN" altLang="en-US" sz="1600" b="1" dirty="0">
                  <a:solidFill>
                    <a:srgbClr val="3333CC"/>
                  </a:solidFill>
                  <a:latin typeface="Verdana" pitchFamily="34" charset="0"/>
                </a:rPr>
                <a:t>第十</a:t>
              </a:r>
            </a:p>
            <a:p>
              <a:pPr eaLnBrk="0" hangingPunct="0">
                <a:spcBef>
                  <a:spcPct val="50000"/>
                </a:spcBef>
              </a:pPr>
              <a:r>
                <a:rPr lang="zh-CN" altLang="en-US" sz="1600" b="1" dirty="0">
                  <a:solidFill>
                    <a:srgbClr val="3333CC"/>
                  </a:solidFill>
                  <a:latin typeface="Verdana" pitchFamily="34" charset="0"/>
                </a:rPr>
                <a:t>二章 </a:t>
              </a:r>
            </a:p>
            <a:p>
              <a:pPr eaLnBrk="0" hangingPunct="0">
                <a:spcBef>
                  <a:spcPct val="50000"/>
                </a:spcBef>
              </a:pPr>
              <a:endParaRPr lang="zh-CN" altLang="en-US" sz="1600" b="1" dirty="0">
                <a:solidFill>
                  <a:srgbClr val="3333CC"/>
                </a:solidFill>
                <a:latin typeface="Verdana" pitchFamily="34" charset="0"/>
              </a:endParaRPr>
            </a:p>
            <a:p>
              <a:pPr eaLnBrk="0" hangingPunct="0">
                <a:spcBef>
                  <a:spcPct val="50000"/>
                </a:spcBef>
              </a:pPr>
              <a:r>
                <a:rPr lang="zh-CN" altLang="en-US" sz="1600" b="1" dirty="0">
                  <a:solidFill>
                    <a:srgbClr val="3333CC"/>
                  </a:solidFill>
                  <a:latin typeface="Verdana" pitchFamily="34" charset="0"/>
                </a:rPr>
                <a:t>文</a:t>
              </a:r>
            </a:p>
            <a:p>
              <a:pPr eaLnBrk="0" hangingPunct="0">
                <a:spcBef>
                  <a:spcPct val="50000"/>
                </a:spcBef>
              </a:pPr>
              <a:endParaRPr lang="zh-CN" altLang="en-US" sz="1600" b="1" dirty="0">
                <a:solidFill>
                  <a:srgbClr val="3333CC"/>
                </a:solidFill>
                <a:latin typeface="Verdana" pitchFamily="34" charset="0"/>
              </a:endParaRPr>
            </a:p>
            <a:p>
              <a:pPr eaLnBrk="0" hangingPunct="0">
                <a:spcBef>
                  <a:spcPct val="50000"/>
                </a:spcBef>
              </a:pPr>
              <a:r>
                <a:rPr lang="zh-CN" altLang="en-US" sz="1600" b="1" dirty="0">
                  <a:solidFill>
                    <a:srgbClr val="3333CC"/>
                  </a:solidFill>
                  <a:latin typeface="Verdana" pitchFamily="34" charset="0"/>
                </a:rPr>
                <a:t>件</a:t>
              </a:r>
            </a:p>
          </p:txBody>
        </p:sp>
        <p:sp>
          <p:nvSpPr>
            <p:cNvPr id="1048639" name="Text Box 63"/>
            <p:cNvSpPr txBox="1">
              <a:spLocks noChangeArrowheads="1"/>
            </p:cNvSpPr>
            <p:nvPr/>
          </p:nvSpPr>
          <p:spPr bwMode="auto">
            <a:xfrm>
              <a:off x="0" y="0"/>
              <a:ext cx="281" cy="231"/>
            </a:xfrm>
            <a:prstGeom prst="rect">
              <a:avLst/>
            </a:prstGeom>
            <a:gradFill rotWithShape="0">
              <a:gsLst>
                <a:gs pos="0">
                  <a:schemeClr val="hlink">
                    <a:gamma/>
                    <a:shade val="46275"/>
                    <a:invGamma/>
                  </a:schemeClr>
                </a:gs>
                <a:gs pos="50000">
                  <a:schemeClr val="hlink"/>
                </a:gs>
                <a:gs pos="100000">
                  <a:schemeClr val="hlink">
                    <a:gamma/>
                    <a:shade val="46275"/>
                    <a:invGamma/>
                  </a:schemeClr>
                </a:gs>
              </a:gsLst>
              <a:lin ang="0" scaled="1"/>
            </a:gradFill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eaLnBrk="0" hangingPunct="0">
                <a:spcBef>
                  <a:spcPct val="50000"/>
                </a:spcBef>
              </a:pPr>
              <a:r>
                <a:rPr lang="en-US" altLang="zh-CN" sz="1800" b="1">
                  <a:solidFill>
                    <a:srgbClr val="0000FF"/>
                  </a:solidFill>
                  <a:latin typeface="Arial" pitchFamily="34" charset="0"/>
                </a:rPr>
                <a:t>C</a:t>
              </a:r>
            </a:p>
          </p:txBody>
        </p:sp>
      </p:grpSp>
    </p:spTree>
  </p:cSld>
  <p:clrMapOvr>
    <a:masterClrMapping/>
  </p:clrMapOvr>
  <p:transition>
    <p:cover/>
    <p:sndAc>
      <p:stSnd>
        <p:snd r:embed="rId3" name="CAMER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ntr" presetSubtype="3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6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7" dur="500"/>
                                        <p:tgtEl>
                                          <p:spTgt spid="1048626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4" presetClass="entr" presetSubtype="3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6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1" dur="500"/>
                                        <p:tgtEl>
                                          <p:spTgt spid="1048617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9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6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6" dur="500"/>
                                        <p:tgtEl>
                                          <p:spTgt spid="1048602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4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18" presetClass="entr" presetSubtype="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6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20" dur="500"/>
                                        <p:tgtEl>
                                          <p:spTgt spid="1048603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8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1000"/>
                            </p:stCondLst>
                            <p:childTnLst>
                              <p:par>
                                <p:cTn id="22" presetID="18" presetClass="entr" presetSubtype="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6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24" dur="500"/>
                                        <p:tgtEl>
                                          <p:spTgt spid="1048606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2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1500"/>
                            </p:stCondLst>
                            <p:childTnLst>
                              <p:par>
                                <p:cTn id="26" presetID="18" presetClass="entr" presetSubtype="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6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28" dur="500"/>
                                        <p:tgtEl>
                                          <p:spTgt spid="1048609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6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2000"/>
                            </p:stCondLst>
                            <p:childTnLst>
                              <p:par>
                                <p:cTn id="30" presetID="18" presetClass="entr" presetSubtype="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6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32" dur="500"/>
                                        <p:tgtEl>
                                          <p:spTgt spid="1048612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2500"/>
                            </p:stCondLst>
                            <p:childTnLst>
                              <p:par>
                                <p:cTn id="34" presetID="4" presetClass="entr" presetSubtype="3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6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36" dur="500"/>
                                        <p:tgtEl>
                                          <p:spTgt spid="1048616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4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6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41" dur="500"/>
                                        <p:tgtEl>
                                          <p:spTgt spid="1048632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9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laser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6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46" dur="500"/>
                                        <p:tgtEl>
                                          <p:spTgt spid="1048627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4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500"/>
                            </p:stCondLst>
                            <p:childTnLst>
                              <p:par>
                                <p:cTn id="48" presetID="4" presetClass="entr" presetSubtype="3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6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50" dur="500"/>
                                        <p:tgtEl>
                                          <p:spTgt spid="1048625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8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6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55" dur="500"/>
                                        <p:tgtEl>
                                          <p:spTgt spid="1048624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3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6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60" dur="500"/>
                                        <p:tgtEl>
                                          <p:spTgt spid="1048633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8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laser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48616" grpId="0"/>
      <p:bldP spid="1048626" grpId="0" animBg="1"/>
      <p:bldP spid="1048627" grpId="0" animBg="1"/>
      <p:bldP spid="1048632" grpId="0" animBg="1"/>
      <p:bldP spid="1048633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0626" name="Rectangle 2"/>
          <p:cNvSpPr>
            <a:spLocks noGrp="1" noChangeArrowheads="1"/>
          </p:cNvSpPr>
          <p:nvPr>
            <p:ph type="body" idx="4294967295"/>
          </p:nvPr>
        </p:nvSpPr>
        <p:spPr>
          <a:xfrm>
            <a:off x="502942" y="158750"/>
            <a:ext cx="4922837" cy="647700"/>
          </a:xfrm>
        </p:spPr>
        <p:txBody>
          <a:bodyPr/>
          <a:lstStyle/>
          <a:p>
            <a:pPr algn="just">
              <a:buFontTx/>
              <a:buNone/>
            </a:pPr>
            <a:r>
              <a:rPr lang="en-US" altLang="zh-CN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隶书" pitchFamily="49" charset="-122"/>
                <a:ea typeface="隶书" pitchFamily="49" charset="-122"/>
              </a:rPr>
              <a:t>12.3  </a:t>
            </a:r>
            <a:r>
              <a:rPr lang="zh-CN" altLang="en-US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隶书" pitchFamily="49" charset="-122"/>
                <a:ea typeface="隶书" pitchFamily="49" charset="-122"/>
              </a:rPr>
              <a:t>文件操作概述</a:t>
            </a:r>
          </a:p>
        </p:txBody>
      </p:sp>
      <p:sp>
        <p:nvSpPr>
          <p:cNvPr id="1050633" name="Rectangle 9"/>
          <p:cNvSpPr>
            <a:spLocks noChangeArrowheads="1"/>
          </p:cNvSpPr>
          <p:nvPr/>
        </p:nvSpPr>
        <p:spPr bwMode="auto">
          <a:xfrm>
            <a:off x="690267" y="850900"/>
            <a:ext cx="2879725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>
              <a:buFont typeface="Wingdings" pitchFamily="2" charset="2"/>
              <a:buChar char="Ø"/>
            </a:pPr>
            <a:r>
              <a:rPr lang="en-US" altLang="zh-CN" b="1" dirty="0">
                <a:solidFill>
                  <a:srgbClr val="D60093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隶书" pitchFamily="49" charset="-122"/>
                <a:ea typeface="隶书" pitchFamily="49" charset="-122"/>
              </a:rPr>
              <a:t> </a:t>
            </a:r>
            <a:r>
              <a:rPr lang="zh-CN" altLang="en-US" b="1" dirty="0">
                <a:solidFill>
                  <a:srgbClr val="D60093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隶书" pitchFamily="49" charset="-122"/>
                <a:ea typeface="隶书" pitchFamily="49" charset="-122"/>
              </a:rPr>
              <a:t>读文件与写文件 </a:t>
            </a:r>
          </a:p>
        </p:txBody>
      </p:sp>
      <p:sp>
        <p:nvSpPr>
          <p:cNvPr id="1050634" name="Rectangle 10"/>
          <p:cNvSpPr>
            <a:spLocks noChangeArrowheads="1"/>
          </p:cNvSpPr>
          <p:nvPr/>
        </p:nvSpPr>
        <p:spPr bwMode="auto">
          <a:xfrm>
            <a:off x="1076028" y="1294240"/>
            <a:ext cx="8382000" cy="8309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>
            <a:spAutoFit/>
          </a:bodyPr>
          <a:lstStyle/>
          <a:p>
            <a:pPr>
              <a:buClr>
                <a:srgbClr val="339933"/>
              </a:buClr>
              <a:buFont typeface="Wingdings" pitchFamily="2" charset="2"/>
              <a:buChar char="l"/>
            </a:pPr>
            <a:r>
              <a:rPr lang="en-US" altLang="zh-CN" b="1" dirty="0">
                <a:effectLst>
                  <a:outerShdw blurRad="38100" dist="38100" dir="2700000" algn="tl">
                    <a:srgbClr val="FFFFFF"/>
                  </a:outerShdw>
                </a:effectLst>
                <a:latin typeface="+mn-lt"/>
                <a:ea typeface="楷体" pitchFamily="49" charset="-122"/>
              </a:rPr>
              <a:t> </a:t>
            </a:r>
            <a:r>
              <a:rPr lang="zh-CN" altLang="en-US" b="1" dirty="0">
                <a:effectLst>
                  <a:outerShdw blurRad="38100" dist="38100" dir="2700000" algn="tl">
                    <a:srgbClr val="FFFFFF"/>
                  </a:outerShdw>
                </a:effectLst>
                <a:latin typeface="+mn-lt"/>
                <a:ea typeface="楷体" pitchFamily="49" charset="-122"/>
              </a:rPr>
              <a:t>读文件：将磁盘文件中的数据传送到计算机内存的操作。</a:t>
            </a:r>
          </a:p>
          <a:p>
            <a:pPr>
              <a:buClr>
                <a:srgbClr val="339933"/>
              </a:buClr>
              <a:buFont typeface="Wingdings" pitchFamily="2" charset="2"/>
              <a:buChar char="l"/>
            </a:pPr>
            <a:r>
              <a:rPr lang="zh-CN" altLang="en-US" b="1" dirty="0">
                <a:effectLst>
                  <a:outerShdw blurRad="38100" dist="38100" dir="2700000" algn="tl">
                    <a:srgbClr val="FFFFFF"/>
                  </a:outerShdw>
                </a:effectLst>
                <a:latin typeface="+mn-lt"/>
                <a:ea typeface="楷体" pitchFamily="49" charset="-122"/>
              </a:rPr>
              <a:t> 写文件：从计算机内存向磁盘文件中传送数据的操作。 </a:t>
            </a:r>
          </a:p>
        </p:txBody>
      </p:sp>
      <p:sp>
        <p:nvSpPr>
          <p:cNvPr id="1050635" name="Rectangle 11"/>
          <p:cNvSpPr>
            <a:spLocks noChangeArrowheads="1"/>
          </p:cNvSpPr>
          <p:nvPr/>
        </p:nvSpPr>
        <p:spPr bwMode="auto">
          <a:xfrm>
            <a:off x="717253" y="2147888"/>
            <a:ext cx="5024438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>
              <a:buFont typeface="Wingdings" pitchFamily="2" charset="2"/>
              <a:buChar char="Ø"/>
            </a:pPr>
            <a:r>
              <a:rPr lang="en-US" altLang="zh-CN" b="1" dirty="0">
                <a:solidFill>
                  <a:srgbClr val="D60093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隶书" pitchFamily="49" charset="-122"/>
                <a:ea typeface="隶书" pitchFamily="49" charset="-122"/>
              </a:rPr>
              <a:t> </a:t>
            </a:r>
            <a:r>
              <a:rPr lang="zh-CN" altLang="en-US" b="1" dirty="0">
                <a:solidFill>
                  <a:srgbClr val="D60093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隶书" pitchFamily="49" charset="-122"/>
                <a:ea typeface="隶书" pitchFamily="49" charset="-122"/>
              </a:rPr>
              <a:t>构成文件的基本单元与流式文件 </a:t>
            </a:r>
          </a:p>
        </p:txBody>
      </p:sp>
      <p:sp>
        <p:nvSpPr>
          <p:cNvPr id="1050636" name="Rectangle 12"/>
          <p:cNvSpPr>
            <a:spLocks noChangeArrowheads="1"/>
          </p:cNvSpPr>
          <p:nvPr/>
        </p:nvSpPr>
        <p:spPr bwMode="auto">
          <a:xfrm>
            <a:off x="1033165" y="2659772"/>
            <a:ext cx="10441581" cy="267765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anchor="ctr">
            <a:spAutoFit/>
          </a:bodyPr>
          <a:lstStyle/>
          <a:p>
            <a:pPr indent="266700"/>
            <a:r>
              <a:rPr lang="en-US" altLang="zh-CN" b="1" dirty="0">
                <a:effectLst>
                  <a:outerShdw blurRad="38100" dist="38100" dir="2700000" algn="tl">
                    <a:srgbClr val="FFFFFF"/>
                  </a:outerShdw>
                </a:effectLst>
                <a:latin typeface="+mn-lt"/>
                <a:ea typeface="楷体" pitchFamily="49" charset="-122"/>
              </a:rPr>
              <a:t>     </a:t>
            </a:r>
            <a:r>
              <a:rPr lang="zh-CN" altLang="en-US" b="1" dirty="0">
                <a:effectLst>
                  <a:outerShdw blurRad="38100" dist="38100" dir="2700000" algn="tl">
                    <a:srgbClr val="FFFFFF"/>
                  </a:outerShdw>
                </a:effectLst>
                <a:latin typeface="+mn-lt"/>
                <a:ea typeface="楷体" pitchFamily="49" charset="-122"/>
              </a:rPr>
              <a:t>Ｃ语言将文件看作是由一个一个的字符（</a:t>
            </a:r>
            <a:r>
              <a:rPr lang="en-US" altLang="zh-CN" b="1" dirty="0">
                <a:effectLst>
                  <a:outerShdw blurRad="38100" dist="38100" dir="2700000" algn="tl">
                    <a:srgbClr val="FFFFFF"/>
                  </a:outerShdw>
                </a:effectLst>
                <a:latin typeface="+mn-lt"/>
                <a:ea typeface="楷体" pitchFamily="49" charset="-122"/>
              </a:rPr>
              <a:t>ASCII</a:t>
            </a:r>
            <a:r>
              <a:rPr lang="zh-CN" altLang="en-US" b="1" dirty="0">
                <a:effectLst>
                  <a:outerShdw blurRad="38100" dist="38100" dir="2700000" algn="tl">
                    <a:srgbClr val="FFFFFF"/>
                  </a:outerShdw>
                </a:effectLst>
                <a:latin typeface="+mn-lt"/>
                <a:ea typeface="楷体" pitchFamily="49" charset="-122"/>
              </a:rPr>
              <a:t>码文件）或字节（二进制文件）组成的。文件中不存在其它更复杂的数据类型和结构，对文件数据的解释完全看程序本身。我们把按这种方式处理的文件称为</a:t>
            </a:r>
            <a:r>
              <a:rPr lang="zh-CN" altLang="en-US" b="1" dirty="0">
                <a:solidFill>
                  <a:srgbClr val="FF33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楷体" pitchFamily="49" charset="-122"/>
              </a:rPr>
              <a:t>流式文件</a:t>
            </a:r>
            <a:r>
              <a:rPr lang="zh-CN" altLang="en-US" b="1" dirty="0">
                <a:effectLst>
                  <a:outerShdw blurRad="38100" dist="38100" dir="2700000" algn="tl">
                    <a:srgbClr val="FFFFFF"/>
                  </a:outerShdw>
                </a:effectLst>
                <a:latin typeface="+mn-lt"/>
                <a:ea typeface="楷体" pitchFamily="49" charset="-122"/>
              </a:rPr>
              <a:t>。而在其它高级语言中，组成文件的基本单位是记录，对文件操作的基本单位也是记录。</a:t>
            </a:r>
            <a:r>
              <a:rPr lang="en-US" altLang="zh-CN" b="1" dirty="0">
                <a:effectLst>
                  <a:outerShdw blurRad="38100" dist="38100" dir="2700000" algn="tl">
                    <a:srgbClr val="FFFFFF"/>
                  </a:outerShdw>
                </a:effectLst>
                <a:latin typeface="+mn-lt"/>
                <a:ea typeface="楷体" pitchFamily="49" charset="-122"/>
              </a:rPr>
              <a:t>C</a:t>
            </a:r>
            <a:r>
              <a:rPr lang="zh-CN" altLang="en-US" b="1" dirty="0">
                <a:effectLst>
                  <a:outerShdw blurRad="38100" dist="38100" dir="2700000" algn="tl">
                    <a:srgbClr val="FFFFFF"/>
                  </a:outerShdw>
                </a:effectLst>
                <a:latin typeface="+mn-lt"/>
                <a:ea typeface="楷体" pitchFamily="49" charset="-122"/>
              </a:rPr>
              <a:t>语言程序也可以按照操作系统的方式操作文件，本章只介绍流式文件的操作方法。</a:t>
            </a:r>
          </a:p>
          <a:p>
            <a:pPr indent="266700"/>
            <a:r>
              <a:rPr lang="zh-CN" altLang="en-US" b="1" dirty="0">
                <a:effectLst>
                  <a:outerShdw blurRad="38100" dist="38100" dir="2700000" algn="tl">
                    <a:srgbClr val="FFFFFF"/>
                  </a:outerShdw>
                </a:effectLst>
                <a:latin typeface="+mn-lt"/>
                <a:ea typeface="楷体" pitchFamily="49" charset="-122"/>
              </a:rPr>
              <a:t>     </a:t>
            </a:r>
            <a:r>
              <a:rPr lang="en-US" altLang="zh-CN" b="1" dirty="0">
                <a:solidFill>
                  <a:srgbClr val="CC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楷体" pitchFamily="49" charset="-122"/>
              </a:rPr>
              <a:t>C</a:t>
            </a:r>
            <a:r>
              <a:rPr lang="zh-CN" altLang="en-US" b="1" dirty="0">
                <a:solidFill>
                  <a:srgbClr val="CC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楷体" pitchFamily="49" charset="-122"/>
              </a:rPr>
              <a:t>语言本身没提供输入输出的功能，必须调用标准库函数进行文件读写。</a:t>
            </a:r>
          </a:p>
        </p:txBody>
      </p:sp>
      <p:grpSp>
        <p:nvGrpSpPr>
          <p:cNvPr id="1050640" name="Group 16"/>
          <p:cNvGrpSpPr>
            <a:grpSpLocks/>
          </p:cNvGrpSpPr>
          <p:nvPr/>
        </p:nvGrpSpPr>
        <p:grpSpPr bwMode="auto">
          <a:xfrm>
            <a:off x="-9822" y="0"/>
            <a:ext cx="446088" cy="6858000"/>
            <a:chOff x="0" y="0"/>
            <a:chExt cx="281" cy="4320"/>
          </a:xfrm>
        </p:grpSpPr>
        <p:sp>
          <p:nvSpPr>
            <p:cNvPr id="1050641" name="Text Box 17"/>
            <p:cNvSpPr txBox="1">
              <a:spLocks noChangeArrowheads="1"/>
            </p:cNvSpPr>
            <p:nvPr/>
          </p:nvSpPr>
          <p:spPr bwMode="auto">
            <a:xfrm>
              <a:off x="0" y="0"/>
              <a:ext cx="281" cy="4320"/>
            </a:xfrm>
            <a:prstGeom prst="rect">
              <a:avLst/>
            </a:prstGeom>
            <a:gradFill rotWithShape="0">
              <a:gsLst>
                <a:gs pos="0">
                  <a:schemeClr val="hlink">
                    <a:gamma/>
                    <a:shade val="60784"/>
                    <a:invGamma/>
                  </a:schemeClr>
                </a:gs>
                <a:gs pos="50000">
                  <a:schemeClr val="hlink"/>
                </a:gs>
                <a:gs pos="100000">
                  <a:schemeClr val="hlink">
                    <a:gamma/>
                    <a:shade val="60784"/>
                    <a:invGamma/>
                  </a:schemeClr>
                </a:gs>
              </a:gsLst>
              <a:lin ang="0" scaled="1"/>
            </a:gradFill>
            <a:ln w="9525">
              <a:noFill/>
              <a:miter lim="800000"/>
              <a:headEnd/>
              <a:tailEnd/>
            </a:ln>
            <a:effectLst/>
          </p:spPr>
          <p:txBody>
            <a:bodyPr/>
            <a:lstStyle/>
            <a:p>
              <a:pPr eaLnBrk="0" hangingPunct="0">
                <a:spcBef>
                  <a:spcPct val="50000"/>
                </a:spcBef>
              </a:pPr>
              <a:endParaRPr lang="en-US" altLang="zh-CN" sz="1800" dirty="0">
                <a:solidFill>
                  <a:srgbClr val="3333CC"/>
                </a:solidFill>
                <a:latin typeface="Verdana" pitchFamily="34" charset="0"/>
              </a:endParaRPr>
            </a:p>
            <a:p>
              <a:pPr eaLnBrk="0" hangingPunct="0">
                <a:spcBef>
                  <a:spcPct val="50000"/>
                </a:spcBef>
              </a:pPr>
              <a:r>
                <a:rPr lang="zh-CN" altLang="en-US" sz="1600" b="1" dirty="0">
                  <a:solidFill>
                    <a:srgbClr val="3333CC"/>
                  </a:solidFill>
                  <a:latin typeface="Verdana" pitchFamily="34" charset="0"/>
                </a:rPr>
                <a:t>语言程序设计教程       </a:t>
              </a:r>
            </a:p>
            <a:p>
              <a:pPr eaLnBrk="0" hangingPunct="0">
                <a:spcBef>
                  <a:spcPct val="50000"/>
                </a:spcBef>
              </a:pPr>
              <a:r>
                <a:rPr lang="zh-CN" altLang="en-US" sz="1600" b="1" dirty="0">
                  <a:solidFill>
                    <a:srgbClr val="3333CC"/>
                  </a:solidFill>
                  <a:latin typeface="Verdana" pitchFamily="34" charset="0"/>
                </a:rPr>
                <a:t>第三版</a:t>
              </a:r>
            </a:p>
            <a:p>
              <a:pPr eaLnBrk="0" hangingPunct="0">
                <a:spcBef>
                  <a:spcPct val="50000"/>
                </a:spcBef>
              </a:pPr>
              <a:endParaRPr lang="zh-CN" altLang="en-US" sz="1600" b="1" dirty="0">
                <a:solidFill>
                  <a:srgbClr val="3333CC"/>
                </a:solidFill>
                <a:latin typeface="Verdana" pitchFamily="34" charset="0"/>
              </a:endParaRPr>
            </a:p>
            <a:p>
              <a:pPr eaLnBrk="0" hangingPunct="0">
                <a:spcBef>
                  <a:spcPct val="50000"/>
                </a:spcBef>
              </a:pPr>
              <a:endParaRPr lang="zh-CN" altLang="en-US" sz="1600" b="1" dirty="0">
                <a:solidFill>
                  <a:srgbClr val="3333CC"/>
                </a:solidFill>
                <a:latin typeface="Verdana" pitchFamily="34" charset="0"/>
              </a:endParaRPr>
            </a:p>
            <a:p>
              <a:pPr eaLnBrk="0" hangingPunct="0">
                <a:spcBef>
                  <a:spcPct val="50000"/>
                </a:spcBef>
              </a:pPr>
              <a:r>
                <a:rPr lang="zh-CN" altLang="en-US" sz="1600" b="1" dirty="0">
                  <a:solidFill>
                    <a:srgbClr val="3333CC"/>
                  </a:solidFill>
                  <a:latin typeface="Verdana" pitchFamily="34" charset="0"/>
                </a:rPr>
                <a:t>第十</a:t>
              </a:r>
            </a:p>
            <a:p>
              <a:pPr eaLnBrk="0" hangingPunct="0">
                <a:spcBef>
                  <a:spcPct val="50000"/>
                </a:spcBef>
              </a:pPr>
              <a:r>
                <a:rPr lang="zh-CN" altLang="en-US" sz="1600" b="1" dirty="0">
                  <a:solidFill>
                    <a:srgbClr val="3333CC"/>
                  </a:solidFill>
                  <a:latin typeface="Verdana" pitchFamily="34" charset="0"/>
                </a:rPr>
                <a:t>二章 </a:t>
              </a:r>
            </a:p>
            <a:p>
              <a:pPr eaLnBrk="0" hangingPunct="0">
                <a:spcBef>
                  <a:spcPct val="50000"/>
                </a:spcBef>
              </a:pPr>
              <a:endParaRPr lang="zh-CN" altLang="en-US" sz="1600" b="1" dirty="0">
                <a:solidFill>
                  <a:srgbClr val="3333CC"/>
                </a:solidFill>
                <a:latin typeface="Verdana" pitchFamily="34" charset="0"/>
              </a:endParaRPr>
            </a:p>
            <a:p>
              <a:pPr eaLnBrk="0" hangingPunct="0">
                <a:spcBef>
                  <a:spcPct val="50000"/>
                </a:spcBef>
              </a:pPr>
              <a:r>
                <a:rPr lang="zh-CN" altLang="en-US" sz="1600" b="1" dirty="0">
                  <a:solidFill>
                    <a:srgbClr val="3333CC"/>
                  </a:solidFill>
                  <a:latin typeface="Verdana" pitchFamily="34" charset="0"/>
                </a:rPr>
                <a:t>文</a:t>
              </a:r>
            </a:p>
            <a:p>
              <a:pPr eaLnBrk="0" hangingPunct="0">
                <a:spcBef>
                  <a:spcPct val="50000"/>
                </a:spcBef>
              </a:pPr>
              <a:endParaRPr lang="zh-CN" altLang="en-US" sz="1600" b="1" dirty="0">
                <a:solidFill>
                  <a:srgbClr val="3333CC"/>
                </a:solidFill>
                <a:latin typeface="Verdana" pitchFamily="34" charset="0"/>
              </a:endParaRPr>
            </a:p>
            <a:p>
              <a:pPr eaLnBrk="0" hangingPunct="0">
                <a:spcBef>
                  <a:spcPct val="50000"/>
                </a:spcBef>
              </a:pPr>
              <a:r>
                <a:rPr lang="zh-CN" altLang="en-US" sz="1600" b="1" dirty="0">
                  <a:solidFill>
                    <a:srgbClr val="3333CC"/>
                  </a:solidFill>
                  <a:latin typeface="Verdana" pitchFamily="34" charset="0"/>
                </a:rPr>
                <a:t>件</a:t>
              </a:r>
            </a:p>
          </p:txBody>
        </p:sp>
        <p:sp>
          <p:nvSpPr>
            <p:cNvPr id="1050642" name="Text Box 18"/>
            <p:cNvSpPr txBox="1">
              <a:spLocks noChangeArrowheads="1"/>
            </p:cNvSpPr>
            <p:nvPr/>
          </p:nvSpPr>
          <p:spPr bwMode="auto">
            <a:xfrm>
              <a:off x="0" y="0"/>
              <a:ext cx="281" cy="231"/>
            </a:xfrm>
            <a:prstGeom prst="rect">
              <a:avLst/>
            </a:prstGeom>
            <a:gradFill rotWithShape="0">
              <a:gsLst>
                <a:gs pos="0">
                  <a:schemeClr val="hlink">
                    <a:gamma/>
                    <a:shade val="46275"/>
                    <a:invGamma/>
                  </a:schemeClr>
                </a:gs>
                <a:gs pos="50000">
                  <a:schemeClr val="hlink"/>
                </a:gs>
                <a:gs pos="100000">
                  <a:schemeClr val="hlink">
                    <a:gamma/>
                    <a:shade val="46275"/>
                    <a:invGamma/>
                  </a:schemeClr>
                </a:gs>
              </a:gsLst>
              <a:lin ang="0" scaled="1"/>
            </a:gradFill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eaLnBrk="0" hangingPunct="0">
                <a:spcBef>
                  <a:spcPct val="50000"/>
                </a:spcBef>
              </a:pPr>
              <a:r>
                <a:rPr lang="en-US" altLang="zh-CN" sz="1800" b="1">
                  <a:solidFill>
                    <a:srgbClr val="0000FF"/>
                  </a:solidFill>
                  <a:latin typeface="Arial" pitchFamily="34" charset="0"/>
                </a:rPr>
                <a:t>C</a:t>
              </a:r>
            </a:p>
          </p:txBody>
        </p:sp>
      </p:grpSp>
    </p:spTree>
  </p:cSld>
  <p:clrMapOvr>
    <a:masterClrMapping/>
  </p:clrMapOvr>
  <p:transition>
    <p:cover/>
    <p:sndAc>
      <p:stSnd>
        <p:snd r:embed="rId3" name="CAMER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06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0506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0506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06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0506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0506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063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05063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05063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7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06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0506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0506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3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06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31" dur="2000"/>
                                        <p:tgtEl>
                                          <p:spTgt spid="10506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9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32" presetID="8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063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34" dur="2000"/>
                                        <p:tgtEl>
                                          <p:spTgt spid="105063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2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50633" grpId="0"/>
      <p:bldP spid="1050635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3698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458658" y="227014"/>
            <a:ext cx="2594105" cy="473075"/>
          </a:xfrm>
        </p:spPr>
        <p:txBody>
          <a:bodyPr/>
          <a:lstStyle/>
          <a:p>
            <a:pPr>
              <a:buFont typeface="Wingdings" pitchFamily="2" charset="2"/>
              <a:buChar char="Ø"/>
            </a:pPr>
            <a:r>
              <a:rPr lang="zh-CN" altLang="zh-CN" sz="2400" dirty="0">
                <a:solidFill>
                  <a:srgbClr val="D60093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隶书" pitchFamily="49" charset="-122"/>
              </a:rPr>
              <a:t>文件处理方法</a:t>
            </a:r>
          </a:p>
        </p:txBody>
      </p:sp>
      <p:grpSp>
        <p:nvGrpSpPr>
          <p:cNvPr id="1053736" name="Group 40"/>
          <p:cNvGrpSpPr>
            <a:grpSpLocks/>
          </p:cNvGrpSpPr>
          <p:nvPr/>
        </p:nvGrpSpPr>
        <p:grpSpPr bwMode="auto">
          <a:xfrm>
            <a:off x="5813920" y="541784"/>
            <a:ext cx="5754688" cy="2743200"/>
            <a:chOff x="1701" y="1616"/>
            <a:chExt cx="3625" cy="1728"/>
          </a:xfrm>
        </p:grpSpPr>
        <p:grpSp>
          <p:nvGrpSpPr>
            <p:cNvPr id="1053700" name="Group 4"/>
            <p:cNvGrpSpPr>
              <a:grpSpLocks/>
            </p:cNvGrpSpPr>
            <p:nvPr/>
          </p:nvGrpSpPr>
          <p:grpSpPr bwMode="auto">
            <a:xfrm>
              <a:off x="1701" y="1616"/>
              <a:ext cx="3625" cy="1728"/>
              <a:chOff x="1728" y="1344"/>
              <a:chExt cx="3625" cy="1728"/>
            </a:xfrm>
          </p:grpSpPr>
          <p:sp>
            <p:nvSpPr>
              <p:cNvPr id="1053701" name="Rectangle 5"/>
              <p:cNvSpPr>
                <a:spLocks noChangeArrowheads="1"/>
              </p:cNvSpPr>
              <p:nvPr/>
            </p:nvSpPr>
            <p:spPr bwMode="auto">
              <a:xfrm>
                <a:off x="1728" y="1344"/>
                <a:ext cx="2400" cy="1728"/>
              </a:xfrm>
              <a:prstGeom prst="rect">
                <a:avLst/>
              </a:prstGeom>
              <a:gradFill rotWithShape="1">
                <a:gsLst>
                  <a:gs pos="0">
                    <a:srgbClr val="00FFFF"/>
                  </a:gs>
                  <a:gs pos="100000">
                    <a:schemeClr val="bg1"/>
                  </a:gs>
                </a:gsLst>
                <a:lin ang="5400000" scaled="1"/>
              </a:gradFill>
              <a:ln w="28575">
                <a:solidFill>
                  <a:srgbClr val="FF00FF"/>
                </a:solidFill>
                <a:miter lim="800000"/>
                <a:headEnd/>
                <a:tailEnd/>
              </a:ln>
              <a:effectLst>
                <a:outerShdw blurRad="50800" dist="106680" dir="2700000" algn="tl" rotWithShape="0">
                  <a:prstClr val="black">
                    <a:alpha val="43000"/>
                  </a:prstClr>
                </a:outerShdw>
              </a:effectLst>
              <a:scene3d>
                <a:camera prst="orthographicFront"/>
                <a:lightRig rig="threePt" dir="t"/>
              </a:scene3d>
              <a:sp3d>
                <a:bevelT w="114300" prst="hardEdge"/>
              </a:sp3d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053702" name="Rectangle 6"/>
              <p:cNvSpPr>
                <a:spLocks noChangeArrowheads="1"/>
              </p:cNvSpPr>
              <p:nvPr/>
            </p:nvSpPr>
            <p:spPr bwMode="auto">
              <a:xfrm>
                <a:off x="1968" y="2160"/>
                <a:ext cx="672" cy="768"/>
              </a:xfrm>
              <a:prstGeom prst="rect">
                <a:avLst/>
              </a:prstGeom>
              <a:gradFill rotWithShape="1">
                <a:gsLst>
                  <a:gs pos="0">
                    <a:srgbClr val="FFFF99"/>
                  </a:gs>
                  <a:gs pos="100000">
                    <a:schemeClr val="bg1"/>
                  </a:gs>
                </a:gsLst>
                <a:lin ang="5400000" scaled="1"/>
              </a:gra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>
                <a:outerShdw dist="35921" dir="2700000" algn="ctr" rotWithShape="0">
                  <a:schemeClr val="bg2"/>
                </a:outerShdw>
              </a:effec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053703" name="Line 7"/>
              <p:cNvSpPr>
                <a:spLocks noChangeShapeType="1"/>
              </p:cNvSpPr>
              <p:nvPr/>
            </p:nvSpPr>
            <p:spPr bwMode="auto">
              <a:xfrm>
                <a:off x="2304" y="2160"/>
                <a:ext cx="0" cy="24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053704" name="Line 8"/>
              <p:cNvSpPr>
                <a:spLocks noChangeShapeType="1"/>
              </p:cNvSpPr>
              <p:nvPr/>
            </p:nvSpPr>
            <p:spPr bwMode="auto">
              <a:xfrm>
                <a:off x="2304" y="2400"/>
                <a:ext cx="336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053705" name="Rectangle 9"/>
              <p:cNvSpPr>
                <a:spLocks noChangeArrowheads="1"/>
              </p:cNvSpPr>
              <p:nvPr/>
            </p:nvSpPr>
            <p:spPr bwMode="auto">
              <a:xfrm>
                <a:off x="2976" y="1632"/>
                <a:ext cx="1008" cy="336"/>
              </a:xfrm>
              <a:prstGeom prst="rect">
                <a:avLst/>
              </a:prstGeom>
              <a:gradFill rotWithShape="1">
                <a:gsLst>
                  <a:gs pos="0">
                    <a:srgbClr val="FFCC99"/>
                  </a:gs>
                  <a:gs pos="100000">
                    <a:schemeClr val="bg1"/>
                  </a:gs>
                </a:gsLst>
                <a:lin ang="5400000" scaled="1"/>
              </a:gra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>
                <a:outerShdw dist="35921" dir="2700000" algn="ctr" rotWithShape="0">
                  <a:schemeClr val="bg2"/>
                </a:outerShdw>
              </a:effec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053706" name="Rectangle 10"/>
              <p:cNvSpPr>
                <a:spLocks noChangeArrowheads="1"/>
              </p:cNvSpPr>
              <p:nvPr/>
            </p:nvSpPr>
            <p:spPr bwMode="auto">
              <a:xfrm>
                <a:off x="2976" y="2400"/>
                <a:ext cx="1008" cy="336"/>
              </a:xfrm>
              <a:prstGeom prst="rect">
                <a:avLst/>
              </a:prstGeom>
              <a:gradFill rotWithShape="1">
                <a:gsLst>
                  <a:gs pos="0">
                    <a:srgbClr val="FF99CC"/>
                  </a:gs>
                  <a:gs pos="100000">
                    <a:schemeClr val="bg1"/>
                  </a:gs>
                </a:gsLst>
                <a:lin ang="5400000" scaled="1"/>
              </a:gra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>
                <a:outerShdw dist="35921" dir="2700000" algn="ctr" rotWithShape="0">
                  <a:schemeClr val="bg2"/>
                </a:outerShdw>
              </a:effec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053707" name="Oval 11"/>
              <p:cNvSpPr>
                <a:spLocks noChangeArrowheads="1"/>
              </p:cNvSpPr>
              <p:nvPr/>
            </p:nvSpPr>
            <p:spPr bwMode="auto">
              <a:xfrm>
                <a:off x="4593" y="1968"/>
                <a:ext cx="721" cy="672"/>
              </a:xfrm>
              <a:prstGeom prst="ellipse">
                <a:avLst/>
              </a:prstGeom>
              <a:gradFill rotWithShape="1">
                <a:gsLst>
                  <a:gs pos="0">
                    <a:srgbClr val="CCFFFF"/>
                  </a:gs>
                  <a:gs pos="100000">
                    <a:schemeClr val="bg1"/>
                  </a:gs>
                </a:gsLst>
                <a:lin ang="540000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  <a:effectLst>
                <a:outerShdw blurRad="50800" dist="106680" dir="2700000" algn="tl" rotWithShape="0">
                  <a:prstClr val="black">
                    <a:alpha val="43000"/>
                  </a:prstClr>
                </a:outerShdw>
              </a:effec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053708" name="Text Box 12"/>
              <p:cNvSpPr txBox="1">
                <a:spLocks noChangeArrowheads="1"/>
              </p:cNvSpPr>
              <p:nvPr/>
            </p:nvSpPr>
            <p:spPr bwMode="auto">
              <a:xfrm>
                <a:off x="4593" y="1680"/>
                <a:ext cx="760" cy="25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>
                <a:spAutoFit/>
              </a:bodyPr>
              <a:lstStyle/>
              <a:p>
                <a:r>
                  <a:rPr lang="zh-CN" altLang="en-US" sz="2000" b="1" dirty="0">
                    <a:effectLst>
                      <a:outerShdw blurRad="38100" dist="38100" dir="2700000" algn="tl">
                        <a:srgbClr val="FFFFFF"/>
                      </a:outerShdw>
                    </a:effectLst>
                    <a:ea typeface="隶书" pitchFamily="49" charset="-122"/>
                  </a:rPr>
                  <a:t>磁盘文件</a:t>
                </a:r>
              </a:p>
            </p:txBody>
          </p:sp>
          <p:sp>
            <p:nvSpPr>
              <p:cNvPr id="1053709" name="Text Box 13"/>
              <p:cNvSpPr txBox="1">
                <a:spLocks noChangeArrowheads="1"/>
              </p:cNvSpPr>
              <p:nvPr/>
            </p:nvSpPr>
            <p:spPr bwMode="auto">
              <a:xfrm>
                <a:off x="2832" y="2736"/>
                <a:ext cx="1243" cy="25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>
                <a:spAutoFit/>
              </a:bodyPr>
              <a:lstStyle/>
              <a:p>
                <a:r>
                  <a:rPr lang="zh-CN" altLang="en-US" sz="2000" b="1">
                    <a:effectLst>
                      <a:outerShdw blurRad="38100" dist="38100" dir="2700000" algn="tl">
                        <a:srgbClr val="FFFFFF"/>
                      </a:outerShdw>
                    </a:effectLst>
                    <a:ea typeface="隶书" pitchFamily="49" charset="-122"/>
                  </a:rPr>
                  <a:t>输出文件缓冲区</a:t>
                </a:r>
              </a:p>
            </p:txBody>
          </p:sp>
          <p:sp>
            <p:nvSpPr>
              <p:cNvPr id="1053710" name="Text Box 14"/>
              <p:cNvSpPr txBox="1">
                <a:spLocks noChangeArrowheads="1"/>
              </p:cNvSpPr>
              <p:nvPr/>
            </p:nvSpPr>
            <p:spPr bwMode="auto">
              <a:xfrm>
                <a:off x="2832" y="1392"/>
                <a:ext cx="1243" cy="25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>
                <a:spAutoFit/>
              </a:bodyPr>
              <a:lstStyle/>
              <a:p>
                <a:r>
                  <a:rPr lang="zh-CN" altLang="en-US" sz="2000" b="1">
                    <a:effectLst>
                      <a:outerShdw blurRad="38100" dist="38100" dir="2700000" algn="tl">
                        <a:srgbClr val="FFFFFF"/>
                      </a:outerShdw>
                    </a:effectLst>
                    <a:ea typeface="隶书" pitchFamily="49" charset="-122"/>
                  </a:rPr>
                  <a:t>输入文件缓冲区</a:t>
                </a:r>
              </a:p>
            </p:txBody>
          </p:sp>
          <p:sp>
            <p:nvSpPr>
              <p:cNvPr id="1053711" name="Text Box 15"/>
              <p:cNvSpPr txBox="1">
                <a:spLocks noChangeArrowheads="1"/>
              </p:cNvSpPr>
              <p:nvPr/>
            </p:nvSpPr>
            <p:spPr bwMode="auto">
              <a:xfrm>
                <a:off x="1824" y="1920"/>
                <a:ext cx="921" cy="25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>
                <a:spAutoFit/>
              </a:bodyPr>
              <a:lstStyle/>
              <a:p>
                <a:r>
                  <a:rPr lang="zh-CN" altLang="en-US" sz="2000" b="1">
                    <a:effectLst>
                      <a:outerShdw blurRad="38100" dist="38100" dir="2700000" algn="tl">
                        <a:srgbClr val="FFFFFF"/>
                      </a:outerShdw>
                    </a:effectLst>
                    <a:ea typeface="隶书" pitchFamily="49" charset="-122"/>
                  </a:rPr>
                  <a:t>程序数据区</a:t>
                </a:r>
              </a:p>
            </p:txBody>
          </p:sp>
          <p:sp>
            <p:nvSpPr>
              <p:cNvPr id="1053712" name="Text Box 16"/>
              <p:cNvSpPr txBox="1">
                <a:spLocks noChangeArrowheads="1"/>
              </p:cNvSpPr>
              <p:nvPr/>
            </p:nvSpPr>
            <p:spPr bwMode="auto">
              <a:xfrm>
                <a:off x="2400" y="2160"/>
                <a:ext cx="187" cy="25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>
                <a:spAutoFit/>
              </a:bodyPr>
              <a:lstStyle/>
              <a:p>
                <a:r>
                  <a:rPr lang="en-US" altLang="zh-CN" sz="2000"/>
                  <a:t>a</a:t>
                </a:r>
              </a:p>
            </p:txBody>
          </p:sp>
          <p:sp>
            <p:nvSpPr>
              <p:cNvPr id="1053713" name="Line 17"/>
              <p:cNvSpPr>
                <a:spLocks noChangeShapeType="1"/>
              </p:cNvSpPr>
              <p:nvPr/>
            </p:nvSpPr>
            <p:spPr bwMode="auto">
              <a:xfrm flipH="1">
                <a:off x="2640" y="1824"/>
                <a:ext cx="336" cy="336"/>
              </a:xfrm>
              <a:prstGeom prst="line">
                <a:avLst/>
              </a:prstGeom>
              <a:noFill/>
              <a:ln w="28575">
                <a:solidFill>
                  <a:srgbClr val="FF0000"/>
                </a:solidFill>
                <a:round/>
                <a:headEnd/>
                <a:tailEnd type="stealth" w="lg" len="lg"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053714" name="Line 18"/>
              <p:cNvSpPr>
                <a:spLocks noChangeShapeType="1"/>
              </p:cNvSpPr>
              <p:nvPr/>
            </p:nvSpPr>
            <p:spPr bwMode="auto">
              <a:xfrm>
                <a:off x="2640" y="2256"/>
                <a:ext cx="336" cy="288"/>
              </a:xfrm>
              <a:prstGeom prst="line">
                <a:avLst/>
              </a:prstGeom>
              <a:noFill/>
              <a:ln w="28575">
                <a:solidFill>
                  <a:srgbClr val="0000FF"/>
                </a:solidFill>
                <a:round/>
                <a:headEnd/>
                <a:tailEnd type="stealth" w="lg" len="lg"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053715" name="Line 19"/>
              <p:cNvSpPr>
                <a:spLocks noChangeShapeType="1"/>
              </p:cNvSpPr>
              <p:nvPr/>
            </p:nvSpPr>
            <p:spPr bwMode="auto">
              <a:xfrm flipH="1" flipV="1">
                <a:off x="3984" y="1776"/>
                <a:ext cx="708" cy="298"/>
              </a:xfrm>
              <a:prstGeom prst="line">
                <a:avLst/>
              </a:prstGeom>
              <a:noFill/>
              <a:ln w="28575">
                <a:solidFill>
                  <a:srgbClr val="FF0000"/>
                </a:solidFill>
                <a:round/>
                <a:headEnd/>
                <a:tailEnd type="stealth" w="lg" len="lg"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053716" name="Line 20"/>
              <p:cNvSpPr>
                <a:spLocks noChangeShapeType="1"/>
              </p:cNvSpPr>
              <p:nvPr/>
            </p:nvSpPr>
            <p:spPr bwMode="auto">
              <a:xfrm flipV="1">
                <a:off x="3984" y="2451"/>
                <a:ext cx="632" cy="141"/>
              </a:xfrm>
              <a:prstGeom prst="line">
                <a:avLst/>
              </a:prstGeom>
              <a:noFill/>
              <a:ln w="28575">
                <a:solidFill>
                  <a:srgbClr val="0000FF"/>
                </a:solidFill>
                <a:round/>
                <a:headEnd/>
                <a:tailEnd type="stealth" w="lg" len="lg"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pic>
          <p:nvPicPr>
            <p:cNvPr id="1053735" name="Picture 39" descr="saVE"/>
            <p:cNvPicPr>
              <a:picLocks noChangeAspect="1" noChangeArrowheads="1"/>
            </p:cNvPicPr>
            <p:nvPr/>
          </p:nvPicPr>
          <p:blipFill>
            <a:blip r:embed="rId4" cstate="print"/>
            <a:srcRect/>
            <a:stretch>
              <a:fillRect/>
            </a:stretch>
          </p:blipFill>
          <p:spPr bwMode="auto">
            <a:xfrm>
              <a:off x="4719" y="2387"/>
              <a:ext cx="380" cy="358"/>
            </a:xfrm>
            <a:prstGeom prst="rect">
              <a:avLst/>
            </a:prstGeom>
            <a:noFill/>
          </p:spPr>
        </p:pic>
      </p:grpSp>
      <p:grpSp>
        <p:nvGrpSpPr>
          <p:cNvPr id="1053737" name="Group 41"/>
          <p:cNvGrpSpPr>
            <a:grpSpLocks/>
          </p:cNvGrpSpPr>
          <p:nvPr/>
        </p:nvGrpSpPr>
        <p:grpSpPr bwMode="auto">
          <a:xfrm>
            <a:off x="5842258" y="3474169"/>
            <a:ext cx="4340225" cy="3051175"/>
            <a:chOff x="2072" y="1637"/>
            <a:chExt cx="2734" cy="1922"/>
          </a:xfrm>
        </p:grpSpPr>
        <p:sp>
          <p:nvSpPr>
            <p:cNvPr id="1053738" name="Rectangle 42"/>
            <p:cNvSpPr>
              <a:spLocks noChangeArrowheads="1"/>
            </p:cNvSpPr>
            <p:nvPr/>
          </p:nvSpPr>
          <p:spPr bwMode="auto">
            <a:xfrm>
              <a:off x="2072" y="1927"/>
              <a:ext cx="1444" cy="1632"/>
            </a:xfrm>
            <a:prstGeom prst="rect">
              <a:avLst/>
            </a:prstGeom>
            <a:gradFill rotWithShape="1">
              <a:gsLst>
                <a:gs pos="0">
                  <a:srgbClr val="00FFFF"/>
                </a:gs>
                <a:gs pos="100000">
                  <a:schemeClr val="bg1"/>
                </a:gs>
              </a:gsLst>
              <a:lin ang="5400000" scaled="1"/>
            </a:gradFill>
            <a:ln w="28575">
              <a:solidFill>
                <a:srgbClr val="FF00FF"/>
              </a:solidFill>
              <a:miter lim="800000"/>
              <a:headEnd/>
              <a:tailEnd/>
            </a:ln>
            <a:effectLst>
              <a:outerShdw blurRad="50800" dist="106680" dir="2700000" algn="tl" rotWithShape="0">
                <a:prstClr val="black">
                  <a:alpha val="43000"/>
                </a:prstClr>
              </a:outerShdw>
            </a:effectLst>
            <a:scene3d>
              <a:camera prst="orthographicFront"/>
              <a:lightRig rig="threePt" dir="t"/>
            </a:scene3d>
            <a:sp3d>
              <a:bevelT w="114300" prst="hardEdge"/>
            </a:sp3d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53739" name="Oval 43"/>
            <p:cNvSpPr>
              <a:spLocks noChangeArrowheads="1"/>
            </p:cNvSpPr>
            <p:nvPr/>
          </p:nvSpPr>
          <p:spPr bwMode="auto">
            <a:xfrm>
              <a:off x="4078" y="2539"/>
              <a:ext cx="728" cy="636"/>
            </a:xfrm>
            <a:prstGeom prst="ellipse">
              <a:avLst/>
            </a:prstGeom>
            <a:gradFill rotWithShape="1">
              <a:gsLst>
                <a:gs pos="0">
                  <a:srgbClr val="FF99CC"/>
                </a:gs>
                <a:gs pos="100000">
                  <a:schemeClr val="bg1"/>
                </a:gs>
              </a:gsLst>
              <a:lin ang="5400000" scaled="1"/>
            </a:gradFill>
            <a:ln w="19050">
              <a:solidFill>
                <a:schemeClr val="tx1"/>
              </a:solidFill>
              <a:round/>
              <a:headEnd/>
              <a:tailEnd/>
            </a:ln>
            <a:effectLst>
              <a:outerShdw blurRad="50800" dist="106680" dir="2700000" algn="tl" rotWithShape="0">
                <a:prstClr val="black">
                  <a:alpha val="43000"/>
                </a:prstClr>
              </a:outerShdw>
            </a:effec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53740" name="Rectangle 44"/>
            <p:cNvSpPr>
              <a:spLocks noChangeArrowheads="1"/>
            </p:cNvSpPr>
            <p:nvPr/>
          </p:nvSpPr>
          <p:spPr bwMode="auto">
            <a:xfrm>
              <a:off x="2216" y="3175"/>
              <a:ext cx="1101" cy="240"/>
            </a:xfrm>
            <a:prstGeom prst="rect">
              <a:avLst/>
            </a:prstGeom>
            <a:gradFill rotWithShape="1">
              <a:gsLst>
                <a:gs pos="0">
                  <a:srgbClr val="FFCC99"/>
                </a:gs>
                <a:gs pos="100000">
                  <a:schemeClr val="bg1"/>
                </a:gs>
              </a:gsLst>
              <a:lin ang="5400000" scaled="1"/>
            </a:gradFill>
            <a:ln w="28575" cap="rnd">
              <a:solidFill>
                <a:srgbClr val="008000"/>
              </a:solidFill>
              <a:prstDash val="sysDot"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53741" name="Text Box 45"/>
            <p:cNvSpPr txBox="1">
              <a:spLocks noChangeArrowheads="1"/>
            </p:cNvSpPr>
            <p:nvPr/>
          </p:nvSpPr>
          <p:spPr bwMode="auto">
            <a:xfrm>
              <a:off x="2505" y="3154"/>
              <a:ext cx="599" cy="2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zh-CN" altLang="en-US" sz="2000" b="1" dirty="0">
                  <a:effectLst>
                    <a:outerShdw blurRad="38100" dist="38100" dir="2700000" algn="tl">
                      <a:srgbClr val="FFFFFF"/>
                    </a:outerShdw>
                  </a:effectLst>
                  <a:ea typeface="隶书" pitchFamily="49" charset="-122"/>
                </a:rPr>
                <a:t>缓冲区</a:t>
              </a:r>
            </a:p>
          </p:txBody>
        </p:sp>
        <p:sp>
          <p:nvSpPr>
            <p:cNvPr id="1053742" name="Text Box 46"/>
            <p:cNvSpPr txBox="1">
              <a:spLocks noChangeArrowheads="1"/>
            </p:cNvSpPr>
            <p:nvPr/>
          </p:nvSpPr>
          <p:spPr bwMode="auto">
            <a:xfrm>
              <a:off x="2478" y="2071"/>
              <a:ext cx="599" cy="2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zh-CN" altLang="en-US" sz="2000" b="1" dirty="0">
                  <a:effectLst>
                    <a:outerShdw blurRad="38100" dist="38100" dir="2700000" algn="tl">
                      <a:srgbClr val="FFFFFF"/>
                    </a:outerShdw>
                  </a:effectLst>
                  <a:ea typeface="隶书" pitchFamily="49" charset="-122"/>
                </a:rPr>
                <a:t>指令区</a:t>
              </a:r>
            </a:p>
          </p:txBody>
        </p:sp>
        <p:sp>
          <p:nvSpPr>
            <p:cNvPr id="1053743" name="Text Box 47"/>
            <p:cNvSpPr txBox="1">
              <a:spLocks noChangeArrowheads="1"/>
            </p:cNvSpPr>
            <p:nvPr/>
          </p:nvSpPr>
          <p:spPr bwMode="auto">
            <a:xfrm>
              <a:off x="2446" y="1637"/>
              <a:ext cx="438" cy="2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zh-CN" altLang="en-US" sz="2000" b="1">
                  <a:solidFill>
                    <a:srgbClr val="D60093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ea typeface="隶书" pitchFamily="49" charset="-122"/>
                </a:rPr>
                <a:t>程序</a:t>
              </a:r>
            </a:p>
          </p:txBody>
        </p:sp>
        <p:sp>
          <p:nvSpPr>
            <p:cNvPr id="1053744" name="Text Box 48"/>
            <p:cNvSpPr txBox="1">
              <a:spLocks noChangeArrowheads="1"/>
            </p:cNvSpPr>
            <p:nvPr/>
          </p:nvSpPr>
          <p:spPr bwMode="auto">
            <a:xfrm>
              <a:off x="2323" y="2501"/>
              <a:ext cx="921" cy="2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zh-CN" altLang="en-US" sz="2000" b="1" dirty="0">
                  <a:effectLst>
                    <a:outerShdw blurRad="38100" dist="38100" dir="2700000" algn="tl">
                      <a:srgbClr val="FFFFFF"/>
                    </a:outerShdw>
                  </a:effectLst>
                  <a:ea typeface="隶书" pitchFamily="49" charset="-122"/>
                </a:rPr>
                <a:t>用户数据区</a:t>
              </a:r>
            </a:p>
          </p:txBody>
        </p:sp>
        <p:sp>
          <p:nvSpPr>
            <p:cNvPr id="1053745" name="AutoShape 49"/>
            <p:cNvSpPr>
              <a:spLocks noChangeArrowheads="1"/>
            </p:cNvSpPr>
            <p:nvPr/>
          </p:nvSpPr>
          <p:spPr bwMode="auto">
            <a:xfrm rot="20437335">
              <a:off x="3132" y="3089"/>
              <a:ext cx="976" cy="123"/>
            </a:xfrm>
            <a:prstGeom prst="leftRightArrow">
              <a:avLst>
                <a:gd name="adj1" fmla="val 50000"/>
                <a:gd name="adj2" fmla="val 245361"/>
              </a:avLst>
            </a:prstGeom>
            <a:gradFill rotWithShape="1">
              <a:gsLst>
                <a:gs pos="0">
                  <a:srgbClr val="00FFFF"/>
                </a:gs>
                <a:gs pos="100000">
                  <a:srgbClr val="00FFFF">
                    <a:gamma/>
                    <a:shade val="46275"/>
                    <a:invGamma/>
                  </a:srgbClr>
                </a:gs>
              </a:gsLst>
              <a:lin ang="5400000" scaled="1"/>
            </a:gradFill>
            <a:ln w="9525">
              <a:solidFill>
                <a:schemeClr val="tx1"/>
              </a:solidFill>
              <a:miter lim="800000"/>
              <a:headEnd/>
              <a:tailEnd/>
            </a:ln>
            <a:effectLst>
              <a:outerShdw dist="107763" dir="2700000" algn="ctr" rotWithShape="0">
                <a:schemeClr val="bg2">
                  <a:alpha val="50000"/>
                </a:schemeClr>
              </a:outerShdw>
            </a:effectLst>
          </p:spPr>
          <p:txBody>
            <a:bodyPr wrap="none" anchor="ctr"/>
            <a:lstStyle/>
            <a:p>
              <a:endParaRPr lang="zh-CN" altLang="en-US"/>
            </a:p>
          </p:txBody>
        </p:sp>
        <p:pic>
          <p:nvPicPr>
            <p:cNvPr id="1053747" name="Picture 51" descr="saVE"/>
            <p:cNvPicPr>
              <a:picLocks noChangeAspect="1" noChangeArrowheads="1"/>
            </p:cNvPicPr>
            <p:nvPr/>
          </p:nvPicPr>
          <p:blipFill>
            <a:blip r:embed="rId4" cstate="print"/>
            <a:srcRect/>
            <a:stretch>
              <a:fillRect/>
            </a:stretch>
          </p:blipFill>
          <p:spPr bwMode="auto">
            <a:xfrm>
              <a:off x="4290" y="2729"/>
              <a:ext cx="317" cy="255"/>
            </a:xfrm>
            <a:prstGeom prst="rect">
              <a:avLst/>
            </a:prstGeom>
            <a:noFill/>
          </p:spPr>
        </p:pic>
      </p:grpSp>
      <p:grpSp>
        <p:nvGrpSpPr>
          <p:cNvPr id="1053748" name="Group 52"/>
          <p:cNvGrpSpPr>
            <a:grpSpLocks/>
          </p:cNvGrpSpPr>
          <p:nvPr/>
        </p:nvGrpSpPr>
        <p:grpSpPr bwMode="auto">
          <a:xfrm>
            <a:off x="-12832" y="0"/>
            <a:ext cx="446088" cy="6858000"/>
            <a:chOff x="0" y="0"/>
            <a:chExt cx="281" cy="4320"/>
          </a:xfrm>
        </p:grpSpPr>
        <p:sp>
          <p:nvSpPr>
            <p:cNvPr id="1053749" name="Text Box 53"/>
            <p:cNvSpPr txBox="1">
              <a:spLocks noChangeArrowheads="1"/>
            </p:cNvSpPr>
            <p:nvPr/>
          </p:nvSpPr>
          <p:spPr bwMode="auto">
            <a:xfrm>
              <a:off x="0" y="0"/>
              <a:ext cx="281" cy="4320"/>
            </a:xfrm>
            <a:prstGeom prst="rect">
              <a:avLst/>
            </a:prstGeom>
            <a:gradFill rotWithShape="0">
              <a:gsLst>
                <a:gs pos="0">
                  <a:schemeClr val="hlink">
                    <a:gamma/>
                    <a:shade val="60784"/>
                    <a:invGamma/>
                  </a:schemeClr>
                </a:gs>
                <a:gs pos="50000">
                  <a:schemeClr val="hlink"/>
                </a:gs>
                <a:gs pos="100000">
                  <a:schemeClr val="hlink">
                    <a:gamma/>
                    <a:shade val="60784"/>
                    <a:invGamma/>
                  </a:schemeClr>
                </a:gs>
              </a:gsLst>
              <a:lin ang="0" scaled="1"/>
            </a:gradFill>
            <a:ln w="9525">
              <a:noFill/>
              <a:miter lim="800000"/>
              <a:headEnd/>
              <a:tailEnd/>
            </a:ln>
            <a:effectLst/>
          </p:spPr>
          <p:txBody>
            <a:bodyPr/>
            <a:lstStyle/>
            <a:p>
              <a:pPr eaLnBrk="0" hangingPunct="0">
                <a:spcBef>
                  <a:spcPct val="50000"/>
                </a:spcBef>
              </a:pPr>
              <a:endParaRPr lang="en-US" altLang="zh-CN" sz="1800" dirty="0">
                <a:solidFill>
                  <a:srgbClr val="3333CC"/>
                </a:solidFill>
                <a:latin typeface="Verdana" pitchFamily="34" charset="0"/>
              </a:endParaRPr>
            </a:p>
            <a:p>
              <a:pPr eaLnBrk="0" hangingPunct="0">
                <a:spcBef>
                  <a:spcPct val="50000"/>
                </a:spcBef>
              </a:pPr>
              <a:r>
                <a:rPr lang="zh-CN" altLang="en-US" sz="1600" b="1" dirty="0">
                  <a:solidFill>
                    <a:srgbClr val="3333CC"/>
                  </a:solidFill>
                  <a:latin typeface="Verdana" pitchFamily="34" charset="0"/>
                </a:rPr>
                <a:t>语言程序设计教程       </a:t>
              </a:r>
            </a:p>
            <a:p>
              <a:pPr eaLnBrk="0" hangingPunct="0">
                <a:spcBef>
                  <a:spcPct val="50000"/>
                </a:spcBef>
              </a:pPr>
              <a:r>
                <a:rPr lang="zh-CN" altLang="en-US" sz="1600" b="1" dirty="0">
                  <a:solidFill>
                    <a:srgbClr val="3333CC"/>
                  </a:solidFill>
                  <a:latin typeface="Verdana" pitchFamily="34" charset="0"/>
                </a:rPr>
                <a:t>第三版</a:t>
              </a:r>
            </a:p>
            <a:p>
              <a:pPr eaLnBrk="0" hangingPunct="0">
                <a:spcBef>
                  <a:spcPct val="50000"/>
                </a:spcBef>
              </a:pPr>
              <a:endParaRPr lang="zh-CN" altLang="en-US" sz="1600" b="1" dirty="0">
                <a:solidFill>
                  <a:srgbClr val="3333CC"/>
                </a:solidFill>
                <a:latin typeface="Verdana" pitchFamily="34" charset="0"/>
              </a:endParaRPr>
            </a:p>
            <a:p>
              <a:pPr eaLnBrk="0" hangingPunct="0">
                <a:spcBef>
                  <a:spcPct val="50000"/>
                </a:spcBef>
              </a:pPr>
              <a:endParaRPr lang="zh-CN" altLang="en-US" sz="1600" b="1" dirty="0">
                <a:solidFill>
                  <a:srgbClr val="3333CC"/>
                </a:solidFill>
                <a:latin typeface="Verdana" pitchFamily="34" charset="0"/>
              </a:endParaRPr>
            </a:p>
            <a:p>
              <a:pPr eaLnBrk="0" hangingPunct="0">
                <a:spcBef>
                  <a:spcPct val="50000"/>
                </a:spcBef>
              </a:pPr>
              <a:r>
                <a:rPr lang="zh-CN" altLang="en-US" sz="1600" b="1" dirty="0">
                  <a:solidFill>
                    <a:srgbClr val="3333CC"/>
                  </a:solidFill>
                  <a:latin typeface="Verdana" pitchFamily="34" charset="0"/>
                </a:rPr>
                <a:t>第十</a:t>
              </a:r>
            </a:p>
            <a:p>
              <a:pPr eaLnBrk="0" hangingPunct="0">
                <a:spcBef>
                  <a:spcPct val="50000"/>
                </a:spcBef>
              </a:pPr>
              <a:r>
                <a:rPr lang="zh-CN" altLang="en-US" sz="1600" b="1" dirty="0">
                  <a:solidFill>
                    <a:srgbClr val="3333CC"/>
                  </a:solidFill>
                  <a:latin typeface="Verdana" pitchFamily="34" charset="0"/>
                </a:rPr>
                <a:t>二章 </a:t>
              </a:r>
            </a:p>
            <a:p>
              <a:pPr eaLnBrk="0" hangingPunct="0">
                <a:spcBef>
                  <a:spcPct val="50000"/>
                </a:spcBef>
              </a:pPr>
              <a:endParaRPr lang="zh-CN" altLang="en-US" sz="1600" b="1" dirty="0">
                <a:solidFill>
                  <a:srgbClr val="3333CC"/>
                </a:solidFill>
                <a:latin typeface="Verdana" pitchFamily="34" charset="0"/>
              </a:endParaRPr>
            </a:p>
            <a:p>
              <a:pPr eaLnBrk="0" hangingPunct="0">
                <a:spcBef>
                  <a:spcPct val="50000"/>
                </a:spcBef>
              </a:pPr>
              <a:r>
                <a:rPr lang="zh-CN" altLang="en-US" sz="1600" b="1" dirty="0">
                  <a:solidFill>
                    <a:srgbClr val="3333CC"/>
                  </a:solidFill>
                  <a:latin typeface="Verdana" pitchFamily="34" charset="0"/>
                </a:rPr>
                <a:t>文</a:t>
              </a:r>
            </a:p>
            <a:p>
              <a:pPr eaLnBrk="0" hangingPunct="0">
                <a:spcBef>
                  <a:spcPct val="50000"/>
                </a:spcBef>
              </a:pPr>
              <a:endParaRPr lang="zh-CN" altLang="en-US" sz="1600" b="1" dirty="0">
                <a:solidFill>
                  <a:srgbClr val="3333CC"/>
                </a:solidFill>
                <a:latin typeface="Verdana" pitchFamily="34" charset="0"/>
              </a:endParaRPr>
            </a:p>
            <a:p>
              <a:pPr eaLnBrk="0" hangingPunct="0">
                <a:spcBef>
                  <a:spcPct val="50000"/>
                </a:spcBef>
              </a:pPr>
              <a:r>
                <a:rPr lang="zh-CN" altLang="en-US" sz="1600" b="1" dirty="0">
                  <a:solidFill>
                    <a:srgbClr val="3333CC"/>
                  </a:solidFill>
                  <a:latin typeface="Verdana" pitchFamily="34" charset="0"/>
                </a:rPr>
                <a:t>件</a:t>
              </a:r>
            </a:p>
          </p:txBody>
        </p:sp>
        <p:sp>
          <p:nvSpPr>
            <p:cNvPr id="1053750" name="Text Box 54"/>
            <p:cNvSpPr txBox="1">
              <a:spLocks noChangeArrowheads="1"/>
            </p:cNvSpPr>
            <p:nvPr/>
          </p:nvSpPr>
          <p:spPr bwMode="auto">
            <a:xfrm>
              <a:off x="0" y="0"/>
              <a:ext cx="281" cy="231"/>
            </a:xfrm>
            <a:prstGeom prst="rect">
              <a:avLst/>
            </a:prstGeom>
            <a:gradFill rotWithShape="0">
              <a:gsLst>
                <a:gs pos="0">
                  <a:schemeClr val="hlink">
                    <a:gamma/>
                    <a:shade val="46275"/>
                    <a:invGamma/>
                  </a:schemeClr>
                </a:gs>
                <a:gs pos="50000">
                  <a:schemeClr val="hlink"/>
                </a:gs>
                <a:gs pos="100000">
                  <a:schemeClr val="hlink">
                    <a:gamma/>
                    <a:shade val="46275"/>
                    <a:invGamma/>
                  </a:schemeClr>
                </a:gs>
              </a:gsLst>
              <a:lin ang="0" scaled="1"/>
            </a:gradFill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eaLnBrk="0" hangingPunct="0">
                <a:spcBef>
                  <a:spcPct val="50000"/>
                </a:spcBef>
              </a:pPr>
              <a:r>
                <a:rPr lang="en-US" altLang="zh-CN" sz="1800" b="1">
                  <a:solidFill>
                    <a:srgbClr val="0000FF"/>
                  </a:solidFill>
                  <a:latin typeface="Arial" pitchFamily="34" charset="0"/>
                </a:rPr>
                <a:t>C</a:t>
              </a:r>
            </a:p>
          </p:txBody>
        </p:sp>
      </p:grpSp>
      <p:sp>
        <p:nvSpPr>
          <p:cNvPr id="37" name="Rectangle 2">
            <a:extLst>
              <a:ext uri="{FF2B5EF4-FFF2-40B4-BE49-F238E27FC236}">
                <a16:creationId xmlns:a16="http://schemas.microsoft.com/office/drawing/2014/main" id="{2366D368-A867-45C0-94D0-27C09F89F56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18255" y="4418094"/>
            <a:ext cx="3798163" cy="1576085"/>
          </a:xfrm>
          <a:prstGeom prst="rect">
            <a:avLst/>
          </a:prstGeom>
          <a:ln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buChar char="•"/>
              <a:defRPr kumimoji="1" sz="3200" b="1">
                <a:solidFill>
                  <a:schemeClr val="tx1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+mn-lt"/>
                <a:ea typeface="+mn-ea"/>
                <a:cs typeface="+mn-cs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Char char="–"/>
              <a:defRPr kumimoji="1" sz="2800" b="1">
                <a:solidFill>
                  <a:schemeClr val="tx1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+mn-lt"/>
                <a:ea typeface="+mn-ea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kumimoji="1" sz="2400" b="1">
                <a:solidFill>
                  <a:schemeClr val="tx1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+mn-lt"/>
                <a:ea typeface="+mn-ea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buChar char="–"/>
              <a:defRPr kumimoji="1" sz="2000" b="1">
                <a:solidFill>
                  <a:schemeClr val="tx1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+mn-lt"/>
                <a:ea typeface="+mn-ea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kumimoji="1" sz="2000" b="1">
                <a:solidFill>
                  <a:schemeClr val="tx1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kumimoji="1" sz="2000" b="1">
                <a:solidFill>
                  <a:schemeClr val="tx1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kumimoji="1" sz="2000" b="1">
                <a:solidFill>
                  <a:schemeClr val="tx1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kumimoji="1" sz="2000" b="1">
                <a:solidFill>
                  <a:schemeClr val="tx1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kumimoji="1" sz="2000" b="1">
                <a:solidFill>
                  <a:schemeClr val="tx1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+mn-lt"/>
                <a:ea typeface="+mn-ea"/>
              </a:defRPr>
            </a:lvl9pPr>
          </a:lstStyle>
          <a:p>
            <a:pPr marL="342900" lvl="1" indent="-342900">
              <a:spcBef>
                <a:spcPts val="0"/>
              </a:spcBef>
              <a:buClr>
                <a:srgbClr val="0000FF"/>
              </a:buClr>
              <a:buFont typeface="Wingdings" panose="05000000000000000000" pitchFamily="2" charset="2"/>
              <a:buChar char="u"/>
            </a:pPr>
            <a:r>
              <a:rPr lang="zh-CN" altLang="en-US" sz="2400" dirty="0">
                <a:solidFill>
                  <a:srgbClr val="0000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楷体" pitchFamily="49" charset="-122"/>
              </a:rPr>
              <a:t>非缓冲文件系统：</a:t>
            </a:r>
            <a:r>
              <a:rPr lang="zh-CN" altLang="en-US" sz="2400" kern="0" dirty="0">
                <a:ea typeface="楷体" pitchFamily="49" charset="-122"/>
              </a:rPr>
              <a:t>低级文件系统，由用户在程序中为每个文件设定缓冲区</a:t>
            </a:r>
          </a:p>
        </p:txBody>
      </p:sp>
      <p:sp>
        <p:nvSpPr>
          <p:cNvPr id="38" name="Rectangle 2">
            <a:extLst>
              <a:ext uri="{FF2B5EF4-FFF2-40B4-BE49-F238E27FC236}">
                <a16:creationId xmlns:a16="http://schemas.microsoft.com/office/drawing/2014/main" id="{D33B248F-67C8-4A4E-A4AD-274A100DA40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17994" y="1204843"/>
            <a:ext cx="3787850" cy="1576085"/>
          </a:xfrm>
          <a:prstGeom prst="rect">
            <a:avLst/>
          </a:prstGeom>
          <a:ln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buChar char="•"/>
              <a:defRPr kumimoji="1" sz="3200" b="1">
                <a:solidFill>
                  <a:schemeClr val="tx1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+mn-lt"/>
                <a:ea typeface="+mn-ea"/>
                <a:cs typeface="+mn-cs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Char char="–"/>
              <a:defRPr kumimoji="1" sz="2800" b="1">
                <a:solidFill>
                  <a:schemeClr val="tx1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+mn-lt"/>
                <a:ea typeface="+mn-ea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kumimoji="1" sz="2400" b="1">
                <a:solidFill>
                  <a:schemeClr val="tx1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+mn-lt"/>
                <a:ea typeface="+mn-ea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buChar char="–"/>
              <a:defRPr kumimoji="1" sz="2000" b="1">
                <a:solidFill>
                  <a:schemeClr val="tx1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+mn-lt"/>
                <a:ea typeface="+mn-ea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kumimoji="1" sz="2000" b="1">
                <a:solidFill>
                  <a:schemeClr val="tx1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kumimoji="1" sz="2000" b="1">
                <a:solidFill>
                  <a:schemeClr val="tx1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kumimoji="1" sz="2000" b="1">
                <a:solidFill>
                  <a:schemeClr val="tx1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kumimoji="1" sz="2000" b="1">
                <a:solidFill>
                  <a:schemeClr val="tx1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kumimoji="1" sz="2000" b="1">
                <a:solidFill>
                  <a:schemeClr val="tx1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+mn-lt"/>
                <a:ea typeface="+mn-ea"/>
              </a:defRPr>
            </a:lvl9pPr>
          </a:lstStyle>
          <a:p>
            <a:pPr marL="342900" lvl="1" indent="-342900">
              <a:spcBef>
                <a:spcPts val="0"/>
              </a:spcBef>
              <a:buClr>
                <a:srgbClr val="0000FF"/>
              </a:buClr>
              <a:buFont typeface="Wingdings" panose="05000000000000000000" pitchFamily="2" charset="2"/>
              <a:buChar char="u"/>
            </a:pPr>
            <a:r>
              <a:rPr lang="zh-CN" altLang="en-US" sz="2400" kern="0" dirty="0">
                <a:solidFill>
                  <a:srgbClr val="0000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楷体" pitchFamily="49" charset="-122"/>
              </a:rPr>
              <a:t>缓冲文件系统</a:t>
            </a:r>
            <a:r>
              <a:rPr lang="zh-CN" altLang="en-US" sz="2400" kern="0" dirty="0">
                <a:ea typeface="楷体" pitchFamily="49" charset="-122"/>
              </a:rPr>
              <a:t>：</a:t>
            </a:r>
            <a:r>
              <a:rPr lang="zh-CN" altLang="en-US" sz="2400" kern="0" dirty="0">
                <a:solidFill>
                  <a:srgbClr val="FF33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楷体" pitchFamily="49" charset="-122"/>
              </a:rPr>
              <a:t>高级</a:t>
            </a:r>
            <a:r>
              <a:rPr lang="zh-CN" altLang="en-US" sz="2400" kern="0" dirty="0">
                <a:ea typeface="楷体" pitchFamily="49" charset="-122"/>
              </a:rPr>
              <a:t>文件系统，系统自动为正在使用的文件开辟内存缓冲区</a:t>
            </a:r>
          </a:p>
        </p:txBody>
      </p:sp>
    </p:spTree>
  </p:cSld>
  <p:clrMapOvr>
    <a:masterClrMapping/>
  </p:clrMapOvr>
  <p:transition>
    <p:random/>
    <p:sndAc>
      <p:stSnd>
        <p:snd r:embed="rId2" name="CAMER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369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05369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05369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37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9" dur="500"/>
                                        <p:tgtEl>
                                          <p:spTgt spid="1053736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7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2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37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30" dur="500"/>
                                        <p:tgtEl>
                                          <p:spTgt spid="1053737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8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53698" grpId="0" build="p" bldLvl="5" autoUpdateAnimBg="0"/>
      <p:bldP spid="37" grpId="0" animBg="1"/>
      <p:bldP spid="38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4722" name="Rectangle 2"/>
          <p:cNvSpPr>
            <a:spLocks noGrp="1" noChangeArrowheads="1"/>
          </p:cNvSpPr>
          <p:nvPr>
            <p:ph type="body" idx="4294967295"/>
          </p:nvPr>
        </p:nvSpPr>
        <p:spPr>
          <a:xfrm>
            <a:off x="502942" y="158750"/>
            <a:ext cx="4922837" cy="647700"/>
          </a:xfrm>
        </p:spPr>
        <p:txBody>
          <a:bodyPr/>
          <a:lstStyle/>
          <a:p>
            <a:pPr algn="just">
              <a:buFontTx/>
              <a:buNone/>
            </a:pPr>
            <a:r>
              <a:rPr lang="en-US" altLang="zh-CN" dirty="0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隶书" pitchFamily="49" charset="-122"/>
                <a:ea typeface="隶书" pitchFamily="49" charset="-122"/>
              </a:rPr>
              <a:t>12.4  </a:t>
            </a:r>
            <a:r>
              <a:rPr lang="zh-CN" altLang="en-US" dirty="0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隶书" pitchFamily="49" charset="-122"/>
                <a:ea typeface="隶书" pitchFamily="49" charset="-122"/>
              </a:rPr>
              <a:t>文件指针</a:t>
            </a:r>
          </a:p>
        </p:txBody>
      </p:sp>
      <p:sp>
        <p:nvSpPr>
          <p:cNvPr id="1054730" name="Rectangle 10"/>
          <p:cNvSpPr>
            <a:spLocks noChangeArrowheads="1"/>
          </p:cNvSpPr>
          <p:nvPr/>
        </p:nvSpPr>
        <p:spPr bwMode="auto">
          <a:xfrm>
            <a:off x="673746" y="764704"/>
            <a:ext cx="10318798" cy="16996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marL="342900" lvl="1" indent="-342900">
              <a:lnSpc>
                <a:spcPts val="3200"/>
              </a:lnSpc>
              <a:buFont typeface="Wingdings" panose="05000000000000000000" pitchFamily="2" charset="2"/>
              <a:buChar char="Ø"/>
            </a:pPr>
            <a:r>
              <a:rPr lang="zh-CN" altLang="en-US" b="1" dirty="0">
                <a:solidFill>
                  <a:srgbClr val="D60093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隶书" pitchFamily="49" charset="-122"/>
              </a:rPr>
              <a:t>文件结构体</a:t>
            </a:r>
            <a:r>
              <a:rPr lang="en-US" altLang="zh-CN" b="1" dirty="0">
                <a:solidFill>
                  <a:srgbClr val="D60093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隶书" pitchFamily="49" charset="-122"/>
              </a:rPr>
              <a:t>FILE</a:t>
            </a:r>
          </a:p>
          <a:p>
            <a:pPr marL="800100" lvl="2" indent="-342900">
              <a:lnSpc>
                <a:spcPts val="3200"/>
              </a:lnSpc>
              <a:buFont typeface="Wingdings" panose="05000000000000000000" pitchFamily="2" charset="2"/>
              <a:buChar char="l"/>
            </a:pPr>
            <a:r>
              <a:rPr kumimoji="0" lang="zh-CN" altLang="en-US" b="1" dirty="0">
                <a:effectLst>
                  <a:outerShdw blurRad="38100" dist="38100" dir="2700000" algn="tl">
                    <a:srgbClr val="FFFFFF"/>
                  </a:outerShdw>
                </a:effectLst>
                <a:latin typeface="+mn-lt"/>
                <a:ea typeface="楷体" pitchFamily="49" charset="-122"/>
              </a:rPr>
              <a:t>缓</a:t>
            </a:r>
            <a:r>
              <a:rPr lang="zh-CN" altLang="en-US" b="1" dirty="0">
                <a:effectLst>
                  <a:outerShdw blurRad="38100" dist="38100" dir="2700000" algn="tl">
                    <a:srgbClr val="FFFFFF"/>
                  </a:outerShdw>
                </a:effectLst>
                <a:latin typeface="+mn-lt"/>
                <a:ea typeface="楷体" pitchFamily="49" charset="-122"/>
              </a:rPr>
              <a:t>冲文件系统为每个正使用的文件在内存开辟文件信息区</a:t>
            </a:r>
            <a:endParaRPr lang="en-US" altLang="zh-CN" b="1" dirty="0">
              <a:effectLst>
                <a:outerShdw blurRad="38100" dist="38100" dir="2700000" algn="tl">
                  <a:srgbClr val="FFFFFF"/>
                </a:outerShdw>
              </a:effectLst>
              <a:latin typeface="+mn-lt"/>
              <a:ea typeface="楷体" pitchFamily="49" charset="-122"/>
            </a:endParaRPr>
          </a:p>
          <a:p>
            <a:pPr marL="800100" lvl="2" indent="-342900">
              <a:lnSpc>
                <a:spcPts val="3200"/>
              </a:lnSpc>
              <a:buFont typeface="Wingdings" panose="05000000000000000000" pitchFamily="2" charset="2"/>
              <a:buChar char="l"/>
            </a:pPr>
            <a:r>
              <a:rPr lang="zh-CN" altLang="en-US" b="1" dirty="0">
                <a:effectLst>
                  <a:outerShdw blurRad="38100" dist="38100" dir="2700000" algn="tl">
                    <a:srgbClr val="FFFFFF"/>
                  </a:outerShdw>
                </a:effectLst>
                <a:latin typeface="+mn-lt"/>
                <a:ea typeface="楷体" pitchFamily="49" charset="-122"/>
              </a:rPr>
              <a:t>文件信息用系统定义的名为</a:t>
            </a:r>
            <a:r>
              <a:rPr lang="en-US" altLang="zh-CN" b="1" dirty="0">
                <a:effectLst>
                  <a:outerShdw blurRad="38100" dist="38100" dir="2700000" algn="tl">
                    <a:srgbClr val="FFFFFF"/>
                  </a:outerShdw>
                </a:effectLst>
                <a:latin typeface="+mn-lt"/>
                <a:ea typeface="楷体" pitchFamily="49" charset="-122"/>
              </a:rPr>
              <a:t>FILE</a:t>
            </a:r>
            <a:r>
              <a:rPr lang="zh-CN" altLang="zh-CN" b="1" dirty="0">
                <a:effectLst>
                  <a:outerShdw blurRad="38100" dist="38100" dir="2700000" algn="tl">
                    <a:srgbClr val="FFFFFF"/>
                  </a:outerShdw>
                </a:effectLst>
                <a:latin typeface="+mn-lt"/>
                <a:ea typeface="楷体" pitchFamily="49" charset="-122"/>
              </a:rPr>
              <a:t>的结构体描述</a:t>
            </a:r>
            <a:endParaRPr lang="en-US" altLang="zh-CN" b="1" dirty="0">
              <a:effectLst>
                <a:outerShdw blurRad="38100" dist="38100" dir="2700000" algn="tl">
                  <a:srgbClr val="FFFFFF"/>
                </a:outerShdw>
              </a:effectLst>
              <a:latin typeface="+mn-lt"/>
              <a:ea typeface="楷体" pitchFamily="49" charset="-122"/>
            </a:endParaRPr>
          </a:p>
          <a:p>
            <a:pPr marL="800100" lvl="2" indent="-342900">
              <a:lnSpc>
                <a:spcPts val="3200"/>
              </a:lnSpc>
              <a:buFont typeface="Wingdings" panose="05000000000000000000" pitchFamily="2" charset="2"/>
              <a:buChar char="l"/>
            </a:pPr>
            <a:r>
              <a:rPr lang="en-US" altLang="zh-CN" b="1" dirty="0">
                <a:effectLst>
                  <a:outerShdw blurRad="38100" dist="38100" dir="2700000" algn="tl">
                    <a:srgbClr val="FFFFFF"/>
                  </a:outerShdw>
                </a:effectLst>
                <a:latin typeface="+mn-lt"/>
                <a:ea typeface="楷体" pitchFamily="49" charset="-122"/>
              </a:rPr>
              <a:t>FILE</a:t>
            </a:r>
            <a:r>
              <a:rPr lang="zh-CN" altLang="zh-CN" b="1" dirty="0">
                <a:effectLst>
                  <a:outerShdw blurRad="38100" dist="38100" dir="2700000" algn="tl">
                    <a:srgbClr val="FFFFFF"/>
                  </a:outerShdw>
                </a:effectLst>
                <a:latin typeface="+mn-lt"/>
                <a:ea typeface="楷体" pitchFamily="49" charset="-122"/>
              </a:rPr>
              <a:t>定义在</a:t>
            </a:r>
            <a:r>
              <a:rPr lang="en-US" altLang="zh-CN" b="1" dirty="0" err="1">
                <a:effectLst>
                  <a:outerShdw blurRad="38100" dist="38100" dir="2700000" algn="tl">
                    <a:srgbClr val="FFFFFF"/>
                  </a:outerShdw>
                </a:effectLst>
                <a:latin typeface="+mn-lt"/>
                <a:ea typeface="楷体" pitchFamily="49" charset="-122"/>
              </a:rPr>
              <a:t>stdio.h</a:t>
            </a:r>
            <a:r>
              <a:rPr lang="zh-CN" altLang="zh-CN" b="1" dirty="0">
                <a:effectLst>
                  <a:outerShdw blurRad="38100" dist="38100" dir="2700000" algn="tl">
                    <a:srgbClr val="FFFFFF"/>
                  </a:outerShdw>
                </a:effectLst>
                <a:latin typeface="+mn-lt"/>
                <a:ea typeface="楷体" pitchFamily="49" charset="-122"/>
              </a:rPr>
              <a:t>中（</a:t>
            </a:r>
            <a:r>
              <a:rPr lang="en-US" altLang="zh-CN" b="1" dirty="0">
                <a:solidFill>
                  <a:srgbClr val="0000FF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+mn-lt"/>
                <a:ea typeface="楷体" pitchFamily="49" charset="-122"/>
              </a:rPr>
              <a:t>Visual C++ 2010</a:t>
            </a:r>
            <a:r>
              <a:rPr lang="zh-CN" altLang="zh-CN" b="1" dirty="0">
                <a:effectLst>
                  <a:outerShdw blurRad="38100" dist="38100" dir="2700000" algn="tl">
                    <a:srgbClr val="FFFFFF"/>
                  </a:outerShdw>
                </a:effectLst>
                <a:latin typeface="+mn-lt"/>
                <a:ea typeface="楷体" pitchFamily="49" charset="-122"/>
              </a:rPr>
              <a:t>）</a:t>
            </a:r>
            <a:endParaRPr lang="zh-CN" altLang="en-US" b="1" dirty="0">
              <a:effectLst>
                <a:outerShdw blurRad="38100" dist="38100" dir="2700000" algn="tl">
                  <a:srgbClr val="FFFFFF"/>
                </a:outerShdw>
              </a:effectLst>
              <a:latin typeface="+mn-lt"/>
              <a:ea typeface="楷体" pitchFamily="49" charset="-122"/>
            </a:endParaRPr>
          </a:p>
        </p:txBody>
      </p:sp>
      <p:sp>
        <p:nvSpPr>
          <p:cNvPr id="1054732" name="Rectangle 12" descr="信纸"/>
          <p:cNvSpPr>
            <a:spLocks noChangeArrowheads="1"/>
          </p:cNvSpPr>
          <p:nvPr/>
        </p:nvSpPr>
        <p:spPr bwMode="auto">
          <a:xfrm>
            <a:off x="1559496" y="2615421"/>
            <a:ext cx="8712968" cy="3477875"/>
          </a:xfrm>
          <a:prstGeom prst="rect">
            <a:avLst/>
          </a:prstGeom>
          <a:solidFill>
            <a:schemeClr val="bg1"/>
          </a:solidFill>
          <a:ln w="38100">
            <a:solidFill>
              <a:srgbClr val="008000"/>
            </a:solidFill>
            <a:miter lim="800000"/>
            <a:headEnd/>
            <a:tailEnd/>
          </a:ln>
          <a:effectLst>
            <a:outerShdw blurRad="50800" dist="106680" dir="2700000" algn="tl" rotWithShape="0">
              <a:prstClr val="black">
                <a:alpha val="43000"/>
              </a:prstClr>
            </a:outerShdw>
          </a:effectLst>
          <a:scene3d>
            <a:camera prst="orthographicFront"/>
            <a:lightRig rig="threePt" dir="t"/>
          </a:scene3d>
          <a:sp3d>
            <a:bevelT w="114300" prst="hardEdge"/>
          </a:sp3d>
        </p:spPr>
        <p:txBody>
          <a:bodyPr wrap="square">
            <a:spAutoFit/>
          </a:bodyPr>
          <a:lstStyle/>
          <a:p>
            <a:r>
              <a:rPr lang="en-US" altLang="zh-CN" sz="2000" b="1" dirty="0" err="1">
                <a:effectLst>
                  <a:outerShdw blurRad="38100" dist="38100" dir="2700000" algn="tl">
                    <a:srgbClr val="FFFFFF"/>
                  </a:outerShdw>
                </a:effectLst>
              </a:rPr>
              <a:t>typedef</a:t>
            </a:r>
            <a:r>
              <a:rPr lang="en-US" altLang="zh-CN" sz="2000" b="1" dirty="0">
                <a:effectLst>
                  <a:outerShdw blurRad="38100" dist="38100" dir="2700000" algn="tl">
                    <a:srgbClr val="FFFFFF"/>
                  </a:outerShdw>
                </a:effectLst>
              </a:rPr>
              <a:t>   </a:t>
            </a:r>
            <a:r>
              <a:rPr lang="en-US" altLang="zh-CN" sz="2000" b="1" dirty="0" err="1">
                <a:effectLst>
                  <a:outerShdw blurRad="38100" dist="38100" dir="2700000" algn="tl">
                    <a:srgbClr val="FFFFFF"/>
                  </a:outerShdw>
                </a:effectLst>
              </a:rPr>
              <a:t>struct</a:t>
            </a:r>
            <a:r>
              <a:rPr lang="en-US" altLang="zh-CN" sz="2000" b="1" dirty="0">
                <a:effectLst>
                  <a:outerShdw blurRad="38100" dist="38100" dir="2700000" algn="tl">
                    <a:srgbClr val="FFFFFF"/>
                  </a:outerShdw>
                </a:effectLst>
              </a:rPr>
              <a:t> _</a:t>
            </a:r>
            <a:r>
              <a:rPr lang="en-US" altLang="zh-CN" sz="2000" b="1" dirty="0" err="1">
                <a:effectLst>
                  <a:outerShdw blurRad="38100" dist="38100" dir="2700000" algn="tl">
                    <a:srgbClr val="FFFFFF"/>
                  </a:outerShdw>
                </a:effectLst>
              </a:rPr>
              <a:t>iobuf</a:t>
            </a:r>
            <a:endParaRPr lang="zh-CN" altLang="zh-CN" sz="2000" b="1" dirty="0">
              <a:effectLst>
                <a:outerShdw blurRad="38100" dist="38100" dir="2700000" algn="tl">
                  <a:srgbClr val="FFFFFF"/>
                </a:outerShdw>
              </a:effectLst>
            </a:endParaRPr>
          </a:p>
          <a:p>
            <a:r>
              <a:rPr lang="en-US" altLang="zh-CN" sz="2000" b="1" dirty="0">
                <a:effectLst>
                  <a:outerShdw blurRad="38100" dist="38100" dir="2700000" algn="tl">
                    <a:srgbClr val="FFFFFF"/>
                  </a:outerShdw>
                </a:effectLst>
              </a:rPr>
              <a:t>{</a:t>
            </a:r>
            <a:endParaRPr lang="zh-CN" altLang="zh-CN" sz="2000" b="1" dirty="0">
              <a:effectLst>
                <a:outerShdw blurRad="38100" dist="38100" dir="2700000" algn="tl">
                  <a:srgbClr val="FFFFFF"/>
                </a:outerShdw>
              </a:effectLst>
            </a:endParaRPr>
          </a:p>
          <a:p>
            <a:r>
              <a:rPr lang="en-US" altLang="zh-CN" sz="2000" b="1" dirty="0">
                <a:effectLst>
                  <a:outerShdw blurRad="38100" dist="38100" dir="2700000" algn="tl">
                    <a:srgbClr val="FFFFFF"/>
                  </a:outerShdw>
                </a:effectLst>
              </a:rPr>
              <a:t>    char  *_</a:t>
            </a:r>
            <a:r>
              <a:rPr lang="en-US" altLang="zh-CN" sz="2000" b="1" dirty="0" err="1">
                <a:effectLst>
                  <a:outerShdw blurRad="38100" dist="38100" dir="2700000" algn="tl">
                    <a:srgbClr val="FFFFFF"/>
                  </a:outerShdw>
                </a:effectLst>
              </a:rPr>
              <a:t>ptr</a:t>
            </a:r>
            <a:r>
              <a:rPr lang="en-US" altLang="zh-CN" sz="2000" b="1" dirty="0">
                <a:effectLst>
                  <a:outerShdw blurRad="38100" dist="38100" dir="2700000" algn="tl">
                    <a:srgbClr val="FFFFFF"/>
                  </a:outerShdw>
                </a:effectLst>
              </a:rPr>
              <a:t>;</a:t>
            </a:r>
            <a:endParaRPr lang="zh-CN" altLang="zh-CN" sz="2000" b="1" dirty="0">
              <a:effectLst>
                <a:outerShdw blurRad="38100" dist="38100" dir="2700000" algn="tl">
                  <a:srgbClr val="FFFFFF"/>
                </a:outerShdw>
              </a:effectLst>
            </a:endParaRPr>
          </a:p>
          <a:p>
            <a:r>
              <a:rPr lang="en-US" altLang="zh-CN" sz="2000" b="1" dirty="0">
                <a:effectLst>
                  <a:outerShdw blurRad="38100" dist="38100" dir="2700000" algn="tl">
                    <a:srgbClr val="FFFFFF"/>
                  </a:outerShdw>
                </a:effectLst>
              </a:rPr>
              <a:t>    </a:t>
            </a:r>
            <a:r>
              <a:rPr lang="en-US" altLang="zh-CN" sz="2000" b="1" dirty="0" err="1">
                <a:effectLst>
                  <a:outerShdw blurRad="38100" dist="38100" dir="2700000" algn="tl">
                    <a:srgbClr val="FFFFFF"/>
                  </a:outerShdw>
                </a:effectLst>
              </a:rPr>
              <a:t>int</a:t>
            </a:r>
            <a:r>
              <a:rPr lang="en-US" altLang="zh-CN" sz="2000" b="1" dirty="0">
                <a:effectLst>
                  <a:outerShdw blurRad="38100" dist="38100" dir="2700000" algn="tl">
                    <a:srgbClr val="FFFFFF"/>
                  </a:outerShdw>
                </a:effectLst>
              </a:rPr>
              <a:t>   _</a:t>
            </a:r>
            <a:r>
              <a:rPr lang="en-US" altLang="zh-CN" sz="2000" b="1" dirty="0" err="1">
                <a:effectLst>
                  <a:outerShdw blurRad="38100" dist="38100" dir="2700000" algn="tl">
                    <a:srgbClr val="FFFFFF"/>
                  </a:outerShdw>
                </a:effectLst>
              </a:rPr>
              <a:t>cnt</a:t>
            </a:r>
            <a:r>
              <a:rPr lang="en-US" altLang="zh-CN" sz="2000" b="1" dirty="0">
                <a:effectLst>
                  <a:outerShdw blurRad="38100" dist="38100" dir="2700000" algn="tl">
                    <a:srgbClr val="FFFFFF"/>
                  </a:outerShdw>
                </a:effectLst>
              </a:rPr>
              <a:t>;</a:t>
            </a:r>
            <a:endParaRPr lang="zh-CN" altLang="zh-CN" sz="2000" b="1" dirty="0">
              <a:effectLst>
                <a:outerShdw blurRad="38100" dist="38100" dir="2700000" algn="tl">
                  <a:srgbClr val="FFFFFF"/>
                </a:outerShdw>
              </a:effectLst>
            </a:endParaRPr>
          </a:p>
          <a:p>
            <a:r>
              <a:rPr lang="en-US" altLang="zh-CN" sz="2000" b="1" dirty="0">
                <a:effectLst>
                  <a:outerShdw blurRad="38100" dist="38100" dir="2700000" algn="tl">
                    <a:srgbClr val="FFFFFF"/>
                  </a:outerShdw>
                </a:effectLst>
              </a:rPr>
              <a:t>    char  *_base;</a:t>
            </a:r>
            <a:endParaRPr lang="zh-CN" altLang="zh-CN" sz="2000" b="1" dirty="0">
              <a:effectLst>
                <a:outerShdw blurRad="38100" dist="38100" dir="2700000" algn="tl">
                  <a:srgbClr val="FFFFFF"/>
                </a:outerShdw>
              </a:effectLst>
            </a:endParaRPr>
          </a:p>
          <a:p>
            <a:r>
              <a:rPr lang="en-US" altLang="zh-CN" sz="2000" b="1" dirty="0">
                <a:effectLst>
                  <a:outerShdw blurRad="38100" dist="38100" dir="2700000" algn="tl">
                    <a:srgbClr val="FFFFFF"/>
                  </a:outerShdw>
                </a:effectLst>
              </a:rPr>
              <a:t>    </a:t>
            </a:r>
            <a:r>
              <a:rPr lang="en-US" altLang="zh-CN" sz="2000" b="1" dirty="0" err="1">
                <a:effectLst>
                  <a:outerShdw blurRad="38100" dist="38100" dir="2700000" algn="tl">
                    <a:srgbClr val="FFFFFF"/>
                  </a:outerShdw>
                </a:effectLst>
              </a:rPr>
              <a:t>int</a:t>
            </a:r>
            <a:r>
              <a:rPr lang="en-US" altLang="zh-CN" sz="2000" b="1" dirty="0">
                <a:effectLst>
                  <a:outerShdw blurRad="38100" dist="38100" dir="2700000" algn="tl">
                    <a:srgbClr val="FFFFFF"/>
                  </a:outerShdw>
                </a:effectLst>
              </a:rPr>
              <a:t>   _flag;</a:t>
            </a:r>
            <a:endParaRPr lang="zh-CN" altLang="zh-CN" sz="2000" b="1" dirty="0">
              <a:effectLst>
                <a:outerShdw blurRad="38100" dist="38100" dir="2700000" algn="tl">
                  <a:srgbClr val="FFFFFF"/>
                </a:outerShdw>
              </a:effectLst>
            </a:endParaRPr>
          </a:p>
          <a:p>
            <a:r>
              <a:rPr lang="en-US" altLang="zh-CN" sz="2000" b="1" dirty="0">
                <a:effectLst>
                  <a:outerShdw blurRad="38100" dist="38100" dir="2700000" algn="tl">
                    <a:srgbClr val="FFFFFF"/>
                  </a:outerShdw>
                </a:effectLst>
              </a:rPr>
              <a:t>    </a:t>
            </a:r>
            <a:r>
              <a:rPr lang="en-US" altLang="zh-CN" sz="2000" b="1" dirty="0" err="1">
                <a:effectLst>
                  <a:outerShdw blurRad="38100" dist="38100" dir="2700000" algn="tl">
                    <a:srgbClr val="FFFFFF"/>
                  </a:outerShdw>
                </a:effectLst>
              </a:rPr>
              <a:t>int</a:t>
            </a:r>
            <a:r>
              <a:rPr lang="en-US" altLang="zh-CN" sz="2000" b="1" dirty="0">
                <a:effectLst>
                  <a:outerShdw blurRad="38100" dist="38100" dir="2700000" algn="tl">
                    <a:srgbClr val="FFFFFF"/>
                  </a:outerShdw>
                </a:effectLst>
              </a:rPr>
              <a:t>   _file;</a:t>
            </a:r>
            <a:endParaRPr lang="zh-CN" altLang="zh-CN" sz="2000" b="1" dirty="0">
              <a:effectLst>
                <a:outerShdw blurRad="38100" dist="38100" dir="2700000" algn="tl">
                  <a:srgbClr val="FFFFFF"/>
                </a:outerShdw>
              </a:effectLst>
            </a:endParaRPr>
          </a:p>
          <a:p>
            <a:r>
              <a:rPr lang="en-US" altLang="zh-CN" sz="2000" b="1" dirty="0">
                <a:effectLst>
                  <a:outerShdw blurRad="38100" dist="38100" dir="2700000" algn="tl">
                    <a:srgbClr val="FFFFFF"/>
                  </a:outerShdw>
                </a:effectLst>
              </a:rPr>
              <a:t>    </a:t>
            </a:r>
            <a:r>
              <a:rPr lang="en-US" altLang="zh-CN" sz="2000" b="1" dirty="0" err="1">
                <a:effectLst>
                  <a:outerShdw blurRad="38100" dist="38100" dir="2700000" algn="tl">
                    <a:srgbClr val="FFFFFF"/>
                  </a:outerShdw>
                </a:effectLst>
              </a:rPr>
              <a:t>int</a:t>
            </a:r>
            <a:r>
              <a:rPr lang="en-US" altLang="zh-CN" sz="2000" b="1" dirty="0">
                <a:effectLst>
                  <a:outerShdw blurRad="38100" dist="38100" dir="2700000" algn="tl">
                    <a:srgbClr val="FFFFFF"/>
                  </a:outerShdw>
                </a:effectLst>
              </a:rPr>
              <a:t>   _</a:t>
            </a:r>
            <a:r>
              <a:rPr lang="en-US" altLang="zh-CN" sz="2000" b="1" dirty="0" err="1">
                <a:effectLst>
                  <a:outerShdw blurRad="38100" dist="38100" dir="2700000" algn="tl">
                    <a:srgbClr val="FFFFFF"/>
                  </a:outerShdw>
                </a:effectLst>
              </a:rPr>
              <a:t>charbuf</a:t>
            </a:r>
            <a:r>
              <a:rPr lang="en-US" altLang="zh-CN" sz="2000" b="1" dirty="0">
                <a:effectLst>
                  <a:outerShdw blurRad="38100" dist="38100" dir="2700000" algn="tl">
                    <a:srgbClr val="FFFFFF"/>
                  </a:outerShdw>
                </a:effectLst>
              </a:rPr>
              <a:t>;</a:t>
            </a:r>
            <a:endParaRPr lang="zh-CN" altLang="zh-CN" sz="2000" b="1" dirty="0">
              <a:effectLst>
                <a:outerShdw blurRad="38100" dist="38100" dir="2700000" algn="tl">
                  <a:srgbClr val="FFFFFF"/>
                </a:outerShdw>
              </a:effectLst>
            </a:endParaRPr>
          </a:p>
          <a:p>
            <a:r>
              <a:rPr lang="en-US" altLang="zh-CN" sz="2000" b="1" dirty="0">
                <a:effectLst>
                  <a:outerShdw blurRad="38100" dist="38100" dir="2700000" algn="tl">
                    <a:srgbClr val="FFFFFF"/>
                  </a:outerShdw>
                </a:effectLst>
              </a:rPr>
              <a:t>    </a:t>
            </a:r>
            <a:r>
              <a:rPr lang="en-US" altLang="zh-CN" sz="2000" b="1" dirty="0" err="1">
                <a:effectLst>
                  <a:outerShdw blurRad="38100" dist="38100" dir="2700000" algn="tl">
                    <a:srgbClr val="FFFFFF"/>
                  </a:outerShdw>
                </a:effectLst>
              </a:rPr>
              <a:t>int</a:t>
            </a:r>
            <a:r>
              <a:rPr lang="en-US" altLang="zh-CN" sz="2000" b="1" dirty="0">
                <a:effectLst>
                  <a:outerShdw blurRad="38100" dist="38100" dir="2700000" algn="tl">
                    <a:srgbClr val="FFFFFF"/>
                  </a:outerShdw>
                </a:effectLst>
              </a:rPr>
              <a:t>   _</a:t>
            </a:r>
            <a:r>
              <a:rPr lang="en-US" altLang="zh-CN" sz="2000" b="1" dirty="0" err="1">
                <a:effectLst>
                  <a:outerShdw blurRad="38100" dist="38100" dir="2700000" algn="tl">
                    <a:srgbClr val="FFFFFF"/>
                  </a:outerShdw>
                </a:effectLst>
              </a:rPr>
              <a:t>bufsiz</a:t>
            </a:r>
            <a:r>
              <a:rPr lang="en-US" altLang="zh-CN" sz="2000" b="1" dirty="0">
                <a:effectLst>
                  <a:outerShdw blurRad="38100" dist="38100" dir="2700000" algn="tl">
                    <a:srgbClr val="FFFFFF"/>
                  </a:outerShdw>
                </a:effectLst>
              </a:rPr>
              <a:t>;</a:t>
            </a:r>
            <a:endParaRPr lang="zh-CN" altLang="zh-CN" sz="2000" b="1" dirty="0">
              <a:effectLst>
                <a:outerShdw blurRad="38100" dist="38100" dir="2700000" algn="tl">
                  <a:srgbClr val="FFFFFF"/>
                </a:outerShdw>
              </a:effectLst>
            </a:endParaRPr>
          </a:p>
          <a:p>
            <a:r>
              <a:rPr lang="en-US" altLang="zh-CN" sz="2000" b="1" dirty="0">
                <a:effectLst>
                  <a:outerShdw blurRad="38100" dist="38100" dir="2700000" algn="tl">
                    <a:srgbClr val="FFFFFF"/>
                  </a:outerShdw>
                </a:effectLst>
              </a:rPr>
              <a:t>    char  *_</a:t>
            </a:r>
            <a:r>
              <a:rPr lang="en-US" altLang="zh-CN" sz="2000" b="1" dirty="0" err="1">
                <a:effectLst>
                  <a:outerShdw blurRad="38100" dist="38100" dir="2700000" algn="tl">
                    <a:srgbClr val="FFFFFF"/>
                  </a:outerShdw>
                </a:effectLst>
              </a:rPr>
              <a:t>tmpfname</a:t>
            </a:r>
            <a:r>
              <a:rPr lang="en-US" altLang="zh-CN" sz="2000" b="1" dirty="0">
                <a:effectLst>
                  <a:outerShdw blurRad="38100" dist="38100" dir="2700000" algn="tl">
                    <a:srgbClr val="FFFFFF"/>
                  </a:outerShdw>
                </a:effectLst>
              </a:rPr>
              <a:t>;</a:t>
            </a:r>
            <a:endParaRPr lang="zh-CN" altLang="zh-CN" sz="2000" b="1" dirty="0">
              <a:effectLst>
                <a:outerShdw blurRad="38100" dist="38100" dir="2700000" algn="tl">
                  <a:srgbClr val="FFFFFF"/>
                </a:outerShdw>
              </a:effectLst>
            </a:endParaRPr>
          </a:p>
          <a:p>
            <a:r>
              <a:rPr lang="en-US" altLang="zh-CN" sz="2000" b="1" dirty="0">
                <a:effectLst>
                  <a:outerShdw blurRad="38100" dist="38100" dir="2700000" algn="tl">
                    <a:srgbClr val="FFFFFF"/>
                  </a:outerShdw>
                </a:effectLst>
              </a:rPr>
              <a:t>} </a:t>
            </a:r>
            <a:r>
              <a:rPr lang="en-US" altLang="zh-CN" sz="2000" b="1" dirty="0">
                <a:solidFill>
                  <a:srgbClr val="FF0000"/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FILE</a:t>
            </a:r>
            <a:r>
              <a:rPr lang="en-US" altLang="zh-CN" sz="2000" b="1" dirty="0">
                <a:effectLst>
                  <a:outerShdw blurRad="38100" dist="38100" dir="2700000" algn="tl">
                    <a:srgbClr val="FFFFFF"/>
                  </a:outerShdw>
                </a:effectLst>
              </a:rPr>
              <a:t>;</a:t>
            </a:r>
            <a:endParaRPr lang="zh-CN" altLang="zh-CN" sz="2000" b="1" dirty="0">
              <a:effectLst>
                <a:outerShdw blurRad="38100" dist="38100" dir="2700000" algn="tl">
                  <a:srgbClr val="FFFFFF"/>
                </a:outerShdw>
              </a:effectLst>
            </a:endParaRPr>
          </a:p>
        </p:txBody>
      </p:sp>
      <p:grpSp>
        <p:nvGrpSpPr>
          <p:cNvPr id="1054733" name="Group 13"/>
          <p:cNvGrpSpPr>
            <a:grpSpLocks/>
          </p:cNvGrpSpPr>
          <p:nvPr/>
        </p:nvGrpSpPr>
        <p:grpSpPr bwMode="auto">
          <a:xfrm>
            <a:off x="-9822" y="0"/>
            <a:ext cx="446088" cy="6858000"/>
            <a:chOff x="0" y="0"/>
            <a:chExt cx="281" cy="4320"/>
          </a:xfrm>
        </p:grpSpPr>
        <p:sp>
          <p:nvSpPr>
            <p:cNvPr id="1054734" name="Text Box 14"/>
            <p:cNvSpPr txBox="1">
              <a:spLocks noChangeArrowheads="1"/>
            </p:cNvSpPr>
            <p:nvPr/>
          </p:nvSpPr>
          <p:spPr bwMode="auto">
            <a:xfrm>
              <a:off x="0" y="0"/>
              <a:ext cx="281" cy="4320"/>
            </a:xfrm>
            <a:prstGeom prst="rect">
              <a:avLst/>
            </a:prstGeom>
            <a:gradFill rotWithShape="0">
              <a:gsLst>
                <a:gs pos="0">
                  <a:schemeClr val="hlink">
                    <a:gamma/>
                    <a:shade val="60784"/>
                    <a:invGamma/>
                  </a:schemeClr>
                </a:gs>
                <a:gs pos="50000">
                  <a:schemeClr val="hlink"/>
                </a:gs>
                <a:gs pos="100000">
                  <a:schemeClr val="hlink">
                    <a:gamma/>
                    <a:shade val="60784"/>
                    <a:invGamma/>
                  </a:schemeClr>
                </a:gs>
              </a:gsLst>
              <a:lin ang="0" scaled="1"/>
            </a:gradFill>
            <a:ln w="9525">
              <a:noFill/>
              <a:miter lim="800000"/>
              <a:headEnd/>
              <a:tailEnd/>
            </a:ln>
            <a:effectLst/>
          </p:spPr>
          <p:txBody>
            <a:bodyPr/>
            <a:lstStyle/>
            <a:p>
              <a:pPr eaLnBrk="0" hangingPunct="0">
                <a:spcBef>
                  <a:spcPct val="50000"/>
                </a:spcBef>
              </a:pPr>
              <a:endParaRPr lang="en-US" altLang="zh-CN" sz="1800" dirty="0">
                <a:solidFill>
                  <a:srgbClr val="3333CC"/>
                </a:solidFill>
                <a:latin typeface="Verdana" pitchFamily="34" charset="0"/>
              </a:endParaRPr>
            </a:p>
            <a:p>
              <a:pPr eaLnBrk="0" hangingPunct="0">
                <a:spcBef>
                  <a:spcPct val="50000"/>
                </a:spcBef>
              </a:pPr>
              <a:r>
                <a:rPr lang="zh-CN" altLang="en-US" sz="1600" b="1" dirty="0">
                  <a:solidFill>
                    <a:srgbClr val="3333CC"/>
                  </a:solidFill>
                  <a:latin typeface="Verdana" pitchFamily="34" charset="0"/>
                </a:rPr>
                <a:t>语言程序设计教程       </a:t>
              </a:r>
            </a:p>
            <a:p>
              <a:pPr eaLnBrk="0" hangingPunct="0">
                <a:spcBef>
                  <a:spcPct val="50000"/>
                </a:spcBef>
              </a:pPr>
              <a:r>
                <a:rPr lang="zh-CN" altLang="en-US" sz="1600" b="1" dirty="0">
                  <a:solidFill>
                    <a:srgbClr val="3333CC"/>
                  </a:solidFill>
                  <a:latin typeface="Verdana" pitchFamily="34" charset="0"/>
                </a:rPr>
                <a:t>第三版</a:t>
              </a:r>
            </a:p>
            <a:p>
              <a:pPr eaLnBrk="0" hangingPunct="0">
                <a:spcBef>
                  <a:spcPct val="50000"/>
                </a:spcBef>
              </a:pPr>
              <a:endParaRPr lang="zh-CN" altLang="en-US" sz="1600" b="1" dirty="0">
                <a:solidFill>
                  <a:srgbClr val="3333CC"/>
                </a:solidFill>
                <a:latin typeface="Verdana" pitchFamily="34" charset="0"/>
              </a:endParaRPr>
            </a:p>
            <a:p>
              <a:pPr eaLnBrk="0" hangingPunct="0">
                <a:spcBef>
                  <a:spcPct val="50000"/>
                </a:spcBef>
              </a:pPr>
              <a:endParaRPr lang="zh-CN" altLang="en-US" sz="1600" b="1" dirty="0">
                <a:solidFill>
                  <a:srgbClr val="3333CC"/>
                </a:solidFill>
                <a:latin typeface="Verdana" pitchFamily="34" charset="0"/>
              </a:endParaRPr>
            </a:p>
            <a:p>
              <a:pPr eaLnBrk="0" hangingPunct="0">
                <a:spcBef>
                  <a:spcPct val="50000"/>
                </a:spcBef>
              </a:pPr>
              <a:r>
                <a:rPr lang="zh-CN" altLang="en-US" sz="1600" b="1" dirty="0">
                  <a:solidFill>
                    <a:srgbClr val="3333CC"/>
                  </a:solidFill>
                  <a:latin typeface="Verdana" pitchFamily="34" charset="0"/>
                </a:rPr>
                <a:t>第十</a:t>
              </a:r>
            </a:p>
            <a:p>
              <a:pPr eaLnBrk="0" hangingPunct="0">
                <a:spcBef>
                  <a:spcPct val="50000"/>
                </a:spcBef>
              </a:pPr>
              <a:r>
                <a:rPr lang="zh-CN" altLang="en-US" sz="1600" b="1" dirty="0">
                  <a:solidFill>
                    <a:srgbClr val="3333CC"/>
                  </a:solidFill>
                  <a:latin typeface="Verdana" pitchFamily="34" charset="0"/>
                </a:rPr>
                <a:t>二章 </a:t>
              </a:r>
            </a:p>
            <a:p>
              <a:pPr eaLnBrk="0" hangingPunct="0">
                <a:spcBef>
                  <a:spcPct val="50000"/>
                </a:spcBef>
              </a:pPr>
              <a:endParaRPr lang="zh-CN" altLang="en-US" sz="1600" b="1" dirty="0">
                <a:solidFill>
                  <a:srgbClr val="3333CC"/>
                </a:solidFill>
                <a:latin typeface="Verdana" pitchFamily="34" charset="0"/>
              </a:endParaRPr>
            </a:p>
            <a:p>
              <a:pPr eaLnBrk="0" hangingPunct="0">
                <a:spcBef>
                  <a:spcPct val="50000"/>
                </a:spcBef>
              </a:pPr>
              <a:r>
                <a:rPr lang="zh-CN" altLang="en-US" sz="1600" b="1" dirty="0">
                  <a:solidFill>
                    <a:srgbClr val="3333CC"/>
                  </a:solidFill>
                  <a:latin typeface="Verdana" pitchFamily="34" charset="0"/>
                </a:rPr>
                <a:t>文</a:t>
              </a:r>
            </a:p>
            <a:p>
              <a:pPr eaLnBrk="0" hangingPunct="0">
                <a:spcBef>
                  <a:spcPct val="50000"/>
                </a:spcBef>
              </a:pPr>
              <a:endParaRPr lang="zh-CN" altLang="en-US" sz="1600" b="1" dirty="0">
                <a:solidFill>
                  <a:srgbClr val="3333CC"/>
                </a:solidFill>
                <a:latin typeface="Verdana" pitchFamily="34" charset="0"/>
              </a:endParaRPr>
            </a:p>
            <a:p>
              <a:pPr eaLnBrk="0" hangingPunct="0">
                <a:spcBef>
                  <a:spcPct val="50000"/>
                </a:spcBef>
              </a:pPr>
              <a:r>
                <a:rPr lang="zh-CN" altLang="en-US" sz="1600" b="1" dirty="0">
                  <a:solidFill>
                    <a:srgbClr val="3333CC"/>
                  </a:solidFill>
                  <a:latin typeface="Verdana" pitchFamily="34" charset="0"/>
                </a:rPr>
                <a:t>件</a:t>
              </a:r>
            </a:p>
          </p:txBody>
        </p:sp>
        <p:sp>
          <p:nvSpPr>
            <p:cNvPr id="1054735" name="Text Box 15"/>
            <p:cNvSpPr txBox="1">
              <a:spLocks noChangeArrowheads="1"/>
            </p:cNvSpPr>
            <p:nvPr/>
          </p:nvSpPr>
          <p:spPr bwMode="auto">
            <a:xfrm>
              <a:off x="0" y="0"/>
              <a:ext cx="281" cy="231"/>
            </a:xfrm>
            <a:prstGeom prst="rect">
              <a:avLst/>
            </a:prstGeom>
            <a:gradFill rotWithShape="0">
              <a:gsLst>
                <a:gs pos="0">
                  <a:schemeClr val="hlink">
                    <a:gamma/>
                    <a:shade val="46275"/>
                    <a:invGamma/>
                  </a:schemeClr>
                </a:gs>
                <a:gs pos="50000">
                  <a:schemeClr val="hlink"/>
                </a:gs>
                <a:gs pos="100000">
                  <a:schemeClr val="hlink">
                    <a:gamma/>
                    <a:shade val="46275"/>
                    <a:invGamma/>
                  </a:schemeClr>
                </a:gs>
              </a:gsLst>
              <a:lin ang="0" scaled="1"/>
            </a:gradFill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eaLnBrk="0" hangingPunct="0">
                <a:spcBef>
                  <a:spcPct val="50000"/>
                </a:spcBef>
              </a:pPr>
              <a:r>
                <a:rPr lang="en-US" altLang="zh-CN" sz="1800" b="1">
                  <a:solidFill>
                    <a:srgbClr val="0000FF"/>
                  </a:solidFill>
                  <a:latin typeface="Arial" pitchFamily="34" charset="0"/>
                </a:rPr>
                <a:t>C</a:t>
              </a:r>
            </a:p>
          </p:txBody>
        </p:sp>
      </p:grpSp>
    </p:spTree>
  </p:cSld>
  <p:clrMapOvr>
    <a:masterClrMapping/>
  </p:clrMapOvr>
  <p:transition>
    <p:cover/>
    <p:sndAc>
      <p:stSnd>
        <p:snd r:embed="rId3" name="CAMER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47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0547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0547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473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05473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05473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473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05473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05473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7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473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05473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05473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3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47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31" dur="500"/>
                                        <p:tgtEl>
                                          <p:spTgt spid="1054732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9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54732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6770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360067" y="217488"/>
            <a:ext cx="11280549" cy="3148012"/>
          </a:xfrm>
        </p:spPr>
        <p:txBody>
          <a:bodyPr/>
          <a:lstStyle/>
          <a:p>
            <a:pPr>
              <a:lnSpc>
                <a:spcPts val="3200"/>
              </a:lnSpc>
              <a:buFont typeface="Wingdings" pitchFamily="2" charset="2"/>
              <a:buChar char="Ø"/>
            </a:pPr>
            <a:r>
              <a:rPr lang="zh-CN" altLang="en-US" sz="2400" dirty="0">
                <a:solidFill>
                  <a:srgbClr val="D60093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隶书" pitchFamily="49" charset="-122"/>
              </a:rPr>
              <a:t>文件类型指针</a:t>
            </a:r>
          </a:p>
          <a:p>
            <a:pPr lvl="1">
              <a:lnSpc>
                <a:spcPts val="3200"/>
              </a:lnSpc>
              <a:buClr>
                <a:srgbClr val="339933"/>
              </a:buClr>
              <a:buFont typeface="Wingdings" pitchFamily="2" charset="2"/>
              <a:buChar char="l"/>
            </a:pPr>
            <a:r>
              <a:rPr lang="zh-CN" altLang="en-US" sz="2400" dirty="0">
                <a:ea typeface="楷体" pitchFamily="49" charset="-122"/>
              </a:rPr>
              <a:t>指针变量说明： </a:t>
            </a:r>
            <a:r>
              <a:rPr lang="en-US" altLang="zh-CN" sz="2400" dirty="0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楷体" pitchFamily="49" charset="-122"/>
              </a:rPr>
              <a:t>FILE   *</a:t>
            </a:r>
            <a:r>
              <a:rPr lang="en-US" altLang="zh-CN" sz="2400" dirty="0" err="1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楷体" pitchFamily="49" charset="-122"/>
              </a:rPr>
              <a:t>fp</a:t>
            </a:r>
            <a:r>
              <a:rPr lang="en-US" altLang="zh-CN" sz="2400" dirty="0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楷体" pitchFamily="49" charset="-122"/>
              </a:rPr>
              <a:t>;</a:t>
            </a:r>
          </a:p>
          <a:p>
            <a:pPr lvl="1">
              <a:lnSpc>
                <a:spcPts val="3200"/>
              </a:lnSpc>
              <a:buClr>
                <a:srgbClr val="339933"/>
              </a:buClr>
              <a:buFont typeface="Wingdings" pitchFamily="2" charset="2"/>
              <a:buChar char="l"/>
            </a:pPr>
            <a:r>
              <a:rPr lang="zh-CN" altLang="zh-CN" sz="2400" dirty="0">
                <a:ea typeface="楷体" pitchFamily="49" charset="-122"/>
              </a:rPr>
              <a:t>用法：</a:t>
            </a:r>
            <a:endParaRPr lang="en-US" altLang="zh-CN" sz="2400" dirty="0">
              <a:ea typeface="楷体" pitchFamily="49" charset="-122"/>
            </a:endParaRPr>
          </a:p>
          <a:p>
            <a:pPr lvl="2">
              <a:lnSpc>
                <a:spcPts val="3200"/>
              </a:lnSpc>
              <a:buClr>
                <a:srgbClr val="339933"/>
              </a:buClr>
              <a:buFont typeface="Wingdings" panose="05000000000000000000" pitchFamily="2" charset="2"/>
              <a:buChar char="ü"/>
            </a:pPr>
            <a:r>
              <a:rPr lang="zh-CN" altLang="en-US" dirty="0">
                <a:solidFill>
                  <a:srgbClr val="0000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楷体" pitchFamily="49" charset="-122"/>
              </a:rPr>
              <a:t>文件打开</a:t>
            </a:r>
            <a:r>
              <a:rPr lang="zh-CN" altLang="en-US" dirty="0">
                <a:ea typeface="楷体" pitchFamily="49" charset="-122"/>
              </a:rPr>
              <a:t>时，系统</a:t>
            </a:r>
            <a:r>
              <a:rPr lang="zh-CN" altLang="en-US" dirty="0">
                <a:solidFill>
                  <a:srgbClr val="0066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楷体" pitchFamily="49" charset="-122"/>
              </a:rPr>
              <a:t>自动</a:t>
            </a:r>
            <a:r>
              <a:rPr lang="zh-CN" altLang="en-US" dirty="0">
                <a:ea typeface="楷体" pitchFamily="49" charset="-122"/>
              </a:rPr>
              <a:t>建立文件结构体，并把指向它的指针返回来，程序通过这个指针获得</a:t>
            </a:r>
            <a:r>
              <a:rPr lang="zh-CN" altLang="zh-CN" dirty="0">
                <a:ea typeface="楷体" pitchFamily="49" charset="-122"/>
              </a:rPr>
              <a:t>文件信息,</a:t>
            </a:r>
            <a:r>
              <a:rPr lang="zh-CN" altLang="en-US" dirty="0">
                <a:ea typeface="楷体" pitchFamily="49" charset="-122"/>
              </a:rPr>
              <a:t>访问文件</a:t>
            </a:r>
            <a:endParaRPr lang="en-US" altLang="zh-CN" dirty="0">
              <a:ea typeface="楷体" pitchFamily="49" charset="-122"/>
            </a:endParaRPr>
          </a:p>
          <a:p>
            <a:pPr lvl="2">
              <a:lnSpc>
                <a:spcPts val="3200"/>
              </a:lnSpc>
              <a:buClr>
                <a:srgbClr val="339933"/>
              </a:buClr>
              <a:buFont typeface="Wingdings" panose="05000000000000000000" pitchFamily="2" charset="2"/>
              <a:buChar char="ü"/>
            </a:pPr>
            <a:r>
              <a:rPr lang="zh-CN" altLang="en-US" dirty="0">
                <a:solidFill>
                  <a:srgbClr val="0000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楷体" pitchFamily="49" charset="-122"/>
              </a:rPr>
              <a:t>文件关闭</a:t>
            </a:r>
            <a:r>
              <a:rPr lang="zh-CN" altLang="en-US" dirty="0">
                <a:ea typeface="楷体" pitchFamily="49" charset="-122"/>
              </a:rPr>
              <a:t>后，它的文件结构体被释放</a:t>
            </a:r>
          </a:p>
        </p:txBody>
      </p:sp>
      <p:grpSp>
        <p:nvGrpSpPr>
          <p:cNvPr id="1056793" name="Group 25"/>
          <p:cNvGrpSpPr>
            <a:grpSpLocks/>
          </p:cNvGrpSpPr>
          <p:nvPr/>
        </p:nvGrpSpPr>
        <p:grpSpPr bwMode="auto">
          <a:xfrm>
            <a:off x="1847528" y="3585246"/>
            <a:ext cx="8785234" cy="2219325"/>
            <a:chOff x="1292" y="2083"/>
            <a:chExt cx="5534" cy="1398"/>
          </a:xfrm>
        </p:grpSpPr>
        <p:sp>
          <p:nvSpPr>
            <p:cNvPr id="1056777" name="AutoShape 9"/>
            <p:cNvSpPr>
              <a:spLocks noChangeArrowheads="1"/>
            </p:cNvSpPr>
            <p:nvPr/>
          </p:nvSpPr>
          <p:spPr bwMode="auto">
            <a:xfrm rot="16200000">
              <a:off x="5487" y="2229"/>
              <a:ext cx="150" cy="904"/>
            </a:xfrm>
            <a:prstGeom prst="upDownArrow">
              <a:avLst>
                <a:gd name="adj1" fmla="val 50000"/>
                <a:gd name="adj2" fmla="val 60221"/>
              </a:avLst>
            </a:prstGeom>
            <a:gradFill rotWithShape="1">
              <a:gsLst>
                <a:gs pos="0">
                  <a:srgbClr val="FFCC99"/>
                </a:gs>
                <a:gs pos="100000">
                  <a:srgbClr val="FFCC99">
                    <a:gamma/>
                    <a:shade val="46275"/>
                    <a:invGamma/>
                  </a:srgbClr>
                </a:gs>
              </a:gsLst>
              <a:lin ang="5400000" scaled="1"/>
            </a:gradFill>
            <a:ln w="9525">
              <a:solidFill>
                <a:schemeClr val="tx1"/>
              </a:solidFill>
              <a:miter lim="800000"/>
              <a:headEnd/>
              <a:tailEnd/>
            </a:ln>
            <a:effectLst>
              <a:outerShdw blurRad="50800" dist="106680" dir="2700000" algn="tl" rotWithShape="0">
                <a:prstClr val="black">
                  <a:alpha val="43000"/>
                </a:prstClr>
              </a:outerShdw>
            </a:effectLst>
          </p:spPr>
          <p:txBody>
            <a:bodyPr vert="eaVert" wrap="none" anchor="ctr"/>
            <a:lstStyle/>
            <a:p>
              <a:endParaRPr lang="zh-CN" altLang="en-US"/>
            </a:p>
          </p:txBody>
        </p:sp>
        <p:grpSp>
          <p:nvGrpSpPr>
            <p:cNvPr id="1056790" name="Group 22"/>
            <p:cNvGrpSpPr>
              <a:grpSpLocks/>
            </p:cNvGrpSpPr>
            <p:nvPr/>
          </p:nvGrpSpPr>
          <p:grpSpPr bwMode="auto">
            <a:xfrm>
              <a:off x="2538" y="2271"/>
              <a:ext cx="1294" cy="575"/>
              <a:chOff x="2538" y="2271"/>
              <a:chExt cx="1294" cy="575"/>
            </a:xfrm>
          </p:grpSpPr>
          <p:sp>
            <p:nvSpPr>
              <p:cNvPr id="1056775" name="AutoShape 7"/>
              <p:cNvSpPr>
                <a:spLocks noChangeArrowheads="1"/>
              </p:cNvSpPr>
              <p:nvPr/>
            </p:nvSpPr>
            <p:spPr bwMode="auto">
              <a:xfrm>
                <a:off x="2544" y="2497"/>
                <a:ext cx="1288" cy="109"/>
              </a:xfrm>
              <a:prstGeom prst="rightArrow">
                <a:avLst>
                  <a:gd name="adj1" fmla="val 50000"/>
                  <a:gd name="adj2" fmla="val 231193"/>
                </a:avLst>
              </a:prstGeom>
              <a:gradFill rotWithShape="1">
                <a:gsLst>
                  <a:gs pos="0">
                    <a:srgbClr val="00FFFF"/>
                  </a:gs>
                  <a:gs pos="100000">
                    <a:srgbClr val="00FFFF">
                      <a:gamma/>
                      <a:shade val="46275"/>
                      <a:invGamma/>
                    </a:srgbClr>
                  </a:gs>
                </a:gsLst>
                <a:lin ang="5400000" scaled="1"/>
              </a:gra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>
                <a:outerShdw blurRad="50800" dist="106680" dir="2700000" algn="tl" rotWithShape="0">
                  <a:prstClr val="black">
                    <a:alpha val="43000"/>
                  </a:prstClr>
                </a:outerShdw>
              </a:effec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056778" name="Text Box 10"/>
              <p:cNvSpPr txBox="1">
                <a:spLocks noChangeArrowheads="1"/>
              </p:cNvSpPr>
              <p:nvPr/>
            </p:nvSpPr>
            <p:spPr bwMode="auto">
              <a:xfrm>
                <a:off x="2805" y="2271"/>
                <a:ext cx="599" cy="25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>
                <a:spAutoFit/>
              </a:bodyPr>
              <a:lstStyle/>
              <a:p>
                <a:r>
                  <a:rPr lang="zh-CN" altLang="en-US" sz="2000" b="1" dirty="0">
                    <a:effectLst>
                      <a:outerShdw blurRad="38100" dist="38100" dir="2700000" algn="tl">
                        <a:srgbClr val="FFFFFF"/>
                      </a:outerShdw>
                    </a:effectLst>
                    <a:ea typeface="隶书" pitchFamily="49" charset="-122"/>
                  </a:rPr>
                  <a:t>文件名</a:t>
                </a:r>
              </a:p>
            </p:txBody>
          </p:sp>
          <p:sp>
            <p:nvSpPr>
              <p:cNvPr id="1056779" name="Text Box 11"/>
              <p:cNvSpPr txBox="1">
                <a:spLocks noChangeArrowheads="1"/>
              </p:cNvSpPr>
              <p:nvPr/>
            </p:nvSpPr>
            <p:spPr bwMode="auto">
              <a:xfrm>
                <a:off x="2538" y="2594"/>
                <a:ext cx="1206" cy="252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zh-CN" altLang="en-US" sz="2000" b="1" dirty="0">
                    <a:effectLst>
                      <a:outerShdw blurRad="38100" dist="38100" dir="2700000" algn="tl">
                        <a:srgbClr val="FFFFFF"/>
                      </a:outerShdw>
                    </a:effectLst>
                    <a:ea typeface="隶书" pitchFamily="49" charset="-122"/>
                  </a:rPr>
                  <a:t>文件使用方式</a:t>
                </a:r>
              </a:p>
            </p:txBody>
          </p:sp>
        </p:grpSp>
        <p:grpSp>
          <p:nvGrpSpPr>
            <p:cNvPr id="1056791" name="Group 23"/>
            <p:cNvGrpSpPr>
              <a:grpSpLocks/>
            </p:cNvGrpSpPr>
            <p:nvPr/>
          </p:nvGrpSpPr>
          <p:grpSpPr bwMode="auto">
            <a:xfrm>
              <a:off x="2546" y="3028"/>
              <a:ext cx="1288" cy="343"/>
              <a:chOff x="2546" y="3028"/>
              <a:chExt cx="1288" cy="343"/>
            </a:xfrm>
          </p:grpSpPr>
          <p:sp>
            <p:nvSpPr>
              <p:cNvPr id="1056776" name="AutoShape 8"/>
              <p:cNvSpPr>
                <a:spLocks noChangeArrowheads="1"/>
              </p:cNvSpPr>
              <p:nvPr/>
            </p:nvSpPr>
            <p:spPr bwMode="auto">
              <a:xfrm>
                <a:off x="2546" y="3028"/>
                <a:ext cx="1288" cy="109"/>
              </a:xfrm>
              <a:prstGeom prst="leftArrow">
                <a:avLst>
                  <a:gd name="adj1" fmla="val 50000"/>
                  <a:gd name="adj2" fmla="val 231193"/>
                </a:avLst>
              </a:prstGeom>
              <a:gradFill rotWithShape="1">
                <a:gsLst>
                  <a:gs pos="0">
                    <a:srgbClr val="FF99CC"/>
                  </a:gs>
                  <a:gs pos="100000">
                    <a:srgbClr val="FF99CC">
                      <a:gamma/>
                      <a:shade val="46275"/>
                      <a:invGamma/>
                    </a:srgbClr>
                  </a:gs>
                </a:gsLst>
                <a:lin ang="5400000" scaled="1"/>
              </a:gra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>
                <a:outerShdw blurRad="50800" dist="106680" dir="2700000" algn="tl" rotWithShape="0">
                  <a:prstClr val="black">
                    <a:alpha val="43000"/>
                  </a:prstClr>
                </a:outerShdw>
              </a:effec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056780" name="Text Box 12"/>
              <p:cNvSpPr txBox="1">
                <a:spLocks noChangeArrowheads="1"/>
              </p:cNvSpPr>
              <p:nvPr/>
            </p:nvSpPr>
            <p:spPr bwMode="auto">
              <a:xfrm>
                <a:off x="2705" y="3121"/>
                <a:ext cx="1082" cy="25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>
                <a:spAutoFit/>
              </a:bodyPr>
              <a:lstStyle/>
              <a:p>
                <a:r>
                  <a:rPr lang="zh-CN" altLang="en-US" sz="2000" b="1" dirty="0">
                    <a:effectLst>
                      <a:outerShdw blurRad="38100" dist="38100" dir="2700000" algn="tl">
                        <a:srgbClr val="FFFFFF"/>
                      </a:outerShdw>
                    </a:effectLst>
                    <a:ea typeface="隶书" pitchFamily="49" charset="-122"/>
                  </a:rPr>
                  <a:t>文件类型指针</a:t>
                </a:r>
              </a:p>
            </p:txBody>
          </p:sp>
        </p:grpSp>
        <p:grpSp>
          <p:nvGrpSpPr>
            <p:cNvPr id="1056792" name="Group 24"/>
            <p:cNvGrpSpPr>
              <a:grpSpLocks/>
            </p:cNvGrpSpPr>
            <p:nvPr/>
          </p:nvGrpSpPr>
          <p:grpSpPr bwMode="auto">
            <a:xfrm>
              <a:off x="3951" y="2095"/>
              <a:ext cx="1106" cy="1386"/>
              <a:chOff x="3951" y="2095"/>
              <a:chExt cx="1106" cy="1386"/>
            </a:xfrm>
          </p:grpSpPr>
          <p:sp>
            <p:nvSpPr>
              <p:cNvPr id="1056773" name="Rectangle 5"/>
              <p:cNvSpPr>
                <a:spLocks noChangeArrowheads="1"/>
              </p:cNvSpPr>
              <p:nvPr/>
            </p:nvSpPr>
            <p:spPr bwMode="auto">
              <a:xfrm>
                <a:off x="3951" y="2095"/>
                <a:ext cx="1106" cy="1386"/>
              </a:xfrm>
              <a:prstGeom prst="rect">
                <a:avLst/>
              </a:prstGeom>
              <a:gradFill rotWithShape="1">
                <a:gsLst>
                  <a:gs pos="0">
                    <a:srgbClr val="FF99CC"/>
                  </a:gs>
                  <a:gs pos="100000">
                    <a:schemeClr val="bg1"/>
                  </a:gs>
                </a:gsLst>
                <a:lin ang="5400000" scaled="1"/>
              </a:gradFill>
              <a:ln w="19050">
                <a:solidFill>
                  <a:schemeClr val="tx1"/>
                </a:solidFill>
                <a:miter lim="800000"/>
                <a:headEnd/>
                <a:tailEnd/>
              </a:ln>
              <a:effectLst>
                <a:outerShdw blurRad="50800" dist="106680" dir="2700000" algn="tl" rotWithShape="0">
                  <a:prstClr val="black">
                    <a:alpha val="43000"/>
                  </a:prstClr>
                </a:outerShdw>
              </a:effec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056782" name="Text Box 14"/>
              <p:cNvSpPr txBox="1">
                <a:spLocks noChangeArrowheads="1"/>
              </p:cNvSpPr>
              <p:nvPr/>
            </p:nvSpPr>
            <p:spPr bwMode="auto">
              <a:xfrm>
                <a:off x="4096" y="2641"/>
                <a:ext cx="760" cy="25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>
                <a:spAutoFit/>
              </a:bodyPr>
              <a:lstStyle/>
              <a:p>
                <a:r>
                  <a:rPr lang="zh-CN" altLang="en-US" sz="2000" b="1" dirty="0">
                    <a:solidFill>
                      <a:schemeClr val="accent2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+mn-lt"/>
                    <a:ea typeface="楷体" pitchFamily="49" charset="-122"/>
                  </a:rPr>
                  <a:t>操作系统</a:t>
                </a:r>
              </a:p>
            </p:txBody>
          </p:sp>
        </p:grpSp>
        <p:sp>
          <p:nvSpPr>
            <p:cNvPr id="1056787" name="AutoShape 19"/>
            <p:cNvSpPr>
              <a:spLocks noChangeArrowheads="1"/>
            </p:cNvSpPr>
            <p:nvPr/>
          </p:nvSpPr>
          <p:spPr bwMode="auto">
            <a:xfrm>
              <a:off x="1292" y="2083"/>
              <a:ext cx="1107" cy="1386"/>
            </a:xfrm>
            <a:prstGeom prst="foldedCorner">
              <a:avLst>
                <a:gd name="adj" fmla="val 12500"/>
              </a:avLst>
            </a:prstGeom>
            <a:gradFill rotWithShape="1">
              <a:gsLst>
                <a:gs pos="0">
                  <a:srgbClr val="00FFFF"/>
                </a:gs>
                <a:gs pos="100000">
                  <a:schemeClr val="bg1"/>
                </a:gs>
              </a:gsLst>
              <a:lin ang="5400000" scaled="1"/>
            </a:gradFill>
            <a:ln w="19050">
              <a:solidFill>
                <a:schemeClr val="tx1"/>
              </a:solidFill>
              <a:round/>
              <a:headEnd/>
              <a:tailEnd/>
            </a:ln>
            <a:effectLst>
              <a:outerShdw blurRad="50800" dist="106680" dir="2700000" algn="tl" rotWithShape="0">
                <a:prstClr val="black">
                  <a:alpha val="43000"/>
                </a:prstClr>
              </a:outerShdw>
            </a:effectLst>
            <a:scene3d>
              <a:camera prst="orthographicFront"/>
              <a:lightRig rig="threePt" dir="t"/>
            </a:scene3d>
            <a:sp3d/>
          </p:spPr>
          <p:txBody>
            <a:bodyPr wrap="none" anchor="ctr"/>
            <a:lstStyle/>
            <a:p>
              <a:pPr algn="ctr"/>
              <a:r>
                <a:rPr lang="en-US" altLang="zh-CN" sz="2000" b="1" dirty="0">
                  <a:solidFill>
                    <a:srgbClr val="D60093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+mn-lt"/>
                  <a:ea typeface="楷体" pitchFamily="49" charset="-122"/>
                </a:rPr>
                <a:t>C</a:t>
              </a:r>
              <a:r>
                <a:rPr lang="zh-CN" altLang="zh-CN" sz="2000" b="1" dirty="0">
                  <a:solidFill>
                    <a:srgbClr val="D60093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+mn-lt"/>
                  <a:ea typeface="楷体" pitchFamily="49" charset="-122"/>
                </a:rPr>
                <a:t>程序</a:t>
              </a:r>
              <a:endParaRPr lang="zh-CN" altLang="en-US" sz="2000" b="1" dirty="0">
                <a:solidFill>
                  <a:srgbClr val="D60093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楷体" pitchFamily="49" charset="-122"/>
              </a:endParaRPr>
            </a:p>
          </p:txBody>
        </p:sp>
        <p:grpSp>
          <p:nvGrpSpPr>
            <p:cNvPr id="1056789" name="Group 21"/>
            <p:cNvGrpSpPr>
              <a:grpSpLocks/>
            </p:cNvGrpSpPr>
            <p:nvPr/>
          </p:nvGrpSpPr>
          <p:grpSpPr bwMode="auto">
            <a:xfrm>
              <a:off x="5356" y="2406"/>
              <a:ext cx="1470" cy="598"/>
              <a:chOff x="5356" y="2325"/>
              <a:chExt cx="1470" cy="598"/>
            </a:xfrm>
          </p:grpSpPr>
          <p:sp>
            <p:nvSpPr>
              <p:cNvPr id="1056774" name="Oval 6"/>
              <p:cNvSpPr>
                <a:spLocks noChangeArrowheads="1"/>
              </p:cNvSpPr>
              <p:nvPr/>
            </p:nvSpPr>
            <p:spPr bwMode="auto">
              <a:xfrm>
                <a:off x="6058" y="2341"/>
                <a:ext cx="768" cy="582"/>
              </a:xfrm>
              <a:prstGeom prst="ellipse">
                <a:avLst/>
              </a:prstGeom>
              <a:gradFill rotWithShape="1">
                <a:gsLst>
                  <a:gs pos="0">
                    <a:srgbClr val="CCFFCC"/>
                  </a:gs>
                  <a:gs pos="100000">
                    <a:schemeClr val="bg1"/>
                  </a:gs>
                </a:gsLst>
                <a:lin ang="5400000" scaled="1"/>
              </a:gradFill>
              <a:ln w="19050">
                <a:solidFill>
                  <a:schemeClr val="tx1"/>
                </a:solidFill>
                <a:round/>
                <a:headEnd/>
                <a:tailEnd/>
              </a:ln>
              <a:effectLst>
                <a:outerShdw blurRad="50800" dist="106680" dir="2700000" algn="tl" rotWithShape="0">
                  <a:prstClr val="black">
                    <a:alpha val="43000"/>
                  </a:prstClr>
                </a:outerShdw>
              </a:effec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056783" name="Text Box 15"/>
              <p:cNvSpPr txBox="1">
                <a:spLocks noChangeArrowheads="1"/>
              </p:cNvSpPr>
              <p:nvPr/>
            </p:nvSpPr>
            <p:spPr bwMode="auto">
              <a:xfrm>
                <a:off x="5356" y="2325"/>
                <a:ext cx="438" cy="25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>
                <a:spAutoFit/>
              </a:bodyPr>
              <a:lstStyle/>
              <a:p>
                <a:r>
                  <a:rPr lang="zh-CN" altLang="en-US" sz="2000" b="1" dirty="0">
                    <a:effectLst>
                      <a:outerShdw blurRad="38100" dist="38100" dir="2700000" algn="tl">
                        <a:srgbClr val="FFFFFF"/>
                      </a:outerShdw>
                    </a:effectLst>
                    <a:latin typeface="+mn-lt"/>
                    <a:ea typeface="楷体" pitchFamily="49" charset="-122"/>
                  </a:rPr>
                  <a:t>磁盘</a:t>
                </a:r>
              </a:p>
            </p:txBody>
          </p:sp>
          <p:pic>
            <p:nvPicPr>
              <p:cNvPr id="1056788" name="Picture 20" descr="savE"/>
              <p:cNvPicPr>
                <a:picLocks noChangeAspect="1" noChangeArrowheads="1"/>
              </p:cNvPicPr>
              <p:nvPr/>
            </p:nvPicPr>
            <p:blipFill>
              <a:blip r:embed="rId5" cstate="print"/>
              <a:srcRect/>
              <a:stretch>
                <a:fillRect/>
              </a:stretch>
            </p:blipFill>
            <p:spPr bwMode="auto">
              <a:xfrm>
                <a:off x="6312" y="2493"/>
                <a:ext cx="272" cy="255"/>
              </a:xfrm>
              <a:prstGeom prst="rect">
                <a:avLst/>
              </a:prstGeom>
              <a:noFill/>
            </p:spPr>
          </p:pic>
        </p:grpSp>
      </p:grpSp>
      <p:grpSp>
        <p:nvGrpSpPr>
          <p:cNvPr id="1056794" name="Group 26"/>
          <p:cNvGrpSpPr>
            <a:grpSpLocks/>
          </p:cNvGrpSpPr>
          <p:nvPr/>
        </p:nvGrpSpPr>
        <p:grpSpPr bwMode="auto">
          <a:xfrm>
            <a:off x="-9822" y="0"/>
            <a:ext cx="446088" cy="6858000"/>
            <a:chOff x="0" y="0"/>
            <a:chExt cx="281" cy="4320"/>
          </a:xfrm>
        </p:grpSpPr>
        <p:sp>
          <p:nvSpPr>
            <p:cNvPr id="1056795" name="Text Box 27"/>
            <p:cNvSpPr txBox="1">
              <a:spLocks noChangeArrowheads="1"/>
            </p:cNvSpPr>
            <p:nvPr/>
          </p:nvSpPr>
          <p:spPr bwMode="auto">
            <a:xfrm>
              <a:off x="0" y="0"/>
              <a:ext cx="281" cy="4320"/>
            </a:xfrm>
            <a:prstGeom prst="rect">
              <a:avLst/>
            </a:prstGeom>
            <a:gradFill rotWithShape="0">
              <a:gsLst>
                <a:gs pos="0">
                  <a:schemeClr val="hlink">
                    <a:gamma/>
                    <a:shade val="60784"/>
                    <a:invGamma/>
                  </a:schemeClr>
                </a:gs>
                <a:gs pos="50000">
                  <a:schemeClr val="hlink"/>
                </a:gs>
                <a:gs pos="100000">
                  <a:schemeClr val="hlink">
                    <a:gamma/>
                    <a:shade val="60784"/>
                    <a:invGamma/>
                  </a:schemeClr>
                </a:gs>
              </a:gsLst>
              <a:lin ang="0" scaled="1"/>
            </a:gradFill>
            <a:ln w="9525">
              <a:noFill/>
              <a:miter lim="800000"/>
              <a:headEnd/>
              <a:tailEnd/>
            </a:ln>
            <a:effectLst/>
          </p:spPr>
          <p:txBody>
            <a:bodyPr/>
            <a:lstStyle/>
            <a:p>
              <a:pPr eaLnBrk="0" hangingPunct="0">
                <a:spcBef>
                  <a:spcPct val="50000"/>
                </a:spcBef>
              </a:pPr>
              <a:endParaRPr lang="en-US" altLang="zh-CN" sz="1800" dirty="0">
                <a:solidFill>
                  <a:srgbClr val="3333CC"/>
                </a:solidFill>
                <a:latin typeface="Verdana" pitchFamily="34" charset="0"/>
              </a:endParaRPr>
            </a:p>
            <a:p>
              <a:pPr eaLnBrk="0" hangingPunct="0">
                <a:spcBef>
                  <a:spcPct val="50000"/>
                </a:spcBef>
              </a:pPr>
              <a:r>
                <a:rPr lang="zh-CN" altLang="en-US" sz="1600" b="1" dirty="0">
                  <a:solidFill>
                    <a:srgbClr val="3333CC"/>
                  </a:solidFill>
                  <a:latin typeface="Verdana" pitchFamily="34" charset="0"/>
                </a:rPr>
                <a:t>语言程序设计教程       </a:t>
              </a:r>
            </a:p>
            <a:p>
              <a:pPr eaLnBrk="0" hangingPunct="0">
                <a:spcBef>
                  <a:spcPct val="50000"/>
                </a:spcBef>
              </a:pPr>
              <a:r>
                <a:rPr lang="zh-CN" altLang="en-US" sz="1600" b="1" dirty="0">
                  <a:solidFill>
                    <a:srgbClr val="3333CC"/>
                  </a:solidFill>
                  <a:latin typeface="Verdana" pitchFamily="34" charset="0"/>
                </a:rPr>
                <a:t>第三版</a:t>
              </a:r>
            </a:p>
            <a:p>
              <a:pPr eaLnBrk="0" hangingPunct="0">
                <a:spcBef>
                  <a:spcPct val="50000"/>
                </a:spcBef>
              </a:pPr>
              <a:endParaRPr lang="zh-CN" altLang="en-US" sz="1600" b="1" dirty="0">
                <a:solidFill>
                  <a:srgbClr val="3333CC"/>
                </a:solidFill>
                <a:latin typeface="Verdana" pitchFamily="34" charset="0"/>
              </a:endParaRPr>
            </a:p>
            <a:p>
              <a:pPr eaLnBrk="0" hangingPunct="0">
                <a:spcBef>
                  <a:spcPct val="50000"/>
                </a:spcBef>
              </a:pPr>
              <a:endParaRPr lang="zh-CN" altLang="en-US" sz="1600" b="1" dirty="0">
                <a:solidFill>
                  <a:srgbClr val="3333CC"/>
                </a:solidFill>
                <a:latin typeface="Verdana" pitchFamily="34" charset="0"/>
              </a:endParaRPr>
            </a:p>
            <a:p>
              <a:pPr eaLnBrk="0" hangingPunct="0">
                <a:spcBef>
                  <a:spcPct val="50000"/>
                </a:spcBef>
              </a:pPr>
              <a:r>
                <a:rPr lang="zh-CN" altLang="en-US" sz="1600" b="1" dirty="0">
                  <a:solidFill>
                    <a:srgbClr val="3333CC"/>
                  </a:solidFill>
                  <a:latin typeface="Verdana" pitchFamily="34" charset="0"/>
                </a:rPr>
                <a:t>第十</a:t>
              </a:r>
            </a:p>
            <a:p>
              <a:pPr eaLnBrk="0" hangingPunct="0">
                <a:spcBef>
                  <a:spcPct val="50000"/>
                </a:spcBef>
              </a:pPr>
              <a:r>
                <a:rPr lang="zh-CN" altLang="en-US" sz="1600" b="1" dirty="0">
                  <a:solidFill>
                    <a:srgbClr val="3333CC"/>
                  </a:solidFill>
                  <a:latin typeface="Verdana" pitchFamily="34" charset="0"/>
                </a:rPr>
                <a:t>二章 </a:t>
              </a:r>
            </a:p>
            <a:p>
              <a:pPr eaLnBrk="0" hangingPunct="0">
                <a:spcBef>
                  <a:spcPct val="50000"/>
                </a:spcBef>
              </a:pPr>
              <a:endParaRPr lang="zh-CN" altLang="en-US" sz="1600" b="1" dirty="0">
                <a:solidFill>
                  <a:srgbClr val="3333CC"/>
                </a:solidFill>
                <a:latin typeface="Verdana" pitchFamily="34" charset="0"/>
              </a:endParaRPr>
            </a:p>
            <a:p>
              <a:pPr eaLnBrk="0" hangingPunct="0">
                <a:spcBef>
                  <a:spcPct val="50000"/>
                </a:spcBef>
              </a:pPr>
              <a:r>
                <a:rPr lang="zh-CN" altLang="en-US" sz="1600" b="1" dirty="0">
                  <a:solidFill>
                    <a:srgbClr val="3333CC"/>
                  </a:solidFill>
                  <a:latin typeface="Verdana" pitchFamily="34" charset="0"/>
                </a:rPr>
                <a:t>文</a:t>
              </a:r>
            </a:p>
            <a:p>
              <a:pPr eaLnBrk="0" hangingPunct="0">
                <a:spcBef>
                  <a:spcPct val="50000"/>
                </a:spcBef>
              </a:pPr>
              <a:endParaRPr lang="zh-CN" altLang="en-US" sz="1600" b="1" dirty="0">
                <a:solidFill>
                  <a:srgbClr val="3333CC"/>
                </a:solidFill>
                <a:latin typeface="Verdana" pitchFamily="34" charset="0"/>
              </a:endParaRPr>
            </a:p>
            <a:p>
              <a:pPr eaLnBrk="0" hangingPunct="0">
                <a:spcBef>
                  <a:spcPct val="50000"/>
                </a:spcBef>
              </a:pPr>
              <a:r>
                <a:rPr lang="zh-CN" altLang="en-US" sz="1600" b="1" dirty="0">
                  <a:solidFill>
                    <a:srgbClr val="3333CC"/>
                  </a:solidFill>
                  <a:latin typeface="Verdana" pitchFamily="34" charset="0"/>
                </a:rPr>
                <a:t>件</a:t>
              </a:r>
            </a:p>
          </p:txBody>
        </p:sp>
        <p:sp>
          <p:nvSpPr>
            <p:cNvPr id="1056796" name="Text Box 28"/>
            <p:cNvSpPr txBox="1">
              <a:spLocks noChangeArrowheads="1"/>
            </p:cNvSpPr>
            <p:nvPr/>
          </p:nvSpPr>
          <p:spPr bwMode="auto">
            <a:xfrm>
              <a:off x="0" y="0"/>
              <a:ext cx="281" cy="231"/>
            </a:xfrm>
            <a:prstGeom prst="rect">
              <a:avLst/>
            </a:prstGeom>
            <a:gradFill rotWithShape="0">
              <a:gsLst>
                <a:gs pos="0">
                  <a:schemeClr val="hlink">
                    <a:gamma/>
                    <a:shade val="46275"/>
                    <a:invGamma/>
                  </a:schemeClr>
                </a:gs>
                <a:gs pos="50000">
                  <a:schemeClr val="hlink"/>
                </a:gs>
                <a:gs pos="100000">
                  <a:schemeClr val="hlink">
                    <a:gamma/>
                    <a:shade val="46275"/>
                    <a:invGamma/>
                  </a:schemeClr>
                </a:gs>
              </a:gsLst>
              <a:lin ang="0" scaled="1"/>
            </a:gradFill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eaLnBrk="0" hangingPunct="0">
                <a:spcBef>
                  <a:spcPct val="50000"/>
                </a:spcBef>
              </a:pPr>
              <a:r>
                <a:rPr lang="en-US" altLang="zh-CN" sz="1800" b="1">
                  <a:solidFill>
                    <a:srgbClr val="0000FF"/>
                  </a:solidFill>
                  <a:latin typeface="Arial" pitchFamily="34" charset="0"/>
                </a:rPr>
                <a:t>C</a:t>
              </a:r>
            </a:p>
          </p:txBody>
        </p:sp>
      </p:grpSp>
    </p:spTree>
  </p:cSld>
  <p:clrMapOvr>
    <a:masterClrMapping/>
  </p:clrMapOvr>
  <p:transition>
    <p:random/>
    <p:sndAc>
      <p:stSnd>
        <p:snd r:embed="rId3" name="CAMER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677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05677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05677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677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05677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05677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677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05677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05677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7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677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05677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05677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3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677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05677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05677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9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67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37" dur="500"/>
                                        <p:tgtEl>
                                          <p:spTgt spid="1056793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56770" grpId="0" build="p" bldLvl="5" autoUpdateAnimBg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7794" name="Rectangle 2"/>
          <p:cNvSpPr>
            <a:spLocks noGrp="1" noChangeArrowheads="1"/>
          </p:cNvSpPr>
          <p:nvPr>
            <p:ph type="body" idx="4294967295"/>
          </p:nvPr>
        </p:nvSpPr>
        <p:spPr>
          <a:xfrm>
            <a:off x="501611" y="158751"/>
            <a:ext cx="6580187" cy="606425"/>
          </a:xfrm>
        </p:spPr>
        <p:txBody>
          <a:bodyPr/>
          <a:lstStyle/>
          <a:p>
            <a:pPr algn="just">
              <a:buFontTx/>
              <a:buNone/>
            </a:pPr>
            <a:r>
              <a:rPr lang="en-US" altLang="zh-CN" dirty="0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隶书" pitchFamily="49" charset="-122"/>
                <a:ea typeface="隶书" pitchFamily="49" charset="-122"/>
              </a:rPr>
              <a:t>12.5 </a:t>
            </a:r>
            <a:r>
              <a:rPr lang="zh-CN" altLang="en-US" dirty="0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隶书" pitchFamily="49" charset="-122"/>
                <a:ea typeface="隶书" pitchFamily="49" charset="-122"/>
              </a:rPr>
              <a:t>文件的打开、读写和关闭 </a:t>
            </a:r>
          </a:p>
        </p:txBody>
      </p:sp>
      <p:sp>
        <p:nvSpPr>
          <p:cNvPr id="1057800" name="Rectangle 8"/>
          <p:cNvSpPr>
            <a:spLocks noChangeArrowheads="1"/>
          </p:cNvSpPr>
          <p:nvPr/>
        </p:nvSpPr>
        <p:spPr bwMode="auto">
          <a:xfrm>
            <a:off x="850846" y="3429000"/>
            <a:ext cx="3249613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r>
              <a:rPr lang="en-US" altLang="zh-CN" b="1" dirty="0">
                <a:solidFill>
                  <a:srgbClr val="D60093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隶书" panose="02010509060101010101" pitchFamily="49" charset="-122"/>
                <a:ea typeface="隶书" panose="02010509060101010101" pitchFamily="49" charset="-122"/>
              </a:rPr>
              <a:t>1</a:t>
            </a:r>
            <a:r>
              <a:rPr lang="zh-CN" altLang="en-US" b="1" dirty="0">
                <a:solidFill>
                  <a:srgbClr val="D60093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隶书" panose="02010509060101010101" pitchFamily="49" charset="-122"/>
                <a:ea typeface="隶书" panose="02010509060101010101" pitchFamily="49" charset="-122"/>
              </a:rPr>
              <a:t>、文件的打开与关闭 </a:t>
            </a:r>
          </a:p>
        </p:txBody>
      </p:sp>
      <p:sp>
        <p:nvSpPr>
          <p:cNvPr id="1057801" name="Rectangle 9"/>
          <p:cNvSpPr>
            <a:spLocks noChangeArrowheads="1"/>
          </p:cNvSpPr>
          <p:nvPr/>
        </p:nvSpPr>
        <p:spPr bwMode="auto">
          <a:xfrm>
            <a:off x="1305754" y="3919537"/>
            <a:ext cx="2641436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anchor="ctr">
            <a:spAutoFit/>
          </a:bodyPr>
          <a:lstStyle/>
          <a:p>
            <a:pPr>
              <a:buFont typeface="Wingdings" pitchFamily="2" charset="2"/>
              <a:buChar char="Ø"/>
              <a:tabLst>
                <a:tab pos="496888" algn="l"/>
              </a:tabLst>
            </a:pPr>
            <a:r>
              <a:rPr lang="en-US" altLang="zh-CN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楷体" pitchFamily="49" charset="-122"/>
              </a:rPr>
              <a:t> </a:t>
            </a:r>
            <a:r>
              <a:rPr lang="zh-CN" altLang="en-US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楷体" pitchFamily="49" charset="-122"/>
              </a:rPr>
              <a:t>打开文件</a:t>
            </a:r>
            <a:r>
              <a:rPr lang="en-US" altLang="zh-CN" b="1" dirty="0" err="1">
                <a:solidFill>
                  <a:srgbClr val="0000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楷体" pitchFamily="49" charset="-122"/>
              </a:rPr>
              <a:t>fopen</a:t>
            </a:r>
            <a:endParaRPr lang="en-US" altLang="zh-CN" b="1" dirty="0">
              <a:solidFill>
                <a:srgbClr val="0000FF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+mn-lt"/>
              <a:ea typeface="楷体" pitchFamily="49" charset="-122"/>
            </a:endParaRPr>
          </a:p>
        </p:txBody>
      </p:sp>
      <p:sp>
        <p:nvSpPr>
          <p:cNvPr id="1057802" name="Text Box 10"/>
          <p:cNvSpPr txBox="1">
            <a:spLocks noChangeArrowheads="1"/>
          </p:cNvSpPr>
          <p:nvPr/>
        </p:nvSpPr>
        <p:spPr bwMode="auto">
          <a:xfrm>
            <a:off x="2180357" y="4927600"/>
            <a:ext cx="6867971" cy="431800"/>
          </a:xfrm>
          <a:prstGeom prst="rect">
            <a:avLst/>
          </a:prstGeom>
          <a:gradFill rotWithShape="1">
            <a:gsLst>
              <a:gs pos="0">
                <a:srgbClr val="FFFF99"/>
              </a:gs>
              <a:gs pos="100000">
                <a:srgbClr val="FFFF99">
                  <a:gamma/>
                  <a:shade val="75686"/>
                  <a:invGamma/>
                </a:srgbClr>
              </a:gs>
            </a:gsLst>
            <a:lin ang="5400000" scaled="1"/>
          </a:gradFill>
          <a:ln w="38100">
            <a:solidFill>
              <a:srgbClr val="0000FF"/>
            </a:solidFill>
            <a:miter lim="800000"/>
            <a:headEnd/>
            <a:tailEnd/>
          </a:ln>
          <a:effectLst>
            <a:outerShdw blurRad="50800" dist="106680" dir="2700000" algn="tl" rotWithShape="0">
              <a:prstClr val="black">
                <a:alpha val="43000"/>
              </a:prstClr>
            </a:outerShdw>
          </a:effectLst>
          <a:scene3d>
            <a:camera prst="orthographicFront"/>
            <a:lightRig rig="threePt" dir="t"/>
          </a:scene3d>
          <a:sp3d>
            <a:bevelT w="114300" prst="hardEdge"/>
          </a:sp3d>
        </p:spPr>
        <p:txBody>
          <a:bodyPr/>
          <a:lstStyle/>
          <a:p>
            <a:r>
              <a:rPr lang="en-US" altLang="zh-CN" sz="2000" b="1" dirty="0">
                <a:effectLst>
                  <a:outerShdw blurRad="38100" dist="38100" dir="2700000" algn="tl">
                    <a:srgbClr val="FFFFFF"/>
                  </a:outerShdw>
                </a:effectLst>
              </a:rPr>
              <a:t>   FILE  *</a:t>
            </a:r>
            <a:r>
              <a:rPr lang="en-US" altLang="zh-CN" sz="2000" b="1" dirty="0" err="1">
                <a:effectLst>
                  <a:outerShdw blurRad="38100" dist="38100" dir="2700000" algn="tl">
                    <a:srgbClr val="FFFFFF"/>
                  </a:outerShdw>
                </a:effectLst>
              </a:rPr>
              <a:t>fopen</a:t>
            </a:r>
            <a:r>
              <a:rPr lang="en-US" altLang="zh-CN" sz="2000" b="1" dirty="0">
                <a:effectLst>
                  <a:outerShdw blurRad="38100" dist="38100" dir="2700000" algn="tl">
                    <a:srgbClr val="FFFFFF"/>
                  </a:outerShdw>
                </a:effectLst>
              </a:rPr>
              <a:t> (char *filename,  char *mode);</a:t>
            </a:r>
          </a:p>
        </p:txBody>
      </p:sp>
      <p:sp>
        <p:nvSpPr>
          <p:cNvPr id="1057803" name="Rectangle 11"/>
          <p:cNvSpPr>
            <a:spLocks noChangeArrowheads="1"/>
          </p:cNvSpPr>
          <p:nvPr/>
        </p:nvSpPr>
        <p:spPr bwMode="auto">
          <a:xfrm>
            <a:off x="815935" y="764704"/>
            <a:ext cx="7993062" cy="120032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buClr>
                <a:srgbClr val="FF0000"/>
              </a:buClr>
              <a:buFont typeface="Wingdings" pitchFamily="2" charset="2"/>
              <a:buChar char="Ø"/>
            </a:pPr>
            <a:r>
              <a:rPr lang="en-US" altLang="zh-CN" b="1" dirty="0">
                <a:effectLst>
                  <a:outerShdw blurRad="38100" dist="38100" dir="2700000" algn="tl">
                    <a:srgbClr val="FFFFFF"/>
                  </a:outerShdw>
                </a:effectLst>
                <a:latin typeface="+mn-lt"/>
                <a:ea typeface="楷体" panose="02010609060101010101" pitchFamily="49" charset="-122"/>
              </a:rPr>
              <a:t> C</a:t>
            </a:r>
            <a:r>
              <a:rPr lang="zh-CN" altLang="en-US" b="1" dirty="0">
                <a:effectLst>
                  <a:outerShdw blurRad="38100" dist="38100" dir="2700000" algn="tl">
                    <a:srgbClr val="FFFFFF"/>
                  </a:outerShdw>
                </a:effectLst>
                <a:latin typeface="+mn-lt"/>
                <a:ea typeface="楷体" panose="02010609060101010101" pitchFamily="49" charset="-122"/>
              </a:rPr>
              <a:t>文件操作用</a:t>
            </a:r>
            <a:r>
              <a:rPr lang="zh-CN" altLang="en-US" b="1" dirty="0">
                <a:solidFill>
                  <a:schemeClr val="accent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楷体" panose="02010609060101010101" pitchFamily="49" charset="-122"/>
              </a:rPr>
              <a:t>库函数</a:t>
            </a:r>
            <a:r>
              <a:rPr lang="zh-CN" altLang="en-US" b="1" dirty="0">
                <a:effectLst>
                  <a:outerShdw blurRad="38100" dist="38100" dir="2700000" algn="tl">
                    <a:srgbClr val="FFFFFF"/>
                  </a:outerShdw>
                </a:effectLst>
                <a:latin typeface="+mn-lt"/>
                <a:ea typeface="楷体" panose="02010609060101010101" pitchFamily="49" charset="-122"/>
              </a:rPr>
              <a:t>实现，包含在</a:t>
            </a:r>
            <a:r>
              <a:rPr lang="en-US" altLang="zh-CN" b="1" dirty="0" err="1">
                <a:effectLst>
                  <a:outerShdw blurRad="38100" dist="38100" dir="2700000" algn="tl">
                    <a:srgbClr val="FFFFFF"/>
                  </a:outerShdw>
                </a:effectLst>
                <a:latin typeface="+mn-lt"/>
                <a:ea typeface="楷体" panose="02010609060101010101" pitchFamily="49" charset="-122"/>
              </a:rPr>
              <a:t>stdio.h</a:t>
            </a:r>
            <a:endParaRPr lang="en-US" altLang="zh-CN" b="1" dirty="0">
              <a:effectLst>
                <a:outerShdw blurRad="38100" dist="38100" dir="2700000" algn="tl">
                  <a:srgbClr val="FFFFFF"/>
                </a:outerShdw>
              </a:effectLst>
              <a:latin typeface="+mn-lt"/>
              <a:ea typeface="楷体" panose="02010609060101010101" pitchFamily="49" charset="-122"/>
            </a:endParaRPr>
          </a:p>
          <a:p>
            <a:pPr>
              <a:buClr>
                <a:srgbClr val="FF0000"/>
              </a:buClr>
              <a:buFont typeface="Wingdings" pitchFamily="2" charset="2"/>
              <a:buChar char="Ø"/>
            </a:pPr>
            <a:r>
              <a:rPr lang="en-US" altLang="zh-CN" b="1" dirty="0">
                <a:effectLst>
                  <a:outerShdw blurRad="38100" dist="38100" dir="2700000" algn="tl">
                    <a:srgbClr val="FFFFFF"/>
                  </a:outerShdw>
                </a:effectLst>
                <a:latin typeface="+mn-lt"/>
                <a:ea typeface="楷体" panose="02010609060101010101" pitchFamily="49" charset="-122"/>
              </a:rPr>
              <a:t> </a:t>
            </a:r>
            <a:r>
              <a:rPr lang="zh-CN" altLang="en-US" b="1" dirty="0">
                <a:effectLst>
                  <a:outerShdw blurRad="38100" dist="38100" dir="2700000" algn="tl">
                    <a:srgbClr val="FFFFFF"/>
                  </a:outerShdw>
                </a:effectLst>
                <a:latin typeface="+mn-lt"/>
                <a:ea typeface="楷体" panose="02010609060101010101" pitchFamily="49" charset="-122"/>
              </a:rPr>
              <a:t>文件使用方式</a:t>
            </a:r>
            <a:r>
              <a:rPr lang="en-US" altLang="zh-CN" b="1" dirty="0">
                <a:effectLst>
                  <a:outerShdw blurRad="38100" dist="38100" dir="2700000" algn="tl">
                    <a:srgbClr val="FFFFFF"/>
                  </a:outerShdw>
                </a:effectLst>
                <a:latin typeface="+mn-lt"/>
                <a:ea typeface="楷体" panose="02010609060101010101" pitchFamily="49" charset="-122"/>
              </a:rPr>
              <a:t>:</a:t>
            </a:r>
            <a:r>
              <a:rPr lang="zh-CN" altLang="en-US" b="1" dirty="0">
                <a:solidFill>
                  <a:schemeClr val="accent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楷体" panose="02010609060101010101" pitchFamily="49" charset="-122"/>
              </a:rPr>
              <a:t>打开文件</a:t>
            </a:r>
            <a:r>
              <a:rPr lang="en-US" altLang="zh-CN" b="1" dirty="0">
                <a:solidFill>
                  <a:schemeClr val="tx2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+mn-lt"/>
                <a:ea typeface="楷体" panose="02010609060101010101" pitchFamily="49" charset="-122"/>
              </a:rPr>
              <a:t>--&gt;</a:t>
            </a:r>
            <a:r>
              <a:rPr lang="zh-CN" altLang="en-US" b="1" dirty="0">
                <a:solidFill>
                  <a:srgbClr val="FF33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楷体" panose="02010609060101010101" pitchFamily="49" charset="-122"/>
              </a:rPr>
              <a:t>文件读</a:t>
            </a:r>
            <a:r>
              <a:rPr lang="en-US" altLang="zh-CN" b="1" dirty="0">
                <a:solidFill>
                  <a:srgbClr val="FF33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楷体" panose="02010609060101010101" pitchFamily="49" charset="-122"/>
              </a:rPr>
              <a:t>/</a:t>
            </a:r>
            <a:r>
              <a:rPr lang="zh-CN" altLang="en-US" b="1" dirty="0">
                <a:solidFill>
                  <a:srgbClr val="FF33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楷体" panose="02010609060101010101" pitchFamily="49" charset="-122"/>
              </a:rPr>
              <a:t>写</a:t>
            </a:r>
            <a:r>
              <a:rPr lang="en-US" altLang="zh-CN" b="1" dirty="0">
                <a:solidFill>
                  <a:schemeClr val="tx2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+mn-lt"/>
                <a:ea typeface="楷体" panose="02010609060101010101" pitchFamily="49" charset="-122"/>
              </a:rPr>
              <a:t>--&gt;</a:t>
            </a:r>
            <a:r>
              <a:rPr lang="zh-CN" altLang="en-US" b="1" dirty="0">
                <a:solidFill>
                  <a:schemeClr val="accent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楷体" panose="02010609060101010101" pitchFamily="49" charset="-122"/>
              </a:rPr>
              <a:t>关闭文件</a:t>
            </a:r>
          </a:p>
          <a:p>
            <a:pPr>
              <a:buClr>
                <a:srgbClr val="FF0000"/>
              </a:buClr>
              <a:buFont typeface="Wingdings" pitchFamily="2" charset="2"/>
              <a:buChar char="Ø"/>
            </a:pPr>
            <a:r>
              <a:rPr lang="zh-CN" altLang="en-US" b="1" dirty="0">
                <a:effectLst>
                  <a:outerShdw blurRad="38100" dist="38100" dir="2700000" algn="tl">
                    <a:srgbClr val="FFFFFF"/>
                  </a:outerShdw>
                </a:effectLst>
                <a:latin typeface="+mn-lt"/>
                <a:ea typeface="楷体" panose="02010609060101010101" pitchFamily="49" charset="-122"/>
              </a:rPr>
              <a:t> </a:t>
            </a:r>
            <a:r>
              <a:rPr lang="zh-CN" altLang="zh-CN" b="1" dirty="0">
                <a:effectLst>
                  <a:outerShdw blurRad="38100" dist="38100" dir="2700000" algn="tl">
                    <a:srgbClr val="FFFFFF"/>
                  </a:outerShdw>
                </a:effectLst>
                <a:latin typeface="+mn-lt"/>
                <a:ea typeface="楷体" panose="02010609060101010101" pitchFamily="49" charset="-122"/>
              </a:rPr>
              <a:t>系统</a:t>
            </a:r>
            <a:r>
              <a:rPr lang="zh-CN" altLang="zh-CN" b="1" dirty="0">
                <a:solidFill>
                  <a:schemeClr val="accent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楷体" panose="02010609060101010101" pitchFamily="49" charset="-122"/>
              </a:rPr>
              <a:t>自动</a:t>
            </a:r>
            <a:r>
              <a:rPr lang="zh-CN" altLang="zh-CN" b="1" dirty="0">
                <a:effectLst>
                  <a:outerShdw blurRad="38100" dist="38100" dir="2700000" algn="tl">
                    <a:srgbClr val="FFFFFF"/>
                  </a:outerShdw>
                </a:effectLst>
                <a:latin typeface="+mn-lt"/>
                <a:ea typeface="楷体" panose="02010609060101010101" pitchFamily="49" charset="-122"/>
              </a:rPr>
              <a:t>打开和关闭三个</a:t>
            </a:r>
            <a:r>
              <a:rPr lang="zh-CN" altLang="zh-CN" b="1" dirty="0">
                <a:solidFill>
                  <a:srgbClr val="FF99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楷体" panose="02010609060101010101" pitchFamily="49" charset="-122"/>
              </a:rPr>
              <a:t>标准文件</a:t>
            </a:r>
            <a:r>
              <a:rPr lang="zh-CN" altLang="zh-CN" b="1" dirty="0">
                <a:effectLst>
                  <a:outerShdw blurRad="38100" dist="38100" dir="2700000" algn="tl">
                    <a:srgbClr val="FFFFFF"/>
                  </a:outerShdw>
                </a:effectLst>
                <a:latin typeface="+mn-lt"/>
                <a:ea typeface="楷体" panose="02010609060101010101" pitchFamily="49" charset="-122"/>
              </a:rPr>
              <a:t>：</a:t>
            </a:r>
            <a:endParaRPr lang="zh-CN" altLang="en-US" b="1" dirty="0">
              <a:solidFill>
                <a:srgbClr val="D60093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+mn-lt"/>
              <a:ea typeface="楷体" panose="02010609060101010101" pitchFamily="49" charset="-122"/>
            </a:endParaRPr>
          </a:p>
        </p:txBody>
      </p:sp>
      <p:sp>
        <p:nvSpPr>
          <p:cNvPr id="1057804" name="Rectangle 12"/>
          <p:cNvSpPr>
            <a:spLocks noChangeArrowheads="1"/>
          </p:cNvSpPr>
          <p:nvPr/>
        </p:nvSpPr>
        <p:spPr bwMode="auto">
          <a:xfrm>
            <a:off x="1127448" y="2025066"/>
            <a:ext cx="7920880" cy="1200329"/>
          </a:xfrm>
          <a:prstGeom prst="rect">
            <a:avLst/>
          </a:prstGeom>
          <a:ln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>
              <a:buClr>
                <a:srgbClr val="339933"/>
              </a:buClr>
              <a:buFont typeface="Wingdings" pitchFamily="2" charset="2"/>
              <a:buChar char="l"/>
            </a:pPr>
            <a:r>
              <a:rPr lang="en-US" altLang="zh-CN" b="1" dirty="0">
                <a:effectLst>
                  <a:outerShdw blurRad="38100" dist="38100" dir="2700000" algn="tl">
                    <a:srgbClr val="FFFFFF"/>
                  </a:outerShdw>
                </a:effectLst>
                <a:ea typeface="楷体" pitchFamily="49" charset="-122"/>
              </a:rPr>
              <a:t> </a:t>
            </a:r>
            <a:r>
              <a:rPr lang="zh-CN" altLang="zh-CN" b="1" dirty="0">
                <a:effectLst>
                  <a:outerShdw blurRad="38100" dist="38100" dir="2700000" algn="tl">
                    <a:srgbClr val="FFFFFF"/>
                  </a:outerShdw>
                </a:effectLst>
                <a:ea typeface="楷体" pitchFamily="49" charset="-122"/>
              </a:rPr>
              <a:t>标准输入------键盘                </a:t>
            </a:r>
            <a:r>
              <a:rPr lang="en-US" altLang="zh-CN" b="1" dirty="0" err="1">
                <a:solidFill>
                  <a:srgbClr val="D60093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楷体" pitchFamily="49" charset="-122"/>
              </a:rPr>
              <a:t>stdin</a:t>
            </a:r>
            <a:endParaRPr lang="en-US" altLang="zh-CN" b="1" dirty="0">
              <a:solidFill>
                <a:srgbClr val="D60093"/>
              </a:solidFill>
              <a:effectLst>
                <a:outerShdw blurRad="38100" dist="38100" dir="2700000" algn="tl">
                  <a:srgbClr val="000000"/>
                </a:outerShdw>
              </a:effectLst>
              <a:ea typeface="楷体" pitchFamily="49" charset="-122"/>
            </a:endParaRPr>
          </a:p>
          <a:p>
            <a:pPr>
              <a:buClr>
                <a:srgbClr val="339933"/>
              </a:buClr>
              <a:buFont typeface="Wingdings" pitchFamily="2" charset="2"/>
              <a:buChar char="l"/>
            </a:pPr>
            <a:r>
              <a:rPr lang="en-US" altLang="zh-CN" b="1" dirty="0">
                <a:effectLst>
                  <a:outerShdw blurRad="38100" dist="38100" dir="2700000" algn="tl">
                    <a:srgbClr val="FFFFFF"/>
                  </a:outerShdw>
                </a:effectLst>
                <a:ea typeface="楷体" pitchFamily="49" charset="-122"/>
              </a:rPr>
              <a:t> </a:t>
            </a:r>
            <a:r>
              <a:rPr lang="zh-CN" altLang="zh-CN" b="1" dirty="0">
                <a:effectLst>
                  <a:outerShdw blurRad="38100" dist="38100" dir="2700000" algn="tl">
                    <a:srgbClr val="FFFFFF"/>
                  </a:outerShdw>
                </a:effectLst>
                <a:ea typeface="楷体" pitchFamily="49" charset="-122"/>
              </a:rPr>
              <a:t>标准输出------显示器            </a:t>
            </a:r>
            <a:r>
              <a:rPr lang="en-US" altLang="zh-CN" b="1" dirty="0" err="1">
                <a:solidFill>
                  <a:srgbClr val="D60093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楷体" pitchFamily="49" charset="-122"/>
              </a:rPr>
              <a:t>stdout</a:t>
            </a:r>
            <a:endParaRPr lang="en-US" altLang="zh-CN" b="1" dirty="0">
              <a:solidFill>
                <a:srgbClr val="D60093"/>
              </a:solidFill>
              <a:effectLst>
                <a:outerShdw blurRad="38100" dist="38100" dir="2700000" algn="tl">
                  <a:srgbClr val="000000"/>
                </a:outerShdw>
              </a:effectLst>
              <a:ea typeface="楷体" pitchFamily="49" charset="-122"/>
            </a:endParaRPr>
          </a:p>
          <a:p>
            <a:pPr>
              <a:buClr>
                <a:srgbClr val="339933"/>
              </a:buClr>
              <a:buFont typeface="Wingdings" pitchFamily="2" charset="2"/>
              <a:buChar char="l"/>
            </a:pPr>
            <a:r>
              <a:rPr lang="en-US" altLang="zh-CN" b="1" dirty="0">
                <a:effectLst>
                  <a:outerShdw blurRad="38100" dist="38100" dir="2700000" algn="tl">
                    <a:srgbClr val="FFFFFF"/>
                  </a:outerShdw>
                </a:effectLst>
                <a:ea typeface="楷体" pitchFamily="49" charset="-122"/>
              </a:rPr>
              <a:t> </a:t>
            </a:r>
            <a:r>
              <a:rPr lang="zh-CN" altLang="zh-CN" b="1" dirty="0">
                <a:effectLst>
                  <a:outerShdw blurRad="38100" dist="38100" dir="2700000" algn="tl">
                    <a:srgbClr val="FFFFFF"/>
                  </a:outerShdw>
                </a:effectLst>
                <a:ea typeface="楷体" pitchFamily="49" charset="-122"/>
              </a:rPr>
              <a:t>标准出错输出-----显示器     </a:t>
            </a:r>
            <a:r>
              <a:rPr lang="en-US" altLang="zh-CN" b="1" dirty="0" err="1">
                <a:solidFill>
                  <a:srgbClr val="D60093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楷体" pitchFamily="49" charset="-122"/>
              </a:rPr>
              <a:t>stderr</a:t>
            </a:r>
            <a:endParaRPr lang="en-US" altLang="zh-CN" b="1" dirty="0">
              <a:solidFill>
                <a:srgbClr val="D60093"/>
              </a:solidFill>
              <a:effectLst>
                <a:outerShdw blurRad="38100" dist="38100" dir="2700000" algn="tl">
                  <a:srgbClr val="000000"/>
                </a:outerShdw>
              </a:effectLst>
              <a:ea typeface="楷体" pitchFamily="49" charset="-122"/>
            </a:endParaRPr>
          </a:p>
        </p:txBody>
      </p:sp>
      <p:sp>
        <p:nvSpPr>
          <p:cNvPr id="1057805" name="Rectangle 13"/>
          <p:cNvSpPr>
            <a:spLocks noChangeArrowheads="1"/>
          </p:cNvSpPr>
          <p:nvPr/>
        </p:nvSpPr>
        <p:spPr bwMode="auto">
          <a:xfrm>
            <a:off x="1622510" y="4367212"/>
            <a:ext cx="2160587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buClr>
                <a:srgbClr val="339933"/>
              </a:buClr>
              <a:buFont typeface="Wingdings" pitchFamily="2" charset="2"/>
              <a:buChar char="l"/>
            </a:pPr>
            <a:r>
              <a:rPr lang="en-US" altLang="zh-CN" b="1" dirty="0">
                <a:effectLst>
                  <a:outerShdw blurRad="38100" dist="38100" dir="2700000" algn="tl">
                    <a:srgbClr val="FFFFFF"/>
                  </a:outerShdw>
                </a:effectLst>
                <a:latin typeface="+mn-lt"/>
                <a:ea typeface="楷体" pitchFamily="49" charset="-122"/>
              </a:rPr>
              <a:t> </a:t>
            </a:r>
            <a:r>
              <a:rPr lang="zh-CN" altLang="zh-CN" b="1" dirty="0">
                <a:effectLst>
                  <a:outerShdw blurRad="38100" dist="38100" dir="2700000" algn="tl">
                    <a:srgbClr val="FFFFFF"/>
                  </a:outerShdw>
                </a:effectLst>
                <a:latin typeface="+mn-lt"/>
                <a:ea typeface="楷体" pitchFamily="49" charset="-122"/>
              </a:rPr>
              <a:t>函数原形：         </a:t>
            </a:r>
            <a:endParaRPr lang="zh-CN" altLang="en-US" b="1" dirty="0">
              <a:solidFill>
                <a:srgbClr val="D60093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+mn-lt"/>
              <a:ea typeface="楷体" pitchFamily="49" charset="-122"/>
            </a:endParaRPr>
          </a:p>
        </p:txBody>
      </p:sp>
      <p:sp>
        <p:nvSpPr>
          <p:cNvPr id="1057806" name="AutoShape 14"/>
          <p:cNvSpPr>
            <a:spLocks noChangeArrowheads="1"/>
          </p:cNvSpPr>
          <p:nvPr/>
        </p:nvSpPr>
        <p:spPr bwMode="auto">
          <a:xfrm>
            <a:off x="4079776" y="4078288"/>
            <a:ext cx="1989138" cy="415925"/>
          </a:xfrm>
          <a:prstGeom prst="wedgeRectCallout">
            <a:avLst>
              <a:gd name="adj1" fmla="val 1954"/>
              <a:gd name="adj2" fmla="val 177861"/>
            </a:avLst>
          </a:prstGeom>
          <a:gradFill rotWithShape="1">
            <a:gsLst>
              <a:gs pos="0">
                <a:srgbClr val="00FFFF"/>
              </a:gs>
              <a:gs pos="100000">
                <a:schemeClr val="bg1"/>
              </a:gs>
            </a:gsLst>
            <a:lin ang="5400000" scaled="1"/>
          </a:gradFill>
          <a:ln w="19050">
            <a:solidFill>
              <a:srgbClr val="FF00FF"/>
            </a:solidFill>
            <a:miter lim="800000"/>
            <a:headEnd/>
            <a:tailEnd/>
          </a:ln>
          <a:effectLst>
            <a:outerShdw blurRad="50800" dist="106680" dir="2700000" algn="tl" rotWithShape="0">
              <a:prstClr val="black">
                <a:alpha val="43000"/>
              </a:prstClr>
            </a:outerShdw>
          </a:effectLst>
          <a:scene3d>
            <a:camera prst="orthographicFront"/>
            <a:lightRig rig="threePt" dir="t"/>
          </a:scene3d>
          <a:sp3d>
            <a:bevelT w="114300" prst="hardEdge"/>
          </a:sp3d>
        </p:spPr>
        <p:txBody>
          <a:bodyPr wrap="none" lIns="90000" tIns="46800" rIns="90000" bIns="46800" anchor="ctr">
            <a:spAutoFit/>
          </a:bodyPr>
          <a:lstStyle/>
          <a:p>
            <a:r>
              <a:rPr lang="zh-CN" altLang="zh-CN" sz="2000" b="1">
                <a:solidFill>
                  <a:srgbClr val="D60093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楷体" pitchFamily="49" charset="-122"/>
              </a:rPr>
              <a:t>要打开的文件名</a:t>
            </a:r>
            <a:endParaRPr lang="zh-CN" altLang="en-US" sz="2000" b="1">
              <a:solidFill>
                <a:srgbClr val="D60093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+mn-lt"/>
              <a:ea typeface="楷体" pitchFamily="49" charset="-122"/>
            </a:endParaRPr>
          </a:p>
        </p:txBody>
      </p:sp>
      <p:sp>
        <p:nvSpPr>
          <p:cNvPr id="1057807" name="AutoShape 15"/>
          <p:cNvSpPr>
            <a:spLocks noChangeArrowheads="1"/>
          </p:cNvSpPr>
          <p:nvPr/>
        </p:nvSpPr>
        <p:spPr bwMode="auto">
          <a:xfrm>
            <a:off x="6495604" y="4078288"/>
            <a:ext cx="1733550" cy="415925"/>
          </a:xfrm>
          <a:prstGeom prst="wedgeRectCallout">
            <a:avLst>
              <a:gd name="adj1" fmla="val -34523"/>
              <a:gd name="adj2" fmla="val 191602"/>
            </a:avLst>
          </a:prstGeom>
          <a:gradFill rotWithShape="1">
            <a:gsLst>
              <a:gs pos="0">
                <a:srgbClr val="00FFFF"/>
              </a:gs>
              <a:gs pos="100000">
                <a:schemeClr val="bg1"/>
              </a:gs>
            </a:gsLst>
            <a:lin ang="5400000" scaled="1"/>
          </a:gradFill>
          <a:ln w="19050">
            <a:solidFill>
              <a:srgbClr val="FF00FF"/>
            </a:solidFill>
            <a:miter lim="800000"/>
            <a:headEnd/>
            <a:tailEnd/>
          </a:ln>
          <a:effectLst>
            <a:outerShdw blurRad="50800" dist="106680" dir="2700000" algn="tl" rotWithShape="0">
              <a:prstClr val="black">
                <a:alpha val="43000"/>
              </a:prstClr>
            </a:outerShdw>
          </a:effectLst>
          <a:scene3d>
            <a:camera prst="orthographicFront"/>
            <a:lightRig rig="threePt" dir="t"/>
          </a:scene3d>
          <a:sp3d>
            <a:bevelT w="114300" prst="hardEdge"/>
          </a:sp3d>
        </p:spPr>
        <p:txBody>
          <a:bodyPr wrap="none" lIns="90000" tIns="46800" rIns="90000" bIns="46800" anchor="ctr">
            <a:spAutoFit/>
          </a:bodyPr>
          <a:lstStyle/>
          <a:p>
            <a:r>
              <a:rPr lang="zh-CN" altLang="zh-CN" sz="2000" b="1">
                <a:solidFill>
                  <a:srgbClr val="D60093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楷体" pitchFamily="49" charset="-122"/>
              </a:rPr>
              <a:t>打开文件方式</a:t>
            </a:r>
            <a:endParaRPr lang="zh-CN" altLang="en-US" sz="2000" b="1">
              <a:solidFill>
                <a:srgbClr val="D60093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+mn-lt"/>
              <a:ea typeface="楷体" pitchFamily="49" charset="-122"/>
            </a:endParaRPr>
          </a:p>
        </p:txBody>
      </p:sp>
      <p:sp>
        <p:nvSpPr>
          <p:cNvPr id="1057808" name="Rectangle 16"/>
          <p:cNvSpPr>
            <a:spLocks noChangeArrowheads="1"/>
          </p:cNvSpPr>
          <p:nvPr/>
        </p:nvSpPr>
        <p:spPr bwMode="auto">
          <a:xfrm>
            <a:off x="1625366" y="5421313"/>
            <a:ext cx="9620920" cy="8309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buClr>
                <a:srgbClr val="339933"/>
              </a:buClr>
              <a:buFont typeface="Wingdings" pitchFamily="2" charset="2"/>
              <a:buChar char="l"/>
            </a:pPr>
            <a:r>
              <a:rPr lang="en-US" altLang="zh-CN" b="1" dirty="0">
                <a:effectLst>
                  <a:outerShdw blurRad="38100" dist="38100" dir="2700000" algn="tl">
                    <a:srgbClr val="FFFFFF"/>
                  </a:outerShdw>
                </a:effectLst>
                <a:latin typeface="+mn-lt"/>
                <a:ea typeface="楷体" pitchFamily="49" charset="-122"/>
              </a:rPr>
              <a:t> </a:t>
            </a:r>
            <a:r>
              <a:rPr lang="zh-CN" altLang="en-US" b="1" dirty="0">
                <a:effectLst>
                  <a:outerShdw blurRad="38100" dist="38100" dir="2700000" algn="tl">
                    <a:srgbClr val="FFFFFF"/>
                  </a:outerShdw>
                </a:effectLst>
                <a:latin typeface="+mn-lt"/>
                <a:ea typeface="楷体" pitchFamily="49" charset="-122"/>
              </a:rPr>
              <a:t>功能：按指定方式打开文件</a:t>
            </a:r>
          </a:p>
          <a:p>
            <a:pPr marL="180975" indent="-180975">
              <a:buClr>
                <a:srgbClr val="339933"/>
              </a:buClr>
              <a:buFont typeface="Wingdings" pitchFamily="2" charset="2"/>
              <a:buChar char="l"/>
            </a:pPr>
            <a:r>
              <a:rPr lang="zh-CN" altLang="en-US" b="1" dirty="0">
                <a:effectLst>
                  <a:outerShdw blurRad="38100" dist="38100" dir="2700000" algn="tl">
                    <a:srgbClr val="FFFFFF"/>
                  </a:outerShdw>
                </a:effectLst>
                <a:latin typeface="+mn-lt"/>
                <a:ea typeface="楷体" pitchFamily="49" charset="-122"/>
              </a:rPr>
              <a:t> 返值：正常打开，为指向文件结构体的指针；打开 失败，为</a:t>
            </a:r>
            <a:r>
              <a:rPr lang="en-US" altLang="zh-CN" b="1" dirty="0">
                <a:effectLst>
                  <a:outerShdw blurRad="38100" dist="38100" dir="2700000" algn="tl">
                    <a:srgbClr val="FFFFFF"/>
                  </a:outerShdw>
                </a:effectLst>
                <a:latin typeface="+mn-lt"/>
                <a:ea typeface="楷体" pitchFamily="49" charset="-122"/>
              </a:rPr>
              <a:t>NULL</a:t>
            </a:r>
            <a:r>
              <a:rPr lang="zh-CN" altLang="en-US" b="1" dirty="0">
                <a:effectLst>
                  <a:outerShdw blurRad="38100" dist="38100" dir="2700000" algn="tl">
                    <a:srgbClr val="FFFFFF"/>
                  </a:outerShdw>
                </a:effectLst>
                <a:latin typeface="+mn-lt"/>
                <a:ea typeface="楷体" pitchFamily="49" charset="-122"/>
              </a:rPr>
              <a:t>。</a:t>
            </a:r>
            <a:endParaRPr lang="en-US" altLang="zh-CN" b="1" dirty="0">
              <a:effectLst>
                <a:outerShdw blurRad="38100" dist="38100" dir="2700000" algn="tl">
                  <a:srgbClr val="FFFFFF"/>
                </a:outerShdw>
              </a:effectLst>
              <a:latin typeface="+mn-lt"/>
              <a:ea typeface="楷体" pitchFamily="49" charset="-122"/>
            </a:endParaRPr>
          </a:p>
        </p:txBody>
      </p:sp>
      <p:grpSp>
        <p:nvGrpSpPr>
          <p:cNvPr id="1057809" name="Group 17"/>
          <p:cNvGrpSpPr>
            <a:grpSpLocks/>
          </p:cNvGrpSpPr>
          <p:nvPr/>
        </p:nvGrpSpPr>
        <p:grpSpPr bwMode="auto">
          <a:xfrm>
            <a:off x="-11153" y="0"/>
            <a:ext cx="446088" cy="6858000"/>
            <a:chOff x="0" y="0"/>
            <a:chExt cx="281" cy="4320"/>
          </a:xfrm>
        </p:grpSpPr>
        <p:sp>
          <p:nvSpPr>
            <p:cNvPr id="1057810" name="Text Box 18"/>
            <p:cNvSpPr txBox="1">
              <a:spLocks noChangeArrowheads="1"/>
            </p:cNvSpPr>
            <p:nvPr/>
          </p:nvSpPr>
          <p:spPr bwMode="auto">
            <a:xfrm>
              <a:off x="0" y="0"/>
              <a:ext cx="281" cy="4320"/>
            </a:xfrm>
            <a:prstGeom prst="rect">
              <a:avLst/>
            </a:prstGeom>
            <a:gradFill rotWithShape="0">
              <a:gsLst>
                <a:gs pos="0">
                  <a:schemeClr val="hlink">
                    <a:gamma/>
                    <a:shade val="60784"/>
                    <a:invGamma/>
                  </a:schemeClr>
                </a:gs>
                <a:gs pos="50000">
                  <a:schemeClr val="hlink"/>
                </a:gs>
                <a:gs pos="100000">
                  <a:schemeClr val="hlink">
                    <a:gamma/>
                    <a:shade val="60784"/>
                    <a:invGamma/>
                  </a:schemeClr>
                </a:gs>
              </a:gsLst>
              <a:lin ang="0" scaled="1"/>
            </a:gradFill>
            <a:ln w="9525">
              <a:noFill/>
              <a:miter lim="800000"/>
              <a:headEnd/>
              <a:tailEnd/>
            </a:ln>
            <a:effectLst/>
          </p:spPr>
          <p:txBody>
            <a:bodyPr/>
            <a:lstStyle/>
            <a:p>
              <a:pPr eaLnBrk="0" hangingPunct="0">
                <a:spcBef>
                  <a:spcPct val="50000"/>
                </a:spcBef>
              </a:pPr>
              <a:endParaRPr lang="en-US" altLang="zh-CN" sz="1800" dirty="0">
                <a:solidFill>
                  <a:srgbClr val="3333CC"/>
                </a:solidFill>
                <a:latin typeface="Verdana" pitchFamily="34" charset="0"/>
              </a:endParaRPr>
            </a:p>
            <a:p>
              <a:pPr eaLnBrk="0" hangingPunct="0">
                <a:spcBef>
                  <a:spcPct val="50000"/>
                </a:spcBef>
              </a:pPr>
              <a:r>
                <a:rPr lang="zh-CN" altLang="en-US" sz="1600" b="1" dirty="0">
                  <a:solidFill>
                    <a:srgbClr val="3333CC"/>
                  </a:solidFill>
                  <a:latin typeface="Verdana" pitchFamily="34" charset="0"/>
                </a:rPr>
                <a:t>语言程序设计教程       </a:t>
              </a:r>
            </a:p>
            <a:p>
              <a:pPr eaLnBrk="0" hangingPunct="0">
                <a:spcBef>
                  <a:spcPct val="50000"/>
                </a:spcBef>
              </a:pPr>
              <a:r>
                <a:rPr lang="zh-CN" altLang="en-US" sz="1600" b="1" dirty="0">
                  <a:solidFill>
                    <a:srgbClr val="3333CC"/>
                  </a:solidFill>
                  <a:latin typeface="Verdana" pitchFamily="34" charset="0"/>
                </a:rPr>
                <a:t>第三版</a:t>
              </a:r>
            </a:p>
            <a:p>
              <a:pPr eaLnBrk="0" hangingPunct="0">
                <a:spcBef>
                  <a:spcPct val="50000"/>
                </a:spcBef>
              </a:pPr>
              <a:endParaRPr lang="zh-CN" altLang="en-US" sz="1600" b="1" dirty="0">
                <a:solidFill>
                  <a:srgbClr val="3333CC"/>
                </a:solidFill>
                <a:latin typeface="Verdana" pitchFamily="34" charset="0"/>
              </a:endParaRPr>
            </a:p>
            <a:p>
              <a:pPr eaLnBrk="0" hangingPunct="0">
                <a:spcBef>
                  <a:spcPct val="50000"/>
                </a:spcBef>
              </a:pPr>
              <a:endParaRPr lang="zh-CN" altLang="en-US" sz="1600" b="1" dirty="0">
                <a:solidFill>
                  <a:srgbClr val="3333CC"/>
                </a:solidFill>
                <a:latin typeface="Verdana" pitchFamily="34" charset="0"/>
              </a:endParaRPr>
            </a:p>
            <a:p>
              <a:pPr eaLnBrk="0" hangingPunct="0">
                <a:spcBef>
                  <a:spcPct val="50000"/>
                </a:spcBef>
              </a:pPr>
              <a:r>
                <a:rPr lang="zh-CN" altLang="en-US" sz="1600" b="1" dirty="0">
                  <a:solidFill>
                    <a:srgbClr val="3333CC"/>
                  </a:solidFill>
                  <a:latin typeface="Verdana" pitchFamily="34" charset="0"/>
                </a:rPr>
                <a:t>第十</a:t>
              </a:r>
            </a:p>
            <a:p>
              <a:pPr eaLnBrk="0" hangingPunct="0">
                <a:spcBef>
                  <a:spcPct val="50000"/>
                </a:spcBef>
              </a:pPr>
              <a:r>
                <a:rPr lang="zh-CN" altLang="en-US" sz="1600" b="1" dirty="0">
                  <a:solidFill>
                    <a:srgbClr val="3333CC"/>
                  </a:solidFill>
                  <a:latin typeface="Verdana" pitchFamily="34" charset="0"/>
                </a:rPr>
                <a:t>二章 </a:t>
              </a:r>
            </a:p>
            <a:p>
              <a:pPr eaLnBrk="0" hangingPunct="0">
                <a:spcBef>
                  <a:spcPct val="50000"/>
                </a:spcBef>
              </a:pPr>
              <a:endParaRPr lang="zh-CN" altLang="en-US" sz="1600" b="1" dirty="0">
                <a:solidFill>
                  <a:srgbClr val="3333CC"/>
                </a:solidFill>
                <a:latin typeface="Verdana" pitchFamily="34" charset="0"/>
              </a:endParaRPr>
            </a:p>
            <a:p>
              <a:pPr eaLnBrk="0" hangingPunct="0">
                <a:spcBef>
                  <a:spcPct val="50000"/>
                </a:spcBef>
              </a:pPr>
              <a:r>
                <a:rPr lang="zh-CN" altLang="en-US" sz="1600" b="1" dirty="0">
                  <a:solidFill>
                    <a:srgbClr val="3333CC"/>
                  </a:solidFill>
                  <a:latin typeface="Verdana" pitchFamily="34" charset="0"/>
                </a:rPr>
                <a:t>文</a:t>
              </a:r>
            </a:p>
            <a:p>
              <a:pPr eaLnBrk="0" hangingPunct="0">
                <a:spcBef>
                  <a:spcPct val="50000"/>
                </a:spcBef>
              </a:pPr>
              <a:endParaRPr lang="zh-CN" altLang="en-US" sz="1600" b="1" dirty="0">
                <a:solidFill>
                  <a:srgbClr val="3333CC"/>
                </a:solidFill>
                <a:latin typeface="Verdana" pitchFamily="34" charset="0"/>
              </a:endParaRPr>
            </a:p>
            <a:p>
              <a:pPr eaLnBrk="0" hangingPunct="0">
                <a:spcBef>
                  <a:spcPct val="50000"/>
                </a:spcBef>
              </a:pPr>
              <a:r>
                <a:rPr lang="zh-CN" altLang="en-US" sz="1600" b="1" dirty="0">
                  <a:solidFill>
                    <a:srgbClr val="3333CC"/>
                  </a:solidFill>
                  <a:latin typeface="Verdana" pitchFamily="34" charset="0"/>
                </a:rPr>
                <a:t>件</a:t>
              </a:r>
            </a:p>
          </p:txBody>
        </p:sp>
        <p:sp>
          <p:nvSpPr>
            <p:cNvPr id="1057811" name="Text Box 19"/>
            <p:cNvSpPr txBox="1">
              <a:spLocks noChangeArrowheads="1"/>
            </p:cNvSpPr>
            <p:nvPr/>
          </p:nvSpPr>
          <p:spPr bwMode="auto">
            <a:xfrm>
              <a:off x="0" y="0"/>
              <a:ext cx="281" cy="231"/>
            </a:xfrm>
            <a:prstGeom prst="rect">
              <a:avLst/>
            </a:prstGeom>
            <a:gradFill rotWithShape="0">
              <a:gsLst>
                <a:gs pos="0">
                  <a:schemeClr val="hlink">
                    <a:gamma/>
                    <a:shade val="46275"/>
                    <a:invGamma/>
                  </a:schemeClr>
                </a:gs>
                <a:gs pos="50000">
                  <a:schemeClr val="hlink"/>
                </a:gs>
                <a:gs pos="100000">
                  <a:schemeClr val="hlink">
                    <a:gamma/>
                    <a:shade val="46275"/>
                    <a:invGamma/>
                  </a:schemeClr>
                </a:gs>
              </a:gsLst>
              <a:lin ang="0" scaled="1"/>
            </a:gradFill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eaLnBrk="0" hangingPunct="0">
                <a:spcBef>
                  <a:spcPct val="50000"/>
                </a:spcBef>
              </a:pPr>
              <a:r>
                <a:rPr lang="en-US" altLang="zh-CN" sz="1800" b="1">
                  <a:solidFill>
                    <a:srgbClr val="0000FF"/>
                  </a:solidFill>
                  <a:latin typeface="Arial" pitchFamily="34" charset="0"/>
                </a:rPr>
                <a:t>C</a:t>
              </a:r>
            </a:p>
          </p:txBody>
        </p:sp>
      </p:grpSp>
    </p:spTree>
  </p:cSld>
  <p:clrMapOvr>
    <a:masterClrMapping/>
  </p:clrMapOvr>
  <p:transition>
    <p:cover/>
    <p:sndAc>
      <p:stSnd>
        <p:snd r:embed="rId3" name="CAMER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780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05780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05780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780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05780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05780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780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05780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05780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7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78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25" dur="500"/>
                                        <p:tgtEl>
                                          <p:spTgt spid="1057804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3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78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105780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05780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8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78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105780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05780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4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78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42" dur="500"/>
                                        <p:tgtEl>
                                          <p:spTgt spid="1057805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500"/>
                            </p:stCondLst>
                            <p:childTnLst>
                              <p:par>
                                <p:cTn id="44" presetID="4" presetClass="entr" presetSubtype="3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78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46" dur="500"/>
                                        <p:tgtEl>
                                          <p:spTgt spid="1057802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4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780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51" dur="500"/>
                                        <p:tgtEl>
                                          <p:spTgt spid="105780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9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780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56" dur="500"/>
                                        <p:tgtEl>
                                          <p:spTgt spid="105780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4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8" presetClass="entr" presetSubtype="3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78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61" dur="500"/>
                                        <p:tgtEl>
                                          <p:spTgt spid="1057806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0578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9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5" name="laser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18" presetClass="entr" presetSubtype="3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78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66" dur="500"/>
                                        <p:tgtEl>
                                          <p:spTgt spid="1057807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0578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64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5" name="laser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57800" grpId="0"/>
      <p:bldP spid="1057801" grpId="0"/>
      <p:bldP spid="1057802" grpId="0" animBg="1"/>
      <p:bldP spid="1057804" grpId="0" animBg="1"/>
      <p:bldP spid="1057805" grpId="0"/>
      <p:bldP spid="1057806" grpId="0" animBg="1" autoUpdateAnimBg="0"/>
      <p:bldP spid="1057807" grpId="0" animBg="1" autoUpdateAnimBg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9855" name="Rectangle 15"/>
          <p:cNvSpPr>
            <a:spLocks noChangeArrowheads="1"/>
          </p:cNvSpPr>
          <p:nvPr/>
        </p:nvSpPr>
        <p:spPr bwMode="auto">
          <a:xfrm>
            <a:off x="703402" y="252472"/>
            <a:ext cx="6285704" cy="3066802"/>
          </a:xfrm>
          <a:prstGeom prst="rect">
            <a:avLst/>
          </a:prstGeom>
          <a:ln>
            <a:noFill/>
            <a:headEnd/>
            <a:tailEnd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anchor="ctr">
            <a:spAutoFit/>
          </a:bodyPr>
          <a:lstStyle/>
          <a:p>
            <a:pPr>
              <a:lnSpc>
                <a:spcPts val="2600"/>
              </a:lnSpc>
              <a:tabLst>
                <a:tab pos="266700" algn="l"/>
              </a:tabLst>
            </a:pPr>
            <a:r>
              <a:rPr lang="zh-CN" altLang="en-US" sz="2000" b="1" u="sng" dirty="0">
                <a:solidFill>
                  <a:srgbClr val="D60093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隶书" panose="02010509060101010101" pitchFamily="49" charset="-122"/>
                <a:ea typeface="隶书" panose="02010509060101010101" pitchFamily="49" charset="-122"/>
              </a:rPr>
              <a:t>打开文件方式</a:t>
            </a:r>
            <a:r>
              <a:rPr lang="en-US" altLang="zh-CN" sz="2000" b="1" u="sng" dirty="0">
                <a:solidFill>
                  <a:srgbClr val="D60093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隶书" panose="02010509060101010101" pitchFamily="49" charset="-122"/>
              </a:rPr>
              <a:t>mode</a:t>
            </a:r>
            <a:r>
              <a:rPr lang="zh-CN" altLang="en-US" sz="2000" b="1" u="sng" dirty="0">
                <a:solidFill>
                  <a:srgbClr val="D60093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隶书" panose="02010509060101010101" pitchFamily="49" charset="-122"/>
                <a:ea typeface="隶书" panose="02010509060101010101" pitchFamily="49" charset="-122"/>
              </a:rPr>
              <a:t>由两类字符构成：</a:t>
            </a:r>
            <a:endParaRPr lang="en-US" altLang="zh-CN" sz="2000" b="1" u="sng" dirty="0">
              <a:solidFill>
                <a:srgbClr val="D60093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隶书" panose="02010509060101010101" pitchFamily="49" charset="-122"/>
              <a:ea typeface="隶书" panose="02010509060101010101" pitchFamily="49" charset="-122"/>
            </a:endParaRPr>
          </a:p>
          <a:p>
            <a:pPr marL="342900" indent="-342900">
              <a:lnSpc>
                <a:spcPts val="2600"/>
              </a:lnSpc>
              <a:buFont typeface="Wingdings" panose="05000000000000000000" pitchFamily="2" charset="2"/>
              <a:buChar char="l"/>
              <a:tabLst>
                <a:tab pos="266700" algn="l"/>
              </a:tabLst>
            </a:pPr>
            <a:r>
              <a:rPr lang="zh-CN" altLang="en-US" sz="2000" b="1" dirty="0">
                <a:solidFill>
                  <a:srgbClr val="339933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楷体" pitchFamily="49" charset="-122"/>
              </a:rPr>
              <a:t>一类字符表示打开文件的类型</a:t>
            </a:r>
            <a:endParaRPr lang="en-US" altLang="zh-CN" sz="2000" b="1" dirty="0">
              <a:solidFill>
                <a:srgbClr val="339933"/>
              </a:solidFill>
              <a:effectLst>
                <a:outerShdw blurRad="38100" dist="38100" dir="2700000" algn="tl">
                  <a:srgbClr val="000000"/>
                </a:outerShdw>
              </a:effectLst>
              <a:ea typeface="楷体" pitchFamily="49" charset="-122"/>
            </a:endParaRPr>
          </a:p>
          <a:p>
            <a:pPr marL="800100" lvl="1" indent="-342900">
              <a:lnSpc>
                <a:spcPts val="2600"/>
              </a:lnSpc>
              <a:buFont typeface="Wingdings" panose="05000000000000000000" pitchFamily="2" charset="2"/>
              <a:buChar char="Ø"/>
              <a:tabLst>
                <a:tab pos="266700" algn="l"/>
              </a:tabLst>
            </a:pPr>
            <a:r>
              <a:rPr lang="en-US" altLang="zh-CN" sz="2000" b="1" dirty="0">
                <a:solidFill>
                  <a:schemeClr val="accent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楷体" pitchFamily="49" charset="-122"/>
              </a:rPr>
              <a:t>t</a:t>
            </a:r>
            <a:r>
              <a:rPr lang="en-US" altLang="zh-CN" sz="2000" b="1" dirty="0">
                <a:effectLst>
                  <a:outerShdw blurRad="38100" dist="38100" dir="2700000" algn="tl">
                    <a:srgbClr val="FFFFFF"/>
                  </a:outerShdw>
                </a:effectLst>
                <a:ea typeface="楷体" pitchFamily="49" charset="-122"/>
              </a:rPr>
              <a:t>-----</a:t>
            </a:r>
            <a:r>
              <a:rPr lang="zh-CN" altLang="en-US" sz="2000" b="1" dirty="0">
                <a:effectLst>
                  <a:outerShdw blurRad="38100" dist="38100" dir="2700000" algn="tl">
                    <a:srgbClr val="FFFFFF"/>
                  </a:outerShdw>
                </a:effectLst>
                <a:ea typeface="楷体" pitchFamily="49" charset="-122"/>
              </a:rPr>
              <a:t>表示文本文件（</a:t>
            </a:r>
            <a:r>
              <a:rPr lang="en-US" altLang="zh-CN" sz="2000" b="1" dirty="0">
                <a:solidFill>
                  <a:schemeClr val="accent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楷体" pitchFamily="49" charset="-122"/>
              </a:rPr>
              <a:t>t</a:t>
            </a:r>
            <a:r>
              <a:rPr lang="en-US" altLang="zh-CN" sz="2000" b="1" dirty="0">
                <a:effectLst>
                  <a:outerShdw blurRad="38100" dist="38100" dir="2700000" algn="tl">
                    <a:srgbClr val="FFFFFF"/>
                  </a:outerShdw>
                </a:effectLst>
                <a:ea typeface="楷体" pitchFamily="49" charset="-122"/>
              </a:rPr>
              <a:t>ext</a:t>
            </a:r>
            <a:r>
              <a:rPr lang="zh-CN" altLang="en-US" sz="2000" b="1" dirty="0">
                <a:effectLst>
                  <a:outerShdw blurRad="38100" dist="38100" dir="2700000" algn="tl">
                    <a:srgbClr val="FFFFFF"/>
                  </a:outerShdw>
                </a:effectLst>
                <a:ea typeface="楷体" pitchFamily="49" charset="-122"/>
              </a:rPr>
              <a:t>，默认方式）</a:t>
            </a:r>
            <a:endParaRPr lang="en-US" altLang="zh-CN" sz="2000" b="1" dirty="0">
              <a:effectLst>
                <a:outerShdw blurRad="38100" dist="38100" dir="2700000" algn="tl">
                  <a:srgbClr val="FFFFFF"/>
                </a:outerShdw>
              </a:effectLst>
              <a:ea typeface="楷体" pitchFamily="49" charset="-122"/>
            </a:endParaRPr>
          </a:p>
          <a:p>
            <a:pPr marL="800100" lvl="1" indent="-342900">
              <a:lnSpc>
                <a:spcPts val="2600"/>
              </a:lnSpc>
              <a:buFont typeface="Wingdings" panose="05000000000000000000" pitchFamily="2" charset="2"/>
              <a:buChar char="Ø"/>
              <a:tabLst>
                <a:tab pos="266700" algn="l"/>
              </a:tabLst>
            </a:pPr>
            <a:r>
              <a:rPr lang="en-US" altLang="zh-CN" sz="2000" b="1" dirty="0">
                <a:solidFill>
                  <a:schemeClr val="accent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楷体" pitchFamily="49" charset="-122"/>
              </a:rPr>
              <a:t>b</a:t>
            </a:r>
            <a:r>
              <a:rPr lang="en-US" altLang="zh-CN" sz="2000" b="1" dirty="0">
                <a:effectLst>
                  <a:outerShdw blurRad="38100" dist="38100" dir="2700000" algn="tl">
                    <a:srgbClr val="FFFFFF"/>
                  </a:outerShdw>
                </a:effectLst>
                <a:ea typeface="楷体" pitchFamily="49" charset="-122"/>
              </a:rPr>
              <a:t>----</a:t>
            </a:r>
            <a:r>
              <a:rPr lang="zh-CN" altLang="en-US" sz="2000" b="1" dirty="0">
                <a:effectLst>
                  <a:outerShdw blurRad="38100" dist="38100" dir="2700000" algn="tl">
                    <a:srgbClr val="FFFFFF"/>
                  </a:outerShdw>
                </a:effectLst>
                <a:ea typeface="楷体" pitchFamily="49" charset="-122"/>
              </a:rPr>
              <a:t>表示二进制文件（</a:t>
            </a:r>
            <a:r>
              <a:rPr lang="en-US" altLang="zh-CN" sz="2000" b="1" dirty="0">
                <a:solidFill>
                  <a:schemeClr val="accent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楷体" pitchFamily="49" charset="-122"/>
              </a:rPr>
              <a:t>b</a:t>
            </a:r>
            <a:r>
              <a:rPr lang="en-US" altLang="zh-CN" sz="2000" b="1" dirty="0">
                <a:effectLst>
                  <a:outerShdw blurRad="38100" dist="38100" dir="2700000" algn="tl">
                    <a:srgbClr val="FFFFFF"/>
                  </a:outerShdw>
                </a:effectLst>
                <a:ea typeface="楷体" pitchFamily="49" charset="-122"/>
              </a:rPr>
              <a:t>inary</a:t>
            </a:r>
            <a:r>
              <a:rPr lang="zh-CN" altLang="en-US" sz="2000" b="1" dirty="0">
                <a:effectLst>
                  <a:outerShdw blurRad="38100" dist="38100" dir="2700000" algn="tl">
                    <a:srgbClr val="FFFFFF"/>
                  </a:outerShdw>
                </a:effectLst>
                <a:ea typeface="楷体" pitchFamily="49" charset="-122"/>
              </a:rPr>
              <a:t>）</a:t>
            </a:r>
            <a:endParaRPr lang="en-US" altLang="zh-CN" sz="2000" b="1" dirty="0">
              <a:effectLst>
                <a:outerShdw blurRad="38100" dist="38100" dir="2700000" algn="tl">
                  <a:srgbClr val="FFFFFF"/>
                </a:outerShdw>
              </a:effectLst>
              <a:ea typeface="楷体" pitchFamily="49" charset="-122"/>
            </a:endParaRPr>
          </a:p>
          <a:p>
            <a:pPr marL="342900" indent="-342900">
              <a:lnSpc>
                <a:spcPts val="2600"/>
              </a:lnSpc>
              <a:buFont typeface="Wingdings" panose="05000000000000000000" pitchFamily="2" charset="2"/>
              <a:buChar char="l"/>
              <a:tabLst>
                <a:tab pos="266700" algn="l"/>
              </a:tabLst>
            </a:pPr>
            <a:r>
              <a:rPr lang="zh-CN" altLang="en-US" sz="2000" b="1" dirty="0">
                <a:solidFill>
                  <a:srgbClr val="339933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楷体" pitchFamily="49" charset="-122"/>
              </a:rPr>
              <a:t>另一类字符是操作类型</a:t>
            </a:r>
            <a:endParaRPr lang="en-US" altLang="zh-CN" sz="2000" b="1" dirty="0">
              <a:solidFill>
                <a:srgbClr val="339933"/>
              </a:solidFill>
              <a:effectLst>
                <a:outerShdw blurRad="38100" dist="38100" dir="2700000" algn="tl">
                  <a:srgbClr val="000000"/>
                </a:outerShdw>
              </a:effectLst>
              <a:ea typeface="楷体" pitchFamily="49" charset="-122"/>
            </a:endParaRPr>
          </a:p>
          <a:p>
            <a:pPr marL="800100" lvl="1" indent="-342900">
              <a:lnSpc>
                <a:spcPts val="2600"/>
              </a:lnSpc>
              <a:buFont typeface="Wingdings" panose="05000000000000000000" pitchFamily="2" charset="2"/>
              <a:buChar char="Ø"/>
              <a:tabLst>
                <a:tab pos="266700" algn="l"/>
              </a:tabLst>
            </a:pPr>
            <a:r>
              <a:rPr lang="en-US" altLang="zh-CN" sz="2000" b="1" dirty="0">
                <a:solidFill>
                  <a:srgbClr val="FF33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楷体" pitchFamily="49" charset="-122"/>
              </a:rPr>
              <a:t>r</a:t>
            </a:r>
            <a:r>
              <a:rPr lang="en-US" altLang="zh-CN" sz="2000" b="1" dirty="0">
                <a:effectLst>
                  <a:outerShdw blurRad="38100" dist="38100" dir="2700000" algn="tl">
                    <a:srgbClr val="FFFFFF"/>
                  </a:outerShdw>
                </a:effectLst>
                <a:ea typeface="楷体" pitchFamily="49" charset="-122"/>
              </a:rPr>
              <a:t>----</a:t>
            </a:r>
            <a:r>
              <a:rPr lang="zh-CN" altLang="en-US" sz="2000" b="1" dirty="0">
                <a:effectLst>
                  <a:outerShdw blurRad="38100" dist="38100" dir="2700000" algn="tl">
                    <a:srgbClr val="FFFFFF"/>
                  </a:outerShdw>
                </a:effectLst>
                <a:ea typeface="楷体" pitchFamily="49" charset="-122"/>
              </a:rPr>
              <a:t>表示从文件中读取数据（</a:t>
            </a:r>
            <a:r>
              <a:rPr lang="en-US" altLang="zh-CN" sz="2000" b="1" dirty="0">
                <a:solidFill>
                  <a:srgbClr val="FF33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楷体" pitchFamily="49" charset="-122"/>
              </a:rPr>
              <a:t>r</a:t>
            </a:r>
            <a:r>
              <a:rPr lang="en-US" altLang="zh-CN" sz="2000" b="1" dirty="0">
                <a:effectLst>
                  <a:outerShdw blurRad="38100" dist="38100" dir="2700000" algn="tl">
                    <a:srgbClr val="FFFFFF"/>
                  </a:outerShdw>
                </a:effectLst>
                <a:ea typeface="楷体" pitchFamily="49" charset="-122"/>
              </a:rPr>
              <a:t>ead</a:t>
            </a:r>
            <a:r>
              <a:rPr lang="zh-CN" altLang="en-US" sz="2000" b="1" dirty="0">
                <a:effectLst>
                  <a:outerShdw blurRad="38100" dist="38100" dir="2700000" algn="tl">
                    <a:srgbClr val="FFFFFF"/>
                  </a:outerShdw>
                </a:effectLst>
                <a:ea typeface="楷体" pitchFamily="49" charset="-122"/>
              </a:rPr>
              <a:t>）</a:t>
            </a:r>
            <a:endParaRPr lang="en-US" altLang="zh-CN" sz="2000" b="1" dirty="0">
              <a:effectLst>
                <a:outerShdw blurRad="38100" dist="38100" dir="2700000" algn="tl">
                  <a:srgbClr val="FFFFFF"/>
                </a:outerShdw>
              </a:effectLst>
              <a:ea typeface="楷体" pitchFamily="49" charset="-122"/>
            </a:endParaRPr>
          </a:p>
          <a:p>
            <a:pPr marL="800100" lvl="1" indent="-342900">
              <a:lnSpc>
                <a:spcPts val="2600"/>
              </a:lnSpc>
              <a:buFont typeface="Wingdings" panose="05000000000000000000" pitchFamily="2" charset="2"/>
              <a:buChar char="Ø"/>
              <a:tabLst>
                <a:tab pos="266700" algn="l"/>
              </a:tabLst>
            </a:pPr>
            <a:r>
              <a:rPr lang="en-US" altLang="zh-CN" sz="2000" b="1" dirty="0">
                <a:solidFill>
                  <a:srgbClr val="FF33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楷体" pitchFamily="49" charset="-122"/>
              </a:rPr>
              <a:t>w</a:t>
            </a:r>
            <a:r>
              <a:rPr lang="en-US" altLang="zh-CN" sz="2000" b="1" dirty="0">
                <a:effectLst>
                  <a:outerShdw blurRad="38100" dist="38100" dir="2700000" algn="tl">
                    <a:srgbClr val="FFFFFF"/>
                  </a:outerShdw>
                </a:effectLst>
                <a:ea typeface="楷体" pitchFamily="49" charset="-122"/>
              </a:rPr>
              <a:t>---</a:t>
            </a:r>
            <a:r>
              <a:rPr lang="zh-CN" altLang="en-US" sz="2000" b="1" dirty="0">
                <a:effectLst>
                  <a:outerShdw blurRad="38100" dist="38100" dir="2700000" algn="tl">
                    <a:srgbClr val="FFFFFF"/>
                  </a:outerShdw>
                </a:effectLst>
                <a:ea typeface="楷体" pitchFamily="49" charset="-122"/>
              </a:rPr>
              <a:t>表示向文件写入数据（</a:t>
            </a:r>
            <a:r>
              <a:rPr lang="en-US" altLang="zh-CN" sz="2000" b="1" dirty="0">
                <a:solidFill>
                  <a:srgbClr val="FF33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楷体" pitchFamily="49" charset="-122"/>
              </a:rPr>
              <a:t>w</a:t>
            </a:r>
            <a:r>
              <a:rPr lang="en-US" altLang="zh-CN" sz="2000" b="1" dirty="0">
                <a:effectLst>
                  <a:outerShdw blurRad="38100" dist="38100" dir="2700000" algn="tl">
                    <a:srgbClr val="FFFFFF"/>
                  </a:outerShdw>
                </a:effectLst>
                <a:ea typeface="楷体" pitchFamily="49" charset="-122"/>
              </a:rPr>
              <a:t>rite</a:t>
            </a:r>
            <a:r>
              <a:rPr lang="zh-CN" altLang="en-US" sz="2000" b="1" dirty="0">
                <a:effectLst>
                  <a:outerShdw blurRad="38100" dist="38100" dir="2700000" algn="tl">
                    <a:srgbClr val="FFFFFF"/>
                  </a:outerShdw>
                </a:effectLst>
                <a:ea typeface="楷体" pitchFamily="49" charset="-122"/>
              </a:rPr>
              <a:t>）</a:t>
            </a:r>
            <a:endParaRPr lang="en-US" altLang="zh-CN" sz="2000" b="1" dirty="0">
              <a:effectLst>
                <a:outerShdw blurRad="38100" dist="38100" dir="2700000" algn="tl">
                  <a:srgbClr val="FFFFFF"/>
                </a:outerShdw>
              </a:effectLst>
              <a:ea typeface="楷体" pitchFamily="49" charset="-122"/>
            </a:endParaRPr>
          </a:p>
          <a:p>
            <a:pPr marL="800100" lvl="1" indent="-342900">
              <a:lnSpc>
                <a:spcPts val="2600"/>
              </a:lnSpc>
              <a:buFont typeface="Wingdings" panose="05000000000000000000" pitchFamily="2" charset="2"/>
              <a:buChar char="Ø"/>
              <a:tabLst>
                <a:tab pos="266700" algn="l"/>
              </a:tabLst>
            </a:pPr>
            <a:r>
              <a:rPr lang="en-US" altLang="zh-CN" sz="2000" b="1" dirty="0">
                <a:solidFill>
                  <a:srgbClr val="FF33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楷体" pitchFamily="49" charset="-122"/>
              </a:rPr>
              <a:t>a</a:t>
            </a:r>
            <a:r>
              <a:rPr lang="en-US" altLang="zh-CN" sz="2000" b="1" dirty="0">
                <a:effectLst>
                  <a:outerShdw blurRad="38100" dist="38100" dir="2700000" algn="tl">
                    <a:srgbClr val="FFFFFF"/>
                  </a:outerShdw>
                </a:effectLst>
                <a:ea typeface="楷体" pitchFamily="49" charset="-122"/>
              </a:rPr>
              <a:t>----</a:t>
            </a:r>
            <a:r>
              <a:rPr lang="zh-CN" altLang="en-US" sz="2000" b="1" dirty="0">
                <a:effectLst>
                  <a:outerShdw blurRad="38100" dist="38100" dir="2700000" algn="tl">
                    <a:srgbClr val="FFFFFF"/>
                  </a:outerShdw>
                </a:effectLst>
                <a:ea typeface="楷体" pitchFamily="49" charset="-122"/>
              </a:rPr>
              <a:t>表示在文件尾追加数据（</a:t>
            </a:r>
            <a:r>
              <a:rPr lang="en-US" altLang="zh-CN" sz="2000" b="1" dirty="0">
                <a:solidFill>
                  <a:srgbClr val="FF33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楷体" pitchFamily="49" charset="-122"/>
              </a:rPr>
              <a:t>a</a:t>
            </a:r>
            <a:r>
              <a:rPr lang="en-US" altLang="zh-CN" sz="2000" b="1" dirty="0">
                <a:effectLst>
                  <a:outerShdw blurRad="38100" dist="38100" dir="2700000" algn="tl">
                    <a:srgbClr val="FFFFFF"/>
                  </a:outerShdw>
                </a:effectLst>
                <a:ea typeface="楷体" pitchFamily="49" charset="-122"/>
              </a:rPr>
              <a:t>ppend</a:t>
            </a:r>
            <a:r>
              <a:rPr lang="zh-CN" altLang="en-US" sz="2000" b="1" dirty="0">
                <a:effectLst>
                  <a:outerShdw blurRad="38100" dist="38100" dir="2700000" algn="tl">
                    <a:srgbClr val="FFFFFF"/>
                  </a:outerShdw>
                </a:effectLst>
                <a:ea typeface="楷体" pitchFamily="49" charset="-122"/>
              </a:rPr>
              <a:t>）</a:t>
            </a:r>
            <a:endParaRPr lang="en-US" altLang="zh-CN" sz="2000" b="1" dirty="0">
              <a:effectLst>
                <a:outerShdw blurRad="38100" dist="38100" dir="2700000" algn="tl">
                  <a:srgbClr val="FFFFFF"/>
                </a:outerShdw>
              </a:effectLst>
              <a:ea typeface="楷体" pitchFamily="49" charset="-122"/>
            </a:endParaRPr>
          </a:p>
          <a:p>
            <a:pPr marL="800100" lvl="1" indent="-342900">
              <a:lnSpc>
                <a:spcPts val="2600"/>
              </a:lnSpc>
              <a:buFont typeface="Wingdings" panose="05000000000000000000" pitchFamily="2" charset="2"/>
              <a:buChar char="Ø"/>
              <a:tabLst>
                <a:tab pos="266700" algn="l"/>
              </a:tabLst>
            </a:pPr>
            <a:r>
              <a:rPr lang="en-US" altLang="zh-CN" sz="2000" b="1" dirty="0">
                <a:solidFill>
                  <a:srgbClr val="FF33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楷体" pitchFamily="49" charset="-122"/>
              </a:rPr>
              <a:t>+</a:t>
            </a:r>
            <a:r>
              <a:rPr lang="en-US" altLang="zh-CN" sz="2000" b="1" dirty="0">
                <a:effectLst>
                  <a:outerShdw blurRad="38100" dist="38100" dir="2700000" algn="tl">
                    <a:srgbClr val="FFFFFF"/>
                  </a:outerShdw>
                </a:effectLst>
                <a:ea typeface="楷体" pitchFamily="49" charset="-122"/>
              </a:rPr>
              <a:t>----</a:t>
            </a:r>
            <a:r>
              <a:rPr lang="zh-CN" altLang="en-US" sz="2000" b="1" dirty="0">
                <a:effectLst>
                  <a:outerShdw blurRad="38100" dist="38100" dir="2700000" algn="tl">
                    <a:srgbClr val="FFFFFF"/>
                  </a:outerShdw>
                </a:effectLst>
                <a:ea typeface="楷体" pitchFamily="49" charset="-122"/>
              </a:rPr>
              <a:t>表示文件可读可写 </a:t>
            </a:r>
          </a:p>
        </p:txBody>
      </p:sp>
      <p:graphicFrame>
        <p:nvGraphicFramePr>
          <p:cNvPr id="1060014" name="Group 17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88437596"/>
              </p:ext>
            </p:extLst>
          </p:nvPr>
        </p:nvGraphicFramePr>
        <p:xfrm>
          <a:off x="3647728" y="591169"/>
          <a:ext cx="8208962" cy="5891280"/>
        </p:xfrm>
        <a:graphic>
          <a:graphicData uri="http://schemas.openxmlformats.org/drawingml/2006/table">
            <a:tbl>
              <a:tblPr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tblPr>
              <a:tblGrid>
                <a:gridCol w="162083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5881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413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+mn-lt"/>
                          <a:ea typeface="楷体" pitchFamily="49" charset="-122"/>
                          <a:cs typeface="Times New Roman" pitchFamily="18" charset="0"/>
                        </a:rPr>
                        <a:t>打开文件的方式字符</a:t>
                      </a:r>
                    </a:p>
                  </a:txBody>
                  <a:tcPr marL="90000" marR="90000" marT="46800" marB="46800" anchor="ctr" anchorCtr="1" horzOverflow="overflow">
                    <a:lnL w="285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gradFill rotWithShape="0">
                      <a:gsLst>
                        <a:gs pos="0">
                          <a:srgbClr val="00FFFF"/>
                        </a:gs>
                        <a:gs pos="100000">
                          <a:schemeClr val="bg1"/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+mn-lt"/>
                          <a:ea typeface="楷体" pitchFamily="49" charset="-122"/>
                          <a:cs typeface="Times New Roman" pitchFamily="18" charset="0"/>
                        </a:rPr>
                        <a:t>含   义</a:t>
                      </a:r>
                    </a:p>
                  </a:txBody>
                  <a:tcPr marL="90000" marR="90000" marT="46800" marB="46800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gradFill rotWithShape="0">
                      <a:gsLst>
                        <a:gs pos="0">
                          <a:srgbClr val="00FFFF"/>
                        </a:gs>
                        <a:gs pos="100000">
                          <a:schemeClr val="bg1"/>
                        </a:gs>
                      </a:gsLst>
                      <a:lin ang="5400000" scaled="1"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44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D60093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+mn-lt"/>
                          <a:ea typeface="楷体" pitchFamily="49" charset="-122"/>
                          <a:cs typeface="Times New Roman" pitchFamily="18" charset="0"/>
                        </a:rPr>
                        <a:t>r</a:t>
                      </a:r>
                    </a:p>
                  </a:txBody>
                  <a:tcPr marL="90000" marR="90000" marT="46800" marB="46800" anchor="ctr" anchorCtr="1" horzOverflow="overflow">
                    <a:lnL w="285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blipFill dpi="0" rotWithShape="0">
                      <a:blip r:embed="rId6"/>
                      <a:srcRect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+mn-lt"/>
                          <a:ea typeface="楷体" pitchFamily="49" charset="-122"/>
                          <a:cs typeface="Times New Roman" pitchFamily="18" charset="0"/>
                        </a:rPr>
                        <a:t>打开一个已存在的文件，准备从文件中</a:t>
                      </a:r>
                      <a:r>
                        <a:rPr kumimoji="1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+mn-lt"/>
                          <a:ea typeface="楷体" pitchFamily="49" charset="-122"/>
                          <a:cs typeface="Times New Roman" pitchFamily="18" charset="0"/>
                        </a:rPr>
                        <a:t>读取数据</a:t>
                      </a:r>
                      <a:r>
                        <a:rPr kumimoji="1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+mn-lt"/>
                          <a:ea typeface="楷体" pitchFamily="49" charset="-122"/>
                          <a:cs typeface="Times New Roman" pitchFamily="18" charset="0"/>
                        </a:rPr>
                        <a:t>。不能向文件写数据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blipFill dpi="0" rotWithShape="0">
                      <a:blip r:embed="rId6"/>
                      <a:srcRect/>
                      <a:tile tx="0" ty="0" sx="100000" sy="100000" flip="none" algn="tl"/>
                    </a:blip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44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D60093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+mn-lt"/>
                          <a:ea typeface="楷体" pitchFamily="49" charset="-122"/>
                          <a:cs typeface="Times New Roman" pitchFamily="18" charset="0"/>
                        </a:rPr>
                        <a:t>w</a:t>
                      </a:r>
                    </a:p>
                  </a:txBody>
                  <a:tcPr marL="90000" marR="90000" marT="46800" marB="46800" anchor="ctr" anchorCtr="1" horzOverflow="overflow">
                    <a:lnL w="285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blipFill dpi="0" rotWithShape="0">
                      <a:blip r:embed="rId6"/>
                      <a:srcRect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+mn-lt"/>
                          <a:ea typeface="楷体" pitchFamily="49" charset="-122"/>
                          <a:cs typeface="Times New Roman" pitchFamily="18" charset="0"/>
                        </a:rPr>
                        <a:t>创建一个新文件，准备向文件</a:t>
                      </a:r>
                      <a:r>
                        <a:rPr kumimoji="1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+mn-lt"/>
                          <a:ea typeface="楷体" pitchFamily="49" charset="-122"/>
                          <a:cs typeface="Times New Roman" pitchFamily="18" charset="0"/>
                        </a:rPr>
                        <a:t>写入数据</a:t>
                      </a:r>
                      <a:r>
                        <a:rPr kumimoji="1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+mn-lt"/>
                          <a:ea typeface="楷体" pitchFamily="49" charset="-122"/>
                          <a:cs typeface="Times New Roman" pitchFamily="18" charset="0"/>
                        </a:rPr>
                        <a:t>。不能从文件中读取数据。如果文件已经存在，这个文件将被覆盖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blipFill dpi="0" rotWithShape="0">
                      <a:blip r:embed="rId6"/>
                      <a:srcRect/>
                      <a:tile tx="0" ty="0" sx="100000" sy="100000" flip="none" algn="tl"/>
                    </a:blip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444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D60093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+mn-lt"/>
                          <a:ea typeface="楷体" pitchFamily="49" charset="-122"/>
                          <a:cs typeface="Times New Roman" pitchFamily="18" charset="0"/>
                        </a:rPr>
                        <a:t>a</a:t>
                      </a:r>
                    </a:p>
                  </a:txBody>
                  <a:tcPr marL="90000" marR="90000" marT="46800" marB="46800" anchor="ctr" anchorCtr="1" horzOverflow="overflow">
                    <a:lnL w="285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blipFill dpi="0" rotWithShape="0">
                      <a:blip r:embed="rId6"/>
                      <a:srcRect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+mn-lt"/>
                          <a:ea typeface="楷体" pitchFamily="49" charset="-122"/>
                          <a:cs typeface="Times New Roman" pitchFamily="18" charset="0"/>
                        </a:rPr>
                        <a:t>打开一个已存在的文件，准备在文件尾部</a:t>
                      </a:r>
                      <a:r>
                        <a:rPr kumimoji="1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+mn-lt"/>
                          <a:ea typeface="楷体" pitchFamily="49" charset="-122"/>
                          <a:cs typeface="Times New Roman" pitchFamily="18" charset="0"/>
                        </a:rPr>
                        <a:t>追加数据</a:t>
                      </a:r>
                      <a:r>
                        <a:rPr kumimoji="1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+mn-lt"/>
                          <a:ea typeface="楷体" pitchFamily="49" charset="-122"/>
                          <a:cs typeface="Times New Roman" pitchFamily="18" charset="0"/>
                        </a:rPr>
                        <a:t>。不能从文件中读取数据。如果文件不存在，则创建这个文件准备写入数据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blipFill dpi="0" rotWithShape="0">
                      <a:blip r:embed="rId6"/>
                      <a:srcRect/>
                      <a:tile tx="0" ty="0" sx="100000" sy="100000" flip="none" algn="tl"/>
                    </a:blip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44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D60093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+mn-lt"/>
                          <a:ea typeface="楷体" pitchFamily="49" charset="-122"/>
                          <a:cs typeface="Times New Roman" pitchFamily="18" charset="0"/>
                        </a:rPr>
                        <a:t>r+</a:t>
                      </a:r>
                    </a:p>
                  </a:txBody>
                  <a:tcPr marL="90000" marR="90000" marT="46800" marB="46800" anchor="ctr" anchorCtr="1" horzOverflow="overflow">
                    <a:lnL w="285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blipFill dpi="0" rotWithShape="0">
                      <a:blip r:embed="rId6"/>
                      <a:srcRect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+mn-lt"/>
                          <a:ea typeface="楷体" pitchFamily="49" charset="-122"/>
                          <a:cs typeface="Times New Roman" pitchFamily="18" charset="0"/>
                        </a:rPr>
                        <a:t>打开一个已存在的文件，准备</a:t>
                      </a:r>
                      <a:r>
                        <a:rPr kumimoji="1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+mn-lt"/>
                          <a:ea typeface="楷体" pitchFamily="49" charset="-122"/>
                          <a:cs typeface="Times New Roman" pitchFamily="18" charset="0"/>
                        </a:rPr>
                        <a:t>读写</a:t>
                      </a:r>
                      <a:r>
                        <a:rPr kumimoji="1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+mn-lt"/>
                          <a:ea typeface="楷体" pitchFamily="49" charset="-122"/>
                          <a:cs typeface="Times New Roman" pitchFamily="18" charset="0"/>
                        </a:rPr>
                        <a:t>。既可以读取数据，也可以写入数据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blipFill dpi="0" rotWithShape="0">
                      <a:blip r:embed="rId6"/>
                      <a:srcRect/>
                      <a:tile tx="0" ty="0" sx="100000" sy="100000" flip="none" algn="tl"/>
                    </a:blip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444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D60093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+mn-lt"/>
                          <a:ea typeface="楷体" pitchFamily="49" charset="-122"/>
                          <a:cs typeface="Times New Roman" pitchFamily="18" charset="0"/>
                        </a:rPr>
                        <a:t>w+</a:t>
                      </a:r>
                    </a:p>
                  </a:txBody>
                  <a:tcPr marL="90000" marR="90000" marT="46800" marB="46800" anchor="ctr" anchorCtr="1" horzOverflow="overflow">
                    <a:lnL w="285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blipFill dpi="0" rotWithShape="0">
                      <a:blip r:embed="rId6"/>
                      <a:srcRect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+mn-lt"/>
                          <a:ea typeface="楷体" pitchFamily="49" charset="-122"/>
                          <a:cs typeface="Times New Roman" pitchFamily="18" charset="0"/>
                        </a:rPr>
                        <a:t>创建一个新文件，准备</a:t>
                      </a:r>
                      <a:r>
                        <a:rPr kumimoji="1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+mn-lt"/>
                          <a:ea typeface="楷体" pitchFamily="49" charset="-122"/>
                          <a:cs typeface="Times New Roman" pitchFamily="18" charset="0"/>
                        </a:rPr>
                        <a:t>读写</a:t>
                      </a:r>
                      <a:r>
                        <a:rPr kumimoji="1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+mn-lt"/>
                          <a:ea typeface="楷体" pitchFamily="49" charset="-122"/>
                          <a:cs typeface="Times New Roman" pitchFamily="18" charset="0"/>
                        </a:rPr>
                        <a:t>。如果文件已经存在，则覆盖原文件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blipFill dpi="0" rotWithShape="0">
                      <a:blip r:embed="rId6"/>
                      <a:srcRect/>
                      <a:tile tx="0" ty="0" sx="100000" sy="100000" flip="none" algn="tl"/>
                    </a:blip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444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D60093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+mn-lt"/>
                          <a:ea typeface="楷体" pitchFamily="49" charset="-122"/>
                          <a:cs typeface="Times New Roman" pitchFamily="18" charset="0"/>
                        </a:rPr>
                        <a:t>a+</a:t>
                      </a:r>
                    </a:p>
                  </a:txBody>
                  <a:tcPr marL="90000" marR="90000" marT="46800" marB="46800" anchor="ctr" anchorCtr="1" horzOverflow="overflow">
                    <a:lnL w="285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blipFill dpi="0" rotWithShape="0">
                      <a:blip r:embed="rId6"/>
                      <a:srcRect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+mn-lt"/>
                          <a:ea typeface="楷体" pitchFamily="49" charset="-122"/>
                          <a:cs typeface="Times New Roman" pitchFamily="18" charset="0"/>
                        </a:rPr>
                        <a:t>等价于</a:t>
                      </a:r>
                      <a:r>
                        <a:rPr kumimoji="1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+mn-lt"/>
                          <a:ea typeface="楷体" pitchFamily="49" charset="-122"/>
                          <a:cs typeface="Times New Roman" pitchFamily="18" charset="0"/>
                        </a:rPr>
                        <a:t>a</a:t>
                      </a:r>
                      <a:r>
                        <a:rPr kumimoji="1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+mn-lt"/>
                          <a:ea typeface="楷体" pitchFamily="49" charset="-122"/>
                          <a:cs typeface="Times New Roman" pitchFamily="18" charset="0"/>
                        </a:rPr>
                        <a:t>，但可从文件中</a:t>
                      </a:r>
                      <a:r>
                        <a:rPr kumimoji="1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+mn-lt"/>
                          <a:ea typeface="楷体" pitchFamily="49" charset="-122"/>
                          <a:cs typeface="Times New Roman" pitchFamily="18" charset="0"/>
                        </a:rPr>
                        <a:t>读取数据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blipFill dpi="0" rotWithShape="0">
                      <a:blip r:embed="rId6"/>
                      <a:srcRect/>
                      <a:tile tx="0" ty="0" sx="100000" sy="100000" flip="none" algn="tl"/>
                    </a:blip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444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+mn-lt"/>
                          <a:ea typeface="楷体" pitchFamily="49" charset="-122"/>
                          <a:cs typeface="Times New Roman" pitchFamily="18" charset="0"/>
                        </a:rPr>
                        <a:t>t</a:t>
                      </a:r>
                    </a:p>
                  </a:txBody>
                  <a:tcPr marL="90000" marR="90000" marT="46800" marB="46800" anchor="ctr" anchorCtr="1" horzOverflow="overflow">
                    <a:lnL w="285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blipFill dpi="0" rotWithShape="0">
                      <a:blip r:embed="rId6"/>
                      <a:srcRect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+mn-lt"/>
                          <a:ea typeface="楷体" pitchFamily="49" charset="-122"/>
                          <a:cs typeface="Times New Roman" pitchFamily="18" charset="0"/>
                        </a:rPr>
                        <a:t>打开一个</a:t>
                      </a:r>
                      <a:r>
                        <a:rPr kumimoji="1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339933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+mn-lt"/>
                          <a:ea typeface="楷体" pitchFamily="49" charset="-122"/>
                          <a:cs typeface="Times New Roman" pitchFamily="18" charset="0"/>
                        </a:rPr>
                        <a:t>文本文件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blipFill dpi="0" rotWithShape="0">
                      <a:blip r:embed="rId6"/>
                      <a:srcRect/>
                      <a:tile tx="0" ty="0" sx="100000" sy="100000" flip="none" algn="tl"/>
                    </a:blip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444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+mn-lt"/>
                          <a:ea typeface="楷体" pitchFamily="49" charset="-122"/>
                          <a:cs typeface="Times New Roman" pitchFamily="18" charset="0"/>
                        </a:rPr>
                        <a:t>b</a:t>
                      </a:r>
                    </a:p>
                  </a:txBody>
                  <a:tcPr marL="90000" marR="90000" marT="46800" marB="46800" anchor="ctr" anchorCtr="1" horzOverflow="overflow">
                    <a:lnL w="285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blipFill dpi="0" rotWithShape="0">
                      <a:blip r:embed="rId6"/>
                      <a:srcRect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+mn-lt"/>
                          <a:ea typeface="楷体" pitchFamily="49" charset="-122"/>
                          <a:cs typeface="Times New Roman" pitchFamily="18" charset="0"/>
                        </a:rPr>
                        <a:t>打开一个</a:t>
                      </a:r>
                      <a:r>
                        <a:rPr kumimoji="1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339933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+mn-lt"/>
                          <a:ea typeface="楷体" pitchFamily="49" charset="-122"/>
                          <a:cs typeface="Times New Roman" pitchFamily="18" charset="0"/>
                        </a:rPr>
                        <a:t>二进制文件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blipFill dpi="0" rotWithShape="0">
                      <a:blip r:embed="rId6"/>
                      <a:srcRect/>
                      <a:tile tx="0" ty="0" sx="100000" sy="100000" flip="none" algn="tl"/>
                    </a:blip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1060018" name="Rectangle 178" descr="信纸"/>
          <p:cNvSpPr>
            <a:spLocks noChangeArrowheads="1"/>
          </p:cNvSpPr>
          <p:nvPr/>
        </p:nvSpPr>
        <p:spPr bwMode="auto">
          <a:xfrm>
            <a:off x="703402" y="3474169"/>
            <a:ext cx="6040670" cy="3051175"/>
          </a:xfrm>
          <a:prstGeom prst="rect">
            <a:avLst/>
          </a:prstGeom>
          <a:solidFill>
            <a:schemeClr val="bg1"/>
          </a:solidFill>
          <a:ln w="38100">
            <a:solidFill>
              <a:srgbClr val="008000"/>
            </a:solidFill>
            <a:miter lim="800000"/>
            <a:headEnd/>
            <a:tailEnd/>
          </a:ln>
          <a:effectLst>
            <a:outerShdw blurRad="50800" dist="106680" dir="2700000" algn="tl" rotWithShape="0">
              <a:prstClr val="black">
                <a:alpha val="43000"/>
              </a:prstClr>
            </a:outerShdw>
          </a:effectLst>
          <a:scene3d>
            <a:camera prst="orthographicFront"/>
            <a:lightRig rig="threePt" dir="t"/>
          </a:scene3d>
          <a:sp3d>
            <a:bevelT w="114300" prst="hardEdge"/>
          </a:sp3d>
        </p:spPr>
        <p:txBody>
          <a:bodyPr wrap="square">
            <a:spAutoFit/>
          </a:bodyPr>
          <a:lstStyle/>
          <a:p>
            <a:r>
              <a:rPr lang="zh-CN" altLang="en-US" b="1" dirty="0">
                <a:solidFill>
                  <a:srgbClr val="FF33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隶书" pitchFamily="49" charset="-122"/>
              </a:rPr>
              <a:t>例：</a:t>
            </a:r>
          </a:p>
          <a:p>
            <a:r>
              <a:rPr lang="en-US" altLang="zh-CN" b="1" dirty="0">
                <a:effectLst>
                  <a:outerShdw blurRad="38100" dist="38100" dir="2700000" algn="tl">
                    <a:srgbClr val="FFFFFF"/>
                  </a:outerShdw>
                </a:effectLst>
              </a:rPr>
              <a:t>FILE  *</a:t>
            </a:r>
            <a:r>
              <a:rPr lang="en-US" altLang="zh-CN" b="1" dirty="0" err="1">
                <a:effectLst>
                  <a:outerShdw blurRad="38100" dist="38100" dir="2700000" algn="tl">
                    <a:srgbClr val="FFFFFF"/>
                  </a:outerShdw>
                </a:effectLst>
              </a:rPr>
              <a:t>fp</a:t>
            </a:r>
            <a:r>
              <a:rPr lang="en-US" altLang="zh-CN" b="1" dirty="0">
                <a:effectLst>
                  <a:outerShdw blurRad="38100" dist="38100" dir="2700000" algn="tl">
                    <a:srgbClr val="FFFFFF"/>
                  </a:outerShdw>
                </a:effectLst>
              </a:rPr>
              <a:t>;</a:t>
            </a:r>
          </a:p>
          <a:p>
            <a:r>
              <a:rPr lang="en-US" altLang="zh-CN" b="1" dirty="0" err="1">
                <a:solidFill>
                  <a:srgbClr val="CC00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fp</a:t>
            </a:r>
            <a:r>
              <a:rPr lang="en-US" altLang="zh-CN" b="1" dirty="0">
                <a:solidFill>
                  <a:srgbClr val="CC00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 = </a:t>
            </a:r>
            <a:r>
              <a:rPr lang="en-US" altLang="zh-CN" b="1" dirty="0" err="1">
                <a:solidFill>
                  <a:srgbClr val="CC00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fopen</a:t>
            </a:r>
            <a:r>
              <a:rPr lang="en-US" altLang="zh-CN" b="1" dirty="0">
                <a:solidFill>
                  <a:srgbClr val="CC00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 ("wang.txt", "r");</a:t>
            </a:r>
          </a:p>
          <a:p>
            <a:r>
              <a:rPr lang="en-US" altLang="zh-CN" b="1" dirty="0">
                <a:effectLst>
                  <a:outerShdw blurRad="38100" dist="38100" dir="2700000" algn="tl">
                    <a:srgbClr val="FFFFFF"/>
                  </a:outerShdw>
                </a:effectLst>
              </a:rPr>
              <a:t>if (</a:t>
            </a:r>
            <a:r>
              <a:rPr lang="en-US" altLang="zh-CN" b="1" dirty="0" err="1">
                <a:effectLst>
                  <a:outerShdw blurRad="38100" dist="38100" dir="2700000" algn="tl">
                    <a:srgbClr val="FFFFFF"/>
                  </a:outerShdw>
                </a:effectLst>
              </a:rPr>
              <a:t>fp</a:t>
            </a:r>
            <a:r>
              <a:rPr lang="en-US" altLang="zh-CN" b="1" dirty="0">
                <a:effectLst>
                  <a:outerShdw blurRad="38100" dist="38100" dir="2700000" algn="tl">
                    <a:srgbClr val="FFFFFF"/>
                  </a:outerShdw>
                </a:effectLst>
              </a:rPr>
              <a:t> = = NULL)</a:t>
            </a:r>
          </a:p>
          <a:p>
            <a:r>
              <a:rPr lang="en-US" altLang="zh-CN" b="1" dirty="0">
                <a:effectLst>
                  <a:outerShdw blurRad="38100" dist="38100" dir="2700000" algn="tl">
                    <a:srgbClr val="FFFFFF"/>
                  </a:outerShdw>
                </a:effectLst>
              </a:rPr>
              <a:t>{</a:t>
            </a:r>
          </a:p>
          <a:p>
            <a:r>
              <a:rPr lang="en-US" altLang="zh-CN" b="1" dirty="0">
                <a:effectLst>
                  <a:outerShdw blurRad="38100" dist="38100" dir="2700000" algn="tl">
                    <a:srgbClr val="FFFFFF"/>
                  </a:outerShdw>
                </a:effectLst>
              </a:rPr>
              <a:t>  </a:t>
            </a:r>
            <a:r>
              <a:rPr lang="en-US" altLang="zh-CN" b="1" dirty="0" err="1">
                <a:effectLst>
                  <a:outerShdw blurRad="38100" dist="38100" dir="2700000" algn="tl">
                    <a:srgbClr val="FFFFFF"/>
                  </a:outerShdw>
                </a:effectLst>
              </a:rPr>
              <a:t>printf</a:t>
            </a:r>
            <a:r>
              <a:rPr lang="en-US" altLang="zh-CN" b="1" dirty="0">
                <a:effectLst>
                  <a:outerShdw blurRad="38100" dist="38100" dir="2700000" algn="tl">
                    <a:srgbClr val="FFFFFF"/>
                  </a:outerShdw>
                </a:effectLst>
              </a:rPr>
              <a:t> ("the file </a:t>
            </a:r>
            <a:r>
              <a:rPr lang="zh-CN" altLang="en-US" b="1" dirty="0">
                <a:effectLst>
                  <a:outerShdw blurRad="38100" dist="38100" dir="2700000" algn="tl">
                    <a:srgbClr val="FFFFFF"/>
                  </a:outerShdw>
                </a:effectLst>
              </a:rPr>
              <a:t>：</a:t>
            </a:r>
            <a:r>
              <a:rPr lang="en-US" altLang="zh-CN" b="1" dirty="0">
                <a:effectLst>
                  <a:outerShdw blurRad="38100" dist="38100" dir="2700000" algn="tl">
                    <a:srgbClr val="FFFFFF"/>
                  </a:outerShdw>
                </a:effectLst>
              </a:rPr>
              <a:t>wang.txt not found! ");</a:t>
            </a:r>
          </a:p>
          <a:p>
            <a:r>
              <a:rPr lang="en-US" altLang="zh-CN" b="1" dirty="0">
                <a:effectLst>
                  <a:outerShdw blurRad="38100" dist="38100" dir="2700000" algn="tl">
                    <a:srgbClr val="FFFFFF"/>
                  </a:outerShdw>
                </a:effectLst>
              </a:rPr>
              <a:t>  exit (-1);</a:t>
            </a:r>
          </a:p>
          <a:p>
            <a:r>
              <a:rPr lang="en-US" altLang="zh-CN" b="1" dirty="0">
                <a:effectLst>
                  <a:outerShdw blurRad="38100" dist="38100" dir="2700000" algn="tl">
                    <a:srgbClr val="FFFFFF"/>
                  </a:outerShdw>
                </a:effectLst>
              </a:rPr>
              <a:t>}</a:t>
            </a:r>
          </a:p>
        </p:txBody>
      </p:sp>
      <p:grpSp>
        <p:nvGrpSpPr>
          <p:cNvPr id="1060019" name="Group 179"/>
          <p:cNvGrpSpPr>
            <a:grpSpLocks/>
          </p:cNvGrpSpPr>
          <p:nvPr/>
        </p:nvGrpSpPr>
        <p:grpSpPr bwMode="auto">
          <a:xfrm>
            <a:off x="-9822" y="0"/>
            <a:ext cx="446088" cy="6858000"/>
            <a:chOff x="0" y="0"/>
            <a:chExt cx="281" cy="4320"/>
          </a:xfrm>
        </p:grpSpPr>
        <p:sp>
          <p:nvSpPr>
            <p:cNvPr id="1060020" name="Text Box 180"/>
            <p:cNvSpPr txBox="1">
              <a:spLocks noChangeArrowheads="1"/>
            </p:cNvSpPr>
            <p:nvPr/>
          </p:nvSpPr>
          <p:spPr bwMode="auto">
            <a:xfrm>
              <a:off x="0" y="0"/>
              <a:ext cx="281" cy="4320"/>
            </a:xfrm>
            <a:prstGeom prst="rect">
              <a:avLst/>
            </a:prstGeom>
            <a:gradFill rotWithShape="0">
              <a:gsLst>
                <a:gs pos="0">
                  <a:schemeClr val="hlink">
                    <a:gamma/>
                    <a:shade val="60784"/>
                    <a:invGamma/>
                  </a:schemeClr>
                </a:gs>
                <a:gs pos="50000">
                  <a:schemeClr val="hlink"/>
                </a:gs>
                <a:gs pos="100000">
                  <a:schemeClr val="hlink">
                    <a:gamma/>
                    <a:shade val="60784"/>
                    <a:invGamma/>
                  </a:schemeClr>
                </a:gs>
              </a:gsLst>
              <a:lin ang="0" scaled="1"/>
            </a:gradFill>
            <a:ln w="9525">
              <a:noFill/>
              <a:miter lim="800000"/>
              <a:headEnd/>
              <a:tailEnd/>
            </a:ln>
            <a:effectLst/>
          </p:spPr>
          <p:txBody>
            <a:bodyPr/>
            <a:lstStyle/>
            <a:p>
              <a:pPr eaLnBrk="0" hangingPunct="0">
                <a:spcBef>
                  <a:spcPct val="50000"/>
                </a:spcBef>
              </a:pPr>
              <a:endParaRPr lang="en-US" altLang="zh-CN" sz="1800" dirty="0">
                <a:solidFill>
                  <a:srgbClr val="3333CC"/>
                </a:solidFill>
                <a:latin typeface="Verdana" pitchFamily="34" charset="0"/>
              </a:endParaRPr>
            </a:p>
            <a:p>
              <a:pPr eaLnBrk="0" hangingPunct="0">
                <a:spcBef>
                  <a:spcPct val="50000"/>
                </a:spcBef>
              </a:pPr>
              <a:r>
                <a:rPr lang="zh-CN" altLang="en-US" sz="1600" b="1" dirty="0">
                  <a:solidFill>
                    <a:srgbClr val="3333CC"/>
                  </a:solidFill>
                  <a:latin typeface="Verdana" pitchFamily="34" charset="0"/>
                </a:rPr>
                <a:t>语言程序设计教程       </a:t>
              </a:r>
            </a:p>
            <a:p>
              <a:pPr eaLnBrk="0" hangingPunct="0">
                <a:spcBef>
                  <a:spcPct val="50000"/>
                </a:spcBef>
              </a:pPr>
              <a:r>
                <a:rPr lang="zh-CN" altLang="en-US" sz="1600" b="1" dirty="0">
                  <a:solidFill>
                    <a:srgbClr val="3333CC"/>
                  </a:solidFill>
                  <a:latin typeface="Verdana" pitchFamily="34" charset="0"/>
                </a:rPr>
                <a:t>第三版</a:t>
              </a:r>
            </a:p>
            <a:p>
              <a:pPr eaLnBrk="0" hangingPunct="0">
                <a:spcBef>
                  <a:spcPct val="50000"/>
                </a:spcBef>
              </a:pPr>
              <a:endParaRPr lang="zh-CN" altLang="en-US" sz="1600" b="1" dirty="0">
                <a:solidFill>
                  <a:srgbClr val="3333CC"/>
                </a:solidFill>
                <a:latin typeface="Verdana" pitchFamily="34" charset="0"/>
              </a:endParaRPr>
            </a:p>
            <a:p>
              <a:pPr eaLnBrk="0" hangingPunct="0">
                <a:spcBef>
                  <a:spcPct val="50000"/>
                </a:spcBef>
              </a:pPr>
              <a:endParaRPr lang="zh-CN" altLang="en-US" sz="1600" b="1" dirty="0">
                <a:solidFill>
                  <a:srgbClr val="3333CC"/>
                </a:solidFill>
                <a:latin typeface="Verdana" pitchFamily="34" charset="0"/>
              </a:endParaRPr>
            </a:p>
            <a:p>
              <a:pPr eaLnBrk="0" hangingPunct="0">
                <a:spcBef>
                  <a:spcPct val="50000"/>
                </a:spcBef>
              </a:pPr>
              <a:r>
                <a:rPr lang="zh-CN" altLang="en-US" sz="1600" b="1" dirty="0">
                  <a:solidFill>
                    <a:srgbClr val="3333CC"/>
                  </a:solidFill>
                  <a:latin typeface="Verdana" pitchFamily="34" charset="0"/>
                </a:rPr>
                <a:t>第十</a:t>
              </a:r>
            </a:p>
            <a:p>
              <a:pPr eaLnBrk="0" hangingPunct="0">
                <a:spcBef>
                  <a:spcPct val="50000"/>
                </a:spcBef>
              </a:pPr>
              <a:r>
                <a:rPr lang="zh-CN" altLang="en-US" sz="1600" b="1" dirty="0">
                  <a:solidFill>
                    <a:srgbClr val="3333CC"/>
                  </a:solidFill>
                  <a:latin typeface="Verdana" pitchFamily="34" charset="0"/>
                </a:rPr>
                <a:t>二章 </a:t>
              </a:r>
            </a:p>
            <a:p>
              <a:pPr eaLnBrk="0" hangingPunct="0">
                <a:spcBef>
                  <a:spcPct val="50000"/>
                </a:spcBef>
              </a:pPr>
              <a:endParaRPr lang="zh-CN" altLang="en-US" sz="1600" b="1" dirty="0">
                <a:solidFill>
                  <a:srgbClr val="3333CC"/>
                </a:solidFill>
                <a:latin typeface="Verdana" pitchFamily="34" charset="0"/>
              </a:endParaRPr>
            </a:p>
            <a:p>
              <a:pPr eaLnBrk="0" hangingPunct="0">
                <a:spcBef>
                  <a:spcPct val="50000"/>
                </a:spcBef>
              </a:pPr>
              <a:r>
                <a:rPr lang="zh-CN" altLang="en-US" sz="1600" b="1" dirty="0">
                  <a:solidFill>
                    <a:srgbClr val="3333CC"/>
                  </a:solidFill>
                  <a:latin typeface="Verdana" pitchFamily="34" charset="0"/>
                </a:rPr>
                <a:t>文</a:t>
              </a:r>
            </a:p>
            <a:p>
              <a:pPr eaLnBrk="0" hangingPunct="0">
                <a:spcBef>
                  <a:spcPct val="50000"/>
                </a:spcBef>
              </a:pPr>
              <a:endParaRPr lang="zh-CN" altLang="en-US" sz="1600" b="1" dirty="0">
                <a:solidFill>
                  <a:srgbClr val="3333CC"/>
                </a:solidFill>
                <a:latin typeface="Verdana" pitchFamily="34" charset="0"/>
              </a:endParaRPr>
            </a:p>
            <a:p>
              <a:pPr eaLnBrk="0" hangingPunct="0">
                <a:spcBef>
                  <a:spcPct val="50000"/>
                </a:spcBef>
              </a:pPr>
              <a:r>
                <a:rPr lang="zh-CN" altLang="en-US" sz="1600" b="1" dirty="0">
                  <a:solidFill>
                    <a:srgbClr val="3333CC"/>
                  </a:solidFill>
                  <a:latin typeface="Verdana" pitchFamily="34" charset="0"/>
                </a:rPr>
                <a:t>件</a:t>
              </a:r>
            </a:p>
          </p:txBody>
        </p:sp>
        <p:sp>
          <p:nvSpPr>
            <p:cNvPr id="1060021" name="Text Box 181"/>
            <p:cNvSpPr txBox="1">
              <a:spLocks noChangeArrowheads="1"/>
            </p:cNvSpPr>
            <p:nvPr/>
          </p:nvSpPr>
          <p:spPr bwMode="auto">
            <a:xfrm>
              <a:off x="0" y="0"/>
              <a:ext cx="281" cy="231"/>
            </a:xfrm>
            <a:prstGeom prst="rect">
              <a:avLst/>
            </a:prstGeom>
            <a:gradFill rotWithShape="0">
              <a:gsLst>
                <a:gs pos="0">
                  <a:schemeClr val="hlink">
                    <a:gamma/>
                    <a:shade val="46275"/>
                    <a:invGamma/>
                  </a:schemeClr>
                </a:gs>
                <a:gs pos="50000">
                  <a:schemeClr val="hlink"/>
                </a:gs>
                <a:gs pos="100000">
                  <a:schemeClr val="hlink">
                    <a:gamma/>
                    <a:shade val="46275"/>
                    <a:invGamma/>
                  </a:schemeClr>
                </a:gs>
              </a:gsLst>
              <a:lin ang="0" scaled="1"/>
            </a:gradFill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eaLnBrk="0" hangingPunct="0">
                <a:spcBef>
                  <a:spcPct val="50000"/>
                </a:spcBef>
              </a:pPr>
              <a:r>
                <a:rPr lang="en-US" altLang="zh-CN" sz="1800" b="1">
                  <a:solidFill>
                    <a:srgbClr val="0000FF"/>
                  </a:solidFill>
                  <a:latin typeface="Arial" pitchFamily="34" charset="0"/>
                </a:rPr>
                <a:t>C</a:t>
              </a:r>
            </a:p>
          </p:txBody>
        </p:sp>
      </p:grpSp>
      <p:sp>
        <p:nvSpPr>
          <p:cNvPr id="9" name="AutoShape 14">
            <a:extLst>
              <a:ext uri="{FF2B5EF4-FFF2-40B4-BE49-F238E27FC236}">
                <a16:creationId xmlns:a16="http://schemas.microsoft.com/office/drawing/2014/main" id="{7A34E5F9-9362-49D0-9588-2DB21F84E3B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79776" y="2930673"/>
            <a:ext cx="2304256" cy="648512"/>
          </a:xfrm>
          <a:prstGeom prst="wedgeRectCallout">
            <a:avLst>
              <a:gd name="adj1" fmla="val -45062"/>
              <a:gd name="adj2" fmla="val 165338"/>
            </a:avLst>
          </a:prstGeom>
          <a:gradFill rotWithShape="1">
            <a:gsLst>
              <a:gs pos="0">
                <a:srgbClr val="00FFFF"/>
              </a:gs>
              <a:gs pos="100000">
                <a:schemeClr val="bg1"/>
              </a:gs>
            </a:gsLst>
            <a:lin ang="5400000" scaled="1"/>
          </a:gradFill>
          <a:ln w="19050">
            <a:solidFill>
              <a:srgbClr val="FF00FF"/>
            </a:solidFill>
            <a:miter lim="800000"/>
            <a:headEnd/>
            <a:tailEnd/>
          </a:ln>
          <a:effectLst>
            <a:outerShdw blurRad="50800" dist="106680" dir="2700000" algn="tl" rotWithShape="0">
              <a:prstClr val="black">
                <a:alpha val="43000"/>
              </a:prstClr>
            </a:outerShdw>
          </a:effectLst>
          <a:scene3d>
            <a:camera prst="orthographicFront"/>
            <a:lightRig rig="threePt" dir="t"/>
          </a:scene3d>
          <a:sp3d>
            <a:bevelT w="114300" prst="hardEdge"/>
          </a:sp3d>
        </p:spPr>
        <p:txBody>
          <a:bodyPr wrap="square" lIns="90000" tIns="46800" rIns="90000" bIns="46800" anchor="ctr">
            <a:spAutoFit/>
          </a:bodyPr>
          <a:lstStyle/>
          <a:p>
            <a:r>
              <a:rPr lang="zh-CN" altLang="en-US" sz="1800" b="1" dirty="0">
                <a:solidFill>
                  <a:srgbClr val="D60093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楷体" pitchFamily="49" charset="-122"/>
              </a:rPr>
              <a:t>以读的方式打开文本文件</a:t>
            </a:r>
            <a:r>
              <a:rPr lang="en-US" altLang="zh-CN" sz="1800" b="1" dirty="0">
                <a:solidFill>
                  <a:srgbClr val="D60093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楷体" pitchFamily="49" charset="-122"/>
              </a:rPr>
              <a:t>wang.txt</a:t>
            </a:r>
            <a:endParaRPr lang="zh-CN" altLang="en-US" sz="1800" b="1" dirty="0">
              <a:solidFill>
                <a:srgbClr val="D60093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+mn-lt"/>
              <a:ea typeface="楷体" pitchFamily="49" charset="-122"/>
            </a:endParaRPr>
          </a:p>
        </p:txBody>
      </p:sp>
      <p:sp>
        <p:nvSpPr>
          <p:cNvPr id="1060017" name="Rectangle 177"/>
          <p:cNvSpPr>
            <a:spLocks noChangeArrowheads="1"/>
          </p:cNvSpPr>
          <p:nvPr/>
        </p:nvSpPr>
        <p:spPr bwMode="auto">
          <a:xfrm>
            <a:off x="1199456" y="1988840"/>
            <a:ext cx="9865096" cy="3539430"/>
          </a:xfrm>
          <a:prstGeom prst="rect">
            <a:avLst/>
          </a:prstGeom>
          <a:gradFill flip="none" rotWithShape="1">
            <a:gsLst>
              <a:gs pos="0">
                <a:srgbClr val="FFFFCC">
                  <a:shade val="30000"/>
                  <a:satMod val="115000"/>
                </a:srgbClr>
              </a:gs>
              <a:gs pos="50000">
                <a:srgbClr val="FFFFCC">
                  <a:shade val="67500"/>
                  <a:satMod val="115000"/>
                </a:srgbClr>
              </a:gs>
              <a:gs pos="100000">
                <a:srgbClr val="FFFFCC">
                  <a:shade val="100000"/>
                  <a:satMod val="115000"/>
                </a:srgbClr>
              </a:gs>
            </a:gsLst>
            <a:lin ang="13500000" scaled="1"/>
            <a:tileRect/>
          </a:gradFill>
          <a:ln w="38100">
            <a:solidFill>
              <a:srgbClr val="FF00FF"/>
            </a:solidFill>
            <a:miter lim="800000"/>
            <a:headEnd/>
            <a:tailEnd/>
          </a:ln>
          <a:effectLst>
            <a:outerShdw blurRad="50800" dist="106680" dir="2700000" algn="tl" rotWithShape="0">
              <a:prstClr val="black">
                <a:alpha val="43000"/>
              </a:prstClr>
            </a:outerShdw>
          </a:effectLst>
          <a:scene3d>
            <a:camera prst="orthographicFront"/>
            <a:lightRig rig="threePt" dir="t"/>
          </a:scene3d>
          <a:sp3d>
            <a:bevelT w="114300" prst="hardEdge"/>
          </a:sp3d>
        </p:spPr>
        <p:txBody>
          <a:bodyPr wrap="square" anchor="ctr">
            <a:spAutoFit/>
          </a:bodyPr>
          <a:lstStyle/>
          <a:p>
            <a:pPr>
              <a:tabLst>
                <a:tab pos="266700" algn="l"/>
              </a:tabLst>
            </a:pPr>
            <a:r>
              <a:rPr lang="zh-CN" altLang="en-US" b="1" dirty="0">
                <a:solidFill>
                  <a:srgbClr val="FF33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隶书" pitchFamily="49" charset="-122"/>
              </a:rPr>
              <a:t>注意：</a:t>
            </a:r>
          </a:p>
          <a:p>
            <a:pPr marL="342900" lvl="0" indent="-342900">
              <a:buFont typeface="Wingdings" panose="05000000000000000000" pitchFamily="2" charset="2"/>
              <a:buChar char="u"/>
            </a:pPr>
            <a:r>
              <a:rPr lang="zh-CN" altLang="zh-CN" sz="2000" b="1" dirty="0">
                <a:ln w="1905"/>
                <a:gradFill>
                  <a:gsLst>
                    <a:gs pos="0">
                      <a:schemeClr val="accent6">
                        <a:shade val="20000"/>
                        <a:satMod val="200000"/>
                      </a:schemeClr>
                    </a:gs>
                    <a:gs pos="78000">
                      <a:schemeClr val="accent6">
                        <a:tint val="90000"/>
                        <a:shade val="89000"/>
                        <a:satMod val="220000"/>
                      </a:schemeClr>
                    </a:gs>
                    <a:gs pos="100000">
                      <a:schemeClr val="accent6">
                        <a:tint val="12000"/>
                        <a:satMod val="255000"/>
                      </a:schemeClr>
                    </a:gs>
                  </a:gsLst>
                  <a:lin ang="5400000"/>
                </a:gra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  <a:ea typeface="隶书" pitchFamily="49" charset="-122"/>
              </a:rPr>
              <a:t>对文件操作的库函数，函数原型均在</a:t>
            </a:r>
            <a:r>
              <a:rPr lang="zh-CN" altLang="zh-CN" sz="2000" b="1" dirty="0">
                <a:ln w="1905"/>
                <a:solidFill>
                  <a:srgbClr val="FF00FF"/>
                </a:soli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  <a:ea typeface="隶书" pitchFamily="49" charset="-122"/>
              </a:rPr>
              <a:t>头文件</a:t>
            </a:r>
            <a:r>
              <a:rPr lang="en-US" altLang="zh-CN" sz="2000" b="1" dirty="0" err="1">
                <a:ln w="1905"/>
                <a:solidFill>
                  <a:srgbClr val="FF00FF"/>
                </a:soli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  <a:ea typeface="隶书" pitchFamily="49" charset="-122"/>
              </a:rPr>
              <a:t>stdio.h</a:t>
            </a:r>
            <a:r>
              <a:rPr lang="zh-CN" altLang="zh-CN" sz="2000" b="1" dirty="0">
                <a:ln w="1905"/>
                <a:gradFill>
                  <a:gsLst>
                    <a:gs pos="0">
                      <a:schemeClr val="accent6">
                        <a:shade val="20000"/>
                        <a:satMod val="200000"/>
                      </a:schemeClr>
                    </a:gs>
                    <a:gs pos="78000">
                      <a:schemeClr val="accent6">
                        <a:tint val="90000"/>
                        <a:shade val="89000"/>
                        <a:satMod val="220000"/>
                      </a:schemeClr>
                    </a:gs>
                    <a:gs pos="100000">
                      <a:schemeClr val="accent6">
                        <a:tint val="12000"/>
                        <a:satMod val="255000"/>
                      </a:schemeClr>
                    </a:gs>
                  </a:gsLst>
                  <a:lin ang="5400000"/>
                </a:gra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  <a:ea typeface="隶书" pitchFamily="49" charset="-122"/>
              </a:rPr>
              <a:t>中。</a:t>
            </a:r>
            <a:endParaRPr lang="en-US" altLang="zh-CN" sz="2000" b="1" dirty="0">
              <a:ln w="1905"/>
              <a:gradFill>
                <a:gsLst>
                  <a:gs pos="0">
                    <a:schemeClr val="accent6">
                      <a:shade val="20000"/>
                      <a:satMod val="200000"/>
                    </a:schemeClr>
                  </a:gs>
                  <a:gs pos="78000">
                    <a:schemeClr val="accent6">
                      <a:tint val="90000"/>
                      <a:shade val="89000"/>
                      <a:satMod val="220000"/>
                    </a:schemeClr>
                  </a:gs>
                  <a:gs pos="100000">
                    <a:schemeClr val="accent6">
                      <a:tint val="12000"/>
                      <a:satMod val="255000"/>
                    </a:schemeClr>
                  </a:gs>
                </a:gsLst>
                <a:lin ang="5400000"/>
              </a:gradFill>
              <a:effectLst>
                <a:innerShdw blurRad="69850" dist="43180" dir="5400000">
                  <a:srgbClr val="000000">
                    <a:alpha val="65000"/>
                  </a:srgbClr>
                </a:innerShdw>
              </a:effectLst>
              <a:ea typeface="隶书" pitchFamily="49" charset="-122"/>
            </a:endParaRPr>
          </a:p>
          <a:p>
            <a:pPr marL="342900" lvl="0" indent="-342900">
              <a:buFont typeface="Wingdings" panose="05000000000000000000" pitchFamily="2" charset="2"/>
              <a:buChar char="u"/>
            </a:pPr>
            <a:r>
              <a:rPr lang="zh-CN" altLang="zh-CN" sz="2000" b="1" dirty="0">
                <a:ln w="1905"/>
                <a:solidFill>
                  <a:srgbClr val="FF00FF"/>
                </a:soli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  <a:ea typeface="隶书" pitchFamily="49" charset="-122"/>
              </a:rPr>
              <a:t>打开文件方式字符串</a:t>
            </a:r>
            <a:r>
              <a:rPr lang="en-US" altLang="zh-CN" sz="2000" b="1" dirty="0">
                <a:ln w="1905"/>
                <a:solidFill>
                  <a:srgbClr val="FF00FF"/>
                </a:soli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  <a:ea typeface="隶书" pitchFamily="49" charset="-122"/>
              </a:rPr>
              <a:t>mode</a:t>
            </a:r>
            <a:r>
              <a:rPr lang="zh-CN" altLang="zh-CN" sz="2000" b="1" dirty="0">
                <a:ln w="1905"/>
                <a:solidFill>
                  <a:srgbClr val="FF00FF"/>
                </a:soli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  <a:ea typeface="隶书" pitchFamily="49" charset="-122"/>
              </a:rPr>
              <a:t>其字符先后次序是</a:t>
            </a:r>
            <a:r>
              <a:rPr lang="zh-CN" altLang="zh-CN" sz="2000" b="1" dirty="0">
                <a:ln w="1905"/>
                <a:gradFill>
                  <a:gsLst>
                    <a:gs pos="0">
                      <a:schemeClr val="accent6">
                        <a:shade val="20000"/>
                        <a:satMod val="200000"/>
                      </a:schemeClr>
                    </a:gs>
                    <a:gs pos="78000">
                      <a:schemeClr val="accent6">
                        <a:tint val="90000"/>
                        <a:shade val="89000"/>
                        <a:satMod val="220000"/>
                      </a:schemeClr>
                    </a:gs>
                    <a:gs pos="100000">
                      <a:schemeClr val="accent6">
                        <a:tint val="12000"/>
                        <a:satMod val="255000"/>
                      </a:schemeClr>
                    </a:gs>
                  </a:gsLst>
                  <a:lin ang="5400000"/>
                </a:gra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  <a:ea typeface="隶书" pitchFamily="49" charset="-122"/>
              </a:rPr>
              <a:t>：</a:t>
            </a:r>
            <a:r>
              <a:rPr lang="zh-CN" altLang="zh-CN" sz="2000" b="1" dirty="0">
                <a:ln w="1905"/>
                <a:solidFill>
                  <a:srgbClr val="FF00FF"/>
                </a:soli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  <a:ea typeface="隶书" pitchFamily="49" charset="-122"/>
              </a:rPr>
              <a:t>操作类型符在前，打开文件类型符在后。</a:t>
            </a:r>
            <a:r>
              <a:rPr lang="zh-CN" altLang="zh-CN" sz="2000" b="1" dirty="0">
                <a:ln w="1905"/>
                <a:gradFill>
                  <a:gsLst>
                    <a:gs pos="0">
                      <a:schemeClr val="accent6">
                        <a:shade val="20000"/>
                        <a:satMod val="200000"/>
                      </a:schemeClr>
                    </a:gs>
                    <a:gs pos="78000">
                      <a:schemeClr val="accent6">
                        <a:tint val="90000"/>
                        <a:shade val="89000"/>
                        <a:satMod val="220000"/>
                      </a:schemeClr>
                    </a:gs>
                    <a:gs pos="100000">
                      <a:schemeClr val="accent6">
                        <a:tint val="12000"/>
                        <a:satMod val="255000"/>
                      </a:schemeClr>
                    </a:gs>
                  </a:gsLst>
                  <a:lin ang="5400000"/>
                </a:gra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  <a:ea typeface="隶书" pitchFamily="49" charset="-122"/>
              </a:rPr>
              <a:t>如，</a:t>
            </a:r>
            <a:r>
              <a:rPr lang="en-US" altLang="zh-CN" sz="2000" b="1" dirty="0">
                <a:ln w="1905"/>
                <a:gradFill>
                  <a:gsLst>
                    <a:gs pos="0">
                      <a:schemeClr val="accent6">
                        <a:shade val="20000"/>
                        <a:satMod val="200000"/>
                      </a:schemeClr>
                    </a:gs>
                    <a:gs pos="78000">
                      <a:schemeClr val="accent6">
                        <a:tint val="90000"/>
                        <a:shade val="89000"/>
                        <a:satMod val="220000"/>
                      </a:schemeClr>
                    </a:gs>
                    <a:gs pos="100000">
                      <a:schemeClr val="accent6">
                        <a:tint val="12000"/>
                        <a:satMod val="255000"/>
                      </a:schemeClr>
                    </a:gs>
                  </a:gsLst>
                  <a:lin ang="5400000"/>
                </a:gra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  <a:ea typeface="隶书" pitchFamily="49" charset="-122"/>
              </a:rPr>
              <a:t>"</a:t>
            </a:r>
            <a:r>
              <a:rPr lang="en-US" altLang="zh-CN" sz="2000" b="1" dirty="0" err="1">
                <a:ln w="1905"/>
                <a:gradFill>
                  <a:gsLst>
                    <a:gs pos="0">
                      <a:schemeClr val="accent6">
                        <a:shade val="20000"/>
                        <a:satMod val="200000"/>
                      </a:schemeClr>
                    </a:gs>
                    <a:gs pos="78000">
                      <a:schemeClr val="accent6">
                        <a:tint val="90000"/>
                        <a:shade val="89000"/>
                        <a:satMod val="220000"/>
                      </a:schemeClr>
                    </a:gs>
                    <a:gs pos="100000">
                      <a:schemeClr val="accent6">
                        <a:tint val="12000"/>
                        <a:satMod val="255000"/>
                      </a:schemeClr>
                    </a:gs>
                  </a:gsLst>
                  <a:lin ang="5400000"/>
                </a:gra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  <a:ea typeface="隶书" pitchFamily="49" charset="-122"/>
              </a:rPr>
              <a:t>rb</a:t>
            </a:r>
            <a:r>
              <a:rPr lang="en-US" altLang="zh-CN" sz="2000" b="1" dirty="0">
                <a:ln w="1905"/>
                <a:gradFill>
                  <a:gsLst>
                    <a:gs pos="0">
                      <a:schemeClr val="accent6">
                        <a:shade val="20000"/>
                        <a:satMod val="200000"/>
                      </a:schemeClr>
                    </a:gs>
                    <a:gs pos="78000">
                      <a:schemeClr val="accent6">
                        <a:tint val="90000"/>
                        <a:shade val="89000"/>
                        <a:satMod val="220000"/>
                      </a:schemeClr>
                    </a:gs>
                    <a:gs pos="100000">
                      <a:schemeClr val="accent6">
                        <a:tint val="12000"/>
                        <a:satMod val="255000"/>
                      </a:schemeClr>
                    </a:gs>
                  </a:gsLst>
                  <a:lin ang="5400000"/>
                </a:gra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  <a:ea typeface="隶书" pitchFamily="49" charset="-122"/>
              </a:rPr>
              <a:t>"</a:t>
            </a:r>
            <a:r>
              <a:rPr lang="zh-CN" altLang="zh-CN" sz="2000" b="1" dirty="0">
                <a:ln w="1905"/>
                <a:gradFill>
                  <a:gsLst>
                    <a:gs pos="0">
                      <a:schemeClr val="accent6">
                        <a:shade val="20000"/>
                        <a:satMod val="200000"/>
                      </a:schemeClr>
                    </a:gs>
                    <a:gs pos="78000">
                      <a:schemeClr val="accent6">
                        <a:tint val="90000"/>
                        <a:shade val="89000"/>
                        <a:satMod val="220000"/>
                      </a:schemeClr>
                    </a:gs>
                    <a:gs pos="100000">
                      <a:schemeClr val="accent6">
                        <a:tint val="12000"/>
                        <a:satMod val="255000"/>
                      </a:schemeClr>
                    </a:gs>
                  </a:gsLst>
                  <a:lin ang="5400000"/>
                </a:gra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  <a:ea typeface="隶书" pitchFamily="49" charset="-122"/>
              </a:rPr>
              <a:t>、</a:t>
            </a:r>
            <a:r>
              <a:rPr lang="en-US" altLang="zh-CN" sz="2000" b="1" dirty="0">
                <a:ln w="1905"/>
                <a:gradFill>
                  <a:gsLst>
                    <a:gs pos="0">
                      <a:schemeClr val="accent6">
                        <a:shade val="20000"/>
                        <a:satMod val="200000"/>
                      </a:schemeClr>
                    </a:gs>
                    <a:gs pos="78000">
                      <a:schemeClr val="accent6">
                        <a:tint val="90000"/>
                        <a:shade val="89000"/>
                        <a:satMod val="220000"/>
                      </a:schemeClr>
                    </a:gs>
                    <a:gs pos="100000">
                      <a:schemeClr val="accent6">
                        <a:tint val="12000"/>
                        <a:satMod val="255000"/>
                      </a:schemeClr>
                    </a:gs>
                  </a:gsLst>
                  <a:lin ang="5400000"/>
                </a:gra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  <a:ea typeface="隶书" pitchFamily="49" charset="-122"/>
              </a:rPr>
              <a:t>"wt"</a:t>
            </a:r>
            <a:r>
              <a:rPr lang="zh-CN" altLang="zh-CN" sz="2000" b="1" dirty="0">
                <a:ln w="1905"/>
                <a:gradFill>
                  <a:gsLst>
                    <a:gs pos="0">
                      <a:schemeClr val="accent6">
                        <a:shade val="20000"/>
                        <a:satMod val="200000"/>
                      </a:schemeClr>
                    </a:gs>
                    <a:gs pos="78000">
                      <a:schemeClr val="accent6">
                        <a:tint val="90000"/>
                        <a:shade val="89000"/>
                        <a:satMod val="220000"/>
                      </a:schemeClr>
                    </a:gs>
                    <a:gs pos="100000">
                      <a:schemeClr val="accent6">
                        <a:tint val="12000"/>
                        <a:satMod val="255000"/>
                      </a:schemeClr>
                    </a:gs>
                  </a:gsLst>
                  <a:lin ang="5400000"/>
                </a:gra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  <a:ea typeface="隶书" pitchFamily="49" charset="-122"/>
              </a:rPr>
              <a:t>，不可写成</a:t>
            </a:r>
            <a:r>
              <a:rPr lang="en-US" altLang="zh-CN" sz="2000" b="1" dirty="0">
                <a:ln w="1905"/>
                <a:gradFill>
                  <a:gsLst>
                    <a:gs pos="0">
                      <a:schemeClr val="accent6">
                        <a:shade val="20000"/>
                        <a:satMod val="200000"/>
                      </a:schemeClr>
                    </a:gs>
                    <a:gs pos="78000">
                      <a:schemeClr val="accent6">
                        <a:tint val="90000"/>
                        <a:shade val="89000"/>
                        <a:satMod val="220000"/>
                      </a:schemeClr>
                    </a:gs>
                    <a:gs pos="100000">
                      <a:schemeClr val="accent6">
                        <a:tint val="12000"/>
                        <a:satMod val="255000"/>
                      </a:schemeClr>
                    </a:gs>
                  </a:gsLst>
                  <a:lin ang="5400000"/>
                </a:gra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  <a:ea typeface="隶书" pitchFamily="49" charset="-122"/>
              </a:rPr>
              <a:t>"</a:t>
            </a:r>
            <a:r>
              <a:rPr lang="en-US" altLang="zh-CN" sz="2000" b="1" dirty="0" err="1">
                <a:ln w="1905"/>
                <a:gradFill>
                  <a:gsLst>
                    <a:gs pos="0">
                      <a:schemeClr val="accent6">
                        <a:shade val="20000"/>
                        <a:satMod val="200000"/>
                      </a:schemeClr>
                    </a:gs>
                    <a:gs pos="78000">
                      <a:schemeClr val="accent6">
                        <a:tint val="90000"/>
                        <a:shade val="89000"/>
                        <a:satMod val="220000"/>
                      </a:schemeClr>
                    </a:gs>
                    <a:gs pos="100000">
                      <a:schemeClr val="accent6">
                        <a:tint val="12000"/>
                        <a:satMod val="255000"/>
                      </a:schemeClr>
                    </a:gs>
                  </a:gsLst>
                  <a:lin ang="5400000"/>
                </a:gra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  <a:ea typeface="隶书" pitchFamily="49" charset="-122"/>
              </a:rPr>
              <a:t>br</a:t>
            </a:r>
            <a:r>
              <a:rPr lang="en-US" altLang="zh-CN" sz="2000" b="1" dirty="0">
                <a:ln w="1905"/>
                <a:gradFill>
                  <a:gsLst>
                    <a:gs pos="0">
                      <a:schemeClr val="accent6">
                        <a:shade val="20000"/>
                        <a:satMod val="200000"/>
                      </a:schemeClr>
                    </a:gs>
                    <a:gs pos="78000">
                      <a:schemeClr val="accent6">
                        <a:tint val="90000"/>
                        <a:shade val="89000"/>
                        <a:satMod val="220000"/>
                      </a:schemeClr>
                    </a:gs>
                    <a:gs pos="100000">
                      <a:schemeClr val="accent6">
                        <a:tint val="12000"/>
                        <a:satMod val="255000"/>
                      </a:schemeClr>
                    </a:gs>
                  </a:gsLst>
                  <a:lin ang="5400000"/>
                </a:gra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  <a:ea typeface="隶书" pitchFamily="49" charset="-122"/>
              </a:rPr>
              <a:t>"</a:t>
            </a:r>
            <a:r>
              <a:rPr lang="zh-CN" altLang="zh-CN" sz="2000" b="1" dirty="0">
                <a:ln w="1905"/>
                <a:gradFill>
                  <a:gsLst>
                    <a:gs pos="0">
                      <a:schemeClr val="accent6">
                        <a:shade val="20000"/>
                        <a:satMod val="200000"/>
                      </a:schemeClr>
                    </a:gs>
                    <a:gs pos="78000">
                      <a:schemeClr val="accent6">
                        <a:tint val="90000"/>
                        <a:shade val="89000"/>
                        <a:satMod val="220000"/>
                      </a:schemeClr>
                    </a:gs>
                    <a:gs pos="100000">
                      <a:schemeClr val="accent6">
                        <a:tint val="12000"/>
                        <a:satMod val="255000"/>
                      </a:schemeClr>
                    </a:gs>
                  </a:gsLst>
                  <a:lin ang="5400000"/>
                </a:gra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  <a:ea typeface="隶书" pitchFamily="49" charset="-122"/>
              </a:rPr>
              <a:t>、</a:t>
            </a:r>
            <a:r>
              <a:rPr lang="en-US" altLang="zh-CN" sz="2000" b="1" dirty="0">
                <a:ln w="1905"/>
                <a:gradFill>
                  <a:gsLst>
                    <a:gs pos="0">
                      <a:schemeClr val="accent6">
                        <a:shade val="20000"/>
                        <a:satMod val="200000"/>
                      </a:schemeClr>
                    </a:gs>
                    <a:gs pos="78000">
                      <a:schemeClr val="accent6">
                        <a:tint val="90000"/>
                        <a:shade val="89000"/>
                        <a:satMod val="220000"/>
                      </a:schemeClr>
                    </a:gs>
                    <a:gs pos="100000">
                      <a:schemeClr val="accent6">
                        <a:tint val="12000"/>
                        <a:satMod val="255000"/>
                      </a:schemeClr>
                    </a:gs>
                  </a:gsLst>
                  <a:lin ang="5400000"/>
                </a:gra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  <a:ea typeface="隶书" pitchFamily="49" charset="-122"/>
              </a:rPr>
              <a:t>"</a:t>
            </a:r>
            <a:r>
              <a:rPr lang="en-US" altLang="zh-CN" sz="2000" b="1" dirty="0" err="1">
                <a:ln w="1905"/>
                <a:gradFill>
                  <a:gsLst>
                    <a:gs pos="0">
                      <a:schemeClr val="accent6">
                        <a:shade val="20000"/>
                        <a:satMod val="200000"/>
                      </a:schemeClr>
                    </a:gs>
                    <a:gs pos="78000">
                      <a:schemeClr val="accent6">
                        <a:tint val="90000"/>
                        <a:shade val="89000"/>
                        <a:satMod val="220000"/>
                      </a:schemeClr>
                    </a:gs>
                    <a:gs pos="100000">
                      <a:schemeClr val="accent6">
                        <a:tint val="12000"/>
                        <a:satMod val="255000"/>
                      </a:schemeClr>
                    </a:gs>
                  </a:gsLst>
                  <a:lin ang="5400000"/>
                </a:gra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  <a:ea typeface="隶书" pitchFamily="49" charset="-122"/>
              </a:rPr>
              <a:t>tw</a:t>
            </a:r>
            <a:r>
              <a:rPr lang="en-US" altLang="zh-CN" sz="2000" b="1" dirty="0">
                <a:ln w="1905"/>
                <a:gradFill>
                  <a:gsLst>
                    <a:gs pos="0">
                      <a:schemeClr val="accent6">
                        <a:shade val="20000"/>
                        <a:satMod val="200000"/>
                      </a:schemeClr>
                    </a:gs>
                    <a:gs pos="78000">
                      <a:schemeClr val="accent6">
                        <a:tint val="90000"/>
                        <a:shade val="89000"/>
                        <a:satMod val="220000"/>
                      </a:schemeClr>
                    </a:gs>
                    <a:gs pos="100000">
                      <a:schemeClr val="accent6">
                        <a:tint val="12000"/>
                        <a:satMod val="255000"/>
                      </a:schemeClr>
                    </a:gs>
                  </a:gsLst>
                  <a:lin ang="5400000"/>
                </a:gra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  <a:ea typeface="隶书" pitchFamily="49" charset="-122"/>
              </a:rPr>
              <a:t>"</a:t>
            </a:r>
            <a:r>
              <a:rPr lang="zh-CN" altLang="zh-CN" sz="2000" b="1" dirty="0">
                <a:ln w="1905"/>
                <a:gradFill>
                  <a:gsLst>
                    <a:gs pos="0">
                      <a:schemeClr val="accent6">
                        <a:shade val="20000"/>
                        <a:satMod val="200000"/>
                      </a:schemeClr>
                    </a:gs>
                    <a:gs pos="78000">
                      <a:schemeClr val="accent6">
                        <a:tint val="90000"/>
                        <a:shade val="89000"/>
                        <a:satMod val="220000"/>
                      </a:schemeClr>
                    </a:gs>
                    <a:gs pos="100000">
                      <a:schemeClr val="accent6">
                        <a:tint val="12000"/>
                        <a:satMod val="255000"/>
                      </a:schemeClr>
                    </a:gs>
                  </a:gsLst>
                  <a:lin ang="5400000"/>
                </a:gra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  <a:ea typeface="隶书" pitchFamily="49" charset="-122"/>
              </a:rPr>
              <a:t>。而对于</a:t>
            </a:r>
            <a:r>
              <a:rPr lang="en-US" altLang="zh-CN" sz="2000" b="1" dirty="0">
                <a:ln w="1905"/>
                <a:gradFill>
                  <a:gsLst>
                    <a:gs pos="0">
                      <a:schemeClr val="accent6">
                        <a:shade val="20000"/>
                        <a:satMod val="200000"/>
                      </a:schemeClr>
                    </a:gs>
                    <a:gs pos="78000">
                      <a:schemeClr val="accent6">
                        <a:tint val="90000"/>
                        <a:shade val="89000"/>
                        <a:satMod val="220000"/>
                      </a:schemeClr>
                    </a:gs>
                    <a:gs pos="100000">
                      <a:schemeClr val="accent6">
                        <a:tint val="12000"/>
                        <a:satMod val="255000"/>
                      </a:schemeClr>
                    </a:gs>
                  </a:gsLst>
                  <a:lin ang="5400000"/>
                </a:gra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  <a:ea typeface="隶书" pitchFamily="49" charset="-122"/>
              </a:rPr>
              <a:t>“+”</a:t>
            </a:r>
            <a:r>
              <a:rPr lang="zh-CN" altLang="zh-CN" sz="2000" b="1" dirty="0">
                <a:ln w="1905"/>
                <a:gradFill>
                  <a:gsLst>
                    <a:gs pos="0">
                      <a:schemeClr val="accent6">
                        <a:shade val="20000"/>
                        <a:satMod val="200000"/>
                      </a:schemeClr>
                    </a:gs>
                    <a:gs pos="78000">
                      <a:schemeClr val="accent6">
                        <a:tint val="90000"/>
                        <a:shade val="89000"/>
                        <a:satMod val="220000"/>
                      </a:schemeClr>
                    </a:gs>
                    <a:gs pos="100000">
                      <a:schemeClr val="accent6">
                        <a:tint val="12000"/>
                        <a:satMod val="255000"/>
                      </a:schemeClr>
                    </a:gs>
                  </a:gsLst>
                  <a:lin ang="5400000"/>
                </a:gra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  <a:ea typeface="隶书" pitchFamily="49" charset="-122"/>
              </a:rPr>
              <a:t>来说，可以放在操作类型符的右边，也可放在字符串的最后，但不可放在操作类型符的左边。如，</a:t>
            </a:r>
            <a:r>
              <a:rPr lang="en-US" altLang="zh-CN" sz="2000" b="1" dirty="0">
                <a:ln w="1905"/>
                <a:gradFill>
                  <a:gsLst>
                    <a:gs pos="0">
                      <a:schemeClr val="accent6">
                        <a:shade val="20000"/>
                        <a:satMod val="200000"/>
                      </a:schemeClr>
                    </a:gs>
                    <a:gs pos="78000">
                      <a:schemeClr val="accent6">
                        <a:tint val="90000"/>
                        <a:shade val="89000"/>
                        <a:satMod val="220000"/>
                      </a:schemeClr>
                    </a:gs>
                    <a:gs pos="100000">
                      <a:schemeClr val="accent6">
                        <a:tint val="12000"/>
                        <a:satMod val="255000"/>
                      </a:schemeClr>
                    </a:gs>
                  </a:gsLst>
                  <a:lin ang="5400000"/>
                </a:gra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  <a:ea typeface="隶书" pitchFamily="49" charset="-122"/>
              </a:rPr>
              <a:t>"</a:t>
            </a:r>
            <a:r>
              <a:rPr lang="en-US" altLang="zh-CN" sz="2000" b="1" dirty="0" err="1">
                <a:ln w="1905"/>
                <a:gradFill>
                  <a:gsLst>
                    <a:gs pos="0">
                      <a:schemeClr val="accent6">
                        <a:shade val="20000"/>
                        <a:satMod val="200000"/>
                      </a:schemeClr>
                    </a:gs>
                    <a:gs pos="78000">
                      <a:schemeClr val="accent6">
                        <a:tint val="90000"/>
                        <a:shade val="89000"/>
                        <a:satMod val="220000"/>
                      </a:schemeClr>
                    </a:gs>
                    <a:gs pos="100000">
                      <a:schemeClr val="accent6">
                        <a:tint val="12000"/>
                        <a:satMod val="255000"/>
                      </a:schemeClr>
                    </a:gs>
                  </a:gsLst>
                  <a:lin ang="5400000"/>
                </a:gra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  <a:ea typeface="隶书" pitchFamily="49" charset="-122"/>
              </a:rPr>
              <a:t>w+b</a:t>
            </a:r>
            <a:r>
              <a:rPr lang="en-US" altLang="zh-CN" sz="2000" b="1" dirty="0">
                <a:ln w="1905"/>
                <a:gradFill>
                  <a:gsLst>
                    <a:gs pos="0">
                      <a:schemeClr val="accent6">
                        <a:shade val="20000"/>
                        <a:satMod val="200000"/>
                      </a:schemeClr>
                    </a:gs>
                    <a:gs pos="78000">
                      <a:schemeClr val="accent6">
                        <a:tint val="90000"/>
                        <a:shade val="89000"/>
                        <a:satMod val="220000"/>
                      </a:schemeClr>
                    </a:gs>
                    <a:gs pos="100000">
                      <a:schemeClr val="accent6">
                        <a:tint val="12000"/>
                        <a:satMod val="255000"/>
                      </a:schemeClr>
                    </a:gs>
                  </a:gsLst>
                  <a:lin ang="5400000"/>
                </a:gra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  <a:ea typeface="隶书" pitchFamily="49" charset="-122"/>
              </a:rPr>
              <a:t>"</a:t>
            </a:r>
            <a:r>
              <a:rPr lang="zh-CN" altLang="zh-CN" sz="2000" b="1" dirty="0">
                <a:ln w="1905"/>
                <a:gradFill>
                  <a:gsLst>
                    <a:gs pos="0">
                      <a:schemeClr val="accent6">
                        <a:shade val="20000"/>
                        <a:satMod val="200000"/>
                      </a:schemeClr>
                    </a:gs>
                    <a:gs pos="78000">
                      <a:schemeClr val="accent6">
                        <a:tint val="90000"/>
                        <a:shade val="89000"/>
                        <a:satMod val="220000"/>
                      </a:schemeClr>
                    </a:gs>
                    <a:gs pos="100000">
                      <a:schemeClr val="accent6">
                        <a:tint val="12000"/>
                        <a:satMod val="255000"/>
                      </a:schemeClr>
                    </a:gs>
                  </a:gsLst>
                  <a:lin ang="5400000"/>
                </a:gra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  <a:ea typeface="隶书" pitchFamily="49" charset="-122"/>
              </a:rPr>
              <a:t>或</a:t>
            </a:r>
            <a:r>
              <a:rPr lang="en-US" altLang="zh-CN" sz="2000" b="1" dirty="0">
                <a:ln w="1905"/>
                <a:gradFill>
                  <a:gsLst>
                    <a:gs pos="0">
                      <a:schemeClr val="accent6">
                        <a:shade val="20000"/>
                        <a:satMod val="200000"/>
                      </a:schemeClr>
                    </a:gs>
                    <a:gs pos="78000">
                      <a:schemeClr val="accent6">
                        <a:tint val="90000"/>
                        <a:shade val="89000"/>
                        <a:satMod val="220000"/>
                      </a:schemeClr>
                    </a:gs>
                    <a:gs pos="100000">
                      <a:schemeClr val="accent6">
                        <a:tint val="12000"/>
                        <a:satMod val="255000"/>
                      </a:schemeClr>
                    </a:gs>
                  </a:gsLst>
                  <a:lin ang="5400000"/>
                </a:gra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  <a:ea typeface="隶书" pitchFamily="49" charset="-122"/>
              </a:rPr>
              <a:t>"</a:t>
            </a:r>
            <a:r>
              <a:rPr lang="en-US" altLang="zh-CN" sz="2000" b="1" dirty="0" err="1">
                <a:ln w="1905"/>
                <a:gradFill>
                  <a:gsLst>
                    <a:gs pos="0">
                      <a:schemeClr val="accent6">
                        <a:shade val="20000"/>
                        <a:satMod val="200000"/>
                      </a:schemeClr>
                    </a:gs>
                    <a:gs pos="78000">
                      <a:schemeClr val="accent6">
                        <a:tint val="90000"/>
                        <a:shade val="89000"/>
                        <a:satMod val="220000"/>
                      </a:schemeClr>
                    </a:gs>
                    <a:gs pos="100000">
                      <a:schemeClr val="accent6">
                        <a:tint val="12000"/>
                        <a:satMod val="255000"/>
                      </a:schemeClr>
                    </a:gs>
                  </a:gsLst>
                  <a:lin ang="5400000"/>
                </a:gra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  <a:ea typeface="隶书" pitchFamily="49" charset="-122"/>
              </a:rPr>
              <a:t>wb</a:t>
            </a:r>
            <a:r>
              <a:rPr lang="en-US" altLang="zh-CN" sz="2000" b="1" dirty="0">
                <a:ln w="1905"/>
                <a:gradFill>
                  <a:gsLst>
                    <a:gs pos="0">
                      <a:schemeClr val="accent6">
                        <a:shade val="20000"/>
                        <a:satMod val="200000"/>
                      </a:schemeClr>
                    </a:gs>
                    <a:gs pos="78000">
                      <a:schemeClr val="accent6">
                        <a:tint val="90000"/>
                        <a:shade val="89000"/>
                        <a:satMod val="220000"/>
                      </a:schemeClr>
                    </a:gs>
                    <a:gs pos="100000">
                      <a:schemeClr val="accent6">
                        <a:tint val="12000"/>
                        <a:satMod val="255000"/>
                      </a:schemeClr>
                    </a:gs>
                  </a:gsLst>
                  <a:lin ang="5400000"/>
                </a:gra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  <a:ea typeface="隶书" pitchFamily="49" charset="-122"/>
              </a:rPr>
              <a:t>+"</a:t>
            </a:r>
            <a:r>
              <a:rPr lang="zh-CN" altLang="zh-CN" sz="2000" b="1" dirty="0">
                <a:ln w="1905"/>
                <a:gradFill>
                  <a:gsLst>
                    <a:gs pos="0">
                      <a:schemeClr val="accent6">
                        <a:shade val="20000"/>
                        <a:satMod val="200000"/>
                      </a:schemeClr>
                    </a:gs>
                    <a:gs pos="78000">
                      <a:schemeClr val="accent6">
                        <a:tint val="90000"/>
                        <a:shade val="89000"/>
                        <a:satMod val="220000"/>
                      </a:schemeClr>
                    </a:gs>
                    <a:gs pos="100000">
                      <a:schemeClr val="accent6">
                        <a:tint val="12000"/>
                        <a:satMod val="255000"/>
                      </a:schemeClr>
                    </a:gs>
                  </a:gsLst>
                  <a:lin ang="5400000"/>
                </a:gra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  <a:ea typeface="隶书" pitchFamily="49" charset="-122"/>
              </a:rPr>
              <a:t>都是正确的，而</a:t>
            </a:r>
            <a:r>
              <a:rPr lang="en-US" altLang="zh-CN" sz="2000" b="1" dirty="0">
                <a:ln w="1905"/>
                <a:gradFill>
                  <a:gsLst>
                    <a:gs pos="0">
                      <a:schemeClr val="accent6">
                        <a:shade val="20000"/>
                        <a:satMod val="200000"/>
                      </a:schemeClr>
                    </a:gs>
                    <a:gs pos="78000">
                      <a:schemeClr val="accent6">
                        <a:tint val="90000"/>
                        <a:shade val="89000"/>
                        <a:satMod val="220000"/>
                      </a:schemeClr>
                    </a:gs>
                    <a:gs pos="100000">
                      <a:schemeClr val="accent6">
                        <a:tint val="12000"/>
                        <a:satMod val="255000"/>
                      </a:schemeClr>
                    </a:gs>
                  </a:gsLst>
                  <a:lin ang="5400000"/>
                </a:gra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  <a:ea typeface="隶书" pitchFamily="49" charset="-122"/>
              </a:rPr>
              <a:t>"+</a:t>
            </a:r>
            <a:r>
              <a:rPr lang="en-US" altLang="zh-CN" sz="2000" b="1" dirty="0" err="1">
                <a:ln w="1905"/>
                <a:gradFill>
                  <a:gsLst>
                    <a:gs pos="0">
                      <a:schemeClr val="accent6">
                        <a:shade val="20000"/>
                        <a:satMod val="200000"/>
                      </a:schemeClr>
                    </a:gs>
                    <a:gs pos="78000">
                      <a:schemeClr val="accent6">
                        <a:tint val="90000"/>
                        <a:shade val="89000"/>
                        <a:satMod val="220000"/>
                      </a:schemeClr>
                    </a:gs>
                    <a:gs pos="100000">
                      <a:schemeClr val="accent6">
                        <a:tint val="12000"/>
                        <a:satMod val="255000"/>
                      </a:schemeClr>
                    </a:gs>
                  </a:gsLst>
                  <a:lin ang="5400000"/>
                </a:gra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  <a:ea typeface="隶书" pitchFamily="49" charset="-122"/>
              </a:rPr>
              <a:t>wb</a:t>
            </a:r>
            <a:r>
              <a:rPr lang="en-US" altLang="zh-CN" sz="2000" b="1" dirty="0">
                <a:ln w="1905"/>
                <a:gradFill>
                  <a:gsLst>
                    <a:gs pos="0">
                      <a:schemeClr val="accent6">
                        <a:shade val="20000"/>
                        <a:satMod val="200000"/>
                      </a:schemeClr>
                    </a:gs>
                    <a:gs pos="78000">
                      <a:schemeClr val="accent6">
                        <a:tint val="90000"/>
                        <a:shade val="89000"/>
                        <a:satMod val="220000"/>
                      </a:schemeClr>
                    </a:gs>
                    <a:gs pos="100000">
                      <a:schemeClr val="accent6">
                        <a:tint val="12000"/>
                        <a:satMod val="255000"/>
                      </a:schemeClr>
                    </a:gs>
                  </a:gsLst>
                  <a:lin ang="5400000"/>
                </a:gra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  <a:ea typeface="隶书" pitchFamily="49" charset="-122"/>
              </a:rPr>
              <a:t>"</a:t>
            </a:r>
            <a:r>
              <a:rPr lang="zh-CN" altLang="zh-CN" sz="2000" b="1" dirty="0">
                <a:ln w="1905"/>
                <a:gradFill>
                  <a:gsLst>
                    <a:gs pos="0">
                      <a:schemeClr val="accent6">
                        <a:shade val="20000"/>
                        <a:satMod val="200000"/>
                      </a:schemeClr>
                    </a:gs>
                    <a:gs pos="78000">
                      <a:schemeClr val="accent6">
                        <a:tint val="90000"/>
                        <a:shade val="89000"/>
                        <a:satMod val="220000"/>
                      </a:schemeClr>
                    </a:gs>
                    <a:gs pos="100000">
                      <a:schemeClr val="accent6">
                        <a:tint val="12000"/>
                        <a:satMod val="255000"/>
                      </a:schemeClr>
                    </a:gs>
                  </a:gsLst>
                  <a:lin ang="5400000"/>
                </a:gra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  <a:ea typeface="隶书" pitchFamily="49" charset="-122"/>
              </a:rPr>
              <a:t>则是错误的。</a:t>
            </a:r>
            <a:endParaRPr lang="en-US" altLang="zh-CN" sz="2000" b="1" dirty="0">
              <a:ln w="1905"/>
              <a:gradFill>
                <a:gsLst>
                  <a:gs pos="0">
                    <a:schemeClr val="accent6">
                      <a:shade val="20000"/>
                      <a:satMod val="200000"/>
                    </a:schemeClr>
                  </a:gs>
                  <a:gs pos="78000">
                    <a:schemeClr val="accent6">
                      <a:tint val="90000"/>
                      <a:shade val="89000"/>
                      <a:satMod val="220000"/>
                    </a:schemeClr>
                  </a:gs>
                  <a:gs pos="100000">
                    <a:schemeClr val="accent6">
                      <a:tint val="12000"/>
                      <a:satMod val="255000"/>
                    </a:schemeClr>
                  </a:gs>
                </a:gsLst>
                <a:lin ang="5400000"/>
              </a:gradFill>
              <a:effectLst>
                <a:innerShdw blurRad="69850" dist="43180" dir="5400000">
                  <a:srgbClr val="000000">
                    <a:alpha val="65000"/>
                  </a:srgbClr>
                </a:innerShdw>
              </a:effectLst>
              <a:ea typeface="隶书" pitchFamily="49" charset="-122"/>
            </a:endParaRPr>
          </a:p>
          <a:p>
            <a:pPr marL="342900" lvl="0" indent="-342900">
              <a:buFont typeface="Wingdings" panose="05000000000000000000" pitchFamily="2" charset="2"/>
              <a:buChar char="u"/>
            </a:pPr>
            <a:r>
              <a:rPr lang="zh-CN" altLang="zh-CN" sz="2000" b="1" dirty="0">
                <a:ln w="1905"/>
                <a:gradFill>
                  <a:gsLst>
                    <a:gs pos="0">
                      <a:schemeClr val="accent6">
                        <a:shade val="20000"/>
                        <a:satMod val="200000"/>
                      </a:schemeClr>
                    </a:gs>
                    <a:gs pos="78000">
                      <a:schemeClr val="accent6">
                        <a:tint val="90000"/>
                        <a:shade val="89000"/>
                        <a:satMod val="220000"/>
                      </a:schemeClr>
                    </a:gs>
                    <a:gs pos="100000">
                      <a:schemeClr val="accent6">
                        <a:tint val="12000"/>
                        <a:satMod val="255000"/>
                      </a:schemeClr>
                    </a:gs>
                  </a:gsLst>
                  <a:lin ang="5400000"/>
                </a:gra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  <a:ea typeface="隶书" pitchFamily="49" charset="-122"/>
              </a:rPr>
              <a:t>在程序开始运行时，系统自动打开三个标准文件，并分别定义了文件指针：</a:t>
            </a:r>
            <a:endParaRPr lang="en-US" altLang="zh-CN" sz="2000" b="1" dirty="0">
              <a:ln w="1905"/>
              <a:gradFill>
                <a:gsLst>
                  <a:gs pos="0">
                    <a:schemeClr val="accent6">
                      <a:shade val="20000"/>
                      <a:satMod val="200000"/>
                    </a:schemeClr>
                  </a:gs>
                  <a:gs pos="78000">
                    <a:schemeClr val="accent6">
                      <a:tint val="90000"/>
                      <a:shade val="89000"/>
                      <a:satMod val="220000"/>
                    </a:schemeClr>
                  </a:gs>
                  <a:gs pos="100000">
                    <a:schemeClr val="accent6">
                      <a:tint val="12000"/>
                      <a:satMod val="255000"/>
                    </a:schemeClr>
                  </a:gs>
                </a:gsLst>
                <a:lin ang="5400000"/>
              </a:gradFill>
              <a:effectLst>
                <a:innerShdw blurRad="69850" dist="43180" dir="5400000">
                  <a:srgbClr val="000000">
                    <a:alpha val="65000"/>
                  </a:srgbClr>
                </a:innerShdw>
              </a:effectLst>
              <a:ea typeface="隶书" pitchFamily="49" charset="-122"/>
            </a:endParaRPr>
          </a:p>
          <a:p>
            <a:pPr marL="800100" lvl="1" indent="-342900">
              <a:buFont typeface="Wingdings" panose="05000000000000000000" pitchFamily="2" charset="2"/>
              <a:buChar char="l"/>
            </a:pPr>
            <a:r>
              <a:rPr lang="zh-CN" altLang="zh-CN" sz="2000" b="1" dirty="0">
                <a:ln w="1905"/>
                <a:solidFill>
                  <a:srgbClr val="FF00FF"/>
                </a:soli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  <a:ea typeface="隶书" pitchFamily="49" charset="-122"/>
              </a:rPr>
              <a:t>标准输入文件</a:t>
            </a:r>
            <a:r>
              <a:rPr lang="en-US" altLang="zh-CN" sz="2000" b="1" dirty="0">
                <a:ln w="1905"/>
                <a:solidFill>
                  <a:srgbClr val="FF00FF"/>
                </a:soli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  <a:ea typeface="隶书" pitchFamily="49" charset="-122"/>
              </a:rPr>
              <a:t>——stdin</a:t>
            </a:r>
            <a:r>
              <a:rPr lang="zh-CN" altLang="zh-CN" sz="2000" b="1" dirty="0">
                <a:ln w="1905"/>
                <a:solidFill>
                  <a:srgbClr val="FF00FF"/>
                </a:soli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  <a:ea typeface="隶书" pitchFamily="49" charset="-122"/>
              </a:rPr>
              <a:t>：</a:t>
            </a:r>
            <a:r>
              <a:rPr lang="zh-CN" altLang="zh-CN" sz="2000" b="1" dirty="0">
                <a:ln w="1905"/>
                <a:gradFill>
                  <a:gsLst>
                    <a:gs pos="0">
                      <a:schemeClr val="accent6">
                        <a:shade val="20000"/>
                        <a:satMod val="200000"/>
                      </a:schemeClr>
                    </a:gs>
                    <a:gs pos="78000">
                      <a:schemeClr val="accent6">
                        <a:tint val="90000"/>
                        <a:shade val="89000"/>
                        <a:satMod val="220000"/>
                      </a:schemeClr>
                    </a:gs>
                    <a:gs pos="100000">
                      <a:schemeClr val="accent6">
                        <a:tint val="12000"/>
                        <a:satMod val="255000"/>
                      </a:schemeClr>
                    </a:gs>
                  </a:gsLst>
                  <a:lin ang="5400000"/>
                </a:gra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  <a:ea typeface="隶书" pitchFamily="49" charset="-122"/>
              </a:rPr>
              <a:t>指向终端输入（一般为键盘）。如果程序中指定要从</a:t>
            </a:r>
            <a:r>
              <a:rPr lang="en-US" altLang="zh-CN" sz="2000" b="1" dirty="0">
                <a:ln w="1905"/>
                <a:gradFill>
                  <a:gsLst>
                    <a:gs pos="0">
                      <a:schemeClr val="accent6">
                        <a:shade val="20000"/>
                        <a:satMod val="200000"/>
                      </a:schemeClr>
                    </a:gs>
                    <a:gs pos="78000">
                      <a:schemeClr val="accent6">
                        <a:tint val="90000"/>
                        <a:shade val="89000"/>
                        <a:satMod val="220000"/>
                      </a:schemeClr>
                    </a:gs>
                    <a:gs pos="100000">
                      <a:schemeClr val="accent6">
                        <a:tint val="12000"/>
                        <a:satMod val="255000"/>
                      </a:schemeClr>
                    </a:gs>
                  </a:gsLst>
                  <a:lin ang="5400000"/>
                </a:gra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  <a:ea typeface="隶书" pitchFamily="49" charset="-122"/>
              </a:rPr>
              <a:t>stdin</a:t>
            </a:r>
            <a:r>
              <a:rPr lang="zh-CN" altLang="zh-CN" sz="2000" b="1" dirty="0">
                <a:ln w="1905"/>
                <a:gradFill>
                  <a:gsLst>
                    <a:gs pos="0">
                      <a:schemeClr val="accent6">
                        <a:shade val="20000"/>
                        <a:satMod val="200000"/>
                      </a:schemeClr>
                    </a:gs>
                    <a:gs pos="78000">
                      <a:schemeClr val="accent6">
                        <a:tint val="90000"/>
                        <a:shade val="89000"/>
                        <a:satMod val="220000"/>
                      </a:schemeClr>
                    </a:gs>
                    <a:gs pos="100000">
                      <a:schemeClr val="accent6">
                        <a:tint val="12000"/>
                        <a:satMod val="255000"/>
                      </a:schemeClr>
                    </a:gs>
                  </a:gsLst>
                  <a:lin ang="5400000"/>
                </a:gra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  <a:ea typeface="隶书" pitchFamily="49" charset="-122"/>
              </a:rPr>
              <a:t>所指的文件输入数据，就是从终端键盘上输入数据。</a:t>
            </a:r>
            <a:endParaRPr lang="en-US" altLang="zh-CN" sz="2000" b="1" dirty="0">
              <a:ln w="1905"/>
              <a:gradFill>
                <a:gsLst>
                  <a:gs pos="0">
                    <a:schemeClr val="accent6">
                      <a:shade val="20000"/>
                      <a:satMod val="200000"/>
                    </a:schemeClr>
                  </a:gs>
                  <a:gs pos="78000">
                    <a:schemeClr val="accent6">
                      <a:tint val="90000"/>
                      <a:shade val="89000"/>
                      <a:satMod val="220000"/>
                    </a:schemeClr>
                  </a:gs>
                  <a:gs pos="100000">
                    <a:schemeClr val="accent6">
                      <a:tint val="12000"/>
                      <a:satMod val="255000"/>
                    </a:schemeClr>
                  </a:gs>
                </a:gsLst>
                <a:lin ang="5400000"/>
              </a:gradFill>
              <a:effectLst>
                <a:innerShdw blurRad="69850" dist="43180" dir="5400000">
                  <a:srgbClr val="000000">
                    <a:alpha val="65000"/>
                  </a:srgbClr>
                </a:innerShdw>
              </a:effectLst>
              <a:ea typeface="隶书" pitchFamily="49" charset="-122"/>
            </a:endParaRPr>
          </a:p>
          <a:p>
            <a:pPr marL="800100" lvl="1" indent="-342900">
              <a:buFont typeface="Wingdings" panose="05000000000000000000" pitchFamily="2" charset="2"/>
              <a:buChar char="l"/>
            </a:pPr>
            <a:r>
              <a:rPr lang="zh-CN" altLang="zh-CN" sz="2000" b="1" dirty="0">
                <a:ln w="1905"/>
                <a:solidFill>
                  <a:srgbClr val="FF00FF"/>
                </a:soli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  <a:ea typeface="隶书" pitchFamily="49" charset="-122"/>
              </a:rPr>
              <a:t>标准输出文件</a:t>
            </a:r>
            <a:r>
              <a:rPr lang="en-US" altLang="zh-CN" sz="2000" b="1" dirty="0">
                <a:ln w="1905"/>
                <a:solidFill>
                  <a:srgbClr val="FF00FF"/>
                </a:soli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  <a:ea typeface="隶书" pitchFamily="49" charset="-122"/>
              </a:rPr>
              <a:t>——</a:t>
            </a:r>
            <a:r>
              <a:rPr lang="en-US" altLang="zh-CN" sz="2000" b="1" dirty="0" err="1">
                <a:ln w="1905"/>
                <a:solidFill>
                  <a:srgbClr val="FF00FF"/>
                </a:soli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  <a:ea typeface="隶书" pitchFamily="49" charset="-122"/>
              </a:rPr>
              <a:t>stdout</a:t>
            </a:r>
            <a:r>
              <a:rPr lang="zh-CN" altLang="zh-CN" sz="2000" b="1" dirty="0">
                <a:ln w="1905"/>
                <a:solidFill>
                  <a:srgbClr val="FF00FF"/>
                </a:soli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  <a:ea typeface="隶书" pitchFamily="49" charset="-122"/>
              </a:rPr>
              <a:t>：</a:t>
            </a:r>
            <a:r>
              <a:rPr lang="zh-CN" altLang="zh-CN" sz="2000" b="1" dirty="0">
                <a:ln w="1905"/>
                <a:gradFill>
                  <a:gsLst>
                    <a:gs pos="0">
                      <a:schemeClr val="accent6">
                        <a:shade val="20000"/>
                        <a:satMod val="200000"/>
                      </a:schemeClr>
                    </a:gs>
                    <a:gs pos="78000">
                      <a:schemeClr val="accent6">
                        <a:tint val="90000"/>
                        <a:shade val="89000"/>
                        <a:satMod val="220000"/>
                      </a:schemeClr>
                    </a:gs>
                    <a:gs pos="100000">
                      <a:schemeClr val="accent6">
                        <a:tint val="12000"/>
                        <a:satMod val="255000"/>
                      </a:schemeClr>
                    </a:gs>
                  </a:gsLst>
                  <a:lin ang="5400000"/>
                </a:gra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  <a:ea typeface="隶书" pitchFamily="49" charset="-122"/>
              </a:rPr>
              <a:t>指向终端输出（一般为显示器）。</a:t>
            </a:r>
            <a:endParaRPr lang="en-US" altLang="zh-CN" sz="2000" b="1" dirty="0">
              <a:ln w="1905"/>
              <a:gradFill>
                <a:gsLst>
                  <a:gs pos="0">
                    <a:schemeClr val="accent6">
                      <a:shade val="20000"/>
                      <a:satMod val="200000"/>
                    </a:schemeClr>
                  </a:gs>
                  <a:gs pos="78000">
                    <a:schemeClr val="accent6">
                      <a:tint val="90000"/>
                      <a:shade val="89000"/>
                      <a:satMod val="220000"/>
                    </a:schemeClr>
                  </a:gs>
                  <a:gs pos="100000">
                    <a:schemeClr val="accent6">
                      <a:tint val="12000"/>
                      <a:satMod val="255000"/>
                    </a:schemeClr>
                  </a:gs>
                </a:gsLst>
                <a:lin ang="5400000"/>
              </a:gradFill>
              <a:effectLst>
                <a:innerShdw blurRad="69850" dist="43180" dir="5400000">
                  <a:srgbClr val="000000">
                    <a:alpha val="65000"/>
                  </a:srgbClr>
                </a:innerShdw>
              </a:effectLst>
              <a:ea typeface="隶书" pitchFamily="49" charset="-122"/>
            </a:endParaRPr>
          </a:p>
          <a:p>
            <a:pPr marL="800100" lvl="1" indent="-342900">
              <a:buFont typeface="Wingdings" panose="05000000000000000000" pitchFamily="2" charset="2"/>
              <a:buChar char="l"/>
            </a:pPr>
            <a:r>
              <a:rPr lang="zh-CN" altLang="zh-CN" sz="2000" b="1" dirty="0">
                <a:ln w="1905"/>
                <a:solidFill>
                  <a:srgbClr val="FF00FF"/>
                </a:soli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  <a:ea typeface="隶书" pitchFamily="49" charset="-122"/>
              </a:rPr>
              <a:t>标准错误文件</a:t>
            </a:r>
            <a:r>
              <a:rPr lang="en-US" altLang="zh-CN" sz="2000" b="1" dirty="0">
                <a:ln w="1905"/>
                <a:solidFill>
                  <a:srgbClr val="FF00FF"/>
                </a:soli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  <a:ea typeface="隶书" pitchFamily="49" charset="-122"/>
              </a:rPr>
              <a:t>——</a:t>
            </a:r>
            <a:r>
              <a:rPr lang="en-US" altLang="zh-CN" sz="2000" b="1" dirty="0" err="1">
                <a:ln w="1905"/>
                <a:solidFill>
                  <a:srgbClr val="FF00FF"/>
                </a:soli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  <a:ea typeface="隶书" pitchFamily="49" charset="-122"/>
              </a:rPr>
              <a:t>stderr</a:t>
            </a:r>
            <a:r>
              <a:rPr lang="zh-CN" altLang="zh-CN" sz="2000" b="1" dirty="0">
                <a:ln w="1905"/>
                <a:solidFill>
                  <a:srgbClr val="FF00FF"/>
                </a:soli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  <a:ea typeface="隶书" pitchFamily="49" charset="-122"/>
              </a:rPr>
              <a:t>：</a:t>
            </a:r>
            <a:r>
              <a:rPr lang="zh-CN" altLang="zh-CN" sz="2000" b="1" dirty="0">
                <a:ln w="1905"/>
                <a:gradFill>
                  <a:gsLst>
                    <a:gs pos="0">
                      <a:schemeClr val="accent6">
                        <a:shade val="20000"/>
                        <a:satMod val="200000"/>
                      </a:schemeClr>
                    </a:gs>
                    <a:gs pos="78000">
                      <a:schemeClr val="accent6">
                        <a:tint val="90000"/>
                        <a:shade val="89000"/>
                        <a:satMod val="220000"/>
                      </a:schemeClr>
                    </a:gs>
                    <a:gs pos="100000">
                      <a:schemeClr val="accent6">
                        <a:tint val="12000"/>
                        <a:satMod val="255000"/>
                      </a:schemeClr>
                    </a:gs>
                  </a:gsLst>
                  <a:lin ang="5400000"/>
                </a:gra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  <a:ea typeface="隶书" pitchFamily="49" charset="-122"/>
              </a:rPr>
              <a:t>指向终端标准错误输出（一般为显示器）。</a:t>
            </a:r>
          </a:p>
        </p:txBody>
      </p:sp>
    </p:spTree>
  </p:cSld>
  <p:clrMapOvr>
    <a:masterClrMapping/>
  </p:clrMapOvr>
  <p:transition>
    <p:cover/>
    <p:sndAc>
      <p:stSnd>
        <p:snd r:embed="rId3" name="CAMER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98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7" dur="500"/>
                                        <p:tgtEl>
                                          <p:spTgt spid="1059855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00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2" dur="500"/>
                                        <p:tgtEl>
                                          <p:spTgt spid="1060014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00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7" dur="500"/>
                                        <p:tgtEl>
                                          <p:spTgt spid="1060018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8" presetClass="entr" presetSubtype="3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2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laser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00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27" dur="500"/>
                                        <p:tgtEl>
                                          <p:spTgt spid="1060017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5" name="chime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59855" grpId="0" animBg="1" autoUpdateAnimBg="0"/>
      <p:bldP spid="1060018" grpId="0" animBg="1"/>
      <p:bldP spid="9" grpId="0" animBg="1" autoUpdateAnimBg="0"/>
      <p:bldP spid="1060017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1895" name="Rectangle 7"/>
          <p:cNvSpPr>
            <a:spLocks noChangeArrowheads="1"/>
          </p:cNvSpPr>
          <p:nvPr/>
        </p:nvSpPr>
        <p:spPr bwMode="auto">
          <a:xfrm>
            <a:off x="734717" y="203200"/>
            <a:ext cx="2749549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anchor="ctr">
            <a:spAutoFit/>
          </a:bodyPr>
          <a:lstStyle/>
          <a:p>
            <a:pPr>
              <a:buFont typeface="Wingdings" pitchFamily="2" charset="2"/>
              <a:buChar char="Ø"/>
              <a:tabLst>
                <a:tab pos="496888" algn="l"/>
              </a:tabLst>
            </a:pPr>
            <a:r>
              <a:rPr lang="en-US" altLang="zh-CN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楷体" pitchFamily="49" charset="-122"/>
              </a:rPr>
              <a:t> </a:t>
            </a:r>
            <a:r>
              <a:rPr lang="zh-CN" altLang="en-US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楷体" pitchFamily="49" charset="-122"/>
              </a:rPr>
              <a:t>关闭文件</a:t>
            </a:r>
            <a:r>
              <a:rPr lang="en-US" altLang="zh-CN" b="1" dirty="0" err="1">
                <a:solidFill>
                  <a:srgbClr val="0000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楷体" pitchFamily="49" charset="-122"/>
              </a:rPr>
              <a:t>fclose</a:t>
            </a:r>
            <a:endParaRPr lang="en-US" altLang="zh-CN" b="1" dirty="0">
              <a:solidFill>
                <a:srgbClr val="0000FF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+mn-lt"/>
              <a:ea typeface="楷体" pitchFamily="49" charset="-122"/>
            </a:endParaRPr>
          </a:p>
        </p:txBody>
      </p:sp>
      <p:sp>
        <p:nvSpPr>
          <p:cNvPr id="1061896" name="Text Box 8"/>
          <p:cNvSpPr txBox="1">
            <a:spLocks noChangeArrowheads="1"/>
          </p:cNvSpPr>
          <p:nvPr/>
        </p:nvSpPr>
        <p:spPr bwMode="auto">
          <a:xfrm>
            <a:off x="1599904" y="1154113"/>
            <a:ext cx="7808464" cy="431800"/>
          </a:xfrm>
          <a:prstGeom prst="rect">
            <a:avLst/>
          </a:prstGeom>
          <a:gradFill rotWithShape="1">
            <a:gsLst>
              <a:gs pos="0">
                <a:srgbClr val="FFFF99"/>
              </a:gs>
              <a:gs pos="100000">
                <a:srgbClr val="FFFF99">
                  <a:gamma/>
                  <a:shade val="75686"/>
                  <a:invGamma/>
                </a:srgbClr>
              </a:gs>
            </a:gsLst>
            <a:lin ang="5400000" scaled="1"/>
          </a:gradFill>
          <a:ln w="38100">
            <a:solidFill>
              <a:srgbClr val="0000FF"/>
            </a:solidFill>
            <a:miter lim="800000"/>
            <a:headEnd/>
            <a:tailEnd/>
          </a:ln>
          <a:effectLst>
            <a:outerShdw blurRad="50800" dist="106680" dir="2700000" algn="tl" rotWithShape="0">
              <a:prstClr val="black">
                <a:alpha val="43000"/>
              </a:prstClr>
            </a:outerShdw>
          </a:effectLst>
          <a:scene3d>
            <a:camera prst="orthographicFront"/>
            <a:lightRig rig="threePt" dir="t"/>
          </a:scene3d>
          <a:sp3d>
            <a:bevelT w="114300" prst="hardEdge"/>
          </a:sp3d>
        </p:spPr>
        <p:txBody>
          <a:bodyPr/>
          <a:lstStyle/>
          <a:p>
            <a:r>
              <a:rPr lang="en-US" altLang="zh-CN" sz="2000" b="1" dirty="0">
                <a:effectLst>
                  <a:outerShdw blurRad="38100" dist="38100" dir="2700000" algn="tl">
                    <a:srgbClr val="FFFFFF"/>
                  </a:outerShdw>
                </a:effectLst>
              </a:rPr>
              <a:t>               int  *</a:t>
            </a:r>
            <a:r>
              <a:rPr lang="en-US" altLang="zh-CN" sz="2000" b="1" dirty="0" err="1">
                <a:effectLst>
                  <a:outerShdw blurRad="38100" dist="38100" dir="2700000" algn="tl">
                    <a:srgbClr val="FFFFFF"/>
                  </a:outerShdw>
                </a:effectLst>
              </a:rPr>
              <a:t>fclose</a:t>
            </a:r>
            <a:r>
              <a:rPr lang="en-US" altLang="zh-CN" sz="2000" b="1" dirty="0">
                <a:effectLst>
                  <a:outerShdw blurRad="38100" dist="38100" dir="2700000" algn="tl">
                    <a:srgbClr val="FFFFFF"/>
                  </a:outerShdw>
                </a:effectLst>
              </a:rPr>
              <a:t> (FILE  *</a:t>
            </a:r>
            <a:r>
              <a:rPr lang="en-US" altLang="zh-CN" sz="2000" b="1" dirty="0" err="1">
                <a:effectLst>
                  <a:outerShdw blurRad="38100" dist="38100" dir="2700000" algn="tl">
                    <a:srgbClr val="FFFFFF"/>
                  </a:outerShdw>
                </a:effectLst>
              </a:rPr>
              <a:t>filepointer</a:t>
            </a:r>
            <a:r>
              <a:rPr lang="en-US" altLang="zh-CN" sz="2000" b="1" dirty="0">
                <a:effectLst>
                  <a:outerShdw blurRad="38100" dist="38100" dir="2700000" algn="tl">
                    <a:srgbClr val="FFFFFF"/>
                  </a:outerShdw>
                </a:effectLst>
              </a:rPr>
              <a:t>);</a:t>
            </a:r>
          </a:p>
        </p:txBody>
      </p:sp>
      <p:sp>
        <p:nvSpPr>
          <p:cNvPr id="1061899" name="Rectangle 11"/>
          <p:cNvSpPr>
            <a:spLocks noChangeArrowheads="1"/>
          </p:cNvSpPr>
          <p:nvPr/>
        </p:nvSpPr>
        <p:spPr bwMode="auto">
          <a:xfrm>
            <a:off x="1064917" y="650875"/>
            <a:ext cx="2160587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buClr>
                <a:srgbClr val="339933"/>
              </a:buClr>
              <a:buFont typeface="Wingdings" pitchFamily="2" charset="2"/>
              <a:buChar char="l"/>
            </a:pPr>
            <a:r>
              <a:rPr lang="en-US" altLang="zh-CN" b="1" dirty="0">
                <a:effectLst>
                  <a:outerShdw blurRad="38100" dist="38100" dir="2700000" algn="tl">
                    <a:srgbClr val="FFFFFF"/>
                  </a:outerShdw>
                </a:effectLst>
                <a:latin typeface="+mn-lt"/>
                <a:ea typeface="楷体" pitchFamily="49" charset="-122"/>
              </a:rPr>
              <a:t> </a:t>
            </a:r>
            <a:r>
              <a:rPr lang="zh-CN" altLang="zh-CN" b="1" dirty="0">
                <a:effectLst>
                  <a:outerShdw blurRad="38100" dist="38100" dir="2700000" algn="tl">
                    <a:srgbClr val="FFFFFF"/>
                  </a:outerShdw>
                </a:effectLst>
                <a:latin typeface="+mn-lt"/>
                <a:ea typeface="楷体" pitchFamily="49" charset="-122"/>
              </a:rPr>
              <a:t>函数原形：         </a:t>
            </a:r>
            <a:endParaRPr lang="zh-CN" altLang="en-US" b="1" dirty="0">
              <a:solidFill>
                <a:srgbClr val="D60093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+mn-lt"/>
              <a:ea typeface="楷体" pitchFamily="49" charset="-122"/>
            </a:endParaRPr>
          </a:p>
        </p:txBody>
      </p:sp>
      <p:sp>
        <p:nvSpPr>
          <p:cNvPr id="1061901" name="AutoShape 13"/>
          <p:cNvSpPr>
            <a:spLocks noChangeArrowheads="1"/>
          </p:cNvSpPr>
          <p:nvPr/>
        </p:nvSpPr>
        <p:spPr bwMode="auto">
          <a:xfrm>
            <a:off x="5067003" y="276226"/>
            <a:ext cx="3816350" cy="415925"/>
          </a:xfrm>
          <a:prstGeom prst="wedgeRectCallout">
            <a:avLst>
              <a:gd name="adj1" fmla="val -42972"/>
              <a:gd name="adj2" fmla="val 191630"/>
            </a:avLst>
          </a:prstGeom>
          <a:gradFill rotWithShape="1">
            <a:gsLst>
              <a:gs pos="0">
                <a:srgbClr val="00FFFF"/>
              </a:gs>
              <a:gs pos="100000">
                <a:schemeClr val="bg1"/>
              </a:gs>
            </a:gsLst>
            <a:lin ang="5400000" scaled="1"/>
          </a:gradFill>
          <a:ln w="19050">
            <a:solidFill>
              <a:srgbClr val="FF00FF"/>
            </a:solidFill>
            <a:miter lim="800000"/>
            <a:headEnd/>
            <a:tailEnd/>
          </a:ln>
          <a:effectLst>
            <a:outerShdw blurRad="50800" dist="106680" dir="2700000" algn="tl" rotWithShape="0">
              <a:prstClr val="black">
                <a:alpha val="43000"/>
              </a:prstClr>
            </a:outerShdw>
          </a:effectLst>
          <a:scene3d>
            <a:camera prst="orthographicFront"/>
            <a:lightRig rig="threePt" dir="t"/>
          </a:scene3d>
          <a:sp3d>
            <a:bevelT w="114300" prst="hardEdge"/>
          </a:sp3d>
        </p:spPr>
        <p:txBody>
          <a:bodyPr lIns="90000" tIns="46800" rIns="90000" bIns="46800" anchor="ctr">
            <a:spAutoFit/>
          </a:bodyPr>
          <a:lstStyle/>
          <a:p>
            <a:r>
              <a:rPr lang="zh-CN" altLang="en-US" sz="2000" b="1">
                <a:solidFill>
                  <a:srgbClr val="D60093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楷体" pitchFamily="49" charset="-122"/>
              </a:rPr>
              <a:t>文件打开时返回的文件类型指针</a:t>
            </a:r>
          </a:p>
        </p:txBody>
      </p:sp>
      <p:sp>
        <p:nvSpPr>
          <p:cNvPr id="1061902" name="Rectangle 14"/>
          <p:cNvSpPr>
            <a:spLocks noChangeArrowheads="1"/>
          </p:cNvSpPr>
          <p:nvPr/>
        </p:nvSpPr>
        <p:spPr bwMode="auto">
          <a:xfrm>
            <a:off x="1067772" y="1704975"/>
            <a:ext cx="10489405" cy="120032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buClr>
                <a:srgbClr val="339933"/>
              </a:buClr>
              <a:buFont typeface="Wingdings" pitchFamily="2" charset="2"/>
              <a:buChar char="l"/>
            </a:pPr>
            <a:r>
              <a:rPr lang="en-US" altLang="zh-CN" b="1" dirty="0">
                <a:effectLst>
                  <a:outerShdw blurRad="38100" dist="38100" dir="2700000" algn="tl">
                    <a:srgbClr val="FFFFFF"/>
                  </a:outerShdw>
                </a:effectLst>
                <a:latin typeface="+mn-lt"/>
                <a:ea typeface="楷体" pitchFamily="49" charset="-122"/>
              </a:rPr>
              <a:t> </a:t>
            </a:r>
            <a:r>
              <a:rPr lang="zh-CN" altLang="en-US" b="1" dirty="0">
                <a:effectLst>
                  <a:outerShdw blurRad="38100" dist="38100" dir="2700000" algn="tl">
                    <a:srgbClr val="FFFFFF"/>
                  </a:outerShdw>
                </a:effectLst>
                <a:latin typeface="+mn-lt"/>
                <a:ea typeface="楷体" pitchFamily="49" charset="-122"/>
              </a:rPr>
              <a:t>功能：关闭</a:t>
            </a:r>
            <a:r>
              <a:rPr lang="en-US" altLang="zh-CN" b="1" dirty="0" err="1">
                <a:effectLst>
                  <a:outerShdw blurRad="38100" dist="38100" dir="2700000" algn="tl">
                    <a:srgbClr val="FFFFFF"/>
                  </a:outerShdw>
                </a:effectLst>
                <a:latin typeface="+mn-lt"/>
                <a:ea typeface="楷体" pitchFamily="49" charset="-122"/>
              </a:rPr>
              <a:t>filepointer</a:t>
            </a:r>
            <a:r>
              <a:rPr lang="zh-CN" altLang="zh-CN" b="1" dirty="0">
                <a:effectLst>
                  <a:outerShdw blurRad="38100" dist="38100" dir="2700000" algn="tl">
                    <a:srgbClr val="FFFFFF"/>
                  </a:outerShdw>
                </a:effectLst>
                <a:latin typeface="+mn-lt"/>
                <a:ea typeface="楷体" pitchFamily="49" charset="-122"/>
              </a:rPr>
              <a:t>指向的文件</a:t>
            </a:r>
            <a:endParaRPr lang="zh-CN" altLang="en-US" b="1" dirty="0">
              <a:effectLst>
                <a:outerShdw blurRad="38100" dist="38100" dir="2700000" algn="tl">
                  <a:srgbClr val="FFFFFF"/>
                </a:outerShdw>
              </a:effectLst>
              <a:latin typeface="+mn-lt"/>
              <a:ea typeface="楷体" pitchFamily="49" charset="-122"/>
            </a:endParaRPr>
          </a:p>
          <a:p>
            <a:pPr>
              <a:buClr>
                <a:srgbClr val="339933"/>
              </a:buClr>
              <a:buFont typeface="Wingdings" pitchFamily="2" charset="2"/>
              <a:buChar char="l"/>
            </a:pPr>
            <a:r>
              <a:rPr lang="zh-CN" altLang="en-US" b="1" dirty="0">
                <a:effectLst>
                  <a:outerShdw blurRad="38100" dist="38100" dir="2700000" algn="tl">
                    <a:srgbClr val="FFFFFF"/>
                  </a:outerShdw>
                </a:effectLst>
                <a:latin typeface="+mn-lt"/>
                <a:ea typeface="楷体" pitchFamily="49" charset="-122"/>
              </a:rPr>
              <a:t> 返值：</a:t>
            </a:r>
            <a:r>
              <a:rPr lang="zh-CN" altLang="zh-CN" b="1" dirty="0">
                <a:effectLst>
                  <a:outerShdw blurRad="38100" dist="38100" dir="2700000" algn="tl">
                    <a:srgbClr val="FFFFFF"/>
                  </a:outerShdw>
                </a:effectLst>
                <a:latin typeface="+mn-lt"/>
                <a:ea typeface="楷体" pitchFamily="49" charset="-122"/>
              </a:rPr>
              <a:t>正常关闭为0;出错时,非0</a:t>
            </a:r>
            <a:endParaRPr lang="en-US" altLang="zh-CN" b="1" dirty="0">
              <a:effectLst>
                <a:outerShdw blurRad="38100" dist="38100" dir="2700000" algn="tl">
                  <a:srgbClr val="FFFFFF"/>
                </a:outerShdw>
              </a:effectLst>
              <a:latin typeface="+mn-lt"/>
              <a:ea typeface="楷体" pitchFamily="49" charset="-122"/>
            </a:endParaRPr>
          </a:p>
          <a:p>
            <a:pPr>
              <a:buClr>
                <a:srgbClr val="339933"/>
              </a:buClr>
              <a:buFont typeface="Wingdings" pitchFamily="2" charset="2"/>
              <a:buChar char="l"/>
            </a:pPr>
            <a:r>
              <a:rPr lang="en-US" altLang="zh-CN" b="1" dirty="0">
                <a:effectLst>
                  <a:outerShdw blurRad="38100" dist="38100" dir="2700000" algn="tl">
                    <a:srgbClr val="FFFFFF"/>
                  </a:outerShdw>
                </a:effectLst>
                <a:latin typeface="+mn-lt"/>
                <a:ea typeface="楷体" pitchFamily="49" charset="-122"/>
              </a:rPr>
              <a:t> </a:t>
            </a:r>
            <a:r>
              <a:rPr lang="zh-CN" altLang="en-US" b="1" dirty="0">
                <a:effectLst>
                  <a:outerShdw blurRad="38100" dist="38100" dir="2700000" algn="tl">
                    <a:srgbClr val="FFFFFF"/>
                  </a:outerShdw>
                </a:effectLst>
                <a:latin typeface="+mn-lt"/>
                <a:ea typeface="楷体" pitchFamily="49" charset="-122"/>
              </a:rPr>
              <a:t>作用</a:t>
            </a:r>
            <a:r>
              <a:rPr lang="en-US" altLang="zh-CN" b="1" dirty="0">
                <a:effectLst>
                  <a:outerShdw blurRad="38100" dist="38100" dir="2700000" algn="tl">
                    <a:srgbClr val="FFFFFF"/>
                  </a:outerShdw>
                </a:effectLst>
                <a:latin typeface="+mn-lt"/>
                <a:ea typeface="楷体" pitchFamily="49" charset="-122"/>
              </a:rPr>
              <a:t>:   </a:t>
            </a:r>
            <a:r>
              <a:rPr lang="zh-CN" altLang="en-US" b="1" dirty="0">
                <a:effectLst>
                  <a:outerShdw blurRad="38100" dist="38100" dir="2700000" algn="tl">
                    <a:srgbClr val="FFFFFF"/>
                  </a:outerShdw>
                </a:effectLst>
                <a:latin typeface="+mn-lt"/>
                <a:ea typeface="楷体" pitchFamily="49" charset="-122"/>
              </a:rPr>
              <a:t>使文件指针变量与文件“脱钩”，释放文件结构体和文件指针</a:t>
            </a:r>
          </a:p>
        </p:txBody>
      </p:sp>
      <p:grpSp>
        <p:nvGrpSpPr>
          <p:cNvPr id="1061903" name="Group 15"/>
          <p:cNvGrpSpPr>
            <a:grpSpLocks/>
          </p:cNvGrpSpPr>
          <p:nvPr/>
        </p:nvGrpSpPr>
        <p:grpSpPr bwMode="auto">
          <a:xfrm>
            <a:off x="1757621" y="3494112"/>
            <a:ext cx="8047038" cy="2743200"/>
            <a:chOff x="512" y="1616"/>
            <a:chExt cx="5069" cy="1728"/>
          </a:xfrm>
        </p:grpSpPr>
        <p:grpSp>
          <p:nvGrpSpPr>
            <p:cNvPr id="1061904" name="Group 16"/>
            <p:cNvGrpSpPr>
              <a:grpSpLocks/>
            </p:cNvGrpSpPr>
            <p:nvPr/>
          </p:nvGrpSpPr>
          <p:grpSpPr bwMode="auto">
            <a:xfrm>
              <a:off x="1701" y="1616"/>
              <a:ext cx="3880" cy="1728"/>
              <a:chOff x="1728" y="1344"/>
              <a:chExt cx="3880" cy="1728"/>
            </a:xfrm>
          </p:grpSpPr>
          <p:sp>
            <p:nvSpPr>
              <p:cNvPr id="1061905" name="Rectangle 17"/>
              <p:cNvSpPr>
                <a:spLocks noChangeArrowheads="1"/>
              </p:cNvSpPr>
              <p:nvPr/>
            </p:nvSpPr>
            <p:spPr bwMode="auto">
              <a:xfrm>
                <a:off x="1728" y="1344"/>
                <a:ext cx="2400" cy="1728"/>
              </a:xfrm>
              <a:prstGeom prst="rect">
                <a:avLst/>
              </a:prstGeom>
              <a:gradFill rotWithShape="1">
                <a:gsLst>
                  <a:gs pos="0">
                    <a:srgbClr val="00FFFF"/>
                  </a:gs>
                  <a:gs pos="100000">
                    <a:schemeClr val="bg1"/>
                  </a:gs>
                </a:gsLst>
                <a:lin ang="5400000" scaled="1"/>
              </a:gradFill>
              <a:ln w="28575">
                <a:solidFill>
                  <a:srgbClr val="FF00FF"/>
                </a:solidFill>
                <a:miter lim="800000"/>
                <a:headEnd/>
                <a:tailEnd/>
              </a:ln>
              <a:effectLst>
                <a:outerShdw blurRad="50800" dist="106680" dir="2700000" algn="tl" rotWithShape="0">
                  <a:prstClr val="black">
                    <a:alpha val="43000"/>
                  </a:prstClr>
                </a:outerShdw>
              </a:effectLst>
              <a:scene3d>
                <a:camera prst="orthographicFront"/>
                <a:lightRig rig="threePt" dir="t"/>
              </a:scene3d>
              <a:sp3d>
                <a:bevelT w="114300" prst="hardEdge"/>
              </a:sp3d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061906" name="Rectangle 18"/>
              <p:cNvSpPr>
                <a:spLocks noChangeArrowheads="1"/>
              </p:cNvSpPr>
              <p:nvPr/>
            </p:nvSpPr>
            <p:spPr bwMode="auto">
              <a:xfrm>
                <a:off x="1968" y="2160"/>
                <a:ext cx="672" cy="768"/>
              </a:xfrm>
              <a:prstGeom prst="rect">
                <a:avLst/>
              </a:prstGeom>
              <a:gradFill rotWithShape="1">
                <a:gsLst>
                  <a:gs pos="0">
                    <a:srgbClr val="FFFF99"/>
                  </a:gs>
                  <a:gs pos="100000">
                    <a:schemeClr val="bg1"/>
                  </a:gs>
                </a:gsLst>
                <a:lin ang="5400000" scaled="1"/>
              </a:gra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>
                <a:outerShdw dist="35921" dir="2700000" algn="ctr" rotWithShape="0">
                  <a:schemeClr val="bg2"/>
                </a:outerShdw>
              </a:effec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061907" name="Line 19"/>
              <p:cNvSpPr>
                <a:spLocks noChangeShapeType="1"/>
              </p:cNvSpPr>
              <p:nvPr/>
            </p:nvSpPr>
            <p:spPr bwMode="auto">
              <a:xfrm>
                <a:off x="2304" y="2160"/>
                <a:ext cx="0" cy="24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061908" name="Line 20"/>
              <p:cNvSpPr>
                <a:spLocks noChangeShapeType="1"/>
              </p:cNvSpPr>
              <p:nvPr/>
            </p:nvSpPr>
            <p:spPr bwMode="auto">
              <a:xfrm>
                <a:off x="2304" y="2400"/>
                <a:ext cx="336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061909" name="Rectangle 21"/>
              <p:cNvSpPr>
                <a:spLocks noChangeArrowheads="1"/>
              </p:cNvSpPr>
              <p:nvPr/>
            </p:nvSpPr>
            <p:spPr bwMode="auto">
              <a:xfrm>
                <a:off x="2976" y="1632"/>
                <a:ext cx="1008" cy="336"/>
              </a:xfrm>
              <a:prstGeom prst="rect">
                <a:avLst/>
              </a:prstGeom>
              <a:gradFill rotWithShape="1">
                <a:gsLst>
                  <a:gs pos="0">
                    <a:srgbClr val="FFCC99"/>
                  </a:gs>
                  <a:gs pos="100000">
                    <a:schemeClr val="bg1"/>
                  </a:gs>
                </a:gsLst>
                <a:lin ang="5400000" scaled="1"/>
              </a:gra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>
                <a:outerShdw dist="35921" dir="2700000" algn="ctr" rotWithShape="0">
                  <a:schemeClr val="bg2"/>
                </a:outerShdw>
              </a:effec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061910" name="Rectangle 22"/>
              <p:cNvSpPr>
                <a:spLocks noChangeArrowheads="1"/>
              </p:cNvSpPr>
              <p:nvPr/>
            </p:nvSpPr>
            <p:spPr bwMode="auto">
              <a:xfrm>
                <a:off x="2976" y="2400"/>
                <a:ext cx="1008" cy="336"/>
              </a:xfrm>
              <a:prstGeom prst="rect">
                <a:avLst/>
              </a:prstGeom>
              <a:gradFill rotWithShape="1">
                <a:gsLst>
                  <a:gs pos="0">
                    <a:srgbClr val="FF99CC"/>
                  </a:gs>
                  <a:gs pos="100000">
                    <a:schemeClr val="bg1"/>
                  </a:gs>
                </a:gsLst>
                <a:lin ang="5400000" scaled="1"/>
              </a:gra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>
                <a:outerShdw dist="35921" dir="2700000" algn="ctr" rotWithShape="0">
                  <a:schemeClr val="bg2"/>
                </a:outerShdw>
              </a:effec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061911" name="Oval 23"/>
              <p:cNvSpPr>
                <a:spLocks noChangeArrowheads="1"/>
              </p:cNvSpPr>
              <p:nvPr/>
            </p:nvSpPr>
            <p:spPr bwMode="auto">
              <a:xfrm>
                <a:off x="4848" y="1968"/>
                <a:ext cx="720" cy="672"/>
              </a:xfrm>
              <a:prstGeom prst="ellipse">
                <a:avLst/>
              </a:prstGeom>
              <a:gradFill rotWithShape="1">
                <a:gsLst>
                  <a:gs pos="0">
                    <a:srgbClr val="CCFFFF"/>
                  </a:gs>
                  <a:gs pos="100000">
                    <a:schemeClr val="bg1"/>
                  </a:gs>
                </a:gsLst>
                <a:lin ang="540000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  <a:effectLst>
                <a:outerShdw blurRad="50800" dist="106680" dir="2700000" algn="tl" rotWithShape="0">
                  <a:prstClr val="black">
                    <a:alpha val="43000"/>
                  </a:prstClr>
                </a:outerShdw>
              </a:effectLst>
              <a:scene3d>
                <a:camera prst="orthographicFront"/>
                <a:lightRig rig="threePt" dir="t"/>
              </a:scene3d>
              <a:sp3d>
                <a:bevelT w="114300" prst="hardEdge"/>
              </a:sp3d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061912" name="Text Box 24"/>
              <p:cNvSpPr txBox="1">
                <a:spLocks noChangeArrowheads="1"/>
              </p:cNvSpPr>
              <p:nvPr/>
            </p:nvSpPr>
            <p:spPr bwMode="auto">
              <a:xfrm>
                <a:off x="4848" y="1680"/>
                <a:ext cx="760" cy="25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>
                <a:spAutoFit/>
              </a:bodyPr>
              <a:lstStyle/>
              <a:p>
                <a:r>
                  <a:rPr lang="zh-CN" altLang="en-US" sz="2000" b="1">
                    <a:effectLst>
                      <a:outerShdw blurRad="38100" dist="38100" dir="2700000" algn="tl">
                        <a:srgbClr val="FFFFFF"/>
                      </a:outerShdw>
                    </a:effectLst>
                    <a:ea typeface="隶书" pitchFamily="49" charset="-122"/>
                  </a:rPr>
                  <a:t>磁盘文件</a:t>
                </a:r>
              </a:p>
            </p:txBody>
          </p:sp>
          <p:sp>
            <p:nvSpPr>
              <p:cNvPr id="1061913" name="Text Box 25"/>
              <p:cNvSpPr txBox="1">
                <a:spLocks noChangeArrowheads="1"/>
              </p:cNvSpPr>
              <p:nvPr/>
            </p:nvSpPr>
            <p:spPr bwMode="auto">
              <a:xfrm>
                <a:off x="2832" y="2736"/>
                <a:ext cx="1243" cy="25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>
                <a:spAutoFit/>
              </a:bodyPr>
              <a:lstStyle/>
              <a:p>
                <a:r>
                  <a:rPr lang="zh-CN" altLang="en-US" sz="2000" b="1">
                    <a:effectLst>
                      <a:outerShdw blurRad="38100" dist="38100" dir="2700000" algn="tl">
                        <a:srgbClr val="FFFFFF"/>
                      </a:outerShdw>
                    </a:effectLst>
                    <a:ea typeface="隶书" pitchFamily="49" charset="-122"/>
                  </a:rPr>
                  <a:t>输出文件缓冲区</a:t>
                </a:r>
              </a:p>
            </p:txBody>
          </p:sp>
          <p:sp>
            <p:nvSpPr>
              <p:cNvPr id="1061914" name="Text Box 26"/>
              <p:cNvSpPr txBox="1">
                <a:spLocks noChangeArrowheads="1"/>
              </p:cNvSpPr>
              <p:nvPr/>
            </p:nvSpPr>
            <p:spPr bwMode="auto">
              <a:xfrm>
                <a:off x="2832" y="1392"/>
                <a:ext cx="1243" cy="25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>
                <a:spAutoFit/>
              </a:bodyPr>
              <a:lstStyle/>
              <a:p>
                <a:r>
                  <a:rPr lang="zh-CN" altLang="en-US" sz="2000" b="1">
                    <a:effectLst>
                      <a:outerShdw blurRad="38100" dist="38100" dir="2700000" algn="tl">
                        <a:srgbClr val="FFFFFF"/>
                      </a:outerShdw>
                    </a:effectLst>
                    <a:ea typeface="隶书" pitchFamily="49" charset="-122"/>
                  </a:rPr>
                  <a:t>输入文件缓冲区</a:t>
                </a:r>
              </a:p>
            </p:txBody>
          </p:sp>
          <p:sp>
            <p:nvSpPr>
              <p:cNvPr id="1061915" name="Text Box 27"/>
              <p:cNvSpPr txBox="1">
                <a:spLocks noChangeArrowheads="1"/>
              </p:cNvSpPr>
              <p:nvPr/>
            </p:nvSpPr>
            <p:spPr bwMode="auto">
              <a:xfrm>
                <a:off x="1824" y="1920"/>
                <a:ext cx="921" cy="25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>
                <a:spAutoFit/>
              </a:bodyPr>
              <a:lstStyle/>
              <a:p>
                <a:r>
                  <a:rPr lang="zh-CN" altLang="en-US" sz="2000" b="1">
                    <a:effectLst>
                      <a:outerShdw blurRad="38100" dist="38100" dir="2700000" algn="tl">
                        <a:srgbClr val="FFFFFF"/>
                      </a:outerShdw>
                    </a:effectLst>
                    <a:ea typeface="隶书" pitchFamily="49" charset="-122"/>
                  </a:rPr>
                  <a:t>程序数据区</a:t>
                </a:r>
              </a:p>
            </p:txBody>
          </p:sp>
          <p:sp>
            <p:nvSpPr>
              <p:cNvPr id="1061916" name="Text Box 28"/>
              <p:cNvSpPr txBox="1">
                <a:spLocks noChangeArrowheads="1"/>
              </p:cNvSpPr>
              <p:nvPr/>
            </p:nvSpPr>
            <p:spPr bwMode="auto">
              <a:xfrm>
                <a:off x="2400" y="2160"/>
                <a:ext cx="187" cy="25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>
                <a:spAutoFit/>
              </a:bodyPr>
              <a:lstStyle/>
              <a:p>
                <a:r>
                  <a:rPr lang="en-US" altLang="zh-CN" sz="2000"/>
                  <a:t>a</a:t>
                </a:r>
              </a:p>
            </p:txBody>
          </p:sp>
          <p:sp>
            <p:nvSpPr>
              <p:cNvPr id="1061917" name="Line 29"/>
              <p:cNvSpPr>
                <a:spLocks noChangeShapeType="1"/>
              </p:cNvSpPr>
              <p:nvPr/>
            </p:nvSpPr>
            <p:spPr bwMode="auto">
              <a:xfrm flipH="1">
                <a:off x="2640" y="1824"/>
                <a:ext cx="336" cy="336"/>
              </a:xfrm>
              <a:prstGeom prst="line">
                <a:avLst/>
              </a:prstGeom>
              <a:noFill/>
              <a:ln w="28575">
                <a:solidFill>
                  <a:srgbClr val="FF0000"/>
                </a:solidFill>
                <a:round/>
                <a:headEnd/>
                <a:tailEnd type="stealth" w="lg" len="lg"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061918" name="Line 30"/>
              <p:cNvSpPr>
                <a:spLocks noChangeShapeType="1"/>
              </p:cNvSpPr>
              <p:nvPr/>
            </p:nvSpPr>
            <p:spPr bwMode="auto">
              <a:xfrm>
                <a:off x="2640" y="2256"/>
                <a:ext cx="336" cy="288"/>
              </a:xfrm>
              <a:prstGeom prst="line">
                <a:avLst/>
              </a:prstGeom>
              <a:noFill/>
              <a:ln w="28575">
                <a:solidFill>
                  <a:srgbClr val="0000FF"/>
                </a:solidFill>
                <a:round/>
                <a:headEnd/>
                <a:tailEnd type="stealth" w="lg" len="lg"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061919" name="Line 31"/>
              <p:cNvSpPr>
                <a:spLocks noChangeShapeType="1"/>
              </p:cNvSpPr>
              <p:nvPr/>
            </p:nvSpPr>
            <p:spPr bwMode="auto">
              <a:xfrm flipH="1" flipV="1">
                <a:off x="3984" y="1776"/>
                <a:ext cx="912" cy="384"/>
              </a:xfrm>
              <a:prstGeom prst="line">
                <a:avLst/>
              </a:prstGeom>
              <a:noFill/>
              <a:ln w="28575">
                <a:solidFill>
                  <a:srgbClr val="FF0000"/>
                </a:solidFill>
                <a:round/>
                <a:headEnd/>
                <a:tailEnd type="stealth" w="lg" len="lg"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061920" name="Line 32"/>
              <p:cNvSpPr>
                <a:spLocks noChangeShapeType="1"/>
              </p:cNvSpPr>
              <p:nvPr/>
            </p:nvSpPr>
            <p:spPr bwMode="auto">
              <a:xfrm flipV="1">
                <a:off x="3984" y="2400"/>
                <a:ext cx="864" cy="192"/>
              </a:xfrm>
              <a:prstGeom prst="line">
                <a:avLst/>
              </a:prstGeom>
              <a:noFill/>
              <a:ln w="28575">
                <a:solidFill>
                  <a:srgbClr val="0000FF"/>
                </a:solidFill>
                <a:round/>
                <a:headEnd/>
                <a:tailEnd type="stealth" w="lg" len="lg"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sp>
          <p:nvSpPr>
            <p:cNvPr id="1061921" name="Text Box 33"/>
            <p:cNvSpPr txBox="1">
              <a:spLocks noChangeArrowheads="1"/>
            </p:cNvSpPr>
            <p:nvPr/>
          </p:nvSpPr>
          <p:spPr bwMode="auto">
            <a:xfrm>
              <a:off x="512" y="2169"/>
              <a:ext cx="1243" cy="2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zh-CN" altLang="en-US" sz="2000" b="1" dirty="0">
                  <a:solidFill>
                    <a:srgbClr val="FF33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+mn-lt"/>
                  <a:ea typeface="楷体" pitchFamily="49" charset="-122"/>
                </a:rPr>
                <a:t>缓冲文件系统：</a:t>
              </a:r>
            </a:p>
          </p:txBody>
        </p:sp>
        <p:pic>
          <p:nvPicPr>
            <p:cNvPr id="1061922" name="Picture 34" descr="saVE"/>
            <p:cNvPicPr>
              <a:picLocks noChangeAspect="1" noChangeArrowheads="1"/>
            </p:cNvPicPr>
            <p:nvPr/>
          </p:nvPicPr>
          <p:blipFill>
            <a:blip r:embed="rId6" cstate="print"/>
            <a:srcRect/>
            <a:stretch>
              <a:fillRect/>
            </a:stretch>
          </p:blipFill>
          <p:spPr bwMode="auto">
            <a:xfrm>
              <a:off x="4985" y="2387"/>
              <a:ext cx="380" cy="357"/>
            </a:xfrm>
            <a:prstGeom prst="rect">
              <a:avLst/>
            </a:prstGeom>
            <a:noFill/>
          </p:spPr>
        </p:pic>
      </p:grpSp>
      <p:grpSp>
        <p:nvGrpSpPr>
          <p:cNvPr id="1061925" name="Group 37"/>
          <p:cNvGrpSpPr>
            <a:grpSpLocks/>
          </p:cNvGrpSpPr>
          <p:nvPr/>
        </p:nvGrpSpPr>
        <p:grpSpPr bwMode="auto">
          <a:xfrm>
            <a:off x="7561522" y="5380063"/>
            <a:ext cx="1196975" cy="573087"/>
            <a:chOff x="3996" y="3303"/>
            <a:chExt cx="754" cy="361"/>
          </a:xfrm>
        </p:grpSpPr>
        <p:sp>
          <p:nvSpPr>
            <p:cNvPr id="1061923" name="AutoShape 35"/>
            <p:cNvSpPr>
              <a:spLocks noChangeArrowheads="1"/>
            </p:cNvSpPr>
            <p:nvPr/>
          </p:nvSpPr>
          <p:spPr bwMode="auto">
            <a:xfrm rot="-992770">
              <a:off x="3996" y="3303"/>
              <a:ext cx="635" cy="181"/>
            </a:xfrm>
            <a:prstGeom prst="notchedRightArrow">
              <a:avLst>
                <a:gd name="adj1" fmla="val 50000"/>
                <a:gd name="adj2" fmla="val 87707"/>
              </a:avLst>
            </a:prstGeom>
            <a:gradFill rotWithShape="1">
              <a:gsLst>
                <a:gs pos="0">
                  <a:srgbClr val="FF0000"/>
                </a:gs>
                <a:gs pos="100000">
                  <a:srgbClr val="FF0000">
                    <a:gamma/>
                    <a:shade val="46275"/>
                    <a:invGamma/>
                  </a:srgbClr>
                </a:gs>
              </a:gsLst>
              <a:lin ang="5400000" scaled="1"/>
            </a:gradFill>
            <a:ln w="9525">
              <a:solidFill>
                <a:schemeClr val="tx1"/>
              </a:solidFill>
              <a:miter lim="800000"/>
              <a:headEnd/>
              <a:tailEnd/>
            </a:ln>
            <a:effectLst>
              <a:outerShdw dist="35921" dir="2700000" algn="ctr" rotWithShape="0">
                <a:schemeClr val="bg2">
                  <a:alpha val="50000"/>
                </a:schemeClr>
              </a:outerShdw>
            </a:effec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61924" name="Text Box 36"/>
            <p:cNvSpPr txBox="1">
              <a:spLocks noChangeArrowheads="1"/>
            </p:cNvSpPr>
            <p:nvPr/>
          </p:nvSpPr>
          <p:spPr bwMode="auto">
            <a:xfrm rot="-1128496">
              <a:off x="4024" y="3376"/>
              <a:ext cx="726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b="1">
                  <a:solidFill>
                    <a:srgbClr val="FF33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</a:rPr>
                <a:t>fclose</a:t>
              </a:r>
            </a:p>
          </p:txBody>
        </p:sp>
      </p:grpSp>
      <p:sp>
        <p:nvSpPr>
          <p:cNvPr id="1061926" name="AutoShape 38"/>
          <p:cNvSpPr>
            <a:spLocks noChangeArrowheads="1"/>
          </p:cNvSpPr>
          <p:nvPr/>
        </p:nvSpPr>
        <p:spPr bwMode="auto">
          <a:xfrm>
            <a:off x="7209729" y="3019917"/>
            <a:ext cx="3278759" cy="402291"/>
          </a:xfrm>
          <a:prstGeom prst="wedgeRectCallout">
            <a:avLst>
              <a:gd name="adj1" fmla="val -20805"/>
              <a:gd name="adj2" fmla="val 304870"/>
            </a:avLst>
          </a:prstGeom>
          <a:gradFill rotWithShape="1">
            <a:gsLst>
              <a:gs pos="0">
                <a:srgbClr val="FFCC99"/>
              </a:gs>
              <a:gs pos="100000">
                <a:schemeClr val="bg1"/>
              </a:gs>
            </a:gsLst>
            <a:lin ang="5400000" scaled="1"/>
          </a:gradFill>
          <a:ln w="38100">
            <a:solidFill>
              <a:schemeClr val="accent2"/>
            </a:solidFill>
            <a:miter lim="800000"/>
            <a:headEnd/>
            <a:tailEnd/>
          </a:ln>
          <a:effectLst>
            <a:outerShdw blurRad="50800" dist="106680" dir="2700000" algn="tl" rotWithShape="0">
              <a:prstClr val="black">
                <a:alpha val="43000"/>
              </a:prstClr>
            </a:outerShdw>
          </a:effectLst>
        </p:spPr>
        <p:txBody>
          <a:bodyPr wrap="none" lIns="90000" tIns="46800" rIns="90000" bIns="46800" anchor="ctr">
            <a:spAutoFit/>
          </a:bodyPr>
          <a:lstStyle/>
          <a:p>
            <a:pPr algn="ctr"/>
            <a:r>
              <a:rPr lang="zh-CN" altLang="zh-CN" sz="2000" b="1">
                <a:effectLst>
                  <a:outerShdw blurRad="38100" dist="38100" dir="2700000" algn="tl">
                    <a:srgbClr val="FFFFFF"/>
                  </a:outerShdw>
                </a:effectLst>
                <a:latin typeface="隶书" pitchFamily="49" charset="-122"/>
                <a:ea typeface="隶书" pitchFamily="49" charset="-122"/>
              </a:rPr>
              <a:t>不关闭文件可能会</a:t>
            </a:r>
            <a:r>
              <a:rPr lang="zh-CN" altLang="zh-CN" sz="2000" b="1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隶书" pitchFamily="49" charset="-122"/>
                <a:ea typeface="隶书" pitchFamily="49" charset="-122"/>
              </a:rPr>
              <a:t>丢失数据</a:t>
            </a:r>
            <a:endParaRPr lang="zh-CN" altLang="en-US" sz="2000" b="1">
              <a:solidFill>
                <a:srgbClr val="FF0000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隶书" pitchFamily="49" charset="-122"/>
              <a:ea typeface="隶书" pitchFamily="49" charset="-122"/>
            </a:endParaRPr>
          </a:p>
        </p:txBody>
      </p:sp>
      <p:sp>
        <p:nvSpPr>
          <p:cNvPr id="1061928" name="Rectangle 40" descr="信纸"/>
          <p:cNvSpPr>
            <a:spLocks noChangeArrowheads="1"/>
          </p:cNvSpPr>
          <p:nvPr/>
        </p:nvSpPr>
        <p:spPr bwMode="auto">
          <a:xfrm>
            <a:off x="1847528" y="3009925"/>
            <a:ext cx="8712968" cy="3416300"/>
          </a:xfrm>
          <a:prstGeom prst="rect">
            <a:avLst/>
          </a:prstGeom>
          <a:solidFill>
            <a:schemeClr val="bg1"/>
          </a:solidFill>
          <a:ln w="38100">
            <a:solidFill>
              <a:srgbClr val="008000"/>
            </a:solidFill>
            <a:miter lim="800000"/>
            <a:headEnd/>
            <a:tailEnd/>
          </a:ln>
          <a:effectLst>
            <a:outerShdw blurRad="50800" dist="106680" dir="2700000" algn="tl" rotWithShape="0">
              <a:prstClr val="black">
                <a:alpha val="43000"/>
              </a:prstClr>
            </a:outerShdw>
          </a:effectLst>
          <a:scene3d>
            <a:camera prst="orthographicFront"/>
            <a:lightRig rig="threePt" dir="t"/>
          </a:scene3d>
          <a:sp3d>
            <a:bevelT w="114300" prst="hardEdge"/>
          </a:sp3d>
        </p:spPr>
        <p:txBody>
          <a:bodyPr wrap="square">
            <a:spAutoFit/>
          </a:bodyPr>
          <a:lstStyle/>
          <a:p>
            <a:r>
              <a:rPr lang="en-US" altLang="zh-CN" b="1" dirty="0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FILE  *</a:t>
            </a:r>
            <a:r>
              <a:rPr lang="en-US" altLang="zh-CN" b="1" dirty="0" err="1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fp</a:t>
            </a:r>
            <a:r>
              <a:rPr lang="en-US" altLang="zh-CN" b="1" dirty="0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;</a:t>
            </a:r>
          </a:p>
          <a:p>
            <a:r>
              <a:rPr lang="en-US" altLang="zh-CN" b="1" dirty="0" err="1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fp</a:t>
            </a:r>
            <a:r>
              <a:rPr lang="en-US" altLang="zh-CN" b="1" dirty="0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 = </a:t>
            </a:r>
            <a:r>
              <a:rPr lang="en-US" altLang="zh-CN" b="1" dirty="0" err="1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fopen</a:t>
            </a:r>
            <a:r>
              <a:rPr lang="en-US" altLang="zh-CN" b="1" dirty="0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 ("wang.txt", "r+");</a:t>
            </a:r>
          </a:p>
          <a:p>
            <a:r>
              <a:rPr lang="en-US" altLang="zh-CN" b="1" dirty="0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if (</a:t>
            </a:r>
            <a:r>
              <a:rPr lang="en-US" altLang="zh-CN" b="1" dirty="0" err="1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fp</a:t>
            </a:r>
            <a:r>
              <a:rPr lang="en-US" altLang="zh-CN" b="1" dirty="0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 == NULL)</a:t>
            </a:r>
          </a:p>
          <a:p>
            <a:r>
              <a:rPr lang="en-US" altLang="zh-CN" b="1" dirty="0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{</a:t>
            </a:r>
          </a:p>
          <a:p>
            <a:r>
              <a:rPr lang="en-US" altLang="zh-CN" b="1" dirty="0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  </a:t>
            </a:r>
            <a:r>
              <a:rPr lang="en-US" altLang="zh-CN" b="1" dirty="0" err="1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printf</a:t>
            </a:r>
            <a:r>
              <a:rPr lang="en-US" altLang="zh-CN" b="1" dirty="0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 ("the file </a:t>
            </a:r>
            <a:r>
              <a:rPr lang="zh-CN" altLang="en-US" b="1" dirty="0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：</a:t>
            </a:r>
            <a:r>
              <a:rPr lang="en-US" altLang="zh-CN" b="1" dirty="0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wang.txt not found! ");</a:t>
            </a:r>
          </a:p>
          <a:p>
            <a:r>
              <a:rPr lang="en-US" altLang="zh-CN" b="1" dirty="0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  exit (-1);</a:t>
            </a:r>
          </a:p>
          <a:p>
            <a:r>
              <a:rPr lang="en-US" altLang="zh-CN" b="1" dirty="0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}</a:t>
            </a:r>
          </a:p>
          <a:p>
            <a:r>
              <a:rPr lang="en-US" altLang="zh-CN" b="1" dirty="0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… …             </a:t>
            </a:r>
            <a:r>
              <a:rPr lang="en-US" altLang="zh-CN" sz="2000" b="1" dirty="0">
                <a:solidFill>
                  <a:schemeClr val="accent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楷体" pitchFamily="49" charset="-122"/>
              </a:rPr>
              <a:t>//</a:t>
            </a:r>
            <a:r>
              <a:rPr lang="zh-CN" altLang="en-US" sz="2000" b="1" dirty="0">
                <a:solidFill>
                  <a:schemeClr val="accent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楷体" pitchFamily="49" charset="-122"/>
              </a:rPr>
              <a:t>读取和加工数据</a:t>
            </a:r>
          </a:p>
          <a:p>
            <a:r>
              <a:rPr lang="en-US" altLang="zh-CN" b="1" dirty="0" err="1">
                <a:solidFill>
                  <a:srgbClr val="FF33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楷体_GB2312" pitchFamily="49" charset="-122"/>
              </a:rPr>
              <a:t>fclose</a:t>
            </a:r>
            <a:r>
              <a:rPr lang="en-US" altLang="zh-CN" b="1" dirty="0">
                <a:solidFill>
                  <a:srgbClr val="FF33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楷体_GB2312" pitchFamily="49" charset="-122"/>
              </a:rPr>
              <a:t> (</a:t>
            </a:r>
            <a:r>
              <a:rPr lang="en-US" altLang="zh-CN" b="1" dirty="0" err="1">
                <a:solidFill>
                  <a:srgbClr val="FF33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楷体_GB2312" pitchFamily="49" charset="-122"/>
              </a:rPr>
              <a:t>fp</a:t>
            </a:r>
            <a:r>
              <a:rPr lang="en-US" altLang="zh-CN" b="1" dirty="0">
                <a:solidFill>
                  <a:srgbClr val="FF33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楷体_GB2312" pitchFamily="49" charset="-122"/>
              </a:rPr>
              <a:t>);</a:t>
            </a:r>
            <a:r>
              <a:rPr lang="en-US" altLang="zh-CN" b="1" dirty="0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    </a:t>
            </a:r>
            <a:r>
              <a:rPr lang="en-US" altLang="zh-CN" sz="2000" b="1" dirty="0">
                <a:solidFill>
                  <a:schemeClr val="accent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楷体" pitchFamily="49" charset="-122"/>
              </a:rPr>
              <a:t>//</a:t>
            </a:r>
            <a:r>
              <a:rPr lang="zh-CN" altLang="en-US" sz="2000" b="1" dirty="0">
                <a:solidFill>
                  <a:schemeClr val="accent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楷体" pitchFamily="49" charset="-122"/>
              </a:rPr>
              <a:t>关闭该文件</a:t>
            </a:r>
          </a:p>
        </p:txBody>
      </p:sp>
      <p:grpSp>
        <p:nvGrpSpPr>
          <p:cNvPr id="1061929" name="Group 41"/>
          <p:cNvGrpSpPr>
            <a:grpSpLocks/>
          </p:cNvGrpSpPr>
          <p:nvPr/>
        </p:nvGrpSpPr>
        <p:grpSpPr bwMode="auto">
          <a:xfrm>
            <a:off x="-9822" y="0"/>
            <a:ext cx="446088" cy="6858000"/>
            <a:chOff x="0" y="0"/>
            <a:chExt cx="281" cy="4320"/>
          </a:xfrm>
        </p:grpSpPr>
        <p:sp>
          <p:nvSpPr>
            <p:cNvPr id="1061930" name="Text Box 42"/>
            <p:cNvSpPr txBox="1">
              <a:spLocks noChangeArrowheads="1"/>
            </p:cNvSpPr>
            <p:nvPr/>
          </p:nvSpPr>
          <p:spPr bwMode="auto">
            <a:xfrm>
              <a:off x="0" y="0"/>
              <a:ext cx="281" cy="4320"/>
            </a:xfrm>
            <a:prstGeom prst="rect">
              <a:avLst/>
            </a:prstGeom>
            <a:gradFill rotWithShape="0">
              <a:gsLst>
                <a:gs pos="0">
                  <a:schemeClr val="hlink">
                    <a:gamma/>
                    <a:shade val="60784"/>
                    <a:invGamma/>
                  </a:schemeClr>
                </a:gs>
                <a:gs pos="50000">
                  <a:schemeClr val="hlink"/>
                </a:gs>
                <a:gs pos="100000">
                  <a:schemeClr val="hlink">
                    <a:gamma/>
                    <a:shade val="60784"/>
                    <a:invGamma/>
                  </a:schemeClr>
                </a:gs>
              </a:gsLst>
              <a:lin ang="0" scaled="1"/>
            </a:gradFill>
            <a:ln w="9525">
              <a:noFill/>
              <a:miter lim="800000"/>
              <a:headEnd/>
              <a:tailEnd/>
            </a:ln>
            <a:effectLst/>
          </p:spPr>
          <p:txBody>
            <a:bodyPr/>
            <a:lstStyle/>
            <a:p>
              <a:pPr eaLnBrk="0" hangingPunct="0">
                <a:spcBef>
                  <a:spcPct val="50000"/>
                </a:spcBef>
              </a:pPr>
              <a:endParaRPr lang="en-US" altLang="zh-CN" sz="1800" dirty="0">
                <a:solidFill>
                  <a:srgbClr val="3333CC"/>
                </a:solidFill>
                <a:latin typeface="Verdana" pitchFamily="34" charset="0"/>
              </a:endParaRPr>
            </a:p>
            <a:p>
              <a:pPr eaLnBrk="0" hangingPunct="0">
                <a:spcBef>
                  <a:spcPct val="50000"/>
                </a:spcBef>
              </a:pPr>
              <a:r>
                <a:rPr lang="zh-CN" altLang="en-US" sz="1600" b="1" dirty="0">
                  <a:solidFill>
                    <a:srgbClr val="3333CC"/>
                  </a:solidFill>
                  <a:latin typeface="Verdana" pitchFamily="34" charset="0"/>
                </a:rPr>
                <a:t>语言程序设计教程       </a:t>
              </a:r>
            </a:p>
            <a:p>
              <a:pPr eaLnBrk="0" hangingPunct="0">
                <a:spcBef>
                  <a:spcPct val="50000"/>
                </a:spcBef>
              </a:pPr>
              <a:r>
                <a:rPr lang="zh-CN" altLang="en-US" sz="1600" b="1" dirty="0">
                  <a:solidFill>
                    <a:srgbClr val="3333CC"/>
                  </a:solidFill>
                  <a:latin typeface="Verdana" pitchFamily="34" charset="0"/>
                </a:rPr>
                <a:t>第三版</a:t>
              </a:r>
            </a:p>
            <a:p>
              <a:pPr eaLnBrk="0" hangingPunct="0">
                <a:spcBef>
                  <a:spcPct val="50000"/>
                </a:spcBef>
              </a:pPr>
              <a:endParaRPr lang="zh-CN" altLang="en-US" sz="1600" b="1" dirty="0">
                <a:solidFill>
                  <a:srgbClr val="3333CC"/>
                </a:solidFill>
                <a:latin typeface="Verdana" pitchFamily="34" charset="0"/>
              </a:endParaRPr>
            </a:p>
            <a:p>
              <a:pPr eaLnBrk="0" hangingPunct="0">
                <a:spcBef>
                  <a:spcPct val="50000"/>
                </a:spcBef>
              </a:pPr>
              <a:endParaRPr lang="zh-CN" altLang="en-US" sz="1600" b="1" dirty="0">
                <a:solidFill>
                  <a:srgbClr val="3333CC"/>
                </a:solidFill>
                <a:latin typeface="Verdana" pitchFamily="34" charset="0"/>
              </a:endParaRPr>
            </a:p>
            <a:p>
              <a:pPr eaLnBrk="0" hangingPunct="0">
                <a:spcBef>
                  <a:spcPct val="50000"/>
                </a:spcBef>
              </a:pPr>
              <a:r>
                <a:rPr lang="zh-CN" altLang="en-US" sz="1600" b="1" dirty="0">
                  <a:solidFill>
                    <a:srgbClr val="3333CC"/>
                  </a:solidFill>
                  <a:latin typeface="Verdana" pitchFamily="34" charset="0"/>
                </a:rPr>
                <a:t>第十</a:t>
              </a:r>
            </a:p>
            <a:p>
              <a:pPr eaLnBrk="0" hangingPunct="0">
                <a:spcBef>
                  <a:spcPct val="50000"/>
                </a:spcBef>
              </a:pPr>
              <a:r>
                <a:rPr lang="zh-CN" altLang="en-US" sz="1600" b="1" dirty="0">
                  <a:solidFill>
                    <a:srgbClr val="3333CC"/>
                  </a:solidFill>
                  <a:latin typeface="Verdana" pitchFamily="34" charset="0"/>
                </a:rPr>
                <a:t>二章 </a:t>
              </a:r>
            </a:p>
            <a:p>
              <a:pPr eaLnBrk="0" hangingPunct="0">
                <a:spcBef>
                  <a:spcPct val="50000"/>
                </a:spcBef>
              </a:pPr>
              <a:endParaRPr lang="zh-CN" altLang="en-US" sz="1600" b="1" dirty="0">
                <a:solidFill>
                  <a:srgbClr val="3333CC"/>
                </a:solidFill>
                <a:latin typeface="Verdana" pitchFamily="34" charset="0"/>
              </a:endParaRPr>
            </a:p>
            <a:p>
              <a:pPr eaLnBrk="0" hangingPunct="0">
                <a:spcBef>
                  <a:spcPct val="50000"/>
                </a:spcBef>
              </a:pPr>
              <a:r>
                <a:rPr lang="zh-CN" altLang="en-US" sz="1600" b="1" dirty="0">
                  <a:solidFill>
                    <a:srgbClr val="3333CC"/>
                  </a:solidFill>
                  <a:latin typeface="Verdana" pitchFamily="34" charset="0"/>
                </a:rPr>
                <a:t>文</a:t>
              </a:r>
            </a:p>
            <a:p>
              <a:pPr eaLnBrk="0" hangingPunct="0">
                <a:spcBef>
                  <a:spcPct val="50000"/>
                </a:spcBef>
              </a:pPr>
              <a:endParaRPr lang="zh-CN" altLang="en-US" sz="1600" b="1" dirty="0">
                <a:solidFill>
                  <a:srgbClr val="3333CC"/>
                </a:solidFill>
                <a:latin typeface="Verdana" pitchFamily="34" charset="0"/>
              </a:endParaRPr>
            </a:p>
            <a:p>
              <a:pPr eaLnBrk="0" hangingPunct="0">
                <a:spcBef>
                  <a:spcPct val="50000"/>
                </a:spcBef>
              </a:pPr>
              <a:r>
                <a:rPr lang="zh-CN" altLang="en-US" sz="1600" b="1" dirty="0">
                  <a:solidFill>
                    <a:srgbClr val="3333CC"/>
                  </a:solidFill>
                  <a:latin typeface="Verdana" pitchFamily="34" charset="0"/>
                </a:rPr>
                <a:t>件</a:t>
              </a:r>
            </a:p>
          </p:txBody>
        </p:sp>
        <p:sp>
          <p:nvSpPr>
            <p:cNvPr id="1061931" name="Text Box 43"/>
            <p:cNvSpPr txBox="1">
              <a:spLocks noChangeArrowheads="1"/>
            </p:cNvSpPr>
            <p:nvPr/>
          </p:nvSpPr>
          <p:spPr bwMode="auto">
            <a:xfrm>
              <a:off x="0" y="0"/>
              <a:ext cx="281" cy="231"/>
            </a:xfrm>
            <a:prstGeom prst="rect">
              <a:avLst/>
            </a:prstGeom>
            <a:gradFill rotWithShape="0">
              <a:gsLst>
                <a:gs pos="0">
                  <a:schemeClr val="hlink">
                    <a:gamma/>
                    <a:shade val="46275"/>
                    <a:invGamma/>
                  </a:schemeClr>
                </a:gs>
                <a:gs pos="50000">
                  <a:schemeClr val="hlink"/>
                </a:gs>
                <a:gs pos="100000">
                  <a:schemeClr val="hlink">
                    <a:gamma/>
                    <a:shade val="46275"/>
                    <a:invGamma/>
                  </a:schemeClr>
                </a:gs>
              </a:gsLst>
              <a:lin ang="0" scaled="1"/>
            </a:gradFill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eaLnBrk="0" hangingPunct="0">
                <a:spcBef>
                  <a:spcPct val="50000"/>
                </a:spcBef>
              </a:pPr>
              <a:r>
                <a:rPr lang="en-US" altLang="zh-CN" sz="1800" b="1">
                  <a:solidFill>
                    <a:srgbClr val="0000FF"/>
                  </a:solidFill>
                  <a:latin typeface="Arial" pitchFamily="34" charset="0"/>
                </a:rPr>
                <a:t>C</a:t>
              </a:r>
            </a:p>
          </p:txBody>
        </p:sp>
      </p:grpSp>
    </p:spTree>
  </p:cSld>
  <p:clrMapOvr>
    <a:masterClrMapping/>
  </p:clrMapOvr>
  <p:transition>
    <p:cover/>
    <p:sndAc>
      <p:stSnd>
        <p:snd r:embed="rId3" name="CAMER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18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06189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06189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18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3" dur="500"/>
                                        <p:tgtEl>
                                          <p:spTgt spid="1061899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500"/>
                            </p:stCondLst>
                            <p:childTnLst>
                              <p:par>
                                <p:cTn id="15" presetID="4" presetClass="entr" presetSubtype="3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18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7" dur="500"/>
                                        <p:tgtEl>
                                          <p:spTgt spid="1061896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8" presetClass="entr" presetSubtype="3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19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22" dur="500"/>
                                        <p:tgtEl>
                                          <p:spTgt spid="1061901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0619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5" name="laser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190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27" dur="500"/>
                                        <p:tgtEl>
                                          <p:spTgt spid="106190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190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32" dur="500"/>
                                        <p:tgtEl>
                                          <p:spTgt spid="106190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190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37" dur="500"/>
                                        <p:tgtEl>
                                          <p:spTgt spid="106190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19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42" dur="500"/>
                                        <p:tgtEl>
                                          <p:spTgt spid="1061903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8" presetClass="entr" presetSubtype="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19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47" dur="500"/>
                                        <p:tgtEl>
                                          <p:spTgt spid="1061925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19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52" dur="500"/>
                                        <p:tgtEl>
                                          <p:spTgt spid="1061926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19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57" dur="500"/>
                                        <p:tgtEl>
                                          <p:spTgt spid="1061928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61895" grpId="0"/>
      <p:bldP spid="1061896" grpId="0" animBg="1"/>
      <p:bldP spid="1061899" grpId="0"/>
      <p:bldP spid="1061901" grpId="0" animBg="1" autoUpdateAnimBg="0"/>
      <p:bldP spid="1061926" grpId="0" animBg="1" autoUpdateAnimBg="0"/>
      <p:bldP spid="1061928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3971" name="Rectangle 35"/>
          <p:cNvSpPr>
            <a:spLocks noChangeArrowheads="1"/>
          </p:cNvSpPr>
          <p:nvPr/>
        </p:nvSpPr>
        <p:spPr bwMode="auto">
          <a:xfrm>
            <a:off x="617241" y="126048"/>
            <a:ext cx="233045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r>
              <a:rPr lang="en-US" altLang="zh-CN" b="1" dirty="0">
                <a:solidFill>
                  <a:srgbClr val="D60093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隶书" panose="02010509060101010101" pitchFamily="49" charset="-122"/>
                <a:ea typeface="隶书" panose="02010509060101010101" pitchFamily="49" charset="-122"/>
              </a:rPr>
              <a:t>2</a:t>
            </a:r>
            <a:r>
              <a:rPr lang="zh-CN" altLang="en-US" b="1" dirty="0">
                <a:solidFill>
                  <a:srgbClr val="D60093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隶书" panose="02010509060101010101" pitchFamily="49" charset="-122"/>
                <a:ea typeface="隶书" panose="02010509060101010101" pitchFamily="49" charset="-122"/>
              </a:rPr>
              <a:t>、文件的读写</a:t>
            </a:r>
            <a:r>
              <a:rPr lang="zh-CN" altLang="en-US" b="1" dirty="0">
                <a:effectLst>
                  <a:outerShdw blurRad="38100" dist="38100" dir="2700000" algn="tl">
                    <a:srgbClr val="FFFFFF"/>
                  </a:outerShdw>
                </a:effectLst>
                <a:latin typeface="隶书" panose="02010509060101010101" pitchFamily="49" charset="-122"/>
                <a:ea typeface="隶书" panose="02010509060101010101" pitchFamily="49" charset="-122"/>
              </a:rPr>
              <a:t> </a:t>
            </a:r>
          </a:p>
        </p:txBody>
      </p:sp>
      <p:sp>
        <p:nvSpPr>
          <p:cNvPr id="1063972" name="Rectangle 36"/>
          <p:cNvSpPr>
            <a:spLocks noChangeArrowheads="1"/>
          </p:cNvSpPr>
          <p:nvPr/>
        </p:nvSpPr>
        <p:spPr bwMode="auto">
          <a:xfrm>
            <a:off x="1106313" y="682959"/>
            <a:ext cx="10256169" cy="2110001"/>
          </a:xfrm>
          <a:prstGeom prst="rect">
            <a:avLst/>
          </a:prstGeom>
          <a:ln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anchor="ctr">
            <a:spAutoFit/>
          </a:bodyPr>
          <a:lstStyle/>
          <a:p>
            <a:pPr>
              <a:lnSpc>
                <a:spcPts val="3200"/>
              </a:lnSpc>
              <a:tabLst>
                <a:tab pos="457200" algn="l"/>
              </a:tabLst>
            </a:pPr>
            <a:r>
              <a:rPr lang="zh-CN" altLang="en-US" b="1" dirty="0">
                <a:effectLst>
                  <a:outerShdw blurRad="38100" dist="38100" dir="2700000" algn="tl">
                    <a:srgbClr val="FFFFFF"/>
                  </a:outerShdw>
                </a:effectLst>
                <a:ea typeface="楷体" pitchFamily="49" charset="-122"/>
              </a:rPr>
              <a:t>在Ｃ语言中提供了多种文件读写的函数，这些函数主要包括：</a:t>
            </a:r>
            <a:endParaRPr lang="en-US" altLang="zh-CN" b="1" dirty="0">
              <a:effectLst>
                <a:outerShdw blurRad="38100" dist="38100" dir="2700000" algn="tl">
                  <a:srgbClr val="FFFFFF"/>
                </a:outerShdw>
              </a:effectLst>
              <a:ea typeface="楷体" pitchFamily="49" charset="-122"/>
            </a:endParaRPr>
          </a:p>
          <a:p>
            <a:pPr marL="342900" indent="-342900">
              <a:lnSpc>
                <a:spcPts val="3200"/>
              </a:lnSpc>
              <a:buClr>
                <a:srgbClr val="0000FF"/>
              </a:buClr>
              <a:buFont typeface="Wingdings" panose="05000000000000000000" pitchFamily="2" charset="2"/>
              <a:buChar char="l"/>
              <a:tabLst>
                <a:tab pos="457200" algn="l"/>
              </a:tabLst>
            </a:pPr>
            <a:r>
              <a:rPr lang="zh-CN" altLang="en-US" b="1" dirty="0">
                <a:effectLst>
                  <a:outerShdw blurRad="38100" dist="38100" dir="2700000" algn="tl">
                    <a:srgbClr val="FFFFFF"/>
                  </a:outerShdw>
                </a:effectLst>
                <a:ea typeface="楷体" pitchFamily="49" charset="-122"/>
              </a:rPr>
              <a:t>字符读写函数：    </a:t>
            </a:r>
            <a:r>
              <a:rPr lang="en-US" altLang="zh-CN" b="1" dirty="0" err="1">
                <a:effectLst>
                  <a:outerShdw blurRad="38100" dist="38100" dir="2700000" algn="tl">
                    <a:srgbClr val="FFFFFF"/>
                  </a:outerShdw>
                </a:effectLst>
                <a:ea typeface="楷体" pitchFamily="49" charset="-122"/>
              </a:rPr>
              <a:t>fgetc</a:t>
            </a:r>
            <a:r>
              <a:rPr lang="en-US" altLang="zh-CN" b="1" dirty="0">
                <a:effectLst>
                  <a:outerShdw blurRad="38100" dist="38100" dir="2700000" algn="tl">
                    <a:srgbClr val="FFFFFF"/>
                  </a:outerShdw>
                </a:effectLst>
                <a:ea typeface="楷体" pitchFamily="49" charset="-122"/>
              </a:rPr>
              <a:t> </a:t>
            </a:r>
            <a:r>
              <a:rPr lang="zh-CN" altLang="en-US" b="1" dirty="0">
                <a:effectLst>
                  <a:outerShdw blurRad="38100" dist="38100" dir="2700000" algn="tl">
                    <a:srgbClr val="FFFFFF"/>
                  </a:outerShdw>
                </a:effectLst>
                <a:ea typeface="楷体" pitchFamily="49" charset="-122"/>
              </a:rPr>
              <a:t>和 </a:t>
            </a:r>
            <a:r>
              <a:rPr lang="en-US" altLang="zh-CN" b="1" dirty="0" err="1">
                <a:effectLst>
                  <a:outerShdw blurRad="38100" dist="38100" dir="2700000" algn="tl">
                    <a:srgbClr val="FFFFFF"/>
                  </a:outerShdw>
                </a:effectLst>
                <a:ea typeface="楷体" pitchFamily="49" charset="-122"/>
              </a:rPr>
              <a:t>fputc</a:t>
            </a:r>
            <a:endParaRPr lang="en-US" altLang="zh-CN" b="1" dirty="0">
              <a:effectLst>
                <a:outerShdw blurRad="38100" dist="38100" dir="2700000" algn="tl">
                  <a:srgbClr val="FFFFFF"/>
                </a:outerShdw>
              </a:effectLst>
              <a:ea typeface="楷体" pitchFamily="49" charset="-122"/>
            </a:endParaRPr>
          </a:p>
          <a:p>
            <a:pPr marL="342900" indent="-342900">
              <a:lnSpc>
                <a:spcPts val="3200"/>
              </a:lnSpc>
              <a:buClr>
                <a:srgbClr val="0000FF"/>
              </a:buClr>
              <a:buFont typeface="Wingdings" panose="05000000000000000000" pitchFamily="2" charset="2"/>
              <a:buChar char="l"/>
              <a:tabLst>
                <a:tab pos="457200" algn="l"/>
              </a:tabLst>
            </a:pPr>
            <a:r>
              <a:rPr lang="zh-CN" altLang="en-US" b="1" dirty="0">
                <a:effectLst>
                  <a:outerShdw blurRad="38100" dist="38100" dir="2700000" algn="tl">
                    <a:srgbClr val="FFFFFF"/>
                  </a:outerShdw>
                </a:effectLst>
                <a:ea typeface="楷体" pitchFamily="49" charset="-122"/>
              </a:rPr>
              <a:t>字符串读写函数：</a:t>
            </a:r>
            <a:r>
              <a:rPr lang="en-US" altLang="zh-CN" b="1" dirty="0" err="1">
                <a:effectLst>
                  <a:outerShdw blurRad="38100" dist="38100" dir="2700000" algn="tl">
                    <a:srgbClr val="FFFFFF"/>
                  </a:outerShdw>
                </a:effectLst>
                <a:ea typeface="楷体" pitchFamily="49" charset="-122"/>
              </a:rPr>
              <a:t>fgets</a:t>
            </a:r>
            <a:r>
              <a:rPr lang="en-US" altLang="zh-CN" b="1" dirty="0">
                <a:effectLst>
                  <a:outerShdw blurRad="38100" dist="38100" dir="2700000" algn="tl">
                    <a:srgbClr val="FFFFFF"/>
                  </a:outerShdw>
                </a:effectLst>
                <a:ea typeface="楷体" pitchFamily="49" charset="-122"/>
              </a:rPr>
              <a:t> </a:t>
            </a:r>
            <a:r>
              <a:rPr lang="zh-CN" altLang="en-US" b="1" dirty="0">
                <a:effectLst>
                  <a:outerShdw blurRad="38100" dist="38100" dir="2700000" algn="tl">
                    <a:srgbClr val="FFFFFF"/>
                  </a:outerShdw>
                </a:effectLst>
                <a:ea typeface="楷体" pitchFamily="49" charset="-122"/>
              </a:rPr>
              <a:t>和 </a:t>
            </a:r>
            <a:r>
              <a:rPr lang="en-US" altLang="zh-CN" b="1" dirty="0" err="1">
                <a:effectLst>
                  <a:outerShdw blurRad="38100" dist="38100" dir="2700000" algn="tl">
                    <a:srgbClr val="FFFFFF"/>
                  </a:outerShdw>
                </a:effectLst>
                <a:ea typeface="楷体" pitchFamily="49" charset="-122"/>
              </a:rPr>
              <a:t>fputs</a:t>
            </a:r>
            <a:endParaRPr lang="en-US" altLang="zh-CN" b="1" dirty="0">
              <a:effectLst>
                <a:outerShdw blurRad="38100" dist="38100" dir="2700000" algn="tl">
                  <a:srgbClr val="FFFFFF"/>
                </a:outerShdw>
              </a:effectLst>
              <a:ea typeface="楷体" pitchFamily="49" charset="-122"/>
            </a:endParaRPr>
          </a:p>
          <a:p>
            <a:pPr marL="342900" indent="-342900">
              <a:lnSpc>
                <a:spcPts val="3200"/>
              </a:lnSpc>
              <a:buClr>
                <a:srgbClr val="0000FF"/>
              </a:buClr>
              <a:buFont typeface="Wingdings" panose="05000000000000000000" pitchFamily="2" charset="2"/>
              <a:buChar char="l"/>
              <a:tabLst>
                <a:tab pos="457200" algn="l"/>
              </a:tabLst>
            </a:pPr>
            <a:r>
              <a:rPr lang="zh-CN" altLang="en-US" b="1" dirty="0">
                <a:effectLst>
                  <a:outerShdw blurRad="38100" dist="38100" dir="2700000" algn="tl">
                    <a:srgbClr val="FFFFFF"/>
                  </a:outerShdw>
                </a:effectLst>
                <a:ea typeface="楷体" pitchFamily="49" charset="-122"/>
              </a:rPr>
              <a:t>数据块读写函数：</a:t>
            </a:r>
            <a:r>
              <a:rPr lang="en-US" altLang="zh-CN" b="1" dirty="0" err="1">
                <a:effectLst>
                  <a:outerShdw blurRad="38100" dist="38100" dir="2700000" algn="tl">
                    <a:srgbClr val="FFFFFF"/>
                  </a:outerShdw>
                </a:effectLst>
                <a:ea typeface="楷体" pitchFamily="49" charset="-122"/>
              </a:rPr>
              <a:t>fread</a:t>
            </a:r>
            <a:r>
              <a:rPr lang="en-US" altLang="zh-CN" b="1" dirty="0">
                <a:effectLst>
                  <a:outerShdw blurRad="38100" dist="38100" dir="2700000" algn="tl">
                    <a:srgbClr val="FFFFFF"/>
                  </a:outerShdw>
                </a:effectLst>
                <a:ea typeface="楷体" pitchFamily="49" charset="-122"/>
              </a:rPr>
              <a:t> </a:t>
            </a:r>
            <a:r>
              <a:rPr lang="zh-CN" altLang="en-US" b="1" dirty="0">
                <a:effectLst>
                  <a:outerShdw blurRad="38100" dist="38100" dir="2700000" algn="tl">
                    <a:srgbClr val="FFFFFF"/>
                  </a:outerShdw>
                </a:effectLst>
                <a:ea typeface="楷体" pitchFamily="49" charset="-122"/>
              </a:rPr>
              <a:t>和 </a:t>
            </a:r>
            <a:r>
              <a:rPr lang="en-US" altLang="zh-CN" b="1" dirty="0" err="1">
                <a:effectLst>
                  <a:outerShdw blurRad="38100" dist="38100" dir="2700000" algn="tl">
                    <a:srgbClr val="FFFFFF"/>
                  </a:outerShdw>
                </a:effectLst>
                <a:ea typeface="楷体" pitchFamily="49" charset="-122"/>
              </a:rPr>
              <a:t>fwrite</a:t>
            </a:r>
            <a:endParaRPr lang="en-US" altLang="zh-CN" b="1" dirty="0">
              <a:effectLst>
                <a:outerShdw blurRad="38100" dist="38100" dir="2700000" algn="tl">
                  <a:srgbClr val="FFFFFF"/>
                </a:outerShdw>
              </a:effectLst>
              <a:ea typeface="楷体" pitchFamily="49" charset="-122"/>
            </a:endParaRPr>
          </a:p>
          <a:p>
            <a:pPr marL="342900" indent="-342900">
              <a:lnSpc>
                <a:spcPts val="3200"/>
              </a:lnSpc>
              <a:buClr>
                <a:srgbClr val="0000FF"/>
              </a:buClr>
              <a:buFont typeface="Wingdings" panose="05000000000000000000" pitchFamily="2" charset="2"/>
              <a:buChar char="l"/>
              <a:tabLst>
                <a:tab pos="457200" algn="l"/>
              </a:tabLst>
            </a:pPr>
            <a:r>
              <a:rPr lang="zh-CN" altLang="en-US" b="1" dirty="0">
                <a:effectLst>
                  <a:outerShdw blurRad="38100" dist="38100" dir="2700000" algn="tl">
                    <a:srgbClr val="FFFFFF"/>
                  </a:outerShdw>
                </a:effectLst>
                <a:ea typeface="楷体" pitchFamily="49" charset="-122"/>
              </a:rPr>
              <a:t>格式化读写函数：</a:t>
            </a:r>
            <a:r>
              <a:rPr lang="en-US" altLang="zh-CN" b="1" dirty="0" err="1">
                <a:effectLst>
                  <a:outerShdw blurRad="38100" dist="38100" dir="2700000" algn="tl">
                    <a:srgbClr val="FFFFFF"/>
                  </a:outerShdw>
                </a:effectLst>
                <a:ea typeface="楷体" pitchFamily="49" charset="-122"/>
              </a:rPr>
              <a:t>fscanf</a:t>
            </a:r>
            <a:r>
              <a:rPr lang="en-US" altLang="zh-CN" b="1" dirty="0">
                <a:effectLst>
                  <a:outerShdw blurRad="38100" dist="38100" dir="2700000" algn="tl">
                    <a:srgbClr val="FFFFFF"/>
                  </a:outerShdw>
                </a:effectLst>
                <a:ea typeface="楷体" pitchFamily="49" charset="-122"/>
              </a:rPr>
              <a:t> </a:t>
            </a:r>
            <a:r>
              <a:rPr lang="zh-CN" altLang="en-US" b="1" dirty="0">
                <a:effectLst>
                  <a:outerShdw blurRad="38100" dist="38100" dir="2700000" algn="tl">
                    <a:srgbClr val="FFFFFF"/>
                  </a:outerShdw>
                </a:effectLst>
                <a:ea typeface="楷体" pitchFamily="49" charset="-122"/>
              </a:rPr>
              <a:t>和 </a:t>
            </a:r>
            <a:r>
              <a:rPr lang="en-US" altLang="zh-CN" b="1" dirty="0" err="1">
                <a:effectLst>
                  <a:outerShdw blurRad="38100" dist="38100" dir="2700000" algn="tl">
                    <a:srgbClr val="FFFFFF"/>
                  </a:outerShdw>
                </a:effectLst>
                <a:ea typeface="楷体" pitchFamily="49" charset="-122"/>
              </a:rPr>
              <a:t>fprinf</a:t>
            </a:r>
            <a:endParaRPr lang="en-US" altLang="zh-CN" b="1" dirty="0">
              <a:effectLst>
                <a:outerShdw blurRad="38100" dist="38100" dir="2700000" algn="tl">
                  <a:srgbClr val="FFFFFF"/>
                </a:outerShdw>
              </a:effectLst>
              <a:ea typeface="楷体" pitchFamily="49" charset="-122"/>
            </a:endParaRPr>
          </a:p>
        </p:txBody>
      </p:sp>
      <p:sp>
        <p:nvSpPr>
          <p:cNvPr id="1063973" name="Rectangle 37"/>
          <p:cNvSpPr>
            <a:spLocks noChangeArrowheads="1"/>
          </p:cNvSpPr>
          <p:nvPr/>
        </p:nvSpPr>
        <p:spPr bwMode="auto">
          <a:xfrm>
            <a:off x="1127448" y="3178207"/>
            <a:ext cx="4565673" cy="461665"/>
          </a:xfrm>
          <a:prstGeom prst="rect">
            <a:avLst/>
          </a:prstGeom>
          <a:ln>
            <a:noFill/>
            <a:headEnd/>
            <a:tailEnd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none" anchor="ctr">
            <a:spAutoFit/>
          </a:bodyPr>
          <a:lstStyle/>
          <a:p>
            <a:pPr>
              <a:tabLst>
                <a:tab pos="457200" algn="l"/>
              </a:tabLst>
            </a:pPr>
            <a:r>
              <a:rPr lang="en-US" altLang="zh-CN" b="1" dirty="0">
                <a:solidFill>
                  <a:srgbClr val="FF00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隶书" pitchFamily="49" charset="-122"/>
              </a:rPr>
              <a:t>(1) </a:t>
            </a:r>
            <a:r>
              <a:rPr lang="zh-CN" altLang="en-US" b="1" dirty="0">
                <a:solidFill>
                  <a:srgbClr val="FF00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隶书" pitchFamily="49" charset="-122"/>
              </a:rPr>
              <a:t>字符读写函数：</a:t>
            </a:r>
            <a:r>
              <a:rPr lang="en-US" altLang="zh-CN" b="1" dirty="0" err="1">
                <a:solidFill>
                  <a:srgbClr val="FF00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隶书" pitchFamily="49" charset="-122"/>
              </a:rPr>
              <a:t>fgetc</a:t>
            </a:r>
            <a:r>
              <a:rPr lang="en-US" altLang="zh-CN" b="1" dirty="0">
                <a:solidFill>
                  <a:srgbClr val="FF00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隶书" pitchFamily="49" charset="-122"/>
              </a:rPr>
              <a:t> </a:t>
            </a:r>
            <a:r>
              <a:rPr lang="zh-CN" altLang="en-US" b="1" dirty="0">
                <a:solidFill>
                  <a:srgbClr val="FF00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隶书" pitchFamily="49" charset="-122"/>
              </a:rPr>
              <a:t>和 </a:t>
            </a:r>
            <a:r>
              <a:rPr lang="en-US" altLang="zh-CN" b="1" dirty="0" err="1">
                <a:solidFill>
                  <a:srgbClr val="FF00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隶书" pitchFamily="49" charset="-122"/>
              </a:rPr>
              <a:t>fputc</a:t>
            </a:r>
            <a:endParaRPr lang="en-US" altLang="zh-CN" b="1" dirty="0">
              <a:solidFill>
                <a:srgbClr val="FF00FF"/>
              </a:solidFill>
              <a:effectLst>
                <a:outerShdw blurRad="38100" dist="38100" dir="2700000" algn="tl">
                  <a:srgbClr val="000000"/>
                </a:outerShdw>
              </a:effectLst>
              <a:ea typeface="隶书" pitchFamily="49" charset="-122"/>
            </a:endParaRPr>
          </a:p>
        </p:txBody>
      </p:sp>
      <p:sp>
        <p:nvSpPr>
          <p:cNvPr id="1063974" name="Rectangle 38"/>
          <p:cNvSpPr>
            <a:spLocks noChangeArrowheads="1"/>
          </p:cNvSpPr>
          <p:nvPr/>
        </p:nvSpPr>
        <p:spPr bwMode="auto">
          <a:xfrm>
            <a:off x="1026592" y="3692195"/>
            <a:ext cx="1397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>
            <a:spAutoFit/>
          </a:bodyPr>
          <a:lstStyle/>
          <a:p>
            <a:pPr>
              <a:buFont typeface="Wingdings" pitchFamily="2" charset="2"/>
              <a:buChar char="Ø"/>
              <a:tabLst>
                <a:tab pos="496888" algn="l"/>
              </a:tabLst>
            </a:pPr>
            <a:r>
              <a:rPr lang="en-US" altLang="zh-CN" b="1" dirty="0">
                <a:solidFill>
                  <a:srgbClr val="FF33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楷体_GB2312" pitchFamily="49" charset="-122"/>
              </a:rPr>
              <a:t> </a:t>
            </a:r>
            <a:r>
              <a:rPr lang="en-US" altLang="zh-CN" b="1" dirty="0" err="1">
                <a:solidFill>
                  <a:srgbClr val="FF33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楷体_GB2312" pitchFamily="49" charset="-122"/>
              </a:rPr>
              <a:t>fgetc</a:t>
            </a:r>
            <a:endParaRPr lang="en-US" altLang="zh-CN" b="1" dirty="0">
              <a:solidFill>
                <a:srgbClr val="FF3300"/>
              </a:solidFill>
              <a:effectLst>
                <a:outerShdw blurRad="38100" dist="38100" dir="2700000" algn="tl">
                  <a:srgbClr val="000000"/>
                </a:outerShdw>
              </a:effectLst>
              <a:ea typeface="楷体_GB2312" pitchFamily="49" charset="-122"/>
            </a:endParaRPr>
          </a:p>
        </p:txBody>
      </p:sp>
      <p:sp>
        <p:nvSpPr>
          <p:cNvPr id="1063975" name="Rectangle 39"/>
          <p:cNvSpPr>
            <a:spLocks noChangeArrowheads="1"/>
          </p:cNvSpPr>
          <p:nvPr/>
        </p:nvSpPr>
        <p:spPr bwMode="auto">
          <a:xfrm>
            <a:off x="1306486" y="4130980"/>
            <a:ext cx="2160588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buClr>
                <a:srgbClr val="006600"/>
              </a:buClr>
              <a:buFont typeface="Wingdings" pitchFamily="2" charset="2"/>
              <a:buChar char="l"/>
            </a:pPr>
            <a:r>
              <a:rPr lang="en-US" altLang="zh-CN" b="1" dirty="0">
                <a:effectLst>
                  <a:outerShdw blurRad="38100" dist="38100" dir="2700000" algn="tl">
                    <a:srgbClr val="FFFFFF"/>
                  </a:outerShdw>
                </a:effectLst>
                <a:latin typeface="+mn-lt"/>
                <a:ea typeface="楷体" pitchFamily="49" charset="-122"/>
              </a:rPr>
              <a:t> </a:t>
            </a:r>
            <a:r>
              <a:rPr lang="zh-CN" altLang="zh-CN" b="1" dirty="0">
                <a:effectLst>
                  <a:outerShdw blurRad="38100" dist="38100" dir="2700000" algn="tl">
                    <a:srgbClr val="FFFFFF"/>
                  </a:outerShdw>
                </a:effectLst>
                <a:latin typeface="+mn-lt"/>
                <a:ea typeface="楷体" pitchFamily="49" charset="-122"/>
              </a:rPr>
              <a:t>函数原形：         </a:t>
            </a:r>
            <a:endParaRPr lang="zh-CN" altLang="en-US" b="1" dirty="0">
              <a:effectLst>
                <a:outerShdw blurRad="38100" dist="38100" dir="2700000" algn="tl">
                  <a:srgbClr val="000000"/>
                </a:outerShdw>
              </a:effectLst>
              <a:latin typeface="+mn-lt"/>
              <a:ea typeface="楷体" pitchFamily="49" charset="-122"/>
            </a:endParaRPr>
          </a:p>
        </p:txBody>
      </p:sp>
      <p:sp>
        <p:nvSpPr>
          <p:cNvPr id="1063976" name="Text Box 40"/>
          <p:cNvSpPr txBox="1">
            <a:spLocks noChangeArrowheads="1"/>
          </p:cNvSpPr>
          <p:nvPr/>
        </p:nvSpPr>
        <p:spPr bwMode="auto">
          <a:xfrm>
            <a:off x="3359696" y="4143680"/>
            <a:ext cx="6912768" cy="431800"/>
          </a:xfrm>
          <a:prstGeom prst="rect">
            <a:avLst/>
          </a:prstGeom>
          <a:gradFill rotWithShape="1">
            <a:gsLst>
              <a:gs pos="0">
                <a:srgbClr val="FFFF99"/>
              </a:gs>
              <a:gs pos="100000">
                <a:srgbClr val="FFFF99">
                  <a:gamma/>
                  <a:shade val="75686"/>
                  <a:invGamma/>
                </a:srgbClr>
              </a:gs>
            </a:gsLst>
            <a:lin ang="5400000" scaled="1"/>
          </a:gradFill>
          <a:ln w="38100">
            <a:solidFill>
              <a:srgbClr val="0000FF"/>
            </a:solidFill>
            <a:miter lim="800000"/>
            <a:headEnd/>
            <a:tailEnd/>
          </a:ln>
          <a:effectLst>
            <a:outerShdw blurRad="50800" dist="106680" dir="2700000" algn="tl" rotWithShape="0">
              <a:prstClr val="black">
                <a:alpha val="43000"/>
              </a:prstClr>
            </a:outerShdw>
          </a:effectLst>
          <a:scene3d>
            <a:camera prst="orthographicFront"/>
            <a:lightRig rig="threePt" dir="t"/>
          </a:scene3d>
          <a:sp3d>
            <a:bevelT w="114300" prst="hardEdge"/>
          </a:sp3d>
        </p:spPr>
        <p:txBody>
          <a:bodyPr/>
          <a:lstStyle/>
          <a:p>
            <a:pPr algn="ctr"/>
            <a:r>
              <a:rPr lang="en-US" altLang="zh-CN" sz="2000" b="1" dirty="0">
                <a:effectLst>
                  <a:outerShdw blurRad="38100" dist="38100" dir="2700000" algn="tl">
                    <a:srgbClr val="FFFFFF"/>
                  </a:outerShdw>
                </a:effectLst>
              </a:rPr>
              <a:t>int  </a:t>
            </a:r>
            <a:r>
              <a:rPr lang="en-US" altLang="zh-CN" sz="2000" b="1" dirty="0" err="1">
                <a:effectLst>
                  <a:outerShdw blurRad="38100" dist="38100" dir="2700000" algn="tl">
                    <a:srgbClr val="FFFFFF"/>
                  </a:outerShdw>
                </a:effectLst>
              </a:rPr>
              <a:t>fgetc</a:t>
            </a:r>
            <a:r>
              <a:rPr lang="en-US" altLang="zh-CN" sz="2000" b="1" dirty="0">
                <a:effectLst>
                  <a:outerShdw blurRad="38100" dist="38100" dir="2700000" algn="tl">
                    <a:srgbClr val="FFFFFF"/>
                  </a:outerShdw>
                </a:effectLst>
              </a:rPr>
              <a:t> (FILE *</a:t>
            </a:r>
            <a:r>
              <a:rPr lang="en-US" altLang="zh-CN" sz="2000" b="1" dirty="0" err="1">
                <a:effectLst>
                  <a:outerShdw blurRad="38100" dist="38100" dir="2700000" algn="tl">
                    <a:srgbClr val="FFFFFF"/>
                  </a:outerShdw>
                </a:effectLst>
              </a:rPr>
              <a:t>filepointer</a:t>
            </a:r>
            <a:r>
              <a:rPr lang="en-US" altLang="zh-CN" sz="2000" b="1" dirty="0">
                <a:effectLst>
                  <a:outerShdw blurRad="38100" dist="38100" dir="2700000" algn="tl">
                    <a:srgbClr val="FFFFFF"/>
                  </a:outerShdw>
                </a:effectLst>
              </a:rPr>
              <a:t>);</a:t>
            </a:r>
          </a:p>
        </p:txBody>
      </p:sp>
      <p:sp>
        <p:nvSpPr>
          <p:cNvPr id="1063977" name="Rectangle 41"/>
          <p:cNvSpPr>
            <a:spLocks noChangeArrowheads="1"/>
          </p:cNvSpPr>
          <p:nvPr/>
        </p:nvSpPr>
        <p:spPr bwMode="auto">
          <a:xfrm>
            <a:off x="1312439" y="4804032"/>
            <a:ext cx="10256169" cy="128926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marL="342900" indent="-342900">
              <a:lnSpc>
                <a:spcPts val="3200"/>
              </a:lnSpc>
              <a:buClr>
                <a:srgbClr val="006600"/>
              </a:buClr>
              <a:buFont typeface="Wingdings" panose="05000000000000000000" pitchFamily="2" charset="2"/>
              <a:buChar char="l"/>
            </a:pPr>
            <a:r>
              <a:rPr lang="zh-CN" altLang="en-US" b="1" dirty="0">
                <a:effectLst>
                  <a:outerShdw blurRad="38100" dist="38100" dir="2700000" algn="tl">
                    <a:srgbClr val="FFFFFF"/>
                  </a:outerShdw>
                </a:effectLst>
                <a:latin typeface="+mn-lt"/>
                <a:ea typeface="楷体" pitchFamily="49" charset="-122"/>
              </a:rPr>
              <a:t>功能：从</a:t>
            </a:r>
            <a:r>
              <a:rPr lang="en-US" altLang="zh-CN" b="1" dirty="0" err="1">
                <a:effectLst>
                  <a:outerShdw blurRad="38100" dist="38100" dir="2700000" algn="tl">
                    <a:srgbClr val="FFFFFF"/>
                  </a:outerShdw>
                </a:effectLst>
                <a:latin typeface="+mn-lt"/>
                <a:ea typeface="楷体" pitchFamily="49" charset="-122"/>
              </a:rPr>
              <a:t>filepointer</a:t>
            </a:r>
            <a:r>
              <a:rPr lang="zh-CN" altLang="en-US" b="1" dirty="0">
                <a:effectLst>
                  <a:outerShdw blurRad="38100" dist="38100" dir="2700000" algn="tl">
                    <a:srgbClr val="FFFFFF"/>
                  </a:outerShdw>
                </a:effectLst>
                <a:latin typeface="+mn-lt"/>
                <a:ea typeface="楷体" pitchFamily="49" charset="-122"/>
              </a:rPr>
              <a:t>指向的文件中，读入一个字节（字符），同时将读写位置指针向前移动</a:t>
            </a:r>
            <a:r>
              <a:rPr lang="en-US" altLang="zh-CN" b="1" dirty="0">
                <a:effectLst>
                  <a:outerShdw blurRad="38100" dist="38100" dir="2700000" algn="tl">
                    <a:srgbClr val="FFFFFF"/>
                  </a:outerShdw>
                </a:effectLst>
                <a:latin typeface="+mn-lt"/>
                <a:ea typeface="楷体" pitchFamily="49" charset="-122"/>
              </a:rPr>
              <a:t>1</a:t>
            </a:r>
            <a:r>
              <a:rPr lang="zh-CN" altLang="en-US" b="1" dirty="0">
                <a:effectLst>
                  <a:outerShdw blurRad="38100" dist="38100" dir="2700000" algn="tl">
                    <a:srgbClr val="FFFFFF"/>
                  </a:outerShdw>
                </a:effectLst>
                <a:latin typeface="+mn-lt"/>
                <a:ea typeface="楷体" pitchFamily="49" charset="-122"/>
              </a:rPr>
              <a:t>个字节（即指向下一个字符）。</a:t>
            </a:r>
            <a:r>
              <a:rPr lang="zh-CN" altLang="en-US" dirty="0">
                <a:latin typeface="+mn-lt"/>
                <a:ea typeface="楷体" pitchFamily="49" charset="-122"/>
              </a:rPr>
              <a:t> </a:t>
            </a:r>
            <a:endParaRPr lang="en-US" altLang="zh-CN" b="1" dirty="0">
              <a:effectLst>
                <a:outerShdw blurRad="38100" dist="38100" dir="2700000" algn="tl">
                  <a:srgbClr val="FFFFFF"/>
                </a:outerShdw>
              </a:effectLst>
              <a:latin typeface="+mn-lt"/>
              <a:ea typeface="楷体" pitchFamily="49" charset="-122"/>
            </a:endParaRPr>
          </a:p>
          <a:p>
            <a:pPr marL="342900" indent="-342900">
              <a:lnSpc>
                <a:spcPts val="3200"/>
              </a:lnSpc>
              <a:buClr>
                <a:srgbClr val="006600"/>
              </a:buClr>
              <a:buFont typeface="Wingdings" panose="05000000000000000000" pitchFamily="2" charset="2"/>
              <a:buChar char="l"/>
            </a:pPr>
            <a:r>
              <a:rPr lang="zh-CN" altLang="en-US" b="1" dirty="0">
                <a:effectLst>
                  <a:outerShdw blurRad="38100" dist="38100" dir="2700000" algn="tl">
                    <a:srgbClr val="FFFFFF"/>
                  </a:outerShdw>
                </a:effectLst>
                <a:latin typeface="+mn-lt"/>
                <a:ea typeface="楷体" pitchFamily="49" charset="-122"/>
              </a:rPr>
              <a:t>返值：</a:t>
            </a:r>
            <a:r>
              <a:rPr lang="zh-CN" altLang="zh-CN" b="1" dirty="0">
                <a:effectLst>
                  <a:outerShdw blurRad="38100" dist="38100" dir="2700000" algn="tl">
                    <a:srgbClr val="FFFFFF"/>
                  </a:outerShdw>
                </a:effectLst>
                <a:latin typeface="+mn-lt"/>
                <a:ea typeface="楷体" pitchFamily="49" charset="-122"/>
              </a:rPr>
              <a:t>正常，返回读到的代码值;读到文件尾或出错，为</a:t>
            </a:r>
            <a:r>
              <a:rPr lang="en-US" altLang="zh-CN" b="1" dirty="0">
                <a:effectLst>
                  <a:outerShdw blurRad="38100" dist="38100" dir="2700000" algn="tl">
                    <a:srgbClr val="FFFFFF"/>
                  </a:outerShdw>
                </a:effectLst>
                <a:latin typeface="+mn-lt"/>
                <a:ea typeface="楷体" pitchFamily="49" charset="-122"/>
              </a:rPr>
              <a:t>EOF</a:t>
            </a:r>
            <a:r>
              <a:rPr lang="zh-CN" altLang="en-US" b="1" dirty="0">
                <a:effectLst>
                  <a:outerShdw blurRad="38100" dist="38100" dir="2700000" algn="tl">
                    <a:srgbClr val="FFFFFF"/>
                  </a:outerShdw>
                </a:effectLst>
                <a:latin typeface="+mn-lt"/>
                <a:ea typeface="楷体" pitchFamily="49" charset="-122"/>
              </a:rPr>
              <a:t>。</a:t>
            </a:r>
            <a:endParaRPr lang="en-US" altLang="zh-CN" b="1" dirty="0">
              <a:effectLst>
                <a:outerShdw blurRad="38100" dist="38100" dir="2700000" algn="tl">
                  <a:srgbClr val="FFFFFF"/>
                </a:outerShdw>
              </a:effectLst>
              <a:latin typeface="+mn-lt"/>
              <a:ea typeface="楷体" pitchFamily="49" charset="-122"/>
            </a:endParaRPr>
          </a:p>
        </p:txBody>
      </p:sp>
      <p:grpSp>
        <p:nvGrpSpPr>
          <p:cNvPr id="1063978" name="Group 42"/>
          <p:cNvGrpSpPr>
            <a:grpSpLocks/>
          </p:cNvGrpSpPr>
          <p:nvPr/>
        </p:nvGrpSpPr>
        <p:grpSpPr bwMode="auto">
          <a:xfrm>
            <a:off x="-9822" y="0"/>
            <a:ext cx="446088" cy="6858000"/>
            <a:chOff x="0" y="0"/>
            <a:chExt cx="281" cy="4320"/>
          </a:xfrm>
        </p:grpSpPr>
        <p:sp>
          <p:nvSpPr>
            <p:cNvPr id="1063979" name="Text Box 43"/>
            <p:cNvSpPr txBox="1">
              <a:spLocks noChangeArrowheads="1"/>
            </p:cNvSpPr>
            <p:nvPr/>
          </p:nvSpPr>
          <p:spPr bwMode="auto">
            <a:xfrm>
              <a:off x="0" y="0"/>
              <a:ext cx="281" cy="4320"/>
            </a:xfrm>
            <a:prstGeom prst="rect">
              <a:avLst/>
            </a:prstGeom>
            <a:gradFill rotWithShape="0">
              <a:gsLst>
                <a:gs pos="0">
                  <a:schemeClr val="hlink">
                    <a:gamma/>
                    <a:shade val="60784"/>
                    <a:invGamma/>
                  </a:schemeClr>
                </a:gs>
                <a:gs pos="50000">
                  <a:schemeClr val="hlink"/>
                </a:gs>
                <a:gs pos="100000">
                  <a:schemeClr val="hlink">
                    <a:gamma/>
                    <a:shade val="60784"/>
                    <a:invGamma/>
                  </a:schemeClr>
                </a:gs>
              </a:gsLst>
              <a:lin ang="0" scaled="1"/>
            </a:gradFill>
            <a:ln w="9525">
              <a:noFill/>
              <a:miter lim="800000"/>
              <a:headEnd/>
              <a:tailEnd/>
            </a:ln>
            <a:effectLst/>
          </p:spPr>
          <p:txBody>
            <a:bodyPr/>
            <a:lstStyle/>
            <a:p>
              <a:pPr eaLnBrk="0" hangingPunct="0">
                <a:spcBef>
                  <a:spcPct val="50000"/>
                </a:spcBef>
              </a:pPr>
              <a:endParaRPr lang="en-US" altLang="zh-CN" sz="1800" dirty="0">
                <a:solidFill>
                  <a:srgbClr val="3333CC"/>
                </a:solidFill>
                <a:latin typeface="Verdana" pitchFamily="34" charset="0"/>
              </a:endParaRPr>
            </a:p>
            <a:p>
              <a:pPr eaLnBrk="0" hangingPunct="0">
                <a:spcBef>
                  <a:spcPct val="50000"/>
                </a:spcBef>
              </a:pPr>
              <a:r>
                <a:rPr lang="zh-CN" altLang="en-US" sz="1600" b="1" dirty="0">
                  <a:solidFill>
                    <a:srgbClr val="3333CC"/>
                  </a:solidFill>
                  <a:latin typeface="Verdana" pitchFamily="34" charset="0"/>
                </a:rPr>
                <a:t>语言程序设计教程       </a:t>
              </a:r>
            </a:p>
            <a:p>
              <a:pPr eaLnBrk="0" hangingPunct="0">
                <a:spcBef>
                  <a:spcPct val="50000"/>
                </a:spcBef>
              </a:pPr>
              <a:r>
                <a:rPr lang="zh-CN" altLang="en-US" sz="1600" b="1" dirty="0">
                  <a:solidFill>
                    <a:srgbClr val="3333CC"/>
                  </a:solidFill>
                  <a:latin typeface="Verdana" pitchFamily="34" charset="0"/>
                </a:rPr>
                <a:t>第三版</a:t>
              </a:r>
            </a:p>
            <a:p>
              <a:pPr eaLnBrk="0" hangingPunct="0">
                <a:spcBef>
                  <a:spcPct val="50000"/>
                </a:spcBef>
              </a:pPr>
              <a:endParaRPr lang="zh-CN" altLang="en-US" sz="1600" b="1" dirty="0">
                <a:solidFill>
                  <a:srgbClr val="3333CC"/>
                </a:solidFill>
                <a:latin typeface="Verdana" pitchFamily="34" charset="0"/>
              </a:endParaRPr>
            </a:p>
            <a:p>
              <a:pPr eaLnBrk="0" hangingPunct="0">
                <a:spcBef>
                  <a:spcPct val="50000"/>
                </a:spcBef>
              </a:pPr>
              <a:endParaRPr lang="zh-CN" altLang="en-US" sz="1600" b="1" dirty="0">
                <a:solidFill>
                  <a:srgbClr val="3333CC"/>
                </a:solidFill>
                <a:latin typeface="Verdana" pitchFamily="34" charset="0"/>
              </a:endParaRPr>
            </a:p>
            <a:p>
              <a:pPr eaLnBrk="0" hangingPunct="0">
                <a:spcBef>
                  <a:spcPct val="50000"/>
                </a:spcBef>
              </a:pPr>
              <a:r>
                <a:rPr lang="zh-CN" altLang="en-US" sz="1600" b="1" dirty="0">
                  <a:solidFill>
                    <a:srgbClr val="3333CC"/>
                  </a:solidFill>
                  <a:latin typeface="Verdana" pitchFamily="34" charset="0"/>
                </a:rPr>
                <a:t>第十</a:t>
              </a:r>
            </a:p>
            <a:p>
              <a:pPr eaLnBrk="0" hangingPunct="0">
                <a:spcBef>
                  <a:spcPct val="50000"/>
                </a:spcBef>
              </a:pPr>
              <a:r>
                <a:rPr lang="zh-CN" altLang="en-US" sz="1600" b="1" dirty="0">
                  <a:solidFill>
                    <a:srgbClr val="3333CC"/>
                  </a:solidFill>
                  <a:latin typeface="Verdana" pitchFamily="34" charset="0"/>
                </a:rPr>
                <a:t>二章 </a:t>
              </a:r>
            </a:p>
            <a:p>
              <a:pPr eaLnBrk="0" hangingPunct="0">
                <a:spcBef>
                  <a:spcPct val="50000"/>
                </a:spcBef>
              </a:pPr>
              <a:endParaRPr lang="zh-CN" altLang="en-US" sz="1600" b="1" dirty="0">
                <a:solidFill>
                  <a:srgbClr val="3333CC"/>
                </a:solidFill>
                <a:latin typeface="Verdana" pitchFamily="34" charset="0"/>
              </a:endParaRPr>
            </a:p>
            <a:p>
              <a:pPr eaLnBrk="0" hangingPunct="0">
                <a:spcBef>
                  <a:spcPct val="50000"/>
                </a:spcBef>
              </a:pPr>
              <a:r>
                <a:rPr lang="zh-CN" altLang="en-US" sz="1600" b="1" dirty="0">
                  <a:solidFill>
                    <a:srgbClr val="3333CC"/>
                  </a:solidFill>
                  <a:latin typeface="Verdana" pitchFamily="34" charset="0"/>
                </a:rPr>
                <a:t>文</a:t>
              </a:r>
            </a:p>
            <a:p>
              <a:pPr eaLnBrk="0" hangingPunct="0">
                <a:spcBef>
                  <a:spcPct val="50000"/>
                </a:spcBef>
              </a:pPr>
              <a:endParaRPr lang="zh-CN" altLang="en-US" sz="1600" b="1" dirty="0">
                <a:solidFill>
                  <a:srgbClr val="3333CC"/>
                </a:solidFill>
                <a:latin typeface="Verdana" pitchFamily="34" charset="0"/>
              </a:endParaRPr>
            </a:p>
            <a:p>
              <a:pPr eaLnBrk="0" hangingPunct="0">
                <a:spcBef>
                  <a:spcPct val="50000"/>
                </a:spcBef>
              </a:pPr>
              <a:r>
                <a:rPr lang="zh-CN" altLang="en-US" sz="1600" b="1" dirty="0">
                  <a:solidFill>
                    <a:srgbClr val="3333CC"/>
                  </a:solidFill>
                  <a:latin typeface="Verdana" pitchFamily="34" charset="0"/>
                </a:rPr>
                <a:t>件</a:t>
              </a:r>
            </a:p>
          </p:txBody>
        </p:sp>
        <p:sp>
          <p:nvSpPr>
            <p:cNvPr id="1063980" name="Text Box 44"/>
            <p:cNvSpPr txBox="1">
              <a:spLocks noChangeArrowheads="1"/>
            </p:cNvSpPr>
            <p:nvPr/>
          </p:nvSpPr>
          <p:spPr bwMode="auto">
            <a:xfrm>
              <a:off x="0" y="0"/>
              <a:ext cx="281" cy="231"/>
            </a:xfrm>
            <a:prstGeom prst="rect">
              <a:avLst/>
            </a:prstGeom>
            <a:gradFill rotWithShape="0">
              <a:gsLst>
                <a:gs pos="0">
                  <a:schemeClr val="hlink">
                    <a:gamma/>
                    <a:shade val="46275"/>
                    <a:invGamma/>
                  </a:schemeClr>
                </a:gs>
                <a:gs pos="50000">
                  <a:schemeClr val="hlink"/>
                </a:gs>
                <a:gs pos="100000">
                  <a:schemeClr val="hlink">
                    <a:gamma/>
                    <a:shade val="46275"/>
                    <a:invGamma/>
                  </a:schemeClr>
                </a:gs>
              </a:gsLst>
              <a:lin ang="0" scaled="1"/>
            </a:gradFill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eaLnBrk="0" hangingPunct="0">
                <a:spcBef>
                  <a:spcPct val="50000"/>
                </a:spcBef>
              </a:pPr>
              <a:r>
                <a:rPr lang="en-US" altLang="zh-CN" sz="1800" b="1">
                  <a:solidFill>
                    <a:srgbClr val="0000FF"/>
                  </a:solidFill>
                  <a:latin typeface="Arial" pitchFamily="34" charset="0"/>
                </a:rPr>
                <a:t>C</a:t>
              </a:r>
            </a:p>
          </p:txBody>
        </p:sp>
      </p:grpSp>
    </p:spTree>
  </p:cSld>
  <p:clrMapOvr>
    <a:masterClrMapping/>
  </p:clrMapOvr>
  <p:transition>
    <p:cover/>
    <p:sndAc>
      <p:stSnd>
        <p:snd r:embed="rId3" name="CAMER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39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7" dur="500"/>
                                        <p:tgtEl>
                                          <p:spTgt spid="1063972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39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06397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06397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39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06397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06397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6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39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24" dur="500"/>
                                        <p:tgtEl>
                                          <p:spTgt spid="1063975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2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500"/>
                            </p:stCondLst>
                            <p:childTnLst>
                              <p:par>
                                <p:cTn id="26" presetID="4" presetClass="entr" presetSubtype="3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39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28" dur="500"/>
                                        <p:tgtEl>
                                          <p:spTgt spid="1063976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6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397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33" dur="500"/>
                                        <p:tgtEl>
                                          <p:spTgt spid="106397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397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38" dur="500"/>
                                        <p:tgtEl>
                                          <p:spTgt spid="106397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6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63972" grpId="0" animBg="1"/>
      <p:bldP spid="1063973" grpId="0" animBg="1"/>
      <p:bldP spid="1063974" grpId="0"/>
      <p:bldP spid="1063975" grpId="0"/>
      <p:bldP spid="1063976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5992" name="Rectangle 8"/>
          <p:cNvSpPr>
            <a:spLocks noChangeArrowheads="1"/>
          </p:cNvSpPr>
          <p:nvPr/>
        </p:nvSpPr>
        <p:spPr bwMode="auto">
          <a:xfrm>
            <a:off x="713895" y="243477"/>
            <a:ext cx="1397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>
            <a:spAutoFit/>
          </a:bodyPr>
          <a:lstStyle/>
          <a:p>
            <a:pPr>
              <a:buFont typeface="Wingdings" pitchFamily="2" charset="2"/>
              <a:buChar char="Ø"/>
              <a:tabLst>
                <a:tab pos="496888" algn="l"/>
              </a:tabLst>
            </a:pPr>
            <a:r>
              <a:rPr lang="en-US" altLang="zh-CN" b="1" dirty="0">
                <a:solidFill>
                  <a:srgbClr val="FF33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楷体_GB2312" pitchFamily="49" charset="-122"/>
              </a:rPr>
              <a:t> </a:t>
            </a:r>
            <a:r>
              <a:rPr lang="en-US" altLang="zh-CN" b="1" dirty="0" err="1">
                <a:solidFill>
                  <a:srgbClr val="FF33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楷体_GB2312" pitchFamily="49" charset="-122"/>
              </a:rPr>
              <a:t>fputc</a:t>
            </a:r>
            <a:endParaRPr lang="en-US" altLang="zh-CN" b="1" dirty="0">
              <a:solidFill>
                <a:srgbClr val="FF3300"/>
              </a:solidFill>
              <a:effectLst>
                <a:outerShdw blurRad="38100" dist="38100" dir="2700000" algn="tl">
                  <a:srgbClr val="000000"/>
                </a:outerShdw>
              </a:effectLst>
              <a:ea typeface="楷体_GB2312" pitchFamily="49" charset="-122"/>
            </a:endParaRPr>
          </a:p>
        </p:txBody>
      </p:sp>
      <p:sp>
        <p:nvSpPr>
          <p:cNvPr id="1065993" name="Rectangle 9"/>
          <p:cNvSpPr>
            <a:spLocks noChangeArrowheads="1"/>
          </p:cNvSpPr>
          <p:nvPr/>
        </p:nvSpPr>
        <p:spPr bwMode="auto">
          <a:xfrm>
            <a:off x="1044095" y="716552"/>
            <a:ext cx="2160588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buClr>
                <a:srgbClr val="339933"/>
              </a:buClr>
              <a:buFont typeface="Wingdings" pitchFamily="2" charset="2"/>
              <a:buChar char="l"/>
            </a:pPr>
            <a:r>
              <a:rPr lang="en-US" altLang="zh-CN" b="1" dirty="0">
                <a:effectLst>
                  <a:outerShdw blurRad="38100" dist="38100" dir="2700000" algn="tl">
                    <a:srgbClr val="FFFFFF"/>
                  </a:outerShdw>
                </a:effectLst>
                <a:latin typeface="+mn-lt"/>
                <a:ea typeface="楷体" pitchFamily="49" charset="-122"/>
              </a:rPr>
              <a:t> </a:t>
            </a:r>
            <a:r>
              <a:rPr lang="zh-CN" altLang="zh-CN" b="1" dirty="0">
                <a:effectLst>
                  <a:outerShdw blurRad="38100" dist="38100" dir="2700000" algn="tl">
                    <a:srgbClr val="FFFFFF"/>
                  </a:outerShdw>
                </a:effectLst>
                <a:latin typeface="+mn-lt"/>
                <a:ea typeface="楷体" pitchFamily="49" charset="-122"/>
              </a:rPr>
              <a:t>函数原形：         </a:t>
            </a:r>
            <a:endParaRPr lang="zh-CN" altLang="en-US" b="1" dirty="0">
              <a:solidFill>
                <a:srgbClr val="D60093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+mn-lt"/>
              <a:ea typeface="楷体" pitchFamily="49" charset="-122"/>
            </a:endParaRPr>
          </a:p>
        </p:txBody>
      </p:sp>
      <p:sp>
        <p:nvSpPr>
          <p:cNvPr id="1065994" name="Text Box 10"/>
          <p:cNvSpPr txBox="1">
            <a:spLocks noChangeArrowheads="1"/>
          </p:cNvSpPr>
          <p:nvPr/>
        </p:nvSpPr>
        <p:spPr bwMode="auto">
          <a:xfrm>
            <a:off x="3071812" y="700677"/>
            <a:ext cx="6552580" cy="431800"/>
          </a:xfrm>
          <a:prstGeom prst="rect">
            <a:avLst/>
          </a:prstGeom>
          <a:gradFill rotWithShape="1">
            <a:gsLst>
              <a:gs pos="0">
                <a:srgbClr val="FFFF99"/>
              </a:gs>
              <a:gs pos="100000">
                <a:srgbClr val="FFFF99">
                  <a:gamma/>
                  <a:shade val="75686"/>
                  <a:invGamma/>
                </a:srgbClr>
              </a:gs>
            </a:gsLst>
            <a:lin ang="5400000" scaled="1"/>
          </a:gradFill>
          <a:ln w="38100">
            <a:solidFill>
              <a:srgbClr val="0000FF"/>
            </a:solidFill>
            <a:miter lim="800000"/>
            <a:headEnd/>
            <a:tailEnd/>
          </a:ln>
          <a:effectLst>
            <a:outerShdw blurRad="50800" dist="106680" dir="2700000" algn="tl" rotWithShape="0">
              <a:prstClr val="black">
                <a:alpha val="43000"/>
              </a:prstClr>
            </a:outerShdw>
          </a:effectLst>
          <a:scene3d>
            <a:camera prst="orthographicFront"/>
            <a:lightRig rig="threePt" dir="t"/>
          </a:scene3d>
          <a:sp3d>
            <a:bevelT w="114300" prst="hardEdge"/>
          </a:sp3d>
        </p:spPr>
        <p:txBody>
          <a:bodyPr/>
          <a:lstStyle/>
          <a:p>
            <a:pPr algn="ctr"/>
            <a:r>
              <a:rPr lang="en-US" altLang="zh-CN" sz="2000" b="1" dirty="0">
                <a:effectLst>
                  <a:outerShdw blurRad="38100" dist="38100" dir="2700000" algn="tl">
                    <a:srgbClr val="FFFFFF"/>
                  </a:outerShdw>
                </a:effectLst>
              </a:rPr>
              <a:t>int  </a:t>
            </a:r>
            <a:r>
              <a:rPr lang="en-US" altLang="zh-CN" sz="2000" b="1" dirty="0" err="1">
                <a:effectLst>
                  <a:outerShdw blurRad="38100" dist="38100" dir="2700000" algn="tl">
                    <a:srgbClr val="FFFFFF"/>
                  </a:outerShdw>
                </a:effectLst>
              </a:rPr>
              <a:t>fputc</a:t>
            </a:r>
            <a:r>
              <a:rPr lang="en-US" altLang="zh-CN" sz="2000" b="1" dirty="0">
                <a:effectLst>
                  <a:outerShdw blurRad="38100" dist="38100" dir="2700000" algn="tl">
                    <a:srgbClr val="FFFFFF"/>
                  </a:outerShdw>
                </a:effectLst>
              </a:rPr>
              <a:t> (int c, FILE *</a:t>
            </a:r>
            <a:r>
              <a:rPr lang="en-US" altLang="zh-CN" sz="2000" b="1" dirty="0" err="1">
                <a:effectLst>
                  <a:outerShdw blurRad="38100" dist="38100" dir="2700000" algn="tl">
                    <a:srgbClr val="FFFFFF"/>
                  </a:outerShdw>
                </a:effectLst>
              </a:rPr>
              <a:t>filepointer</a:t>
            </a:r>
            <a:r>
              <a:rPr lang="en-US" altLang="zh-CN" sz="2000" b="1" dirty="0">
                <a:effectLst>
                  <a:outerShdw blurRad="38100" dist="38100" dir="2700000" algn="tl">
                    <a:srgbClr val="FFFFFF"/>
                  </a:outerShdw>
                </a:effectLst>
              </a:rPr>
              <a:t>);</a:t>
            </a:r>
          </a:p>
        </p:txBody>
      </p:sp>
      <p:sp>
        <p:nvSpPr>
          <p:cNvPr id="1065995" name="Rectangle 11"/>
          <p:cNvSpPr>
            <a:spLocks noChangeArrowheads="1"/>
          </p:cNvSpPr>
          <p:nvPr/>
        </p:nvSpPr>
        <p:spPr bwMode="auto">
          <a:xfrm>
            <a:off x="1043079" y="1340768"/>
            <a:ext cx="10597537" cy="128926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marL="342900" indent="-342900">
              <a:lnSpc>
                <a:spcPts val="3200"/>
              </a:lnSpc>
              <a:buClr>
                <a:srgbClr val="339933"/>
              </a:buClr>
              <a:buFont typeface="Wingdings" panose="05000000000000000000" pitchFamily="2" charset="2"/>
              <a:buChar char="l"/>
            </a:pPr>
            <a:r>
              <a:rPr lang="zh-CN" altLang="en-US" b="1" dirty="0">
                <a:effectLst>
                  <a:outerShdw blurRad="38100" dist="38100" dir="2700000" algn="tl">
                    <a:srgbClr val="FFFFFF"/>
                  </a:outerShdw>
                </a:effectLst>
                <a:latin typeface="+mn-lt"/>
                <a:ea typeface="楷体" pitchFamily="49" charset="-122"/>
              </a:rPr>
              <a:t>功能：将字符数据</a:t>
            </a:r>
            <a:r>
              <a:rPr lang="en-US" altLang="zh-CN" b="1" dirty="0">
                <a:effectLst>
                  <a:outerShdw blurRad="38100" dist="38100" dir="2700000" algn="tl">
                    <a:srgbClr val="FFFFFF"/>
                  </a:outerShdw>
                </a:effectLst>
                <a:latin typeface="+mn-lt"/>
                <a:ea typeface="楷体" pitchFamily="49" charset="-122"/>
              </a:rPr>
              <a:t>c</a:t>
            </a:r>
            <a:r>
              <a:rPr lang="zh-CN" altLang="en-US" b="1" dirty="0">
                <a:effectLst>
                  <a:outerShdw blurRad="38100" dist="38100" dir="2700000" algn="tl">
                    <a:srgbClr val="FFFFFF"/>
                  </a:outerShdw>
                </a:effectLst>
                <a:latin typeface="+mn-lt"/>
                <a:ea typeface="楷体" pitchFamily="49" charset="-122"/>
              </a:rPr>
              <a:t>输出到</a:t>
            </a:r>
            <a:r>
              <a:rPr lang="en-US" altLang="zh-CN" b="1" dirty="0" err="1">
                <a:effectLst>
                  <a:outerShdw blurRad="38100" dist="38100" dir="2700000" algn="tl">
                    <a:srgbClr val="FFFFFF"/>
                  </a:outerShdw>
                </a:effectLst>
                <a:latin typeface="+mn-lt"/>
                <a:ea typeface="楷体" pitchFamily="49" charset="-122"/>
              </a:rPr>
              <a:t>filepointer</a:t>
            </a:r>
            <a:r>
              <a:rPr lang="zh-CN" altLang="en-US" b="1" dirty="0">
                <a:effectLst>
                  <a:outerShdw blurRad="38100" dist="38100" dir="2700000" algn="tl">
                    <a:srgbClr val="FFFFFF"/>
                  </a:outerShdw>
                </a:effectLst>
                <a:latin typeface="+mn-lt"/>
                <a:ea typeface="楷体" pitchFamily="49" charset="-122"/>
              </a:rPr>
              <a:t>所指向的文件中去，同时将读写位置指针向前移动</a:t>
            </a:r>
            <a:r>
              <a:rPr lang="en-US" altLang="zh-CN" b="1" dirty="0">
                <a:effectLst>
                  <a:outerShdw blurRad="38100" dist="38100" dir="2700000" algn="tl">
                    <a:srgbClr val="FFFFFF"/>
                  </a:outerShdw>
                </a:effectLst>
                <a:latin typeface="+mn-lt"/>
                <a:ea typeface="楷体" pitchFamily="49" charset="-122"/>
              </a:rPr>
              <a:t>1</a:t>
            </a:r>
            <a:r>
              <a:rPr lang="zh-CN" altLang="en-US" b="1" dirty="0">
                <a:effectLst>
                  <a:outerShdw blurRad="38100" dist="38100" dir="2700000" algn="tl">
                    <a:srgbClr val="FFFFFF"/>
                  </a:outerShdw>
                </a:effectLst>
                <a:latin typeface="+mn-lt"/>
                <a:ea typeface="楷体" pitchFamily="49" charset="-122"/>
              </a:rPr>
              <a:t>个字节（即指向下一个写入位置）。</a:t>
            </a:r>
            <a:r>
              <a:rPr lang="zh-CN" altLang="en-US" dirty="0">
                <a:latin typeface="+mn-lt"/>
                <a:ea typeface="楷体" pitchFamily="49" charset="-122"/>
              </a:rPr>
              <a:t> </a:t>
            </a:r>
            <a:endParaRPr lang="en-US" altLang="zh-CN" b="1" dirty="0">
              <a:effectLst>
                <a:outerShdw blurRad="38100" dist="38100" dir="2700000" algn="tl">
                  <a:srgbClr val="FFFFFF"/>
                </a:outerShdw>
              </a:effectLst>
              <a:latin typeface="+mn-lt"/>
              <a:ea typeface="楷体" pitchFamily="49" charset="-122"/>
            </a:endParaRPr>
          </a:p>
          <a:p>
            <a:pPr marL="342900" indent="-342900">
              <a:lnSpc>
                <a:spcPts val="3200"/>
              </a:lnSpc>
              <a:buClr>
                <a:srgbClr val="339933"/>
              </a:buClr>
              <a:buFont typeface="Wingdings" panose="05000000000000000000" pitchFamily="2" charset="2"/>
              <a:buChar char="l"/>
            </a:pPr>
            <a:r>
              <a:rPr lang="zh-CN" altLang="en-US" b="1" dirty="0">
                <a:effectLst>
                  <a:outerShdw blurRad="38100" dist="38100" dir="2700000" algn="tl">
                    <a:srgbClr val="FFFFFF"/>
                  </a:outerShdw>
                </a:effectLst>
                <a:latin typeface="+mn-lt"/>
                <a:ea typeface="楷体" pitchFamily="49" charset="-122"/>
              </a:rPr>
              <a:t>返值：</a:t>
            </a:r>
            <a:r>
              <a:rPr lang="zh-CN" altLang="zh-CN" b="1" dirty="0">
                <a:effectLst>
                  <a:outerShdw blurRad="38100" dist="38100" dir="2700000" algn="tl">
                    <a:srgbClr val="FFFFFF"/>
                  </a:outerShdw>
                </a:effectLst>
                <a:latin typeface="+mn-lt"/>
                <a:ea typeface="楷体" pitchFamily="49" charset="-122"/>
              </a:rPr>
              <a:t>正常，返回</a:t>
            </a:r>
            <a:r>
              <a:rPr lang="en-US" altLang="zh-CN" b="1" dirty="0">
                <a:effectLst>
                  <a:outerShdw blurRad="38100" dist="38100" dir="2700000" algn="tl">
                    <a:srgbClr val="FFFFFF"/>
                  </a:outerShdw>
                </a:effectLst>
                <a:latin typeface="+mn-lt"/>
                <a:ea typeface="楷体" pitchFamily="49" charset="-122"/>
              </a:rPr>
              <a:t>c;</a:t>
            </a:r>
            <a:r>
              <a:rPr lang="zh-CN" altLang="zh-CN" b="1" dirty="0">
                <a:effectLst>
                  <a:outerShdw blurRad="38100" dist="38100" dir="2700000" algn="tl">
                    <a:srgbClr val="FFFFFF"/>
                  </a:outerShdw>
                </a:effectLst>
                <a:latin typeface="+mn-lt"/>
                <a:ea typeface="楷体" pitchFamily="49" charset="-122"/>
              </a:rPr>
              <a:t>出错，为</a:t>
            </a:r>
            <a:r>
              <a:rPr lang="en-US" altLang="zh-CN" b="1" dirty="0">
                <a:effectLst>
                  <a:outerShdw blurRad="38100" dist="38100" dir="2700000" algn="tl">
                    <a:srgbClr val="FFFFFF"/>
                  </a:outerShdw>
                </a:effectLst>
                <a:latin typeface="+mn-lt"/>
                <a:ea typeface="楷体" pitchFamily="49" charset="-122"/>
              </a:rPr>
              <a:t>EOF</a:t>
            </a:r>
          </a:p>
        </p:txBody>
      </p:sp>
      <p:grpSp>
        <p:nvGrpSpPr>
          <p:cNvPr id="1066002" name="Group 18"/>
          <p:cNvGrpSpPr>
            <a:grpSpLocks/>
          </p:cNvGrpSpPr>
          <p:nvPr/>
        </p:nvGrpSpPr>
        <p:grpSpPr bwMode="auto">
          <a:xfrm>
            <a:off x="-16355" y="0"/>
            <a:ext cx="446088" cy="6858000"/>
            <a:chOff x="0" y="0"/>
            <a:chExt cx="281" cy="4320"/>
          </a:xfrm>
        </p:grpSpPr>
        <p:sp>
          <p:nvSpPr>
            <p:cNvPr id="1066003" name="Text Box 19"/>
            <p:cNvSpPr txBox="1">
              <a:spLocks noChangeArrowheads="1"/>
            </p:cNvSpPr>
            <p:nvPr/>
          </p:nvSpPr>
          <p:spPr bwMode="auto">
            <a:xfrm>
              <a:off x="0" y="0"/>
              <a:ext cx="281" cy="4320"/>
            </a:xfrm>
            <a:prstGeom prst="rect">
              <a:avLst/>
            </a:prstGeom>
            <a:gradFill rotWithShape="0">
              <a:gsLst>
                <a:gs pos="0">
                  <a:schemeClr val="hlink">
                    <a:gamma/>
                    <a:shade val="60784"/>
                    <a:invGamma/>
                  </a:schemeClr>
                </a:gs>
                <a:gs pos="50000">
                  <a:schemeClr val="hlink"/>
                </a:gs>
                <a:gs pos="100000">
                  <a:schemeClr val="hlink">
                    <a:gamma/>
                    <a:shade val="60784"/>
                    <a:invGamma/>
                  </a:schemeClr>
                </a:gs>
              </a:gsLst>
              <a:lin ang="0" scaled="1"/>
            </a:gradFill>
            <a:ln w="9525">
              <a:noFill/>
              <a:miter lim="800000"/>
              <a:headEnd/>
              <a:tailEnd/>
            </a:ln>
            <a:effectLst/>
          </p:spPr>
          <p:txBody>
            <a:bodyPr/>
            <a:lstStyle/>
            <a:p>
              <a:pPr eaLnBrk="0" hangingPunct="0">
                <a:spcBef>
                  <a:spcPct val="50000"/>
                </a:spcBef>
              </a:pPr>
              <a:endParaRPr lang="en-US" altLang="zh-CN" sz="1800" dirty="0">
                <a:solidFill>
                  <a:srgbClr val="3333CC"/>
                </a:solidFill>
                <a:latin typeface="Verdana" pitchFamily="34" charset="0"/>
              </a:endParaRPr>
            </a:p>
            <a:p>
              <a:pPr eaLnBrk="0" hangingPunct="0">
                <a:spcBef>
                  <a:spcPct val="50000"/>
                </a:spcBef>
              </a:pPr>
              <a:r>
                <a:rPr lang="zh-CN" altLang="en-US" sz="1600" b="1" dirty="0">
                  <a:solidFill>
                    <a:srgbClr val="3333CC"/>
                  </a:solidFill>
                  <a:latin typeface="Verdana" pitchFamily="34" charset="0"/>
                </a:rPr>
                <a:t>语言程序设计教程       </a:t>
              </a:r>
            </a:p>
            <a:p>
              <a:pPr eaLnBrk="0" hangingPunct="0">
                <a:spcBef>
                  <a:spcPct val="50000"/>
                </a:spcBef>
              </a:pPr>
              <a:r>
                <a:rPr lang="zh-CN" altLang="en-US" sz="1600" b="1" dirty="0">
                  <a:solidFill>
                    <a:srgbClr val="3333CC"/>
                  </a:solidFill>
                  <a:latin typeface="Verdana" pitchFamily="34" charset="0"/>
                </a:rPr>
                <a:t>第三版</a:t>
              </a:r>
            </a:p>
            <a:p>
              <a:pPr eaLnBrk="0" hangingPunct="0">
                <a:spcBef>
                  <a:spcPct val="50000"/>
                </a:spcBef>
              </a:pPr>
              <a:endParaRPr lang="zh-CN" altLang="en-US" sz="1600" b="1" dirty="0">
                <a:solidFill>
                  <a:srgbClr val="3333CC"/>
                </a:solidFill>
                <a:latin typeface="Verdana" pitchFamily="34" charset="0"/>
              </a:endParaRPr>
            </a:p>
            <a:p>
              <a:pPr eaLnBrk="0" hangingPunct="0">
                <a:spcBef>
                  <a:spcPct val="50000"/>
                </a:spcBef>
              </a:pPr>
              <a:endParaRPr lang="zh-CN" altLang="en-US" sz="1600" b="1" dirty="0">
                <a:solidFill>
                  <a:srgbClr val="3333CC"/>
                </a:solidFill>
                <a:latin typeface="Verdana" pitchFamily="34" charset="0"/>
              </a:endParaRPr>
            </a:p>
            <a:p>
              <a:pPr eaLnBrk="0" hangingPunct="0">
                <a:spcBef>
                  <a:spcPct val="50000"/>
                </a:spcBef>
              </a:pPr>
              <a:r>
                <a:rPr lang="zh-CN" altLang="en-US" sz="1600" b="1" dirty="0">
                  <a:solidFill>
                    <a:srgbClr val="3333CC"/>
                  </a:solidFill>
                  <a:latin typeface="Verdana" pitchFamily="34" charset="0"/>
                </a:rPr>
                <a:t>第十</a:t>
              </a:r>
            </a:p>
            <a:p>
              <a:pPr eaLnBrk="0" hangingPunct="0">
                <a:spcBef>
                  <a:spcPct val="50000"/>
                </a:spcBef>
              </a:pPr>
              <a:r>
                <a:rPr lang="zh-CN" altLang="en-US" sz="1600" b="1" dirty="0">
                  <a:solidFill>
                    <a:srgbClr val="3333CC"/>
                  </a:solidFill>
                  <a:latin typeface="Verdana" pitchFamily="34" charset="0"/>
                </a:rPr>
                <a:t>二章 </a:t>
              </a:r>
            </a:p>
            <a:p>
              <a:pPr eaLnBrk="0" hangingPunct="0">
                <a:spcBef>
                  <a:spcPct val="50000"/>
                </a:spcBef>
              </a:pPr>
              <a:endParaRPr lang="zh-CN" altLang="en-US" sz="1600" b="1" dirty="0">
                <a:solidFill>
                  <a:srgbClr val="3333CC"/>
                </a:solidFill>
                <a:latin typeface="Verdana" pitchFamily="34" charset="0"/>
              </a:endParaRPr>
            </a:p>
            <a:p>
              <a:pPr eaLnBrk="0" hangingPunct="0">
                <a:spcBef>
                  <a:spcPct val="50000"/>
                </a:spcBef>
              </a:pPr>
              <a:r>
                <a:rPr lang="zh-CN" altLang="en-US" sz="1600" b="1" dirty="0">
                  <a:solidFill>
                    <a:srgbClr val="3333CC"/>
                  </a:solidFill>
                  <a:latin typeface="Verdana" pitchFamily="34" charset="0"/>
                </a:rPr>
                <a:t>文</a:t>
              </a:r>
            </a:p>
            <a:p>
              <a:pPr eaLnBrk="0" hangingPunct="0">
                <a:spcBef>
                  <a:spcPct val="50000"/>
                </a:spcBef>
              </a:pPr>
              <a:endParaRPr lang="zh-CN" altLang="en-US" sz="1600" b="1" dirty="0">
                <a:solidFill>
                  <a:srgbClr val="3333CC"/>
                </a:solidFill>
                <a:latin typeface="Verdana" pitchFamily="34" charset="0"/>
              </a:endParaRPr>
            </a:p>
            <a:p>
              <a:pPr eaLnBrk="0" hangingPunct="0">
                <a:spcBef>
                  <a:spcPct val="50000"/>
                </a:spcBef>
              </a:pPr>
              <a:r>
                <a:rPr lang="zh-CN" altLang="en-US" sz="1600" b="1" dirty="0">
                  <a:solidFill>
                    <a:srgbClr val="3333CC"/>
                  </a:solidFill>
                  <a:latin typeface="Verdana" pitchFamily="34" charset="0"/>
                </a:rPr>
                <a:t>件</a:t>
              </a:r>
            </a:p>
          </p:txBody>
        </p:sp>
        <p:sp>
          <p:nvSpPr>
            <p:cNvPr id="1066004" name="Text Box 20"/>
            <p:cNvSpPr txBox="1">
              <a:spLocks noChangeArrowheads="1"/>
            </p:cNvSpPr>
            <p:nvPr/>
          </p:nvSpPr>
          <p:spPr bwMode="auto">
            <a:xfrm>
              <a:off x="0" y="0"/>
              <a:ext cx="281" cy="231"/>
            </a:xfrm>
            <a:prstGeom prst="rect">
              <a:avLst/>
            </a:prstGeom>
            <a:gradFill rotWithShape="0">
              <a:gsLst>
                <a:gs pos="0">
                  <a:schemeClr val="hlink">
                    <a:gamma/>
                    <a:shade val="46275"/>
                    <a:invGamma/>
                  </a:schemeClr>
                </a:gs>
                <a:gs pos="50000">
                  <a:schemeClr val="hlink"/>
                </a:gs>
                <a:gs pos="100000">
                  <a:schemeClr val="hlink">
                    <a:gamma/>
                    <a:shade val="46275"/>
                    <a:invGamma/>
                  </a:schemeClr>
                </a:gs>
              </a:gsLst>
              <a:lin ang="0" scaled="1"/>
            </a:gradFill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eaLnBrk="0" hangingPunct="0">
                <a:spcBef>
                  <a:spcPct val="50000"/>
                </a:spcBef>
              </a:pPr>
              <a:r>
                <a:rPr lang="en-US" altLang="zh-CN" sz="1800" b="1">
                  <a:solidFill>
                    <a:srgbClr val="0000FF"/>
                  </a:solidFill>
                  <a:latin typeface="Arial" pitchFamily="34" charset="0"/>
                </a:rPr>
                <a:t>C</a:t>
              </a:r>
            </a:p>
          </p:txBody>
        </p:sp>
      </p:grpSp>
    </p:spTree>
  </p:cSld>
  <p:clrMapOvr>
    <a:masterClrMapping/>
  </p:clrMapOvr>
  <p:transition>
    <p:cover/>
    <p:sndAc>
      <p:stSnd>
        <p:snd r:embed="rId3" name="CAMER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59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06599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06599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59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3" dur="500"/>
                                        <p:tgtEl>
                                          <p:spTgt spid="1065993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500"/>
                            </p:stCondLst>
                            <p:childTnLst>
                              <p:par>
                                <p:cTn id="15" presetID="4" presetClass="entr" presetSubtype="3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59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7" dur="500"/>
                                        <p:tgtEl>
                                          <p:spTgt spid="1065994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59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22" dur="500"/>
                                        <p:tgtEl>
                                          <p:spTgt spid="10659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599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27" dur="500"/>
                                        <p:tgtEl>
                                          <p:spTgt spid="106599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65992" grpId="0"/>
      <p:bldP spid="1065993" grpId="0"/>
      <p:bldP spid="1065994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8042" name="Rectangle 10" descr="信纸"/>
          <p:cNvSpPr>
            <a:spLocks noChangeArrowheads="1"/>
          </p:cNvSpPr>
          <p:nvPr/>
        </p:nvSpPr>
        <p:spPr bwMode="auto">
          <a:xfrm>
            <a:off x="827582" y="1196752"/>
            <a:ext cx="6552530" cy="5324535"/>
          </a:xfrm>
          <a:prstGeom prst="rect">
            <a:avLst/>
          </a:prstGeom>
          <a:blipFill dpi="0" rotWithShape="1">
            <a:blip r:embed="rId5" cstate="print"/>
            <a:srcRect/>
            <a:tile tx="0" ty="0" sx="100000" sy="100000" flip="none" algn="tl"/>
          </a:blipFill>
          <a:ln w="38100">
            <a:solidFill>
              <a:srgbClr val="008000"/>
            </a:solidFill>
            <a:miter lim="800000"/>
            <a:headEnd/>
            <a:tailEnd/>
          </a:ln>
          <a:effectLst>
            <a:outerShdw blurRad="50800" dist="106680" dir="2700000" algn="tl" rotWithShape="0">
              <a:prstClr val="black">
                <a:alpha val="43000"/>
              </a:prstClr>
            </a:outerShdw>
          </a:effectLst>
          <a:scene3d>
            <a:camera prst="orthographicFront"/>
            <a:lightRig rig="threePt" dir="t"/>
          </a:scene3d>
          <a:sp3d>
            <a:bevelT w="114300" prst="hardEdge"/>
          </a:sp3d>
        </p:spPr>
        <p:txBody>
          <a:bodyPr wrap="square" anchor="ctr">
            <a:spAutoFit/>
          </a:bodyPr>
          <a:lstStyle/>
          <a:p>
            <a:pPr>
              <a:tabLst>
                <a:tab pos="914400" algn="l"/>
              </a:tabLst>
            </a:pPr>
            <a:r>
              <a:rPr lang="en-US" altLang="zh-CN" sz="2000" b="1" dirty="0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#include &lt;</a:t>
            </a:r>
            <a:r>
              <a:rPr lang="en-US" altLang="zh-CN" sz="2000" b="1" dirty="0" err="1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stdio.h</a:t>
            </a:r>
            <a:r>
              <a:rPr lang="en-US" altLang="zh-CN" sz="2000" b="1" dirty="0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&gt;</a:t>
            </a:r>
          </a:p>
          <a:p>
            <a:pPr>
              <a:tabLst>
                <a:tab pos="914400" algn="l"/>
              </a:tabLst>
            </a:pPr>
            <a:r>
              <a:rPr lang="en-US" altLang="zh-CN" sz="2000" b="1" dirty="0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#include &lt;</a:t>
            </a:r>
            <a:r>
              <a:rPr lang="en-US" altLang="zh-CN" sz="2000" b="1" dirty="0" err="1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stdlib.h</a:t>
            </a:r>
            <a:r>
              <a:rPr lang="en-US" altLang="zh-CN" sz="2000" b="1" dirty="0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&gt;</a:t>
            </a:r>
          </a:p>
          <a:p>
            <a:pPr>
              <a:tabLst>
                <a:tab pos="914400" algn="l"/>
              </a:tabLst>
            </a:pPr>
            <a:r>
              <a:rPr lang="en-US" altLang="zh-CN" sz="2000" b="1" dirty="0" err="1">
                <a:solidFill>
                  <a:srgbClr val="CC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楷体_GB2312" pitchFamily="49" charset="-122"/>
              </a:rPr>
              <a:t>int</a:t>
            </a:r>
            <a:r>
              <a:rPr lang="en-US" altLang="zh-CN" sz="2000" b="1" dirty="0">
                <a:solidFill>
                  <a:srgbClr val="CC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楷体_GB2312" pitchFamily="49" charset="-122"/>
              </a:rPr>
              <a:t> main (</a:t>
            </a:r>
            <a:r>
              <a:rPr lang="en-US" altLang="zh-CN" sz="2000" b="1" dirty="0" err="1">
                <a:solidFill>
                  <a:srgbClr val="CC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楷体_GB2312" pitchFamily="49" charset="-122"/>
              </a:rPr>
              <a:t>int</a:t>
            </a:r>
            <a:r>
              <a:rPr lang="en-US" altLang="zh-CN" sz="2000" b="1" dirty="0">
                <a:solidFill>
                  <a:srgbClr val="CC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楷体_GB2312" pitchFamily="49" charset="-122"/>
              </a:rPr>
              <a:t> </a:t>
            </a:r>
            <a:r>
              <a:rPr lang="en-US" altLang="zh-CN" sz="2000" b="1" dirty="0" err="1">
                <a:solidFill>
                  <a:srgbClr val="CC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楷体_GB2312" pitchFamily="49" charset="-122"/>
              </a:rPr>
              <a:t>argc</a:t>
            </a:r>
            <a:r>
              <a:rPr lang="en-US" altLang="zh-CN" sz="2000" b="1" dirty="0">
                <a:solidFill>
                  <a:srgbClr val="CC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楷体_GB2312" pitchFamily="49" charset="-122"/>
              </a:rPr>
              <a:t>, char *</a:t>
            </a:r>
            <a:r>
              <a:rPr lang="en-US" altLang="zh-CN" sz="2000" b="1" dirty="0" err="1">
                <a:solidFill>
                  <a:srgbClr val="CC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楷体_GB2312" pitchFamily="49" charset="-122"/>
              </a:rPr>
              <a:t>argv</a:t>
            </a:r>
            <a:r>
              <a:rPr lang="en-US" altLang="zh-CN" sz="2000" b="1" dirty="0">
                <a:solidFill>
                  <a:srgbClr val="CC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楷体_GB2312" pitchFamily="49" charset="-122"/>
              </a:rPr>
              <a:t>[ ])</a:t>
            </a:r>
          </a:p>
          <a:p>
            <a:pPr>
              <a:tabLst>
                <a:tab pos="914400" algn="l"/>
              </a:tabLst>
            </a:pPr>
            <a:r>
              <a:rPr lang="en-US" altLang="zh-CN" sz="2000" b="1" dirty="0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{ </a:t>
            </a:r>
          </a:p>
          <a:p>
            <a:pPr>
              <a:tabLst>
                <a:tab pos="914400" algn="l"/>
              </a:tabLst>
            </a:pPr>
            <a:r>
              <a:rPr lang="en-US" altLang="zh-CN" sz="2000" b="1" dirty="0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  FILE *fp1,*fp2;</a:t>
            </a:r>
          </a:p>
          <a:p>
            <a:pPr>
              <a:tabLst>
                <a:tab pos="914400" algn="l"/>
              </a:tabLst>
            </a:pPr>
            <a:r>
              <a:rPr lang="en-US" altLang="zh-CN" sz="2000" b="1" dirty="0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  char </a:t>
            </a:r>
            <a:r>
              <a:rPr lang="en-US" altLang="zh-CN" sz="2000" b="1" dirty="0" err="1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ch</a:t>
            </a:r>
            <a:r>
              <a:rPr lang="en-US" altLang="zh-CN" sz="2000" b="1" dirty="0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;</a:t>
            </a:r>
          </a:p>
          <a:p>
            <a:pPr>
              <a:tabLst>
                <a:tab pos="914400" algn="l"/>
              </a:tabLst>
            </a:pPr>
            <a:r>
              <a:rPr lang="en-US" altLang="zh-CN" sz="2000" b="1" dirty="0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  if (</a:t>
            </a:r>
            <a:r>
              <a:rPr lang="en-US" altLang="zh-CN" sz="2000" b="1" dirty="0" err="1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argc</a:t>
            </a:r>
            <a:r>
              <a:rPr lang="en-US" altLang="zh-CN" sz="2000" b="1" dirty="0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 != 2)    </a:t>
            </a:r>
            <a:r>
              <a:rPr lang="en-US" altLang="zh-CN" sz="1800" b="1" dirty="0">
                <a:solidFill>
                  <a:schemeClr val="accent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楷体" pitchFamily="49" charset="-122"/>
              </a:rPr>
              <a:t>//</a:t>
            </a:r>
            <a:r>
              <a:rPr lang="zh-CN" altLang="en-US" sz="1800" b="1" dirty="0">
                <a:solidFill>
                  <a:schemeClr val="accent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楷体" pitchFamily="49" charset="-122"/>
              </a:rPr>
              <a:t>参数个数不对</a:t>
            </a:r>
          </a:p>
          <a:p>
            <a:pPr>
              <a:tabLst>
                <a:tab pos="914400" algn="l"/>
              </a:tabLst>
            </a:pPr>
            <a:r>
              <a:rPr lang="zh-CN" altLang="en-US" sz="2000" b="1" dirty="0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  </a:t>
            </a:r>
            <a:r>
              <a:rPr lang="en-US" altLang="zh-CN" sz="2000" b="1" dirty="0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{  </a:t>
            </a:r>
          </a:p>
          <a:p>
            <a:pPr>
              <a:tabLst>
                <a:tab pos="914400" algn="l"/>
              </a:tabLst>
            </a:pPr>
            <a:r>
              <a:rPr lang="en-US" altLang="zh-CN" sz="2000" b="1" dirty="0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    </a:t>
            </a:r>
            <a:r>
              <a:rPr lang="en-US" altLang="zh-CN" sz="2000" b="1" dirty="0" err="1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printf</a:t>
            </a:r>
            <a:r>
              <a:rPr lang="en-US" altLang="zh-CN" sz="2000" b="1" dirty="0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 ("the number of arguments not correct\n\n");</a:t>
            </a:r>
          </a:p>
          <a:p>
            <a:pPr>
              <a:tabLst>
                <a:tab pos="914400" algn="l"/>
              </a:tabLst>
            </a:pPr>
            <a:r>
              <a:rPr lang="en-US" altLang="zh-CN" sz="2000" b="1" dirty="0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    </a:t>
            </a:r>
            <a:r>
              <a:rPr lang="en-US" altLang="zh-CN" sz="2000" b="1" dirty="0" err="1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printf</a:t>
            </a:r>
            <a:r>
              <a:rPr lang="en-US" altLang="zh-CN" sz="2000" b="1" dirty="0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 ("Usage: </a:t>
            </a:r>
            <a:r>
              <a:rPr lang="zh-CN" altLang="en-US" sz="2000" b="1" dirty="0">
                <a:effectLst>
                  <a:outerShdw blurRad="38100" dist="38100" dir="2700000" algn="tl">
                    <a:srgbClr val="FFFFFF"/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可执行文件名  </a:t>
            </a:r>
            <a:r>
              <a:rPr lang="en-US" altLang="zh-CN" sz="2000" b="1" dirty="0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filename \n");</a:t>
            </a:r>
          </a:p>
          <a:p>
            <a:pPr>
              <a:tabLst>
                <a:tab pos="914400" algn="l"/>
              </a:tabLst>
            </a:pPr>
            <a:r>
              <a:rPr lang="en-US" altLang="zh-CN" sz="2000" b="1" dirty="0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    exit (0);</a:t>
            </a:r>
          </a:p>
          <a:p>
            <a:pPr>
              <a:tabLst>
                <a:tab pos="914400" algn="l"/>
              </a:tabLst>
            </a:pPr>
            <a:r>
              <a:rPr lang="en-US" altLang="zh-CN" sz="2000" b="1" dirty="0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  }</a:t>
            </a:r>
          </a:p>
          <a:p>
            <a:pPr>
              <a:tabLst>
                <a:tab pos="914400" algn="l"/>
              </a:tabLst>
            </a:pPr>
            <a:r>
              <a:rPr lang="en-US" altLang="zh-CN" sz="2000" b="1" dirty="0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  if ((fp1 = </a:t>
            </a:r>
            <a:r>
              <a:rPr lang="en-US" altLang="zh-CN" sz="2000" b="1" dirty="0" err="1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fopen</a:t>
            </a:r>
            <a:r>
              <a:rPr lang="en-US" altLang="zh-CN" sz="2000" b="1" dirty="0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(</a:t>
            </a:r>
            <a:r>
              <a:rPr lang="en-US" altLang="zh-CN" sz="2000" b="1" dirty="0" err="1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argv</a:t>
            </a:r>
            <a:r>
              <a:rPr lang="en-US" altLang="zh-CN" sz="2000" b="1" dirty="0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[1],"wt")) == NULL)   </a:t>
            </a:r>
            <a:r>
              <a:rPr lang="en-US" altLang="zh-CN" sz="1800" b="1" dirty="0">
                <a:solidFill>
                  <a:schemeClr val="accent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楷体" pitchFamily="49" charset="-122"/>
              </a:rPr>
              <a:t>//</a:t>
            </a:r>
            <a:r>
              <a:rPr lang="zh-CN" altLang="en-US" sz="1800" b="1" dirty="0">
                <a:solidFill>
                  <a:schemeClr val="accent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楷体" pitchFamily="49" charset="-122"/>
              </a:rPr>
              <a:t>打开文件失败</a:t>
            </a:r>
          </a:p>
          <a:p>
            <a:pPr>
              <a:tabLst>
                <a:tab pos="914400" algn="l"/>
              </a:tabLst>
            </a:pPr>
            <a:r>
              <a:rPr lang="zh-CN" altLang="en-US" sz="2000" b="1" dirty="0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  </a:t>
            </a:r>
            <a:r>
              <a:rPr lang="en-US" altLang="zh-CN" sz="2000" b="1" dirty="0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{  </a:t>
            </a:r>
          </a:p>
          <a:p>
            <a:pPr>
              <a:tabLst>
                <a:tab pos="914400" algn="l"/>
              </a:tabLst>
            </a:pPr>
            <a:r>
              <a:rPr lang="en-US" altLang="zh-CN" sz="2000" b="1" dirty="0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    </a:t>
            </a:r>
            <a:r>
              <a:rPr lang="en-US" altLang="zh-CN" sz="2000" b="1" dirty="0" err="1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printf</a:t>
            </a:r>
            <a:r>
              <a:rPr lang="en-US" altLang="zh-CN" sz="2000" b="1" dirty="0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 ("can not open this file\n");</a:t>
            </a:r>
          </a:p>
          <a:p>
            <a:pPr>
              <a:tabLst>
                <a:tab pos="914400" algn="l"/>
              </a:tabLst>
            </a:pPr>
            <a:r>
              <a:rPr lang="en-US" altLang="zh-CN" sz="2000" b="1" dirty="0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    exit (0);</a:t>
            </a:r>
          </a:p>
          <a:p>
            <a:pPr>
              <a:tabLst>
                <a:tab pos="914400" algn="l"/>
              </a:tabLst>
            </a:pPr>
            <a:r>
              <a:rPr lang="en-US" altLang="zh-CN" sz="2000" b="1" dirty="0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  }  </a:t>
            </a:r>
          </a:p>
        </p:txBody>
      </p:sp>
      <p:sp>
        <p:nvSpPr>
          <p:cNvPr id="1068041" name="Rectangle 9"/>
          <p:cNvSpPr>
            <a:spLocks noChangeArrowheads="1"/>
          </p:cNvSpPr>
          <p:nvPr/>
        </p:nvSpPr>
        <p:spPr bwMode="auto">
          <a:xfrm>
            <a:off x="670935" y="260648"/>
            <a:ext cx="11185705" cy="8309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anchor="ctr">
            <a:spAutoFit/>
          </a:bodyPr>
          <a:lstStyle/>
          <a:p>
            <a:r>
              <a:rPr lang="en-US" altLang="zh-CN" b="1" dirty="0">
                <a:solidFill>
                  <a:srgbClr val="CC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隶书" pitchFamily="49" charset="-122"/>
              </a:rPr>
              <a:t>      【</a:t>
            </a:r>
            <a:r>
              <a:rPr lang="zh-CN" altLang="en-US" b="1" dirty="0">
                <a:solidFill>
                  <a:srgbClr val="CC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隶书" pitchFamily="49" charset="-122"/>
              </a:rPr>
              <a:t>例</a:t>
            </a:r>
            <a:r>
              <a:rPr lang="en-US" altLang="zh-CN" b="1" dirty="0">
                <a:solidFill>
                  <a:srgbClr val="CC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隶书" pitchFamily="49" charset="-122"/>
              </a:rPr>
              <a:t>1】 </a:t>
            </a:r>
            <a:r>
              <a:rPr lang="zh-CN" altLang="en-US" b="1" dirty="0">
                <a:solidFill>
                  <a:srgbClr val="CC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隶书" pitchFamily="49" charset="-122"/>
              </a:rPr>
              <a:t>将键盘上输入的一个字符串（以‘</a:t>
            </a:r>
            <a:r>
              <a:rPr lang="en-US" altLang="zh-CN" b="1" dirty="0">
                <a:solidFill>
                  <a:srgbClr val="CC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隶书" pitchFamily="49" charset="-122"/>
              </a:rPr>
              <a:t>@’</a:t>
            </a:r>
            <a:r>
              <a:rPr lang="zh-CN" altLang="en-US" b="1" dirty="0">
                <a:solidFill>
                  <a:srgbClr val="CC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隶书" pitchFamily="49" charset="-122"/>
              </a:rPr>
              <a:t>作为结束字符），以</a:t>
            </a:r>
            <a:r>
              <a:rPr lang="en-US" altLang="zh-CN" b="1" dirty="0">
                <a:solidFill>
                  <a:srgbClr val="CC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隶书" pitchFamily="49" charset="-122"/>
              </a:rPr>
              <a:t>ASCII</a:t>
            </a:r>
            <a:r>
              <a:rPr lang="zh-CN" altLang="en-US" b="1" dirty="0">
                <a:solidFill>
                  <a:srgbClr val="CC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隶书" pitchFamily="49" charset="-122"/>
              </a:rPr>
              <a:t>码形式存储到一个磁盘文件中，然后从该磁盘文件中读出其字符串并显示出来。</a:t>
            </a:r>
          </a:p>
        </p:txBody>
      </p:sp>
      <p:grpSp>
        <p:nvGrpSpPr>
          <p:cNvPr id="1068046" name="Group 14"/>
          <p:cNvGrpSpPr>
            <a:grpSpLocks/>
          </p:cNvGrpSpPr>
          <p:nvPr/>
        </p:nvGrpSpPr>
        <p:grpSpPr bwMode="auto">
          <a:xfrm>
            <a:off x="-12832" y="0"/>
            <a:ext cx="446088" cy="6858000"/>
            <a:chOff x="0" y="0"/>
            <a:chExt cx="281" cy="4320"/>
          </a:xfrm>
        </p:grpSpPr>
        <p:sp>
          <p:nvSpPr>
            <p:cNvPr id="1068047" name="Text Box 15"/>
            <p:cNvSpPr txBox="1">
              <a:spLocks noChangeArrowheads="1"/>
            </p:cNvSpPr>
            <p:nvPr/>
          </p:nvSpPr>
          <p:spPr bwMode="auto">
            <a:xfrm>
              <a:off x="0" y="0"/>
              <a:ext cx="281" cy="4320"/>
            </a:xfrm>
            <a:prstGeom prst="rect">
              <a:avLst/>
            </a:prstGeom>
            <a:gradFill rotWithShape="0">
              <a:gsLst>
                <a:gs pos="0">
                  <a:schemeClr val="hlink">
                    <a:gamma/>
                    <a:shade val="60784"/>
                    <a:invGamma/>
                  </a:schemeClr>
                </a:gs>
                <a:gs pos="50000">
                  <a:schemeClr val="hlink"/>
                </a:gs>
                <a:gs pos="100000">
                  <a:schemeClr val="hlink">
                    <a:gamma/>
                    <a:shade val="60784"/>
                    <a:invGamma/>
                  </a:schemeClr>
                </a:gs>
              </a:gsLst>
              <a:lin ang="0" scaled="1"/>
            </a:gradFill>
            <a:ln w="9525">
              <a:noFill/>
              <a:miter lim="800000"/>
              <a:headEnd/>
              <a:tailEnd/>
            </a:ln>
            <a:effectLst/>
          </p:spPr>
          <p:txBody>
            <a:bodyPr/>
            <a:lstStyle/>
            <a:p>
              <a:pPr eaLnBrk="0" hangingPunct="0">
                <a:spcBef>
                  <a:spcPct val="50000"/>
                </a:spcBef>
              </a:pPr>
              <a:endParaRPr lang="en-US" altLang="zh-CN" sz="1800" dirty="0">
                <a:solidFill>
                  <a:srgbClr val="3333CC"/>
                </a:solidFill>
                <a:latin typeface="Verdana" pitchFamily="34" charset="0"/>
              </a:endParaRPr>
            </a:p>
            <a:p>
              <a:pPr eaLnBrk="0" hangingPunct="0">
                <a:spcBef>
                  <a:spcPct val="50000"/>
                </a:spcBef>
              </a:pPr>
              <a:r>
                <a:rPr lang="zh-CN" altLang="en-US" sz="1600" b="1" dirty="0">
                  <a:solidFill>
                    <a:srgbClr val="3333CC"/>
                  </a:solidFill>
                  <a:latin typeface="Verdana" pitchFamily="34" charset="0"/>
                </a:rPr>
                <a:t>语言程序设计教程       </a:t>
              </a:r>
            </a:p>
            <a:p>
              <a:pPr eaLnBrk="0" hangingPunct="0">
                <a:spcBef>
                  <a:spcPct val="50000"/>
                </a:spcBef>
              </a:pPr>
              <a:r>
                <a:rPr lang="zh-CN" altLang="en-US" sz="1600" b="1" dirty="0">
                  <a:solidFill>
                    <a:srgbClr val="3333CC"/>
                  </a:solidFill>
                  <a:latin typeface="Verdana" pitchFamily="34" charset="0"/>
                </a:rPr>
                <a:t>第三版</a:t>
              </a:r>
            </a:p>
            <a:p>
              <a:pPr eaLnBrk="0" hangingPunct="0">
                <a:spcBef>
                  <a:spcPct val="50000"/>
                </a:spcBef>
              </a:pPr>
              <a:endParaRPr lang="zh-CN" altLang="en-US" sz="1600" b="1" dirty="0">
                <a:solidFill>
                  <a:srgbClr val="3333CC"/>
                </a:solidFill>
                <a:latin typeface="Verdana" pitchFamily="34" charset="0"/>
              </a:endParaRPr>
            </a:p>
            <a:p>
              <a:pPr eaLnBrk="0" hangingPunct="0">
                <a:spcBef>
                  <a:spcPct val="50000"/>
                </a:spcBef>
              </a:pPr>
              <a:endParaRPr lang="zh-CN" altLang="en-US" sz="1600" b="1" dirty="0">
                <a:solidFill>
                  <a:srgbClr val="3333CC"/>
                </a:solidFill>
                <a:latin typeface="Verdana" pitchFamily="34" charset="0"/>
              </a:endParaRPr>
            </a:p>
            <a:p>
              <a:pPr eaLnBrk="0" hangingPunct="0">
                <a:spcBef>
                  <a:spcPct val="50000"/>
                </a:spcBef>
              </a:pPr>
              <a:r>
                <a:rPr lang="zh-CN" altLang="en-US" sz="1600" b="1" dirty="0">
                  <a:solidFill>
                    <a:srgbClr val="3333CC"/>
                  </a:solidFill>
                  <a:latin typeface="Verdana" pitchFamily="34" charset="0"/>
                </a:rPr>
                <a:t>第十</a:t>
              </a:r>
            </a:p>
            <a:p>
              <a:pPr eaLnBrk="0" hangingPunct="0">
                <a:spcBef>
                  <a:spcPct val="50000"/>
                </a:spcBef>
              </a:pPr>
              <a:r>
                <a:rPr lang="zh-CN" altLang="en-US" sz="1600" b="1" dirty="0">
                  <a:solidFill>
                    <a:srgbClr val="3333CC"/>
                  </a:solidFill>
                  <a:latin typeface="Verdana" pitchFamily="34" charset="0"/>
                </a:rPr>
                <a:t>二章 </a:t>
              </a:r>
            </a:p>
            <a:p>
              <a:pPr eaLnBrk="0" hangingPunct="0">
                <a:spcBef>
                  <a:spcPct val="50000"/>
                </a:spcBef>
              </a:pPr>
              <a:endParaRPr lang="zh-CN" altLang="en-US" sz="1600" b="1" dirty="0">
                <a:solidFill>
                  <a:srgbClr val="3333CC"/>
                </a:solidFill>
                <a:latin typeface="Verdana" pitchFamily="34" charset="0"/>
              </a:endParaRPr>
            </a:p>
            <a:p>
              <a:pPr eaLnBrk="0" hangingPunct="0">
                <a:spcBef>
                  <a:spcPct val="50000"/>
                </a:spcBef>
              </a:pPr>
              <a:r>
                <a:rPr lang="zh-CN" altLang="en-US" sz="1600" b="1" dirty="0">
                  <a:solidFill>
                    <a:srgbClr val="3333CC"/>
                  </a:solidFill>
                  <a:latin typeface="Verdana" pitchFamily="34" charset="0"/>
                </a:rPr>
                <a:t>文</a:t>
              </a:r>
            </a:p>
            <a:p>
              <a:pPr eaLnBrk="0" hangingPunct="0">
                <a:spcBef>
                  <a:spcPct val="50000"/>
                </a:spcBef>
              </a:pPr>
              <a:endParaRPr lang="zh-CN" altLang="en-US" sz="1600" b="1" dirty="0">
                <a:solidFill>
                  <a:srgbClr val="3333CC"/>
                </a:solidFill>
                <a:latin typeface="Verdana" pitchFamily="34" charset="0"/>
              </a:endParaRPr>
            </a:p>
            <a:p>
              <a:pPr eaLnBrk="0" hangingPunct="0">
                <a:spcBef>
                  <a:spcPct val="50000"/>
                </a:spcBef>
              </a:pPr>
              <a:r>
                <a:rPr lang="zh-CN" altLang="en-US" sz="1600" b="1" dirty="0">
                  <a:solidFill>
                    <a:srgbClr val="3333CC"/>
                  </a:solidFill>
                  <a:latin typeface="Verdana" pitchFamily="34" charset="0"/>
                </a:rPr>
                <a:t>件</a:t>
              </a:r>
            </a:p>
          </p:txBody>
        </p:sp>
        <p:sp>
          <p:nvSpPr>
            <p:cNvPr id="1068048" name="Text Box 16"/>
            <p:cNvSpPr txBox="1">
              <a:spLocks noChangeArrowheads="1"/>
            </p:cNvSpPr>
            <p:nvPr/>
          </p:nvSpPr>
          <p:spPr bwMode="auto">
            <a:xfrm>
              <a:off x="0" y="0"/>
              <a:ext cx="281" cy="231"/>
            </a:xfrm>
            <a:prstGeom prst="rect">
              <a:avLst/>
            </a:prstGeom>
            <a:gradFill rotWithShape="0">
              <a:gsLst>
                <a:gs pos="0">
                  <a:schemeClr val="hlink">
                    <a:gamma/>
                    <a:shade val="46275"/>
                    <a:invGamma/>
                  </a:schemeClr>
                </a:gs>
                <a:gs pos="50000">
                  <a:schemeClr val="hlink"/>
                </a:gs>
                <a:gs pos="100000">
                  <a:schemeClr val="hlink">
                    <a:gamma/>
                    <a:shade val="46275"/>
                    <a:invGamma/>
                  </a:schemeClr>
                </a:gs>
              </a:gsLst>
              <a:lin ang="0" scaled="1"/>
            </a:gradFill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eaLnBrk="0" hangingPunct="0">
                <a:spcBef>
                  <a:spcPct val="50000"/>
                </a:spcBef>
              </a:pPr>
              <a:r>
                <a:rPr lang="en-US" altLang="zh-CN" sz="1800" b="1">
                  <a:solidFill>
                    <a:srgbClr val="0000FF"/>
                  </a:solidFill>
                  <a:latin typeface="Arial" pitchFamily="34" charset="0"/>
                </a:rPr>
                <a:t>C</a:t>
              </a:r>
            </a:p>
          </p:txBody>
        </p:sp>
      </p:grpSp>
      <p:sp>
        <p:nvSpPr>
          <p:cNvPr id="1068043" name="Rectangle 11" descr="信纸"/>
          <p:cNvSpPr>
            <a:spLocks noChangeArrowheads="1"/>
          </p:cNvSpPr>
          <p:nvPr/>
        </p:nvSpPr>
        <p:spPr bwMode="auto">
          <a:xfrm>
            <a:off x="6599659" y="1386260"/>
            <a:ext cx="5256981" cy="3785652"/>
          </a:xfrm>
          <a:prstGeom prst="rect">
            <a:avLst/>
          </a:prstGeom>
          <a:blipFill dpi="0" rotWithShape="1">
            <a:blip r:embed="rId5" cstate="print"/>
            <a:srcRect/>
            <a:tile tx="0" ty="0" sx="100000" sy="100000" flip="none" algn="tl"/>
          </a:blipFill>
          <a:ln w="38100">
            <a:solidFill>
              <a:srgbClr val="008000"/>
            </a:solidFill>
            <a:miter lim="800000"/>
            <a:headEnd/>
            <a:tailEnd/>
          </a:ln>
          <a:effectLst>
            <a:outerShdw blurRad="50800" dist="106680" dir="2700000" algn="tl" rotWithShape="0">
              <a:prstClr val="black">
                <a:alpha val="43000"/>
              </a:prstClr>
            </a:outerShdw>
          </a:effectLst>
          <a:scene3d>
            <a:camera prst="orthographicFront"/>
            <a:lightRig rig="threePt" dir="t"/>
          </a:scene3d>
          <a:sp3d>
            <a:bevelT w="114300" prst="hardEdge"/>
          </a:sp3d>
        </p:spPr>
        <p:txBody>
          <a:bodyPr wrap="square">
            <a:spAutoFit/>
          </a:bodyPr>
          <a:lstStyle/>
          <a:p>
            <a:r>
              <a:rPr lang="en-US" altLang="zh-CN" sz="1800" b="1" dirty="0">
                <a:solidFill>
                  <a:schemeClr val="accent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楷体" pitchFamily="49" charset="-122"/>
              </a:rPr>
              <a:t>  //</a:t>
            </a:r>
            <a:r>
              <a:rPr lang="zh-CN" altLang="en-US" sz="1800" b="1" dirty="0">
                <a:solidFill>
                  <a:schemeClr val="accent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楷体" pitchFamily="49" charset="-122"/>
              </a:rPr>
              <a:t>输入字符，并存储到指定文件中</a:t>
            </a:r>
          </a:p>
          <a:p>
            <a:r>
              <a:rPr lang="zh-CN" altLang="en-US" sz="2000" b="1" dirty="0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  </a:t>
            </a:r>
            <a:r>
              <a:rPr lang="en-US" altLang="zh-CN" sz="2000" b="1" dirty="0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for ( ; (</a:t>
            </a:r>
            <a:r>
              <a:rPr lang="en-US" altLang="zh-CN" sz="2000" b="1" dirty="0" err="1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ch</a:t>
            </a:r>
            <a:r>
              <a:rPr lang="en-US" altLang="zh-CN" sz="2000" b="1" dirty="0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 = </a:t>
            </a:r>
            <a:r>
              <a:rPr lang="en-US" altLang="zh-CN" sz="2000" b="1" dirty="0" err="1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getchar</a:t>
            </a:r>
            <a:r>
              <a:rPr lang="en-US" altLang="zh-CN" sz="2000" b="1" dirty="0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( )) != '@' ; )</a:t>
            </a:r>
          </a:p>
          <a:p>
            <a:r>
              <a:rPr lang="en-US" altLang="zh-CN" sz="2000" b="1" dirty="0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       </a:t>
            </a:r>
            <a:r>
              <a:rPr lang="en-US" altLang="zh-CN" sz="2000" b="1" dirty="0" err="1">
                <a:solidFill>
                  <a:srgbClr val="FF33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楷体_GB2312" pitchFamily="49" charset="-122"/>
              </a:rPr>
              <a:t>fputc</a:t>
            </a:r>
            <a:r>
              <a:rPr lang="en-US" altLang="zh-CN" sz="2000" b="1" dirty="0">
                <a:solidFill>
                  <a:srgbClr val="FF33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楷体_GB2312" pitchFamily="49" charset="-122"/>
              </a:rPr>
              <a:t> (</a:t>
            </a:r>
            <a:r>
              <a:rPr lang="en-US" altLang="zh-CN" sz="2000" b="1" dirty="0" err="1">
                <a:solidFill>
                  <a:srgbClr val="FF33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楷体_GB2312" pitchFamily="49" charset="-122"/>
              </a:rPr>
              <a:t>ch</a:t>
            </a:r>
            <a:r>
              <a:rPr lang="en-US" altLang="zh-CN" sz="2000" b="1" dirty="0">
                <a:solidFill>
                  <a:srgbClr val="FF33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楷体_GB2312" pitchFamily="49" charset="-122"/>
              </a:rPr>
              <a:t>, fp1);</a:t>
            </a:r>
            <a:r>
              <a:rPr lang="en-US" altLang="zh-CN" sz="2000" b="1" dirty="0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    </a:t>
            </a:r>
            <a:r>
              <a:rPr lang="en-US" altLang="zh-CN" sz="1800" b="1" dirty="0">
                <a:solidFill>
                  <a:schemeClr val="accent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楷体" pitchFamily="49" charset="-122"/>
              </a:rPr>
              <a:t>//</a:t>
            </a:r>
            <a:r>
              <a:rPr lang="zh-CN" altLang="en-US" sz="1800" b="1" dirty="0">
                <a:solidFill>
                  <a:schemeClr val="accent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楷体" pitchFamily="49" charset="-122"/>
              </a:rPr>
              <a:t>输入字符并存储到文件中</a:t>
            </a:r>
          </a:p>
          <a:p>
            <a:r>
              <a:rPr lang="zh-CN" altLang="en-US" sz="2000" b="1" dirty="0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  </a:t>
            </a:r>
            <a:r>
              <a:rPr lang="en-US" altLang="zh-CN" sz="2000" b="1" dirty="0" err="1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fclose</a:t>
            </a:r>
            <a:r>
              <a:rPr lang="en-US" altLang="zh-CN" sz="2000" b="1" dirty="0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 (fp1);        </a:t>
            </a:r>
            <a:r>
              <a:rPr lang="en-US" altLang="zh-CN" sz="1800" b="1" dirty="0">
                <a:solidFill>
                  <a:schemeClr val="accent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楷体" pitchFamily="49" charset="-122"/>
              </a:rPr>
              <a:t>//</a:t>
            </a:r>
            <a:r>
              <a:rPr lang="zh-CN" altLang="en-US" sz="1800" b="1" dirty="0">
                <a:solidFill>
                  <a:schemeClr val="accent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楷体" pitchFamily="49" charset="-122"/>
              </a:rPr>
              <a:t>关闭文件</a:t>
            </a:r>
            <a:endParaRPr lang="en-US" altLang="zh-CN" sz="1800" b="1" dirty="0">
              <a:solidFill>
                <a:schemeClr val="accent2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+mn-lt"/>
              <a:ea typeface="楷体" pitchFamily="49" charset="-122"/>
            </a:endParaRPr>
          </a:p>
          <a:p>
            <a:r>
              <a:rPr lang="en-US" altLang="zh-CN" sz="2000" b="1" dirty="0">
                <a:solidFill>
                  <a:schemeClr val="accent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楷体" pitchFamily="49" charset="-122"/>
              </a:rPr>
              <a:t>  </a:t>
            </a:r>
          </a:p>
          <a:p>
            <a:r>
              <a:rPr lang="en-US" altLang="zh-CN" sz="2000" b="1" dirty="0">
                <a:solidFill>
                  <a:schemeClr val="accent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楷体" pitchFamily="49" charset="-122"/>
              </a:rPr>
              <a:t>  </a:t>
            </a:r>
            <a:r>
              <a:rPr lang="en-US" altLang="zh-CN" sz="1800" b="1" dirty="0">
                <a:solidFill>
                  <a:schemeClr val="accent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楷体" pitchFamily="49" charset="-122"/>
              </a:rPr>
              <a:t>//</a:t>
            </a:r>
            <a:r>
              <a:rPr lang="zh-CN" altLang="en-US" sz="1800" b="1" dirty="0">
                <a:solidFill>
                  <a:schemeClr val="accent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楷体" pitchFamily="49" charset="-122"/>
              </a:rPr>
              <a:t>顺序输出文件的内容</a:t>
            </a:r>
          </a:p>
          <a:p>
            <a:r>
              <a:rPr lang="zh-CN" altLang="en-US" sz="2000" b="1" dirty="0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  </a:t>
            </a:r>
            <a:r>
              <a:rPr lang="en-US" altLang="zh-CN" sz="2000" b="1" dirty="0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fp2 = </a:t>
            </a:r>
            <a:r>
              <a:rPr lang="en-US" altLang="zh-CN" sz="2000" b="1" dirty="0" err="1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fopen</a:t>
            </a:r>
            <a:r>
              <a:rPr lang="en-US" altLang="zh-CN" sz="2000" b="1" dirty="0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 (</a:t>
            </a:r>
            <a:r>
              <a:rPr lang="en-US" altLang="zh-CN" sz="2000" b="1" dirty="0" err="1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argv</a:t>
            </a:r>
            <a:r>
              <a:rPr lang="en-US" altLang="zh-CN" sz="2000" b="1" dirty="0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[1], "</a:t>
            </a:r>
            <a:r>
              <a:rPr lang="en-US" altLang="zh-CN" sz="2000" b="1" dirty="0" err="1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rt</a:t>
            </a:r>
            <a:r>
              <a:rPr lang="en-US" altLang="zh-CN" sz="2000" b="1" dirty="0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");   </a:t>
            </a:r>
          </a:p>
          <a:p>
            <a:r>
              <a:rPr lang="en-US" altLang="zh-CN" sz="2000" b="1" dirty="0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  for (; (</a:t>
            </a:r>
            <a:r>
              <a:rPr lang="en-US" altLang="zh-CN" sz="2000" b="1" dirty="0" err="1">
                <a:solidFill>
                  <a:srgbClr val="FF33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楷体_GB2312" pitchFamily="49" charset="-122"/>
              </a:rPr>
              <a:t>ch</a:t>
            </a:r>
            <a:r>
              <a:rPr lang="en-US" altLang="zh-CN" sz="2000" b="1" dirty="0">
                <a:solidFill>
                  <a:srgbClr val="FF33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楷体_GB2312" pitchFamily="49" charset="-122"/>
              </a:rPr>
              <a:t> = </a:t>
            </a:r>
            <a:r>
              <a:rPr lang="en-US" altLang="zh-CN" sz="2000" b="1" dirty="0" err="1">
                <a:solidFill>
                  <a:srgbClr val="FF33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楷体_GB2312" pitchFamily="49" charset="-122"/>
              </a:rPr>
              <a:t>fgetc</a:t>
            </a:r>
            <a:r>
              <a:rPr lang="en-US" altLang="zh-CN" sz="2000" b="1" dirty="0">
                <a:solidFill>
                  <a:srgbClr val="FF33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楷体_GB2312" pitchFamily="49" charset="-122"/>
              </a:rPr>
              <a:t>(fp2)</a:t>
            </a:r>
            <a:r>
              <a:rPr lang="en-US" altLang="zh-CN" sz="2000" b="1" dirty="0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) != EOF; ) </a:t>
            </a:r>
          </a:p>
          <a:p>
            <a:r>
              <a:rPr lang="en-US" altLang="zh-CN" sz="2000" b="1" dirty="0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      </a:t>
            </a:r>
            <a:r>
              <a:rPr lang="en-US" altLang="zh-CN" sz="2000" b="1" dirty="0" err="1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putchar</a:t>
            </a:r>
            <a:r>
              <a:rPr lang="en-US" altLang="zh-CN" sz="2000" b="1" dirty="0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 (</a:t>
            </a:r>
            <a:r>
              <a:rPr lang="en-US" altLang="zh-CN" sz="2000" b="1" dirty="0" err="1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ch</a:t>
            </a:r>
            <a:r>
              <a:rPr lang="en-US" altLang="zh-CN" sz="2000" b="1" dirty="0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);      </a:t>
            </a:r>
            <a:r>
              <a:rPr lang="en-US" altLang="zh-CN" sz="1800" b="1" dirty="0">
                <a:solidFill>
                  <a:schemeClr val="accent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楷体" pitchFamily="49" charset="-122"/>
              </a:rPr>
              <a:t>//</a:t>
            </a:r>
            <a:r>
              <a:rPr lang="zh-CN" altLang="en-US" sz="1800" b="1" dirty="0">
                <a:solidFill>
                  <a:schemeClr val="accent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楷体" pitchFamily="49" charset="-122"/>
              </a:rPr>
              <a:t>顺序读入并显示</a:t>
            </a:r>
          </a:p>
          <a:p>
            <a:r>
              <a:rPr lang="zh-CN" altLang="en-US" sz="2000" b="1" dirty="0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  </a:t>
            </a:r>
            <a:r>
              <a:rPr lang="en-US" altLang="zh-CN" sz="2000" b="1" dirty="0" err="1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fclose</a:t>
            </a:r>
            <a:r>
              <a:rPr lang="en-US" altLang="zh-CN" sz="2000" b="1" dirty="0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 (fp2);            </a:t>
            </a:r>
            <a:r>
              <a:rPr lang="en-US" altLang="zh-CN" sz="1800" b="1" dirty="0">
                <a:solidFill>
                  <a:schemeClr val="accent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楷体" pitchFamily="49" charset="-122"/>
              </a:rPr>
              <a:t>//</a:t>
            </a:r>
            <a:r>
              <a:rPr lang="zh-CN" altLang="en-US" sz="1800" b="1" dirty="0">
                <a:solidFill>
                  <a:schemeClr val="accent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楷体" pitchFamily="49" charset="-122"/>
              </a:rPr>
              <a:t>关闭打开的文件</a:t>
            </a:r>
          </a:p>
          <a:p>
            <a:r>
              <a:rPr lang="en-US" altLang="zh-CN" sz="2000" b="1" dirty="0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  return 0</a:t>
            </a:r>
          </a:p>
          <a:p>
            <a:r>
              <a:rPr lang="en-US" altLang="zh-CN" sz="2000" b="1" dirty="0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}</a:t>
            </a:r>
          </a:p>
        </p:txBody>
      </p:sp>
      <p:sp>
        <p:nvSpPr>
          <p:cNvPr id="1068045" name="Rectangle 13"/>
          <p:cNvSpPr>
            <a:spLocks noChangeArrowheads="1"/>
          </p:cNvSpPr>
          <p:nvPr/>
        </p:nvSpPr>
        <p:spPr bwMode="auto">
          <a:xfrm>
            <a:off x="6384057" y="5287384"/>
            <a:ext cx="5472583" cy="1349375"/>
          </a:xfrm>
          <a:prstGeom prst="rect">
            <a:avLst/>
          </a:prstGeom>
          <a:solidFill>
            <a:srgbClr val="FFFFFF"/>
          </a:solidFill>
          <a:ln w="38100">
            <a:solidFill>
              <a:srgbClr val="FF00FF"/>
            </a:solidFill>
            <a:miter lim="800000"/>
            <a:headEnd/>
            <a:tailEnd/>
          </a:ln>
          <a:effectLst>
            <a:outerShdw blurRad="50800" dist="106680" dir="2700000" algn="tl" rotWithShape="0">
              <a:prstClr val="black">
                <a:alpha val="43000"/>
              </a:prstClr>
            </a:outerShdw>
          </a:effectLst>
          <a:scene3d>
            <a:camera prst="orthographicFront"/>
            <a:lightRig rig="threePt" dir="t"/>
          </a:scene3d>
          <a:sp3d>
            <a:bevelT w="114300" prst="hardEdge"/>
          </a:sp3d>
        </p:spPr>
        <p:txBody>
          <a:bodyPr wrap="square">
            <a:spAutoFit/>
          </a:bodyPr>
          <a:lstStyle/>
          <a:p>
            <a:r>
              <a:rPr lang="zh-CN" altLang="en-US" sz="2000" b="1" dirty="0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隶书" pitchFamily="49" charset="-122"/>
                <a:ea typeface="隶书" pitchFamily="49" charset="-122"/>
              </a:rPr>
              <a:t>运行结果</a:t>
            </a:r>
            <a:r>
              <a:rPr lang="zh-CN" altLang="en-US" sz="20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隶书" pitchFamily="49" charset="-122"/>
                <a:ea typeface="隶书" pitchFamily="49" charset="-122"/>
              </a:rPr>
              <a:t>（假设在</a:t>
            </a:r>
            <a:r>
              <a:rPr lang="en-US" altLang="zh-CN" sz="20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隶书" pitchFamily="49" charset="-122"/>
                <a:ea typeface="隶书" pitchFamily="49" charset="-122"/>
              </a:rPr>
              <a:t>DOS</a:t>
            </a:r>
            <a:r>
              <a:rPr lang="zh-CN" altLang="en-US" sz="20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隶书" pitchFamily="49" charset="-122"/>
                <a:ea typeface="隶书" pitchFamily="49" charset="-122"/>
              </a:rPr>
              <a:t>下输入的命令行如下）：</a:t>
            </a:r>
          </a:p>
          <a:p>
            <a:r>
              <a:rPr lang="en-US" altLang="zh-CN" sz="2000" b="1" dirty="0">
                <a:effectLst>
                  <a:outerShdw blurRad="38100" dist="38100" dir="2700000" algn="tl">
                    <a:srgbClr val="C0C0C0"/>
                  </a:outerShdw>
                </a:effectLst>
                <a:ea typeface="楷体_GB2312" pitchFamily="49" charset="-122"/>
              </a:rPr>
              <a:t>example1   wang.txt</a:t>
            </a:r>
            <a:r>
              <a:rPr lang="en-US" altLang="zh-CN" sz="20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+mn-ea"/>
                <a:ea typeface="+mn-ea"/>
              </a:rPr>
              <a:t>↙</a:t>
            </a:r>
          </a:p>
          <a:p>
            <a:r>
              <a:rPr lang="en-US" altLang="zh-CN" sz="2000" b="1" dirty="0">
                <a:effectLst>
                  <a:outerShdw blurRad="38100" dist="38100" dir="2700000" algn="tl">
                    <a:srgbClr val="C0C0C0"/>
                  </a:outerShdw>
                </a:effectLst>
                <a:ea typeface="楷体_GB2312" pitchFamily="49" charset="-122"/>
              </a:rPr>
              <a:t>How are you?@</a:t>
            </a:r>
            <a:r>
              <a:rPr lang="en-US" altLang="zh-CN" sz="20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+mn-ea"/>
                <a:ea typeface="+mn-ea"/>
              </a:rPr>
              <a:t>↙</a:t>
            </a:r>
          </a:p>
          <a:p>
            <a:r>
              <a:rPr lang="en-US" altLang="zh-CN" sz="2000" b="1" dirty="0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楷体_GB2312" pitchFamily="49" charset="-122"/>
              </a:rPr>
              <a:t>How are you?</a:t>
            </a:r>
          </a:p>
        </p:txBody>
      </p:sp>
    </p:spTree>
  </p:cSld>
  <p:clrMapOvr>
    <a:masterClrMapping/>
  </p:clrMapOvr>
  <p:transition>
    <p:cover/>
    <p:sndAc>
      <p:stSnd>
        <p:snd r:embed="rId3" name="CAMER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80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7" dur="500"/>
                                        <p:tgtEl>
                                          <p:spTgt spid="1068042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80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2" dur="500"/>
                                        <p:tgtEl>
                                          <p:spTgt spid="1068043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80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7" dur="500"/>
                                        <p:tgtEl>
                                          <p:spTgt spid="1068045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chime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68042" grpId="0" animBg="1"/>
      <p:bldP spid="1068043" grpId="0" animBg="1"/>
      <p:bldP spid="1068045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0086" name="Rectangle 6" descr="信纸"/>
          <p:cNvSpPr>
            <a:spLocks noChangeArrowheads="1"/>
          </p:cNvSpPr>
          <p:nvPr/>
        </p:nvSpPr>
        <p:spPr bwMode="auto">
          <a:xfrm>
            <a:off x="562445" y="665333"/>
            <a:ext cx="6765185" cy="5940088"/>
          </a:xfrm>
          <a:prstGeom prst="rect">
            <a:avLst/>
          </a:prstGeom>
          <a:blipFill dpi="0" rotWithShape="1">
            <a:blip r:embed="rId4" cstate="print"/>
            <a:srcRect/>
            <a:tile tx="0" ty="0" sx="100000" sy="100000" flip="none" algn="tl"/>
          </a:blipFill>
          <a:ln w="38100">
            <a:solidFill>
              <a:srgbClr val="008000"/>
            </a:solidFill>
            <a:miter lim="800000"/>
            <a:headEnd/>
            <a:tailEnd/>
          </a:ln>
          <a:effectLst>
            <a:outerShdw blurRad="50800" dist="106680" dir="2700000" algn="tl" rotWithShape="0">
              <a:prstClr val="black">
                <a:alpha val="43000"/>
              </a:prstClr>
            </a:outerShdw>
          </a:effectLst>
          <a:scene3d>
            <a:camera prst="orthographicFront"/>
            <a:lightRig rig="threePt" dir="t"/>
          </a:scene3d>
          <a:sp3d>
            <a:bevelT w="114300" prst="hardEdge"/>
          </a:sp3d>
        </p:spPr>
        <p:txBody>
          <a:bodyPr wrap="none" anchor="ctr">
            <a:spAutoFit/>
          </a:bodyPr>
          <a:lstStyle/>
          <a:p>
            <a:pPr marL="457200" indent="-457200">
              <a:tabLst>
                <a:tab pos="914400" algn="l"/>
              </a:tabLst>
            </a:pPr>
            <a:r>
              <a:rPr lang="en-US" altLang="zh-CN" sz="2000" b="1" dirty="0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#include &lt;</a:t>
            </a:r>
            <a:r>
              <a:rPr lang="en-US" altLang="zh-CN" sz="2000" b="1" dirty="0" err="1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stdio.h</a:t>
            </a:r>
            <a:r>
              <a:rPr lang="en-US" altLang="zh-CN" sz="2000" b="1" dirty="0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&gt;</a:t>
            </a:r>
          </a:p>
          <a:p>
            <a:pPr marL="457200" indent="-457200">
              <a:tabLst>
                <a:tab pos="914400" algn="l"/>
              </a:tabLst>
            </a:pPr>
            <a:r>
              <a:rPr lang="en-US" altLang="zh-CN" sz="2000" b="1" dirty="0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#include &lt;</a:t>
            </a:r>
            <a:r>
              <a:rPr lang="en-US" altLang="zh-CN" sz="2000" b="1" dirty="0" err="1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stdlib.h</a:t>
            </a:r>
            <a:r>
              <a:rPr lang="en-US" altLang="zh-CN" sz="2000" b="1" dirty="0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&gt;</a:t>
            </a:r>
          </a:p>
          <a:p>
            <a:pPr marL="457200" indent="-457200">
              <a:tabLst>
                <a:tab pos="914400" algn="l"/>
              </a:tabLst>
            </a:pPr>
            <a:r>
              <a:rPr lang="en-US" altLang="zh-CN" sz="2000" b="1" dirty="0" err="1">
                <a:solidFill>
                  <a:srgbClr val="CC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楷体_GB2312" pitchFamily="49" charset="-122"/>
              </a:rPr>
              <a:t>int</a:t>
            </a:r>
            <a:r>
              <a:rPr lang="en-US" altLang="zh-CN" sz="2000" b="1" dirty="0">
                <a:solidFill>
                  <a:srgbClr val="CC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楷体_GB2312" pitchFamily="49" charset="-122"/>
              </a:rPr>
              <a:t> main (</a:t>
            </a:r>
            <a:r>
              <a:rPr lang="en-US" altLang="zh-CN" sz="2000" b="1" dirty="0" err="1">
                <a:solidFill>
                  <a:srgbClr val="CC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楷体_GB2312" pitchFamily="49" charset="-122"/>
              </a:rPr>
              <a:t>int</a:t>
            </a:r>
            <a:r>
              <a:rPr lang="en-US" altLang="zh-CN" sz="2000" b="1" dirty="0">
                <a:solidFill>
                  <a:srgbClr val="CC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楷体_GB2312" pitchFamily="49" charset="-122"/>
              </a:rPr>
              <a:t> </a:t>
            </a:r>
            <a:r>
              <a:rPr lang="en-US" altLang="zh-CN" sz="2000" b="1" dirty="0" err="1">
                <a:solidFill>
                  <a:srgbClr val="CC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楷体_GB2312" pitchFamily="49" charset="-122"/>
              </a:rPr>
              <a:t>argc</a:t>
            </a:r>
            <a:r>
              <a:rPr lang="en-US" altLang="zh-CN" sz="2000" b="1" dirty="0">
                <a:solidFill>
                  <a:srgbClr val="CC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楷体_GB2312" pitchFamily="49" charset="-122"/>
              </a:rPr>
              <a:t>, char *</a:t>
            </a:r>
            <a:r>
              <a:rPr lang="en-US" altLang="zh-CN" sz="2000" b="1" dirty="0" err="1">
                <a:solidFill>
                  <a:srgbClr val="CC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楷体_GB2312" pitchFamily="49" charset="-122"/>
              </a:rPr>
              <a:t>argv</a:t>
            </a:r>
            <a:r>
              <a:rPr lang="en-US" altLang="zh-CN" sz="2000" b="1" dirty="0">
                <a:solidFill>
                  <a:srgbClr val="CC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楷体_GB2312" pitchFamily="49" charset="-122"/>
              </a:rPr>
              <a:t>[ ])</a:t>
            </a:r>
          </a:p>
          <a:p>
            <a:pPr marL="457200" indent="-457200">
              <a:tabLst>
                <a:tab pos="914400" algn="l"/>
              </a:tabLst>
            </a:pPr>
            <a:r>
              <a:rPr lang="en-US" altLang="zh-CN" sz="2000" b="1" dirty="0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{ </a:t>
            </a:r>
          </a:p>
          <a:p>
            <a:pPr marL="457200" indent="-457200">
              <a:tabLst>
                <a:tab pos="914400" algn="l"/>
              </a:tabLst>
            </a:pPr>
            <a:r>
              <a:rPr lang="en-US" altLang="zh-CN" sz="2000" b="1" dirty="0">
                <a:solidFill>
                  <a:schemeClr val="accent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楷体_GB2312" pitchFamily="49" charset="-122"/>
              </a:rPr>
              <a:t>  </a:t>
            </a:r>
            <a:r>
              <a:rPr lang="en-US" altLang="zh-CN" sz="1800" b="1" dirty="0">
                <a:solidFill>
                  <a:schemeClr val="accent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楷体" pitchFamily="49" charset="-122"/>
              </a:rPr>
              <a:t>//input</a:t>
            </a:r>
            <a:r>
              <a:rPr lang="zh-CN" altLang="en-US" sz="1800" b="1" dirty="0">
                <a:solidFill>
                  <a:schemeClr val="accent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楷体" pitchFamily="49" charset="-122"/>
              </a:rPr>
              <a:t>：源文件指针</a:t>
            </a:r>
            <a:r>
              <a:rPr lang="en-US" altLang="zh-CN" sz="1800" b="1" dirty="0">
                <a:solidFill>
                  <a:schemeClr val="accent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楷体" pitchFamily="49" charset="-122"/>
              </a:rPr>
              <a:t>, output</a:t>
            </a:r>
            <a:r>
              <a:rPr lang="zh-CN" altLang="en-US" sz="1800" b="1" dirty="0">
                <a:solidFill>
                  <a:schemeClr val="accent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楷体" pitchFamily="49" charset="-122"/>
              </a:rPr>
              <a:t>：目标文件指针</a:t>
            </a:r>
          </a:p>
          <a:p>
            <a:pPr marL="457200" indent="-457200">
              <a:tabLst>
                <a:tab pos="914400" algn="l"/>
              </a:tabLst>
            </a:pPr>
            <a:r>
              <a:rPr lang="zh-CN" altLang="en-US" sz="2000" b="1" dirty="0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  </a:t>
            </a:r>
            <a:r>
              <a:rPr lang="en-US" altLang="zh-CN" sz="2000" b="1" dirty="0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FILE *input, *output;  </a:t>
            </a:r>
          </a:p>
          <a:p>
            <a:pPr marL="457200" indent="-457200">
              <a:tabLst>
                <a:tab pos="914400" algn="l"/>
              </a:tabLst>
            </a:pPr>
            <a:r>
              <a:rPr lang="en-US" altLang="zh-CN" sz="2000" b="1" dirty="0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  if (</a:t>
            </a:r>
            <a:r>
              <a:rPr lang="en-US" altLang="zh-CN" sz="2000" b="1" dirty="0" err="1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argc</a:t>
            </a:r>
            <a:r>
              <a:rPr lang="en-US" altLang="zh-CN" sz="2000" b="1" dirty="0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 != 3)     </a:t>
            </a:r>
            <a:r>
              <a:rPr lang="en-US" altLang="zh-CN" sz="1800" b="1" dirty="0">
                <a:solidFill>
                  <a:schemeClr val="accent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楷体" pitchFamily="49" charset="-122"/>
              </a:rPr>
              <a:t>//</a:t>
            </a:r>
            <a:r>
              <a:rPr lang="zh-CN" altLang="en-US" sz="1800" b="1" dirty="0">
                <a:solidFill>
                  <a:schemeClr val="accent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楷体" pitchFamily="49" charset="-122"/>
              </a:rPr>
              <a:t>参数个数不对</a:t>
            </a:r>
          </a:p>
          <a:p>
            <a:pPr marL="457200" indent="-457200">
              <a:tabLst>
                <a:tab pos="914400" algn="l"/>
              </a:tabLst>
            </a:pPr>
            <a:r>
              <a:rPr lang="zh-CN" altLang="en-US" sz="2000" b="1" dirty="0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  </a:t>
            </a:r>
            <a:r>
              <a:rPr lang="en-US" altLang="zh-CN" sz="2000" b="1" dirty="0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{  </a:t>
            </a:r>
          </a:p>
          <a:p>
            <a:pPr marL="457200" indent="-457200">
              <a:tabLst>
                <a:tab pos="914400" algn="l"/>
              </a:tabLst>
            </a:pPr>
            <a:r>
              <a:rPr lang="en-US" altLang="zh-CN" sz="2000" b="1" dirty="0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    </a:t>
            </a:r>
            <a:r>
              <a:rPr lang="en-US" altLang="zh-CN" sz="2000" b="1" dirty="0" err="1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printf</a:t>
            </a:r>
            <a:r>
              <a:rPr lang="en-US" altLang="zh-CN" sz="2000" b="1" dirty="0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 ("the number of arguments not correct\n");</a:t>
            </a:r>
          </a:p>
          <a:p>
            <a:pPr marL="457200" indent="-457200">
              <a:tabLst>
                <a:tab pos="914400" algn="l"/>
              </a:tabLst>
            </a:pPr>
            <a:r>
              <a:rPr lang="en-US" altLang="zh-CN" sz="2000" b="1" dirty="0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    </a:t>
            </a:r>
            <a:r>
              <a:rPr lang="en-US" altLang="zh-CN" sz="2000" b="1" dirty="0" err="1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printf</a:t>
            </a:r>
            <a:r>
              <a:rPr lang="en-US" altLang="zh-CN" sz="2000" b="1" dirty="0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 ("\n Usage:  </a:t>
            </a:r>
            <a:r>
              <a:rPr lang="zh-CN" altLang="en-US" sz="2000" b="1" dirty="0">
                <a:effectLst>
                  <a:outerShdw blurRad="38100" dist="38100" dir="2700000" algn="tl">
                    <a:srgbClr val="FFFFFF"/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可执行文件名  </a:t>
            </a:r>
            <a:r>
              <a:rPr lang="en-US" altLang="zh-CN" sz="2000" b="1" dirty="0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source-file  </a:t>
            </a:r>
            <a:r>
              <a:rPr lang="en-US" altLang="zh-CN" sz="2000" b="1" dirty="0" err="1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dest</a:t>
            </a:r>
            <a:r>
              <a:rPr lang="en-US" altLang="zh-CN" sz="2000" b="1" dirty="0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-file");</a:t>
            </a:r>
          </a:p>
          <a:p>
            <a:pPr marL="457200" indent="-457200">
              <a:tabLst>
                <a:tab pos="914400" algn="l"/>
              </a:tabLst>
            </a:pPr>
            <a:r>
              <a:rPr lang="en-US" altLang="zh-CN" sz="2000" b="1" dirty="0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    exit (0);</a:t>
            </a:r>
          </a:p>
          <a:p>
            <a:pPr marL="457200" indent="-457200">
              <a:tabLst>
                <a:tab pos="914400" algn="l"/>
              </a:tabLst>
            </a:pPr>
            <a:r>
              <a:rPr lang="en-US" altLang="zh-CN" sz="2000" b="1" dirty="0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  }</a:t>
            </a:r>
          </a:p>
          <a:p>
            <a:pPr marL="457200" indent="-457200">
              <a:tabLst>
                <a:tab pos="914400" algn="l"/>
              </a:tabLst>
            </a:pPr>
            <a:endParaRPr lang="en-US" altLang="zh-CN" sz="2000" b="1" dirty="0">
              <a:effectLst>
                <a:outerShdw blurRad="38100" dist="38100" dir="2700000" algn="tl">
                  <a:srgbClr val="FFFFFF"/>
                </a:outerShdw>
              </a:effectLst>
              <a:ea typeface="楷体_GB2312" pitchFamily="49" charset="-122"/>
            </a:endParaRPr>
          </a:p>
          <a:p>
            <a:pPr marL="457200" indent="-457200">
              <a:tabLst>
                <a:tab pos="914400" algn="l"/>
              </a:tabLst>
            </a:pPr>
            <a:r>
              <a:rPr lang="en-US" altLang="zh-CN" sz="2000" b="1" dirty="0">
                <a:solidFill>
                  <a:schemeClr val="accent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楷体_GB2312" pitchFamily="49" charset="-122"/>
              </a:rPr>
              <a:t>  </a:t>
            </a:r>
            <a:r>
              <a:rPr lang="en-US" altLang="zh-CN" sz="1800" b="1" dirty="0">
                <a:solidFill>
                  <a:schemeClr val="accent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楷体" pitchFamily="49" charset="-122"/>
              </a:rPr>
              <a:t>//</a:t>
            </a:r>
            <a:r>
              <a:rPr lang="zh-CN" altLang="en-US" sz="1800" b="1" dirty="0">
                <a:solidFill>
                  <a:schemeClr val="accent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楷体" pitchFamily="49" charset="-122"/>
              </a:rPr>
              <a:t>打开源文件失败</a:t>
            </a:r>
          </a:p>
          <a:p>
            <a:pPr marL="457200" indent="-457200">
              <a:tabLst>
                <a:tab pos="914400" algn="l"/>
              </a:tabLst>
            </a:pPr>
            <a:r>
              <a:rPr lang="zh-CN" altLang="en-US" sz="2000" b="1" dirty="0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  </a:t>
            </a:r>
            <a:r>
              <a:rPr lang="en-US" altLang="zh-CN" sz="2000" b="1" dirty="0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if ((input = </a:t>
            </a:r>
            <a:r>
              <a:rPr lang="en-US" altLang="zh-CN" sz="2000" b="1" dirty="0" err="1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fopen</a:t>
            </a:r>
            <a:r>
              <a:rPr lang="en-US" altLang="zh-CN" sz="2000" b="1" dirty="0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(</a:t>
            </a:r>
            <a:r>
              <a:rPr lang="en-US" altLang="zh-CN" sz="2000" b="1" dirty="0" err="1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argv</a:t>
            </a:r>
            <a:r>
              <a:rPr lang="en-US" altLang="zh-CN" sz="2000" b="1" dirty="0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[1], "r")) == NULL)</a:t>
            </a:r>
            <a:endParaRPr lang="en-US" altLang="zh-CN" sz="2000" b="1" dirty="0">
              <a:solidFill>
                <a:schemeClr val="accent2"/>
              </a:solidFill>
              <a:effectLst>
                <a:outerShdw blurRad="38100" dist="38100" dir="2700000" algn="tl">
                  <a:srgbClr val="000000"/>
                </a:outerShdw>
              </a:effectLst>
              <a:ea typeface="楷体_GB2312" pitchFamily="49" charset="-122"/>
            </a:endParaRPr>
          </a:p>
          <a:p>
            <a:pPr marL="457200" indent="-457200">
              <a:tabLst>
                <a:tab pos="914400" algn="l"/>
              </a:tabLst>
            </a:pPr>
            <a:r>
              <a:rPr lang="en-US" altLang="zh-CN" sz="2000" b="1" dirty="0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  {  </a:t>
            </a:r>
          </a:p>
          <a:p>
            <a:pPr marL="457200" indent="-457200">
              <a:tabLst>
                <a:tab pos="914400" algn="l"/>
              </a:tabLst>
            </a:pPr>
            <a:r>
              <a:rPr lang="en-US" altLang="zh-CN" sz="2000" b="1" dirty="0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    </a:t>
            </a:r>
            <a:r>
              <a:rPr lang="en-US" altLang="zh-CN" sz="2000" b="1" dirty="0" err="1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printf</a:t>
            </a:r>
            <a:r>
              <a:rPr lang="en-US" altLang="zh-CN" sz="2000" b="1" dirty="0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 ("can not open source file\n");</a:t>
            </a:r>
          </a:p>
          <a:p>
            <a:pPr marL="457200" indent="-457200">
              <a:tabLst>
                <a:tab pos="914400" algn="l"/>
              </a:tabLst>
            </a:pPr>
            <a:r>
              <a:rPr lang="en-US" altLang="zh-CN" sz="2000" b="1" dirty="0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    exit (0);</a:t>
            </a:r>
          </a:p>
          <a:p>
            <a:pPr marL="457200" indent="-457200">
              <a:tabLst>
                <a:tab pos="914400" algn="l"/>
              </a:tabLst>
            </a:pPr>
            <a:r>
              <a:rPr lang="en-US" altLang="zh-CN" sz="2000" b="1" dirty="0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  }  </a:t>
            </a:r>
          </a:p>
        </p:txBody>
      </p:sp>
      <p:sp>
        <p:nvSpPr>
          <p:cNvPr id="1070085" name="Rectangle 5"/>
          <p:cNvSpPr>
            <a:spLocks noChangeArrowheads="1"/>
          </p:cNvSpPr>
          <p:nvPr/>
        </p:nvSpPr>
        <p:spPr bwMode="auto">
          <a:xfrm>
            <a:off x="319557" y="153988"/>
            <a:ext cx="8424863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>
            <a:spAutoFit/>
          </a:bodyPr>
          <a:lstStyle/>
          <a:p>
            <a:r>
              <a:rPr lang="en-US" altLang="zh-CN" b="1">
                <a:solidFill>
                  <a:srgbClr val="CC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隶书" pitchFamily="49" charset="-122"/>
                <a:ea typeface="隶书" pitchFamily="49" charset="-122"/>
              </a:rPr>
              <a:t>【</a:t>
            </a:r>
            <a:r>
              <a:rPr lang="zh-CN" altLang="en-US" b="1">
                <a:solidFill>
                  <a:srgbClr val="CC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隶书" pitchFamily="49" charset="-122"/>
                <a:ea typeface="隶书" pitchFamily="49" charset="-122"/>
              </a:rPr>
              <a:t>例</a:t>
            </a:r>
            <a:r>
              <a:rPr lang="en-US" altLang="zh-CN" b="1">
                <a:solidFill>
                  <a:srgbClr val="CC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隶书" pitchFamily="49" charset="-122"/>
                <a:ea typeface="隶书" pitchFamily="49" charset="-122"/>
              </a:rPr>
              <a:t>2】</a:t>
            </a:r>
            <a:r>
              <a:rPr lang="zh-CN" altLang="en-US" b="1">
                <a:solidFill>
                  <a:srgbClr val="CC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隶书" pitchFamily="49" charset="-122"/>
                <a:ea typeface="隶书" pitchFamily="49" charset="-122"/>
              </a:rPr>
              <a:t>利用字符读写函数实现文件拷贝。</a:t>
            </a:r>
            <a:r>
              <a:rPr lang="zh-CN" altLang="en-US"/>
              <a:t> </a:t>
            </a:r>
          </a:p>
        </p:txBody>
      </p:sp>
      <p:grpSp>
        <p:nvGrpSpPr>
          <p:cNvPr id="1070098" name="Group 18"/>
          <p:cNvGrpSpPr>
            <a:grpSpLocks/>
          </p:cNvGrpSpPr>
          <p:nvPr/>
        </p:nvGrpSpPr>
        <p:grpSpPr bwMode="auto">
          <a:xfrm>
            <a:off x="-48744" y="0"/>
            <a:ext cx="446088" cy="6858000"/>
            <a:chOff x="0" y="0"/>
            <a:chExt cx="281" cy="4320"/>
          </a:xfrm>
        </p:grpSpPr>
        <p:sp>
          <p:nvSpPr>
            <p:cNvPr id="1070099" name="Text Box 19"/>
            <p:cNvSpPr txBox="1">
              <a:spLocks noChangeArrowheads="1"/>
            </p:cNvSpPr>
            <p:nvPr/>
          </p:nvSpPr>
          <p:spPr bwMode="auto">
            <a:xfrm>
              <a:off x="0" y="0"/>
              <a:ext cx="281" cy="4320"/>
            </a:xfrm>
            <a:prstGeom prst="rect">
              <a:avLst/>
            </a:prstGeom>
            <a:gradFill rotWithShape="0">
              <a:gsLst>
                <a:gs pos="0">
                  <a:schemeClr val="hlink">
                    <a:gamma/>
                    <a:shade val="60784"/>
                    <a:invGamma/>
                  </a:schemeClr>
                </a:gs>
                <a:gs pos="50000">
                  <a:schemeClr val="hlink"/>
                </a:gs>
                <a:gs pos="100000">
                  <a:schemeClr val="hlink">
                    <a:gamma/>
                    <a:shade val="60784"/>
                    <a:invGamma/>
                  </a:schemeClr>
                </a:gs>
              </a:gsLst>
              <a:lin ang="0" scaled="1"/>
            </a:gradFill>
            <a:ln w="9525">
              <a:noFill/>
              <a:miter lim="800000"/>
              <a:headEnd/>
              <a:tailEnd/>
            </a:ln>
            <a:effectLst/>
          </p:spPr>
          <p:txBody>
            <a:bodyPr/>
            <a:lstStyle/>
            <a:p>
              <a:pPr eaLnBrk="0" hangingPunct="0">
                <a:spcBef>
                  <a:spcPct val="50000"/>
                </a:spcBef>
              </a:pPr>
              <a:endParaRPr lang="en-US" altLang="zh-CN" sz="1800" dirty="0">
                <a:solidFill>
                  <a:srgbClr val="3333CC"/>
                </a:solidFill>
                <a:latin typeface="Verdana" pitchFamily="34" charset="0"/>
              </a:endParaRPr>
            </a:p>
            <a:p>
              <a:pPr eaLnBrk="0" hangingPunct="0">
                <a:spcBef>
                  <a:spcPct val="50000"/>
                </a:spcBef>
              </a:pPr>
              <a:r>
                <a:rPr lang="zh-CN" altLang="en-US" sz="1600" b="1" dirty="0">
                  <a:solidFill>
                    <a:srgbClr val="3333CC"/>
                  </a:solidFill>
                  <a:latin typeface="Verdana" pitchFamily="34" charset="0"/>
                </a:rPr>
                <a:t>语言程序设计教程       </a:t>
              </a:r>
            </a:p>
            <a:p>
              <a:pPr eaLnBrk="0" hangingPunct="0">
                <a:spcBef>
                  <a:spcPct val="50000"/>
                </a:spcBef>
              </a:pPr>
              <a:r>
                <a:rPr lang="zh-CN" altLang="en-US" sz="1600" b="1" dirty="0">
                  <a:solidFill>
                    <a:srgbClr val="3333CC"/>
                  </a:solidFill>
                  <a:latin typeface="Verdana" pitchFamily="34" charset="0"/>
                </a:rPr>
                <a:t>第三版</a:t>
              </a:r>
            </a:p>
            <a:p>
              <a:pPr eaLnBrk="0" hangingPunct="0">
                <a:spcBef>
                  <a:spcPct val="50000"/>
                </a:spcBef>
              </a:pPr>
              <a:endParaRPr lang="zh-CN" altLang="en-US" sz="1600" b="1" dirty="0">
                <a:solidFill>
                  <a:srgbClr val="3333CC"/>
                </a:solidFill>
                <a:latin typeface="Verdana" pitchFamily="34" charset="0"/>
              </a:endParaRPr>
            </a:p>
            <a:p>
              <a:pPr eaLnBrk="0" hangingPunct="0">
                <a:spcBef>
                  <a:spcPct val="50000"/>
                </a:spcBef>
              </a:pPr>
              <a:endParaRPr lang="zh-CN" altLang="en-US" sz="1600" b="1" dirty="0">
                <a:solidFill>
                  <a:srgbClr val="3333CC"/>
                </a:solidFill>
                <a:latin typeface="Verdana" pitchFamily="34" charset="0"/>
              </a:endParaRPr>
            </a:p>
            <a:p>
              <a:pPr eaLnBrk="0" hangingPunct="0">
                <a:spcBef>
                  <a:spcPct val="50000"/>
                </a:spcBef>
              </a:pPr>
              <a:r>
                <a:rPr lang="zh-CN" altLang="en-US" sz="1600" b="1" dirty="0">
                  <a:solidFill>
                    <a:srgbClr val="3333CC"/>
                  </a:solidFill>
                  <a:latin typeface="Verdana" pitchFamily="34" charset="0"/>
                </a:rPr>
                <a:t>第十</a:t>
              </a:r>
            </a:p>
            <a:p>
              <a:pPr eaLnBrk="0" hangingPunct="0">
                <a:spcBef>
                  <a:spcPct val="50000"/>
                </a:spcBef>
              </a:pPr>
              <a:r>
                <a:rPr lang="zh-CN" altLang="en-US" sz="1600" b="1" dirty="0">
                  <a:solidFill>
                    <a:srgbClr val="3333CC"/>
                  </a:solidFill>
                  <a:latin typeface="Verdana" pitchFamily="34" charset="0"/>
                </a:rPr>
                <a:t>二章 </a:t>
              </a:r>
            </a:p>
            <a:p>
              <a:pPr eaLnBrk="0" hangingPunct="0">
                <a:spcBef>
                  <a:spcPct val="50000"/>
                </a:spcBef>
              </a:pPr>
              <a:endParaRPr lang="zh-CN" altLang="en-US" sz="1600" b="1" dirty="0">
                <a:solidFill>
                  <a:srgbClr val="3333CC"/>
                </a:solidFill>
                <a:latin typeface="Verdana" pitchFamily="34" charset="0"/>
              </a:endParaRPr>
            </a:p>
            <a:p>
              <a:pPr eaLnBrk="0" hangingPunct="0">
                <a:spcBef>
                  <a:spcPct val="50000"/>
                </a:spcBef>
              </a:pPr>
              <a:r>
                <a:rPr lang="zh-CN" altLang="en-US" sz="1600" b="1" dirty="0">
                  <a:solidFill>
                    <a:srgbClr val="3333CC"/>
                  </a:solidFill>
                  <a:latin typeface="Verdana" pitchFamily="34" charset="0"/>
                </a:rPr>
                <a:t>文</a:t>
              </a:r>
            </a:p>
            <a:p>
              <a:pPr eaLnBrk="0" hangingPunct="0">
                <a:spcBef>
                  <a:spcPct val="50000"/>
                </a:spcBef>
              </a:pPr>
              <a:endParaRPr lang="zh-CN" altLang="en-US" sz="1600" b="1" dirty="0">
                <a:solidFill>
                  <a:srgbClr val="3333CC"/>
                </a:solidFill>
                <a:latin typeface="Verdana" pitchFamily="34" charset="0"/>
              </a:endParaRPr>
            </a:p>
            <a:p>
              <a:pPr eaLnBrk="0" hangingPunct="0">
                <a:spcBef>
                  <a:spcPct val="50000"/>
                </a:spcBef>
              </a:pPr>
              <a:r>
                <a:rPr lang="zh-CN" altLang="en-US" sz="1600" b="1" dirty="0">
                  <a:solidFill>
                    <a:srgbClr val="3333CC"/>
                  </a:solidFill>
                  <a:latin typeface="Verdana" pitchFamily="34" charset="0"/>
                </a:rPr>
                <a:t>件</a:t>
              </a:r>
            </a:p>
          </p:txBody>
        </p:sp>
        <p:sp>
          <p:nvSpPr>
            <p:cNvPr id="1070100" name="Text Box 20"/>
            <p:cNvSpPr txBox="1">
              <a:spLocks noChangeArrowheads="1"/>
            </p:cNvSpPr>
            <p:nvPr/>
          </p:nvSpPr>
          <p:spPr bwMode="auto">
            <a:xfrm>
              <a:off x="0" y="0"/>
              <a:ext cx="281" cy="231"/>
            </a:xfrm>
            <a:prstGeom prst="rect">
              <a:avLst/>
            </a:prstGeom>
            <a:gradFill rotWithShape="0">
              <a:gsLst>
                <a:gs pos="0">
                  <a:schemeClr val="hlink">
                    <a:gamma/>
                    <a:shade val="46275"/>
                    <a:invGamma/>
                  </a:schemeClr>
                </a:gs>
                <a:gs pos="50000">
                  <a:schemeClr val="hlink"/>
                </a:gs>
                <a:gs pos="100000">
                  <a:schemeClr val="hlink">
                    <a:gamma/>
                    <a:shade val="46275"/>
                    <a:invGamma/>
                  </a:schemeClr>
                </a:gs>
              </a:gsLst>
              <a:lin ang="0" scaled="1"/>
            </a:gradFill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eaLnBrk="0" hangingPunct="0">
                <a:spcBef>
                  <a:spcPct val="50000"/>
                </a:spcBef>
              </a:pPr>
              <a:r>
                <a:rPr lang="en-US" altLang="zh-CN" sz="1800" b="1">
                  <a:solidFill>
                    <a:srgbClr val="0000FF"/>
                  </a:solidFill>
                  <a:latin typeface="Arial" pitchFamily="34" charset="0"/>
                </a:rPr>
                <a:t>C</a:t>
              </a:r>
            </a:p>
          </p:txBody>
        </p:sp>
      </p:grpSp>
      <p:sp>
        <p:nvSpPr>
          <p:cNvPr id="1070089" name="Rectangle 9" descr="信纸"/>
          <p:cNvSpPr>
            <a:spLocks noChangeArrowheads="1"/>
          </p:cNvSpPr>
          <p:nvPr/>
        </p:nvSpPr>
        <p:spPr bwMode="auto">
          <a:xfrm>
            <a:off x="6815375" y="120810"/>
            <a:ext cx="5147563" cy="4431983"/>
          </a:xfrm>
          <a:prstGeom prst="rect">
            <a:avLst/>
          </a:prstGeom>
          <a:blipFill dpi="0" rotWithShape="1">
            <a:blip r:embed="rId4" cstate="print"/>
            <a:srcRect/>
            <a:tile tx="0" ty="0" sx="100000" sy="100000" flip="none" algn="tl"/>
          </a:blipFill>
          <a:ln w="38100">
            <a:solidFill>
              <a:srgbClr val="008000"/>
            </a:solidFill>
            <a:miter lim="800000"/>
            <a:headEnd/>
            <a:tailEnd/>
          </a:ln>
          <a:effectLst>
            <a:outerShdw blurRad="50800" dist="106680" dir="2700000" algn="tl" rotWithShape="0">
              <a:prstClr val="black">
                <a:alpha val="43000"/>
              </a:prstClr>
            </a:outerShdw>
          </a:effectLst>
          <a:scene3d>
            <a:camera prst="orthographicFront"/>
            <a:lightRig rig="threePt" dir="t"/>
          </a:scene3d>
          <a:sp3d>
            <a:bevelT w="114300" prst="hardEdge"/>
          </a:sp3d>
        </p:spPr>
        <p:txBody>
          <a:bodyPr wrap="none" anchor="ctr">
            <a:spAutoFit/>
          </a:bodyPr>
          <a:lstStyle/>
          <a:p>
            <a:pPr marL="457200" indent="-457200">
              <a:tabLst>
                <a:tab pos="914400" algn="l"/>
              </a:tabLst>
            </a:pPr>
            <a:r>
              <a:rPr lang="en-US" altLang="zh-CN" sz="2000" b="1" dirty="0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  </a:t>
            </a:r>
            <a:r>
              <a:rPr lang="en-US" altLang="zh-CN" sz="1800" b="1" dirty="0">
                <a:solidFill>
                  <a:schemeClr val="accent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楷体" pitchFamily="49" charset="-122"/>
              </a:rPr>
              <a:t>//</a:t>
            </a:r>
            <a:r>
              <a:rPr lang="zh-CN" altLang="en-US" sz="1800" b="1" dirty="0">
                <a:solidFill>
                  <a:schemeClr val="accent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楷体" pitchFamily="49" charset="-122"/>
              </a:rPr>
              <a:t>创建目标文件失败</a:t>
            </a:r>
          </a:p>
          <a:p>
            <a:pPr marL="457200" indent="-457200">
              <a:tabLst>
                <a:tab pos="914400" algn="l"/>
              </a:tabLst>
            </a:pPr>
            <a:r>
              <a:rPr lang="zh-CN" altLang="en-US" dirty="0"/>
              <a:t>  </a:t>
            </a:r>
            <a:r>
              <a:rPr lang="en-US" altLang="zh-CN" sz="2000" b="1" dirty="0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if ((output = </a:t>
            </a:r>
            <a:r>
              <a:rPr lang="en-US" altLang="zh-CN" sz="2000" b="1" dirty="0" err="1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fopen</a:t>
            </a:r>
            <a:r>
              <a:rPr lang="en-US" altLang="zh-CN" sz="2000" b="1" dirty="0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(</a:t>
            </a:r>
            <a:r>
              <a:rPr lang="en-US" altLang="zh-CN" sz="2000" b="1" dirty="0" err="1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argv</a:t>
            </a:r>
            <a:r>
              <a:rPr lang="en-US" altLang="zh-CN" sz="2000" b="1" dirty="0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[2],"w")) == NULL)</a:t>
            </a:r>
          </a:p>
          <a:p>
            <a:pPr marL="457200" indent="-457200">
              <a:tabLst>
                <a:tab pos="914400" algn="l"/>
              </a:tabLst>
            </a:pPr>
            <a:r>
              <a:rPr lang="en-US" altLang="zh-CN" sz="2000" b="1" dirty="0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  {  </a:t>
            </a:r>
          </a:p>
          <a:p>
            <a:pPr marL="457200" indent="-457200">
              <a:tabLst>
                <a:tab pos="914400" algn="l"/>
              </a:tabLst>
            </a:pPr>
            <a:r>
              <a:rPr lang="en-US" altLang="zh-CN" sz="2000" b="1" dirty="0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    </a:t>
            </a:r>
            <a:r>
              <a:rPr lang="en-US" altLang="zh-CN" sz="2000" b="1" dirty="0" err="1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printf</a:t>
            </a:r>
            <a:r>
              <a:rPr lang="en-US" altLang="zh-CN" sz="2000" b="1" dirty="0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 ("can not create destination file\n");</a:t>
            </a:r>
          </a:p>
          <a:p>
            <a:pPr marL="457200" indent="-457200">
              <a:tabLst>
                <a:tab pos="914400" algn="l"/>
              </a:tabLst>
            </a:pPr>
            <a:r>
              <a:rPr lang="en-US" altLang="zh-CN" sz="2000" b="1" dirty="0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    exit (0);</a:t>
            </a:r>
          </a:p>
          <a:p>
            <a:pPr marL="457200" indent="-457200">
              <a:tabLst>
                <a:tab pos="914400" algn="l"/>
              </a:tabLst>
            </a:pPr>
            <a:r>
              <a:rPr lang="en-US" altLang="zh-CN" sz="2000" b="1" dirty="0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  }</a:t>
            </a:r>
          </a:p>
          <a:p>
            <a:pPr marL="457200" indent="-457200">
              <a:tabLst>
                <a:tab pos="914400" algn="l"/>
              </a:tabLst>
            </a:pPr>
            <a:endParaRPr lang="en-US" altLang="zh-CN" sz="2000" b="1" dirty="0">
              <a:effectLst>
                <a:outerShdw blurRad="38100" dist="38100" dir="2700000" algn="tl">
                  <a:srgbClr val="FFFFFF"/>
                </a:outerShdw>
              </a:effectLst>
              <a:ea typeface="楷体_GB2312" pitchFamily="49" charset="-122"/>
            </a:endParaRPr>
          </a:p>
          <a:p>
            <a:pPr marL="457200" indent="-457200">
              <a:tabLst>
                <a:tab pos="914400" algn="l"/>
              </a:tabLst>
            </a:pPr>
            <a:r>
              <a:rPr lang="en-US" altLang="zh-CN" sz="1800" b="1" dirty="0">
                <a:solidFill>
                  <a:schemeClr val="accent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楷体" pitchFamily="49" charset="-122"/>
              </a:rPr>
              <a:t>  //</a:t>
            </a:r>
            <a:r>
              <a:rPr lang="zh-CN" altLang="en-US" sz="1800" b="1" dirty="0">
                <a:solidFill>
                  <a:schemeClr val="accent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楷体" pitchFamily="49" charset="-122"/>
              </a:rPr>
              <a:t>复制源文件到目标文件中</a:t>
            </a:r>
          </a:p>
          <a:p>
            <a:pPr marL="457200" indent="-457200">
              <a:tabLst>
                <a:tab pos="914400" algn="l"/>
              </a:tabLst>
            </a:pPr>
            <a:r>
              <a:rPr lang="zh-CN" altLang="en-US" sz="2000" b="1" dirty="0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  </a:t>
            </a:r>
            <a:r>
              <a:rPr lang="en-US" altLang="zh-CN" sz="2000" b="1" dirty="0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for ( ; ( </a:t>
            </a:r>
            <a:r>
              <a:rPr lang="en-US" altLang="zh-CN" sz="2000" b="1" dirty="0">
                <a:solidFill>
                  <a:srgbClr val="FF33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楷体_GB2312" pitchFamily="49" charset="-122"/>
              </a:rPr>
              <a:t>!</a:t>
            </a:r>
            <a:r>
              <a:rPr lang="en-US" altLang="zh-CN" sz="2000" b="1" dirty="0" err="1">
                <a:solidFill>
                  <a:srgbClr val="FF33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楷体_GB2312" pitchFamily="49" charset="-122"/>
              </a:rPr>
              <a:t>feof</a:t>
            </a:r>
            <a:r>
              <a:rPr lang="en-US" altLang="zh-CN" sz="2000" b="1" dirty="0">
                <a:solidFill>
                  <a:srgbClr val="FF33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楷体_GB2312" pitchFamily="49" charset="-122"/>
              </a:rPr>
              <a:t>(input)</a:t>
            </a:r>
            <a:r>
              <a:rPr lang="en-US" altLang="zh-CN" sz="2000" b="1" dirty="0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 ) ; ) </a:t>
            </a:r>
          </a:p>
          <a:p>
            <a:pPr marL="457200" indent="-457200">
              <a:tabLst>
                <a:tab pos="914400" algn="l"/>
              </a:tabLst>
            </a:pPr>
            <a:r>
              <a:rPr lang="en-US" altLang="zh-CN" sz="2000" b="1" dirty="0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      </a:t>
            </a:r>
            <a:r>
              <a:rPr lang="en-US" altLang="zh-CN" sz="2000" b="1" dirty="0" err="1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fputc</a:t>
            </a:r>
            <a:r>
              <a:rPr lang="en-US" altLang="zh-CN" sz="2000" b="1" dirty="0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 (</a:t>
            </a:r>
            <a:r>
              <a:rPr lang="en-US" altLang="zh-CN" sz="2000" b="1" dirty="0" err="1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fgetc</a:t>
            </a:r>
            <a:r>
              <a:rPr lang="en-US" altLang="zh-CN" sz="2000" b="1" dirty="0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(input), output); </a:t>
            </a:r>
          </a:p>
          <a:p>
            <a:pPr marL="457200" indent="-457200">
              <a:tabLst>
                <a:tab pos="914400" algn="l"/>
              </a:tabLst>
            </a:pPr>
            <a:r>
              <a:rPr lang="en-US" altLang="zh-CN" sz="2000" b="1" dirty="0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  </a:t>
            </a:r>
            <a:r>
              <a:rPr lang="en-US" altLang="zh-CN" sz="2000" b="1" dirty="0" err="1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fclose</a:t>
            </a:r>
            <a:r>
              <a:rPr lang="en-US" altLang="zh-CN" sz="2000" b="1" dirty="0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 (input);       </a:t>
            </a:r>
            <a:r>
              <a:rPr lang="en-US" altLang="zh-CN" sz="1800" b="1" dirty="0">
                <a:solidFill>
                  <a:schemeClr val="accent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楷体" pitchFamily="49" charset="-122"/>
              </a:rPr>
              <a:t>//</a:t>
            </a:r>
            <a:r>
              <a:rPr lang="zh-CN" altLang="en-US" sz="1800" b="1" dirty="0">
                <a:solidFill>
                  <a:schemeClr val="accent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楷体" pitchFamily="49" charset="-122"/>
              </a:rPr>
              <a:t>关闭源文件</a:t>
            </a:r>
          </a:p>
          <a:p>
            <a:pPr marL="457200" indent="-457200">
              <a:tabLst>
                <a:tab pos="914400" algn="l"/>
              </a:tabLst>
            </a:pPr>
            <a:r>
              <a:rPr lang="zh-CN" altLang="en-US" sz="2000" b="1" dirty="0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  </a:t>
            </a:r>
            <a:r>
              <a:rPr lang="en-US" altLang="zh-CN" sz="2000" b="1" dirty="0" err="1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fclose</a:t>
            </a:r>
            <a:r>
              <a:rPr lang="en-US" altLang="zh-CN" sz="2000" b="1" dirty="0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 (output);     </a:t>
            </a:r>
            <a:r>
              <a:rPr lang="en-US" altLang="zh-CN" sz="1800" b="1" dirty="0">
                <a:solidFill>
                  <a:schemeClr val="accent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楷体" pitchFamily="49" charset="-122"/>
              </a:rPr>
              <a:t>//</a:t>
            </a:r>
            <a:r>
              <a:rPr lang="zh-CN" altLang="en-US" sz="1800" b="1" dirty="0">
                <a:solidFill>
                  <a:schemeClr val="accent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楷体" pitchFamily="49" charset="-122"/>
              </a:rPr>
              <a:t>关闭目标文件</a:t>
            </a:r>
          </a:p>
          <a:p>
            <a:pPr marL="457200" indent="-457200">
              <a:tabLst>
                <a:tab pos="914400" algn="l"/>
              </a:tabLst>
            </a:pPr>
            <a:r>
              <a:rPr lang="en-US" altLang="zh-CN" sz="2000" b="1" dirty="0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  return 0;</a:t>
            </a:r>
          </a:p>
          <a:p>
            <a:pPr marL="457200" indent="-457200">
              <a:tabLst>
                <a:tab pos="914400" algn="l"/>
              </a:tabLst>
            </a:pPr>
            <a:r>
              <a:rPr lang="en-US" altLang="zh-CN" sz="2000" b="1" dirty="0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}</a:t>
            </a:r>
          </a:p>
        </p:txBody>
      </p:sp>
      <p:grpSp>
        <p:nvGrpSpPr>
          <p:cNvPr id="1070097" name="Group 17"/>
          <p:cNvGrpSpPr>
            <a:grpSpLocks/>
          </p:cNvGrpSpPr>
          <p:nvPr/>
        </p:nvGrpSpPr>
        <p:grpSpPr bwMode="auto">
          <a:xfrm>
            <a:off x="3862624" y="2959220"/>
            <a:ext cx="7885112" cy="3602037"/>
            <a:chOff x="521" y="1933"/>
            <a:chExt cx="4967" cy="2269"/>
          </a:xfrm>
        </p:grpSpPr>
        <p:grpSp>
          <p:nvGrpSpPr>
            <p:cNvPr id="1070090" name="Group 10"/>
            <p:cNvGrpSpPr>
              <a:grpSpLocks/>
            </p:cNvGrpSpPr>
            <p:nvPr/>
          </p:nvGrpSpPr>
          <p:grpSpPr bwMode="auto">
            <a:xfrm>
              <a:off x="521" y="2659"/>
              <a:ext cx="4967" cy="1543"/>
              <a:chOff x="793" y="2205"/>
              <a:chExt cx="4967" cy="1543"/>
            </a:xfrm>
          </p:grpSpPr>
          <p:sp>
            <p:nvSpPr>
              <p:cNvPr id="1070091" name="Rectangle 11"/>
              <p:cNvSpPr>
                <a:spLocks noChangeArrowheads="1"/>
              </p:cNvSpPr>
              <p:nvPr/>
            </p:nvSpPr>
            <p:spPr bwMode="auto">
              <a:xfrm>
                <a:off x="793" y="2205"/>
                <a:ext cx="4967" cy="1543"/>
              </a:xfrm>
              <a:prstGeom prst="rect">
                <a:avLst/>
              </a:prstGeom>
              <a:gradFill rotWithShape="1">
                <a:gsLst>
                  <a:gs pos="0">
                    <a:srgbClr val="00FFFF"/>
                  </a:gs>
                  <a:gs pos="100000">
                    <a:schemeClr val="bg1"/>
                  </a:gs>
                </a:gsLst>
                <a:lin ang="5400000" scaled="1"/>
              </a:gradFill>
              <a:ln w="38100">
                <a:solidFill>
                  <a:srgbClr val="FF00FF"/>
                </a:solidFill>
                <a:miter lim="800000"/>
                <a:headEnd/>
                <a:tailEnd/>
              </a:ln>
              <a:effectLst>
                <a:outerShdw blurRad="50800" dist="106680" dir="2700000" algn="tl" rotWithShape="0">
                  <a:prstClr val="black">
                    <a:alpha val="43000"/>
                  </a:prstClr>
                </a:outerShdw>
              </a:effectLst>
              <a:scene3d>
                <a:camera prst="orthographicFront"/>
                <a:lightRig rig="threePt" dir="t"/>
              </a:scene3d>
              <a:sp3d>
                <a:bevelT w="114300" prst="hardEdge"/>
              </a:sp3d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070092" name="Rectangle 12"/>
              <p:cNvSpPr>
                <a:spLocks noChangeArrowheads="1"/>
              </p:cNvSpPr>
              <p:nvPr/>
            </p:nvSpPr>
            <p:spPr bwMode="auto">
              <a:xfrm>
                <a:off x="903" y="2226"/>
                <a:ext cx="880" cy="28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anchor="ctr">
                <a:spAutoFit/>
              </a:bodyPr>
              <a:lstStyle/>
              <a:p>
                <a:pPr>
                  <a:buFont typeface="Wingdings" pitchFamily="2" charset="2"/>
                  <a:buChar char="Ø"/>
                  <a:tabLst>
                    <a:tab pos="496888" algn="l"/>
                  </a:tabLst>
                </a:pPr>
                <a:r>
                  <a:rPr lang="en-US" altLang="zh-CN" b="1">
                    <a:solidFill>
                      <a:srgbClr val="FF3300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ea typeface="楷体_GB2312" pitchFamily="49" charset="-122"/>
                  </a:rPr>
                  <a:t> feof</a:t>
                </a:r>
              </a:p>
            </p:txBody>
          </p:sp>
          <p:sp>
            <p:nvSpPr>
              <p:cNvPr id="1070093" name="Rectangle 13"/>
              <p:cNvSpPr>
                <a:spLocks noChangeArrowheads="1"/>
              </p:cNvSpPr>
              <p:nvPr/>
            </p:nvSpPr>
            <p:spPr bwMode="auto">
              <a:xfrm>
                <a:off x="1111" y="2524"/>
                <a:ext cx="1361" cy="28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>
                <a:spAutoFit/>
              </a:bodyPr>
              <a:lstStyle/>
              <a:p>
                <a:pPr>
                  <a:buClr>
                    <a:srgbClr val="339933"/>
                  </a:buClr>
                  <a:buFont typeface="Wingdings" pitchFamily="2" charset="2"/>
                  <a:buChar char="l"/>
                </a:pPr>
                <a:r>
                  <a:rPr lang="en-US" altLang="zh-CN" b="1" dirty="0">
                    <a:effectLst>
                      <a:outerShdw blurRad="38100" dist="38100" dir="2700000" algn="tl">
                        <a:srgbClr val="FFFFFF"/>
                      </a:outerShdw>
                    </a:effectLst>
                    <a:latin typeface="隶书" pitchFamily="49" charset="-122"/>
                    <a:ea typeface="隶书" pitchFamily="49" charset="-122"/>
                  </a:rPr>
                  <a:t> </a:t>
                </a:r>
                <a:r>
                  <a:rPr lang="zh-CN" altLang="zh-CN" b="1" dirty="0">
                    <a:effectLst>
                      <a:outerShdw blurRad="38100" dist="38100" dir="2700000" algn="tl">
                        <a:srgbClr val="FFFFFF"/>
                      </a:outerShdw>
                    </a:effectLst>
                    <a:latin typeface="隶书" pitchFamily="49" charset="-122"/>
                    <a:ea typeface="隶书" pitchFamily="49" charset="-122"/>
                  </a:rPr>
                  <a:t>函数原形：         </a:t>
                </a:r>
                <a:endParaRPr lang="zh-CN" altLang="en-US" b="1" dirty="0">
                  <a:solidFill>
                    <a:srgbClr val="D60093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隶书" pitchFamily="49" charset="-122"/>
                  <a:ea typeface="隶书" pitchFamily="49" charset="-122"/>
                </a:endParaRPr>
              </a:p>
            </p:txBody>
          </p:sp>
          <p:sp>
            <p:nvSpPr>
              <p:cNvPr id="1070094" name="Text Box 14"/>
              <p:cNvSpPr txBox="1">
                <a:spLocks noChangeArrowheads="1"/>
              </p:cNvSpPr>
              <p:nvPr/>
            </p:nvSpPr>
            <p:spPr bwMode="auto">
              <a:xfrm>
                <a:off x="1383" y="2841"/>
                <a:ext cx="3175" cy="272"/>
              </a:xfrm>
              <a:prstGeom prst="rect">
                <a:avLst/>
              </a:prstGeom>
              <a:gradFill rotWithShape="1">
                <a:gsLst>
                  <a:gs pos="0">
                    <a:srgbClr val="FFFF99"/>
                  </a:gs>
                  <a:gs pos="100000">
                    <a:srgbClr val="FFFF99">
                      <a:gamma/>
                      <a:shade val="75686"/>
                      <a:invGamma/>
                    </a:srgbClr>
                  </a:gs>
                </a:gsLst>
                <a:lin ang="5400000" scaled="1"/>
              </a:gradFill>
              <a:ln w="38100">
                <a:solidFill>
                  <a:srgbClr val="0000FF"/>
                </a:solidFill>
                <a:miter lim="800000"/>
                <a:headEnd/>
                <a:tailEnd/>
              </a:ln>
              <a:effectLst>
                <a:outerShdw blurRad="50800" dist="106680" dir="2700000" algn="tl" rotWithShape="0">
                  <a:prstClr val="black">
                    <a:alpha val="43000"/>
                  </a:prstClr>
                </a:outerShdw>
              </a:effectLst>
              <a:scene3d>
                <a:camera prst="orthographicFront"/>
                <a:lightRig rig="threePt" dir="t"/>
              </a:scene3d>
              <a:sp3d>
                <a:bevelT w="114300" prst="hardEdge"/>
              </a:sp3d>
            </p:spPr>
            <p:txBody>
              <a:bodyPr/>
              <a:lstStyle/>
              <a:p>
                <a:pPr algn="ctr"/>
                <a:r>
                  <a:rPr lang="en-US" altLang="zh-CN" sz="2000" b="1">
                    <a:effectLst>
                      <a:outerShdw blurRad="38100" dist="38100" dir="2700000" algn="tl">
                        <a:srgbClr val="FFFFFF"/>
                      </a:outerShdw>
                    </a:effectLst>
                  </a:rPr>
                  <a:t>int  feof ( FILE *filepointer );</a:t>
                </a:r>
              </a:p>
            </p:txBody>
          </p:sp>
          <p:sp>
            <p:nvSpPr>
              <p:cNvPr id="1070095" name="Rectangle 15"/>
              <p:cNvSpPr>
                <a:spLocks noChangeArrowheads="1"/>
              </p:cNvSpPr>
              <p:nvPr/>
            </p:nvSpPr>
            <p:spPr bwMode="auto">
              <a:xfrm>
                <a:off x="1123" y="3204"/>
                <a:ext cx="4637" cy="523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>
                <a:spAutoFit/>
              </a:bodyPr>
              <a:lstStyle/>
              <a:p>
                <a:pPr>
                  <a:buClr>
                    <a:srgbClr val="339933"/>
                  </a:buClr>
                  <a:buFont typeface="Wingdings" pitchFamily="2" charset="2"/>
                  <a:buChar char="l"/>
                </a:pPr>
                <a:r>
                  <a:rPr lang="en-US" altLang="zh-CN" b="1">
                    <a:effectLst>
                      <a:outerShdw blurRad="38100" dist="38100" dir="2700000" algn="tl">
                        <a:srgbClr val="FFFFFF"/>
                      </a:outerShdw>
                    </a:effectLst>
                    <a:latin typeface="隶书" pitchFamily="49" charset="-122"/>
                    <a:ea typeface="隶书" pitchFamily="49" charset="-122"/>
                  </a:rPr>
                  <a:t> </a:t>
                </a:r>
                <a:r>
                  <a:rPr lang="zh-CN" altLang="en-US" b="1">
                    <a:effectLst>
                      <a:outerShdw blurRad="38100" dist="38100" dir="2700000" algn="tl">
                        <a:srgbClr val="FFFFFF"/>
                      </a:outerShdw>
                    </a:effectLst>
                    <a:latin typeface="隶书" pitchFamily="49" charset="-122"/>
                    <a:ea typeface="隶书" pitchFamily="49" charset="-122"/>
                  </a:rPr>
                  <a:t>功能：判断文件是否结束</a:t>
                </a:r>
              </a:p>
              <a:p>
                <a:pPr>
                  <a:buClr>
                    <a:srgbClr val="339933"/>
                  </a:buClr>
                  <a:buFont typeface="Wingdings" pitchFamily="2" charset="2"/>
                  <a:buChar char="l"/>
                </a:pPr>
                <a:r>
                  <a:rPr lang="zh-CN" altLang="en-US" b="1">
                    <a:effectLst>
                      <a:outerShdw blurRad="38100" dist="38100" dir="2700000" algn="tl">
                        <a:srgbClr val="FFFFFF"/>
                      </a:outerShdw>
                    </a:effectLst>
                    <a:latin typeface="隶书" pitchFamily="49" charset="-122"/>
                    <a:ea typeface="隶书" pitchFamily="49" charset="-122"/>
                  </a:rPr>
                  <a:t> 返值：</a:t>
                </a:r>
                <a:r>
                  <a:rPr lang="zh-CN" altLang="zh-CN" b="1">
                    <a:effectLst>
                      <a:outerShdw blurRad="38100" dist="38100" dir="2700000" algn="tl">
                        <a:srgbClr val="FFFFFF"/>
                      </a:outerShdw>
                    </a:effectLst>
                    <a:latin typeface="隶书" pitchFamily="49" charset="-122"/>
                    <a:ea typeface="隶书" pitchFamily="49" charset="-122"/>
                  </a:rPr>
                  <a:t>文件结束，返回真（非0）；未结束，返回0</a:t>
                </a:r>
                <a:endParaRPr lang="en-US" altLang="zh-CN" b="1">
                  <a:effectLst>
                    <a:outerShdw blurRad="38100" dist="38100" dir="2700000" algn="tl">
                      <a:srgbClr val="FFFFFF"/>
                    </a:outerShdw>
                  </a:effectLst>
                  <a:latin typeface="隶书" pitchFamily="49" charset="-122"/>
                  <a:ea typeface="隶书" pitchFamily="49" charset="-122"/>
                </a:endParaRPr>
              </a:p>
            </p:txBody>
          </p:sp>
        </p:grpSp>
        <p:sp>
          <p:nvSpPr>
            <p:cNvPr id="1070096" name="Line 16"/>
            <p:cNvSpPr>
              <a:spLocks noChangeShapeType="1"/>
            </p:cNvSpPr>
            <p:nvPr/>
          </p:nvSpPr>
          <p:spPr bwMode="auto">
            <a:xfrm flipH="1">
              <a:off x="1973" y="1933"/>
              <a:ext cx="1270" cy="726"/>
            </a:xfrm>
            <a:prstGeom prst="line">
              <a:avLst/>
            </a:prstGeom>
            <a:noFill/>
            <a:ln w="38100">
              <a:solidFill>
                <a:srgbClr val="FF00FF"/>
              </a:solidFill>
              <a:round/>
              <a:headEnd/>
              <a:tailEnd/>
            </a:ln>
            <a:effectLst>
              <a:outerShdw dist="35921" dir="2700000" algn="ctr" rotWithShape="0">
                <a:schemeClr val="bg2"/>
              </a:outerShdw>
            </a:effectLst>
          </p:spPr>
          <p:txBody>
            <a:bodyPr/>
            <a:lstStyle/>
            <a:p>
              <a:endParaRPr lang="zh-CN" altLang="en-US"/>
            </a:p>
          </p:txBody>
        </p:sp>
      </p:grpSp>
    </p:spTree>
  </p:cSld>
  <p:clrMapOvr>
    <a:masterClrMapping/>
  </p:clrMapOvr>
  <p:transition>
    <p:cover/>
    <p:sndAc>
      <p:stSnd>
        <p:snd r:embed="rId3" name="CAMER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00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7" dur="500"/>
                                        <p:tgtEl>
                                          <p:spTgt spid="1070086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00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2" dur="500"/>
                                        <p:tgtEl>
                                          <p:spTgt spid="1070089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8" presetClass="entr" presetSubtype="1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00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17" dur="500"/>
                                        <p:tgtEl>
                                          <p:spTgt spid="1070097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70086" grpId="0" animBg="1"/>
      <p:bldP spid="1070089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2144" name="Rectangle 16"/>
          <p:cNvSpPr>
            <a:spLocks noChangeArrowheads="1"/>
          </p:cNvSpPr>
          <p:nvPr/>
        </p:nvSpPr>
        <p:spPr bwMode="auto">
          <a:xfrm>
            <a:off x="818854" y="119063"/>
            <a:ext cx="2943225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r>
              <a:rPr lang="zh-CN" altLang="en-US" b="1" u="sng">
                <a:solidFill>
                  <a:srgbClr val="FF33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隶书" pitchFamily="49" charset="-122"/>
                <a:ea typeface="隶书" pitchFamily="49" charset="-122"/>
              </a:rPr>
              <a:t>文件读写位置指针</a:t>
            </a:r>
            <a:r>
              <a:rPr lang="en-US" altLang="zh-CN" b="1" u="sng">
                <a:solidFill>
                  <a:srgbClr val="FF33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隶书" pitchFamily="49" charset="-122"/>
                <a:ea typeface="隶书" pitchFamily="49" charset="-122"/>
              </a:rPr>
              <a:t>:</a:t>
            </a:r>
            <a:r>
              <a:rPr lang="en-US" altLang="zh-CN" b="1">
                <a:solidFill>
                  <a:srgbClr val="FF33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隶书" pitchFamily="49" charset="-122"/>
                <a:ea typeface="隶书" pitchFamily="49" charset="-122"/>
              </a:rPr>
              <a:t> </a:t>
            </a:r>
          </a:p>
        </p:txBody>
      </p:sp>
      <p:sp>
        <p:nvSpPr>
          <p:cNvPr id="1072145" name="Rectangle 17"/>
          <p:cNvSpPr>
            <a:spLocks noChangeArrowheads="1"/>
          </p:cNvSpPr>
          <p:nvPr/>
        </p:nvSpPr>
        <p:spPr bwMode="auto">
          <a:xfrm>
            <a:off x="910357" y="716503"/>
            <a:ext cx="10730259" cy="1200329"/>
          </a:xfrm>
          <a:prstGeom prst="rect">
            <a:avLst/>
          </a:prstGeom>
          <a:ln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anchor="ctr">
            <a:spAutoFit/>
          </a:bodyPr>
          <a:lstStyle/>
          <a:p>
            <a:r>
              <a:rPr lang="en-US" altLang="zh-CN" dirty="0">
                <a:ea typeface="楷体" pitchFamily="49" charset="-122"/>
              </a:rPr>
              <a:t>        </a:t>
            </a:r>
            <a:r>
              <a:rPr lang="zh-CN" altLang="en-US" b="1" dirty="0">
                <a:effectLst>
                  <a:outerShdw blurRad="38100" dist="38100" dir="2700000" algn="tl">
                    <a:srgbClr val="FFFFFF"/>
                  </a:outerShdw>
                </a:effectLst>
                <a:ea typeface="楷体" pitchFamily="49" charset="-122"/>
              </a:rPr>
              <a:t>在文件内部有一个位置指针。</a:t>
            </a:r>
            <a:r>
              <a:rPr lang="zh-CN" altLang="en-US" b="1" dirty="0">
                <a:solidFill>
                  <a:schemeClr val="accent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楷体" pitchFamily="49" charset="-122"/>
              </a:rPr>
              <a:t>用来指向文件的当前读写字节</a:t>
            </a:r>
            <a:r>
              <a:rPr lang="zh-CN" altLang="en-US" b="1" dirty="0">
                <a:effectLst>
                  <a:outerShdw blurRad="38100" dist="38100" dir="2700000" algn="tl">
                    <a:srgbClr val="FFFFFF"/>
                  </a:outerShdw>
                </a:effectLst>
                <a:ea typeface="楷体" pitchFamily="49" charset="-122"/>
              </a:rPr>
              <a:t>。在文件打开时，该指针总是指向文件的第一个字节。使用</a:t>
            </a:r>
            <a:r>
              <a:rPr lang="en-US" altLang="zh-CN" b="1" dirty="0" err="1">
                <a:effectLst>
                  <a:outerShdw blurRad="38100" dist="38100" dir="2700000" algn="tl">
                    <a:srgbClr val="FFFFFF"/>
                  </a:outerShdw>
                </a:effectLst>
                <a:ea typeface="楷体" pitchFamily="49" charset="-122"/>
              </a:rPr>
              <a:t>fgetc</a:t>
            </a:r>
            <a:r>
              <a:rPr lang="en-US" altLang="zh-CN" b="1" dirty="0">
                <a:effectLst>
                  <a:outerShdw blurRad="38100" dist="38100" dir="2700000" algn="tl">
                    <a:srgbClr val="FFFFFF"/>
                  </a:outerShdw>
                </a:effectLst>
                <a:ea typeface="楷体" pitchFamily="49" charset="-122"/>
              </a:rPr>
              <a:t> </a:t>
            </a:r>
            <a:r>
              <a:rPr lang="zh-CN" altLang="en-US" b="1" dirty="0">
                <a:effectLst>
                  <a:outerShdw blurRad="38100" dist="38100" dir="2700000" algn="tl">
                    <a:srgbClr val="FFFFFF"/>
                  </a:outerShdw>
                </a:effectLst>
                <a:ea typeface="楷体" pitchFamily="49" charset="-122"/>
              </a:rPr>
              <a:t>函数后， 该位置指针将向后移动一个字节。 因此可连续多次使用</a:t>
            </a:r>
            <a:r>
              <a:rPr lang="en-US" altLang="zh-CN" b="1" dirty="0" err="1">
                <a:effectLst>
                  <a:outerShdw blurRad="38100" dist="38100" dir="2700000" algn="tl">
                    <a:srgbClr val="FFFFFF"/>
                  </a:outerShdw>
                </a:effectLst>
                <a:ea typeface="楷体" pitchFamily="49" charset="-122"/>
              </a:rPr>
              <a:t>fgetc</a:t>
            </a:r>
            <a:r>
              <a:rPr lang="zh-CN" altLang="en-US" b="1" dirty="0">
                <a:effectLst>
                  <a:outerShdw blurRad="38100" dist="38100" dir="2700000" algn="tl">
                    <a:srgbClr val="FFFFFF"/>
                  </a:outerShdw>
                </a:effectLst>
                <a:ea typeface="楷体" pitchFamily="49" charset="-122"/>
              </a:rPr>
              <a:t>函数，读取多个字符。</a:t>
            </a:r>
            <a:r>
              <a:rPr lang="zh-CN" altLang="en-US" dirty="0">
                <a:ea typeface="楷体" pitchFamily="49" charset="-122"/>
              </a:rPr>
              <a:t> </a:t>
            </a:r>
          </a:p>
        </p:txBody>
      </p:sp>
      <p:sp>
        <p:nvSpPr>
          <p:cNvPr id="1072146" name="Rectangle 18"/>
          <p:cNvSpPr>
            <a:spLocks noChangeArrowheads="1"/>
          </p:cNvSpPr>
          <p:nvPr/>
        </p:nvSpPr>
        <p:spPr bwMode="auto">
          <a:xfrm>
            <a:off x="802978" y="2278063"/>
            <a:ext cx="5545138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>
            <a:spAutoFit/>
          </a:bodyPr>
          <a:lstStyle/>
          <a:p>
            <a:r>
              <a:rPr lang="zh-CN" altLang="en-US" b="1" u="sng">
                <a:solidFill>
                  <a:srgbClr val="FF33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隶书" pitchFamily="49" charset="-122"/>
                <a:ea typeface="隶书" pitchFamily="49" charset="-122"/>
              </a:rPr>
              <a:t>文件读写位置指针与文件指针的区别：</a:t>
            </a:r>
            <a:r>
              <a:rPr lang="zh-CN" altLang="en-US" b="1">
                <a:solidFill>
                  <a:srgbClr val="FF33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隶书" pitchFamily="49" charset="-122"/>
                <a:ea typeface="隶书" pitchFamily="49" charset="-122"/>
              </a:rPr>
              <a:t> </a:t>
            </a:r>
          </a:p>
        </p:txBody>
      </p:sp>
      <p:sp>
        <p:nvSpPr>
          <p:cNvPr id="1072147" name="Rectangle 19"/>
          <p:cNvSpPr>
            <a:spLocks noChangeArrowheads="1"/>
          </p:cNvSpPr>
          <p:nvPr/>
        </p:nvSpPr>
        <p:spPr bwMode="auto">
          <a:xfrm>
            <a:off x="911944" y="2887226"/>
            <a:ext cx="10728672" cy="1569660"/>
          </a:xfrm>
          <a:prstGeom prst="rect">
            <a:avLst/>
          </a:prstGeom>
          <a:ln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square" anchor="ctr">
            <a:spAutoFit/>
          </a:bodyPr>
          <a:lstStyle/>
          <a:p>
            <a:r>
              <a:rPr lang="en-US" altLang="zh-CN" dirty="0">
                <a:ea typeface="楷体" pitchFamily="49" charset="-122"/>
              </a:rPr>
              <a:t>        </a:t>
            </a:r>
            <a:r>
              <a:rPr lang="zh-CN" altLang="en-US" b="1" dirty="0">
                <a:solidFill>
                  <a:schemeClr val="accent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楷体" pitchFamily="49" charset="-122"/>
              </a:rPr>
              <a:t>文件指针</a:t>
            </a:r>
            <a:r>
              <a:rPr lang="zh-CN" altLang="en-US" b="1" dirty="0">
                <a:effectLst>
                  <a:outerShdw blurRad="38100" dist="38100" dir="2700000" algn="tl">
                    <a:srgbClr val="FFFFFF"/>
                  </a:outerShdw>
                </a:effectLst>
                <a:ea typeface="楷体" pitchFamily="49" charset="-122"/>
              </a:rPr>
              <a:t>是指向整个文件的，须在程序中定义说明，只要不重新赋值，文件指针的值是不变的。</a:t>
            </a:r>
          </a:p>
          <a:p>
            <a:r>
              <a:rPr lang="zh-CN" altLang="en-US" b="1" dirty="0">
                <a:effectLst>
                  <a:outerShdw blurRad="38100" dist="38100" dir="2700000" algn="tl">
                    <a:srgbClr val="FFFFFF"/>
                  </a:outerShdw>
                </a:effectLst>
                <a:ea typeface="楷体" pitchFamily="49" charset="-122"/>
              </a:rPr>
              <a:t>        </a:t>
            </a:r>
            <a:r>
              <a:rPr lang="zh-CN" altLang="en-US" b="1" dirty="0">
                <a:solidFill>
                  <a:schemeClr val="accent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楷体" pitchFamily="49" charset="-122"/>
              </a:rPr>
              <a:t>文件内部的位置指针</a:t>
            </a:r>
            <a:r>
              <a:rPr lang="zh-CN" altLang="en-US" b="1" dirty="0">
                <a:effectLst>
                  <a:outerShdw blurRad="38100" dist="38100" dir="2700000" algn="tl">
                    <a:srgbClr val="FFFFFF"/>
                  </a:outerShdw>
                </a:effectLst>
                <a:ea typeface="楷体" pitchFamily="49" charset="-122"/>
              </a:rPr>
              <a:t>用以指示文件内部的当前读写位置，每读写一次，该指针均向后移动，它不需在程序中定义说明，而是由系统自动设置的。 </a:t>
            </a:r>
          </a:p>
        </p:txBody>
      </p:sp>
      <p:sp>
        <p:nvSpPr>
          <p:cNvPr id="1072148" name="AutoShape 20"/>
          <p:cNvSpPr>
            <a:spLocks noChangeArrowheads="1"/>
          </p:cNvSpPr>
          <p:nvPr/>
        </p:nvSpPr>
        <p:spPr bwMode="auto">
          <a:xfrm>
            <a:off x="3769942" y="5086350"/>
            <a:ext cx="5854450" cy="1366838"/>
          </a:xfrm>
          <a:prstGeom prst="foldedCorner">
            <a:avLst>
              <a:gd name="adj" fmla="val 12500"/>
            </a:avLst>
          </a:prstGeom>
          <a:gradFill rotWithShape="1">
            <a:gsLst>
              <a:gs pos="0">
                <a:srgbClr val="00FFFF"/>
              </a:gs>
              <a:gs pos="100000">
                <a:schemeClr val="bg1"/>
              </a:gs>
            </a:gsLst>
            <a:lin ang="5400000" scaled="1"/>
          </a:gradFill>
          <a:ln w="19050">
            <a:solidFill>
              <a:schemeClr val="tx1"/>
            </a:solidFill>
            <a:round/>
            <a:headEnd/>
            <a:tailEnd/>
          </a:ln>
          <a:effectLst>
            <a:outerShdw blurRad="50800" dist="106680" dir="2700000" algn="tl" rotWithShape="0">
              <a:prstClr val="black">
                <a:alpha val="43000"/>
              </a:prstClr>
            </a:outerShdw>
          </a:effectLst>
        </p:spPr>
        <p:txBody>
          <a:bodyPr wrap="none"/>
          <a:lstStyle/>
          <a:p>
            <a:r>
              <a:rPr lang="en-US" altLang="zh-CN" dirty="0"/>
              <a:t>   □ □ □ □ □ □ □ □ □ □ □ □ □ □</a:t>
            </a:r>
          </a:p>
        </p:txBody>
      </p:sp>
      <p:grpSp>
        <p:nvGrpSpPr>
          <p:cNvPr id="1072151" name="Group 23"/>
          <p:cNvGrpSpPr>
            <a:grpSpLocks/>
          </p:cNvGrpSpPr>
          <p:nvPr/>
        </p:nvGrpSpPr>
        <p:grpSpPr bwMode="auto">
          <a:xfrm>
            <a:off x="1910980" y="4999039"/>
            <a:ext cx="1830387" cy="396875"/>
            <a:chOff x="711" y="3194"/>
            <a:chExt cx="1153" cy="250"/>
          </a:xfrm>
        </p:grpSpPr>
        <p:sp>
          <p:nvSpPr>
            <p:cNvPr id="1072149" name="Line 21"/>
            <p:cNvSpPr>
              <a:spLocks noChangeShapeType="1"/>
            </p:cNvSpPr>
            <p:nvPr/>
          </p:nvSpPr>
          <p:spPr bwMode="auto">
            <a:xfrm>
              <a:off x="1456" y="3339"/>
              <a:ext cx="408" cy="0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/>
              <a:tailEnd type="stealth" w="lg" len="lg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72150" name="Text Box 22"/>
            <p:cNvSpPr txBox="1">
              <a:spLocks noChangeArrowheads="1"/>
            </p:cNvSpPr>
            <p:nvPr/>
          </p:nvSpPr>
          <p:spPr bwMode="auto">
            <a:xfrm>
              <a:off x="711" y="3194"/>
              <a:ext cx="771" cy="2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2000" b="1">
                  <a:solidFill>
                    <a:srgbClr val="FF33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ea typeface="隶书" pitchFamily="49" charset="-122"/>
                </a:rPr>
                <a:t>文件指针</a:t>
              </a:r>
            </a:p>
          </p:txBody>
        </p:sp>
      </p:grpSp>
      <p:grpSp>
        <p:nvGrpSpPr>
          <p:cNvPr id="1072156" name="Group 28"/>
          <p:cNvGrpSpPr>
            <a:grpSpLocks/>
          </p:cNvGrpSpPr>
          <p:nvPr/>
        </p:nvGrpSpPr>
        <p:grpSpPr bwMode="auto">
          <a:xfrm>
            <a:off x="3719736" y="5473700"/>
            <a:ext cx="1223963" cy="788988"/>
            <a:chOff x="2010" y="3493"/>
            <a:chExt cx="771" cy="497"/>
          </a:xfrm>
        </p:grpSpPr>
        <p:sp>
          <p:nvSpPr>
            <p:cNvPr id="1072154" name="Line 26"/>
            <p:cNvSpPr>
              <a:spLocks noChangeShapeType="1"/>
            </p:cNvSpPr>
            <p:nvPr/>
          </p:nvSpPr>
          <p:spPr bwMode="auto">
            <a:xfrm flipV="1">
              <a:off x="2327" y="3493"/>
              <a:ext cx="0" cy="318"/>
            </a:xfrm>
            <a:prstGeom prst="line">
              <a:avLst/>
            </a:prstGeom>
            <a:noFill/>
            <a:ln w="28575">
              <a:solidFill>
                <a:srgbClr val="0000FF"/>
              </a:solidFill>
              <a:prstDash val="sysDot"/>
              <a:round/>
              <a:headEnd/>
              <a:tailEnd type="stealth" w="lg" len="lg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72155" name="Text Box 27"/>
            <p:cNvSpPr txBox="1">
              <a:spLocks noChangeArrowheads="1"/>
            </p:cNvSpPr>
            <p:nvPr/>
          </p:nvSpPr>
          <p:spPr bwMode="auto">
            <a:xfrm>
              <a:off x="2010" y="3740"/>
              <a:ext cx="771" cy="2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2000" b="1">
                  <a:solidFill>
                    <a:schemeClr val="accent2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ea typeface="隶书" pitchFamily="49" charset="-122"/>
                </a:rPr>
                <a:t>位置指针</a:t>
              </a:r>
            </a:p>
          </p:txBody>
        </p:sp>
      </p:grpSp>
      <p:grpSp>
        <p:nvGrpSpPr>
          <p:cNvPr id="1072157" name="Group 29"/>
          <p:cNvGrpSpPr>
            <a:grpSpLocks/>
          </p:cNvGrpSpPr>
          <p:nvPr/>
        </p:nvGrpSpPr>
        <p:grpSpPr bwMode="auto">
          <a:xfrm>
            <a:off x="-9822" y="0"/>
            <a:ext cx="446088" cy="6858000"/>
            <a:chOff x="0" y="0"/>
            <a:chExt cx="281" cy="4320"/>
          </a:xfrm>
        </p:grpSpPr>
        <p:sp>
          <p:nvSpPr>
            <p:cNvPr id="1072158" name="Text Box 30"/>
            <p:cNvSpPr txBox="1">
              <a:spLocks noChangeArrowheads="1"/>
            </p:cNvSpPr>
            <p:nvPr/>
          </p:nvSpPr>
          <p:spPr bwMode="auto">
            <a:xfrm>
              <a:off x="0" y="0"/>
              <a:ext cx="281" cy="4320"/>
            </a:xfrm>
            <a:prstGeom prst="rect">
              <a:avLst/>
            </a:prstGeom>
            <a:gradFill rotWithShape="0">
              <a:gsLst>
                <a:gs pos="0">
                  <a:schemeClr val="hlink">
                    <a:gamma/>
                    <a:shade val="60784"/>
                    <a:invGamma/>
                  </a:schemeClr>
                </a:gs>
                <a:gs pos="50000">
                  <a:schemeClr val="hlink"/>
                </a:gs>
                <a:gs pos="100000">
                  <a:schemeClr val="hlink">
                    <a:gamma/>
                    <a:shade val="60784"/>
                    <a:invGamma/>
                  </a:schemeClr>
                </a:gs>
              </a:gsLst>
              <a:lin ang="0" scaled="1"/>
            </a:gradFill>
            <a:ln w="9525">
              <a:noFill/>
              <a:miter lim="800000"/>
              <a:headEnd/>
              <a:tailEnd/>
            </a:ln>
            <a:effectLst/>
          </p:spPr>
          <p:txBody>
            <a:bodyPr/>
            <a:lstStyle/>
            <a:p>
              <a:pPr eaLnBrk="0" hangingPunct="0">
                <a:spcBef>
                  <a:spcPct val="50000"/>
                </a:spcBef>
              </a:pPr>
              <a:endParaRPr lang="en-US" altLang="zh-CN" sz="1800" dirty="0">
                <a:solidFill>
                  <a:srgbClr val="3333CC"/>
                </a:solidFill>
                <a:latin typeface="Verdana" pitchFamily="34" charset="0"/>
              </a:endParaRPr>
            </a:p>
            <a:p>
              <a:pPr eaLnBrk="0" hangingPunct="0">
                <a:spcBef>
                  <a:spcPct val="50000"/>
                </a:spcBef>
              </a:pPr>
              <a:r>
                <a:rPr lang="zh-CN" altLang="en-US" sz="1600" b="1" dirty="0">
                  <a:solidFill>
                    <a:srgbClr val="3333CC"/>
                  </a:solidFill>
                  <a:latin typeface="Verdana" pitchFamily="34" charset="0"/>
                </a:rPr>
                <a:t>语言程序设计教程       </a:t>
              </a:r>
            </a:p>
            <a:p>
              <a:pPr eaLnBrk="0" hangingPunct="0">
                <a:spcBef>
                  <a:spcPct val="50000"/>
                </a:spcBef>
              </a:pPr>
              <a:r>
                <a:rPr lang="zh-CN" altLang="en-US" sz="1600" b="1" dirty="0">
                  <a:solidFill>
                    <a:srgbClr val="3333CC"/>
                  </a:solidFill>
                  <a:latin typeface="Verdana" pitchFamily="34" charset="0"/>
                </a:rPr>
                <a:t>第三版</a:t>
              </a:r>
            </a:p>
            <a:p>
              <a:pPr eaLnBrk="0" hangingPunct="0">
                <a:spcBef>
                  <a:spcPct val="50000"/>
                </a:spcBef>
              </a:pPr>
              <a:endParaRPr lang="zh-CN" altLang="en-US" sz="1600" b="1" dirty="0">
                <a:solidFill>
                  <a:srgbClr val="3333CC"/>
                </a:solidFill>
                <a:latin typeface="Verdana" pitchFamily="34" charset="0"/>
              </a:endParaRPr>
            </a:p>
            <a:p>
              <a:pPr eaLnBrk="0" hangingPunct="0">
                <a:spcBef>
                  <a:spcPct val="50000"/>
                </a:spcBef>
              </a:pPr>
              <a:endParaRPr lang="zh-CN" altLang="en-US" sz="1600" b="1" dirty="0">
                <a:solidFill>
                  <a:srgbClr val="3333CC"/>
                </a:solidFill>
                <a:latin typeface="Verdana" pitchFamily="34" charset="0"/>
              </a:endParaRPr>
            </a:p>
            <a:p>
              <a:pPr eaLnBrk="0" hangingPunct="0">
                <a:spcBef>
                  <a:spcPct val="50000"/>
                </a:spcBef>
              </a:pPr>
              <a:r>
                <a:rPr lang="zh-CN" altLang="en-US" sz="1600" b="1" dirty="0">
                  <a:solidFill>
                    <a:srgbClr val="3333CC"/>
                  </a:solidFill>
                  <a:latin typeface="Verdana" pitchFamily="34" charset="0"/>
                </a:rPr>
                <a:t>第十</a:t>
              </a:r>
            </a:p>
            <a:p>
              <a:pPr eaLnBrk="0" hangingPunct="0">
                <a:spcBef>
                  <a:spcPct val="50000"/>
                </a:spcBef>
              </a:pPr>
              <a:r>
                <a:rPr lang="zh-CN" altLang="en-US" sz="1600" b="1" dirty="0">
                  <a:solidFill>
                    <a:srgbClr val="3333CC"/>
                  </a:solidFill>
                  <a:latin typeface="Verdana" pitchFamily="34" charset="0"/>
                </a:rPr>
                <a:t>二章 </a:t>
              </a:r>
            </a:p>
            <a:p>
              <a:pPr eaLnBrk="0" hangingPunct="0">
                <a:spcBef>
                  <a:spcPct val="50000"/>
                </a:spcBef>
              </a:pPr>
              <a:endParaRPr lang="zh-CN" altLang="en-US" sz="1600" b="1" dirty="0">
                <a:solidFill>
                  <a:srgbClr val="3333CC"/>
                </a:solidFill>
                <a:latin typeface="Verdana" pitchFamily="34" charset="0"/>
              </a:endParaRPr>
            </a:p>
            <a:p>
              <a:pPr eaLnBrk="0" hangingPunct="0">
                <a:spcBef>
                  <a:spcPct val="50000"/>
                </a:spcBef>
              </a:pPr>
              <a:r>
                <a:rPr lang="zh-CN" altLang="en-US" sz="1600" b="1" dirty="0">
                  <a:solidFill>
                    <a:srgbClr val="3333CC"/>
                  </a:solidFill>
                  <a:latin typeface="Verdana" pitchFamily="34" charset="0"/>
                </a:rPr>
                <a:t>文</a:t>
              </a:r>
            </a:p>
            <a:p>
              <a:pPr eaLnBrk="0" hangingPunct="0">
                <a:spcBef>
                  <a:spcPct val="50000"/>
                </a:spcBef>
              </a:pPr>
              <a:endParaRPr lang="zh-CN" altLang="en-US" sz="1600" b="1" dirty="0">
                <a:solidFill>
                  <a:srgbClr val="3333CC"/>
                </a:solidFill>
                <a:latin typeface="Verdana" pitchFamily="34" charset="0"/>
              </a:endParaRPr>
            </a:p>
            <a:p>
              <a:pPr eaLnBrk="0" hangingPunct="0">
                <a:spcBef>
                  <a:spcPct val="50000"/>
                </a:spcBef>
              </a:pPr>
              <a:r>
                <a:rPr lang="zh-CN" altLang="en-US" sz="1600" b="1" dirty="0">
                  <a:solidFill>
                    <a:srgbClr val="3333CC"/>
                  </a:solidFill>
                  <a:latin typeface="Verdana" pitchFamily="34" charset="0"/>
                </a:rPr>
                <a:t>件</a:t>
              </a:r>
            </a:p>
          </p:txBody>
        </p:sp>
        <p:sp>
          <p:nvSpPr>
            <p:cNvPr id="1072159" name="Text Box 31"/>
            <p:cNvSpPr txBox="1">
              <a:spLocks noChangeArrowheads="1"/>
            </p:cNvSpPr>
            <p:nvPr/>
          </p:nvSpPr>
          <p:spPr bwMode="auto">
            <a:xfrm>
              <a:off x="0" y="0"/>
              <a:ext cx="281" cy="231"/>
            </a:xfrm>
            <a:prstGeom prst="rect">
              <a:avLst/>
            </a:prstGeom>
            <a:gradFill rotWithShape="0">
              <a:gsLst>
                <a:gs pos="0">
                  <a:schemeClr val="hlink">
                    <a:gamma/>
                    <a:shade val="46275"/>
                    <a:invGamma/>
                  </a:schemeClr>
                </a:gs>
                <a:gs pos="50000">
                  <a:schemeClr val="hlink"/>
                </a:gs>
                <a:gs pos="100000">
                  <a:schemeClr val="hlink">
                    <a:gamma/>
                    <a:shade val="46275"/>
                    <a:invGamma/>
                  </a:schemeClr>
                </a:gs>
              </a:gsLst>
              <a:lin ang="0" scaled="1"/>
            </a:gradFill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eaLnBrk="0" hangingPunct="0">
                <a:spcBef>
                  <a:spcPct val="50000"/>
                </a:spcBef>
              </a:pPr>
              <a:r>
                <a:rPr lang="en-US" altLang="zh-CN" sz="1800" b="1">
                  <a:solidFill>
                    <a:srgbClr val="0000FF"/>
                  </a:solidFill>
                  <a:latin typeface="Arial" pitchFamily="34" charset="0"/>
                </a:rPr>
                <a:t>C</a:t>
              </a:r>
            </a:p>
          </p:txBody>
        </p:sp>
      </p:grpSp>
    </p:spTree>
  </p:cSld>
  <p:clrMapOvr>
    <a:masterClrMapping/>
  </p:clrMapOvr>
  <p:transition>
    <p:cover/>
    <p:sndAc>
      <p:stSnd>
        <p:snd r:embed="rId3" name="CAMER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2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7" dur="500"/>
                                        <p:tgtEl>
                                          <p:spTgt spid="1072144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2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2" dur="500"/>
                                        <p:tgtEl>
                                          <p:spTgt spid="1072145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2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7" dur="500"/>
                                        <p:tgtEl>
                                          <p:spTgt spid="1072146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2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22" dur="500"/>
                                        <p:tgtEl>
                                          <p:spTgt spid="1072147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2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27" dur="500"/>
                                        <p:tgtEl>
                                          <p:spTgt spid="1072148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2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32" dur="500"/>
                                        <p:tgtEl>
                                          <p:spTgt spid="1072151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8" presetClass="entr" presetSubtype="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2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37" dur="500"/>
                                        <p:tgtEl>
                                          <p:spTgt spid="1072156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72144" grpId="0"/>
      <p:bldP spid="1072145" grpId="0" animBg="1"/>
      <p:bldP spid="1072146" grpId="0"/>
      <p:bldP spid="1072147" grpId="0" animBg="1"/>
      <p:bldP spid="1072148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4183" name="Rectangle 7"/>
          <p:cNvSpPr>
            <a:spLocks noChangeArrowheads="1"/>
          </p:cNvSpPr>
          <p:nvPr/>
        </p:nvSpPr>
        <p:spPr bwMode="auto">
          <a:xfrm>
            <a:off x="904398" y="151757"/>
            <a:ext cx="4842992" cy="461665"/>
          </a:xfrm>
          <a:prstGeom prst="rect">
            <a:avLst/>
          </a:prstGeom>
          <a:ln>
            <a:noFill/>
            <a:headEnd/>
            <a:tailEnd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none" anchor="ctr">
            <a:spAutoFit/>
          </a:bodyPr>
          <a:lstStyle/>
          <a:p>
            <a:pPr marL="457200" indent="-457200">
              <a:tabLst>
                <a:tab pos="457200" algn="l"/>
              </a:tabLst>
            </a:pPr>
            <a:r>
              <a:rPr lang="en-US" altLang="zh-CN" b="1" dirty="0">
                <a:solidFill>
                  <a:srgbClr val="FF00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隶书" pitchFamily="49" charset="-122"/>
              </a:rPr>
              <a:t>(2) </a:t>
            </a:r>
            <a:r>
              <a:rPr lang="zh-CN" altLang="zh-CN" b="1" dirty="0">
                <a:solidFill>
                  <a:srgbClr val="FF00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隶书" pitchFamily="49" charset="-122"/>
              </a:rPr>
              <a:t>字符串读写函数：</a:t>
            </a:r>
            <a:r>
              <a:rPr lang="en-US" altLang="zh-CN" b="1" dirty="0" err="1">
                <a:solidFill>
                  <a:srgbClr val="FF00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隶书" pitchFamily="49" charset="-122"/>
              </a:rPr>
              <a:t>fgets</a:t>
            </a:r>
            <a:r>
              <a:rPr lang="en-US" altLang="zh-CN" b="1" dirty="0">
                <a:solidFill>
                  <a:srgbClr val="FF00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隶书" pitchFamily="49" charset="-122"/>
              </a:rPr>
              <a:t> </a:t>
            </a:r>
            <a:r>
              <a:rPr lang="zh-CN" altLang="en-US" b="1" dirty="0">
                <a:solidFill>
                  <a:srgbClr val="FF00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隶书" pitchFamily="49" charset="-122"/>
              </a:rPr>
              <a:t>和 </a:t>
            </a:r>
            <a:r>
              <a:rPr lang="en-US" altLang="zh-CN" b="1" dirty="0" err="1">
                <a:solidFill>
                  <a:srgbClr val="FF00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隶书" pitchFamily="49" charset="-122"/>
              </a:rPr>
              <a:t>fputs</a:t>
            </a:r>
            <a:endParaRPr lang="en-US" altLang="zh-CN" b="1" dirty="0">
              <a:solidFill>
                <a:srgbClr val="FF00FF"/>
              </a:solidFill>
              <a:effectLst>
                <a:outerShdw blurRad="38100" dist="38100" dir="2700000" algn="tl">
                  <a:srgbClr val="000000"/>
                </a:outerShdw>
              </a:effectLst>
              <a:ea typeface="隶书" pitchFamily="49" charset="-122"/>
            </a:endParaRPr>
          </a:p>
        </p:txBody>
      </p:sp>
      <p:sp>
        <p:nvSpPr>
          <p:cNvPr id="1074184" name="Rectangle 8"/>
          <p:cNvSpPr>
            <a:spLocks noChangeArrowheads="1"/>
          </p:cNvSpPr>
          <p:nvPr/>
        </p:nvSpPr>
        <p:spPr bwMode="auto">
          <a:xfrm>
            <a:off x="863303" y="631825"/>
            <a:ext cx="1397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>
            <a:spAutoFit/>
          </a:bodyPr>
          <a:lstStyle/>
          <a:p>
            <a:pPr>
              <a:buFont typeface="Wingdings" pitchFamily="2" charset="2"/>
              <a:buChar char="Ø"/>
              <a:tabLst>
                <a:tab pos="496888" algn="l"/>
              </a:tabLst>
            </a:pPr>
            <a:r>
              <a:rPr lang="en-US" altLang="zh-CN" b="1">
                <a:solidFill>
                  <a:srgbClr val="FF33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楷体_GB2312" pitchFamily="49" charset="-122"/>
              </a:rPr>
              <a:t> fgets</a:t>
            </a:r>
          </a:p>
        </p:txBody>
      </p:sp>
      <p:sp>
        <p:nvSpPr>
          <p:cNvPr id="1074185" name="Rectangle 9"/>
          <p:cNvSpPr>
            <a:spLocks noChangeArrowheads="1"/>
          </p:cNvSpPr>
          <p:nvPr/>
        </p:nvSpPr>
        <p:spPr bwMode="auto">
          <a:xfrm>
            <a:off x="1193503" y="1104900"/>
            <a:ext cx="2160588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buClr>
                <a:srgbClr val="339933"/>
              </a:buClr>
              <a:buFont typeface="Wingdings" pitchFamily="2" charset="2"/>
              <a:buChar char="l"/>
            </a:pPr>
            <a:r>
              <a:rPr lang="en-US" altLang="zh-CN" b="1" dirty="0">
                <a:effectLst>
                  <a:outerShdw blurRad="38100" dist="38100" dir="2700000" algn="tl">
                    <a:srgbClr val="FFFFFF"/>
                  </a:outerShdw>
                </a:effectLst>
                <a:latin typeface="+mn-lt"/>
                <a:ea typeface="楷体" pitchFamily="49" charset="-122"/>
              </a:rPr>
              <a:t> </a:t>
            </a:r>
            <a:r>
              <a:rPr lang="zh-CN" altLang="zh-CN" b="1" dirty="0">
                <a:effectLst>
                  <a:outerShdw blurRad="38100" dist="38100" dir="2700000" algn="tl">
                    <a:srgbClr val="FFFFFF"/>
                  </a:outerShdw>
                </a:effectLst>
                <a:latin typeface="+mn-lt"/>
                <a:ea typeface="楷体" pitchFamily="49" charset="-122"/>
              </a:rPr>
              <a:t>函数原形：         </a:t>
            </a:r>
            <a:endParaRPr lang="zh-CN" altLang="en-US" b="1" dirty="0">
              <a:solidFill>
                <a:srgbClr val="D60093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+mn-lt"/>
              <a:ea typeface="楷体" pitchFamily="49" charset="-122"/>
            </a:endParaRPr>
          </a:p>
        </p:txBody>
      </p:sp>
      <p:sp>
        <p:nvSpPr>
          <p:cNvPr id="1074186" name="Text Box 10"/>
          <p:cNvSpPr txBox="1">
            <a:spLocks noChangeArrowheads="1"/>
          </p:cNvSpPr>
          <p:nvPr/>
        </p:nvSpPr>
        <p:spPr bwMode="auto">
          <a:xfrm>
            <a:off x="1648164" y="1608138"/>
            <a:ext cx="8503144" cy="431800"/>
          </a:xfrm>
          <a:prstGeom prst="rect">
            <a:avLst/>
          </a:prstGeom>
          <a:gradFill rotWithShape="1">
            <a:gsLst>
              <a:gs pos="0">
                <a:srgbClr val="FFFF99"/>
              </a:gs>
              <a:gs pos="100000">
                <a:srgbClr val="FFFF99">
                  <a:gamma/>
                  <a:shade val="75686"/>
                  <a:invGamma/>
                </a:srgbClr>
              </a:gs>
            </a:gsLst>
            <a:lin ang="5400000" scaled="1"/>
          </a:gradFill>
          <a:ln w="38100">
            <a:solidFill>
              <a:srgbClr val="0000FF"/>
            </a:solidFill>
            <a:miter lim="800000"/>
            <a:headEnd/>
            <a:tailEnd/>
          </a:ln>
          <a:effectLst>
            <a:outerShdw blurRad="50800" dist="106680" dir="2700000" algn="tl" rotWithShape="0">
              <a:prstClr val="black">
                <a:alpha val="43000"/>
              </a:prstClr>
            </a:outerShdw>
          </a:effectLst>
          <a:scene3d>
            <a:camera prst="orthographicFront"/>
            <a:lightRig rig="threePt" dir="t"/>
          </a:scene3d>
          <a:sp3d>
            <a:bevelT w="114300" prst="hardEdge"/>
          </a:sp3d>
        </p:spPr>
        <p:txBody>
          <a:bodyPr/>
          <a:lstStyle/>
          <a:p>
            <a:pPr algn="ctr"/>
            <a:r>
              <a:rPr lang="en-US" altLang="zh-CN" sz="2000" b="1">
                <a:effectLst>
                  <a:outerShdw blurRad="38100" dist="38100" dir="2700000" algn="tl">
                    <a:srgbClr val="FFFFFF"/>
                  </a:outerShdw>
                </a:effectLst>
              </a:rPr>
              <a:t>char  *fgets (char *s, int n, FILE *filepointer);</a:t>
            </a:r>
          </a:p>
        </p:txBody>
      </p:sp>
      <p:sp>
        <p:nvSpPr>
          <p:cNvPr id="1074187" name="Rectangle 11"/>
          <p:cNvSpPr>
            <a:spLocks noChangeArrowheads="1"/>
          </p:cNvSpPr>
          <p:nvPr/>
        </p:nvSpPr>
        <p:spPr bwMode="auto">
          <a:xfrm>
            <a:off x="1204245" y="2112964"/>
            <a:ext cx="10292355" cy="87889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lnSpc>
                <a:spcPts val="3200"/>
              </a:lnSpc>
              <a:buClr>
                <a:srgbClr val="339933"/>
              </a:buClr>
              <a:buFont typeface="Wingdings" pitchFamily="2" charset="2"/>
              <a:buChar char="l"/>
            </a:pPr>
            <a:r>
              <a:rPr lang="en-US" altLang="zh-CN" b="1" dirty="0">
                <a:effectLst>
                  <a:outerShdw blurRad="38100" dist="38100" dir="2700000" algn="tl">
                    <a:srgbClr val="FFFFFF"/>
                  </a:outerShdw>
                </a:effectLst>
                <a:latin typeface="+mn-lt"/>
                <a:ea typeface="楷体" pitchFamily="49" charset="-122"/>
              </a:rPr>
              <a:t> </a:t>
            </a:r>
            <a:r>
              <a:rPr lang="zh-CN" altLang="en-US" b="1" dirty="0">
                <a:effectLst>
                  <a:outerShdw blurRad="38100" dist="38100" dir="2700000" algn="tl">
                    <a:srgbClr val="FFFFFF"/>
                  </a:outerShdw>
                </a:effectLst>
                <a:latin typeface="+mn-lt"/>
                <a:ea typeface="楷体" pitchFamily="49" charset="-122"/>
              </a:rPr>
              <a:t>功能：从</a:t>
            </a:r>
            <a:r>
              <a:rPr lang="en-US" altLang="zh-CN" b="1" dirty="0" err="1">
                <a:effectLst>
                  <a:outerShdw blurRad="38100" dist="38100" dir="2700000" algn="tl">
                    <a:srgbClr val="FFFFFF"/>
                  </a:outerShdw>
                </a:effectLst>
                <a:latin typeface="+mn-lt"/>
                <a:ea typeface="楷体" pitchFamily="49" charset="-122"/>
              </a:rPr>
              <a:t>filepointer</a:t>
            </a:r>
            <a:r>
              <a:rPr lang="zh-CN" altLang="en-US" b="1" dirty="0">
                <a:effectLst>
                  <a:outerShdw blurRad="38100" dist="38100" dir="2700000" algn="tl">
                    <a:srgbClr val="FFFFFF"/>
                  </a:outerShdw>
                </a:effectLst>
                <a:latin typeface="+mn-lt"/>
                <a:ea typeface="楷体" pitchFamily="49" charset="-122"/>
              </a:rPr>
              <a:t>所指向的文件读取一字符串</a:t>
            </a:r>
          </a:p>
          <a:p>
            <a:pPr>
              <a:lnSpc>
                <a:spcPts val="3200"/>
              </a:lnSpc>
              <a:buClr>
                <a:srgbClr val="339933"/>
              </a:buClr>
              <a:buFont typeface="Wingdings" pitchFamily="2" charset="2"/>
              <a:buChar char="l"/>
            </a:pPr>
            <a:r>
              <a:rPr lang="zh-CN" altLang="en-US" b="1" dirty="0">
                <a:effectLst>
                  <a:outerShdw blurRad="38100" dist="38100" dir="2700000" algn="tl">
                    <a:srgbClr val="FFFFFF"/>
                  </a:outerShdw>
                </a:effectLst>
                <a:latin typeface="+mn-lt"/>
                <a:ea typeface="楷体" pitchFamily="49" charset="-122"/>
              </a:rPr>
              <a:t> 返值：正常，返回读取的字符串的指针；出错或文件尾，则返回</a:t>
            </a:r>
            <a:r>
              <a:rPr lang="en-US" altLang="zh-CN" b="1" dirty="0">
                <a:effectLst>
                  <a:outerShdw blurRad="38100" dist="38100" dir="2700000" algn="tl">
                    <a:srgbClr val="FFFFFF"/>
                  </a:outerShdw>
                </a:effectLst>
                <a:latin typeface="+mn-lt"/>
                <a:ea typeface="楷体" pitchFamily="49" charset="-122"/>
              </a:rPr>
              <a:t>NULL</a:t>
            </a:r>
            <a:r>
              <a:rPr lang="zh-CN" altLang="en-US" b="1" dirty="0">
                <a:effectLst>
                  <a:outerShdw blurRad="38100" dist="38100" dir="2700000" algn="tl">
                    <a:srgbClr val="FFFFFF"/>
                  </a:outerShdw>
                </a:effectLst>
                <a:latin typeface="+mn-lt"/>
                <a:ea typeface="楷体" pitchFamily="49" charset="-122"/>
              </a:rPr>
              <a:t>。</a:t>
            </a:r>
            <a:r>
              <a:rPr lang="zh-CN" altLang="en-US" dirty="0">
                <a:latin typeface="+mn-lt"/>
                <a:ea typeface="楷体" pitchFamily="49" charset="-122"/>
              </a:rPr>
              <a:t> </a:t>
            </a:r>
          </a:p>
        </p:txBody>
      </p:sp>
      <p:sp>
        <p:nvSpPr>
          <p:cNvPr id="1074188" name="AutoShape 12"/>
          <p:cNvSpPr>
            <a:spLocks noChangeArrowheads="1"/>
          </p:cNvSpPr>
          <p:nvPr/>
        </p:nvSpPr>
        <p:spPr bwMode="auto">
          <a:xfrm>
            <a:off x="6074151" y="407989"/>
            <a:ext cx="5779444" cy="925511"/>
          </a:xfrm>
          <a:prstGeom prst="wedgeRectCallout">
            <a:avLst>
              <a:gd name="adj1" fmla="val 2045"/>
              <a:gd name="adj2" fmla="val 105525"/>
            </a:avLst>
          </a:prstGeom>
          <a:gradFill rotWithShape="1">
            <a:gsLst>
              <a:gs pos="0">
                <a:srgbClr val="00FFFF"/>
              </a:gs>
              <a:gs pos="100000">
                <a:schemeClr val="bg1"/>
              </a:gs>
            </a:gsLst>
            <a:lin ang="5400000" scaled="1"/>
          </a:gradFill>
          <a:ln w="28575">
            <a:solidFill>
              <a:srgbClr val="FF00FF"/>
            </a:solidFill>
            <a:miter lim="800000"/>
            <a:headEnd/>
            <a:tailEnd/>
          </a:ln>
          <a:effectLst>
            <a:outerShdw blurRad="50800" dist="106680" dir="2700000" algn="tl" rotWithShape="0">
              <a:prstClr val="black">
                <a:alpha val="43000"/>
              </a:prstClr>
            </a:outerShdw>
          </a:effectLst>
          <a:scene3d>
            <a:camera prst="orthographicFront"/>
            <a:lightRig rig="threePt" dir="t"/>
          </a:scene3d>
          <a:sp3d>
            <a:bevelT w="114300" prst="hardEdge"/>
          </a:sp3d>
        </p:spPr>
        <p:txBody>
          <a:bodyPr wrap="none" lIns="90000" tIns="46800" rIns="90000" bIns="46800" anchor="ctr">
            <a:spAutoFit/>
          </a:bodyPr>
          <a:lstStyle/>
          <a:p>
            <a:r>
              <a:rPr lang="zh-CN" altLang="zh-CN" sz="1800" b="1" dirty="0">
                <a:effectLst>
                  <a:outerShdw blurRad="38100" dist="38100" dir="2700000" algn="tl">
                    <a:srgbClr val="FFFFFF"/>
                  </a:outerShdw>
                </a:effectLst>
                <a:ea typeface="隶书" pitchFamily="49" charset="-122"/>
              </a:rPr>
              <a:t>从</a:t>
            </a:r>
            <a:r>
              <a:rPr lang="en-US" altLang="zh-CN" sz="1800" b="1" dirty="0" err="1">
                <a:effectLst>
                  <a:outerShdw blurRad="38100" dist="38100" dir="2700000" algn="tl">
                    <a:srgbClr val="FFFFFF"/>
                  </a:outerShdw>
                </a:effectLst>
                <a:ea typeface="隶书" pitchFamily="49" charset="-122"/>
              </a:rPr>
              <a:t>filepointer</a:t>
            </a:r>
            <a:r>
              <a:rPr lang="zh-CN" altLang="zh-CN" sz="1800" b="1" dirty="0">
                <a:effectLst>
                  <a:outerShdw blurRad="38100" dist="38100" dir="2700000" algn="tl">
                    <a:srgbClr val="FFFFFF"/>
                  </a:outerShdw>
                </a:effectLst>
                <a:ea typeface="隶书" pitchFamily="49" charset="-122"/>
              </a:rPr>
              <a:t>所指文件读</a:t>
            </a:r>
            <a:r>
              <a:rPr lang="en-US" altLang="zh-CN" sz="1800" b="1" dirty="0">
                <a:solidFill>
                  <a:srgbClr val="CC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隶书" pitchFamily="49" charset="-122"/>
              </a:rPr>
              <a:t>n-1</a:t>
            </a:r>
            <a:r>
              <a:rPr lang="zh-CN" altLang="zh-CN" sz="1800" b="1" dirty="0">
                <a:effectLst>
                  <a:outerShdw blurRad="38100" dist="38100" dir="2700000" algn="tl">
                    <a:srgbClr val="FFFFFF"/>
                  </a:outerShdw>
                </a:effectLst>
                <a:ea typeface="隶书" pitchFamily="49" charset="-122"/>
              </a:rPr>
              <a:t>个字符送入</a:t>
            </a:r>
            <a:r>
              <a:rPr lang="en-US" altLang="zh-CN" sz="1800" b="1" dirty="0">
                <a:effectLst>
                  <a:outerShdw blurRad="38100" dist="38100" dir="2700000" algn="tl">
                    <a:srgbClr val="FFFFFF"/>
                  </a:outerShdw>
                </a:effectLst>
                <a:ea typeface="隶书" pitchFamily="49" charset="-122"/>
              </a:rPr>
              <a:t>s</a:t>
            </a:r>
            <a:r>
              <a:rPr lang="zh-CN" altLang="zh-CN" sz="1800" b="1" dirty="0">
                <a:effectLst>
                  <a:outerShdw blurRad="38100" dist="38100" dir="2700000" algn="tl">
                    <a:srgbClr val="FFFFFF"/>
                  </a:outerShdw>
                </a:effectLst>
                <a:ea typeface="隶书" pitchFamily="49" charset="-122"/>
              </a:rPr>
              <a:t>指向的内存区,</a:t>
            </a:r>
          </a:p>
          <a:p>
            <a:r>
              <a:rPr lang="zh-CN" altLang="zh-CN" sz="1800" b="1" dirty="0">
                <a:effectLst>
                  <a:outerShdw blurRad="38100" dist="38100" dir="2700000" algn="tl">
                    <a:srgbClr val="FFFFFF"/>
                  </a:outerShdw>
                </a:effectLst>
                <a:ea typeface="隶书" pitchFamily="49" charset="-122"/>
              </a:rPr>
              <a:t>并在最后加一个</a:t>
            </a:r>
            <a:r>
              <a:rPr lang="en-US" altLang="zh-CN" sz="1800" b="1" dirty="0">
                <a:solidFill>
                  <a:srgbClr val="CC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隶书" pitchFamily="49" charset="-122"/>
              </a:rPr>
              <a:t>'</a:t>
            </a:r>
            <a:r>
              <a:rPr lang="zh-CN" altLang="zh-CN" sz="1800" b="1" dirty="0">
                <a:solidFill>
                  <a:srgbClr val="CC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隶书" pitchFamily="49" charset="-122"/>
              </a:rPr>
              <a:t>\0</a:t>
            </a:r>
            <a:r>
              <a:rPr lang="en-US" altLang="zh-CN" sz="1800" b="1" dirty="0">
                <a:solidFill>
                  <a:srgbClr val="CC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隶书" pitchFamily="49" charset="-122"/>
              </a:rPr>
              <a:t>'</a:t>
            </a:r>
            <a:endParaRPr lang="zh-CN" altLang="zh-CN" sz="1800" b="1" dirty="0">
              <a:solidFill>
                <a:srgbClr val="CC0000"/>
              </a:solidFill>
              <a:effectLst>
                <a:outerShdw blurRad="38100" dist="38100" dir="2700000" algn="tl">
                  <a:srgbClr val="000000"/>
                </a:outerShdw>
              </a:effectLst>
              <a:ea typeface="隶书" pitchFamily="49" charset="-122"/>
            </a:endParaRPr>
          </a:p>
          <a:p>
            <a:r>
              <a:rPr lang="zh-CN" altLang="zh-CN" sz="1800" b="1" dirty="0">
                <a:solidFill>
                  <a:srgbClr val="CC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隶书" pitchFamily="49" charset="-122"/>
              </a:rPr>
              <a:t>(若读入</a:t>
            </a:r>
            <a:r>
              <a:rPr lang="en-US" altLang="zh-CN" sz="1800" b="1" dirty="0">
                <a:solidFill>
                  <a:srgbClr val="CC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隶书" pitchFamily="49" charset="-122"/>
              </a:rPr>
              <a:t>n-1</a:t>
            </a:r>
            <a:r>
              <a:rPr lang="zh-CN" altLang="zh-CN" sz="1800" b="1" dirty="0">
                <a:solidFill>
                  <a:srgbClr val="CC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隶书" pitchFamily="49" charset="-122"/>
              </a:rPr>
              <a:t>个字符前遇换行符或文件尾（</a:t>
            </a:r>
            <a:r>
              <a:rPr lang="en-US" altLang="zh-CN" sz="1800" b="1" dirty="0">
                <a:solidFill>
                  <a:srgbClr val="CC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隶书" pitchFamily="49" charset="-122"/>
              </a:rPr>
              <a:t>EOF</a:t>
            </a:r>
            <a:r>
              <a:rPr lang="zh-CN" altLang="en-US" sz="1800" b="1" dirty="0">
                <a:solidFill>
                  <a:srgbClr val="CC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隶书" pitchFamily="49" charset="-122"/>
              </a:rPr>
              <a:t>）</a:t>
            </a:r>
            <a:r>
              <a:rPr lang="zh-CN" altLang="zh-CN" sz="1800" b="1" dirty="0">
                <a:solidFill>
                  <a:srgbClr val="CC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隶书" pitchFamily="49" charset="-122"/>
              </a:rPr>
              <a:t>即结束)</a:t>
            </a:r>
            <a:endParaRPr lang="en-US" altLang="zh-CN" sz="1800" b="1" dirty="0">
              <a:solidFill>
                <a:srgbClr val="CC0000"/>
              </a:solidFill>
              <a:effectLst>
                <a:outerShdw blurRad="38100" dist="38100" dir="2700000" algn="tl">
                  <a:srgbClr val="000000"/>
                </a:outerShdw>
              </a:effectLst>
              <a:ea typeface="隶书" pitchFamily="49" charset="-122"/>
            </a:endParaRPr>
          </a:p>
        </p:txBody>
      </p:sp>
      <p:sp>
        <p:nvSpPr>
          <p:cNvPr id="1074189" name="Rectangle 13"/>
          <p:cNvSpPr>
            <a:spLocks noChangeArrowheads="1"/>
          </p:cNvSpPr>
          <p:nvPr/>
        </p:nvSpPr>
        <p:spPr bwMode="auto">
          <a:xfrm>
            <a:off x="862276" y="3276600"/>
            <a:ext cx="1397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>
            <a:spAutoFit/>
          </a:bodyPr>
          <a:lstStyle/>
          <a:p>
            <a:pPr>
              <a:buFont typeface="Wingdings" pitchFamily="2" charset="2"/>
              <a:buChar char="Ø"/>
              <a:tabLst>
                <a:tab pos="496888" algn="l"/>
              </a:tabLst>
            </a:pPr>
            <a:r>
              <a:rPr lang="en-US" altLang="zh-CN" b="1" dirty="0">
                <a:solidFill>
                  <a:srgbClr val="FF33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楷体_GB2312" pitchFamily="49" charset="-122"/>
              </a:rPr>
              <a:t> </a:t>
            </a:r>
            <a:r>
              <a:rPr lang="en-US" altLang="zh-CN" b="1" dirty="0" err="1">
                <a:solidFill>
                  <a:srgbClr val="FF33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楷体_GB2312" pitchFamily="49" charset="-122"/>
              </a:rPr>
              <a:t>fputs</a:t>
            </a:r>
            <a:endParaRPr lang="en-US" altLang="zh-CN" b="1" dirty="0">
              <a:solidFill>
                <a:srgbClr val="FF3300"/>
              </a:solidFill>
              <a:effectLst>
                <a:outerShdw blurRad="38100" dist="38100" dir="2700000" algn="tl">
                  <a:srgbClr val="000000"/>
                </a:outerShdw>
              </a:effectLst>
              <a:ea typeface="楷体_GB2312" pitchFamily="49" charset="-122"/>
            </a:endParaRPr>
          </a:p>
        </p:txBody>
      </p:sp>
      <p:sp>
        <p:nvSpPr>
          <p:cNvPr id="1074190" name="Rectangle 14"/>
          <p:cNvSpPr>
            <a:spLocks noChangeArrowheads="1"/>
          </p:cNvSpPr>
          <p:nvPr/>
        </p:nvSpPr>
        <p:spPr bwMode="auto">
          <a:xfrm>
            <a:off x="1199109" y="3749675"/>
            <a:ext cx="2160587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buClr>
                <a:srgbClr val="339933"/>
              </a:buClr>
              <a:buFont typeface="Wingdings" pitchFamily="2" charset="2"/>
              <a:buChar char="l"/>
            </a:pPr>
            <a:r>
              <a:rPr lang="en-US" altLang="zh-CN" b="1" dirty="0">
                <a:effectLst>
                  <a:outerShdw blurRad="38100" dist="38100" dir="2700000" algn="tl">
                    <a:srgbClr val="FFFFFF"/>
                  </a:outerShdw>
                </a:effectLst>
                <a:latin typeface="+mn-lt"/>
                <a:ea typeface="楷体" pitchFamily="49" charset="-122"/>
              </a:rPr>
              <a:t> </a:t>
            </a:r>
            <a:r>
              <a:rPr lang="zh-CN" altLang="zh-CN" b="1" dirty="0">
                <a:effectLst>
                  <a:outerShdw blurRad="38100" dist="38100" dir="2700000" algn="tl">
                    <a:srgbClr val="FFFFFF"/>
                  </a:outerShdw>
                </a:effectLst>
                <a:latin typeface="+mn-lt"/>
                <a:ea typeface="楷体" pitchFamily="49" charset="-122"/>
              </a:rPr>
              <a:t>函数原形：         </a:t>
            </a:r>
            <a:endParaRPr lang="zh-CN" altLang="en-US" b="1" dirty="0">
              <a:solidFill>
                <a:srgbClr val="D60093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+mn-lt"/>
              <a:ea typeface="楷体" pitchFamily="49" charset="-122"/>
            </a:endParaRPr>
          </a:p>
        </p:txBody>
      </p:sp>
      <p:sp>
        <p:nvSpPr>
          <p:cNvPr id="1074191" name="Text Box 15"/>
          <p:cNvSpPr txBox="1">
            <a:spLocks noChangeArrowheads="1"/>
          </p:cNvSpPr>
          <p:nvPr/>
        </p:nvSpPr>
        <p:spPr bwMode="auto">
          <a:xfrm>
            <a:off x="1631801" y="4252913"/>
            <a:ext cx="8519499" cy="431800"/>
          </a:xfrm>
          <a:prstGeom prst="rect">
            <a:avLst/>
          </a:prstGeom>
          <a:gradFill rotWithShape="1">
            <a:gsLst>
              <a:gs pos="0">
                <a:srgbClr val="FFFF99"/>
              </a:gs>
              <a:gs pos="100000">
                <a:srgbClr val="FFFF99">
                  <a:gamma/>
                  <a:shade val="75686"/>
                  <a:invGamma/>
                </a:srgbClr>
              </a:gs>
            </a:gsLst>
            <a:lin ang="5400000" scaled="1"/>
          </a:gradFill>
          <a:ln w="38100">
            <a:solidFill>
              <a:srgbClr val="0000FF"/>
            </a:solidFill>
            <a:miter lim="800000"/>
            <a:headEnd/>
            <a:tailEnd/>
          </a:ln>
          <a:effectLst>
            <a:outerShdw blurRad="50800" dist="106680" dir="2700000" algn="tl" rotWithShape="0">
              <a:prstClr val="black">
                <a:alpha val="43000"/>
              </a:prstClr>
            </a:outerShdw>
          </a:effectLst>
          <a:scene3d>
            <a:camera prst="orthographicFront"/>
            <a:lightRig rig="threePt" dir="t"/>
          </a:scene3d>
          <a:sp3d>
            <a:bevelT w="114300" prst="hardEdge"/>
          </a:sp3d>
        </p:spPr>
        <p:txBody>
          <a:bodyPr/>
          <a:lstStyle/>
          <a:p>
            <a:pPr algn="ctr"/>
            <a:r>
              <a:rPr lang="en-US" altLang="zh-CN" sz="2000" b="1">
                <a:effectLst>
                  <a:outerShdw blurRad="38100" dist="38100" dir="2700000" algn="tl">
                    <a:srgbClr val="FFFFFF"/>
                  </a:outerShdw>
                </a:effectLst>
              </a:rPr>
              <a:t>int  fputs (char *s, FILE *filepointer);</a:t>
            </a:r>
          </a:p>
        </p:txBody>
      </p:sp>
      <p:sp>
        <p:nvSpPr>
          <p:cNvPr id="1074192" name="Rectangle 16"/>
          <p:cNvSpPr>
            <a:spLocks noChangeArrowheads="1"/>
          </p:cNvSpPr>
          <p:nvPr/>
        </p:nvSpPr>
        <p:spPr bwMode="auto">
          <a:xfrm>
            <a:off x="1203217" y="4803458"/>
            <a:ext cx="10460259" cy="128926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marL="342900" indent="-342900">
              <a:lnSpc>
                <a:spcPts val="3200"/>
              </a:lnSpc>
              <a:buClr>
                <a:srgbClr val="339933"/>
              </a:buClr>
              <a:buFont typeface="Wingdings" panose="05000000000000000000" pitchFamily="2" charset="2"/>
              <a:buChar char="l"/>
            </a:pPr>
            <a:r>
              <a:rPr lang="zh-CN" altLang="en-US" b="1" dirty="0">
                <a:latin typeface="+mn-lt"/>
                <a:ea typeface="楷体" pitchFamily="49" charset="-122"/>
              </a:rPr>
              <a:t>功能：将存放在</a:t>
            </a:r>
            <a:r>
              <a:rPr lang="en-US" altLang="zh-CN" b="1" dirty="0">
                <a:latin typeface="+mn-lt"/>
                <a:ea typeface="楷体" pitchFamily="49" charset="-122"/>
              </a:rPr>
              <a:t>s</a:t>
            </a:r>
            <a:r>
              <a:rPr lang="zh-CN" altLang="en-US" b="1" dirty="0">
                <a:latin typeface="+mn-lt"/>
                <a:ea typeface="楷体" pitchFamily="49" charset="-122"/>
              </a:rPr>
              <a:t>中的字符串写到文件指针</a:t>
            </a:r>
            <a:r>
              <a:rPr lang="en-US" altLang="zh-CN" b="1" dirty="0" err="1">
                <a:latin typeface="+mn-lt"/>
                <a:ea typeface="楷体" pitchFamily="49" charset="-122"/>
              </a:rPr>
              <a:t>filepointer</a:t>
            </a:r>
            <a:r>
              <a:rPr lang="zh-CN" altLang="en-US" b="1" dirty="0">
                <a:latin typeface="+mn-lt"/>
                <a:ea typeface="楷体" pitchFamily="49" charset="-122"/>
              </a:rPr>
              <a:t>所指向的文件中去，同时将读写位置指针向前移动字符串长度个字节。</a:t>
            </a:r>
            <a:r>
              <a:rPr lang="zh-CN" altLang="en-US" dirty="0">
                <a:latin typeface="+mn-lt"/>
                <a:ea typeface="楷体" pitchFamily="49" charset="-122"/>
              </a:rPr>
              <a:t> </a:t>
            </a:r>
            <a:endParaRPr lang="en-US" altLang="zh-CN" b="1" dirty="0">
              <a:latin typeface="+mn-lt"/>
              <a:ea typeface="楷体" pitchFamily="49" charset="-122"/>
            </a:endParaRPr>
          </a:p>
          <a:p>
            <a:pPr marL="342900" indent="-342900">
              <a:lnSpc>
                <a:spcPts val="3200"/>
              </a:lnSpc>
              <a:buClr>
                <a:srgbClr val="339933"/>
              </a:buClr>
              <a:buFont typeface="Wingdings" panose="05000000000000000000" pitchFamily="2" charset="2"/>
              <a:buChar char="l"/>
            </a:pPr>
            <a:r>
              <a:rPr lang="zh-CN" altLang="en-US" b="1" dirty="0">
                <a:latin typeface="+mn-lt"/>
                <a:ea typeface="楷体" pitchFamily="49" charset="-122"/>
              </a:rPr>
              <a:t>返值：</a:t>
            </a:r>
            <a:r>
              <a:rPr lang="zh-CN" altLang="zh-CN" b="1" dirty="0">
                <a:latin typeface="+mn-lt"/>
                <a:ea typeface="楷体" pitchFamily="49" charset="-122"/>
              </a:rPr>
              <a:t>正常时返回写入的最后一个字符；出错为</a:t>
            </a:r>
            <a:r>
              <a:rPr lang="en-US" altLang="zh-CN" b="1" dirty="0">
                <a:latin typeface="+mn-lt"/>
                <a:ea typeface="楷体" pitchFamily="49" charset="-122"/>
              </a:rPr>
              <a:t>EOF</a:t>
            </a:r>
            <a:r>
              <a:rPr lang="zh-CN" altLang="en-US" b="1" dirty="0">
                <a:latin typeface="+mn-lt"/>
                <a:ea typeface="楷体" pitchFamily="49" charset="-122"/>
              </a:rPr>
              <a:t>。</a:t>
            </a:r>
          </a:p>
        </p:txBody>
      </p:sp>
      <p:sp>
        <p:nvSpPr>
          <p:cNvPr id="1074193" name="AutoShape 17"/>
          <p:cNvSpPr>
            <a:spLocks noChangeArrowheads="1"/>
          </p:cNvSpPr>
          <p:nvPr/>
        </p:nvSpPr>
        <p:spPr bwMode="auto">
          <a:xfrm>
            <a:off x="6120064" y="2996952"/>
            <a:ext cx="5749210" cy="925511"/>
          </a:xfrm>
          <a:prstGeom prst="wedgeRectCallout">
            <a:avLst>
              <a:gd name="adj1" fmla="val 3223"/>
              <a:gd name="adj2" fmla="val 117724"/>
            </a:avLst>
          </a:prstGeom>
          <a:gradFill rotWithShape="1">
            <a:gsLst>
              <a:gs pos="0">
                <a:srgbClr val="00FFFF"/>
              </a:gs>
              <a:gs pos="100000">
                <a:schemeClr val="bg1"/>
              </a:gs>
            </a:gsLst>
            <a:lin ang="5400000" scaled="1"/>
          </a:gradFill>
          <a:ln w="28575">
            <a:solidFill>
              <a:srgbClr val="FF00FF"/>
            </a:solidFill>
            <a:miter lim="800000"/>
            <a:headEnd/>
            <a:tailEnd/>
          </a:ln>
          <a:effectLst>
            <a:outerShdw blurRad="50800" dist="106680" dir="2700000" algn="tl" rotWithShape="0">
              <a:prstClr val="black">
                <a:alpha val="43000"/>
              </a:prstClr>
            </a:outerShdw>
          </a:effectLst>
          <a:scene3d>
            <a:camera prst="orthographicFront"/>
            <a:lightRig rig="threePt" dir="t"/>
          </a:scene3d>
          <a:sp3d>
            <a:bevelT w="114300" prst="hardEdge"/>
          </a:sp3d>
        </p:spPr>
        <p:txBody>
          <a:bodyPr wrap="square" lIns="90000" tIns="46800" rIns="90000" bIns="46800" anchor="ctr">
            <a:spAutoFit/>
          </a:bodyPr>
          <a:lstStyle/>
          <a:p>
            <a:r>
              <a:rPr lang="zh-CN" altLang="en-US" sz="1800" b="1" dirty="0">
                <a:effectLst>
                  <a:outerShdw blurRad="38100" dist="38100" dir="2700000" algn="tl">
                    <a:srgbClr val="FFFFFF"/>
                  </a:outerShdw>
                </a:effectLst>
                <a:ea typeface="隶书" pitchFamily="49" charset="-122"/>
              </a:rPr>
              <a:t>不会将字符串结尾符</a:t>
            </a:r>
            <a:r>
              <a:rPr lang="en-US" altLang="zh-CN" sz="1800" b="1" dirty="0">
                <a:solidFill>
                  <a:srgbClr val="CC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隶书" pitchFamily="49" charset="-122"/>
              </a:rPr>
              <a:t>'\0'</a:t>
            </a:r>
            <a:r>
              <a:rPr lang="zh-CN" altLang="en-US" sz="1800" b="1" dirty="0">
                <a:effectLst>
                  <a:outerShdw blurRad="38100" dist="38100" dir="2700000" algn="tl">
                    <a:srgbClr val="FFFFFF"/>
                  </a:outerShdw>
                </a:effectLst>
                <a:ea typeface="隶书" pitchFamily="49" charset="-122"/>
              </a:rPr>
              <a:t>写入文件，也不会自动向文件写入</a:t>
            </a:r>
            <a:r>
              <a:rPr lang="zh-CN" altLang="en-US" sz="1800" b="1" dirty="0">
                <a:solidFill>
                  <a:srgbClr val="CC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隶书" pitchFamily="49" charset="-122"/>
              </a:rPr>
              <a:t>换行符</a:t>
            </a:r>
            <a:r>
              <a:rPr lang="zh-CN" altLang="en-US" sz="1800" b="1" dirty="0">
                <a:effectLst>
                  <a:outerShdw blurRad="38100" dist="38100" dir="2700000" algn="tl">
                    <a:srgbClr val="FFFFFF"/>
                  </a:outerShdw>
                </a:effectLst>
                <a:ea typeface="隶书" pitchFamily="49" charset="-122"/>
              </a:rPr>
              <a:t>，如果需要写入一行文本，</a:t>
            </a:r>
            <a:r>
              <a:rPr lang="en-US" altLang="zh-CN" sz="1800" b="1" dirty="0">
                <a:effectLst>
                  <a:outerShdw blurRad="38100" dist="38100" dir="2700000" algn="tl">
                    <a:srgbClr val="FFFFFF"/>
                  </a:outerShdw>
                </a:effectLst>
                <a:ea typeface="隶书" pitchFamily="49" charset="-122"/>
              </a:rPr>
              <a:t>s</a:t>
            </a:r>
            <a:r>
              <a:rPr lang="zh-CN" altLang="en-US" sz="1800" b="1" dirty="0">
                <a:effectLst>
                  <a:outerShdw blurRad="38100" dist="38100" dir="2700000" algn="tl">
                    <a:srgbClr val="FFFFFF"/>
                  </a:outerShdw>
                </a:effectLst>
                <a:ea typeface="隶书" pitchFamily="49" charset="-122"/>
              </a:rPr>
              <a:t>字符串中必须包含</a:t>
            </a:r>
            <a:r>
              <a:rPr lang="en-US" altLang="zh-CN" sz="1800" b="1" dirty="0">
                <a:effectLst>
                  <a:outerShdw blurRad="38100" dist="38100" dir="2700000" algn="tl">
                    <a:srgbClr val="FFFFFF"/>
                  </a:outerShdw>
                </a:effectLst>
                <a:ea typeface="隶书" pitchFamily="49" charset="-122"/>
              </a:rPr>
              <a:t>'\n'</a:t>
            </a:r>
            <a:r>
              <a:rPr lang="zh-CN" altLang="en-US" sz="1800" b="1" dirty="0">
                <a:effectLst>
                  <a:outerShdw blurRad="38100" dist="38100" dir="2700000" algn="tl">
                    <a:srgbClr val="FFFFFF"/>
                  </a:outerShdw>
                </a:effectLst>
                <a:ea typeface="隶书" pitchFamily="49" charset="-122"/>
              </a:rPr>
              <a:t>。</a:t>
            </a:r>
            <a:r>
              <a:rPr lang="zh-CN" altLang="en-US" sz="1800" dirty="0"/>
              <a:t> </a:t>
            </a:r>
          </a:p>
        </p:txBody>
      </p:sp>
      <p:grpSp>
        <p:nvGrpSpPr>
          <p:cNvPr id="1074194" name="Group 18"/>
          <p:cNvGrpSpPr>
            <a:grpSpLocks/>
          </p:cNvGrpSpPr>
          <p:nvPr/>
        </p:nvGrpSpPr>
        <p:grpSpPr bwMode="auto">
          <a:xfrm>
            <a:off x="-9822" y="0"/>
            <a:ext cx="446088" cy="6858000"/>
            <a:chOff x="0" y="0"/>
            <a:chExt cx="281" cy="4320"/>
          </a:xfrm>
        </p:grpSpPr>
        <p:sp>
          <p:nvSpPr>
            <p:cNvPr id="1074195" name="Text Box 19"/>
            <p:cNvSpPr txBox="1">
              <a:spLocks noChangeArrowheads="1"/>
            </p:cNvSpPr>
            <p:nvPr/>
          </p:nvSpPr>
          <p:spPr bwMode="auto">
            <a:xfrm>
              <a:off x="0" y="0"/>
              <a:ext cx="281" cy="4320"/>
            </a:xfrm>
            <a:prstGeom prst="rect">
              <a:avLst/>
            </a:prstGeom>
            <a:gradFill rotWithShape="0">
              <a:gsLst>
                <a:gs pos="0">
                  <a:schemeClr val="hlink">
                    <a:gamma/>
                    <a:shade val="60784"/>
                    <a:invGamma/>
                  </a:schemeClr>
                </a:gs>
                <a:gs pos="50000">
                  <a:schemeClr val="hlink"/>
                </a:gs>
                <a:gs pos="100000">
                  <a:schemeClr val="hlink">
                    <a:gamma/>
                    <a:shade val="60784"/>
                    <a:invGamma/>
                  </a:schemeClr>
                </a:gs>
              </a:gsLst>
              <a:lin ang="0" scaled="1"/>
            </a:gradFill>
            <a:ln w="9525">
              <a:noFill/>
              <a:miter lim="800000"/>
              <a:headEnd/>
              <a:tailEnd/>
            </a:ln>
            <a:effectLst/>
          </p:spPr>
          <p:txBody>
            <a:bodyPr/>
            <a:lstStyle/>
            <a:p>
              <a:pPr eaLnBrk="0" hangingPunct="0">
                <a:spcBef>
                  <a:spcPct val="50000"/>
                </a:spcBef>
              </a:pPr>
              <a:endParaRPr lang="en-US" altLang="zh-CN" sz="1800" dirty="0">
                <a:solidFill>
                  <a:srgbClr val="3333CC"/>
                </a:solidFill>
                <a:latin typeface="Verdana" pitchFamily="34" charset="0"/>
              </a:endParaRPr>
            </a:p>
            <a:p>
              <a:pPr eaLnBrk="0" hangingPunct="0">
                <a:spcBef>
                  <a:spcPct val="50000"/>
                </a:spcBef>
              </a:pPr>
              <a:r>
                <a:rPr lang="zh-CN" altLang="en-US" sz="1600" b="1" dirty="0">
                  <a:solidFill>
                    <a:srgbClr val="3333CC"/>
                  </a:solidFill>
                  <a:latin typeface="Verdana" pitchFamily="34" charset="0"/>
                </a:rPr>
                <a:t>语言程序设计教程       </a:t>
              </a:r>
            </a:p>
            <a:p>
              <a:pPr eaLnBrk="0" hangingPunct="0">
                <a:spcBef>
                  <a:spcPct val="50000"/>
                </a:spcBef>
              </a:pPr>
              <a:r>
                <a:rPr lang="zh-CN" altLang="en-US" sz="1600" b="1" dirty="0">
                  <a:solidFill>
                    <a:srgbClr val="3333CC"/>
                  </a:solidFill>
                  <a:latin typeface="Verdana" pitchFamily="34" charset="0"/>
                </a:rPr>
                <a:t>第三版</a:t>
              </a:r>
            </a:p>
            <a:p>
              <a:pPr eaLnBrk="0" hangingPunct="0">
                <a:spcBef>
                  <a:spcPct val="50000"/>
                </a:spcBef>
              </a:pPr>
              <a:endParaRPr lang="zh-CN" altLang="en-US" sz="1600" b="1" dirty="0">
                <a:solidFill>
                  <a:srgbClr val="3333CC"/>
                </a:solidFill>
                <a:latin typeface="Verdana" pitchFamily="34" charset="0"/>
              </a:endParaRPr>
            </a:p>
            <a:p>
              <a:pPr eaLnBrk="0" hangingPunct="0">
                <a:spcBef>
                  <a:spcPct val="50000"/>
                </a:spcBef>
              </a:pPr>
              <a:endParaRPr lang="zh-CN" altLang="en-US" sz="1600" b="1" dirty="0">
                <a:solidFill>
                  <a:srgbClr val="3333CC"/>
                </a:solidFill>
                <a:latin typeface="Verdana" pitchFamily="34" charset="0"/>
              </a:endParaRPr>
            </a:p>
            <a:p>
              <a:pPr eaLnBrk="0" hangingPunct="0">
                <a:spcBef>
                  <a:spcPct val="50000"/>
                </a:spcBef>
              </a:pPr>
              <a:r>
                <a:rPr lang="zh-CN" altLang="en-US" sz="1600" b="1" dirty="0">
                  <a:solidFill>
                    <a:srgbClr val="3333CC"/>
                  </a:solidFill>
                  <a:latin typeface="Verdana" pitchFamily="34" charset="0"/>
                </a:rPr>
                <a:t>第十</a:t>
              </a:r>
            </a:p>
            <a:p>
              <a:pPr eaLnBrk="0" hangingPunct="0">
                <a:spcBef>
                  <a:spcPct val="50000"/>
                </a:spcBef>
              </a:pPr>
              <a:r>
                <a:rPr lang="zh-CN" altLang="en-US" sz="1600" b="1" dirty="0">
                  <a:solidFill>
                    <a:srgbClr val="3333CC"/>
                  </a:solidFill>
                  <a:latin typeface="Verdana" pitchFamily="34" charset="0"/>
                </a:rPr>
                <a:t>二章 </a:t>
              </a:r>
            </a:p>
            <a:p>
              <a:pPr eaLnBrk="0" hangingPunct="0">
                <a:spcBef>
                  <a:spcPct val="50000"/>
                </a:spcBef>
              </a:pPr>
              <a:endParaRPr lang="zh-CN" altLang="en-US" sz="1600" b="1" dirty="0">
                <a:solidFill>
                  <a:srgbClr val="3333CC"/>
                </a:solidFill>
                <a:latin typeface="Verdana" pitchFamily="34" charset="0"/>
              </a:endParaRPr>
            </a:p>
            <a:p>
              <a:pPr eaLnBrk="0" hangingPunct="0">
                <a:spcBef>
                  <a:spcPct val="50000"/>
                </a:spcBef>
              </a:pPr>
              <a:r>
                <a:rPr lang="zh-CN" altLang="en-US" sz="1600" b="1" dirty="0">
                  <a:solidFill>
                    <a:srgbClr val="3333CC"/>
                  </a:solidFill>
                  <a:latin typeface="Verdana" pitchFamily="34" charset="0"/>
                </a:rPr>
                <a:t>文</a:t>
              </a:r>
            </a:p>
            <a:p>
              <a:pPr eaLnBrk="0" hangingPunct="0">
                <a:spcBef>
                  <a:spcPct val="50000"/>
                </a:spcBef>
              </a:pPr>
              <a:endParaRPr lang="zh-CN" altLang="en-US" sz="1600" b="1" dirty="0">
                <a:solidFill>
                  <a:srgbClr val="3333CC"/>
                </a:solidFill>
                <a:latin typeface="Verdana" pitchFamily="34" charset="0"/>
              </a:endParaRPr>
            </a:p>
            <a:p>
              <a:pPr eaLnBrk="0" hangingPunct="0">
                <a:spcBef>
                  <a:spcPct val="50000"/>
                </a:spcBef>
              </a:pPr>
              <a:r>
                <a:rPr lang="zh-CN" altLang="en-US" sz="1600" b="1" dirty="0">
                  <a:solidFill>
                    <a:srgbClr val="3333CC"/>
                  </a:solidFill>
                  <a:latin typeface="Verdana" pitchFamily="34" charset="0"/>
                </a:rPr>
                <a:t>件</a:t>
              </a:r>
            </a:p>
          </p:txBody>
        </p:sp>
        <p:sp>
          <p:nvSpPr>
            <p:cNvPr id="1074196" name="Text Box 20"/>
            <p:cNvSpPr txBox="1">
              <a:spLocks noChangeArrowheads="1"/>
            </p:cNvSpPr>
            <p:nvPr/>
          </p:nvSpPr>
          <p:spPr bwMode="auto">
            <a:xfrm>
              <a:off x="0" y="0"/>
              <a:ext cx="281" cy="231"/>
            </a:xfrm>
            <a:prstGeom prst="rect">
              <a:avLst/>
            </a:prstGeom>
            <a:gradFill rotWithShape="0">
              <a:gsLst>
                <a:gs pos="0">
                  <a:schemeClr val="hlink">
                    <a:gamma/>
                    <a:shade val="46275"/>
                    <a:invGamma/>
                  </a:schemeClr>
                </a:gs>
                <a:gs pos="50000">
                  <a:schemeClr val="hlink"/>
                </a:gs>
                <a:gs pos="100000">
                  <a:schemeClr val="hlink">
                    <a:gamma/>
                    <a:shade val="46275"/>
                    <a:invGamma/>
                  </a:schemeClr>
                </a:gs>
              </a:gsLst>
              <a:lin ang="0" scaled="1"/>
            </a:gradFill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eaLnBrk="0" hangingPunct="0">
                <a:spcBef>
                  <a:spcPct val="50000"/>
                </a:spcBef>
              </a:pPr>
              <a:r>
                <a:rPr lang="en-US" altLang="zh-CN" sz="1800" b="1">
                  <a:solidFill>
                    <a:srgbClr val="0000FF"/>
                  </a:solidFill>
                  <a:latin typeface="Arial" pitchFamily="34" charset="0"/>
                </a:rPr>
                <a:t>C</a:t>
              </a:r>
            </a:p>
          </p:txBody>
        </p:sp>
      </p:grpSp>
    </p:spTree>
  </p:cSld>
  <p:clrMapOvr>
    <a:masterClrMapping/>
  </p:clrMapOvr>
  <p:transition>
    <p:cover/>
    <p:sndAc>
      <p:stSnd>
        <p:snd r:embed="rId3" name="CAMER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41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07418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07418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41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07418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07418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41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9" dur="500"/>
                                        <p:tgtEl>
                                          <p:spTgt spid="1074185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7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500"/>
                            </p:stCondLst>
                            <p:childTnLst>
                              <p:par>
                                <p:cTn id="21" presetID="4" presetClass="entr" presetSubtype="3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41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23" dur="500"/>
                                        <p:tgtEl>
                                          <p:spTgt spid="1074186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418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28" dur="500"/>
                                        <p:tgtEl>
                                          <p:spTgt spid="107418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6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418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33" dur="500"/>
                                        <p:tgtEl>
                                          <p:spTgt spid="107418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41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38" dur="500"/>
                                        <p:tgtEl>
                                          <p:spTgt spid="1074188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6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41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07418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07418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41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49" dur="500"/>
                                        <p:tgtEl>
                                          <p:spTgt spid="1074190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7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500"/>
                            </p:stCondLst>
                            <p:childTnLst>
                              <p:par>
                                <p:cTn id="51" presetID="4" presetClass="entr" presetSubtype="3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41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53" dur="500"/>
                                        <p:tgtEl>
                                          <p:spTgt spid="1074191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419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58" dur="500"/>
                                        <p:tgtEl>
                                          <p:spTgt spid="107419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6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419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63" dur="500"/>
                                        <p:tgtEl>
                                          <p:spTgt spid="107419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6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41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68" dur="500"/>
                                        <p:tgtEl>
                                          <p:spTgt spid="1074193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0741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66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74183" grpId="0" animBg="1"/>
      <p:bldP spid="1074184" grpId="0"/>
      <p:bldP spid="1074185" grpId="0"/>
      <p:bldP spid="1074186" grpId="0" animBg="1"/>
      <p:bldP spid="1074188" grpId="0" animBg="1" autoUpdateAnimBg="0"/>
      <p:bldP spid="1074189" grpId="0"/>
      <p:bldP spid="1074190" grpId="0"/>
      <p:bldP spid="1074191" grpId="0" animBg="1"/>
      <p:bldP spid="1074193" grpId="0" animBg="1" autoUpdateAnimBg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6230" name="Rectangle 6" descr="信纸"/>
          <p:cNvSpPr>
            <a:spLocks noChangeArrowheads="1"/>
          </p:cNvSpPr>
          <p:nvPr/>
        </p:nvSpPr>
        <p:spPr bwMode="auto">
          <a:xfrm>
            <a:off x="648598" y="844550"/>
            <a:ext cx="5033014" cy="5830888"/>
          </a:xfrm>
          <a:prstGeom prst="rect">
            <a:avLst/>
          </a:prstGeom>
          <a:blipFill dpi="0" rotWithShape="1">
            <a:blip r:embed="rId6" cstate="print"/>
            <a:srcRect/>
            <a:tile tx="0" ty="0" sx="100000" sy="100000" flip="none" algn="tl"/>
          </a:blipFill>
          <a:ln w="38100">
            <a:solidFill>
              <a:srgbClr val="008000"/>
            </a:solidFill>
            <a:miter lim="800000"/>
            <a:headEnd/>
            <a:tailEnd/>
          </a:ln>
          <a:effectLst>
            <a:outerShdw blurRad="50800" dist="106680" dir="2700000" algn="tl" rotWithShape="0">
              <a:prstClr val="black">
                <a:alpha val="43000"/>
              </a:prstClr>
            </a:outerShdw>
          </a:effectLst>
          <a:scene3d>
            <a:camera prst="orthographicFront"/>
            <a:lightRig rig="threePt" dir="t"/>
          </a:scene3d>
          <a:sp3d>
            <a:bevelT w="114300" prst="hardEdge"/>
          </a:sp3d>
        </p:spPr>
        <p:txBody>
          <a:bodyPr wrap="square" anchor="ctr">
            <a:spAutoFit/>
          </a:bodyPr>
          <a:lstStyle/>
          <a:p>
            <a:pPr marL="457200" indent="-457200">
              <a:tabLst>
                <a:tab pos="914400" algn="l"/>
              </a:tabLst>
            </a:pPr>
            <a:r>
              <a:rPr lang="en-US" altLang="zh-CN" sz="2000" b="1" dirty="0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#include &lt;</a:t>
            </a:r>
            <a:r>
              <a:rPr lang="en-US" altLang="zh-CN" sz="2000" b="1" dirty="0" err="1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stdio.h</a:t>
            </a:r>
            <a:r>
              <a:rPr lang="en-US" altLang="zh-CN" sz="2000" b="1" dirty="0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&gt;</a:t>
            </a:r>
          </a:p>
          <a:p>
            <a:pPr marL="457200" indent="-457200">
              <a:tabLst>
                <a:tab pos="914400" algn="l"/>
              </a:tabLst>
            </a:pPr>
            <a:r>
              <a:rPr lang="en-US" altLang="zh-CN" sz="2000" b="1" dirty="0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#include &lt;</a:t>
            </a:r>
            <a:r>
              <a:rPr lang="en-US" altLang="zh-CN" sz="2000" b="1" dirty="0" err="1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stdlib.h</a:t>
            </a:r>
            <a:r>
              <a:rPr lang="en-US" altLang="zh-CN" sz="2000" b="1" dirty="0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&gt;</a:t>
            </a:r>
          </a:p>
          <a:p>
            <a:pPr marL="457200" indent="-457200">
              <a:tabLst>
                <a:tab pos="914400" algn="l"/>
              </a:tabLst>
            </a:pPr>
            <a:r>
              <a:rPr lang="en-US" altLang="zh-CN" sz="2000" b="1" dirty="0" err="1">
                <a:solidFill>
                  <a:srgbClr val="CC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楷体_GB2312" pitchFamily="49" charset="-122"/>
              </a:rPr>
              <a:t>int</a:t>
            </a:r>
            <a:r>
              <a:rPr lang="en-US" altLang="zh-CN" sz="2000" b="1" dirty="0">
                <a:solidFill>
                  <a:srgbClr val="CC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楷体_GB2312" pitchFamily="49" charset="-122"/>
              </a:rPr>
              <a:t> main ( )</a:t>
            </a:r>
          </a:p>
          <a:p>
            <a:pPr marL="457200" indent="-457200">
              <a:tabLst>
                <a:tab pos="914400" algn="l"/>
              </a:tabLst>
            </a:pPr>
            <a:r>
              <a:rPr lang="en-US" altLang="zh-CN" sz="2000" b="1" dirty="0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{ </a:t>
            </a:r>
          </a:p>
          <a:p>
            <a:pPr marL="457200" indent="-457200">
              <a:tabLst>
                <a:tab pos="914400" algn="l"/>
              </a:tabLst>
            </a:pPr>
            <a:r>
              <a:rPr lang="en-US" altLang="zh-CN" sz="2000" b="1" dirty="0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  FILE *fp1, *fp2;</a:t>
            </a:r>
          </a:p>
          <a:p>
            <a:pPr marL="457200" indent="-457200">
              <a:tabLst>
                <a:tab pos="914400" algn="l"/>
              </a:tabLst>
            </a:pPr>
            <a:r>
              <a:rPr lang="en-US" altLang="zh-CN" sz="2000" b="1" dirty="0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  char </a:t>
            </a:r>
            <a:r>
              <a:rPr lang="en-US" altLang="zh-CN" sz="2000" b="1" dirty="0" err="1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str</a:t>
            </a:r>
            <a:r>
              <a:rPr lang="en-US" altLang="zh-CN" sz="2000" b="1" dirty="0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[ ] = "123456789";</a:t>
            </a:r>
          </a:p>
          <a:p>
            <a:pPr marL="457200" indent="-457200">
              <a:tabLst>
                <a:tab pos="914400" algn="l"/>
              </a:tabLst>
            </a:pPr>
            <a:r>
              <a:rPr lang="en-US" altLang="zh-CN" sz="1800" b="1" dirty="0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   </a:t>
            </a:r>
            <a:r>
              <a:rPr lang="en-US" altLang="zh-CN" sz="1800" b="1" dirty="0">
                <a:solidFill>
                  <a:schemeClr val="accent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楷体" pitchFamily="49" charset="-122"/>
              </a:rPr>
              <a:t>//</a:t>
            </a:r>
            <a:r>
              <a:rPr lang="zh-CN" altLang="en-US" sz="1800" b="1" dirty="0">
                <a:solidFill>
                  <a:schemeClr val="accent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楷体" pitchFamily="49" charset="-122"/>
              </a:rPr>
              <a:t>创建文本文件</a:t>
            </a:r>
            <a:r>
              <a:rPr lang="en-US" altLang="zh-CN" sz="1800" b="1" dirty="0">
                <a:solidFill>
                  <a:schemeClr val="accent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楷体" pitchFamily="49" charset="-122"/>
              </a:rPr>
              <a:t>wang.txt</a:t>
            </a:r>
            <a:endParaRPr lang="en-US" altLang="zh-CN" sz="1800" b="1" dirty="0">
              <a:effectLst>
                <a:outerShdw blurRad="38100" dist="38100" dir="2700000" algn="tl">
                  <a:srgbClr val="FFFFFF"/>
                </a:outerShdw>
              </a:effectLst>
              <a:latin typeface="+mn-lt"/>
              <a:ea typeface="楷体" pitchFamily="49" charset="-122"/>
            </a:endParaRPr>
          </a:p>
          <a:p>
            <a:pPr marL="457200" indent="-457200">
              <a:tabLst>
                <a:tab pos="914400" algn="l"/>
              </a:tabLst>
            </a:pPr>
            <a:r>
              <a:rPr lang="en-US" altLang="zh-CN" sz="2000" b="1" dirty="0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  </a:t>
            </a:r>
            <a:r>
              <a:rPr lang="en-US" altLang="zh-CN" sz="2000" b="1" dirty="0">
                <a:solidFill>
                  <a:srgbClr val="FF33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楷体_GB2312" pitchFamily="49" charset="-122"/>
              </a:rPr>
              <a:t>fp1 = </a:t>
            </a:r>
            <a:r>
              <a:rPr lang="en-US" altLang="zh-CN" sz="2000" b="1" dirty="0" err="1">
                <a:solidFill>
                  <a:srgbClr val="FF33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楷体_GB2312" pitchFamily="49" charset="-122"/>
              </a:rPr>
              <a:t>fopen</a:t>
            </a:r>
            <a:r>
              <a:rPr lang="en-US" altLang="zh-CN" sz="2000" b="1" dirty="0">
                <a:solidFill>
                  <a:srgbClr val="FF33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楷体_GB2312" pitchFamily="49" charset="-122"/>
              </a:rPr>
              <a:t> ("wang.txt", "w"); 	</a:t>
            </a:r>
          </a:p>
          <a:p>
            <a:pPr marL="457200" indent="-457200">
              <a:tabLst>
                <a:tab pos="914400" algn="l"/>
              </a:tabLst>
            </a:pPr>
            <a:r>
              <a:rPr lang="en-US" altLang="zh-CN" sz="2000" b="1" dirty="0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  if (fp1 = = NULL)  </a:t>
            </a:r>
            <a:r>
              <a:rPr lang="en-US" altLang="zh-CN" sz="1800" b="1" dirty="0">
                <a:solidFill>
                  <a:schemeClr val="accent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楷体" pitchFamily="49" charset="-122"/>
              </a:rPr>
              <a:t>//</a:t>
            </a:r>
            <a:r>
              <a:rPr lang="zh-CN" altLang="en-US" sz="1800" b="1" dirty="0">
                <a:solidFill>
                  <a:schemeClr val="accent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楷体" pitchFamily="49" charset="-122"/>
              </a:rPr>
              <a:t>创建文件失败</a:t>
            </a:r>
          </a:p>
          <a:p>
            <a:pPr marL="457200" indent="-457200">
              <a:tabLst>
                <a:tab pos="914400" algn="l"/>
              </a:tabLst>
            </a:pPr>
            <a:r>
              <a:rPr lang="zh-CN" altLang="en-US" sz="2000" b="1" dirty="0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  </a:t>
            </a:r>
            <a:r>
              <a:rPr lang="en-US" altLang="zh-CN" sz="2000" b="1" dirty="0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{  </a:t>
            </a:r>
          </a:p>
          <a:p>
            <a:pPr marL="457200" indent="-457200">
              <a:tabLst>
                <a:tab pos="914400" algn="l"/>
              </a:tabLst>
            </a:pPr>
            <a:r>
              <a:rPr lang="en-US" altLang="zh-CN" sz="2000" b="1" dirty="0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    </a:t>
            </a:r>
            <a:r>
              <a:rPr lang="en-US" altLang="zh-CN" sz="2000" b="1" dirty="0" err="1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printf</a:t>
            </a:r>
            <a:r>
              <a:rPr lang="en-US" altLang="zh-CN" sz="2000" b="1" dirty="0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 ("can not open file: wang.txt\n");</a:t>
            </a:r>
          </a:p>
          <a:p>
            <a:pPr marL="457200" indent="-457200">
              <a:tabLst>
                <a:tab pos="914400" algn="l"/>
              </a:tabLst>
            </a:pPr>
            <a:r>
              <a:rPr lang="en-US" altLang="zh-CN" sz="2000" b="1" dirty="0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    exit (0);</a:t>
            </a:r>
          </a:p>
          <a:p>
            <a:pPr marL="457200" indent="-457200">
              <a:tabLst>
                <a:tab pos="914400" algn="l"/>
              </a:tabLst>
            </a:pPr>
            <a:r>
              <a:rPr lang="en-US" altLang="zh-CN" sz="2000" b="1" dirty="0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  }</a:t>
            </a:r>
          </a:p>
          <a:p>
            <a:pPr marL="457200" indent="-457200">
              <a:tabLst>
                <a:tab pos="914400" algn="l"/>
              </a:tabLst>
            </a:pPr>
            <a:endParaRPr lang="en-US" altLang="zh-CN" sz="2000" b="1" dirty="0">
              <a:effectLst>
                <a:outerShdw blurRad="38100" dist="38100" dir="2700000" algn="tl">
                  <a:srgbClr val="FFFFFF"/>
                </a:outerShdw>
              </a:effectLst>
              <a:ea typeface="楷体_GB2312" pitchFamily="49" charset="-122"/>
            </a:endParaRPr>
          </a:p>
          <a:p>
            <a:pPr marL="457200" indent="-457200">
              <a:tabLst>
                <a:tab pos="914400" algn="l"/>
              </a:tabLst>
            </a:pPr>
            <a:r>
              <a:rPr lang="en-US" altLang="zh-CN" sz="1800" b="1" dirty="0">
                <a:solidFill>
                  <a:schemeClr val="accent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楷体_GB2312" pitchFamily="49" charset="-122"/>
              </a:rPr>
              <a:t>  </a:t>
            </a:r>
            <a:r>
              <a:rPr lang="en-US" altLang="zh-CN" sz="1800" b="1" dirty="0">
                <a:solidFill>
                  <a:schemeClr val="accent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楷体" pitchFamily="49" charset="-122"/>
              </a:rPr>
              <a:t>//</a:t>
            </a:r>
            <a:r>
              <a:rPr lang="zh-CN" altLang="en-US" sz="1800" b="1" dirty="0">
                <a:solidFill>
                  <a:schemeClr val="accent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楷体" pitchFamily="49" charset="-122"/>
              </a:rPr>
              <a:t>将字符串“</a:t>
            </a:r>
            <a:r>
              <a:rPr lang="en-US" altLang="zh-CN" sz="1800" b="1" dirty="0">
                <a:solidFill>
                  <a:schemeClr val="accent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楷体" pitchFamily="49" charset="-122"/>
              </a:rPr>
              <a:t>12345678”</a:t>
            </a:r>
            <a:r>
              <a:rPr lang="zh-CN" altLang="en-US" sz="1800" b="1" dirty="0">
                <a:solidFill>
                  <a:schemeClr val="accent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楷体" pitchFamily="49" charset="-122"/>
              </a:rPr>
              <a:t>写入文件</a:t>
            </a:r>
          </a:p>
          <a:p>
            <a:pPr marL="457200" indent="-457200">
              <a:tabLst>
                <a:tab pos="914400" algn="l"/>
              </a:tabLst>
            </a:pPr>
            <a:r>
              <a:rPr lang="zh-CN" altLang="en-US" sz="2000" b="1" dirty="0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  </a:t>
            </a:r>
            <a:r>
              <a:rPr lang="en-US" altLang="zh-CN" sz="2000" b="1" dirty="0" err="1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fputs</a:t>
            </a:r>
            <a:r>
              <a:rPr lang="en-US" altLang="zh-CN" sz="2000" b="1" dirty="0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 (</a:t>
            </a:r>
            <a:r>
              <a:rPr lang="en-US" altLang="zh-CN" sz="2000" b="1" dirty="0" err="1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str</a:t>
            </a:r>
            <a:r>
              <a:rPr lang="en-US" altLang="zh-CN" sz="2000" b="1" dirty="0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, fp1);   </a:t>
            </a:r>
            <a:endParaRPr lang="en-US" altLang="zh-CN" sz="1800" b="1" dirty="0">
              <a:solidFill>
                <a:schemeClr val="accent2"/>
              </a:solidFill>
              <a:effectLst>
                <a:outerShdw blurRad="38100" dist="38100" dir="2700000" algn="tl">
                  <a:srgbClr val="000000"/>
                </a:outerShdw>
              </a:effectLst>
              <a:ea typeface="楷体_GB2312" pitchFamily="49" charset="-122"/>
            </a:endParaRPr>
          </a:p>
          <a:p>
            <a:pPr marL="457200" indent="-457200">
              <a:tabLst>
                <a:tab pos="914400" algn="l"/>
              </a:tabLst>
            </a:pPr>
            <a:r>
              <a:rPr lang="en-US" altLang="zh-CN" sz="1800" b="1" dirty="0">
                <a:solidFill>
                  <a:schemeClr val="accent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楷体_GB2312" pitchFamily="49" charset="-122"/>
              </a:rPr>
              <a:t>  </a:t>
            </a:r>
            <a:r>
              <a:rPr lang="en-US" altLang="zh-CN" sz="1800" b="1" dirty="0">
                <a:solidFill>
                  <a:schemeClr val="accent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楷体" pitchFamily="49" charset="-122"/>
              </a:rPr>
              <a:t>//</a:t>
            </a:r>
            <a:r>
              <a:rPr lang="zh-CN" altLang="en-US" sz="1800" b="1" dirty="0">
                <a:solidFill>
                  <a:schemeClr val="accent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楷体" pitchFamily="49" charset="-122"/>
              </a:rPr>
              <a:t>写入第一行文本的换行符和下一行文本</a:t>
            </a:r>
          </a:p>
          <a:p>
            <a:pPr marL="457200" indent="-457200">
              <a:tabLst>
                <a:tab pos="914400" algn="l"/>
              </a:tabLst>
            </a:pPr>
            <a:r>
              <a:rPr lang="zh-CN" altLang="en-US" sz="2000" b="1" dirty="0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  </a:t>
            </a:r>
            <a:r>
              <a:rPr lang="en-US" altLang="zh-CN" sz="2000" b="1" dirty="0" err="1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fputs</a:t>
            </a:r>
            <a:r>
              <a:rPr lang="en-US" altLang="zh-CN" sz="2000" b="1" dirty="0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 ("\</a:t>
            </a:r>
            <a:r>
              <a:rPr lang="en-US" altLang="zh-CN" sz="2000" b="1" dirty="0" err="1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nabcd</a:t>
            </a:r>
            <a:r>
              <a:rPr lang="en-US" altLang="zh-CN" sz="2000" b="1" dirty="0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", fp1);   </a:t>
            </a:r>
            <a:endParaRPr lang="en-US" altLang="zh-CN" sz="1800" b="1" dirty="0">
              <a:solidFill>
                <a:schemeClr val="accent2"/>
              </a:solidFill>
              <a:effectLst>
                <a:outerShdw blurRad="38100" dist="38100" dir="2700000" algn="tl">
                  <a:srgbClr val="000000"/>
                </a:outerShdw>
              </a:effectLst>
              <a:ea typeface="楷体_GB2312" pitchFamily="49" charset="-122"/>
            </a:endParaRPr>
          </a:p>
          <a:p>
            <a:pPr marL="457200" indent="-457200">
              <a:tabLst>
                <a:tab pos="914400" algn="l"/>
              </a:tabLst>
            </a:pPr>
            <a:r>
              <a:rPr lang="en-US" altLang="zh-CN" sz="2000" b="1" dirty="0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  </a:t>
            </a:r>
            <a:r>
              <a:rPr lang="en-US" altLang="zh-CN" sz="2000" b="1" dirty="0" err="1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fclose</a:t>
            </a:r>
            <a:r>
              <a:rPr lang="en-US" altLang="zh-CN" sz="2000" b="1" dirty="0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 (fp1);        </a:t>
            </a:r>
            <a:r>
              <a:rPr lang="en-US" altLang="zh-CN" sz="1800" b="1" dirty="0">
                <a:solidFill>
                  <a:schemeClr val="accent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楷体" pitchFamily="49" charset="-122"/>
              </a:rPr>
              <a:t>//</a:t>
            </a:r>
            <a:r>
              <a:rPr lang="zh-CN" altLang="en-US" sz="1800" b="1" dirty="0">
                <a:solidFill>
                  <a:schemeClr val="accent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楷体" pitchFamily="49" charset="-122"/>
              </a:rPr>
              <a:t>关闭文件</a:t>
            </a:r>
          </a:p>
        </p:txBody>
      </p:sp>
      <p:grpSp>
        <p:nvGrpSpPr>
          <p:cNvPr id="1076261" name="Group 37"/>
          <p:cNvGrpSpPr>
            <a:grpSpLocks/>
          </p:cNvGrpSpPr>
          <p:nvPr/>
        </p:nvGrpSpPr>
        <p:grpSpPr bwMode="auto">
          <a:xfrm>
            <a:off x="5766543" y="2304206"/>
            <a:ext cx="6162675" cy="2420938"/>
            <a:chOff x="1784" y="346"/>
            <a:chExt cx="3882" cy="1525"/>
          </a:xfrm>
        </p:grpSpPr>
        <p:grpSp>
          <p:nvGrpSpPr>
            <p:cNvPr id="1076246" name="Group 22"/>
            <p:cNvGrpSpPr>
              <a:grpSpLocks/>
            </p:cNvGrpSpPr>
            <p:nvPr/>
          </p:nvGrpSpPr>
          <p:grpSpPr bwMode="auto">
            <a:xfrm>
              <a:off x="2417" y="346"/>
              <a:ext cx="3249" cy="1525"/>
              <a:chOff x="1854" y="1134"/>
              <a:chExt cx="3249" cy="1525"/>
            </a:xfrm>
          </p:grpSpPr>
          <p:sp>
            <p:nvSpPr>
              <p:cNvPr id="1076240" name="AutoShape 16"/>
              <p:cNvSpPr>
                <a:spLocks noChangeArrowheads="1"/>
              </p:cNvSpPr>
              <p:nvPr/>
            </p:nvSpPr>
            <p:spPr bwMode="auto">
              <a:xfrm>
                <a:off x="1854" y="1452"/>
                <a:ext cx="3249" cy="1207"/>
              </a:xfrm>
              <a:prstGeom prst="foldedCorner">
                <a:avLst>
                  <a:gd name="adj" fmla="val 12500"/>
                </a:avLst>
              </a:prstGeom>
              <a:gradFill rotWithShape="1">
                <a:gsLst>
                  <a:gs pos="0">
                    <a:srgbClr val="00FFFF"/>
                  </a:gs>
                  <a:gs pos="100000">
                    <a:schemeClr val="bg1"/>
                  </a:gs>
                </a:gsLst>
                <a:lin ang="5400000" scaled="1"/>
              </a:gradFill>
              <a:ln w="25400">
                <a:solidFill>
                  <a:srgbClr val="FF00FF"/>
                </a:solidFill>
                <a:round/>
                <a:headEnd/>
                <a:tailEnd/>
              </a:ln>
              <a:effectLst>
                <a:outerShdw blurRad="50800" dist="106680" dir="2700000" algn="tl" rotWithShape="0">
                  <a:prstClr val="black">
                    <a:alpha val="43000"/>
                  </a:prstClr>
                </a:outerShdw>
              </a:effectLst>
            </p:spPr>
            <p:txBody>
              <a:bodyPr wrap="none" anchor="ctr"/>
              <a:lstStyle/>
              <a:p>
                <a:pPr algn="ctr"/>
                <a:endParaRPr lang="zh-CN" altLang="zh-CN"/>
              </a:p>
            </p:txBody>
          </p:sp>
          <p:sp>
            <p:nvSpPr>
              <p:cNvPr id="1076241" name="Text Box 17"/>
              <p:cNvSpPr txBox="1">
                <a:spLocks noChangeArrowheads="1"/>
              </p:cNvSpPr>
              <p:nvPr/>
            </p:nvSpPr>
            <p:spPr bwMode="auto">
              <a:xfrm>
                <a:off x="3053" y="1134"/>
                <a:ext cx="908" cy="28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altLang="zh-CN" b="1">
                    <a:solidFill>
                      <a:srgbClr val="FF3300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</a:rPr>
                  <a:t>wang.txt</a:t>
                </a:r>
              </a:p>
            </p:txBody>
          </p:sp>
        </p:grpSp>
        <p:grpSp>
          <p:nvGrpSpPr>
            <p:cNvPr id="1076260" name="Group 36"/>
            <p:cNvGrpSpPr>
              <a:grpSpLocks/>
            </p:cNvGrpSpPr>
            <p:nvPr/>
          </p:nvGrpSpPr>
          <p:grpSpPr bwMode="auto">
            <a:xfrm>
              <a:off x="1784" y="709"/>
              <a:ext cx="617" cy="250"/>
              <a:chOff x="3851" y="2432"/>
              <a:chExt cx="617" cy="250"/>
            </a:xfrm>
          </p:grpSpPr>
          <p:sp>
            <p:nvSpPr>
              <p:cNvPr id="1076258" name="Line 34"/>
              <p:cNvSpPr>
                <a:spLocks noChangeShapeType="1"/>
              </p:cNvSpPr>
              <p:nvPr/>
            </p:nvSpPr>
            <p:spPr bwMode="auto">
              <a:xfrm>
                <a:off x="4144" y="2577"/>
                <a:ext cx="324" cy="0"/>
              </a:xfrm>
              <a:prstGeom prst="line">
                <a:avLst/>
              </a:prstGeom>
              <a:noFill/>
              <a:ln w="28575">
                <a:solidFill>
                  <a:srgbClr val="FF0000"/>
                </a:solidFill>
                <a:round/>
                <a:headEnd/>
                <a:tailEnd type="stealth" w="lg" len="lg"/>
              </a:ln>
              <a:effectLst>
                <a:outerShdw dist="35921" dir="2700000" algn="ctr" rotWithShape="0">
                  <a:schemeClr val="bg2"/>
                </a:outerShdw>
              </a:effec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76259" name="Text Box 35"/>
              <p:cNvSpPr txBox="1">
                <a:spLocks noChangeArrowheads="1"/>
              </p:cNvSpPr>
              <p:nvPr/>
            </p:nvSpPr>
            <p:spPr bwMode="auto">
              <a:xfrm>
                <a:off x="3851" y="2432"/>
                <a:ext cx="454" cy="25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altLang="zh-CN" sz="2000" b="1">
                    <a:solidFill>
                      <a:srgbClr val="FF3300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</a:rPr>
                  <a:t>fp1</a:t>
                </a:r>
              </a:p>
            </p:txBody>
          </p:sp>
        </p:grpSp>
      </p:grpSp>
      <p:sp>
        <p:nvSpPr>
          <p:cNvPr id="1076229" name="Rectangle 5"/>
          <p:cNvSpPr>
            <a:spLocks noChangeArrowheads="1"/>
          </p:cNvSpPr>
          <p:nvPr/>
        </p:nvSpPr>
        <p:spPr bwMode="auto">
          <a:xfrm>
            <a:off x="353843" y="151755"/>
            <a:ext cx="9414565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anchor="ctr">
            <a:spAutoFit/>
          </a:bodyPr>
          <a:lstStyle/>
          <a:p>
            <a:r>
              <a:rPr lang="en-US" altLang="zh-CN" b="1" dirty="0">
                <a:solidFill>
                  <a:srgbClr val="CC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隶书" pitchFamily="49" charset="-122"/>
                <a:ea typeface="隶书" pitchFamily="49" charset="-122"/>
              </a:rPr>
              <a:t>【</a:t>
            </a:r>
            <a:r>
              <a:rPr lang="zh-CN" altLang="en-US" b="1" dirty="0">
                <a:solidFill>
                  <a:srgbClr val="CC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隶书" pitchFamily="49" charset="-122"/>
                <a:ea typeface="隶书" pitchFamily="49" charset="-122"/>
              </a:rPr>
              <a:t>例</a:t>
            </a:r>
            <a:r>
              <a:rPr lang="en-US" altLang="zh-CN" b="1" dirty="0">
                <a:solidFill>
                  <a:srgbClr val="CC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隶书" pitchFamily="49" charset="-122"/>
                <a:ea typeface="隶书" pitchFamily="49" charset="-122"/>
              </a:rPr>
              <a:t>3】</a:t>
            </a:r>
            <a:r>
              <a:rPr lang="zh-CN" altLang="en-US" b="1" dirty="0">
                <a:solidFill>
                  <a:srgbClr val="CC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隶书" pitchFamily="49" charset="-122"/>
                <a:ea typeface="隶书" pitchFamily="49" charset="-122"/>
              </a:rPr>
              <a:t>向文件</a:t>
            </a:r>
            <a:r>
              <a:rPr lang="en-US" altLang="zh-CN" b="1" dirty="0">
                <a:solidFill>
                  <a:srgbClr val="CC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隶书" pitchFamily="49" charset="-122"/>
                <a:ea typeface="隶书" pitchFamily="49" charset="-122"/>
              </a:rPr>
              <a:t>wang.txt</a:t>
            </a:r>
            <a:r>
              <a:rPr lang="zh-CN" altLang="en-US" b="1" dirty="0">
                <a:solidFill>
                  <a:srgbClr val="CC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隶书" pitchFamily="49" charset="-122"/>
                <a:ea typeface="隶书" pitchFamily="49" charset="-122"/>
              </a:rPr>
              <a:t>中写入两行文本，然后分三次读出其内容。</a:t>
            </a:r>
            <a:r>
              <a:rPr lang="zh-CN" altLang="en-US" dirty="0">
                <a:solidFill>
                  <a:srgbClr val="CC0000"/>
                </a:solidFill>
                <a:latin typeface="隶书" pitchFamily="49" charset="-122"/>
                <a:ea typeface="隶书" pitchFamily="49" charset="-122"/>
              </a:rPr>
              <a:t> </a:t>
            </a:r>
          </a:p>
        </p:txBody>
      </p:sp>
      <p:sp>
        <p:nvSpPr>
          <p:cNvPr id="1076244" name="Text Box 20"/>
          <p:cNvSpPr txBox="1">
            <a:spLocks noChangeArrowheads="1"/>
          </p:cNvSpPr>
          <p:nvPr/>
        </p:nvSpPr>
        <p:spPr bwMode="auto">
          <a:xfrm>
            <a:off x="6815880" y="2924920"/>
            <a:ext cx="3097212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000" b="1">
                <a:effectLst>
                  <a:outerShdw blurRad="38100" dist="38100" dir="2700000" algn="tl">
                    <a:srgbClr val="FFFFFF"/>
                  </a:outerShdw>
                </a:effectLst>
              </a:rPr>
              <a:t>31 32 33 34 35 36 37 38 39</a:t>
            </a:r>
          </a:p>
        </p:txBody>
      </p:sp>
      <p:sp>
        <p:nvSpPr>
          <p:cNvPr id="1076245" name="Text Box 21"/>
          <p:cNvSpPr txBox="1">
            <a:spLocks noChangeArrowheads="1"/>
          </p:cNvSpPr>
          <p:nvPr/>
        </p:nvSpPr>
        <p:spPr bwMode="auto">
          <a:xfrm>
            <a:off x="9768631" y="2910632"/>
            <a:ext cx="2232025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000" b="1">
                <a:solidFill>
                  <a:srgbClr val="CC00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0D 0A 61 62 63 64</a:t>
            </a:r>
          </a:p>
        </p:txBody>
      </p:sp>
      <p:grpSp>
        <p:nvGrpSpPr>
          <p:cNvPr id="1076253" name="Group 29"/>
          <p:cNvGrpSpPr>
            <a:grpSpLocks/>
          </p:cNvGrpSpPr>
          <p:nvPr/>
        </p:nvGrpSpPr>
        <p:grpSpPr bwMode="auto">
          <a:xfrm>
            <a:off x="7001617" y="3312269"/>
            <a:ext cx="2520950" cy="654050"/>
            <a:chOff x="2562" y="981"/>
            <a:chExt cx="1588" cy="412"/>
          </a:xfrm>
        </p:grpSpPr>
        <p:sp>
          <p:nvSpPr>
            <p:cNvPr id="1076247" name="AutoShape 23"/>
            <p:cNvSpPr>
              <a:spLocks/>
            </p:cNvSpPr>
            <p:nvPr/>
          </p:nvSpPr>
          <p:spPr bwMode="auto">
            <a:xfrm rot="-5400000">
              <a:off x="3265" y="278"/>
              <a:ext cx="181" cy="1588"/>
            </a:xfrm>
            <a:prstGeom prst="leftBrace">
              <a:avLst>
                <a:gd name="adj1" fmla="val 73112"/>
                <a:gd name="adj2" fmla="val 50000"/>
              </a:avLst>
            </a:prstGeom>
            <a:noFill/>
            <a:ln w="19050">
              <a:solidFill>
                <a:srgbClr val="0000FF"/>
              </a:solidFill>
              <a:round/>
              <a:headEnd/>
              <a:tailEnd/>
            </a:ln>
            <a:effectLst>
              <a:outerShdw dist="35921" dir="2700000" algn="ctr" rotWithShape="0">
                <a:schemeClr val="bg2"/>
              </a:outerShdw>
            </a:effec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76248" name="Text Box 24"/>
            <p:cNvSpPr txBox="1">
              <a:spLocks noChangeArrowheads="1"/>
            </p:cNvSpPr>
            <p:nvPr/>
          </p:nvSpPr>
          <p:spPr bwMode="auto">
            <a:xfrm>
              <a:off x="2880" y="1162"/>
              <a:ext cx="1043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1800" b="1" dirty="0">
                  <a:solidFill>
                    <a:schemeClr val="accent2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</a:rPr>
                <a:t>"123456789"</a:t>
              </a:r>
            </a:p>
          </p:txBody>
        </p:sp>
      </p:grpSp>
      <p:grpSp>
        <p:nvGrpSpPr>
          <p:cNvPr id="1076255" name="Group 31"/>
          <p:cNvGrpSpPr>
            <a:grpSpLocks/>
          </p:cNvGrpSpPr>
          <p:nvPr/>
        </p:nvGrpSpPr>
        <p:grpSpPr bwMode="auto">
          <a:xfrm>
            <a:off x="9162206" y="2951907"/>
            <a:ext cx="1425575" cy="1438275"/>
            <a:chOff x="3923" y="754"/>
            <a:chExt cx="898" cy="906"/>
          </a:xfrm>
        </p:grpSpPr>
        <p:sp>
          <p:nvSpPr>
            <p:cNvPr id="1076249" name="Oval 25"/>
            <p:cNvSpPr>
              <a:spLocks noChangeArrowheads="1"/>
            </p:cNvSpPr>
            <p:nvPr/>
          </p:nvSpPr>
          <p:spPr bwMode="auto">
            <a:xfrm>
              <a:off x="4323" y="754"/>
              <a:ext cx="498" cy="227"/>
            </a:xfrm>
            <a:prstGeom prst="ellipse">
              <a:avLst/>
            </a:prstGeom>
            <a:noFill/>
            <a:ln w="28575">
              <a:solidFill>
                <a:srgbClr val="FF0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76250" name="AutoShape 26"/>
            <p:cNvSpPr>
              <a:spLocks noChangeArrowheads="1"/>
            </p:cNvSpPr>
            <p:nvPr/>
          </p:nvSpPr>
          <p:spPr bwMode="auto">
            <a:xfrm>
              <a:off x="3923" y="1207"/>
              <a:ext cx="817" cy="453"/>
            </a:xfrm>
            <a:prstGeom prst="wedgeRoundRectCallout">
              <a:avLst>
                <a:gd name="adj1" fmla="val 27968"/>
                <a:gd name="adj2" fmla="val -98343"/>
                <a:gd name="adj3" fmla="val 16667"/>
              </a:avLst>
            </a:prstGeom>
            <a:gradFill rotWithShape="1">
              <a:gsLst>
                <a:gs pos="0">
                  <a:srgbClr val="FFCC99"/>
                </a:gs>
                <a:gs pos="100000">
                  <a:schemeClr val="bg1"/>
                </a:gs>
              </a:gsLst>
              <a:lin ang="5400000" scaled="1"/>
            </a:gradFill>
            <a:ln w="9525">
              <a:solidFill>
                <a:schemeClr val="tx1"/>
              </a:solidFill>
              <a:miter lim="800000"/>
              <a:headEnd/>
              <a:tailEnd/>
            </a:ln>
            <a:effectLst>
              <a:outerShdw blurRad="50800" dist="106680" dir="2700000" algn="tl" rotWithShape="0">
                <a:prstClr val="black">
                  <a:alpha val="43000"/>
                </a:prstClr>
              </a:outerShdw>
            </a:effectLst>
            <a:scene3d>
              <a:camera prst="orthographicFront"/>
              <a:lightRig rig="threePt" dir="t"/>
            </a:scene3d>
            <a:sp3d>
              <a:bevelT w="114300" prst="hardEdge"/>
            </a:sp3d>
          </p:spPr>
          <p:txBody>
            <a:bodyPr/>
            <a:lstStyle/>
            <a:p>
              <a:r>
                <a:rPr lang="zh-CN" altLang="en-US" sz="1800" b="1" dirty="0">
                  <a:solidFill>
                    <a:schemeClr val="accent2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+mn-lt"/>
                  <a:ea typeface="楷体" pitchFamily="49" charset="-122"/>
                </a:rPr>
                <a:t>回车换行符</a:t>
              </a:r>
              <a:r>
                <a:rPr lang="en-US" altLang="zh-CN" sz="1800" b="1" dirty="0">
                  <a:solidFill>
                    <a:schemeClr val="accent2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+mn-lt"/>
                  <a:ea typeface="楷体" pitchFamily="49" charset="-122"/>
                </a:rPr>
                <a:t>'\n'</a:t>
              </a:r>
            </a:p>
          </p:txBody>
        </p:sp>
      </p:grpSp>
      <p:grpSp>
        <p:nvGrpSpPr>
          <p:cNvPr id="1076254" name="Group 30"/>
          <p:cNvGrpSpPr>
            <a:grpSpLocks/>
          </p:cNvGrpSpPr>
          <p:nvPr/>
        </p:nvGrpSpPr>
        <p:grpSpPr bwMode="auto">
          <a:xfrm>
            <a:off x="10644931" y="3269406"/>
            <a:ext cx="1152525" cy="628650"/>
            <a:chOff x="4857" y="954"/>
            <a:chExt cx="726" cy="396"/>
          </a:xfrm>
        </p:grpSpPr>
        <p:sp>
          <p:nvSpPr>
            <p:cNvPr id="1076251" name="AutoShape 27"/>
            <p:cNvSpPr>
              <a:spLocks/>
            </p:cNvSpPr>
            <p:nvPr/>
          </p:nvSpPr>
          <p:spPr bwMode="auto">
            <a:xfrm rot="-5400000">
              <a:off x="5129" y="682"/>
              <a:ext cx="181" cy="726"/>
            </a:xfrm>
            <a:prstGeom prst="leftBrace">
              <a:avLst>
                <a:gd name="adj1" fmla="val 33425"/>
                <a:gd name="adj2" fmla="val 50000"/>
              </a:avLst>
            </a:prstGeom>
            <a:noFill/>
            <a:ln w="19050">
              <a:solidFill>
                <a:srgbClr val="0000FF"/>
              </a:solidFill>
              <a:round/>
              <a:headEnd/>
              <a:tailEnd/>
            </a:ln>
            <a:effectLst>
              <a:outerShdw dist="35921" dir="2700000" algn="ctr" rotWithShape="0">
                <a:schemeClr val="bg2"/>
              </a:outerShdw>
            </a:effec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76252" name="Text Box 28"/>
            <p:cNvSpPr txBox="1">
              <a:spLocks noChangeArrowheads="1"/>
            </p:cNvSpPr>
            <p:nvPr/>
          </p:nvSpPr>
          <p:spPr bwMode="auto">
            <a:xfrm>
              <a:off x="4940" y="1117"/>
              <a:ext cx="589" cy="23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1800" b="1" dirty="0">
                  <a:solidFill>
                    <a:schemeClr val="accent2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</a:rPr>
                <a:t>"</a:t>
              </a:r>
              <a:r>
                <a:rPr lang="en-US" altLang="zh-CN" sz="1800" b="1" dirty="0" err="1">
                  <a:solidFill>
                    <a:schemeClr val="accent2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</a:rPr>
                <a:t>abcd</a:t>
              </a:r>
              <a:r>
                <a:rPr lang="en-US" altLang="zh-CN" sz="1800" b="1" dirty="0">
                  <a:solidFill>
                    <a:schemeClr val="accent2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</a:rPr>
                <a:t>"</a:t>
              </a:r>
            </a:p>
          </p:txBody>
        </p:sp>
      </p:grpSp>
      <p:grpSp>
        <p:nvGrpSpPr>
          <p:cNvPr id="1076262" name="Group 38"/>
          <p:cNvGrpSpPr>
            <a:grpSpLocks/>
          </p:cNvGrpSpPr>
          <p:nvPr/>
        </p:nvGrpSpPr>
        <p:grpSpPr bwMode="auto">
          <a:xfrm>
            <a:off x="-14458" y="0"/>
            <a:ext cx="446088" cy="6858000"/>
            <a:chOff x="0" y="0"/>
            <a:chExt cx="281" cy="4320"/>
          </a:xfrm>
        </p:grpSpPr>
        <p:sp>
          <p:nvSpPr>
            <p:cNvPr id="1076263" name="Text Box 39"/>
            <p:cNvSpPr txBox="1">
              <a:spLocks noChangeArrowheads="1"/>
            </p:cNvSpPr>
            <p:nvPr/>
          </p:nvSpPr>
          <p:spPr bwMode="auto">
            <a:xfrm>
              <a:off x="0" y="0"/>
              <a:ext cx="281" cy="4320"/>
            </a:xfrm>
            <a:prstGeom prst="rect">
              <a:avLst/>
            </a:prstGeom>
            <a:gradFill rotWithShape="0">
              <a:gsLst>
                <a:gs pos="0">
                  <a:schemeClr val="hlink">
                    <a:gamma/>
                    <a:shade val="60784"/>
                    <a:invGamma/>
                  </a:schemeClr>
                </a:gs>
                <a:gs pos="50000">
                  <a:schemeClr val="hlink"/>
                </a:gs>
                <a:gs pos="100000">
                  <a:schemeClr val="hlink">
                    <a:gamma/>
                    <a:shade val="60784"/>
                    <a:invGamma/>
                  </a:schemeClr>
                </a:gs>
              </a:gsLst>
              <a:lin ang="0" scaled="1"/>
            </a:gradFill>
            <a:ln w="9525">
              <a:noFill/>
              <a:miter lim="800000"/>
              <a:headEnd/>
              <a:tailEnd/>
            </a:ln>
            <a:effectLst/>
          </p:spPr>
          <p:txBody>
            <a:bodyPr/>
            <a:lstStyle/>
            <a:p>
              <a:pPr eaLnBrk="0" hangingPunct="0">
                <a:spcBef>
                  <a:spcPct val="50000"/>
                </a:spcBef>
              </a:pPr>
              <a:endParaRPr lang="en-US" altLang="zh-CN" sz="1800" dirty="0">
                <a:solidFill>
                  <a:srgbClr val="3333CC"/>
                </a:solidFill>
                <a:latin typeface="Verdana" pitchFamily="34" charset="0"/>
              </a:endParaRPr>
            </a:p>
            <a:p>
              <a:pPr eaLnBrk="0" hangingPunct="0">
                <a:spcBef>
                  <a:spcPct val="50000"/>
                </a:spcBef>
              </a:pPr>
              <a:r>
                <a:rPr lang="zh-CN" altLang="en-US" sz="1600" b="1" dirty="0">
                  <a:solidFill>
                    <a:srgbClr val="3333CC"/>
                  </a:solidFill>
                  <a:latin typeface="Verdana" pitchFamily="34" charset="0"/>
                </a:rPr>
                <a:t>语言程序设计教程       </a:t>
              </a:r>
            </a:p>
            <a:p>
              <a:pPr eaLnBrk="0" hangingPunct="0">
                <a:spcBef>
                  <a:spcPct val="50000"/>
                </a:spcBef>
              </a:pPr>
              <a:r>
                <a:rPr lang="zh-CN" altLang="en-US" sz="1600" b="1" dirty="0">
                  <a:solidFill>
                    <a:srgbClr val="3333CC"/>
                  </a:solidFill>
                  <a:latin typeface="Verdana" pitchFamily="34" charset="0"/>
                </a:rPr>
                <a:t>第三版</a:t>
              </a:r>
            </a:p>
            <a:p>
              <a:pPr eaLnBrk="0" hangingPunct="0">
                <a:spcBef>
                  <a:spcPct val="50000"/>
                </a:spcBef>
              </a:pPr>
              <a:endParaRPr lang="zh-CN" altLang="en-US" sz="1600" b="1" dirty="0">
                <a:solidFill>
                  <a:srgbClr val="3333CC"/>
                </a:solidFill>
                <a:latin typeface="Verdana" pitchFamily="34" charset="0"/>
              </a:endParaRPr>
            </a:p>
            <a:p>
              <a:pPr eaLnBrk="0" hangingPunct="0">
                <a:spcBef>
                  <a:spcPct val="50000"/>
                </a:spcBef>
              </a:pPr>
              <a:endParaRPr lang="zh-CN" altLang="en-US" sz="1600" b="1" dirty="0">
                <a:solidFill>
                  <a:srgbClr val="3333CC"/>
                </a:solidFill>
                <a:latin typeface="Verdana" pitchFamily="34" charset="0"/>
              </a:endParaRPr>
            </a:p>
            <a:p>
              <a:pPr eaLnBrk="0" hangingPunct="0">
                <a:spcBef>
                  <a:spcPct val="50000"/>
                </a:spcBef>
              </a:pPr>
              <a:r>
                <a:rPr lang="zh-CN" altLang="en-US" sz="1600" b="1" dirty="0">
                  <a:solidFill>
                    <a:srgbClr val="3333CC"/>
                  </a:solidFill>
                  <a:latin typeface="Verdana" pitchFamily="34" charset="0"/>
                </a:rPr>
                <a:t>第十</a:t>
              </a:r>
            </a:p>
            <a:p>
              <a:pPr eaLnBrk="0" hangingPunct="0">
                <a:spcBef>
                  <a:spcPct val="50000"/>
                </a:spcBef>
              </a:pPr>
              <a:r>
                <a:rPr lang="zh-CN" altLang="en-US" sz="1600" b="1" dirty="0">
                  <a:solidFill>
                    <a:srgbClr val="3333CC"/>
                  </a:solidFill>
                  <a:latin typeface="Verdana" pitchFamily="34" charset="0"/>
                </a:rPr>
                <a:t>二章 </a:t>
              </a:r>
            </a:p>
            <a:p>
              <a:pPr eaLnBrk="0" hangingPunct="0">
                <a:spcBef>
                  <a:spcPct val="50000"/>
                </a:spcBef>
              </a:pPr>
              <a:endParaRPr lang="zh-CN" altLang="en-US" sz="1600" b="1" dirty="0">
                <a:solidFill>
                  <a:srgbClr val="3333CC"/>
                </a:solidFill>
                <a:latin typeface="Verdana" pitchFamily="34" charset="0"/>
              </a:endParaRPr>
            </a:p>
            <a:p>
              <a:pPr eaLnBrk="0" hangingPunct="0">
                <a:spcBef>
                  <a:spcPct val="50000"/>
                </a:spcBef>
              </a:pPr>
              <a:r>
                <a:rPr lang="zh-CN" altLang="en-US" sz="1600" b="1" dirty="0">
                  <a:solidFill>
                    <a:srgbClr val="3333CC"/>
                  </a:solidFill>
                  <a:latin typeface="Verdana" pitchFamily="34" charset="0"/>
                </a:rPr>
                <a:t>文</a:t>
              </a:r>
            </a:p>
            <a:p>
              <a:pPr eaLnBrk="0" hangingPunct="0">
                <a:spcBef>
                  <a:spcPct val="50000"/>
                </a:spcBef>
              </a:pPr>
              <a:endParaRPr lang="zh-CN" altLang="en-US" sz="1600" b="1" dirty="0">
                <a:solidFill>
                  <a:srgbClr val="3333CC"/>
                </a:solidFill>
                <a:latin typeface="Verdana" pitchFamily="34" charset="0"/>
              </a:endParaRPr>
            </a:p>
            <a:p>
              <a:pPr eaLnBrk="0" hangingPunct="0">
                <a:spcBef>
                  <a:spcPct val="50000"/>
                </a:spcBef>
              </a:pPr>
              <a:r>
                <a:rPr lang="zh-CN" altLang="en-US" sz="1600" b="1" dirty="0">
                  <a:solidFill>
                    <a:srgbClr val="3333CC"/>
                  </a:solidFill>
                  <a:latin typeface="Verdana" pitchFamily="34" charset="0"/>
                </a:rPr>
                <a:t>件</a:t>
              </a:r>
            </a:p>
          </p:txBody>
        </p:sp>
        <p:sp>
          <p:nvSpPr>
            <p:cNvPr id="1076264" name="Text Box 40"/>
            <p:cNvSpPr txBox="1">
              <a:spLocks noChangeArrowheads="1"/>
            </p:cNvSpPr>
            <p:nvPr/>
          </p:nvSpPr>
          <p:spPr bwMode="auto">
            <a:xfrm>
              <a:off x="0" y="0"/>
              <a:ext cx="281" cy="231"/>
            </a:xfrm>
            <a:prstGeom prst="rect">
              <a:avLst/>
            </a:prstGeom>
            <a:gradFill rotWithShape="0">
              <a:gsLst>
                <a:gs pos="0">
                  <a:schemeClr val="hlink">
                    <a:gamma/>
                    <a:shade val="46275"/>
                    <a:invGamma/>
                  </a:schemeClr>
                </a:gs>
                <a:gs pos="50000">
                  <a:schemeClr val="hlink"/>
                </a:gs>
                <a:gs pos="100000">
                  <a:schemeClr val="hlink">
                    <a:gamma/>
                    <a:shade val="46275"/>
                    <a:invGamma/>
                  </a:schemeClr>
                </a:gs>
              </a:gsLst>
              <a:lin ang="0" scaled="1"/>
            </a:gradFill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eaLnBrk="0" hangingPunct="0">
                <a:spcBef>
                  <a:spcPct val="50000"/>
                </a:spcBef>
              </a:pPr>
              <a:r>
                <a:rPr lang="en-US" altLang="zh-CN" sz="1800" b="1">
                  <a:solidFill>
                    <a:srgbClr val="0000FF"/>
                  </a:solidFill>
                  <a:latin typeface="Arial" pitchFamily="34" charset="0"/>
                </a:rPr>
                <a:t>C</a:t>
              </a:r>
            </a:p>
          </p:txBody>
        </p:sp>
      </p:grpSp>
    </p:spTree>
  </p:cSld>
  <p:clrMapOvr>
    <a:masterClrMapping/>
  </p:clrMapOvr>
  <p:transition>
    <p:cover/>
    <p:sndAc>
      <p:stSnd>
        <p:snd r:embed="rId3" name="CAMER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62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0762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0762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623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07623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07623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9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623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07623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07623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3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1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623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07623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07623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7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2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623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07623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07623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2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623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107623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07623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2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623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07623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07623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9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3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623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107623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107623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3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3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623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107623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107623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7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4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6230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076230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076230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4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6230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1076230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1076230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4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6230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1076230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1076230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9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5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6230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1076230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1076230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3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>
                            <p:stCondLst>
                              <p:cond delay="500"/>
                            </p:stCondLst>
                            <p:childTnLst>
                              <p:par>
                                <p:cTn id="58" presetID="4" presetClass="entr" presetSubtype="3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62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60" dur="500"/>
                                        <p:tgtEl>
                                          <p:spTgt spid="1076261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8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6230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5" dur="500" fill="hold"/>
                                        <p:tgtEl>
                                          <p:spTgt spid="1076230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6" dur="500" fill="hold"/>
                                        <p:tgtEl>
                                          <p:spTgt spid="1076230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63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6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6230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9" dur="500" fill="hold"/>
                                        <p:tgtEl>
                                          <p:spTgt spid="1076230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0" dur="500" fill="hold"/>
                                        <p:tgtEl>
                                          <p:spTgt spid="1076230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67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71" fill="hold">
                            <p:stCondLst>
                              <p:cond delay="500"/>
                            </p:stCondLst>
                            <p:childTnLst>
                              <p:par>
                                <p:cTn id="72" presetID="18" presetClass="entr" presetSubtype="3" fill="hold" grpId="0" nodeType="after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62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74" dur="1000"/>
                                        <p:tgtEl>
                                          <p:spTgt spid="1076244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72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75" fill="hold">
                            <p:stCondLst>
                              <p:cond delay="2300"/>
                            </p:stCondLst>
                            <p:childTnLst>
                              <p:par>
                                <p:cTn id="76" presetID="18" presetClass="entr" presetSubtype="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62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78" dur="500"/>
                                        <p:tgtEl>
                                          <p:spTgt spid="1076253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76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6230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3" dur="500" fill="hold"/>
                                        <p:tgtEl>
                                          <p:spTgt spid="1076230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4" dur="500" fill="hold"/>
                                        <p:tgtEl>
                                          <p:spTgt spid="1076230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8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8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6230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500" fill="hold"/>
                                        <p:tgtEl>
                                          <p:spTgt spid="1076230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8" dur="500" fill="hold"/>
                                        <p:tgtEl>
                                          <p:spTgt spid="1076230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8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89" fill="hold">
                            <p:stCondLst>
                              <p:cond delay="500"/>
                            </p:stCondLst>
                            <p:childTnLst>
                              <p:par>
                                <p:cTn id="90" presetID="18" presetClass="entr" presetSubtype="3" fill="hold" grpId="0" nodeType="after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62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92" dur="1000"/>
                                        <p:tgtEl>
                                          <p:spTgt spid="1076245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9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93" fill="hold">
                            <p:stCondLst>
                              <p:cond delay="2000"/>
                            </p:stCondLst>
                            <p:childTnLst>
                              <p:par>
                                <p:cTn id="94" presetID="18" presetClass="entr" presetSubtype="1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62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96" dur="500"/>
                                        <p:tgtEl>
                                          <p:spTgt spid="1076255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94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5" name="laser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97" fill="hold">
                            <p:stCondLst>
                              <p:cond delay="2500"/>
                            </p:stCondLst>
                            <p:childTnLst>
                              <p:par>
                                <p:cTn id="98" presetID="18" presetClass="entr" presetSubtype="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62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00" dur="500"/>
                                        <p:tgtEl>
                                          <p:spTgt spid="1076254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98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>
                      <p:stCondLst>
                        <p:cond delay="indefinite"/>
                      </p:stCondLst>
                      <p:childTnLst>
                        <p:par>
                          <p:cTn id="102" fill="hold">
                            <p:stCondLst>
                              <p:cond delay="0"/>
                            </p:stCondLst>
                            <p:childTnLst>
                              <p:par>
                                <p:cTn id="10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6230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5" dur="500" fill="hold"/>
                                        <p:tgtEl>
                                          <p:spTgt spid="1076230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6" dur="500" fill="hold"/>
                                        <p:tgtEl>
                                          <p:spTgt spid="1076230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03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76244" grpId="0"/>
      <p:bldP spid="1076245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8293" name="Rectangle 21" descr="信纸"/>
          <p:cNvSpPr>
            <a:spLocks noChangeArrowheads="1"/>
          </p:cNvSpPr>
          <p:nvPr/>
        </p:nvSpPr>
        <p:spPr bwMode="auto">
          <a:xfrm>
            <a:off x="1775520" y="269354"/>
            <a:ext cx="8007099" cy="3231654"/>
          </a:xfrm>
          <a:prstGeom prst="rect">
            <a:avLst/>
          </a:prstGeom>
          <a:blipFill dpi="0" rotWithShape="1">
            <a:blip r:embed="rId5" cstate="print"/>
            <a:srcRect/>
            <a:tile tx="0" ty="0" sx="100000" sy="100000" flip="none" algn="tl"/>
          </a:blipFill>
          <a:ln w="38100">
            <a:solidFill>
              <a:srgbClr val="008000"/>
            </a:solidFill>
            <a:miter lim="800000"/>
            <a:headEnd/>
            <a:tailEnd/>
          </a:ln>
          <a:effectLst>
            <a:outerShdw blurRad="50800" dist="106680" dir="2700000" algn="tl" rotWithShape="0">
              <a:prstClr val="black">
                <a:alpha val="43000"/>
              </a:prstClr>
            </a:outerShdw>
          </a:effectLst>
          <a:scene3d>
            <a:camera prst="orthographicFront"/>
            <a:lightRig rig="threePt" dir="t"/>
          </a:scene3d>
          <a:sp3d>
            <a:bevelT w="114300" prst="hardEdge"/>
          </a:sp3d>
        </p:spPr>
        <p:txBody>
          <a:bodyPr wrap="square" anchor="ctr">
            <a:spAutoFit/>
          </a:bodyPr>
          <a:lstStyle/>
          <a:p>
            <a:pPr>
              <a:tabLst>
                <a:tab pos="800100" algn="l"/>
              </a:tabLst>
            </a:pPr>
            <a:r>
              <a:rPr lang="en-US" altLang="zh-CN" dirty="0"/>
              <a:t>  </a:t>
            </a:r>
            <a:r>
              <a:rPr lang="en-US" altLang="zh-CN" sz="2000" b="1" dirty="0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fp2 = </a:t>
            </a:r>
            <a:r>
              <a:rPr lang="en-US" altLang="zh-CN" sz="2000" b="1" dirty="0" err="1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fopen</a:t>
            </a:r>
            <a:r>
              <a:rPr lang="en-US" altLang="zh-CN" sz="2000" b="1" dirty="0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 ("wang.txt", "</a:t>
            </a:r>
            <a:r>
              <a:rPr lang="en-US" altLang="zh-CN" sz="2000" b="1" dirty="0" err="1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rt</a:t>
            </a:r>
            <a:r>
              <a:rPr lang="en-US" altLang="zh-CN" sz="2000" b="1" dirty="0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");  </a:t>
            </a:r>
            <a:r>
              <a:rPr lang="en-US" altLang="zh-CN" sz="1800" b="1" dirty="0">
                <a:solidFill>
                  <a:schemeClr val="accent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楷体" pitchFamily="49" charset="-122"/>
              </a:rPr>
              <a:t>//</a:t>
            </a:r>
            <a:r>
              <a:rPr lang="zh-CN" altLang="en-US" sz="1800" b="1" dirty="0">
                <a:solidFill>
                  <a:schemeClr val="accent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楷体" pitchFamily="49" charset="-122"/>
              </a:rPr>
              <a:t>以只读方式打开</a:t>
            </a:r>
            <a:r>
              <a:rPr lang="en-US" altLang="zh-CN" sz="1800" b="1" dirty="0">
                <a:solidFill>
                  <a:schemeClr val="accent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楷体" pitchFamily="49" charset="-122"/>
              </a:rPr>
              <a:t>wang.txt</a:t>
            </a:r>
            <a:r>
              <a:rPr lang="zh-CN" altLang="en-US" sz="1800" b="1" dirty="0">
                <a:solidFill>
                  <a:schemeClr val="accent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楷体" pitchFamily="49" charset="-122"/>
              </a:rPr>
              <a:t>文件</a:t>
            </a:r>
          </a:p>
          <a:p>
            <a:pPr>
              <a:tabLst>
                <a:tab pos="800100" algn="l"/>
              </a:tabLst>
            </a:pPr>
            <a:r>
              <a:rPr lang="zh-CN" altLang="en-US" sz="2000" b="1" dirty="0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  </a:t>
            </a:r>
            <a:r>
              <a:rPr lang="en-US" altLang="zh-CN" sz="2000" b="1" dirty="0" err="1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fgets</a:t>
            </a:r>
            <a:r>
              <a:rPr lang="en-US" altLang="zh-CN" sz="2000" b="1" dirty="0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 (</a:t>
            </a:r>
            <a:r>
              <a:rPr lang="en-US" altLang="zh-CN" sz="2000" b="1" dirty="0" err="1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str</a:t>
            </a:r>
            <a:r>
              <a:rPr lang="en-US" altLang="zh-CN" sz="2000" b="1" dirty="0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, 8, fp2);      </a:t>
            </a:r>
            <a:r>
              <a:rPr lang="en-US" altLang="zh-CN" sz="1800" b="1" dirty="0">
                <a:solidFill>
                  <a:schemeClr val="accent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楷体" pitchFamily="49" charset="-122"/>
              </a:rPr>
              <a:t>//</a:t>
            </a:r>
            <a:r>
              <a:rPr lang="zh-CN" altLang="en-US" sz="1800" b="1" dirty="0">
                <a:solidFill>
                  <a:schemeClr val="accent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楷体" pitchFamily="49" charset="-122"/>
              </a:rPr>
              <a:t>读取字符串，最大长度是</a:t>
            </a:r>
            <a:r>
              <a:rPr lang="en-US" altLang="zh-CN" sz="1800" b="1" dirty="0">
                <a:solidFill>
                  <a:schemeClr val="accent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楷体" pitchFamily="49" charset="-122"/>
              </a:rPr>
              <a:t>7</a:t>
            </a:r>
            <a:r>
              <a:rPr lang="zh-CN" altLang="en-US" sz="1800" b="1" dirty="0">
                <a:solidFill>
                  <a:schemeClr val="accent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楷体" pitchFamily="49" charset="-122"/>
              </a:rPr>
              <a:t>，将是</a:t>
            </a:r>
            <a:r>
              <a:rPr lang="en-US" altLang="zh-CN" sz="1800" b="1" dirty="0">
                <a:solidFill>
                  <a:schemeClr val="accent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楷体" pitchFamily="49" charset="-122"/>
              </a:rPr>
              <a:t>"1234567"</a:t>
            </a:r>
          </a:p>
          <a:p>
            <a:pPr>
              <a:tabLst>
                <a:tab pos="800100" algn="l"/>
              </a:tabLst>
            </a:pPr>
            <a:r>
              <a:rPr lang="en-US" altLang="zh-CN" sz="2000" b="1" dirty="0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  </a:t>
            </a:r>
            <a:r>
              <a:rPr lang="en-US" altLang="zh-CN" sz="2000" b="1" dirty="0" err="1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printf</a:t>
            </a:r>
            <a:r>
              <a:rPr lang="en-US" altLang="zh-CN" sz="2000" b="1" dirty="0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 ("%s\n", </a:t>
            </a:r>
            <a:r>
              <a:rPr lang="en-US" altLang="zh-CN" sz="2000" b="1" dirty="0" err="1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str</a:t>
            </a:r>
            <a:r>
              <a:rPr lang="en-US" altLang="zh-CN" sz="2000" b="1" dirty="0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);</a:t>
            </a:r>
          </a:p>
          <a:p>
            <a:pPr>
              <a:tabLst>
                <a:tab pos="800100" algn="l"/>
              </a:tabLst>
            </a:pPr>
            <a:r>
              <a:rPr lang="en-US" altLang="zh-CN" sz="2000" b="1" dirty="0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  </a:t>
            </a:r>
            <a:r>
              <a:rPr lang="en-US" altLang="zh-CN" sz="2000" b="1" dirty="0" err="1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fgets</a:t>
            </a:r>
            <a:r>
              <a:rPr lang="en-US" altLang="zh-CN" sz="2000" b="1" dirty="0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 (</a:t>
            </a:r>
            <a:r>
              <a:rPr lang="en-US" altLang="zh-CN" sz="2000" b="1" dirty="0" err="1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str</a:t>
            </a:r>
            <a:r>
              <a:rPr lang="en-US" altLang="zh-CN" sz="2000" b="1" dirty="0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, 8, fp2);      </a:t>
            </a:r>
            <a:r>
              <a:rPr lang="en-US" altLang="zh-CN" sz="1800" b="1" dirty="0">
                <a:solidFill>
                  <a:schemeClr val="accent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楷体" pitchFamily="49" charset="-122"/>
              </a:rPr>
              <a:t>//</a:t>
            </a:r>
            <a:r>
              <a:rPr lang="zh-CN" altLang="en-US" sz="1800" b="1" dirty="0">
                <a:solidFill>
                  <a:schemeClr val="accent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楷体" pitchFamily="49" charset="-122"/>
              </a:rPr>
              <a:t>读取字符串，最大长度是</a:t>
            </a:r>
            <a:r>
              <a:rPr lang="en-US" altLang="zh-CN" sz="1800" b="1" dirty="0">
                <a:solidFill>
                  <a:schemeClr val="accent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楷体" pitchFamily="49" charset="-122"/>
              </a:rPr>
              <a:t>7</a:t>
            </a:r>
            <a:r>
              <a:rPr lang="zh-CN" altLang="en-US" sz="1800" b="1" dirty="0">
                <a:solidFill>
                  <a:schemeClr val="accent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楷体" pitchFamily="49" charset="-122"/>
              </a:rPr>
              <a:t>，实际上将是</a:t>
            </a:r>
            <a:r>
              <a:rPr lang="en-US" altLang="zh-CN" sz="1800" b="1" dirty="0">
                <a:solidFill>
                  <a:schemeClr val="accent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楷体" pitchFamily="49" charset="-122"/>
              </a:rPr>
              <a:t>"89\n"</a:t>
            </a:r>
          </a:p>
          <a:p>
            <a:pPr>
              <a:tabLst>
                <a:tab pos="800100" algn="l"/>
              </a:tabLst>
            </a:pPr>
            <a:r>
              <a:rPr lang="en-US" altLang="zh-CN" sz="2000" b="1" dirty="0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  </a:t>
            </a:r>
            <a:r>
              <a:rPr lang="en-US" altLang="zh-CN" sz="2000" b="1" dirty="0" err="1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printf</a:t>
            </a:r>
            <a:r>
              <a:rPr lang="en-US" altLang="zh-CN" sz="2000" b="1" dirty="0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 ("%s\n", </a:t>
            </a:r>
            <a:r>
              <a:rPr lang="en-US" altLang="zh-CN" sz="2000" b="1" dirty="0" err="1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str</a:t>
            </a:r>
            <a:r>
              <a:rPr lang="en-US" altLang="zh-CN" sz="2000" b="1" dirty="0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);</a:t>
            </a:r>
          </a:p>
          <a:p>
            <a:pPr>
              <a:tabLst>
                <a:tab pos="800100" algn="l"/>
              </a:tabLst>
            </a:pPr>
            <a:r>
              <a:rPr lang="en-US" altLang="zh-CN" sz="2000" b="1" dirty="0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  </a:t>
            </a:r>
            <a:r>
              <a:rPr lang="en-US" altLang="zh-CN" sz="2000" b="1" dirty="0" err="1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fgets</a:t>
            </a:r>
            <a:r>
              <a:rPr lang="en-US" altLang="zh-CN" sz="2000" b="1" dirty="0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 (</a:t>
            </a:r>
            <a:r>
              <a:rPr lang="en-US" altLang="zh-CN" sz="2000" b="1" dirty="0" err="1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str</a:t>
            </a:r>
            <a:r>
              <a:rPr lang="en-US" altLang="zh-CN" sz="2000" b="1" dirty="0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, 8, fp2);      </a:t>
            </a:r>
            <a:r>
              <a:rPr lang="en-US" altLang="zh-CN" sz="1800" b="1" dirty="0">
                <a:solidFill>
                  <a:schemeClr val="accent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楷体" pitchFamily="49" charset="-122"/>
              </a:rPr>
              <a:t>//</a:t>
            </a:r>
            <a:r>
              <a:rPr lang="zh-CN" altLang="en-US" sz="1800" b="1" dirty="0">
                <a:solidFill>
                  <a:schemeClr val="accent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楷体" pitchFamily="49" charset="-122"/>
              </a:rPr>
              <a:t>读取字符串，最大长度是</a:t>
            </a:r>
            <a:r>
              <a:rPr lang="en-US" altLang="zh-CN" sz="1800" b="1" dirty="0">
                <a:solidFill>
                  <a:schemeClr val="accent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楷体" pitchFamily="49" charset="-122"/>
              </a:rPr>
              <a:t>7</a:t>
            </a:r>
            <a:r>
              <a:rPr lang="zh-CN" altLang="en-US" sz="1800" b="1" dirty="0">
                <a:solidFill>
                  <a:schemeClr val="accent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楷体" pitchFamily="49" charset="-122"/>
              </a:rPr>
              <a:t>，实际上将是</a:t>
            </a:r>
            <a:r>
              <a:rPr lang="en-US" altLang="zh-CN" sz="1800" b="1" dirty="0">
                <a:solidFill>
                  <a:schemeClr val="accent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楷体" pitchFamily="49" charset="-122"/>
              </a:rPr>
              <a:t>"</a:t>
            </a:r>
            <a:r>
              <a:rPr lang="en-US" altLang="zh-CN" sz="1800" b="1" dirty="0" err="1">
                <a:solidFill>
                  <a:schemeClr val="accent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楷体" pitchFamily="49" charset="-122"/>
              </a:rPr>
              <a:t>abcd</a:t>
            </a:r>
            <a:r>
              <a:rPr lang="en-US" altLang="zh-CN" sz="1800" b="1" dirty="0">
                <a:solidFill>
                  <a:schemeClr val="accent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楷体" pitchFamily="49" charset="-122"/>
              </a:rPr>
              <a:t>"</a:t>
            </a:r>
          </a:p>
          <a:p>
            <a:pPr>
              <a:tabLst>
                <a:tab pos="800100" algn="l"/>
              </a:tabLst>
            </a:pPr>
            <a:r>
              <a:rPr lang="en-US" altLang="zh-CN" sz="2000" b="1" dirty="0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  </a:t>
            </a:r>
            <a:r>
              <a:rPr lang="en-US" altLang="zh-CN" sz="2000" b="1" dirty="0" err="1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printf</a:t>
            </a:r>
            <a:r>
              <a:rPr lang="en-US" altLang="zh-CN" sz="2000" b="1" dirty="0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 ("%s\n", </a:t>
            </a:r>
            <a:r>
              <a:rPr lang="en-US" altLang="zh-CN" sz="2000" b="1" dirty="0" err="1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str</a:t>
            </a:r>
            <a:r>
              <a:rPr lang="en-US" altLang="zh-CN" sz="2000" b="1" dirty="0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);</a:t>
            </a:r>
          </a:p>
          <a:p>
            <a:pPr>
              <a:tabLst>
                <a:tab pos="800100" algn="l"/>
              </a:tabLst>
            </a:pPr>
            <a:r>
              <a:rPr lang="en-US" altLang="zh-CN" sz="2000" b="1" dirty="0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  </a:t>
            </a:r>
            <a:r>
              <a:rPr lang="en-US" altLang="zh-CN" sz="2000" b="1" dirty="0" err="1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fclose</a:t>
            </a:r>
            <a:r>
              <a:rPr lang="en-US" altLang="zh-CN" sz="2000" b="1" dirty="0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 (fp2);              </a:t>
            </a:r>
            <a:r>
              <a:rPr lang="en-US" altLang="zh-CN" sz="1800" b="1" dirty="0">
                <a:solidFill>
                  <a:schemeClr val="accent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楷体" pitchFamily="49" charset="-122"/>
              </a:rPr>
              <a:t>//</a:t>
            </a:r>
            <a:r>
              <a:rPr lang="zh-CN" altLang="en-US" sz="1800" b="1" dirty="0">
                <a:solidFill>
                  <a:schemeClr val="accent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楷体" pitchFamily="49" charset="-122"/>
              </a:rPr>
              <a:t>关闭打开的文件</a:t>
            </a:r>
          </a:p>
          <a:p>
            <a:pPr>
              <a:tabLst>
                <a:tab pos="800100" algn="l"/>
              </a:tabLst>
            </a:pPr>
            <a:r>
              <a:rPr lang="en-US" altLang="zh-CN" sz="2000" b="1" dirty="0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  return 0;</a:t>
            </a:r>
          </a:p>
          <a:p>
            <a:pPr>
              <a:tabLst>
                <a:tab pos="800100" algn="l"/>
              </a:tabLst>
            </a:pPr>
            <a:r>
              <a:rPr lang="en-US" altLang="zh-CN" sz="2000" b="1" dirty="0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}</a:t>
            </a:r>
          </a:p>
        </p:txBody>
      </p:sp>
      <p:grpSp>
        <p:nvGrpSpPr>
          <p:cNvPr id="1078306" name="Group 34"/>
          <p:cNvGrpSpPr>
            <a:grpSpLocks/>
          </p:cNvGrpSpPr>
          <p:nvPr/>
        </p:nvGrpSpPr>
        <p:grpSpPr bwMode="auto">
          <a:xfrm>
            <a:off x="1100087" y="3816375"/>
            <a:ext cx="6469063" cy="2420937"/>
            <a:chOff x="286" y="2055"/>
            <a:chExt cx="4075" cy="1525"/>
          </a:xfrm>
        </p:grpSpPr>
        <p:grpSp>
          <p:nvGrpSpPr>
            <p:cNvPr id="1078302" name="Group 30"/>
            <p:cNvGrpSpPr>
              <a:grpSpLocks/>
            </p:cNvGrpSpPr>
            <p:nvPr/>
          </p:nvGrpSpPr>
          <p:grpSpPr bwMode="auto">
            <a:xfrm>
              <a:off x="286" y="2055"/>
              <a:ext cx="4075" cy="1525"/>
              <a:chOff x="502" y="2397"/>
              <a:chExt cx="4075" cy="1525"/>
            </a:xfrm>
          </p:grpSpPr>
          <p:grpSp>
            <p:nvGrpSpPr>
              <p:cNvPr id="1078294" name="Group 22"/>
              <p:cNvGrpSpPr>
                <a:grpSpLocks/>
              </p:cNvGrpSpPr>
              <p:nvPr/>
            </p:nvGrpSpPr>
            <p:grpSpPr bwMode="auto">
              <a:xfrm>
                <a:off x="1283" y="2397"/>
                <a:ext cx="3294" cy="1525"/>
                <a:chOff x="2417" y="346"/>
                <a:chExt cx="3294" cy="1525"/>
              </a:xfrm>
            </p:grpSpPr>
            <p:grpSp>
              <p:nvGrpSpPr>
                <p:cNvPr id="1078279" name="Group 7"/>
                <p:cNvGrpSpPr>
                  <a:grpSpLocks/>
                </p:cNvGrpSpPr>
                <p:nvPr/>
              </p:nvGrpSpPr>
              <p:grpSpPr bwMode="auto">
                <a:xfrm>
                  <a:off x="2417" y="346"/>
                  <a:ext cx="3249" cy="1525"/>
                  <a:chOff x="1854" y="1134"/>
                  <a:chExt cx="3249" cy="1525"/>
                </a:xfrm>
              </p:grpSpPr>
              <p:sp>
                <p:nvSpPr>
                  <p:cNvPr id="1078280" name="AutoShape 8"/>
                  <p:cNvSpPr>
                    <a:spLocks noChangeArrowheads="1"/>
                  </p:cNvSpPr>
                  <p:nvPr/>
                </p:nvSpPr>
                <p:spPr bwMode="auto">
                  <a:xfrm>
                    <a:off x="1854" y="1452"/>
                    <a:ext cx="3249" cy="1207"/>
                  </a:xfrm>
                  <a:prstGeom prst="foldedCorner">
                    <a:avLst>
                      <a:gd name="adj" fmla="val 12500"/>
                    </a:avLst>
                  </a:prstGeom>
                  <a:gradFill rotWithShape="1">
                    <a:gsLst>
                      <a:gs pos="0">
                        <a:srgbClr val="00FFFF"/>
                      </a:gs>
                      <a:gs pos="100000">
                        <a:schemeClr val="bg1"/>
                      </a:gs>
                    </a:gsLst>
                    <a:lin ang="5400000" scaled="1"/>
                  </a:gradFill>
                  <a:ln w="25400">
                    <a:solidFill>
                      <a:srgbClr val="FF00FF"/>
                    </a:solidFill>
                    <a:round/>
                    <a:headEnd/>
                    <a:tailEnd/>
                  </a:ln>
                  <a:effectLst>
                    <a:outerShdw blurRad="50800" dist="106680" dir="2700000" algn="tl" rotWithShape="0">
                      <a:prstClr val="black">
                        <a:alpha val="43000"/>
                      </a:prstClr>
                    </a:outerShdw>
                  </a:effectLst>
                </p:spPr>
                <p:txBody>
                  <a:bodyPr wrap="none" anchor="ctr"/>
                  <a:lstStyle/>
                  <a:p>
                    <a:pPr algn="ctr"/>
                    <a:endParaRPr lang="zh-CN" altLang="zh-CN"/>
                  </a:p>
                </p:txBody>
              </p:sp>
              <p:sp>
                <p:nvSpPr>
                  <p:cNvPr id="1078281" name="Text Box 9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3053" y="1134"/>
                    <a:ext cx="908" cy="288"/>
                  </a:xfrm>
                  <a:prstGeom prst="rect">
                    <a:avLst/>
                  </a:prstGeom>
                  <a:noFill/>
                  <a:ln w="9525">
                    <a:noFill/>
                    <a:miter lim="800000"/>
                    <a:headEnd/>
                    <a:tailEnd/>
                  </a:ln>
                  <a:effectLst/>
                </p:spPr>
                <p:txBody>
                  <a:bodyPr>
                    <a:spAutoFit/>
                  </a:bodyPr>
                  <a:lstStyle/>
                  <a:p>
                    <a:pPr>
                      <a:spcBef>
                        <a:spcPct val="50000"/>
                      </a:spcBef>
                    </a:pPr>
                    <a:r>
                      <a:rPr lang="en-US" altLang="zh-CN" b="1">
                        <a:solidFill>
                          <a:srgbClr val="FF3300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</a:rPr>
                      <a:t>wang.txt</a:t>
                    </a:r>
                  </a:p>
                </p:txBody>
              </p:sp>
            </p:grpSp>
            <p:sp>
              <p:nvSpPr>
                <p:cNvPr id="1078282" name="Text Box 10"/>
                <p:cNvSpPr txBox="1">
                  <a:spLocks noChangeArrowheads="1"/>
                </p:cNvSpPr>
                <p:nvPr/>
              </p:nvSpPr>
              <p:spPr bwMode="auto">
                <a:xfrm>
                  <a:off x="2445" y="737"/>
                  <a:ext cx="1951" cy="250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  <a:effectLst/>
              </p:spPr>
              <p:txBody>
                <a:bodyPr>
                  <a:spAutoFit/>
                </a:bodyPr>
                <a:lstStyle/>
                <a:p>
                  <a:pPr>
                    <a:spcBef>
                      <a:spcPct val="50000"/>
                    </a:spcBef>
                  </a:pPr>
                  <a:r>
                    <a:rPr lang="en-US" altLang="zh-CN" sz="2000" b="1">
                      <a:effectLst>
                        <a:outerShdw blurRad="38100" dist="38100" dir="2700000" algn="tl">
                          <a:srgbClr val="FFFFFF"/>
                        </a:outerShdw>
                      </a:effectLst>
                    </a:rPr>
                    <a:t>31 32 33 34 35 36 37 38 39</a:t>
                  </a:r>
                </a:p>
              </p:txBody>
            </p:sp>
            <p:sp>
              <p:nvSpPr>
                <p:cNvPr id="1078283" name="Text Box 11"/>
                <p:cNvSpPr txBox="1">
                  <a:spLocks noChangeArrowheads="1"/>
                </p:cNvSpPr>
                <p:nvPr/>
              </p:nvSpPr>
              <p:spPr bwMode="auto">
                <a:xfrm>
                  <a:off x="4305" y="728"/>
                  <a:ext cx="1406" cy="250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  <a:effectLst/>
              </p:spPr>
              <p:txBody>
                <a:bodyPr>
                  <a:spAutoFit/>
                </a:bodyPr>
                <a:lstStyle/>
                <a:p>
                  <a:pPr>
                    <a:spcBef>
                      <a:spcPct val="50000"/>
                    </a:spcBef>
                  </a:pPr>
                  <a:r>
                    <a:rPr lang="en-US" altLang="zh-CN" sz="2000" b="1">
                      <a:solidFill>
                        <a:srgbClr val="CC0000"/>
                      </a:solidFill>
                      <a:effectLst>
                        <a:outerShdw blurRad="38100" dist="38100" dir="2700000" algn="tl">
                          <a:srgbClr val="000000"/>
                        </a:outerShdw>
                      </a:effectLst>
                    </a:rPr>
                    <a:t>0D 0A 61 62 63 64</a:t>
                  </a:r>
                </a:p>
              </p:txBody>
            </p:sp>
          </p:grpSp>
          <p:grpSp>
            <p:nvGrpSpPr>
              <p:cNvPr id="1078297" name="Group 25"/>
              <p:cNvGrpSpPr>
                <a:grpSpLocks/>
              </p:cNvGrpSpPr>
              <p:nvPr/>
            </p:nvGrpSpPr>
            <p:grpSpPr bwMode="auto">
              <a:xfrm>
                <a:off x="502" y="2751"/>
                <a:ext cx="763" cy="250"/>
                <a:chOff x="502" y="2877"/>
                <a:chExt cx="763" cy="250"/>
              </a:xfrm>
            </p:grpSpPr>
            <p:sp>
              <p:nvSpPr>
                <p:cNvPr id="1078295" name="Line 23"/>
                <p:cNvSpPr>
                  <a:spLocks noChangeShapeType="1"/>
                </p:cNvSpPr>
                <p:nvPr/>
              </p:nvSpPr>
              <p:spPr bwMode="auto">
                <a:xfrm>
                  <a:off x="811" y="3022"/>
                  <a:ext cx="454" cy="0"/>
                </a:xfrm>
                <a:prstGeom prst="line">
                  <a:avLst/>
                </a:prstGeom>
                <a:noFill/>
                <a:ln w="28575">
                  <a:solidFill>
                    <a:srgbClr val="FF0000"/>
                  </a:solidFill>
                  <a:round/>
                  <a:headEnd/>
                  <a:tailEnd type="stealth" w="lg" len="lg"/>
                </a:ln>
                <a:effectLst>
                  <a:outerShdw dist="35921" dir="2700000" algn="ctr" rotWithShape="0">
                    <a:schemeClr val="bg2"/>
                  </a:outerShdw>
                </a:effec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078296" name="Text Box 24"/>
                <p:cNvSpPr txBox="1">
                  <a:spLocks noChangeArrowheads="1"/>
                </p:cNvSpPr>
                <p:nvPr/>
              </p:nvSpPr>
              <p:spPr bwMode="auto">
                <a:xfrm>
                  <a:off x="502" y="2877"/>
                  <a:ext cx="408" cy="250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  <a:effectLst/>
              </p:spPr>
              <p:txBody>
                <a:bodyPr>
                  <a:spAutoFit/>
                </a:bodyPr>
                <a:lstStyle/>
                <a:p>
                  <a:pPr>
                    <a:spcBef>
                      <a:spcPct val="50000"/>
                    </a:spcBef>
                  </a:pPr>
                  <a:r>
                    <a:rPr lang="en-US" altLang="zh-CN" sz="2000" b="1">
                      <a:solidFill>
                        <a:srgbClr val="FF3300"/>
                      </a:solidFill>
                      <a:effectLst>
                        <a:outerShdw blurRad="38100" dist="38100" dir="2700000" algn="tl">
                          <a:srgbClr val="000000"/>
                        </a:outerShdw>
                      </a:effectLst>
                    </a:rPr>
                    <a:t>fp2</a:t>
                  </a:r>
                </a:p>
              </p:txBody>
            </p:sp>
          </p:grpSp>
        </p:grpSp>
        <p:grpSp>
          <p:nvGrpSpPr>
            <p:cNvPr id="1078300" name="Group 28"/>
            <p:cNvGrpSpPr>
              <a:grpSpLocks/>
            </p:cNvGrpSpPr>
            <p:nvPr/>
          </p:nvGrpSpPr>
          <p:grpSpPr bwMode="auto">
            <a:xfrm>
              <a:off x="1032" y="2681"/>
              <a:ext cx="453" cy="641"/>
              <a:chOff x="1257" y="3158"/>
              <a:chExt cx="453" cy="641"/>
            </a:xfrm>
          </p:grpSpPr>
          <p:sp>
            <p:nvSpPr>
              <p:cNvPr id="1078298" name="Line 26"/>
              <p:cNvSpPr>
                <a:spLocks noChangeShapeType="1"/>
              </p:cNvSpPr>
              <p:nvPr/>
            </p:nvSpPr>
            <p:spPr bwMode="auto">
              <a:xfrm flipV="1">
                <a:off x="1447" y="3158"/>
                <a:ext cx="0" cy="272"/>
              </a:xfrm>
              <a:prstGeom prst="line">
                <a:avLst/>
              </a:prstGeom>
              <a:noFill/>
              <a:ln w="28575">
                <a:solidFill>
                  <a:srgbClr val="0000FF"/>
                </a:solidFill>
                <a:prstDash val="sysDot"/>
                <a:round/>
                <a:headEnd/>
                <a:tailEnd type="stealth" w="lg" len="lg"/>
              </a:ln>
              <a:effectLst/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78299" name="Text Box 27"/>
              <p:cNvSpPr txBox="1">
                <a:spLocks noChangeArrowheads="1"/>
              </p:cNvSpPr>
              <p:nvPr/>
            </p:nvSpPr>
            <p:spPr bwMode="auto">
              <a:xfrm>
                <a:off x="1257" y="3395"/>
                <a:ext cx="453" cy="404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zh-CN" altLang="en-US" sz="1800" b="1" dirty="0">
                    <a:solidFill>
                      <a:schemeClr val="accent2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+mn-lt"/>
                    <a:ea typeface="楷体" pitchFamily="49" charset="-122"/>
                  </a:rPr>
                  <a:t>位置指针</a:t>
                </a:r>
              </a:p>
            </p:txBody>
          </p:sp>
        </p:grpSp>
      </p:grpSp>
      <p:grpSp>
        <p:nvGrpSpPr>
          <p:cNvPr id="1078303" name="Group 31"/>
          <p:cNvGrpSpPr>
            <a:grpSpLocks/>
          </p:cNvGrpSpPr>
          <p:nvPr/>
        </p:nvGrpSpPr>
        <p:grpSpPr bwMode="auto">
          <a:xfrm>
            <a:off x="4524325" y="4814911"/>
            <a:ext cx="719137" cy="1017588"/>
            <a:chOff x="1257" y="3158"/>
            <a:chExt cx="453" cy="641"/>
          </a:xfrm>
        </p:grpSpPr>
        <p:sp>
          <p:nvSpPr>
            <p:cNvPr id="1078304" name="Line 32"/>
            <p:cNvSpPr>
              <a:spLocks noChangeShapeType="1"/>
            </p:cNvSpPr>
            <p:nvPr/>
          </p:nvSpPr>
          <p:spPr bwMode="auto">
            <a:xfrm flipV="1">
              <a:off x="1447" y="3158"/>
              <a:ext cx="0" cy="272"/>
            </a:xfrm>
            <a:prstGeom prst="line">
              <a:avLst/>
            </a:prstGeom>
            <a:noFill/>
            <a:ln w="28575">
              <a:solidFill>
                <a:srgbClr val="0000FF"/>
              </a:solidFill>
              <a:prstDash val="sysDot"/>
              <a:round/>
              <a:headEnd/>
              <a:tailEnd type="stealth" w="lg" len="lg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78305" name="Text Box 33"/>
            <p:cNvSpPr txBox="1">
              <a:spLocks noChangeArrowheads="1"/>
            </p:cNvSpPr>
            <p:nvPr/>
          </p:nvSpPr>
          <p:spPr bwMode="auto">
            <a:xfrm>
              <a:off x="1257" y="3395"/>
              <a:ext cx="453" cy="40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1800" b="1" dirty="0">
                  <a:solidFill>
                    <a:schemeClr val="accent2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+mn-lt"/>
                  <a:ea typeface="楷体" pitchFamily="49" charset="-122"/>
                </a:rPr>
                <a:t>位置指针</a:t>
              </a:r>
            </a:p>
          </p:txBody>
        </p:sp>
      </p:grpSp>
      <p:sp>
        <p:nvSpPr>
          <p:cNvPr id="1078307" name="Text Box 35"/>
          <p:cNvSpPr txBox="1">
            <a:spLocks noChangeArrowheads="1"/>
          </p:cNvSpPr>
          <p:nvPr/>
        </p:nvSpPr>
        <p:spPr bwMode="auto">
          <a:xfrm>
            <a:off x="8154937" y="4375174"/>
            <a:ext cx="1627679" cy="1617662"/>
          </a:xfrm>
          <a:prstGeom prst="rect">
            <a:avLst/>
          </a:prstGeom>
          <a:solidFill>
            <a:srgbClr val="FFFFFF"/>
          </a:solidFill>
          <a:ln w="38100">
            <a:solidFill>
              <a:srgbClr val="FF00FF"/>
            </a:solidFill>
            <a:miter lim="800000"/>
            <a:headEnd/>
            <a:tailEnd/>
          </a:ln>
          <a:effectLst>
            <a:outerShdw blurRad="50800" dist="106680" dir="2700000" algn="tl" rotWithShape="0">
              <a:prstClr val="black">
                <a:alpha val="43000"/>
              </a:prstClr>
            </a:outerShdw>
          </a:effectLst>
          <a:scene3d>
            <a:camera prst="orthographicFront"/>
            <a:lightRig rig="threePt" dir="t"/>
          </a:scene3d>
          <a:sp3d>
            <a:bevelT w="114300" prst="hardEdge"/>
          </a:sp3d>
        </p:spPr>
        <p:txBody>
          <a:bodyPr/>
          <a:lstStyle/>
          <a:p>
            <a:pPr algn="just"/>
            <a:r>
              <a:rPr lang="zh-CN" altLang="en-US" sz="2000" b="1" dirty="0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隶书" pitchFamily="49" charset="-122"/>
                <a:ea typeface="隶书" pitchFamily="49" charset="-122"/>
              </a:rPr>
              <a:t>运行结果：</a:t>
            </a:r>
          </a:p>
          <a:p>
            <a:pPr algn="just"/>
            <a:r>
              <a:rPr lang="en-US" altLang="zh-CN" sz="2000" b="1" dirty="0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1234567</a:t>
            </a:r>
          </a:p>
          <a:p>
            <a:pPr algn="just"/>
            <a:endParaRPr lang="en-US" altLang="zh-CN" sz="2000" b="1" dirty="0">
              <a:solidFill>
                <a:schemeClr val="accent2"/>
              </a:solidFill>
              <a:effectLst>
                <a:outerShdw blurRad="38100" dist="38100" dir="2700000" algn="tl">
                  <a:srgbClr val="C0C0C0"/>
                </a:outerShdw>
              </a:effectLst>
            </a:endParaRPr>
          </a:p>
          <a:p>
            <a:pPr algn="just"/>
            <a:endParaRPr lang="en-US" altLang="zh-CN" sz="2000" b="1" dirty="0">
              <a:solidFill>
                <a:schemeClr val="accent2"/>
              </a:solidFill>
              <a:effectLst>
                <a:outerShdw blurRad="38100" dist="38100" dir="2700000" algn="tl">
                  <a:srgbClr val="C0C0C0"/>
                </a:outerShdw>
              </a:effectLst>
            </a:endParaRPr>
          </a:p>
          <a:p>
            <a:pPr algn="just"/>
            <a:endParaRPr lang="en-US" altLang="zh-CN" sz="2000" b="1" dirty="0">
              <a:solidFill>
                <a:schemeClr val="accent2"/>
              </a:solidFill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  <p:sp>
        <p:nvSpPr>
          <p:cNvPr id="1078308" name="Rectangle 36"/>
          <p:cNvSpPr>
            <a:spLocks noChangeArrowheads="1"/>
          </p:cNvSpPr>
          <p:nvPr/>
        </p:nvSpPr>
        <p:spPr bwMode="auto">
          <a:xfrm>
            <a:off x="2384917" y="4765400"/>
            <a:ext cx="504825" cy="1008063"/>
          </a:xfrm>
          <a:prstGeom prst="rect">
            <a:avLst/>
          </a:prstGeom>
          <a:gradFill rotWithShape="1">
            <a:gsLst>
              <a:gs pos="0">
                <a:srgbClr val="00FFFF"/>
              </a:gs>
              <a:gs pos="100000">
                <a:schemeClr val="bg1"/>
              </a:gs>
            </a:gsLst>
            <a:lin ang="540000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grpSp>
        <p:nvGrpSpPr>
          <p:cNvPr id="1078311" name="Group 39"/>
          <p:cNvGrpSpPr>
            <a:grpSpLocks/>
          </p:cNvGrpSpPr>
          <p:nvPr/>
        </p:nvGrpSpPr>
        <p:grpSpPr bwMode="auto">
          <a:xfrm>
            <a:off x="2554236" y="4752748"/>
            <a:ext cx="1943100" cy="931863"/>
            <a:chOff x="1202" y="2840"/>
            <a:chExt cx="1224" cy="587"/>
          </a:xfrm>
        </p:grpSpPr>
        <p:sp>
          <p:nvSpPr>
            <p:cNvPr id="1078309" name="AutoShape 37"/>
            <p:cNvSpPr>
              <a:spLocks/>
            </p:cNvSpPr>
            <p:nvPr/>
          </p:nvSpPr>
          <p:spPr bwMode="auto">
            <a:xfrm rot="-5400000">
              <a:off x="1700" y="2342"/>
              <a:ext cx="227" cy="1224"/>
            </a:xfrm>
            <a:prstGeom prst="leftBrace">
              <a:avLst>
                <a:gd name="adj1" fmla="val 44934"/>
                <a:gd name="adj2" fmla="val 50000"/>
              </a:avLst>
            </a:prstGeom>
            <a:noFill/>
            <a:ln w="19050">
              <a:solidFill>
                <a:srgbClr val="0000FF"/>
              </a:solidFill>
              <a:round/>
              <a:headEnd/>
              <a:tailEnd/>
            </a:ln>
            <a:effectLst>
              <a:outerShdw dist="35921" dir="2700000" algn="ctr" rotWithShape="0">
                <a:schemeClr val="bg2"/>
              </a:outerShdw>
            </a:effectLst>
          </p:spPr>
          <p:txBody>
            <a:bodyPr wrap="none" anchor="ctr"/>
            <a:lstStyle/>
            <a:p>
              <a:endParaRPr lang="zh-CN" altLang="en-US">
                <a:latin typeface="+mn-lt"/>
                <a:ea typeface="楷体" pitchFamily="49" charset="-122"/>
              </a:endParaRPr>
            </a:p>
          </p:txBody>
        </p:sp>
        <p:sp>
          <p:nvSpPr>
            <p:cNvPr id="1078310" name="Text Box 38"/>
            <p:cNvSpPr txBox="1">
              <a:spLocks noChangeArrowheads="1"/>
            </p:cNvSpPr>
            <p:nvPr/>
          </p:nvSpPr>
          <p:spPr bwMode="auto">
            <a:xfrm>
              <a:off x="1428" y="3023"/>
              <a:ext cx="953" cy="40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1800" b="1" dirty="0">
                  <a:solidFill>
                    <a:schemeClr val="accent2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+mn-lt"/>
                  <a:ea typeface="楷体" pitchFamily="49" charset="-122"/>
                </a:rPr>
                <a:t>第一次读取</a:t>
              </a:r>
              <a:r>
                <a:rPr lang="en-US" altLang="zh-CN" sz="1800" b="1" dirty="0">
                  <a:solidFill>
                    <a:schemeClr val="accent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+mn-lt"/>
                  <a:ea typeface="楷体" pitchFamily="49" charset="-122"/>
                </a:rPr>
                <a:t>"1234567"</a:t>
              </a:r>
            </a:p>
          </p:txBody>
        </p:sp>
      </p:grpSp>
      <p:grpSp>
        <p:nvGrpSpPr>
          <p:cNvPr id="1078312" name="Group 40"/>
          <p:cNvGrpSpPr>
            <a:grpSpLocks/>
          </p:cNvGrpSpPr>
          <p:nvPr/>
        </p:nvGrpSpPr>
        <p:grpSpPr bwMode="auto">
          <a:xfrm>
            <a:off x="5995936" y="4835550"/>
            <a:ext cx="719138" cy="1017587"/>
            <a:chOff x="1257" y="3158"/>
            <a:chExt cx="453" cy="641"/>
          </a:xfrm>
        </p:grpSpPr>
        <p:sp>
          <p:nvSpPr>
            <p:cNvPr id="1078313" name="Line 41"/>
            <p:cNvSpPr>
              <a:spLocks noChangeShapeType="1"/>
            </p:cNvSpPr>
            <p:nvPr/>
          </p:nvSpPr>
          <p:spPr bwMode="auto">
            <a:xfrm flipV="1">
              <a:off x="1447" y="3158"/>
              <a:ext cx="0" cy="272"/>
            </a:xfrm>
            <a:prstGeom prst="line">
              <a:avLst/>
            </a:prstGeom>
            <a:noFill/>
            <a:ln w="28575">
              <a:solidFill>
                <a:srgbClr val="0000FF"/>
              </a:solidFill>
              <a:prstDash val="sysDot"/>
              <a:round/>
              <a:headEnd/>
              <a:tailEnd type="stealth" w="lg" len="lg"/>
            </a:ln>
            <a:effectLst/>
          </p:spPr>
          <p:txBody>
            <a:bodyPr/>
            <a:lstStyle/>
            <a:p>
              <a:endParaRPr lang="zh-CN" altLang="en-US">
                <a:latin typeface="+mn-lt"/>
                <a:ea typeface="楷体" pitchFamily="49" charset="-122"/>
              </a:endParaRPr>
            </a:p>
          </p:txBody>
        </p:sp>
        <p:sp>
          <p:nvSpPr>
            <p:cNvPr id="1078314" name="Text Box 42"/>
            <p:cNvSpPr txBox="1">
              <a:spLocks noChangeArrowheads="1"/>
            </p:cNvSpPr>
            <p:nvPr/>
          </p:nvSpPr>
          <p:spPr bwMode="auto">
            <a:xfrm>
              <a:off x="1257" y="3395"/>
              <a:ext cx="453" cy="40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1800" b="1" dirty="0">
                  <a:solidFill>
                    <a:schemeClr val="accent2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+mn-lt"/>
                  <a:ea typeface="楷体" pitchFamily="49" charset="-122"/>
                </a:rPr>
                <a:t>位置指针</a:t>
              </a:r>
            </a:p>
          </p:txBody>
        </p:sp>
      </p:grpSp>
      <p:sp>
        <p:nvSpPr>
          <p:cNvPr id="1078315" name="Rectangle 43"/>
          <p:cNvSpPr>
            <a:spLocks noChangeArrowheads="1"/>
          </p:cNvSpPr>
          <p:nvPr/>
        </p:nvSpPr>
        <p:spPr bwMode="auto">
          <a:xfrm>
            <a:off x="4611637" y="4777432"/>
            <a:ext cx="504825" cy="1008063"/>
          </a:xfrm>
          <a:prstGeom prst="rect">
            <a:avLst/>
          </a:prstGeom>
          <a:gradFill rotWithShape="1">
            <a:gsLst>
              <a:gs pos="0">
                <a:srgbClr val="00FFFF"/>
              </a:gs>
              <a:gs pos="100000">
                <a:schemeClr val="bg1"/>
              </a:gs>
            </a:gsLst>
            <a:lin ang="540000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grpSp>
        <p:nvGrpSpPr>
          <p:cNvPr id="1078319" name="Group 47"/>
          <p:cNvGrpSpPr>
            <a:grpSpLocks/>
          </p:cNvGrpSpPr>
          <p:nvPr/>
        </p:nvGrpSpPr>
        <p:grpSpPr bwMode="auto">
          <a:xfrm>
            <a:off x="4756099" y="4777249"/>
            <a:ext cx="1528762" cy="922338"/>
            <a:chOff x="2589" y="2859"/>
            <a:chExt cx="963" cy="581"/>
          </a:xfrm>
        </p:grpSpPr>
        <p:sp>
          <p:nvSpPr>
            <p:cNvPr id="1078317" name="AutoShape 45"/>
            <p:cNvSpPr>
              <a:spLocks/>
            </p:cNvSpPr>
            <p:nvPr/>
          </p:nvSpPr>
          <p:spPr bwMode="auto">
            <a:xfrm rot="-5400000">
              <a:off x="2888" y="2560"/>
              <a:ext cx="191" cy="790"/>
            </a:xfrm>
            <a:prstGeom prst="leftBrace">
              <a:avLst>
                <a:gd name="adj1" fmla="val 34468"/>
                <a:gd name="adj2" fmla="val 50000"/>
              </a:avLst>
            </a:prstGeom>
            <a:noFill/>
            <a:ln w="19050">
              <a:solidFill>
                <a:srgbClr val="0000FF"/>
              </a:solidFill>
              <a:round/>
              <a:headEnd/>
              <a:tailEnd/>
            </a:ln>
            <a:effectLst>
              <a:outerShdw dist="35921" dir="2700000" algn="ctr" rotWithShape="0">
                <a:schemeClr val="bg2"/>
              </a:outerShdw>
            </a:effectLst>
          </p:spPr>
          <p:txBody>
            <a:bodyPr wrap="none" anchor="ctr"/>
            <a:lstStyle/>
            <a:p>
              <a:endParaRPr lang="zh-CN" altLang="en-US">
                <a:latin typeface="+mn-lt"/>
                <a:ea typeface="楷体" pitchFamily="49" charset="-122"/>
              </a:endParaRPr>
            </a:p>
          </p:txBody>
        </p:sp>
        <p:sp>
          <p:nvSpPr>
            <p:cNvPr id="1078318" name="Text Box 46"/>
            <p:cNvSpPr txBox="1">
              <a:spLocks noChangeArrowheads="1"/>
            </p:cNvSpPr>
            <p:nvPr/>
          </p:nvSpPr>
          <p:spPr bwMode="auto">
            <a:xfrm>
              <a:off x="2599" y="3033"/>
              <a:ext cx="953" cy="40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zh-CN" altLang="en-US" sz="1800" b="1" dirty="0">
                  <a:solidFill>
                    <a:schemeClr val="accent2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+mn-lt"/>
                  <a:ea typeface="楷体" pitchFamily="49" charset="-122"/>
                </a:rPr>
                <a:t>第二次读取</a:t>
              </a:r>
              <a:r>
                <a:rPr lang="en-US" altLang="zh-CN" sz="1800" b="1" dirty="0">
                  <a:solidFill>
                    <a:schemeClr val="accent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ea typeface="楷体" pitchFamily="49" charset="-122"/>
                </a:rPr>
                <a:t>"</a:t>
              </a:r>
              <a:r>
                <a:rPr lang="en-US" altLang="zh-CN" sz="1800" b="1" dirty="0">
                  <a:solidFill>
                    <a:schemeClr val="accent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+mn-lt"/>
                  <a:ea typeface="楷体" pitchFamily="49" charset="-122"/>
                </a:rPr>
                <a:t>89\n"</a:t>
              </a:r>
            </a:p>
          </p:txBody>
        </p:sp>
      </p:grpSp>
      <p:grpSp>
        <p:nvGrpSpPr>
          <p:cNvPr id="1078320" name="Group 48"/>
          <p:cNvGrpSpPr>
            <a:grpSpLocks/>
          </p:cNvGrpSpPr>
          <p:nvPr/>
        </p:nvGrpSpPr>
        <p:grpSpPr bwMode="auto">
          <a:xfrm>
            <a:off x="7464375" y="4762525"/>
            <a:ext cx="719137" cy="1017587"/>
            <a:chOff x="1257" y="3158"/>
            <a:chExt cx="453" cy="641"/>
          </a:xfrm>
        </p:grpSpPr>
        <p:sp>
          <p:nvSpPr>
            <p:cNvPr id="1078321" name="Line 49"/>
            <p:cNvSpPr>
              <a:spLocks noChangeShapeType="1"/>
            </p:cNvSpPr>
            <p:nvPr/>
          </p:nvSpPr>
          <p:spPr bwMode="auto">
            <a:xfrm flipV="1">
              <a:off x="1447" y="3158"/>
              <a:ext cx="0" cy="272"/>
            </a:xfrm>
            <a:prstGeom prst="line">
              <a:avLst/>
            </a:prstGeom>
            <a:noFill/>
            <a:ln w="28575">
              <a:solidFill>
                <a:srgbClr val="0000FF"/>
              </a:solidFill>
              <a:prstDash val="sysDot"/>
              <a:round/>
              <a:headEnd/>
              <a:tailEnd type="stealth" w="lg" len="lg"/>
            </a:ln>
            <a:effectLst/>
          </p:spPr>
          <p:txBody>
            <a:bodyPr/>
            <a:lstStyle/>
            <a:p>
              <a:endParaRPr lang="zh-CN" altLang="en-US">
                <a:latin typeface="+mn-lt"/>
                <a:ea typeface="楷体" pitchFamily="49" charset="-122"/>
              </a:endParaRPr>
            </a:p>
          </p:txBody>
        </p:sp>
        <p:sp>
          <p:nvSpPr>
            <p:cNvPr id="1078322" name="Text Box 50"/>
            <p:cNvSpPr txBox="1">
              <a:spLocks noChangeArrowheads="1"/>
            </p:cNvSpPr>
            <p:nvPr/>
          </p:nvSpPr>
          <p:spPr bwMode="auto">
            <a:xfrm>
              <a:off x="1257" y="3395"/>
              <a:ext cx="453" cy="40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1800" b="1" dirty="0">
                  <a:solidFill>
                    <a:schemeClr val="accent2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+mn-lt"/>
                  <a:ea typeface="楷体" pitchFamily="49" charset="-122"/>
                </a:rPr>
                <a:t>位置指针</a:t>
              </a:r>
            </a:p>
          </p:txBody>
        </p:sp>
      </p:grpSp>
      <p:sp>
        <p:nvSpPr>
          <p:cNvPr id="1078323" name="Rectangle 51"/>
          <p:cNvSpPr>
            <a:spLocks noChangeArrowheads="1"/>
          </p:cNvSpPr>
          <p:nvPr/>
        </p:nvSpPr>
        <p:spPr bwMode="auto">
          <a:xfrm>
            <a:off x="8197799" y="4995887"/>
            <a:ext cx="43815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altLang="zh-CN" sz="2000" b="1">
                <a:solidFill>
                  <a:schemeClr val="accent2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89</a:t>
            </a:r>
          </a:p>
        </p:txBody>
      </p:sp>
      <p:sp>
        <p:nvSpPr>
          <p:cNvPr id="1078324" name="Rectangle 52"/>
          <p:cNvSpPr>
            <a:spLocks noChangeArrowheads="1"/>
          </p:cNvSpPr>
          <p:nvPr/>
        </p:nvSpPr>
        <p:spPr bwMode="auto">
          <a:xfrm>
            <a:off x="6083250" y="4777431"/>
            <a:ext cx="504825" cy="1008062"/>
          </a:xfrm>
          <a:prstGeom prst="rect">
            <a:avLst/>
          </a:prstGeom>
          <a:gradFill rotWithShape="1">
            <a:gsLst>
              <a:gs pos="0">
                <a:srgbClr val="00FFFF"/>
              </a:gs>
              <a:gs pos="100000">
                <a:schemeClr val="bg1"/>
              </a:gs>
            </a:gsLst>
            <a:lin ang="540000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grpSp>
        <p:nvGrpSpPr>
          <p:cNvPr id="1078328" name="Group 56"/>
          <p:cNvGrpSpPr>
            <a:grpSpLocks/>
          </p:cNvGrpSpPr>
          <p:nvPr/>
        </p:nvGrpSpPr>
        <p:grpSpPr bwMode="auto">
          <a:xfrm>
            <a:off x="6057847" y="4776811"/>
            <a:ext cx="1512888" cy="935038"/>
            <a:chOff x="3409" y="2840"/>
            <a:chExt cx="953" cy="589"/>
          </a:xfrm>
        </p:grpSpPr>
        <p:sp>
          <p:nvSpPr>
            <p:cNvPr id="1078326" name="AutoShape 54"/>
            <p:cNvSpPr>
              <a:spLocks/>
            </p:cNvSpPr>
            <p:nvPr/>
          </p:nvSpPr>
          <p:spPr bwMode="auto">
            <a:xfrm rot="-5400000">
              <a:off x="3751" y="2597"/>
              <a:ext cx="202" cy="687"/>
            </a:xfrm>
            <a:prstGeom prst="leftBrace">
              <a:avLst>
                <a:gd name="adj1" fmla="val 28342"/>
                <a:gd name="adj2" fmla="val 50000"/>
              </a:avLst>
            </a:prstGeom>
            <a:noFill/>
            <a:ln w="19050">
              <a:solidFill>
                <a:srgbClr val="0000FF"/>
              </a:solidFill>
              <a:round/>
              <a:headEnd/>
              <a:tailEnd/>
            </a:ln>
            <a:effectLst>
              <a:outerShdw dist="35921" dir="2700000" algn="ctr" rotWithShape="0">
                <a:schemeClr val="bg2"/>
              </a:outerShdw>
            </a:effectLst>
          </p:spPr>
          <p:txBody>
            <a:bodyPr wrap="none" anchor="ctr"/>
            <a:lstStyle/>
            <a:p>
              <a:endParaRPr lang="zh-CN" altLang="en-US">
                <a:latin typeface="+mn-lt"/>
                <a:ea typeface="楷体" pitchFamily="49" charset="-122"/>
              </a:endParaRPr>
            </a:p>
          </p:txBody>
        </p:sp>
        <p:sp>
          <p:nvSpPr>
            <p:cNvPr id="1078327" name="Text Box 55"/>
            <p:cNvSpPr txBox="1">
              <a:spLocks noChangeArrowheads="1"/>
            </p:cNvSpPr>
            <p:nvPr/>
          </p:nvSpPr>
          <p:spPr bwMode="auto">
            <a:xfrm>
              <a:off x="3409" y="3025"/>
              <a:ext cx="953" cy="40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zh-CN" altLang="en-US" sz="1800" b="1" dirty="0">
                  <a:solidFill>
                    <a:schemeClr val="accent2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+mn-lt"/>
                  <a:ea typeface="楷体" pitchFamily="49" charset="-122"/>
                </a:rPr>
                <a:t>第三次读取</a:t>
              </a:r>
              <a:r>
                <a:rPr lang="en-US" altLang="zh-CN" sz="1800" b="1" dirty="0">
                  <a:solidFill>
                    <a:schemeClr val="accent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ea typeface="楷体" pitchFamily="49" charset="-122"/>
                </a:rPr>
                <a:t>       "</a:t>
              </a:r>
              <a:r>
                <a:rPr lang="en-US" altLang="zh-CN" sz="1800" b="1" dirty="0" err="1">
                  <a:solidFill>
                    <a:schemeClr val="accent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+mn-lt"/>
                  <a:ea typeface="楷体" pitchFamily="49" charset="-122"/>
                </a:rPr>
                <a:t>abcd</a:t>
              </a:r>
              <a:r>
                <a:rPr lang="en-US" altLang="zh-CN" sz="1800" b="1" dirty="0">
                  <a:solidFill>
                    <a:schemeClr val="accent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+mn-lt"/>
                  <a:ea typeface="楷体" pitchFamily="49" charset="-122"/>
                </a:rPr>
                <a:t>"</a:t>
              </a:r>
            </a:p>
          </p:txBody>
        </p:sp>
      </p:grpSp>
      <p:sp>
        <p:nvSpPr>
          <p:cNvPr id="1078329" name="Rectangle 57"/>
          <p:cNvSpPr>
            <a:spLocks noChangeArrowheads="1"/>
          </p:cNvSpPr>
          <p:nvPr/>
        </p:nvSpPr>
        <p:spPr bwMode="auto">
          <a:xfrm>
            <a:off x="8199386" y="5426100"/>
            <a:ext cx="776288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en-US" altLang="zh-CN" sz="2000" b="1">
                <a:solidFill>
                  <a:schemeClr val="accent2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abcd</a:t>
            </a:r>
          </a:p>
        </p:txBody>
      </p:sp>
      <p:grpSp>
        <p:nvGrpSpPr>
          <p:cNvPr id="1078330" name="Group 58"/>
          <p:cNvGrpSpPr>
            <a:grpSpLocks/>
          </p:cNvGrpSpPr>
          <p:nvPr/>
        </p:nvGrpSpPr>
        <p:grpSpPr bwMode="auto">
          <a:xfrm>
            <a:off x="-10013" y="0"/>
            <a:ext cx="446088" cy="6858000"/>
            <a:chOff x="0" y="0"/>
            <a:chExt cx="281" cy="4320"/>
          </a:xfrm>
        </p:grpSpPr>
        <p:sp>
          <p:nvSpPr>
            <p:cNvPr id="1078331" name="Text Box 59"/>
            <p:cNvSpPr txBox="1">
              <a:spLocks noChangeArrowheads="1"/>
            </p:cNvSpPr>
            <p:nvPr/>
          </p:nvSpPr>
          <p:spPr bwMode="auto">
            <a:xfrm>
              <a:off x="0" y="0"/>
              <a:ext cx="281" cy="4320"/>
            </a:xfrm>
            <a:prstGeom prst="rect">
              <a:avLst/>
            </a:prstGeom>
            <a:gradFill rotWithShape="0">
              <a:gsLst>
                <a:gs pos="0">
                  <a:schemeClr val="hlink">
                    <a:gamma/>
                    <a:shade val="60784"/>
                    <a:invGamma/>
                  </a:schemeClr>
                </a:gs>
                <a:gs pos="50000">
                  <a:schemeClr val="hlink"/>
                </a:gs>
                <a:gs pos="100000">
                  <a:schemeClr val="hlink">
                    <a:gamma/>
                    <a:shade val="60784"/>
                    <a:invGamma/>
                  </a:schemeClr>
                </a:gs>
              </a:gsLst>
              <a:lin ang="0" scaled="1"/>
            </a:gradFill>
            <a:ln w="9525">
              <a:noFill/>
              <a:miter lim="800000"/>
              <a:headEnd/>
              <a:tailEnd/>
            </a:ln>
            <a:effectLst/>
          </p:spPr>
          <p:txBody>
            <a:bodyPr/>
            <a:lstStyle/>
            <a:p>
              <a:pPr eaLnBrk="0" hangingPunct="0">
                <a:spcBef>
                  <a:spcPct val="50000"/>
                </a:spcBef>
              </a:pPr>
              <a:endParaRPr lang="en-US" altLang="zh-CN" sz="1800" dirty="0">
                <a:solidFill>
                  <a:srgbClr val="3333CC"/>
                </a:solidFill>
                <a:latin typeface="Verdana" pitchFamily="34" charset="0"/>
              </a:endParaRPr>
            </a:p>
            <a:p>
              <a:pPr eaLnBrk="0" hangingPunct="0">
                <a:spcBef>
                  <a:spcPct val="50000"/>
                </a:spcBef>
              </a:pPr>
              <a:r>
                <a:rPr lang="zh-CN" altLang="en-US" sz="1600" b="1" dirty="0">
                  <a:solidFill>
                    <a:srgbClr val="3333CC"/>
                  </a:solidFill>
                  <a:latin typeface="Verdana" pitchFamily="34" charset="0"/>
                </a:rPr>
                <a:t>语言程序设计教程       </a:t>
              </a:r>
            </a:p>
            <a:p>
              <a:pPr eaLnBrk="0" hangingPunct="0">
                <a:spcBef>
                  <a:spcPct val="50000"/>
                </a:spcBef>
              </a:pPr>
              <a:r>
                <a:rPr lang="zh-CN" altLang="en-US" sz="1600" b="1" dirty="0">
                  <a:solidFill>
                    <a:srgbClr val="3333CC"/>
                  </a:solidFill>
                  <a:latin typeface="Verdana" pitchFamily="34" charset="0"/>
                </a:rPr>
                <a:t>第三版</a:t>
              </a:r>
            </a:p>
            <a:p>
              <a:pPr eaLnBrk="0" hangingPunct="0">
                <a:spcBef>
                  <a:spcPct val="50000"/>
                </a:spcBef>
              </a:pPr>
              <a:endParaRPr lang="zh-CN" altLang="en-US" sz="1600" b="1" dirty="0">
                <a:solidFill>
                  <a:srgbClr val="3333CC"/>
                </a:solidFill>
                <a:latin typeface="Verdana" pitchFamily="34" charset="0"/>
              </a:endParaRPr>
            </a:p>
            <a:p>
              <a:pPr eaLnBrk="0" hangingPunct="0">
                <a:spcBef>
                  <a:spcPct val="50000"/>
                </a:spcBef>
              </a:pPr>
              <a:endParaRPr lang="zh-CN" altLang="en-US" sz="1600" b="1" dirty="0">
                <a:solidFill>
                  <a:srgbClr val="3333CC"/>
                </a:solidFill>
                <a:latin typeface="Verdana" pitchFamily="34" charset="0"/>
              </a:endParaRPr>
            </a:p>
            <a:p>
              <a:pPr eaLnBrk="0" hangingPunct="0">
                <a:spcBef>
                  <a:spcPct val="50000"/>
                </a:spcBef>
              </a:pPr>
              <a:r>
                <a:rPr lang="zh-CN" altLang="en-US" sz="1600" b="1" dirty="0">
                  <a:solidFill>
                    <a:srgbClr val="3333CC"/>
                  </a:solidFill>
                  <a:latin typeface="Verdana" pitchFamily="34" charset="0"/>
                </a:rPr>
                <a:t>第十</a:t>
              </a:r>
            </a:p>
            <a:p>
              <a:pPr eaLnBrk="0" hangingPunct="0">
                <a:spcBef>
                  <a:spcPct val="50000"/>
                </a:spcBef>
              </a:pPr>
              <a:r>
                <a:rPr lang="zh-CN" altLang="en-US" sz="1600" b="1" dirty="0">
                  <a:solidFill>
                    <a:srgbClr val="3333CC"/>
                  </a:solidFill>
                  <a:latin typeface="Verdana" pitchFamily="34" charset="0"/>
                </a:rPr>
                <a:t>二章 </a:t>
              </a:r>
            </a:p>
            <a:p>
              <a:pPr eaLnBrk="0" hangingPunct="0">
                <a:spcBef>
                  <a:spcPct val="50000"/>
                </a:spcBef>
              </a:pPr>
              <a:endParaRPr lang="zh-CN" altLang="en-US" sz="1600" b="1" dirty="0">
                <a:solidFill>
                  <a:srgbClr val="3333CC"/>
                </a:solidFill>
                <a:latin typeface="Verdana" pitchFamily="34" charset="0"/>
              </a:endParaRPr>
            </a:p>
            <a:p>
              <a:pPr eaLnBrk="0" hangingPunct="0">
                <a:spcBef>
                  <a:spcPct val="50000"/>
                </a:spcBef>
              </a:pPr>
              <a:r>
                <a:rPr lang="zh-CN" altLang="en-US" sz="1600" b="1" dirty="0">
                  <a:solidFill>
                    <a:srgbClr val="3333CC"/>
                  </a:solidFill>
                  <a:latin typeface="Verdana" pitchFamily="34" charset="0"/>
                </a:rPr>
                <a:t>文</a:t>
              </a:r>
            </a:p>
            <a:p>
              <a:pPr eaLnBrk="0" hangingPunct="0">
                <a:spcBef>
                  <a:spcPct val="50000"/>
                </a:spcBef>
              </a:pPr>
              <a:endParaRPr lang="zh-CN" altLang="en-US" sz="1600" b="1" dirty="0">
                <a:solidFill>
                  <a:srgbClr val="3333CC"/>
                </a:solidFill>
                <a:latin typeface="Verdana" pitchFamily="34" charset="0"/>
              </a:endParaRPr>
            </a:p>
            <a:p>
              <a:pPr eaLnBrk="0" hangingPunct="0">
                <a:spcBef>
                  <a:spcPct val="50000"/>
                </a:spcBef>
              </a:pPr>
              <a:r>
                <a:rPr lang="zh-CN" altLang="en-US" sz="1600" b="1" dirty="0">
                  <a:solidFill>
                    <a:srgbClr val="3333CC"/>
                  </a:solidFill>
                  <a:latin typeface="Verdana" pitchFamily="34" charset="0"/>
                </a:rPr>
                <a:t>件</a:t>
              </a:r>
            </a:p>
          </p:txBody>
        </p:sp>
        <p:sp>
          <p:nvSpPr>
            <p:cNvPr id="1078332" name="Text Box 60"/>
            <p:cNvSpPr txBox="1">
              <a:spLocks noChangeArrowheads="1"/>
            </p:cNvSpPr>
            <p:nvPr/>
          </p:nvSpPr>
          <p:spPr bwMode="auto">
            <a:xfrm>
              <a:off x="0" y="0"/>
              <a:ext cx="281" cy="231"/>
            </a:xfrm>
            <a:prstGeom prst="rect">
              <a:avLst/>
            </a:prstGeom>
            <a:gradFill rotWithShape="0">
              <a:gsLst>
                <a:gs pos="0">
                  <a:schemeClr val="hlink">
                    <a:gamma/>
                    <a:shade val="46275"/>
                    <a:invGamma/>
                  </a:schemeClr>
                </a:gs>
                <a:gs pos="50000">
                  <a:schemeClr val="hlink"/>
                </a:gs>
                <a:gs pos="100000">
                  <a:schemeClr val="hlink">
                    <a:gamma/>
                    <a:shade val="46275"/>
                    <a:invGamma/>
                  </a:schemeClr>
                </a:gs>
              </a:gsLst>
              <a:lin ang="0" scaled="1"/>
            </a:gradFill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eaLnBrk="0" hangingPunct="0">
                <a:spcBef>
                  <a:spcPct val="50000"/>
                </a:spcBef>
              </a:pPr>
              <a:r>
                <a:rPr lang="en-US" altLang="zh-CN" sz="1800" b="1">
                  <a:solidFill>
                    <a:srgbClr val="0000FF"/>
                  </a:solidFill>
                  <a:latin typeface="Arial" pitchFamily="34" charset="0"/>
                </a:rPr>
                <a:t>C</a:t>
              </a:r>
            </a:p>
          </p:txBody>
        </p:sp>
      </p:grpSp>
    </p:spTree>
  </p:cSld>
  <p:clrMapOvr>
    <a:masterClrMapping/>
  </p:clrMapOvr>
  <p:transition>
    <p:cover/>
    <p:sndAc>
      <p:stSnd>
        <p:snd r:embed="rId3" name="CAMER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829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07829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07829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4" presetClass="entr" presetSubtype="3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83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2" dur="500"/>
                                        <p:tgtEl>
                                          <p:spTgt spid="1078306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829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07829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07829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500"/>
                            </p:stCondLst>
                            <p:childTnLst>
                              <p:par>
                                <p:cTn id="20" presetID="4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83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2" dur="500"/>
                                        <p:tgtEl>
                                          <p:spTgt spid="1078308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1000"/>
                            </p:stCondLst>
                            <p:childTnLst>
                              <p:par>
                                <p:cTn id="24" presetID="18" presetClass="entr" presetSubtype="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83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26" dur="500"/>
                                        <p:tgtEl>
                                          <p:spTgt spid="1078311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4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1500"/>
                            </p:stCondLst>
                            <p:childTnLst>
                              <p:par>
                                <p:cTn id="28" presetID="18" presetClass="entr" presetSubtype="3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83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30" dur="500"/>
                                        <p:tgtEl>
                                          <p:spTgt spid="1078303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8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829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107829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107829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3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500"/>
                            </p:stCondLst>
                            <p:childTnLst>
                              <p:par>
                                <p:cTn id="38" presetID="4" presetClass="entr" presetSubtype="3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83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40" dur="500"/>
                                        <p:tgtEl>
                                          <p:spTgt spid="1078307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8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chime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829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107829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107829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3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500"/>
                            </p:stCondLst>
                            <p:childTnLst>
                              <p:par>
                                <p:cTn id="48" presetID="4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83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50" dur="500"/>
                                        <p:tgtEl>
                                          <p:spTgt spid="1078315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8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>
                            <p:stCondLst>
                              <p:cond delay="1000"/>
                            </p:stCondLst>
                            <p:childTnLst>
                              <p:par>
                                <p:cTn id="52" presetID="18" presetClass="entr" presetSubtype="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83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54" dur="500"/>
                                        <p:tgtEl>
                                          <p:spTgt spid="1078319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2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>
                            <p:stCondLst>
                              <p:cond delay="1500"/>
                            </p:stCondLst>
                            <p:childTnLst>
                              <p:par>
                                <p:cTn id="56" presetID="18" presetClass="entr" presetSubtype="3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83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58" dur="500"/>
                                        <p:tgtEl>
                                          <p:spTgt spid="1078312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6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829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500" fill="hold"/>
                                        <p:tgtEl>
                                          <p:spTgt spid="107829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500" fill="hold"/>
                                        <p:tgtEl>
                                          <p:spTgt spid="107829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6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65" fill="hold">
                            <p:stCondLst>
                              <p:cond delay="500"/>
                            </p:stCondLst>
                            <p:childTnLst>
                              <p:par>
                                <p:cTn id="66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83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10783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9" dur="500" fill="hold"/>
                                        <p:tgtEl>
                                          <p:spTgt spid="10783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66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chime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829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107829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5" dur="500" fill="hold"/>
                                        <p:tgtEl>
                                          <p:spTgt spid="107829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72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76" fill="hold">
                            <p:stCondLst>
                              <p:cond delay="500"/>
                            </p:stCondLst>
                            <p:childTnLst>
                              <p:par>
                                <p:cTn id="77" presetID="4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83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9" dur="500"/>
                                        <p:tgtEl>
                                          <p:spTgt spid="1078324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77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80" fill="hold">
                            <p:stCondLst>
                              <p:cond delay="1000"/>
                            </p:stCondLst>
                            <p:childTnLst>
                              <p:par>
                                <p:cTn id="81" presetID="18" presetClass="entr" presetSubtype="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83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83" dur="500"/>
                                        <p:tgtEl>
                                          <p:spTgt spid="1078328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8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84" fill="hold">
                            <p:stCondLst>
                              <p:cond delay="1500"/>
                            </p:stCondLst>
                            <p:childTnLst>
                              <p:par>
                                <p:cTn id="85" presetID="18" presetClass="entr" presetSubtype="3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83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87" dur="500"/>
                                        <p:tgtEl>
                                          <p:spTgt spid="1078320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8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829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2" dur="500" fill="hold"/>
                                        <p:tgtEl>
                                          <p:spTgt spid="107829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3" dur="500" fill="hold"/>
                                        <p:tgtEl>
                                          <p:spTgt spid="107829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9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94" fill="hold">
                            <p:stCondLst>
                              <p:cond delay="500"/>
                            </p:stCondLst>
                            <p:childTnLst>
                              <p:par>
                                <p:cTn id="95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83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7" dur="500" fill="hold"/>
                                        <p:tgtEl>
                                          <p:spTgt spid="10783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8" dur="500" fill="hold"/>
                                        <p:tgtEl>
                                          <p:spTgt spid="10783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9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chime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829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3" dur="500" fill="hold"/>
                                        <p:tgtEl>
                                          <p:spTgt spid="107829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4" dur="500" fill="hold"/>
                                        <p:tgtEl>
                                          <p:spTgt spid="107829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0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5" fill="hold">
                      <p:stCondLst>
                        <p:cond delay="indefinite"/>
                      </p:stCondLst>
                      <p:childTnLst>
                        <p:par>
                          <p:cTn id="106" fill="hold">
                            <p:stCondLst>
                              <p:cond delay="0"/>
                            </p:stCondLst>
                            <p:childTnLst>
                              <p:par>
                                <p:cTn id="10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829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9" dur="500" fill="hold"/>
                                        <p:tgtEl>
                                          <p:spTgt spid="107829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0" dur="500" fill="hold"/>
                                        <p:tgtEl>
                                          <p:spTgt spid="107829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07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11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829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3" dur="500" fill="hold"/>
                                        <p:tgtEl>
                                          <p:spTgt spid="107829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4" dur="500" fill="hold"/>
                                        <p:tgtEl>
                                          <p:spTgt spid="107829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1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78307" grpId="0" animBg="1"/>
      <p:bldP spid="1078308" grpId="0" animBg="1"/>
      <p:bldP spid="1078315" grpId="0" animBg="1"/>
      <p:bldP spid="1078323" grpId="0"/>
      <p:bldP spid="1078324" grpId="0" animBg="1"/>
      <p:bldP spid="1078329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0333" name="Rectangle 13"/>
          <p:cNvSpPr>
            <a:spLocks noChangeArrowheads="1"/>
          </p:cNvSpPr>
          <p:nvPr/>
        </p:nvSpPr>
        <p:spPr bwMode="auto">
          <a:xfrm>
            <a:off x="358479" y="153988"/>
            <a:ext cx="8424863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>
            <a:spAutoFit/>
          </a:bodyPr>
          <a:lstStyle/>
          <a:p>
            <a:r>
              <a:rPr lang="en-US" altLang="zh-CN" b="1">
                <a:solidFill>
                  <a:srgbClr val="CC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隶书" pitchFamily="49" charset="-122"/>
                <a:ea typeface="隶书" pitchFamily="49" charset="-122"/>
              </a:rPr>
              <a:t>【</a:t>
            </a:r>
            <a:r>
              <a:rPr lang="zh-CN" altLang="en-US" b="1">
                <a:solidFill>
                  <a:srgbClr val="CC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隶书" pitchFamily="49" charset="-122"/>
                <a:ea typeface="隶书" pitchFamily="49" charset="-122"/>
              </a:rPr>
              <a:t>例</a:t>
            </a:r>
            <a:r>
              <a:rPr lang="en-US" altLang="zh-CN" b="1">
                <a:solidFill>
                  <a:srgbClr val="CC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隶书" pitchFamily="49" charset="-122"/>
                <a:ea typeface="隶书" pitchFamily="49" charset="-122"/>
              </a:rPr>
              <a:t>4】</a:t>
            </a:r>
            <a:r>
              <a:rPr lang="zh-CN" altLang="en-US" b="1">
                <a:solidFill>
                  <a:srgbClr val="CC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隶书" pitchFamily="49" charset="-122"/>
              </a:rPr>
              <a:t>利用字符串读写函数实现文件拷贝。</a:t>
            </a:r>
          </a:p>
        </p:txBody>
      </p:sp>
      <p:grpSp>
        <p:nvGrpSpPr>
          <p:cNvPr id="1080346" name="Group 26"/>
          <p:cNvGrpSpPr>
            <a:grpSpLocks/>
          </p:cNvGrpSpPr>
          <p:nvPr/>
        </p:nvGrpSpPr>
        <p:grpSpPr bwMode="auto">
          <a:xfrm>
            <a:off x="-9822" y="0"/>
            <a:ext cx="446088" cy="6858000"/>
            <a:chOff x="0" y="0"/>
            <a:chExt cx="281" cy="4320"/>
          </a:xfrm>
        </p:grpSpPr>
        <p:sp>
          <p:nvSpPr>
            <p:cNvPr id="1080347" name="Text Box 27"/>
            <p:cNvSpPr txBox="1">
              <a:spLocks noChangeArrowheads="1"/>
            </p:cNvSpPr>
            <p:nvPr/>
          </p:nvSpPr>
          <p:spPr bwMode="auto">
            <a:xfrm>
              <a:off x="0" y="0"/>
              <a:ext cx="281" cy="4320"/>
            </a:xfrm>
            <a:prstGeom prst="rect">
              <a:avLst/>
            </a:prstGeom>
            <a:gradFill rotWithShape="0">
              <a:gsLst>
                <a:gs pos="0">
                  <a:schemeClr val="hlink">
                    <a:gamma/>
                    <a:shade val="60784"/>
                    <a:invGamma/>
                  </a:schemeClr>
                </a:gs>
                <a:gs pos="50000">
                  <a:schemeClr val="hlink"/>
                </a:gs>
                <a:gs pos="100000">
                  <a:schemeClr val="hlink">
                    <a:gamma/>
                    <a:shade val="60784"/>
                    <a:invGamma/>
                  </a:schemeClr>
                </a:gs>
              </a:gsLst>
              <a:lin ang="0" scaled="1"/>
            </a:gradFill>
            <a:ln w="9525">
              <a:noFill/>
              <a:miter lim="800000"/>
              <a:headEnd/>
              <a:tailEnd/>
            </a:ln>
            <a:effectLst/>
          </p:spPr>
          <p:txBody>
            <a:bodyPr/>
            <a:lstStyle/>
            <a:p>
              <a:pPr eaLnBrk="0" hangingPunct="0">
                <a:spcBef>
                  <a:spcPct val="50000"/>
                </a:spcBef>
              </a:pPr>
              <a:endParaRPr lang="en-US" altLang="zh-CN" sz="1800" dirty="0">
                <a:solidFill>
                  <a:srgbClr val="3333CC"/>
                </a:solidFill>
                <a:latin typeface="Verdana" pitchFamily="34" charset="0"/>
              </a:endParaRPr>
            </a:p>
            <a:p>
              <a:pPr eaLnBrk="0" hangingPunct="0">
                <a:spcBef>
                  <a:spcPct val="50000"/>
                </a:spcBef>
              </a:pPr>
              <a:r>
                <a:rPr lang="zh-CN" altLang="en-US" sz="1600" b="1" dirty="0">
                  <a:solidFill>
                    <a:srgbClr val="3333CC"/>
                  </a:solidFill>
                  <a:latin typeface="Verdana" pitchFamily="34" charset="0"/>
                </a:rPr>
                <a:t>语言程序设计教程       </a:t>
              </a:r>
            </a:p>
            <a:p>
              <a:pPr eaLnBrk="0" hangingPunct="0">
                <a:spcBef>
                  <a:spcPct val="50000"/>
                </a:spcBef>
              </a:pPr>
              <a:r>
                <a:rPr lang="zh-CN" altLang="en-US" sz="1600" b="1" dirty="0">
                  <a:solidFill>
                    <a:srgbClr val="3333CC"/>
                  </a:solidFill>
                  <a:latin typeface="Verdana" pitchFamily="34" charset="0"/>
                </a:rPr>
                <a:t>第三版</a:t>
              </a:r>
            </a:p>
            <a:p>
              <a:pPr eaLnBrk="0" hangingPunct="0">
                <a:spcBef>
                  <a:spcPct val="50000"/>
                </a:spcBef>
              </a:pPr>
              <a:endParaRPr lang="zh-CN" altLang="en-US" sz="1600" b="1" dirty="0">
                <a:solidFill>
                  <a:srgbClr val="3333CC"/>
                </a:solidFill>
                <a:latin typeface="Verdana" pitchFamily="34" charset="0"/>
              </a:endParaRPr>
            </a:p>
            <a:p>
              <a:pPr eaLnBrk="0" hangingPunct="0">
                <a:spcBef>
                  <a:spcPct val="50000"/>
                </a:spcBef>
              </a:pPr>
              <a:endParaRPr lang="zh-CN" altLang="en-US" sz="1600" b="1" dirty="0">
                <a:solidFill>
                  <a:srgbClr val="3333CC"/>
                </a:solidFill>
                <a:latin typeface="Verdana" pitchFamily="34" charset="0"/>
              </a:endParaRPr>
            </a:p>
            <a:p>
              <a:pPr eaLnBrk="0" hangingPunct="0">
                <a:spcBef>
                  <a:spcPct val="50000"/>
                </a:spcBef>
              </a:pPr>
              <a:r>
                <a:rPr lang="zh-CN" altLang="en-US" sz="1600" b="1" dirty="0">
                  <a:solidFill>
                    <a:srgbClr val="3333CC"/>
                  </a:solidFill>
                  <a:latin typeface="Verdana" pitchFamily="34" charset="0"/>
                </a:rPr>
                <a:t>第十</a:t>
              </a:r>
            </a:p>
            <a:p>
              <a:pPr eaLnBrk="0" hangingPunct="0">
                <a:spcBef>
                  <a:spcPct val="50000"/>
                </a:spcBef>
              </a:pPr>
              <a:r>
                <a:rPr lang="zh-CN" altLang="en-US" sz="1600" b="1" dirty="0">
                  <a:solidFill>
                    <a:srgbClr val="3333CC"/>
                  </a:solidFill>
                  <a:latin typeface="Verdana" pitchFamily="34" charset="0"/>
                </a:rPr>
                <a:t>二章 </a:t>
              </a:r>
            </a:p>
            <a:p>
              <a:pPr eaLnBrk="0" hangingPunct="0">
                <a:spcBef>
                  <a:spcPct val="50000"/>
                </a:spcBef>
              </a:pPr>
              <a:endParaRPr lang="zh-CN" altLang="en-US" sz="1600" b="1" dirty="0">
                <a:solidFill>
                  <a:srgbClr val="3333CC"/>
                </a:solidFill>
                <a:latin typeface="Verdana" pitchFamily="34" charset="0"/>
              </a:endParaRPr>
            </a:p>
            <a:p>
              <a:pPr eaLnBrk="0" hangingPunct="0">
                <a:spcBef>
                  <a:spcPct val="50000"/>
                </a:spcBef>
              </a:pPr>
              <a:r>
                <a:rPr lang="zh-CN" altLang="en-US" sz="1600" b="1" dirty="0">
                  <a:solidFill>
                    <a:srgbClr val="3333CC"/>
                  </a:solidFill>
                  <a:latin typeface="Verdana" pitchFamily="34" charset="0"/>
                </a:rPr>
                <a:t>文</a:t>
              </a:r>
            </a:p>
            <a:p>
              <a:pPr eaLnBrk="0" hangingPunct="0">
                <a:spcBef>
                  <a:spcPct val="50000"/>
                </a:spcBef>
              </a:pPr>
              <a:endParaRPr lang="zh-CN" altLang="en-US" sz="1600" b="1" dirty="0">
                <a:solidFill>
                  <a:srgbClr val="3333CC"/>
                </a:solidFill>
                <a:latin typeface="Verdana" pitchFamily="34" charset="0"/>
              </a:endParaRPr>
            </a:p>
            <a:p>
              <a:pPr eaLnBrk="0" hangingPunct="0">
                <a:spcBef>
                  <a:spcPct val="50000"/>
                </a:spcBef>
              </a:pPr>
              <a:r>
                <a:rPr lang="zh-CN" altLang="en-US" sz="1600" b="1" dirty="0">
                  <a:solidFill>
                    <a:srgbClr val="3333CC"/>
                  </a:solidFill>
                  <a:latin typeface="Verdana" pitchFamily="34" charset="0"/>
                </a:rPr>
                <a:t>件</a:t>
              </a:r>
            </a:p>
          </p:txBody>
        </p:sp>
        <p:sp>
          <p:nvSpPr>
            <p:cNvPr id="1080348" name="Text Box 28"/>
            <p:cNvSpPr txBox="1">
              <a:spLocks noChangeArrowheads="1"/>
            </p:cNvSpPr>
            <p:nvPr/>
          </p:nvSpPr>
          <p:spPr bwMode="auto">
            <a:xfrm>
              <a:off x="0" y="0"/>
              <a:ext cx="281" cy="231"/>
            </a:xfrm>
            <a:prstGeom prst="rect">
              <a:avLst/>
            </a:prstGeom>
            <a:gradFill rotWithShape="0">
              <a:gsLst>
                <a:gs pos="0">
                  <a:schemeClr val="hlink">
                    <a:gamma/>
                    <a:shade val="46275"/>
                    <a:invGamma/>
                  </a:schemeClr>
                </a:gs>
                <a:gs pos="50000">
                  <a:schemeClr val="hlink"/>
                </a:gs>
                <a:gs pos="100000">
                  <a:schemeClr val="hlink">
                    <a:gamma/>
                    <a:shade val="46275"/>
                    <a:invGamma/>
                  </a:schemeClr>
                </a:gs>
              </a:gsLst>
              <a:lin ang="0" scaled="1"/>
            </a:gradFill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eaLnBrk="0" hangingPunct="0">
                <a:spcBef>
                  <a:spcPct val="50000"/>
                </a:spcBef>
              </a:pPr>
              <a:r>
                <a:rPr lang="en-US" altLang="zh-CN" sz="1800" b="1">
                  <a:solidFill>
                    <a:srgbClr val="0000FF"/>
                  </a:solidFill>
                  <a:latin typeface="Arial" pitchFamily="34" charset="0"/>
                </a:rPr>
                <a:t>C</a:t>
              </a:r>
            </a:p>
          </p:txBody>
        </p:sp>
      </p:grpSp>
      <p:sp>
        <p:nvSpPr>
          <p:cNvPr id="1080322" name="Rectangle 2" descr="信纸"/>
          <p:cNvSpPr>
            <a:spLocks noChangeArrowheads="1"/>
          </p:cNvSpPr>
          <p:nvPr/>
        </p:nvSpPr>
        <p:spPr bwMode="auto">
          <a:xfrm>
            <a:off x="674392" y="722482"/>
            <a:ext cx="6765185" cy="5940088"/>
          </a:xfrm>
          <a:prstGeom prst="rect">
            <a:avLst/>
          </a:prstGeom>
          <a:blipFill dpi="0" rotWithShape="1">
            <a:blip r:embed="rId4" cstate="print"/>
            <a:srcRect/>
            <a:tile tx="0" ty="0" sx="100000" sy="100000" flip="none" algn="tl"/>
          </a:blipFill>
          <a:ln w="38100">
            <a:solidFill>
              <a:srgbClr val="008000"/>
            </a:solidFill>
            <a:miter lim="800000"/>
            <a:headEnd/>
            <a:tailEnd/>
          </a:ln>
          <a:effectLst>
            <a:outerShdw blurRad="50800" dist="106680" dir="2700000" algn="tl" rotWithShape="0">
              <a:prstClr val="black">
                <a:alpha val="43000"/>
              </a:prstClr>
            </a:outerShdw>
          </a:effectLst>
          <a:scene3d>
            <a:camera prst="orthographicFront"/>
            <a:lightRig rig="threePt" dir="t"/>
          </a:scene3d>
          <a:sp3d>
            <a:bevelT w="114300" prst="hardEdge"/>
          </a:sp3d>
        </p:spPr>
        <p:txBody>
          <a:bodyPr wrap="none" anchor="ctr">
            <a:spAutoFit/>
          </a:bodyPr>
          <a:lstStyle/>
          <a:p>
            <a:pPr marL="457200" indent="-457200">
              <a:tabLst>
                <a:tab pos="914400" algn="l"/>
              </a:tabLst>
            </a:pPr>
            <a:r>
              <a:rPr lang="en-US" altLang="zh-CN" sz="2000" b="1" dirty="0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#include &lt;</a:t>
            </a:r>
            <a:r>
              <a:rPr lang="en-US" altLang="zh-CN" sz="2000" b="1" dirty="0" err="1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stdio.h</a:t>
            </a:r>
            <a:r>
              <a:rPr lang="en-US" altLang="zh-CN" sz="2000" b="1" dirty="0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&gt;</a:t>
            </a:r>
          </a:p>
          <a:p>
            <a:pPr marL="457200" indent="-457200">
              <a:tabLst>
                <a:tab pos="914400" algn="l"/>
              </a:tabLst>
            </a:pPr>
            <a:r>
              <a:rPr lang="en-US" altLang="zh-CN" sz="2000" b="1" dirty="0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#include &lt;</a:t>
            </a:r>
            <a:r>
              <a:rPr lang="en-US" altLang="zh-CN" sz="2000" b="1" dirty="0" err="1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stdlib.h</a:t>
            </a:r>
            <a:r>
              <a:rPr lang="en-US" altLang="zh-CN" sz="2000" b="1" dirty="0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&gt;</a:t>
            </a:r>
          </a:p>
          <a:p>
            <a:pPr marL="457200" indent="-457200">
              <a:tabLst>
                <a:tab pos="914400" algn="l"/>
              </a:tabLst>
            </a:pPr>
            <a:r>
              <a:rPr lang="en-US" altLang="zh-CN" sz="2000" b="1" dirty="0" err="1">
                <a:solidFill>
                  <a:srgbClr val="CC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楷体_GB2312" pitchFamily="49" charset="-122"/>
              </a:rPr>
              <a:t>int</a:t>
            </a:r>
            <a:r>
              <a:rPr lang="en-US" altLang="zh-CN" sz="2000" b="1" dirty="0">
                <a:solidFill>
                  <a:srgbClr val="CC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楷体_GB2312" pitchFamily="49" charset="-122"/>
              </a:rPr>
              <a:t> main (</a:t>
            </a:r>
            <a:r>
              <a:rPr lang="en-US" altLang="zh-CN" sz="2000" b="1" dirty="0" err="1">
                <a:solidFill>
                  <a:srgbClr val="CC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楷体_GB2312" pitchFamily="49" charset="-122"/>
              </a:rPr>
              <a:t>int</a:t>
            </a:r>
            <a:r>
              <a:rPr lang="en-US" altLang="zh-CN" sz="2000" b="1" dirty="0">
                <a:solidFill>
                  <a:srgbClr val="CC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楷体_GB2312" pitchFamily="49" charset="-122"/>
              </a:rPr>
              <a:t> </a:t>
            </a:r>
            <a:r>
              <a:rPr lang="en-US" altLang="zh-CN" sz="2000" b="1" dirty="0" err="1">
                <a:solidFill>
                  <a:srgbClr val="CC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楷体_GB2312" pitchFamily="49" charset="-122"/>
              </a:rPr>
              <a:t>argc</a:t>
            </a:r>
            <a:r>
              <a:rPr lang="en-US" altLang="zh-CN" sz="2000" b="1" dirty="0">
                <a:solidFill>
                  <a:srgbClr val="CC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楷体_GB2312" pitchFamily="49" charset="-122"/>
              </a:rPr>
              <a:t>, char *</a:t>
            </a:r>
            <a:r>
              <a:rPr lang="en-US" altLang="zh-CN" sz="2000" b="1" dirty="0" err="1">
                <a:solidFill>
                  <a:srgbClr val="CC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楷体_GB2312" pitchFamily="49" charset="-122"/>
              </a:rPr>
              <a:t>argv</a:t>
            </a:r>
            <a:r>
              <a:rPr lang="en-US" altLang="zh-CN" sz="2000" b="1" dirty="0">
                <a:solidFill>
                  <a:srgbClr val="CC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楷体_GB2312" pitchFamily="49" charset="-122"/>
              </a:rPr>
              <a:t>[ ])</a:t>
            </a:r>
          </a:p>
          <a:p>
            <a:pPr marL="457200" indent="-457200">
              <a:tabLst>
                <a:tab pos="914400" algn="l"/>
              </a:tabLst>
            </a:pPr>
            <a:r>
              <a:rPr lang="en-US" altLang="zh-CN" sz="2000" b="1" dirty="0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{ </a:t>
            </a:r>
          </a:p>
          <a:p>
            <a:pPr marL="457200" indent="-457200">
              <a:tabLst>
                <a:tab pos="914400" algn="l"/>
              </a:tabLst>
            </a:pPr>
            <a:r>
              <a:rPr lang="en-US" altLang="zh-CN" sz="2000" b="1" dirty="0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  </a:t>
            </a:r>
            <a:r>
              <a:rPr lang="en-US" altLang="zh-CN" sz="2000" b="1" dirty="0">
                <a:solidFill>
                  <a:schemeClr val="accent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楷体" pitchFamily="49" charset="-122"/>
              </a:rPr>
              <a:t>//input</a:t>
            </a:r>
            <a:r>
              <a:rPr lang="zh-CN" altLang="en-US" sz="2000" b="1" dirty="0">
                <a:solidFill>
                  <a:schemeClr val="accent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楷体" pitchFamily="49" charset="-122"/>
              </a:rPr>
              <a:t>：源文件指针</a:t>
            </a:r>
            <a:r>
              <a:rPr lang="en-US" altLang="zh-CN" sz="2000" b="1" dirty="0">
                <a:solidFill>
                  <a:schemeClr val="accent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楷体" pitchFamily="49" charset="-122"/>
              </a:rPr>
              <a:t>, output</a:t>
            </a:r>
            <a:r>
              <a:rPr lang="zh-CN" altLang="en-US" sz="2000" b="1" dirty="0">
                <a:solidFill>
                  <a:schemeClr val="accent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楷体" pitchFamily="49" charset="-122"/>
              </a:rPr>
              <a:t>：目标文件指针</a:t>
            </a:r>
          </a:p>
          <a:p>
            <a:pPr marL="457200" indent="-457200">
              <a:tabLst>
                <a:tab pos="914400" algn="l"/>
              </a:tabLst>
            </a:pPr>
            <a:r>
              <a:rPr lang="zh-CN" altLang="en-US" sz="2000" b="1" dirty="0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  </a:t>
            </a:r>
            <a:r>
              <a:rPr lang="en-US" altLang="zh-CN" sz="2000" b="1" dirty="0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FILE *input, *output;  </a:t>
            </a:r>
          </a:p>
          <a:p>
            <a:pPr marL="457200" indent="-457200">
              <a:tabLst>
                <a:tab pos="914400" algn="l"/>
              </a:tabLst>
            </a:pPr>
            <a:r>
              <a:rPr lang="en-US" altLang="zh-CN" sz="2000" b="1" dirty="0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  char string[81]; </a:t>
            </a:r>
          </a:p>
          <a:p>
            <a:pPr marL="457200" indent="-457200">
              <a:tabLst>
                <a:tab pos="914400" algn="l"/>
              </a:tabLst>
            </a:pPr>
            <a:r>
              <a:rPr lang="en-US" altLang="zh-CN" sz="2000" b="1" dirty="0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  if (</a:t>
            </a:r>
            <a:r>
              <a:rPr lang="en-US" altLang="zh-CN" sz="2000" b="1" dirty="0" err="1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argc</a:t>
            </a:r>
            <a:r>
              <a:rPr lang="en-US" altLang="zh-CN" sz="2000" b="1" dirty="0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 != 3)     </a:t>
            </a:r>
            <a:r>
              <a:rPr lang="en-US" altLang="zh-CN" sz="2000" b="1" dirty="0">
                <a:solidFill>
                  <a:schemeClr val="accent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楷体" pitchFamily="49" charset="-122"/>
              </a:rPr>
              <a:t>//</a:t>
            </a:r>
            <a:r>
              <a:rPr lang="zh-CN" altLang="en-US" sz="2000" b="1" dirty="0">
                <a:solidFill>
                  <a:schemeClr val="accent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楷体" pitchFamily="49" charset="-122"/>
              </a:rPr>
              <a:t>参数个数不对</a:t>
            </a:r>
          </a:p>
          <a:p>
            <a:pPr marL="457200" indent="-457200">
              <a:tabLst>
                <a:tab pos="914400" algn="l"/>
              </a:tabLst>
            </a:pPr>
            <a:r>
              <a:rPr lang="zh-CN" altLang="en-US" sz="2000" b="1" dirty="0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  </a:t>
            </a:r>
            <a:r>
              <a:rPr lang="en-US" altLang="zh-CN" sz="2000" b="1" dirty="0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{  </a:t>
            </a:r>
          </a:p>
          <a:p>
            <a:pPr marL="457200" indent="-457200">
              <a:tabLst>
                <a:tab pos="914400" algn="l"/>
              </a:tabLst>
            </a:pPr>
            <a:r>
              <a:rPr lang="en-US" altLang="zh-CN" sz="2000" b="1" dirty="0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    </a:t>
            </a:r>
            <a:r>
              <a:rPr lang="en-US" altLang="zh-CN" sz="2000" b="1" dirty="0" err="1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printf</a:t>
            </a:r>
            <a:r>
              <a:rPr lang="en-US" altLang="zh-CN" sz="2000" b="1" dirty="0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 ("the number of arguments not correct\n");</a:t>
            </a:r>
          </a:p>
          <a:p>
            <a:pPr marL="457200" indent="-457200">
              <a:tabLst>
                <a:tab pos="914400" algn="l"/>
              </a:tabLst>
            </a:pPr>
            <a:r>
              <a:rPr lang="en-US" altLang="zh-CN" sz="2000" b="1" dirty="0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    </a:t>
            </a:r>
            <a:r>
              <a:rPr lang="en-US" altLang="zh-CN" sz="2000" b="1" dirty="0" err="1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printf</a:t>
            </a:r>
            <a:r>
              <a:rPr lang="en-US" altLang="zh-CN" sz="2000" b="1" dirty="0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 ("\n Usage:  </a:t>
            </a:r>
            <a:r>
              <a:rPr lang="zh-CN" altLang="en-US" sz="2000" b="1" dirty="0">
                <a:effectLst>
                  <a:outerShdw blurRad="38100" dist="38100" dir="2700000" algn="tl">
                    <a:srgbClr val="FFFFFF"/>
                  </a:outerShdw>
                </a:effectLst>
                <a:latin typeface="+mn-lt"/>
                <a:ea typeface="楷体" pitchFamily="49" charset="-122"/>
              </a:rPr>
              <a:t>可执行文件名  </a:t>
            </a:r>
            <a:r>
              <a:rPr lang="en-US" altLang="zh-CN" sz="2000" b="1" dirty="0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source-file  </a:t>
            </a:r>
            <a:r>
              <a:rPr lang="en-US" altLang="zh-CN" sz="2000" b="1" dirty="0" err="1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dest</a:t>
            </a:r>
            <a:r>
              <a:rPr lang="en-US" altLang="zh-CN" sz="2000" b="1" dirty="0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-file");</a:t>
            </a:r>
          </a:p>
          <a:p>
            <a:pPr marL="457200" indent="-457200">
              <a:tabLst>
                <a:tab pos="914400" algn="l"/>
              </a:tabLst>
            </a:pPr>
            <a:r>
              <a:rPr lang="en-US" altLang="zh-CN" sz="2000" b="1" dirty="0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    exit (0);</a:t>
            </a:r>
          </a:p>
          <a:p>
            <a:pPr marL="457200" indent="-457200">
              <a:tabLst>
                <a:tab pos="914400" algn="l"/>
              </a:tabLst>
            </a:pPr>
            <a:r>
              <a:rPr lang="en-US" altLang="zh-CN" sz="2000" b="1" dirty="0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  }</a:t>
            </a:r>
          </a:p>
          <a:p>
            <a:pPr marL="457200" indent="-457200">
              <a:tabLst>
                <a:tab pos="914400" algn="l"/>
              </a:tabLst>
            </a:pPr>
            <a:r>
              <a:rPr lang="en-US" altLang="zh-CN" sz="2000" b="1" dirty="0">
                <a:solidFill>
                  <a:schemeClr val="accent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楷体_GB2312" pitchFamily="49" charset="-122"/>
              </a:rPr>
              <a:t>  </a:t>
            </a:r>
            <a:r>
              <a:rPr lang="en-US" altLang="zh-CN" sz="2000" b="1" dirty="0">
                <a:solidFill>
                  <a:schemeClr val="accent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楷体" pitchFamily="49" charset="-122"/>
              </a:rPr>
              <a:t>//</a:t>
            </a:r>
            <a:r>
              <a:rPr lang="zh-CN" altLang="en-US" sz="2000" b="1" dirty="0">
                <a:solidFill>
                  <a:schemeClr val="accent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楷体" pitchFamily="49" charset="-122"/>
              </a:rPr>
              <a:t>打开源文件失败</a:t>
            </a:r>
          </a:p>
          <a:p>
            <a:pPr marL="457200" indent="-457200">
              <a:tabLst>
                <a:tab pos="914400" algn="l"/>
              </a:tabLst>
            </a:pPr>
            <a:r>
              <a:rPr lang="zh-CN" altLang="en-US" sz="2000" b="1" dirty="0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  </a:t>
            </a:r>
            <a:r>
              <a:rPr lang="en-US" altLang="zh-CN" sz="2000" b="1" dirty="0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if ((input = </a:t>
            </a:r>
            <a:r>
              <a:rPr lang="en-US" altLang="zh-CN" sz="2000" b="1" dirty="0" err="1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fopen</a:t>
            </a:r>
            <a:r>
              <a:rPr lang="en-US" altLang="zh-CN" sz="2000" b="1" dirty="0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(</a:t>
            </a:r>
            <a:r>
              <a:rPr lang="en-US" altLang="zh-CN" sz="2000" b="1" dirty="0" err="1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argv</a:t>
            </a:r>
            <a:r>
              <a:rPr lang="en-US" altLang="zh-CN" sz="2000" b="1" dirty="0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[1],"r")) == NULL)</a:t>
            </a:r>
          </a:p>
          <a:p>
            <a:pPr marL="457200" indent="-457200">
              <a:tabLst>
                <a:tab pos="914400" algn="l"/>
              </a:tabLst>
            </a:pPr>
            <a:r>
              <a:rPr lang="en-US" altLang="zh-CN" sz="2000" b="1" dirty="0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  {  </a:t>
            </a:r>
          </a:p>
          <a:p>
            <a:pPr marL="457200" indent="-457200">
              <a:tabLst>
                <a:tab pos="914400" algn="l"/>
              </a:tabLst>
            </a:pPr>
            <a:r>
              <a:rPr lang="en-US" altLang="zh-CN" sz="2000" b="1" dirty="0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    </a:t>
            </a:r>
            <a:r>
              <a:rPr lang="en-US" altLang="zh-CN" sz="2000" b="1" dirty="0" err="1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printf</a:t>
            </a:r>
            <a:r>
              <a:rPr lang="en-US" altLang="zh-CN" sz="2000" b="1" dirty="0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 ("can not open source file\n");</a:t>
            </a:r>
          </a:p>
          <a:p>
            <a:pPr marL="457200" indent="-457200">
              <a:tabLst>
                <a:tab pos="914400" algn="l"/>
              </a:tabLst>
            </a:pPr>
            <a:r>
              <a:rPr lang="en-US" altLang="zh-CN" sz="2000" b="1" dirty="0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    exit (0);</a:t>
            </a:r>
          </a:p>
          <a:p>
            <a:pPr marL="457200" indent="-457200">
              <a:tabLst>
                <a:tab pos="914400" algn="l"/>
              </a:tabLst>
            </a:pPr>
            <a:r>
              <a:rPr lang="en-US" altLang="zh-CN" sz="2000" b="1" dirty="0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  }</a:t>
            </a:r>
            <a:r>
              <a:rPr lang="en-US" altLang="zh-CN" sz="2000" dirty="0">
                <a:ea typeface="楷体_GB2312" pitchFamily="49" charset="-122"/>
              </a:rPr>
              <a:t> </a:t>
            </a:r>
          </a:p>
        </p:txBody>
      </p:sp>
      <p:sp>
        <p:nvSpPr>
          <p:cNvPr id="1080345" name="Rectangle 25" descr="信纸"/>
          <p:cNvSpPr>
            <a:spLocks noChangeArrowheads="1"/>
          </p:cNvSpPr>
          <p:nvPr/>
        </p:nvSpPr>
        <p:spPr bwMode="auto">
          <a:xfrm>
            <a:off x="6816080" y="2255665"/>
            <a:ext cx="5121915" cy="4401205"/>
          </a:xfrm>
          <a:prstGeom prst="rect">
            <a:avLst/>
          </a:prstGeom>
          <a:blipFill dpi="0" rotWithShape="1">
            <a:blip r:embed="rId4" cstate="print"/>
            <a:srcRect/>
            <a:tile tx="0" ty="0" sx="100000" sy="100000" flip="none" algn="tl"/>
          </a:blipFill>
          <a:ln w="38100">
            <a:solidFill>
              <a:srgbClr val="008000"/>
            </a:solidFill>
            <a:miter lim="800000"/>
            <a:headEnd/>
            <a:tailEnd/>
          </a:ln>
          <a:effectLst>
            <a:outerShdw blurRad="50800" dist="106680" dir="2700000" algn="tl" rotWithShape="0">
              <a:prstClr val="black">
                <a:alpha val="43000"/>
              </a:prstClr>
            </a:outerShdw>
          </a:effectLst>
          <a:scene3d>
            <a:camera prst="orthographicFront"/>
            <a:lightRig rig="threePt" dir="t"/>
          </a:scene3d>
          <a:sp3d>
            <a:bevelT w="114300" prst="hardEdge"/>
          </a:sp3d>
        </p:spPr>
        <p:txBody>
          <a:bodyPr wrap="none" anchor="ctr">
            <a:spAutoFit/>
          </a:bodyPr>
          <a:lstStyle/>
          <a:p>
            <a:pPr marL="457200" indent="-457200">
              <a:tabLst>
                <a:tab pos="914400" algn="l"/>
              </a:tabLst>
            </a:pPr>
            <a:r>
              <a:rPr lang="en-US" altLang="zh-CN" sz="2000" b="1" dirty="0">
                <a:solidFill>
                  <a:schemeClr val="accent2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  </a:t>
            </a:r>
            <a:r>
              <a:rPr lang="en-US" altLang="zh-CN" sz="2000" b="1" dirty="0">
                <a:solidFill>
                  <a:schemeClr val="accent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楷体" pitchFamily="49" charset="-122"/>
              </a:rPr>
              <a:t>//</a:t>
            </a:r>
            <a:r>
              <a:rPr lang="zh-CN" altLang="en-US" sz="2000" b="1" dirty="0">
                <a:solidFill>
                  <a:schemeClr val="accent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楷体" pitchFamily="49" charset="-122"/>
              </a:rPr>
              <a:t>创建目标文件失败</a:t>
            </a:r>
          </a:p>
          <a:p>
            <a:pPr marL="457200" indent="-457200">
              <a:tabLst>
                <a:tab pos="914400" algn="l"/>
              </a:tabLst>
            </a:pPr>
            <a:r>
              <a:rPr lang="zh-CN" altLang="en-US" sz="2000" b="1" dirty="0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  </a:t>
            </a:r>
            <a:r>
              <a:rPr lang="en-US" altLang="zh-CN" sz="2000" b="1" dirty="0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if ((output = </a:t>
            </a:r>
            <a:r>
              <a:rPr lang="en-US" altLang="zh-CN" sz="2000" b="1" dirty="0" err="1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fopen</a:t>
            </a:r>
            <a:r>
              <a:rPr lang="en-US" altLang="zh-CN" sz="2000" b="1" dirty="0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(</a:t>
            </a:r>
            <a:r>
              <a:rPr lang="en-US" altLang="zh-CN" sz="2000" b="1" dirty="0" err="1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argv</a:t>
            </a:r>
            <a:r>
              <a:rPr lang="en-US" altLang="zh-CN" sz="2000" b="1" dirty="0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[2],"w")) == NULL)</a:t>
            </a:r>
          </a:p>
          <a:p>
            <a:pPr marL="457200" indent="-457200">
              <a:tabLst>
                <a:tab pos="914400" algn="l"/>
              </a:tabLst>
            </a:pPr>
            <a:r>
              <a:rPr lang="en-US" altLang="zh-CN" sz="2000" b="1" dirty="0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  {  </a:t>
            </a:r>
          </a:p>
          <a:p>
            <a:pPr marL="457200" indent="-457200">
              <a:tabLst>
                <a:tab pos="914400" algn="l"/>
              </a:tabLst>
            </a:pPr>
            <a:r>
              <a:rPr lang="en-US" altLang="zh-CN" sz="2000" b="1" dirty="0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    </a:t>
            </a:r>
            <a:r>
              <a:rPr lang="en-US" altLang="zh-CN" sz="2000" b="1" dirty="0" err="1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printf</a:t>
            </a:r>
            <a:r>
              <a:rPr lang="en-US" altLang="zh-CN" sz="2000" b="1" dirty="0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 ("can not create destination file\n");</a:t>
            </a:r>
          </a:p>
          <a:p>
            <a:pPr marL="457200" indent="-457200">
              <a:tabLst>
                <a:tab pos="914400" algn="l"/>
              </a:tabLst>
            </a:pPr>
            <a:r>
              <a:rPr lang="en-US" altLang="zh-CN" sz="2000" b="1" dirty="0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    exit (0);</a:t>
            </a:r>
          </a:p>
          <a:p>
            <a:pPr marL="457200" indent="-457200">
              <a:tabLst>
                <a:tab pos="914400" algn="l"/>
              </a:tabLst>
            </a:pPr>
            <a:r>
              <a:rPr lang="en-US" altLang="zh-CN" sz="2000" b="1" dirty="0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  }</a:t>
            </a:r>
          </a:p>
          <a:p>
            <a:pPr marL="457200" indent="-457200">
              <a:tabLst>
                <a:tab pos="914400" algn="l"/>
              </a:tabLst>
            </a:pPr>
            <a:endParaRPr lang="en-US" altLang="zh-CN" sz="2000" b="1" dirty="0">
              <a:effectLst>
                <a:outerShdw blurRad="38100" dist="38100" dir="2700000" algn="tl">
                  <a:srgbClr val="FFFFFF"/>
                </a:outerShdw>
              </a:effectLst>
              <a:ea typeface="楷体_GB2312" pitchFamily="49" charset="-122"/>
            </a:endParaRPr>
          </a:p>
          <a:p>
            <a:pPr marL="457200" indent="-457200">
              <a:tabLst>
                <a:tab pos="914400" algn="l"/>
              </a:tabLst>
            </a:pPr>
            <a:r>
              <a:rPr lang="en-US" altLang="zh-CN" sz="2000" b="1" dirty="0">
                <a:solidFill>
                  <a:schemeClr val="accent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楷体_GB2312" pitchFamily="49" charset="-122"/>
              </a:rPr>
              <a:t>  </a:t>
            </a:r>
            <a:r>
              <a:rPr lang="en-US" altLang="zh-CN" sz="2000" b="1" dirty="0">
                <a:solidFill>
                  <a:schemeClr val="accent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楷体" pitchFamily="49" charset="-122"/>
              </a:rPr>
              <a:t>//</a:t>
            </a:r>
            <a:r>
              <a:rPr lang="zh-CN" altLang="en-US" sz="2000" b="1" dirty="0">
                <a:solidFill>
                  <a:schemeClr val="accent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楷体" pitchFamily="49" charset="-122"/>
              </a:rPr>
              <a:t>复制源文件到目标文件中</a:t>
            </a:r>
          </a:p>
          <a:p>
            <a:pPr marL="457200" indent="-457200">
              <a:tabLst>
                <a:tab pos="914400" algn="l"/>
              </a:tabLst>
            </a:pPr>
            <a:r>
              <a:rPr lang="zh-CN" altLang="en-US" sz="2000" b="1" dirty="0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  </a:t>
            </a:r>
            <a:r>
              <a:rPr lang="en-US" altLang="zh-CN" sz="2000" b="1" dirty="0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while (</a:t>
            </a:r>
            <a:r>
              <a:rPr lang="en-US" altLang="zh-CN" sz="2000" b="1" dirty="0" err="1">
                <a:solidFill>
                  <a:srgbClr val="FF33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楷体_GB2312" pitchFamily="49" charset="-122"/>
              </a:rPr>
              <a:t>fgets</a:t>
            </a:r>
            <a:r>
              <a:rPr lang="en-US" altLang="zh-CN" sz="2000" b="1" dirty="0">
                <a:solidFill>
                  <a:srgbClr val="FF33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楷体_GB2312" pitchFamily="49" charset="-122"/>
              </a:rPr>
              <a:t>(string, 81, input)</a:t>
            </a:r>
            <a:r>
              <a:rPr lang="en-US" altLang="zh-CN" sz="2000" b="1" dirty="0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 != NULL) </a:t>
            </a:r>
          </a:p>
          <a:p>
            <a:pPr marL="457200" indent="-457200">
              <a:tabLst>
                <a:tab pos="914400" algn="l"/>
              </a:tabLst>
            </a:pPr>
            <a:r>
              <a:rPr lang="en-US" altLang="zh-CN" sz="2000" b="1" dirty="0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      </a:t>
            </a:r>
            <a:r>
              <a:rPr lang="en-US" altLang="zh-CN" sz="2000" b="1" dirty="0" err="1">
                <a:solidFill>
                  <a:srgbClr val="FF33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楷体_GB2312" pitchFamily="49" charset="-122"/>
              </a:rPr>
              <a:t>fputs</a:t>
            </a:r>
            <a:r>
              <a:rPr lang="en-US" altLang="zh-CN" sz="2000" b="1" dirty="0">
                <a:solidFill>
                  <a:srgbClr val="FF33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楷体_GB2312" pitchFamily="49" charset="-122"/>
              </a:rPr>
              <a:t> (string, output);</a:t>
            </a:r>
            <a:r>
              <a:rPr lang="en-US" altLang="zh-CN" sz="2000" b="1" dirty="0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 </a:t>
            </a:r>
          </a:p>
          <a:p>
            <a:pPr marL="457200" indent="-457200">
              <a:tabLst>
                <a:tab pos="914400" algn="l"/>
              </a:tabLst>
            </a:pPr>
            <a:r>
              <a:rPr lang="en-US" altLang="zh-CN" sz="2000" b="1" dirty="0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  </a:t>
            </a:r>
            <a:r>
              <a:rPr lang="en-US" altLang="zh-CN" sz="2000" b="1" dirty="0" err="1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fclose</a:t>
            </a:r>
            <a:r>
              <a:rPr lang="en-US" altLang="zh-CN" sz="2000" b="1" dirty="0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 (input);      </a:t>
            </a:r>
            <a:r>
              <a:rPr lang="en-US" altLang="zh-CN" sz="2000" b="1" dirty="0">
                <a:solidFill>
                  <a:schemeClr val="accent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楷体" pitchFamily="49" charset="-122"/>
              </a:rPr>
              <a:t>//</a:t>
            </a:r>
            <a:r>
              <a:rPr lang="zh-CN" altLang="en-US" sz="2000" b="1" dirty="0">
                <a:solidFill>
                  <a:schemeClr val="accent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楷体" pitchFamily="49" charset="-122"/>
              </a:rPr>
              <a:t>关闭源文件</a:t>
            </a:r>
          </a:p>
          <a:p>
            <a:pPr marL="457200" indent="-457200">
              <a:tabLst>
                <a:tab pos="914400" algn="l"/>
              </a:tabLst>
            </a:pPr>
            <a:r>
              <a:rPr lang="zh-CN" altLang="en-US" sz="2000" b="1" dirty="0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  </a:t>
            </a:r>
            <a:r>
              <a:rPr lang="en-US" altLang="zh-CN" sz="2000" b="1" dirty="0" err="1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fclose</a:t>
            </a:r>
            <a:r>
              <a:rPr lang="en-US" altLang="zh-CN" sz="2000" b="1" dirty="0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 (output);     </a:t>
            </a:r>
            <a:r>
              <a:rPr lang="en-US" altLang="zh-CN" sz="2000" b="1" dirty="0">
                <a:solidFill>
                  <a:schemeClr val="accent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楷体" pitchFamily="49" charset="-122"/>
              </a:rPr>
              <a:t>//</a:t>
            </a:r>
            <a:r>
              <a:rPr lang="zh-CN" altLang="en-US" sz="2000" b="1" dirty="0">
                <a:solidFill>
                  <a:schemeClr val="accent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楷体" pitchFamily="49" charset="-122"/>
              </a:rPr>
              <a:t>关闭目标文件</a:t>
            </a:r>
          </a:p>
          <a:p>
            <a:pPr marL="457200" indent="-457200">
              <a:tabLst>
                <a:tab pos="914400" algn="l"/>
              </a:tabLst>
            </a:pPr>
            <a:r>
              <a:rPr lang="en-US" altLang="zh-CN" sz="2000" b="1" dirty="0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  return 0;</a:t>
            </a:r>
          </a:p>
          <a:p>
            <a:pPr marL="457200" indent="-457200">
              <a:tabLst>
                <a:tab pos="914400" algn="l"/>
              </a:tabLst>
            </a:pPr>
            <a:r>
              <a:rPr lang="en-US" altLang="zh-CN" sz="2000" b="1" dirty="0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}</a:t>
            </a:r>
          </a:p>
        </p:txBody>
      </p:sp>
    </p:spTree>
  </p:cSld>
  <p:clrMapOvr>
    <a:masterClrMapping/>
  </p:clrMapOvr>
  <p:transition>
    <p:cover/>
    <p:sndAc>
      <p:stSnd>
        <p:snd r:embed="rId3" name="CAMER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03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7" dur="500"/>
                                        <p:tgtEl>
                                          <p:spTgt spid="1080322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03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2" dur="500"/>
                                        <p:tgtEl>
                                          <p:spTgt spid="1080345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80322" grpId="0" animBg="1"/>
      <p:bldP spid="1080345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2373" name="Rectangle 5"/>
          <p:cNvSpPr>
            <a:spLocks noChangeArrowheads="1"/>
          </p:cNvSpPr>
          <p:nvPr/>
        </p:nvSpPr>
        <p:spPr bwMode="auto">
          <a:xfrm>
            <a:off x="860015" y="208907"/>
            <a:ext cx="5039393" cy="461665"/>
          </a:xfrm>
          <a:prstGeom prst="rect">
            <a:avLst/>
          </a:prstGeom>
          <a:ln>
            <a:noFill/>
            <a:headEnd/>
            <a:tailEnd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none" anchor="ctr">
            <a:spAutoFit/>
          </a:bodyPr>
          <a:lstStyle/>
          <a:p>
            <a:pPr marL="457200" indent="-457200">
              <a:tabLst>
                <a:tab pos="457200" algn="l"/>
              </a:tabLst>
            </a:pPr>
            <a:r>
              <a:rPr lang="en-US" altLang="zh-CN" b="1" dirty="0">
                <a:solidFill>
                  <a:srgbClr val="FF00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隶书" pitchFamily="49" charset="-122"/>
              </a:rPr>
              <a:t>(3) </a:t>
            </a:r>
            <a:r>
              <a:rPr lang="zh-CN" altLang="zh-CN" b="1" dirty="0">
                <a:solidFill>
                  <a:srgbClr val="FF00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隶书" pitchFamily="49" charset="-122"/>
              </a:rPr>
              <a:t>数据块读写函数：</a:t>
            </a:r>
            <a:r>
              <a:rPr lang="en-US" altLang="zh-CN" b="1" dirty="0" err="1">
                <a:solidFill>
                  <a:srgbClr val="FF00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隶书" pitchFamily="49" charset="-122"/>
              </a:rPr>
              <a:t>fread</a:t>
            </a:r>
            <a:r>
              <a:rPr lang="en-US" altLang="zh-CN" b="1" dirty="0">
                <a:solidFill>
                  <a:srgbClr val="FF00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隶书" pitchFamily="49" charset="-122"/>
              </a:rPr>
              <a:t> </a:t>
            </a:r>
            <a:r>
              <a:rPr lang="zh-CN" altLang="en-US" b="1" dirty="0">
                <a:solidFill>
                  <a:srgbClr val="FF00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隶书" pitchFamily="49" charset="-122"/>
              </a:rPr>
              <a:t>和 </a:t>
            </a:r>
            <a:r>
              <a:rPr lang="en-US" altLang="zh-CN" b="1" dirty="0" err="1">
                <a:solidFill>
                  <a:srgbClr val="FF00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隶书" pitchFamily="49" charset="-122"/>
              </a:rPr>
              <a:t>fwrite</a:t>
            </a:r>
            <a:endParaRPr lang="en-US" altLang="zh-CN" b="1" dirty="0">
              <a:solidFill>
                <a:srgbClr val="FF00FF"/>
              </a:solidFill>
              <a:effectLst>
                <a:outerShdw blurRad="38100" dist="38100" dir="2700000" algn="tl">
                  <a:srgbClr val="000000"/>
                </a:outerShdw>
              </a:effectLst>
              <a:ea typeface="隶书" pitchFamily="49" charset="-122"/>
            </a:endParaRPr>
          </a:p>
        </p:txBody>
      </p:sp>
      <p:sp>
        <p:nvSpPr>
          <p:cNvPr id="1082374" name="Rectangle 6"/>
          <p:cNvSpPr>
            <a:spLocks noChangeArrowheads="1"/>
          </p:cNvSpPr>
          <p:nvPr/>
        </p:nvSpPr>
        <p:spPr bwMode="auto">
          <a:xfrm>
            <a:off x="863303" y="764704"/>
            <a:ext cx="1397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>
            <a:spAutoFit/>
          </a:bodyPr>
          <a:lstStyle/>
          <a:p>
            <a:pPr>
              <a:buFont typeface="Wingdings" pitchFamily="2" charset="2"/>
              <a:buChar char="Ø"/>
              <a:tabLst>
                <a:tab pos="496888" algn="l"/>
              </a:tabLst>
            </a:pPr>
            <a:r>
              <a:rPr lang="en-US" altLang="zh-CN" b="1" dirty="0">
                <a:solidFill>
                  <a:srgbClr val="FF33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楷体_GB2312" pitchFamily="49" charset="-122"/>
              </a:rPr>
              <a:t> </a:t>
            </a:r>
            <a:r>
              <a:rPr lang="en-US" altLang="zh-CN" b="1" dirty="0" err="1">
                <a:solidFill>
                  <a:srgbClr val="FF33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楷体_GB2312" pitchFamily="49" charset="-122"/>
              </a:rPr>
              <a:t>fread</a:t>
            </a:r>
            <a:endParaRPr lang="en-US" altLang="zh-CN" b="1" dirty="0">
              <a:solidFill>
                <a:srgbClr val="FF3300"/>
              </a:solidFill>
              <a:effectLst>
                <a:outerShdw blurRad="38100" dist="38100" dir="2700000" algn="tl">
                  <a:srgbClr val="000000"/>
                </a:outerShdw>
              </a:effectLst>
              <a:ea typeface="楷体_GB2312" pitchFamily="49" charset="-122"/>
            </a:endParaRPr>
          </a:p>
        </p:txBody>
      </p:sp>
      <p:sp>
        <p:nvSpPr>
          <p:cNvPr id="1082375" name="Rectangle 7"/>
          <p:cNvSpPr>
            <a:spLocks noChangeArrowheads="1"/>
          </p:cNvSpPr>
          <p:nvPr/>
        </p:nvSpPr>
        <p:spPr bwMode="auto">
          <a:xfrm>
            <a:off x="1193503" y="1237779"/>
            <a:ext cx="2160588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buClr>
                <a:srgbClr val="339933"/>
              </a:buClr>
              <a:buFont typeface="Wingdings" pitchFamily="2" charset="2"/>
              <a:buChar char="l"/>
            </a:pPr>
            <a:r>
              <a:rPr lang="en-US" altLang="zh-CN" b="1" dirty="0">
                <a:effectLst>
                  <a:outerShdw blurRad="38100" dist="38100" dir="2700000" algn="tl">
                    <a:srgbClr val="FFFFFF"/>
                  </a:outerShdw>
                </a:effectLst>
                <a:latin typeface="+mn-lt"/>
                <a:ea typeface="楷体" pitchFamily="49" charset="-122"/>
              </a:rPr>
              <a:t> </a:t>
            </a:r>
            <a:r>
              <a:rPr lang="zh-CN" altLang="zh-CN" b="1" dirty="0">
                <a:effectLst>
                  <a:outerShdw blurRad="38100" dist="38100" dir="2700000" algn="tl">
                    <a:srgbClr val="FFFFFF"/>
                  </a:outerShdw>
                </a:effectLst>
                <a:latin typeface="+mn-lt"/>
                <a:ea typeface="楷体" pitchFamily="49" charset="-122"/>
              </a:rPr>
              <a:t>函数原形：         </a:t>
            </a:r>
            <a:endParaRPr lang="zh-CN" altLang="en-US" b="1" dirty="0">
              <a:effectLst>
                <a:outerShdw blurRad="38100" dist="38100" dir="2700000" algn="tl">
                  <a:srgbClr val="000000"/>
                </a:outerShdw>
              </a:effectLst>
              <a:latin typeface="+mn-lt"/>
              <a:ea typeface="楷体" pitchFamily="49" charset="-122"/>
            </a:endParaRPr>
          </a:p>
        </p:txBody>
      </p:sp>
      <p:sp>
        <p:nvSpPr>
          <p:cNvPr id="1082376" name="Text Box 8"/>
          <p:cNvSpPr txBox="1">
            <a:spLocks noChangeArrowheads="1"/>
          </p:cNvSpPr>
          <p:nvPr/>
        </p:nvSpPr>
        <p:spPr bwMode="auto">
          <a:xfrm>
            <a:off x="3136318" y="1219612"/>
            <a:ext cx="8424540" cy="431800"/>
          </a:xfrm>
          <a:prstGeom prst="rect">
            <a:avLst/>
          </a:prstGeom>
          <a:gradFill rotWithShape="1">
            <a:gsLst>
              <a:gs pos="0">
                <a:srgbClr val="FFFF99"/>
              </a:gs>
              <a:gs pos="100000">
                <a:srgbClr val="FFFF99">
                  <a:gamma/>
                  <a:shade val="75686"/>
                  <a:invGamma/>
                </a:srgbClr>
              </a:gs>
            </a:gsLst>
            <a:lin ang="5400000" scaled="1"/>
          </a:gradFill>
          <a:ln w="38100">
            <a:solidFill>
              <a:srgbClr val="0000FF"/>
            </a:solidFill>
            <a:miter lim="800000"/>
            <a:headEnd/>
            <a:tailEnd/>
          </a:ln>
          <a:effectLst>
            <a:outerShdw blurRad="50800" dist="106680" dir="2700000" algn="tl" rotWithShape="0">
              <a:prstClr val="black">
                <a:alpha val="43000"/>
              </a:prstClr>
            </a:outerShdw>
          </a:effectLst>
          <a:scene3d>
            <a:camera prst="orthographicFront"/>
            <a:lightRig rig="threePt" dir="t"/>
          </a:scene3d>
          <a:sp3d>
            <a:bevelT w="114300" prst="hardEdge"/>
          </a:sp3d>
        </p:spPr>
        <p:txBody>
          <a:bodyPr/>
          <a:lstStyle/>
          <a:p>
            <a:pPr algn="ctr"/>
            <a:r>
              <a:rPr lang="en-US" altLang="zh-CN" sz="2000" b="1" dirty="0">
                <a:effectLst>
                  <a:outerShdw blurRad="38100" dist="38100" dir="2700000" algn="tl">
                    <a:srgbClr val="FFFFFF"/>
                  </a:outerShdw>
                </a:effectLst>
              </a:rPr>
              <a:t>unsigned  </a:t>
            </a:r>
            <a:r>
              <a:rPr lang="en-US" altLang="zh-CN" sz="2000" b="1" dirty="0" err="1">
                <a:solidFill>
                  <a:srgbClr val="FF0000"/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fread</a:t>
            </a:r>
            <a:r>
              <a:rPr lang="en-US" altLang="zh-CN" sz="2000" b="1" dirty="0">
                <a:effectLst>
                  <a:outerShdw blurRad="38100" dist="38100" dir="2700000" algn="tl">
                    <a:srgbClr val="FFFFFF"/>
                  </a:outerShdw>
                </a:effectLst>
              </a:rPr>
              <a:t> (void *</a:t>
            </a:r>
            <a:r>
              <a:rPr lang="en-US" altLang="zh-CN" sz="2000" b="1" dirty="0" err="1">
                <a:effectLst>
                  <a:outerShdw blurRad="38100" dist="38100" dir="2700000" algn="tl">
                    <a:srgbClr val="FFFFFF"/>
                  </a:outerShdw>
                </a:effectLst>
              </a:rPr>
              <a:t>ptr</a:t>
            </a:r>
            <a:r>
              <a:rPr lang="en-US" altLang="zh-CN" sz="2000" b="1" dirty="0">
                <a:effectLst>
                  <a:outerShdw blurRad="38100" dist="38100" dir="2700000" algn="tl">
                    <a:srgbClr val="FFFFFF"/>
                  </a:outerShdw>
                </a:effectLst>
              </a:rPr>
              <a:t>, unsigned size, unsigned n, FILE *</a:t>
            </a:r>
            <a:r>
              <a:rPr lang="en-US" altLang="zh-CN" sz="2000" b="1" dirty="0" err="1">
                <a:effectLst>
                  <a:outerShdw blurRad="38100" dist="38100" dir="2700000" algn="tl">
                    <a:srgbClr val="FFFFFF"/>
                  </a:outerShdw>
                </a:effectLst>
              </a:rPr>
              <a:t>filepointer</a:t>
            </a:r>
            <a:r>
              <a:rPr lang="en-US" altLang="zh-CN" sz="2000" b="1" dirty="0">
                <a:effectLst>
                  <a:outerShdw blurRad="38100" dist="38100" dir="2700000" algn="tl">
                    <a:srgbClr val="FFFFFF"/>
                  </a:outerShdw>
                </a:effectLst>
              </a:rPr>
              <a:t>);</a:t>
            </a:r>
          </a:p>
        </p:txBody>
      </p:sp>
      <p:sp>
        <p:nvSpPr>
          <p:cNvPr id="1082377" name="Rectangle 9"/>
          <p:cNvSpPr>
            <a:spLocks noChangeArrowheads="1"/>
          </p:cNvSpPr>
          <p:nvPr/>
        </p:nvSpPr>
        <p:spPr bwMode="auto">
          <a:xfrm>
            <a:off x="1193503" y="1751047"/>
            <a:ext cx="10376121" cy="211000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marL="342900" indent="-342900">
              <a:lnSpc>
                <a:spcPts val="3200"/>
              </a:lnSpc>
              <a:buClr>
                <a:srgbClr val="339933"/>
              </a:buClr>
              <a:buFont typeface="Wingdings" panose="05000000000000000000" pitchFamily="2" charset="2"/>
              <a:buChar char="l"/>
            </a:pPr>
            <a:r>
              <a:rPr lang="zh-CN" altLang="en-US" b="1" dirty="0">
                <a:effectLst>
                  <a:outerShdw blurRad="38100" dist="38100" dir="2700000" algn="tl">
                    <a:srgbClr val="FFFFFF"/>
                  </a:outerShdw>
                </a:effectLst>
                <a:latin typeface="+mn-lt"/>
                <a:ea typeface="楷体" pitchFamily="49" charset="-122"/>
              </a:rPr>
              <a:t>功能：从</a:t>
            </a:r>
            <a:r>
              <a:rPr lang="en-US" altLang="zh-CN" b="1" dirty="0" err="1">
                <a:effectLst>
                  <a:outerShdw blurRad="38100" dist="38100" dir="2700000" algn="tl">
                    <a:srgbClr val="FFFFFF"/>
                  </a:outerShdw>
                </a:effectLst>
                <a:latin typeface="+mn-lt"/>
                <a:ea typeface="楷体" pitchFamily="49" charset="-122"/>
              </a:rPr>
              <a:t>filepointer</a:t>
            </a:r>
            <a:r>
              <a:rPr lang="zh-CN" altLang="en-US" b="1" dirty="0">
                <a:effectLst>
                  <a:outerShdw blurRad="38100" dist="38100" dir="2700000" algn="tl">
                    <a:srgbClr val="FFFFFF"/>
                  </a:outerShdw>
                </a:effectLst>
                <a:latin typeface="+mn-lt"/>
                <a:ea typeface="楷体" pitchFamily="49" charset="-122"/>
              </a:rPr>
              <a:t>所指向的文件中读取</a:t>
            </a:r>
            <a:r>
              <a:rPr lang="en-US" altLang="zh-CN" b="1" dirty="0">
                <a:effectLst>
                  <a:outerShdw blurRad="38100" dist="38100" dir="2700000" algn="tl">
                    <a:srgbClr val="FFFFFF"/>
                  </a:outerShdw>
                </a:effectLst>
                <a:latin typeface="+mn-lt"/>
                <a:ea typeface="楷体" pitchFamily="49" charset="-122"/>
              </a:rPr>
              <a:t>n</a:t>
            </a:r>
            <a:r>
              <a:rPr lang="zh-CN" altLang="en-US" b="1" dirty="0">
                <a:effectLst>
                  <a:outerShdw blurRad="38100" dist="38100" dir="2700000" algn="tl">
                    <a:srgbClr val="FFFFFF"/>
                  </a:outerShdw>
                </a:effectLst>
                <a:latin typeface="+mn-lt"/>
                <a:ea typeface="楷体" pitchFamily="49" charset="-122"/>
              </a:rPr>
              <a:t>个数据项，每个数据项的大小是</a:t>
            </a:r>
            <a:r>
              <a:rPr lang="en-US" altLang="zh-CN" b="1" dirty="0">
                <a:effectLst>
                  <a:outerShdw blurRad="38100" dist="38100" dir="2700000" algn="tl">
                    <a:srgbClr val="FFFFFF"/>
                  </a:outerShdw>
                </a:effectLst>
                <a:latin typeface="+mn-lt"/>
                <a:ea typeface="楷体" pitchFamily="49" charset="-122"/>
              </a:rPr>
              <a:t>size</a:t>
            </a:r>
            <a:r>
              <a:rPr lang="zh-CN" altLang="en-US" b="1" dirty="0">
                <a:effectLst>
                  <a:outerShdw blurRad="38100" dist="38100" dir="2700000" algn="tl">
                    <a:srgbClr val="FFFFFF"/>
                  </a:outerShdw>
                </a:effectLst>
                <a:latin typeface="+mn-lt"/>
                <a:ea typeface="楷体" pitchFamily="49" charset="-122"/>
              </a:rPr>
              <a:t>个字节，这些数据将被存放到</a:t>
            </a:r>
            <a:r>
              <a:rPr lang="en-US" altLang="zh-CN" b="1" dirty="0" err="1">
                <a:effectLst>
                  <a:outerShdw blurRad="38100" dist="38100" dir="2700000" algn="tl">
                    <a:srgbClr val="FFFFFF"/>
                  </a:outerShdw>
                </a:effectLst>
                <a:latin typeface="+mn-lt"/>
                <a:ea typeface="楷体" pitchFamily="49" charset="-122"/>
              </a:rPr>
              <a:t>ptr</a:t>
            </a:r>
            <a:r>
              <a:rPr lang="zh-CN" altLang="en-US" b="1" dirty="0">
                <a:effectLst>
                  <a:outerShdw blurRad="38100" dist="38100" dir="2700000" algn="tl">
                    <a:srgbClr val="FFFFFF"/>
                  </a:outerShdw>
                </a:effectLst>
                <a:latin typeface="+mn-lt"/>
                <a:ea typeface="楷体" pitchFamily="49" charset="-122"/>
              </a:rPr>
              <a:t>所指向的内存中。同时，将读写位置指针向前移动</a:t>
            </a:r>
            <a:r>
              <a:rPr lang="en-US" altLang="zh-CN" b="1" dirty="0">
                <a:effectLst>
                  <a:outerShdw blurRad="38100" dist="38100" dir="2700000" algn="tl">
                    <a:srgbClr val="FFFFFF"/>
                  </a:outerShdw>
                </a:effectLst>
                <a:latin typeface="+mn-lt"/>
                <a:ea typeface="楷体" pitchFamily="49" charset="-122"/>
              </a:rPr>
              <a:t>n*size</a:t>
            </a:r>
            <a:r>
              <a:rPr lang="zh-CN" altLang="en-US" b="1" dirty="0">
                <a:effectLst>
                  <a:outerShdw blurRad="38100" dist="38100" dir="2700000" algn="tl">
                    <a:srgbClr val="FFFFFF"/>
                  </a:outerShdw>
                </a:effectLst>
                <a:latin typeface="+mn-lt"/>
                <a:ea typeface="楷体" pitchFamily="49" charset="-122"/>
              </a:rPr>
              <a:t>个字节。</a:t>
            </a:r>
            <a:r>
              <a:rPr lang="zh-CN" altLang="en-US" dirty="0">
                <a:latin typeface="+mn-lt"/>
                <a:ea typeface="楷体" pitchFamily="49" charset="-122"/>
              </a:rPr>
              <a:t> </a:t>
            </a:r>
            <a:endParaRPr lang="zh-CN" altLang="en-US" b="1" dirty="0">
              <a:effectLst>
                <a:outerShdw blurRad="38100" dist="38100" dir="2700000" algn="tl">
                  <a:srgbClr val="FFFFFF"/>
                </a:outerShdw>
              </a:effectLst>
              <a:latin typeface="+mn-lt"/>
              <a:ea typeface="楷体" pitchFamily="49" charset="-122"/>
            </a:endParaRPr>
          </a:p>
          <a:p>
            <a:pPr marL="342900" indent="-342900">
              <a:lnSpc>
                <a:spcPts val="3200"/>
              </a:lnSpc>
              <a:buClr>
                <a:srgbClr val="339933"/>
              </a:buClr>
              <a:buFont typeface="Wingdings" panose="05000000000000000000" pitchFamily="2" charset="2"/>
              <a:buChar char="l"/>
            </a:pPr>
            <a:r>
              <a:rPr lang="zh-CN" altLang="en-US" b="1" dirty="0">
                <a:effectLst>
                  <a:outerShdw blurRad="38100" dist="38100" dir="2700000" algn="tl">
                    <a:srgbClr val="FFFFFF"/>
                  </a:outerShdw>
                </a:effectLst>
                <a:latin typeface="+mn-lt"/>
                <a:ea typeface="楷体" pitchFamily="49" charset="-122"/>
              </a:rPr>
              <a:t>返值：如果操作成功，则函数返回值就是读取的数据项的个数（不是字节的个数）；如果操作出错或遇到文件尾，则返回</a:t>
            </a:r>
            <a:r>
              <a:rPr lang="en-US" altLang="zh-CN" b="1" dirty="0">
                <a:effectLst>
                  <a:outerShdw blurRad="38100" dist="38100" dir="2700000" algn="tl">
                    <a:srgbClr val="FFFFFF"/>
                  </a:outerShdw>
                </a:effectLst>
                <a:latin typeface="+mn-lt"/>
                <a:ea typeface="楷体" pitchFamily="49" charset="-122"/>
              </a:rPr>
              <a:t>0</a:t>
            </a:r>
            <a:r>
              <a:rPr lang="zh-CN" altLang="en-US" b="1" dirty="0">
                <a:effectLst>
                  <a:outerShdw blurRad="38100" dist="38100" dir="2700000" algn="tl">
                    <a:srgbClr val="FFFFFF"/>
                  </a:outerShdw>
                </a:effectLst>
                <a:latin typeface="+mn-lt"/>
                <a:ea typeface="楷体" pitchFamily="49" charset="-122"/>
              </a:rPr>
              <a:t>。</a:t>
            </a:r>
            <a:r>
              <a:rPr lang="zh-CN" altLang="en-US" dirty="0">
                <a:latin typeface="+mn-lt"/>
                <a:ea typeface="楷体" pitchFamily="49" charset="-122"/>
              </a:rPr>
              <a:t> </a:t>
            </a:r>
          </a:p>
        </p:txBody>
      </p:sp>
      <p:grpSp>
        <p:nvGrpSpPr>
          <p:cNvPr id="1082384" name="Group 16"/>
          <p:cNvGrpSpPr>
            <a:grpSpLocks/>
          </p:cNvGrpSpPr>
          <p:nvPr/>
        </p:nvGrpSpPr>
        <p:grpSpPr bwMode="auto">
          <a:xfrm>
            <a:off x="-9822" y="0"/>
            <a:ext cx="446088" cy="6858000"/>
            <a:chOff x="0" y="0"/>
            <a:chExt cx="281" cy="4320"/>
          </a:xfrm>
        </p:grpSpPr>
        <p:sp>
          <p:nvSpPr>
            <p:cNvPr id="1082385" name="Text Box 17"/>
            <p:cNvSpPr txBox="1">
              <a:spLocks noChangeArrowheads="1"/>
            </p:cNvSpPr>
            <p:nvPr/>
          </p:nvSpPr>
          <p:spPr bwMode="auto">
            <a:xfrm>
              <a:off x="0" y="0"/>
              <a:ext cx="281" cy="4320"/>
            </a:xfrm>
            <a:prstGeom prst="rect">
              <a:avLst/>
            </a:prstGeom>
            <a:gradFill rotWithShape="0">
              <a:gsLst>
                <a:gs pos="0">
                  <a:schemeClr val="hlink">
                    <a:gamma/>
                    <a:shade val="60784"/>
                    <a:invGamma/>
                  </a:schemeClr>
                </a:gs>
                <a:gs pos="50000">
                  <a:schemeClr val="hlink"/>
                </a:gs>
                <a:gs pos="100000">
                  <a:schemeClr val="hlink">
                    <a:gamma/>
                    <a:shade val="60784"/>
                    <a:invGamma/>
                  </a:schemeClr>
                </a:gs>
              </a:gsLst>
              <a:lin ang="0" scaled="1"/>
            </a:gradFill>
            <a:ln w="9525">
              <a:noFill/>
              <a:miter lim="800000"/>
              <a:headEnd/>
              <a:tailEnd/>
            </a:ln>
            <a:effectLst/>
          </p:spPr>
          <p:txBody>
            <a:bodyPr/>
            <a:lstStyle/>
            <a:p>
              <a:pPr eaLnBrk="0" hangingPunct="0">
                <a:spcBef>
                  <a:spcPct val="50000"/>
                </a:spcBef>
              </a:pPr>
              <a:endParaRPr lang="en-US" altLang="zh-CN" sz="1800" dirty="0">
                <a:solidFill>
                  <a:srgbClr val="3333CC"/>
                </a:solidFill>
                <a:latin typeface="Verdana" pitchFamily="34" charset="0"/>
              </a:endParaRPr>
            </a:p>
            <a:p>
              <a:pPr eaLnBrk="0" hangingPunct="0">
                <a:spcBef>
                  <a:spcPct val="50000"/>
                </a:spcBef>
              </a:pPr>
              <a:r>
                <a:rPr lang="zh-CN" altLang="en-US" sz="1600" b="1" dirty="0">
                  <a:solidFill>
                    <a:srgbClr val="3333CC"/>
                  </a:solidFill>
                  <a:latin typeface="Verdana" pitchFamily="34" charset="0"/>
                </a:rPr>
                <a:t>语言程序设计教程       </a:t>
              </a:r>
            </a:p>
            <a:p>
              <a:pPr eaLnBrk="0" hangingPunct="0">
                <a:spcBef>
                  <a:spcPct val="50000"/>
                </a:spcBef>
              </a:pPr>
              <a:r>
                <a:rPr lang="zh-CN" altLang="en-US" sz="1600" b="1" dirty="0">
                  <a:solidFill>
                    <a:srgbClr val="3333CC"/>
                  </a:solidFill>
                  <a:latin typeface="Verdana" pitchFamily="34" charset="0"/>
                </a:rPr>
                <a:t>第三版</a:t>
              </a:r>
            </a:p>
            <a:p>
              <a:pPr eaLnBrk="0" hangingPunct="0">
                <a:spcBef>
                  <a:spcPct val="50000"/>
                </a:spcBef>
              </a:pPr>
              <a:endParaRPr lang="zh-CN" altLang="en-US" sz="1600" b="1" dirty="0">
                <a:solidFill>
                  <a:srgbClr val="3333CC"/>
                </a:solidFill>
                <a:latin typeface="Verdana" pitchFamily="34" charset="0"/>
              </a:endParaRPr>
            </a:p>
            <a:p>
              <a:pPr eaLnBrk="0" hangingPunct="0">
                <a:spcBef>
                  <a:spcPct val="50000"/>
                </a:spcBef>
              </a:pPr>
              <a:endParaRPr lang="zh-CN" altLang="en-US" sz="1600" b="1" dirty="0">
                <a:solidFill>
                  <a:srgbClr val="3333CC"/>
                </a:solidFill>
                <a:latin typeface="Verdana" pitchFamily="34" charset="0"/>
              </a:endParaRPr>
            </a:p>
            <a:p>
              <a:pPr eaLnBrk="0" hangingPunct="0">
                <a:spcBef>
                  <a:spcPct val="50000"/>
                </a:spcBef>
              </a:pPr>
              <a:r>
                <a:rPr lang="zh-CN" altLang="en-US" sz="1600" b="1" dirty="0">
                  <a:solidFill>
                    <a:srgbClr val="3333CC"/>
                  </a:solidFill>
                  <a:latin typeface="Verdana" pitchFamily="34" charset="0"/>
                </a:rPr>
                <a:t>第十</a:t>
              </a:r>
            </a:p>
            <a:p>
              <a:pPr eaLnBrk="0" hangingPunct="0">
                <a:spcBef>
                  <a:spcPct val="50000"/>
                </a:spcBef>
              </a:pPr>
              <a:r>
                <a:rPr lang="zh-CN" altLang="en-US" sz="1600" b="1" dirty="0">
                  <a:solidFill>
                    <a:srgbClr val="3333CC"/>
                  </a:solidFill>
                  <a:latin typeface="Verdana" pitchFamily="34" charset="0"/>
                </a:rPr>
                <a:t>二章 </a:t>
              </a:r>
            </a:p>
            <a:p>
              <a:pPr eaLnBrk="0" hangingPunct="0">
                <a:spcBef>
                  <a:spcPct val="50000"/>
                </a:spcBef>
              </a:pPr>
              <a:endParaRPr lang="zh-CN" altLang="en-US" sz="1600" b="1" dirty="0">
                <a:solidFill>
                  <a:srgbClr val="3333CC"/>
                </a:solidFill>
                <a:latin typeface="Verdana" pitchFamily="34" charset="0"/>
              </a:endParaRPr>
            </a:p>
            <a:p>
              <a:pPr eaLnBrk="0" hangingPunct="0">
                <a:spcBef>
                  <a:spcPct val="50000"/>
                </a:spcBef>
              </a:pPr>
              <a:r>
                <a:rPr lang="zh-CN" altLang="en-US" sz="1600" b="1" dirty="0">
                  <a:solidFill>
                    <a:srgbClr val="3333CC"/>
                  </a:solidFill>
                  <a:latin typeface="Verdana" pitchFamily="34" charset="0"/>
                </a:rPr>
                <a:t>文</a:t>
              </a:r>
            </a:p>
            <a:p>
              <a:pPr eaLnBrk="0" hangingPunct="0">
                <a:spcBef>
                  <a:spcPct val="50000"/>
                </a:spcBef>
              </a:pPr>
              <a:endParaRPr lang="zh-CN" altLang="en-US" sz="1600" b="1" dirty="0">
                <a:solidFill>
                  <a:srgbClr val="3333CC"/>
                </a:solidFill>
                <a:latin typeface="Verdana" pitchFamily="34" charset="0"/>
              </a:endParaRPr>
            </a:p>
            <a:p>
              <a:pPr eaLnBrk="0" hangingPunct="0">
                <a:spcBef>
                  <a:spcPct val="50000"/>
                </a:spcBef>
              </a:pPr>
              <a:r>
                <a:rPr lang="zh-CN" altLang="en-US" sz="1600" b="1" dirty="0">
                  <a:solidFill>
                    <a:srgbClr val="3333CC"/>
                  </a:solidFill>
                  <a:latin typeface="Verdana" pitchFamily="34" charset="0"/>
                </a:rPr>
                <a:t>件</a:t>
              </a:r>
            </a:p>
          </p:txBody>
        </p:sp>
        <p:sp>
          <p:nvSpPr>
            <p:cNvPr id="1082386" name="Text Box 18"/>
            <p:cNvSpPr txBox="1">
              <a:spLocks noChangeArrowheads="1"/>
            </p:cNvSpPr>
            <p:nvPr/>
          </p:nvSpPr>
          <p:spPr bwMode="auto">
            <a:xfrm>
              <a:off x="0" y="0"/>
              <a:ext cx="281" cy="231"/>
            </a:xfrm>
            <a:prstGeom prst="rect">
              <a:avLst/>
            </a:prstGeom>
            <a:gradFill rotWithShape="0">
              <a:gsLst>
                <a:gs pos="0">
                  <a:schemeClr val="hlink">
                    <a:gamma/>
                    <a:shade val="46275"/>
                    <a:invGamma/>
                  </a:schemeClr>
                </a:gs>
                <a:gs pos="50000">
                  <a:schemeClr val="hlink"/>
                </a:gs>
                <a:gs pos="100000">
                  <a:schemeClr val="hlink">
                    <a:gamma/>
                    <a:shade val="46275"/>
                    <a:invGamma/>
                  </a:schemeClr>
                </a:gs>
              </a:gsLst>
              <a:lin ang="0" scaled="1"/>
            </a:gradFill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eaLnBrk="0" hangingPunct="0">
                <a:spcBef>
                  <a:spcPct val="50000"/>
                </a:spcBef>
              </a:pPr>
              <a:r>
                <a:rPr lang="en-US" altLang="zh-CN" sz="1800" b="1">
                  <a:solidFill>
                    <a:srgbClr val="0000FF"/>
                  </a:solidFill>
                  <a:latin typeface="Arial" pitchFamily="34" charset="0"/>
                </a:rPr>
                <a:t>C</a:t>
              </a:r>
            </a:p>
          </p:txBody>
        </p:sp>
      </p:grpSp>
      <p:sp>
        <p:nvSpPr>
          <p:cNvPr id="10" name="Rectangle 6">
            <a:extLst>
              <a:ext uri="{FF2B5EF4-FFF2-40B4-BE49-F238E27FC236}">
                <a16:creationId xmlns:a16="http://schemas.microsoft.com/office/drawing/2014/main" id="{AFCD8935-859C-4A7E-BC5B-051C5A2FFE79}"/>
              </a:ext>
            </a:extLst>
          </p:cNvPr>
          <p:cNvSpPr>
            <a:spLocks noChangeArrowheads="1"/>
          </p:cNvSpPr>
          <p:nvPr/>
        </p:nvSpPr>
        <p:spPr bwMode="auto">
          <a:xfrm>
            <a:off x="865704" y="3789040"/>
            <a:ext cx="1397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>
            <a:spAutoFit/>
          </a:bodyPr>
          <a:lstStyle/>
          <a:p>
            <a:pPr>
              <a:buFont typeface="Wingdings" pitchFamily="2" charset="2"/>
              <a:buChar char="Ø"/>
              <a:tabLst>
                <a:tab pos="496888" algn="l"/>
              </a:tabLst>
            </a:pPr>
            <a:r>
              <a:rPr lang="en-US" altLang="zh-CN" b="1" dirty="0">
                <a:solidFill>
                  <a:srgbClr val="FF33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楷体_GB2312" pitchFamily="49" charset="-122"/>
              </a:rPr>
              <a:t> </a:t>
            </a:r>
            <a:r>
              <a:rPr lang="en-US" altLang="zh-CN" b="1" dirty="0" err="1">
                <a:solidFill>
                  <a:srgbClr val="FF33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楷体_GB2312" pitchFamily="49" charset="-122"/>
              </a:rPr>
              <a:t>fwrite</a:t>
            </a:r>
            <a:endParaRPr lang="en-US" altLang="zh-CN" b="1" dirty="0">
              <a:solidFill>
                <a:srgbClr val="FF3300"/>
              </a:solidFill>
              <a:effectLst>
                <a:outerShdw blurRad="38100" dist="38100" dir="2700000" algn="tl">
                  <a:srgbClr val="000000"/>
                </a:outerShdw>
              </a:effectLst>
              <a:ea typeface="楷体_GB2312" pitchFamily="49" charset="-122"/>
            </a:endParaRPr>
          </a:p>
        </p:txBody>
      </p:sp>
      <p:sp>
        <p:nvSpPr>
          <p:cNvPr id="11" name="Rectangle 7">
            <a:extLst>
              <a:ext uri="{FF2B5EF4-FFF2-40B4-BE49-F238E27FC236}">
                <a16:creationId xmlns:a16="http://schemas.microsoft.com/office/drawing/2014/main" id="{9E9E8CEF-6DA4-4BAF-B1EA-31E93C5A441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99456" y="4262234"/>
            <a:ext cx="2160588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buClr>
                <a:srgbClr val="339933"/>
              </a:buClr>
              <a:buFont typeface="Wingdings" pitchFamily="2" charset="2"/>
              <a:buChar char="l"/>
            </a:pPr>
            <a:r>
              <a:rPr lang="en-US" altLang="zh-CN" b="1" dirty="0">
                <a:effectLst>
                  <a:outerShdw blurRad="38100" dist="38100" dir="2700000" algn="tl">
                    <a:srgbClr val="FFFFFF"/>
                  </a:outerShdw>
                </a:effectLst>
                <a:latin typeface="+mn-lt"/>
                <a:ea typeface="楷体" pitchFamily="49" charset="-122"/>
              </a:rPr>
              <a:t> </a:t>
            </a:r>
            <a:r>
              <a:rPr lang="zh-CN" altLang="zh-CN" b="1" dirty="0">
                <a:effectLst>
                  <a:outerShdw blurRad="38100" dist="38100" dir="2700000" algn="tl">
                    <a:srgbClr val="FFFFFF"/>
                  </a:outerShdw>
                </a:effectLst>
                <a:latin typeface="+mn-lt"/>
                <a:ea typeface="楷体" pitchFamily="49" charset="-122"/>
              </a:rPr>
              <a:t>函数原形：         </a:t>
            </a:r>
            <a:endParaRPr lang="zh-CN" altLang="en-US" b="1" dirty="0">
              <a:effectLst>
                <a:outerShdw blurRad="38100" dist="38100" dir="2700000" algn="tl">
                  <a:srgbClr val="000000"/>
                </a:outerShdw>
              </a:effectLst>
              <a:latin typeface="+mn-lt"/>
              <a:ea typeface="楷体" pitchFamily="49" charset="-122"/>
            </a:endParaRPr>
          </a:p>
        </p:txBody>
      </p:sp>
      <p:sp>
        <p:nvSpPr>
          <p:cNvPr id="12" name="Text Box 8">
            <a:extLst>
              <a:ext uri="{FF2B5EF4-FFF2-40B4-BE49-F238E27FC236}">
                <a16:creationId xmlns:a16="http://schemas.microsoft.com/office/drawing/2014/main" id="{D56AE6C3-1FC6-4343-8BD4-F18CB8F1064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36318" y="4268113"/>
            <a:ext cx="8388350" cy="431800"/>
          </a:xfrm>
          <a:prstGeom prst="rect">
            <a:avLst/>
          </a:prstGeom>
          <a:gradFill rotWithShape="1">
            <a:gsLst>
              <a:gs pos="0">
                <a:srgbClr val="FFFF99"/>
              </a:gs>
              <a:gs pos="100000">
                <a:srgbClr val="FFFF99">
                  <a:gamma/>
                  <a:shade val="75686"/>
                  <a:invGamma/>
                </a:srgbClr>
              </a:gs>
            </a:gsLst>
            <a:lin ang="5400000" scaled="1"/>
          </a:gradFill>
          <a:ln w="38100">
            <a:solidFill>
              <a:srgbClr val="0000FF"/>
            </a:solidFill>
            <a:miter lim="800000"/>
            <a:headEnd/>
            <a:tailEnd/>
          </a:ln>
          <a:effectLst>
            <a:outerShdw blurRad="50800" dist="106680" dir="2700000" algn="tl" rotWithShape="0">
              <a:prstClr val="black">
                <a:alpha val="43000"/>
              </a:prstClr>
            </a:outerShdw>
          </a:effectLst>
          <a:scene3d>
            <a:camera prst="orthographicFront"/>
            <a:lightRig rig="threePt" dir="t"/>
          </a:scene3d>
          <a:sp3d>
            <a:bevelT w="114300" prst="hardEdge"/>
          </a:sp3d>
        </p:spPr>
        <p:txBody>
          <a:bodyPr/>
          <a:lstStyle/>
          <a:p>
            <a:pPr algn="ctr"/>
            <a:r>
              <a:rPr lang="en-US" altLang="zh-CN" sz="2000" b="1" dirty="0">
                <a:effectLst>
                  <a:outerShdw blurRad="38100" dist="38100" dir="2700000" algn="tl">
                    <a:srgbClr val="FFFFFF"/>
                  </a:outerShdw>
                </a:effectLst>
              </a:rPr>
              <a:t>unsigned  </a:t>
            </a:r>
            <a:r>
              <a:rPr lang="en-US" altLang="zh-CN" sz="2000" b="1" dirty="0" err="1">
                <a:solidFill>
                  <a:srgbClr val="FF0000"/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fwrite</a:t>
            </a:r>
            <a:r>
              <a:rPr lang="en-US" altLang="zh-CN" sz="2000" b="1" dirty="0">
                <a:effectLst>
                  <a:outerShdw blurRad="38100" dist="38100" dir="2700000" algn="tl">
                    <a:srgbClr val="FFFFFF"/>
                  </a:outerShdw>
                </a:effectLst>
              </a:rPr>
              <a:t> (void *</a:t>
            </a:r>
            <a:r>
              <a:rPr lang="en-US" altLang="zh-CN" sz="2000" b="1" dirty="0" err="1">
                <a:effectLst>
                  <a:outerShdw blurRad="38100" dist="38100" dir="2700000" algn="tl">
                    <a:srgbClr val="FFFFFF"/>
                  </a:outerShdw>
                </a:effectLst>
              </a:rPr>
              <a:t>ptr</a:t>
            </a:r>
            <a:r>
              <a:rPr lang="en-US" altLang="zh-CN" sz="2000" b="1" dirty="0">
                <a:effectLst>
                  <a:outerShdw blurRad="38100" dist="38100" dir="2700000" algn="tl">
                    <a:srgbClr val="FFFFFF"/>
                  </a:outerShdw>
                </a:effectLst>
              </a:rPr>
              <a:t>, unsigned size, unsigned n, FILE *</a:t>
            </a:r>
            <a:r>
              <a:rPr lang="en-US" altLang="zh-CN" sz="2000" b="1" dirty="0" err="1">
                <a:effectLst>
                  <a:outerShdw blurRad="38100" dist="38100" dir="2700000" algn="tl">
                    <a:srgbClr val="FFFFFF"/>
                  </a:outerShdw>
                </a:effectLst>
              </a:rPr>
              <a:t>filepointer</a:t>
            </a:r>
            <a:r>
              <a:rPr lang="en-US" altLang="zh-CN" sz="2000" b="1" dirty="0">
                <a:effectLst>
                  <a:outerShdw blurRad="38100" dist="38100" dir="2700000" algn="tl">
                    <a:srgbClr val="FFFFFF"/>
                  </a:outerShdw>
                </a:effectLst>
              </a:rPr>
              <a:t>);</a:t>
            </a:r>
          </a:p>
        </p:txBody>
      </p:sp>
      <p:sp>
        <p:nvSpPr>
          <p:cNvPr id="13" name="Rectangle 9">
            <a:extLst>
              <a:ext uri="{FF2B5EF4-FFF2-40B4-BE49-F238E27FC236}">
                <a16:creationId xmlns:a16="http://schemas.microsoft.com/office/drawing/2014/main" id="{78A0E4E4-93EC-4070-89B9-E245C41FBDC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99455" y="4797152"/>
            <a:ext cx="10370165" cy="193899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marL="342900" indent="-342900">
              <a:buClr>
                <a:srgbClr val="339933"/>
              </a:buClr>
              <a:buFont typeface="Wingdings" panose="05000000000000000000" pitchFamily="2" charset="2"/>
              <a:buChar char="l"/>
            </a:pPr>
            <a:r>
              <a:rPr lang="zh-CN" altLang="en-US" b="1" dirty="0">
                <a:effectLst>
                  <a:outerShdw blurRad="38100" dist="38100" dir="2700000" algn="tl">
                    <a:srgbClr val="FFFFFF"/>
                  </a:outerShdw>
                </a:effectLst>
                <a:latin typeface="+mn-lt"/>
                <a:ea typeface="楷体" pitchFamily="49" charset="-122"/>
              </a:rPr>
              <a:t>功能：将</a:t>
            </a:r>
            <a:r>
              <a:rPr lang="en-US" altLang="zh-CN" b="1" dirty="0" err="1">
                <a:effectLst>
                  <a:outerShdw blurRad="38100" dist="38100" dir="2700000" algn="tl">
                    <a:srgbClr val="FFFFFF"/>
                  </a:outerShdw>
                </a:effectLst>
                <a:latin typeface="+mn-lt"/>
                <a:ea typeface="楷体" pitchFamily="49" charset="-122"/>
              </a:rPr>
              <a:t>ptr</a:t>
            </a:r>
            <a:r>
              <a:rPr lang="zh-CN" altLang="en-US" b="1" dirty="0">
                <a:effectLst>
                  <a:outerShdw blurRad="38100" dist="38100" dir="2700000" algn="tl">
                    <a:srgbClr val="FFFFFF"/>
                  </a:outerShdw>
                </a:effectLst>
                <a:latin typeface="+mn-lt"/>
                <a:ea typeface="楷体" pitchFamily="49" charset="-122"/>
              </a:rPr>
              <a:t>所指向的内存中存放的</a:t>
            </a:r>
            <a:r>
              <a:rPr lang="en-US" altLang="zh-CN" b="1" dirty="0">
                <a:effectLst>
                  <a:outerShdw blurRad="38100" dist="38100" dir="2700000" algn="tl">
                    <a:srgbClr val="FFFFFF"/>
                  </a:outerShdw>
                </a:effectLst>
                <a:latin typeface="+mn-lt"/>
                <a:ea typeface="楷体" pitchFamily="49" charset="-122"/>
              </a:rPr>
              <a:t>n</a:t>
            </a:r>
            <a:r>
              <a:rPr lang="zh-CN" altLang="en-US" b="1" dirty="0">
                <a:effectLst>
                  <a:outerShdw blurRad="38100" dist="38100" dir="2700000" algn="tl">
                    <a:srgbClr val="FFFFFF"/>
                  </a:outerShdw>
                </a:effectLst>
                <a:latin typeface="+mn-lt"/>
                <a:ea typeface="楷体" pitchFamily="49" charset="-122"/>
              </a:rPr>
              <a:t>个大小为</a:t>
            </a:r>
            <a:r>
              <a:rPr lang="en-US" altLang="zh-CN" b="1" dirty="0">
                <a:effectLst>
                  <a:outerShdw blurRad="38100" dist="38100" dir="2700000" algn="tl">
                    <a:srgbClr val="FFFFFF"/>
                  </a:outerShdw>
                </a:effectLst>
                <a:latin typeface="+mn-lt"/>
                <a:ea typeface="楷体" pitchFamily="49" charset="-122"/>
              </a:rPr>
              <a:t>size</a:t>
            </a:r>
            <a:r>
              <a:rPr lang="zh-CN" altLang="en-US" b="1" dirty="0">
                <a:effectLst>
                  <a:outerShdw blurRad="38100" dist="38100" dir="2700000" algn="tl">
                    <a:srgbClr val="FFFFFF"/>
                  </a:outerShdw>
                </a:effectLst>
                <a:latin typeface="+mn-lt"/>
                <a:ea typeface="楷体" pitchFamily="49" charset="-122"/>
              </a:rPr>
              <a:t>个字节的数据项写入到</a:t>
            </a:r>
            <a:r>
              <a:rPr lang="en-US" altLang="zh-CN" b="1" dirty="0" err="1">
                <a:effectLst>
                  <a:outerShdw blurRad="38100" dist="38100" dir="2700000" algn="tl">
                    <a:srgbClr val="FFFFFF"/>
                  </a:outerShdw>
                </a:effectLst>
                <a:latin typeface="+mn-lt"/>
                <a:ea typeface="楷体" pitchFamily="49" charset="-122"/>
              </a:rPr>
              <a:t>filepointer</a:t>
            </a:r>
            <a:r>
              <a:rPr lang="zh-CN" altLang="en-US" b="1" dirty="0">
                <a:effectLst>
                  <a:outerShdw blurRad="38100" dist="38100" dir="2700000" algn="tl">
                    <a:srgbClr val="FFFFFF"/>
                  </a:outerShdw>
                </a:effectLst>
                <a:latin typeface="+mn-lt"/>
                <a:ea typeface="楷体" pitchFamily="49" charset="-122"/>
              </a:rPr>
              <a:t>所指向的文件中，实际要写入数据的字节数是</a:t>
            </a:r>
            <a:r>
              <a:rPr lang="en-US" altLang="zh-CN" b="1" dirty="0">
                <a:effectLst>
                  <a:outerShdw blurRad="38100" dist="38100" dir="2700000" algn="tl">
                    <a:srgbClr val="FFFFFF"/>
                  </a:outerShdw>
                </a:effectLst>
                <a:latin typeface="+mn-lt"/>
                <a:ea typeface="楷体" pitchFamily="49" charset="-122"/>
              </a:rPr>
              <a:t>n*size</a:t>
            </a:r>
            <a:r>
              <a:rPr lang="zh-CN" altLang="en-US" b="1" dirty="0">
                <a:effectLst>
                  <a:outerShdw blurRad="38100" dist="38100" dir="2700000" algn="tl">
                    <a:srgbClr val="FFFFFF"/>
                  </a:outerShdw>
                </a:effectLst>
                <a:latin typeface="+mn-lt"/>
                <a:ea typeface="楷体" pitchFamily="49" charset="-122"/>
              </a:rPr>
              <a:t>。同时，将读写位置指针向前移动</a:t>
            </a:r>
            <a:r>
              <a:rPr lang="en-US" altLang="zh-CN" b="1" dirty="0">
                <a:effectLst>
                  <a:outerShdw blurRad="38100" dist="38100" dir="2700000" algn="tl">
                    <a:srgbClr val="FFFFFF"/>
                  </a:outerShdw>
                </a:effectLst>
                <a:latin typeface="+mn-lt"/>
                <a:ea typeface="楷体" pitchFamily="49" charset="-122"/>
              </a:rPr>
              <a:t>n*size</a:t>
            </a:r>
            <a:r>
              <a:rPr lang="zh-CN" altLang="en-US" b="1" dirty="0">
                <a:effectLst>
                  <a:outerShdw blurRad="38100" dist="38100" dir="2700000" algn="tl">
                    <a:srgbClr val="FFFFFF"/>
                  </a:outerShdw>
                </a:effectLst>
                <a:latin typeface="+mn-lt"/>
                <a:ea typeface="楷体" pitchFamily="49" charset="-122"/>
              </a:rPr>
              <a:t>个字节。</a:t>
            </a:r>
            <a:endParaRPr lang="en-US" altLang="zh-CN" b="1" dirty="0">
              <a:effectLst>
                <a:outerShdw blurRad="38100" dist="38100" dir="2700000" algn="tl">
                  <a:srgbClr val="FFFFFF"/>
                </a:outerShdw>
              </a:effectLst>
              <a:latin typeface="+mn-lt"/>
              <a:ea typeface="楷体" pitchFamily="49" charset="-122"/>
            </a:endParaRPr>
          </a:p>
          <a:p>
            <a:pPr marL="342900" indent="-342900">
              <a:buClr>
                <a:srgbClr val="339933"/>
              </a:buClr>
              <a:buFont typeface="Wingdings" panose="05000000000000000000" pitchFamily="2" charset="2"/>
              <a:buChar char="l"/>
            </a:pPr>
            <a:r>
              <a:rPr lang="zh-CN" altLang="en-US" b="1" dirty="0">
                <a:effectLst>
                  <a:outerShdw blurRad="38100" dist="38100" dir="2700000" algn="tl">
                    <a:srgbClr val="FFFFFF"/>
                  </a:outerShdw>
                </a:effectLst>
                <a:latin typeface="+mn-lt"/>
                <a:ea typeface="楷体" pitchFamily="49" charset="-122"/>
              </a:rPr>
              <a:t>返值：如果操作成功，则函数返回值就是实际写入的数据项的个数（不是字节的个数）；如果操作出错，则返回</a:t>
            </a:r>
            <a:r>
              <a:rPr lang="en-US" altLang="zh-CN" b="1" dirty="0">
                <a:effectLst>
                  <a:outerShdw blurRad="38100" dist="38100" dir="2700000" algn="tl">
                    <a:srgbClr val="FFFFFF"/>
                  </a:outerShdw>
                </a:effectLst>
                <a:latin typeface="+mn-lt"/>
                <a:ea typeface="楷体" pitchFamily="49" charset="-122"/>
              </a:rPr>
              <a:t>0</a:t>
            </a:r>
            <a:r>
              <a:rPr lang="zh-CN" altLang="en-US" b="1" dirty="0">
                <a:effectLst>
                  <a:outerShdw blurRad="38100" dist="38100" dir="2700000" algn="tl">
                    <a:srgbClr val="FFFFFF"/>
                  </a:outerShdw>
                </a:effectLst>
                <a:latin typeface="+mn-lt"/>
                <a:ea typeface="楷体" pitchFamily="49" charset="-122"/>
              </a:rPr>
              <a:t>。</a:t>
            </a:r>
          </a:p>
        </p:txBody>
      </p:sp>
      <p:sp>
        <p:nvSpPr>
          <p:cNvPr id="16" name="Rectangle 10">
            <a:extLst>
              <a:ext uri="{FF2B5EF4-FFF2-40B4-BE49-F238E27FC236}">
                <a16:creationId xmlns:a16="http://schemas.microsoft.com/office/drawing/2014/main" id="{89C61510-2C91-4518-8123-97B261DF48F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46466" y="5415607"/>
            <a:ext cx="9074070" cy="461665"/>
          </a:xfrm>
          <a:prstGeom prst="rect">
            <a:avLst/>
          </a:prstGeom>
          <a:gradFill rotWithShape="1">
            <a:gsLst>
              <a:gs pos="0">
                <a:srgbClr val="00FFFF"/>
              </a:gs>
              <a:gs pos="100000">
                <a:srgbClr val="00FFFF">
                  <a:gamma/>
                  <a:shade val="63529"/>
                  <a:invGamma/>
                </a:srgbClr>
              </a:gs>
            </a:gsLst>
            <a:lin ang="5400000" scaled="1"/>
          </a:gradFill>
          <a:ln w="38100">
            <a:solidFill>
              <a:srgbClr val="FF00FF"/>
            </a:solidFill>
            <a:miter lim="800000"/>
            <a:headEnd/>
            <a:tailEnd/>
          </a:ln>
          <a:effectLst>
            <a:outerShdw blurRad="50800" dist="106680" dir="2700000" algn="tl" rotWithShape="0">
              <a:prstClr val="black">
                <a:alpha val="43000"/>
              </a:prstClr>
            </a:outerShdw>
          </a:effectLst>
          <a:scene3d>
            <a:camera prst="orthographicFront"/>
            <a:lightRig rig="threePt" dir="t"/>
          </a:scene3d>
          <a:sp3d>
            <a:bevelT w="114300" prst="hardEdge"/>
          </a:sp3d>
        </p:spPr>
        <p:txBody>
          <a:bodyPr wrap="square" anchor="ctr">
            <a:spAutoFit/>
          </a:bodyPr>
          <a:lstStyle/>
          <a:p>
            <a:r>
              <a:rPr lang="zh-CN" altLang="en-US" b="1" dirty="0">
                <a:solidFill>
                  <a:srgbClr val="FF33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隶书" pitchFamily="49" charset="-122"/>
              </a:rPr>
              <a:t>注意：</a:t>
            </a:r>
            <a:r>
              <a:rPr lang="en-US" altLang="zh-CN" b="1" dirty="0" err="1">
                <a:solidFill>
                  <a:srgbClr val="CC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隶书" pitchFamily="49" charset="-122"/>
              </a:rPr>
              <a:t>fread</a:t>
            </a:r>
            <a:r>
              <a:rPr lang="zh-CN" altLang="en-US" b="1" dirty="0">
                <a:effectLst>
                  <a:outerShdw blurRad="38100" dist="38100" dir="2700000" algn="tl">
                    <a:srgbClr val="FFFFFF"/>
                  </a:outerShdw>
                </a:effectLst>
                <a:ea typeface="隶书" pitchFamily="49" charset="-122"/>
              </a:rPr>
              <a:t>和</a:t>
            </a:r>
            <a:r>
              <a:rPr lang="en-US" altLang="zh-CN" b="1" dirty="0" err="1">
                <a:solidFill>
                  <a:srgbClr val="CC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隶书" pitchFamily="49" charset="-122"/>
              </a:rPr>
              <a:t>fwrite</a:t>
            </a:r>
            <a:r>
              <a:rPr lang="zh-CN" altLang="en-US" b="1" dirty="0">
                <a:effectLst>
                  <a:outerShdw blurRad="38100" dist="38100" dir="2700000" algn="tl">
                    <a:srgbClr val="FFFFFF"/>
                  </a:outerShdw>
                </a:effectLst>
                <a:ea typeface="隶书" pitchFamily="49" charset="-122"/>
              </a:rPr>
              <a:t>一般用于二进制文件的输入和输出</a:t>
            </a:r>
          </a:p>
        </p:txBody>
      </p:sp>
    </p:spTree>
  </p:cSld>
  <p:clrMapOvr>
    <a:masterClrMapping/>
  </p:clrMapOvr>
  <p:transition>
    <p:cover/>
    <p:sndAc>
      <p:stSnd>
        <p:snd r:embed="rId3" name="CAMER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23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08237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08237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23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08237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08237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23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9" dur="500"/>
                                        <p:tgtEl>
                                          <p:spTgt spid="1082375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7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500"/>
                            </p:stCondLst>
                            <p:childTnLst>
                              <p:par>
                                <p:cTn id="21" presetID="4" presetClass="entr" presetSubtype="3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23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23" dur="500"/>
                                        <p:tgtEl>
                                          <p:spTgt spid="1082376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237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28" dur="500"/>
                                        <p:tgtEl>
                                          <p:spTgt spid="108237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6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237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33" dur="500"/>
                                        <p:tgtEl>
                                          <p:spTgt spid="108237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6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4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2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500"/>
                            </p:stCondLst>
                            <p:childTnLst>
                              <p:par>
                                <p:cTn id="46" presetID="4" presetClass="entr" presetSubtype="3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4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6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53" dur="500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58" dur="500"/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6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63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6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5" name="chime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82373" grpId="0" animBg="1"/>
      <p:bldP spid="1082374" grpId="0"/>
      <p:bldP spid="1082375" grpId="0"/>
      <p:bldP spid="1082376" grpId="0" animBg="1"/>
      <p:bldP spid="10" grpId="0"/>
      <p:bldP spid="11" grpId="0"/>
      <p:bldP spid="12" grpId="0" animBg="1"/>
      <p:bldP spid="16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6466" name="Rectangle 2" descr="信纸"/>
          <p:cNvSpPr>
            <a:spLocks noChangeArrowheads="1"/>
          </p:cNvSpPr>
          <p:nvPr/>
        </p:nvSpPr>
        <p:spPr bwMode="auto">
          <a:xfrm>
            <a:off x="821709" y="979806"/>
            <a:ext cx="5204560" cy="5311775"/>
          </a:xfrm>
          <a:prstGeom prst="rect">
            <a:avLst/>
          </a:prstGeom>
          <a:blipFill dpi="0" rotWithShape="1">
            <a:blip r:embed="rId5" cstate="print"/>
            <a:srcRect/>
            <a:tile tx="0" ty="0" sx="100000" sy="100000" flip="none" algn="tl"/>
          </a:blipFill>
          <a:ln w="38100">
            <a:solidFill>
              <a:srgbClr val="008000"/>
            </a:solidFill>
            <a:miter lim="800000"/>
            <a:headEnd/>
            <a:tailEnd/>
          </a:ln>
          <a:effectLst>
            <a:outerShdw blurRad="50800" dist="106680" dir="2700000" algn="tl" rotWithShape="0">
              <a:prstClr val="black">
                <a:alpha val="43000"/>
              </a:prstClr>
            </a:outerShdw>
          </a:effectLst>
          <a:scene3d>
            <a:camera prst="orthographicFront"/>
            <a:lightRig rig="threePt" dir="t"/>
          </a:scene3d>
          <a:sp3d>
            <a:bevelT w="114300" prst="hardEdge"/>
          </a:sp3d>
        </p:spPr>
        <p:txBody>
          <a:bodyPr wrap="square" anchor="ctr">
            <a:spAutoFit/>
          </a:bodyPr>
          <a:lstStyle/>
          <a:p>
            <a:pPr marL="457200" indent="-457200">
              <a:tabLst>
                <a:tab pos="914400" algn="l"/>
              </a:tabLst>
            </a:pPr>
            <a:r>
              <a:rPr lang="en-US" altLang="zh-CN" sz="2000" b="1" dirty="0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#include &lt;</a:t>
            </a:r>
            <a:r>
              <a:rPr lang="en-US" altLang="zh-CN" sz="2000" b="1" dirty="0" err="1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stdio.h</a:t>
            </a:r>
            <a:r>
              <a:rPr lang="en-US" altLang="zh-CN" sz="2000" b="1" dirty="0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&gt;</a:t>
            </a:r>
          </a:p>
          <a:p>
            <a:pPr marL="457200" indent="-457200">
              <a:tabLst>
                <a:tab pos="914400" algn="l"/>
              </a:tabLst>
            </a:pPr>
            <a:r>
              <a:rPr lang="en-US" altLang="zh-CN" sz="2000" b="1" dirty="0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#include &lt;</a:t>
            </a:r>
            <a:r>
              <a:rPr lang="en-US" altLang="zh-CN" sz="2000" b="1" dirty="0" err="1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stdlib.h</a:t>
            </a:r>
            <a:r>
              <a:rPr lang="en-US" altLang="zh-CN" sz="2000" b="1" dirty="0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&gt;</a:t>
            </a:r>
          </a:p>
          <a:p>
            <a:pPr marL="457200" indent="-457200">
              <a:tabLst>
                <a:tab pos="914400" algn="l"/>
              </a:tabLst>
            </a:pPr>
            <a:r>
              <a:rPr lang="en-US" altLang="zh-CN" sz="2000" b="1" dirty="0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#include &lt;</a:t>
            </a:r>
            <a:r>
              <a:rPr lang="en-US" altLang="zh-CN" sz="2000" b="1" dirty="0" err="1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memory.h</a:t>
            </a:r>
            <a:r>
              <a:rPr lang="en-US" altLang="zh-CN" sz="2000" b="1" dirty="0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&gt;</a:t>
            </a:r>
          </a:p>
          <a:p>
            <a:pPr marL="457200" indent="-457200">
              <a:tabLst>
                <a:tab pos="914400" algn="l"/>
              </a:tabLst>
            </a:pPr>
            <a:r>
              <a:rPr lang="en-US" altLang="zh-CN" sz="2000" b="1" dirty="0" err="1">
                <a:solidFill>
                  <a:srgbClr val="CC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楷体_GB2312" pitchFamily="49" charset="-122"/>
              </a:rPr>
              <a:t>int</a:t>
            </a:r>
            <a:r>
              <a:rPr lang="en-US" altLang="zh-CN" sz="2000" b="1" dirty="0">
                <a:solidFill>
                  <a:srgbClr val="CC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楷体_GB2312" pitchFamily="49" charset="-122"/>
              </a:rPr>
              <a:t> main ( )</a:t>
            </a:r>
          </a:p>
          <a:p>
            <a:pPr marL="457200" indent="-457200">
              <a:tabLst>
                <a:tab pos="914400" algn="l"/>
              </a:tabLst>
            </a:pPr>
            <a:r>
              <a:rPr lang="en-US" altLang="zh-CN" sz="2000" b="1" dirty="0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{ </a:t>
            </a:r>
          </a:p>
          <a:p>
            <a:pPr marL="457200" indent="-457200">
              <a:tabLst>
                <a:tab pos="914400" algn="l"/>
              </a:tabLst>
            </a:pPr>
            <a:r>
              <a:rPr lang="en-US" altLang="zh-CN" sz="2000" b="1" dirty="0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   FILE *</a:t>
            </a:r>
            <a:r>
              <a:rPr lang="en-US" altLang="zh-CN" sz="2000" b="1" dirty="0" err="1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fp</a:t>
            </a:r>
            <a:r>
              <a:rPr lang="en-US" altLang="zh-CN" sz="2000" b="1" dirty="0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;	</a:t>
            </a:r>
          </a:p>
          <a:p>
            <a:pPr marL="457200" indent="-457200">
              <a:tabLst>
                <a:tab pos="914400" algn="l"/>
              </a:tabLst>
            </a:pPr>
            <a:r>
              <a:rPr lang="en-US" altLang="zh-CN" sz="2000" b="1" dirty="0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   short  </a:t>
            </a:r>
            <a:r>
              <a:rPr lang="en-US" altLang="zh-CN" sz="2000" b="1" dirty="0" err="1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i</a:t>
            </a:r>
            <a:r>
              <a:rPr lang="en-US" altLang="zh-CN" sz="2000" b="1" dirty="0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, a[10] = {0, 1, 2, 3, 4, 5, 6, 7, 8, 9};</a:t>
            </a:r>
          </a:p>
          <a:p>
            <a:pPr marL="457200" indent="-457200">
              <a:tabLst>
                <a:tab pos="914400" algn="l"/>
              </a:tabLst>
            </a:pPr>
            <a:r>
              <a:rPr lang="en-US" altLang="zh-CN" sz="2000" b="1" dirty="0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   </a:t>
            </a:r>
            <a:r>
              <a:rPr lang="en-US" altLang="zh-CN" sz="2000" b="1" dirty="0">
                <a:solidFill>
                  <a:schemeClr val="accent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楷体" pitchFamily="49" charset="-122"/>
              </a:rPr>
              <a:t>//</a:t>
            </a:r>
            <a:r>
              <a:rPr lang="zh-CN" altLang="en-US" sz="2000" b="1" dirty="0">
                <a:solidFill>
                  <a:schemeClr val="accent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楷体" pitchFamily="49" charset="-122"/>
              </a:rPr>
              <a:t>创建二进制文件</a:t>
            </a:r>
            <a:r>
              <a:rPr lang="en-US" altLang="zh-CN" sz="2000" b="1" dirty="0">
                <a:solidFill>
                  <a:schemeClr val="accent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楷体" pitchFamily="49" charset="-122"/>
              </a:rPr>
              <a:t>wang.dat</a:t>
            </a:r>
          </a:p>
          <a:p>
            <a:pPr marL="457200" indent="-457200">
              <a:tabLst>
                <a:tab pos="914400" algn="l"/>
              </a:tabLst>
            </a:pPr>
            <a:r>
              <a:rPr lang="en-US" altLang="zh-CN" sz="2000" b="1" dirty="0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   </a:t>
            </a:r>
            <a:r>
              <a:rPr lang="en-US" altLang="zh-CN" sz="2000" b="1" dirty="0" err="1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fp</a:t>
            </a:r>
            <a:r>
              <a:rPr lang="en-US" altLang="zh-CN" sz="2000" b="1" dirty="0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 = </a:t>
            </a:r>
            <a:r>
              <a:rPr lang="en-US" altLang="zh-CN" sz="2000" b="1" dirty="0" err="1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fopen</a:t>
            </a:r>
            <a:r>
              <a:rPr lang="en-US" altLang="zh-CN" sz="2000" b="1" dirty="0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 ("wang.dat", "</a:t>
            </a:r>
            <a:r>
              <a:rPr lang="en-US" altLang="zh-CN" sz="2000" b="1" dirty="0" err="1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wb</a:t>
            </a:r>
            <a:r>
              <a:rPr lang="en-US" altLang="zh-CN" sz="2000" b="1" dirty="0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");  </a:t>
            </a:r>
          </a:p>
          <a:p>
            <a:pPr marL="457200" indent="-457200">
              <a:tabLst>
                <a:tab pos="914400" algn="l"/>
              </a:tabLst>
            </a:pPr>
            <a:r>
              <a:rPr lang="en-US" altLang="zh-CN" sz="2000" b="1" dirty="0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   if (</a:t>
            </a:r>
            <a:r>
              <a:rPr lang="en-US" altLang="zh-CN" sz="2000" b="1" dirty="0" err="1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fp</a:t>
            </a:r>
            <a:r>
              <a:rPr lang="en-US" altLang="zh-CN" sz="2000" b="1" dirty="0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 = = NULL)   </a:t>
            </a:r>
            <a:r>
              <a:rPr lang="en-US" altLang="zh-CN" sz="2000" b="1" dirty="0">
                <a:solidFill>
                  <a:schemeClr val="accent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楷体" pitchFamily="49" charset="-122"/>
              </a:rPr>
              <a:t>//</a:t>
            </a:r>
            <a:r>
              <a:rPr lang="zh-CN" altLang="en-US" sz="2000" b="1" dirty="0">
                <a:solidFill>
                  <a:schemeClr val="accent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楷体" pitchFamily="49" charset="-122"/>
              </a:rPr>
              <a:t>创建失败</a:t>
            </a:r>
          </a:p>
          <a:p>
            <a:pPr marL="457200" indent="-457200">
              <a:tabLst>
                <a:tab pos="914400" algn="l"/>
              </a:tabLst>
            </a:pPr>
            <a:r>
              <a:rPr lang="zh-CN" altLang="en-US" sz="2000" b="1" dirty="0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   </a:t>
            </a:r>
            <a:r>
              <a:rPr lang="en-US" altLang="zh-CN" sz="2000" b="1" dirty="0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{  </a:t>
            </a:r>
          </a:p>
          <a:p>
            <a:pPr marL="457200" indent="-457200">
              <a:tabLst>
                <a:tab pos="914400" algn="l"/>
              </a:tabLst>
            </a:pPr>
            <a:r>
              <a:rPr lang="en-US" altLang="zh-CN" sz="2000" b="1" dirty="0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     </a:t>
            </a:r>
            <a:r>
              <a:rPr lang="en-US" altLang="zh-CN" sz="2000" b="1" dirty="0" err="1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printf</a:t>
            </a:r>
            <a:r>
              <a:rPr lang="en-US" altLang="zh-CN" sz="2000" b="1" dirty="0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 ("can not create file: wang.txt\n");</a:t>
            </a:r>
          </a:p>
          <a:p>
            <a:pPr marL="457200" indent="-457200">
              <a:tabLst>
                <a:tab pos="914400" algn="l"/>
              </a:tabLst>
            </a:pPr>
            <a:r>
              <a:rPr lang="en-US" altLang="zh-CN" sz="2000" b="1" dirty="0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     exit (0);</a:t>
            </a:r>
          </a:p>
          <a:p>
            <a:pPr marL="457200" indent="-457200">
              <a:tabLst>
                <a:tab pos="914400" algn="l"/>
              </a:tabLst>
            </a:pPr>
            <a:r>
              <a:rPr lang="en-US" altLang="zh-CN" sz="2000" b="1" dirty="0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   }</a:t>
            </a:r>
          </a:p>
          <a:p>
            <a:pPr marL="457200" indent="-457200">
              <a:tabLst>
                <a:tab pos="914400" algn="l"/>
              </a:tabLst>
            </a:pPr>
            <a:r>
              <a:rPr lang="en-US" altLang="zh-CN" sz="2000" b="1" dirty="0">
                <a:solidFill>
                  <a:schemeClr val="accent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楷体_GB2312" pitchFamily="49" charset="-122"/>
              </a:rPr>
              <a:t>   </a:t>
            </a:r>
            <a:r>
              <a:rPr lang="en-US" altLang="zh-CN" sz="2000" b="1" dirty="0">
                <a:solidFill>
                  <a:schemeClr val="accent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楷体" pitchFamily="49" charset="-122"/>
              </a:rPr>
              <a:t>//</a:t>
            </a:r>
            <a:r>
              <a:rPr lang="zh-CN" altLang="en-US" sz="2000" b="1" dirty="0">
                <a:solidFill>
                  <a:schemeClr val="accent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楷体" pitchFamily="49" charset="-122"/>
              </a:rPr>
              <a:t>将数组</a:t>
            </a:r>
            <a:r>
              <a:rPr lang="en-US" altLang="zh-CN" sz="2000" b="1" dirty="0">
                <a:solidFill>
                  <a:schemeClr val="accent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楷体" pitchFamily="49" charset="-122"/>
              </a:rPr>
              <a:t>a</a:t>
            </a:r>
            <a:r>
              <a:rPr lang="zh-CN" altLang="en-US" sz="2000" b="1" dirty="0">
                <a:solidFill>
                  <a:schemeClr val="accent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楷体" pitchFamily="49" charset="-122"/>
              </a:rPr>
              <a:t>的</a:t>
            </a:r>
            <a:r>
              <a:rPr lang="en-US" altLang="zh-CN" sz="2000" b="1" dirty="0">
                <a:solidFill>
                  <a:schemeClr val="accent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楷体" pitchFamily="49" charset="-122"/>
              </a:rPr>
              <a:t>10</a:t>
            </a:r>
            <a:r>
              <a:rPr lang="zh-CN" altLang="en-US" sz="2000" b="1" dirty="0">
                <a:solidFill>
                  <a:schemeClr val="accent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楷体" pitchFamily="49" charset="-122"/>
              </a:rPr>
              <a:t>个整型数写入到文件中</a:t>
            </a:r>
          </a:p>
          <a:p>
            <a:pPr marL="457200" indent="-457200">
              <a:tabLst>
                <a:tab pos="914400" algn="l"/>
              </a:tabLst>
            </a:pPr>
            <a:r>
              <a:rPr lang="zh-CN" altLang="en-US" sz="2000" b="1" dirty="0">
                <a:solidFill>
                  <a:srgbClr val="FF33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楷体_GB2312" pitchFamily="49" charset="-122"/>
              </a:rPr>
              <a:t>   </a:t>
            </a:r>
            <a:r>
              <a:rPr lang="en-US" altLang="zh-CN" sz="2000" b="1" dirty="0" err="1">
                <a:solidFill>
                  <a:srgbClr val="FF33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楷体_GB2312" pitchFamily="49" charset="-122"/>
              </a:rPr>
              <a:t>fwrite</a:t>
            </a:r>
            <a:r>
              <a:rPr lang="en-US" altLang="zh-CN" sz="2000" b="1" dirty="0">
                <a:solidFill>
                  <a:srgbClr val="FF33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楷体_GB2312" pitchFamily="49" charset="-122"/>
              </a:rPr>
              <a:t> (a, </a:t>
            </a:r>
            <a:r>
              <a:rPr lang="en-US" altLang="zh-CN" sz="2000" b="1" dirty="0" err="1">
                <a:solidFill>
                  <a:srgbClr val="FF33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楷体_GB2312" pitchFamily="49" charset="-122"/>
              </a:rPr>
              <a:t>sizeof</a:t>
            </a:r>
            <a:r>
              <a:rPr lang="en-US" altLang="zh-CN" sz="2000" b="1" dirty="0">
                <a:solidFill>
                  <a:srgbClr val="FF33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楷体_GB2312" pitchFamily="49" charset="-122"/>
              </a:rPr>
              <a:t>(short), 10, </a:t>
            </a:r>
            <a:r>
              <a:rPr lang="en-US" altLang="zh-CN" sz="2000" b="1" dirty="0" err="1">
                <a:solidFill>
                  <a:srgbClr val="FF33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楷体_GB2312" pitchFamily="49" charset="-122"/>
              </a:rPr>
              <a:t>fp</a:t>
            </a:r>
            <a:r>
              <a:rPr lang="en-US" altLang="zh-CN" sz="2000" b="1" dirty="0">
                <a:solidFill>
                  <a:srgbClr val="FF33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楷体_GB2312" pitchFamily="49" charset="-122"/>
              </a:rPr>
              <a:t>);  </a:t>
            </a:r>
          </a:p>
          <a:p>
            <a:pPr marL="457200" indent="-457200">
              <a:tabLst>
                <a:tab pos="914400" algn="l"/>
              </a:tabLst>
            </a:pPr>
            <a:r>
              <a:rPr lang="en-US" altLang="zh-CN" sz="2000" b="1" dirty="0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   </a:t>
            </a:r>
            <a:r>
              <a:rPr lang="en-US" altLang="zh-CN" sz="2000" b="1" dirty="0" err="1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fclose</a:t>
            </a:r>
            <a:r>
              <a:rPr lang="en-US" altLang="zh-CN" sz="2000" b="1" dirty="0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 (</a:t>
            </a:r>
            <a:r>
              <a:rPr lang="en-US" altLang="zh-CN" sz="2000" b="1" dirty="0" err="1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fp</a:t>
            </a:r>
            <a:r>
              <a:rPr lang="en-US" altLang="zh-CN" sz="2000" b="1" dirty="0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);   </a:t>
            </a:r>
            <a:r>
              <a:rPr lang="en-US" altLang="zh-CN" sz="2000" b="1" dirty="0">
                <a:solidFill>
                  <a:schemeClr val="accent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楷体" pitchFamily="49" charset="-122"/>
              </a:rPr>
              <a:t>//</a:t>
            </a:r>
            <a:r>
              <a:rPr lang="zh-CN" altLang="en-US" sz="2000" b="1" dirty="0">
                <a:solidFill>
                  <a:schemeClr val="accent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楷体" pitchFamily="49" charset="-122"/>
              </a:rPr>
              <a:t>关闭文件   </a:t>
            </a:r>
          </a:p>
        </p:txBody>
      </p:sp>
      <p:sp>
        <p:nvSpPr>
          <p:cNvPr id="1086470" name="Rectangle 6"/>
          <p:cNvSpPr>
            <a:spLocks noChangeArrowheads="1"/>
          </p:cNvSpPr>
          <p:nvPr/>
        </p:nvSpPr>
        <p:spPr bwMode="auto">
          <a:xfrm>
            <a:off x="119336" y="151755"/>
            <a:ext cx="11494859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anchor="ctr">
            <a:spAutoFit/>
          </a:bodyPr>
          <a:lstStyle/>
          <a:p>
            <a:r>
              <a:rPr lang="en-US" altLang="zh-CN" b="1" dirty="0">
                <a:solidFill>
                  <a:srgbClr val="CC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隶书" pitchFamily="49" charset="-122"/>
                <a:ea typeface="隶书" pitchFamily="49" charset="-122"/>
              </a:rPr>
              <a:t>   【</a:t>
            </a:r>
            <a:r>
              <a:rPr lang="zh-CN" altLang="en-US" b="1" dirty="0">
                <a:solidFill>
                  <a:srgbClr val="CC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隶书" pitchFamily="49" charset="-122"/>
                <a:ea typeface="隶书" pitchFamily="49" charset="-122"/>
              </a:rPr>
              <a:t>例</a:t>
            </a:r>
            <a:r>
              <a:rPr lang="en-US" altLang="zh-CN" b="1" dirty="0">
                <a:solidFill>
                  <a:srgbClr val="CC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隶书" pitchFamily="49" charset="-122"/>
                <a:ea typeface="隶书" pitchFamily="49" charset="-122"/>
              </a:rPr>
              <a:t>5】</a:t>
            </a:r>
            <a:r>
              <a:rPr lang="zh-CN" altLang="en-US" b="1" dirty="0">
                <a:solidFill>
                  <a:srgbClr val="CC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隶书" pitchFamily="49" charset="-122"/>
                <a:ea typeface="隶书" pitchFamily="49" charset="-122"/>
              </a:rPr>
              <a:t>将一个整型数组存放到文件中，然后从文件中读取数据到数组中并显示。</a:t>
            </a:r>
            <a:r>
              <a:rPr lang="zh-CN" altLang="en-US" dirty="0">
                <a:solidFill>
                  <a:srgbClr val="CC0000"/>
                </a:solidFill>
                <a:latin typeface="隶书" pitchFamily="49" charset="-122"/>
                <a:ea typeface="隶书" pitchFamily="49" charset="-122"/>
              </a:rPr>
              <a:t> </a:t>
            </a:r>
          </a:p>
        </p:txBody>
      </p:sp>
      <p:grpSp>
        <p:nvGrpSpPr>
          <p:cNvPr id="1086518" name="Group 54"/>
          <p:cNvGrpSpPr>
            <a:grpSpLocks/>
          </p:cNvGrpSpPr>
          <p:nvPr/>
        </p:nvGrpSpPr>
        <p:grpSpPr bwMode="auto">
          <a:xfrm>
            <a:off x="-6520" y="0"/>
            <a:ext cx="446088" cy="6858000"/>
            <a:chOff x="0" y="0"/>
            <a:chExt cx="281" cy="4320"/>
          </a:xfrm>
        </p:grpSpPr>
        <p:sp>
          <p:nvSpPr>
            <p:cNvPr id="1086519" name="Text Box 55"/>
            <p:cNvSpPr txBox="1">
              <a:spLocks noChangeArrowheads="1"/>
            </p:cNvSpPr>
            <p:nvPr/>
          </p:nvSpPr>
          <p:spPr bwMode="auto">
            <a:xfrm>
              <a:off x="0" y="0"/>
              <a:ext cx="281" cy="4320"/>
            </a:xfrm>
            <a:prstGeom prst="rect">
              <a:avLst/>
            </a:prstGeom>
            <a:gradFill rotWithShape="0">
              <a:gsLst>
                <a:gs pos="0">
                  <a:schemeClr val="hlink">
                    <a:gamma/>
                    <a:shade val="60784"/>
                    <a:invGamma/>
                  </a:schemeClr>
                </a:gs>
                <a:gs pos="50000">
                  <a:schemeClr val="hlink"/>
                </a:gs>
                <a:gs pos="100000">
                  <a:schemeClr val="hlink">
                    <a:gamma/>
                    <a:shade val="60784"/>
                    <a:invGamma/>
                  </a:schemeClr>
                </a:gs>
              </a:gsLst>
              <a:lin ang="0" scaled="1"/>
            </a:gradFill>
            <a:ln w="9525">
              <a:noFill/>
              <a:miter lim="800000"/>
              <a:headEnd/>
              <a:tailEnd/>
            </a:ln>
            <a:effectLst/>
          </p:spPr>
          <p:txBody>
            <a:bodyPr/>
            <a:lstStyle/>
            <a:p>
              <a:pPr eaLnBrk="0" hangingPunct="0">
                <a:spcBef>
                  <a:spcPct val="50000"/>
                </a:spcBef>
              </a:pPr>
              <a:endParaRPr lang="en-US" altLang="zh-CN" sz="1800" dirty="0">
                <a:solidFill>
                  <a:srgbClr val="3333CC"/>
                </a:solidFill>
                <a:latin typeface="Verdana" pitchFamily="34" charset="0"/>
              </a:endParaRPr>
            </a:p>
            <a:p>
              <a:pPr eaLnBrk="0" hangingPunct="0">
                <a:spcBef>
                  <a:spcPct val="50000"/>
                </a:spcBef>
              </a:pPr>
              <a:r>
                <a:rPr lang="zh-CN" altLang="en-US" sz="1600" b="1" dirty="0">
                  <a:solidFill>
                    <a:srgbClr val="3333CC"/>
                  </a:solidFill>
                  <a:latin typeface="Verdana" pitchFamily="34" charset="0"/>
                </a:rPr>
                <a:t>语言程序设计教程       </a:t>
              </a:r>
            </a:p>
            <a:p>
              <a:pPr eaLnBrk="0" hangingPunct="0">
                <a:spcBef>
                  <a:spcPct val="50000"/>
                </a:spcBef>
              </a:pPr>
              <a:r>
                <a:rPr lang="zh-CN" altLang="en-US" sz="1600" b="1" dirty="0">
                  <a:solidFill>
                    <a:srgbClr val="3333CC"/>
                  </a:solidFill>
                  <a:latin typeface="Verdana" pitchFamily="34" charset="0"/>
                </a:rPr>
                <a:t>第三版</a:t>
              </a:r>
            </a:p>
            <a:p>
              <a:pPr eaLnBrk="0" hangingPunct="0">
                <a:spcBef>
                  <a:spcPct val="50000"/>
                </a:spcBef>
              </a:pPr>
              <a:endParaRPr lang="zh-CN" altLang="en-US" sz="1600" b="1" dirty="0">
                <a:solidFill>
                  <a:srgbClr val="3333CC"/>
                </a:solidFill>
                <a:latin typeface="Verdana" pitchFamily="34" charset="0"/>
              </a:endParaRPr>
            </a:p>
            <a:p>
              <a:pPr eaLnBrk="0" hangingPunct="0">
                <a:spcBef>
                  <a:spcPct val="50000"/>
                </a:spcBef>
              </a:pPr>
              <a:endParaRPr lang="zh-CN" altLang="en-US" sz="1600" b="1" dirty="0">
                <a:solidFill>
                  <a:srgbClr val="3333CC"/>
                </a:solidFill>
                <a:latin typeface="Verdana" pitchFamily="34" charset="0"/>
              </a:endParaRPr>
            </a:p>
            <a:p>
              <a:pPr eaLnBrk="0" hangingPunct="0">
                <a:spcBef>
                  <a:spcPct val="50000"/>
                </a:spcBef>
              </a:pPr>
              <a:r>
                <a:rPr lang="zh-CN" altLang="en-US" sz="1600" b="1" dirty="0">
                  <a:solidFill>
                    <a:srgbClr val="3333CC"/>
                  </a:solidFill>
                  <a:latin typeface="Verdana" pitchFamily="34" charset="0"/>
                </a:rPr>
                <a:t>第十</a:t>
              </a:r>
            </a:p>
            <a:p>
              <a:pPr eaLnBrk="0" hangingPunct="0">
                <a:spcBef>
                  <a:spcPct val="50000"/>
                </a:spcBef>
              </a:pPr>
              <a:r>
                <a:rPr lang="zh-CN" altLang="en-US" sz="1600" b="1" dirty="0">
                  <a:solidFill>
                    <a:srgbClr val="3333CC"/>
                  </a:solidFill>
                  <a:latin typeface="Verdana" pitchFamily="34" charset="0"/>
                </a:rPr>
                <a:t>二章 </a:t>
              </a:r>
            </a:p>
            <a:p>
              <a:pPr eaLnBrk="0" hangingPunct="0">
                <a:spcBef>
                  <a:spcPct val="50000"/>
                </a:spcBef>
              </a:pPr>
              <a:endParaRPr lang="zh-CN" altLang="en-US" sz="1600" b="1" dirty="0">
                <a:solidFill>
                  <a:srgbClr val="3333CC"/>
                </a:solidFill>
                <a:latin typeface="Verdana" pitchFamily="34" charset="0"/>
              </a:endParaRPr>
            </a:p>
            <a:p>
              <a:pPr eaLnBrk="0" hangingPunct="0">
                <a:spcBef>
                  <a:spcPct val="50000"/>
                </a:spcBef>
              </a:pPr>
              <a:r>
                <a:rPr lang="zh-CN" altLang="en-US" sz="1600" b="1" dirty="0">
                  <a:solidFill>
                    <a:srgbClr val="3333CC"/>
                  </a:solidFill>
                  <a:latin typeface="Verdana" pitchFamily="34" charset="0"/>
                </a:rPr>
                <a:t>文</a:t>
              </a:r>
            </a:p>
            <a:p>
              <a:pPr eaLnBrk="0" hangingPunct="0">
                <a:spcBef>
                  <a:spcPct val="50000"/>
                </a:spcBef>
              </a:pPr>
              <a:endParaRPr lang="zh-CN" altLang="en-US" sz="1600" b="1" dirty="0">
                <a:solidFill>
                  <a:srgbClr val="3333CC"/>
                </a:solidFill>
                <a:latin typeface="Verdana" pitchFamily="34" charset="0"/>
              </a:endParaRPr>
            </a:p>
            <a:p>
              <a:pPr eaLnBrk="0" hangingPunct="0">
                <a:spcBef>
                  <a:spcPct val="50000"/>
                </a:spcBef>
              </a:pPr>
              <a:r>
                <a:rPr lang="zh-CN" altLang="en-US" sz="1600" b="1" dirty="0">
                  <a:solidFill>
                    <a:srgbClr val="3333CC"/>
                  </a:solidFill>
                  <a:latin typeface="Verdana" pitchFamily="34" charset="0"/>
                </a:rPr>
                <a:t>件</a:t>
              </a:r>
            </a:p>
          </p:txBody>
        </p:sp>
        <p:sp>
          <p:nvSpPr>
            <p:cNvPr id="1086520" name="Text Box 56"/>
            <p:cNvSpPr txBox="1">
              <a:spLocks noChangeArrowheads="1"/>
            </p:cNvSpPr>
            <p:nvPr/>
          </p:nvSpPr>
          <p:spPr bwMode="auto">
            <a:xfrm>
              <a:off x="0" y="0"/>
              <a:ext cx="281" cy="231"/>
            </a:xfrm>
            <a:prstGeom prst="rect">
              <a:avLst/>
            </a:prstGeom>
            <a:gradFill rotWithShape="0">
              <a:gsLst>
                <a:gs pos="0">
                  <a:schemeClr val="hlink">
                    <a:gamma/>
                    <a:shade val="46275"/>
                    <a:invGamma/>
                  </a:schemeClr>
                </a:gs>
                <a:gs pos="50000">
                  <a:schemeClr val="hlink"/>
                </a:gs>
                <a:gs pos="100000">
                  <a:schemeClr val="hlink">
                    <a:gamma/>
                    <a:shade val="46275"/>
                    <a:invGamma/>
                  </a:schemeClr>
                </a:gs>
              </a:gsLst>
              <a:lin ang="0" scaled="1"/>
            </a:gradFill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eaLnBrk="0" hangingPunct="0">
                <a:spcBef>
                  <a:spcPct val="50000"/>
                </a:spcBef>
              </a:pPr>
              <a:r>
                <a:rPr lang="en-US" altLang="zh-CN" sz="1800" b="1">
                  <a:solidFill>
                    <a:srgbClr val="0000FF"/>
                  </a:solidFill>
                  <a:latin typeface="Arial" pitchFamily="34" charset="0"/>
                </a:rPr>
                <a:t>C</a:t>
              </a:r>
            </a:p>
          </p:txBody>
        </p:sp>
      </p:grpSp>
      <p:sp>
        <p:nvSpPr>
          <p:cNvPr id="1086472" name="Rectangle 8" descr="信纸"/>
          <p:cNvSpPr>
            <a:spLocks noChangeArrowheads="1"/>
          </p:cNvSpPr>
          <p:nvPr/>
        </p:nvSpPr>
        <p:spPr bwMode="auto">
          <a:xfrm>
            <a:off x="6291837" y="820048"/>
            <a:ext cx="5492795" cy="5693866"/>
          </a:xfrm>
          <a:prstGeom prst="rect">
            <a:avLst/>
          </a:prstGeom>
          <a:blipFill dpi="0" rotWithShape="1">
            <a:blip r:embed="rId5" cstate="print"/>
            <a:srcRect/>
            <a:tile tx="0" ty="0" sx="100000" sy="100000" flip="none" algn="tl"/>
          </a:blipFill>
          <a:ln w="38100">
            <a:solidFill>
              <a:srgbClr val="008000"/>
            </a:solidFill>
            <a:miter lim="800000"/>
            <a:headEnd/>
            <a:tailEnd/>
          </a:ln>
          <a:effectLst>
            <a:outerShdw blurRad="50800" dist="106680" dir="2700000" algn="tl" rotWithShape="0">
              <a:prstClr val="black">
                <a:alpha val="43000"/>
              </a:prstClr>
            </a:outerShdw>
          </a:effectLst>
          <a:scene3d>
            <a:camera prst="orthographicFront"/>
            <a:lightRig rig="threePt" dir="t"/>
          </a:scene3d>
          <a:sp3d>
            <a:bevelT w="114300" prst="hardEdge"/>
          </a:sp3d>
        </p:spPr>
        <p:txBody>
          <a:bodyPr wrap="square" anchor="ctr">
            <a:spAutoFit/>
          </a:bodyPr>
          <a:lstStyle/>
          <a:p>
            <a:pPr marL="457200" indent="-457200">
              <a:tabLst>
                <a:tab pos="914400" algn="l"/>
              </a:tabLst>
            </a:pPr>
            <a:r>
              <a:rPr lang="en-US" altLang="zh-CN" dirty="0">
                <a:solidFill>
                  <a:schemeClr val="accent2"/>
                </a:solidFill>
              </a:rPr>
              <a:t>  </a:t>
            </a:r>
            <a:r>
              <a:rPr lang="en-US" altLang="zh-CN" sz="2000" b="1" dirty="0">
                <a:solidFill>
                  <a:schemeClr val="accent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楷体" pitchFamily="49" charset="-122"/>
              </a:rPr>
              <a:t>//</a:t>
            </a:r>
            <a:r>
              <a:rPr lang="zh-CN" altLang="en-US" sz="2000" b="1" dirty="0">
                <a:solidFill>
                  <a:schemeClr val="accent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楷体" pitchFamily="49" charset="-122"/>
              </a:rPr>
              <a:t>以读的打开二进制文件</a:t>
            </a:r>
            <a:r>
              <a:rPr lang="en-US" altLang="zh-CN" sz="2000" b="1" dirty="0">
                <a:solidFill>
                  <a:schemeClr val="accent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楷体" pitchFamily="49" charset="-122"/>
              </a:rPr>
              <a:t>wang.dat</a:t>
            </a:r>
          </a:p>
          <a:p>
            <a:pPr marL="457200" indent="-457200">
              <a:tabLst>
                <a:tab pos="914400" algn="l"/>
              </a:tabLst>
            </a:pPr>
            <a:r>
              <a:rPr lang="en-US" altLang="zh-CN" sz="2000" dirty="0">
                <a:ea typeface="楷体_GB2312" pitchFamily="49" charset="-122"/>
              </a:rPr>
              <a:t>   </a:t>
            </a:r>
            <a:r>
              <a:rPr lang="en-US" altLang="zh-CN" sz="2000" b="1" dirty="0" err="1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fp</a:t>
            </a:r>
            <a:r>
              <a:rPr lang="en-US" altLang="zh-CN" sz="2000" b="1" dirty="0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 = </a:t>
            </a:r>
            <a:r>
              <a:rPr lang="en-US" altLang="zh-CN" sz="2000" b="1" dirty="0" err="1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fopen</a:t>
            </a:r>
            <a:r>
              <a:rPr lang="en-US" altLang="zh-CN" sz="2000" b="1" dirty="0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 ("wang.dat", "</a:t>
            </a:r>
            <a:r>
              <a:rPr lang="en-US" altLang="zh-CN" sz="2000" b="1" dirty="0" err="1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rb</a:t>
            </a:r>
            <a:r>
              <a:rPr lang="en-US" altLang="zh-CN" sz="2000" b="1" dirty="0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");  </a:t>
            </a:r>
          </a:p>
          <a:p>
            <a:pPr marL="457200" indent="-457200">
              <a:tabLst>
                <a:tab pos="914400" algn="l"/>
              </a:tabLst>
            </a:pPr>
            <a:r>
              <a:rPr lang="en-US" altLang="zh-CN" sz="2000" b="1" dirty="0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   if (</a:t>
            </a:r>
            <a:r>
              <a:rPr lang="en-US" altLang="zh-CN" sz="2000" b="1" dirty="0" err="1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fp</a:t>
            </a:r>
            <a:r>
              <a:rPr lang="en-US" altLang="zh-CN" sz="2000" b="1" dirty="0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 = = NULL)             </a:t>
            </a:r>
            <a:r>
              <a:rPr lang="en-US" altLang="zh-CN" sz="2000" b="1" dirty="0">
                <a:solidFill>
                  <a:schemeClr val="accent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楷体" pitchFamily="49" charset="-122"/>
              </a:rPr>
              <a:t>//</a:t>
            </a:r>
            <a:r>
              <a:rPr lang="zh-CN" altLang="en-US" sz="2000" b="1" dirty="0">
                <a:solidFill>
                  <a:schemeClr val="accent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楷体" pitchFamily="49" charset="-122"/>
              </a:rPr>
              <a:t>打开失败</a:t>
            </a:r>
          </a:p>
          <a:p>
            <a:pPr marL="457200" indent="-457200">
              <a:tabLst>
                <a:tab pos="914400" algn="l"/>
              </a:tabLst>
            </a:pPr>
            <a:r>
              <a:rPr lang="zh-CN" altLang="en-US" sz="2000" b="1" dirty="0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   </a:t>
            </a:r>
            <a:r>
              <a:rPr lang="en-US" altLang="zh-CN" sz="2000" b="1" dirty="0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{  </a:t>
            </a:r>
          </a:p>
          <a:p>
            <a:pPr marL="457200" indent="-457200">
              <a:tabLst>
                <a:tab pos="914400" algn="l"/>
              </a:tabLst>
            </a:pPr>
            <a:r>
              <a:rPr lang="en-US" altLang="zh-CN" sz="2000" b="1" dirty="0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     </a:t>
            </a:r>
            <a:r>
              <a:rPr lang="en-US" altLang="zh-CN" sz="2000" b="1" dirty="0" err="1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printf</a:t>
            </a:r>
            <a:r>
              <a:rPr lang="en-US" altLang="zh-CN" sz="2000" b="1" dirty="0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 ("can not open file: wang.dat\n");</a:t>
            </a:r>
          </a:p>
          <a:p>
            <a:pPr marL="457200" indent="-457200">
              <a:tabLst>
                <a:tab pos="914400" algn="l"/>
              </a:tabLst>
            </a:pPr>
            <a:r>
              <a:rPr lang="en-US" altLang="zh-CN" sz="2000" b="1" dirty="0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     exit (0);</a:t>
            </a:r>
          </a:p>
          <a:p>
            <a:pPr marL="457200" indent="-457200">
              <a:tabLst>
                <a:tab pos="914400" algn="l"/>
              </a:tabLst>
            </a:pPr>
            <a:r>
              <a:rPr lang="en-US" altLang="zh-CN" sz="2000" b="1" dirty="0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   }</a:t>
            </a:r>
          </a:p>
          <a:p>
            <a:pPr marL="457200" indent="-457200">
              <a:tabLst>
                <a:tab pos="914400" algn="l"/>
              </a:tabLst>
            </a:pPr>
            <a:endParaRPr lang="en-US" altLang="zh-CN" sz="2000" b="1" dirty="0">
              <a:effectLst>
                <a:outerShdw blurRad="38100" dist="38100" dir="2700000" algn="tl">
                  <a:srgbClr val="FFFFFF"/>
                </a:outerShdw>
              </a:effectLst>
              <a:ea typeface="楷体_GB2312" pitchFamily="49" charset="-122"/>
            </a:endParaRPr>
          </a:p>
          <a:p>
            <a:pPr marL="457200" indent="-457200">
              <a:tabLst>
                <a:tab pos="914400" algn="l"/>
              </a:tabLst>
            </a:pPr>
            <a:r>
              <a:rPr lang="en-US" altLang="zh-CN" sz="2000" b="1" dirty="0">
                <a:solidFill>
                  <a:schemeClr val="accent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楷体" pitchFamily="49" charset="-122"/>
              </a:rPr>
              <a:t>   //</a:t>
            </a:r>
            <a:r>
              <a:rPr lang="zh-CN" altLang="en-US" sz="2000" b="1" dirty="0">
                <a:solidFill>
                  <a:schemeClr val="accent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楷体" pitchFamily="49" charset="-122"/>
              </a:rPr>
              <a:t>将数组</a:t>
            </a:r>
            <a:r>
              <a:rPr lang="en-US" altLang="zh-CN" sz="2000" b="1" dirty="0">
                <a:solidFill>
                  <a:schemeClr val="accent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楷体" pitchFamily="49" charset="-122"/>
              </a:rPr>
              <a:t>a</a:t>
            </a:r>
            <a:r>
              <a:rPr lang="zh-CN" altLang="en-US" sz="2000" b="1" dirty="0">
                <a:solidFill>
                  <a:schemeClr val="accent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楷体" pitchFamily="49" charset="-122"/>
              </a:rPr>
              <a:t>的</a:t>
            </a:r>
            <a:r>
              <a:rPr lang="en-US" altLang="zh-CN" sz="2000" b="1" dirty="0">
                <a:solidFill>
                  <a:schemeClr val="accent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楷体" pitchFamily="49" charset="-122"/>
              </a:rPr>
              <a:t>10</a:t>
            </a:r>
            <a:r>
              <a:rPr lang="zh-CN" altLang="en-US" sz="2000" b="1" dirty="0">
                <a:solidFill>
                  <a:schemeClr val="accent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楷体" pitchFamily="49" charset="-122"/>
              </a:rPr>
              <a:t>个元素清</a:t>
            </a:r>
            <a:r>
              <a:rPr lang="en-US" altLang="zh-CN" sz="2000" b="1" dirty="0">
                <a:solidFill>
                  <a:schemeClr val="accent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楷体" pitchFamily="49" charset="-122"/>
              </a:rPr>
              <a:t>0</a:t>
            </a:r>
          </a:p>
          <a:p>
            <a:pPr marL="457200" indent="-457200">
              <a:tabLst>
                <a:tab pos="914400" algn="l"/>
              </a:tabLst>
            </a:pPr>
            <a:r>
              <a:rPr lang="en-US" altLang="zh-CN" sz="2000" b="1" dirty="0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   </a:t>
            </a:r>
            <a:r>
              <a:rPr lang="en-US" altLang="zh-CN" sz="2000" b="1" dirty="0" err="1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memset</a:t>
            </a:r>
            <a:r>
              <a:rPr lang="en-US" altLang="zh-CN" sz="2000" b="1" dirty="0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 (a, 0, 10*</a:t>
            </a:r>
            <a:r>
              <a:rPr lang="en-US" altLang="zh-CN" sz="2000" b="1" dirty="0" err="1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sizeof</a:t>
            </a:r>
            <a:r>
              <a:rPr lang="en-US" altLang="zh-CN" sz="2000" b="1" dirty="0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(short)); </a:t>
            </a:r>
          </a:p>
          <a:p>
            <a:pPr marL="457200" indent="-457200">
              <a:tabLst>
                <a:tab pos="914400" algn="l"/>
              </a:tabLst>
            </a:pPr>
            <a:r>
              <a:rPr lang="en-US" altLang="zh-CN" sz="2000" b="1" dirty="0">
                <a:solidFill>
                  <a:schemeClr val="accent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楷体_GB2312" pitchFamily="49" charset="-122"/>
              </a:rPr>
              <a:t>   </a:t>
            </a:r>
            <a:r>
              <a:rPr lang="en-US" altLang="zh-CN" sz="2000" b="1" dirty="0">
                <a:solidFill>
                  <a:schemeClr val="accent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楷体" pitchFamily="49" charset="-122"/>
              </a:rPr>
              <a:t>//</a:t>
            </a:r>
            <a:r>
              <a:rPr lang="zh-CN" altLang="en-US" sz="2000" b="1" dirty="0">
                <a:solidFill>
                  <a:schemeClr val="accent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楷体" pitchFamily="49" charset="-122"/>
              </a:rPr>
              <a:t>从文件中读取</a:t>
            </a:r>
            <a:r>
              <a:rPr lang="en-US" altLang="zh-CN" sz="2000" b="1" dirty="0">
                <a:solidFill>
                  <a:schemeClr val="accent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楷体" pitchFamily="49" charset="-122"/>
              </a:rPr>
              <a:t>10</a:t>
            </a:r>
            <a:r>
              <a:rPr lang="zh-CN" altLang="en-US" sz="2000" b="1" dirty="0">
                <a:solidFill>
                  <a:schemeClr val="accent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楷体" pitchFamily="49" charset="-122"/>
              </a:rPr>
              <a:t>个整型数据到数组</a:t>
            </a:r>
            <a:r>
              <a:rPr lang="en-US" altLang="zh-CN" sz="2000" b="1" dirty="0">
                <a:solidFill>
                  <a:schemeClr val="accent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楷体" pitchFamily="49" charset="-122"/>
              </a:rPr>
              <a:t>a</a:t>
            </a:r>
          </a:p>
          <a:p>
            <a:pPr marL="457200" indent="-457200">
              <a:tabLst>
                <a:tab pos="914400" algn="l"/>
              </a:tabLst>
            </a:pPr>
            <a:r>
              <a:rPr lang="en-US" altLang="zh-CN" sz="2000" b="1" dirty="0">
                <a:solidFill>
                  <a:srgbClr val="FF0000"/>
                </a:solidFill>
                <a:ea typeface="楷体_GB2312" pitchFamily="49" charset="-122"/>
              </a:rPr>
              <a:t>   </a:t>
            </a:r>
            <a:r>
              <a:rPr lang="en-US" altLang="zh-CN" sz="2000" b="1" dirty="0" err="1">
                <a:solidFill>
                  <a:srgbClr val="FF33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楷体_GB2312" pitchFamily="49" charset="-122"/>
              </a:rPr>
              <a:t>fread</a:t>
            </a:r>
            <a:r>
              <a:rPr lang="en-US" altLang="zh-CN" sz="2000" b="1" dirty="0">
                <a:solidFill>
                  <a:srgbClr val="FF33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楷体_GB2312" pitchFamily="49" charset="-122"/>
              </a:rPr>
              <a:t> (a, </a:t>
            </a:r>
            <a:r>
              <a:rPr lang="en-US" altLang="zh-CN" sz="2000" b="1" dirty="0" err="1">
                <a:solidFill>
                  <a:srgbClr val="FF33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楷体_GB2312" pitchFamily="49" charset="-122"/>
              </a:rPr>
              <a:t>sizeof</a:t>
            </a:r>
            <a:r>
              <a:rPr lang="en-US" altLang="zh-CN" sz="2000" b="1" dirty="0">
                <a:solidFill>
                  <a:srgbClr val="FF33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楷体_GB2312" pitchFamily="49" charset="-122"/>
              </a:rPr>
              <a:t>(short), 10, </a:t>
            </a:r>
            <a:r>
              <a:rPr lang="en-US" altLang="zh-CN" sz="2000" b="1" dirty="0" err="1">
                <a:solidFill>
                  <a:srgbClr val="FF33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楷体_GB2312" pitchFamily="49" charset="-122"/>
              </a:rPr>
              <a:t>fp</a:t>
            </a:r>
            <a:r>
              <a:rPr lang="en-US" altLang="zh-CN" sz="2000" b="1" dirty="0">
                <a:solidFill>
                  <a:srgbClr val="FF33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楷体_GB2312" pitchFamily="49" charset="-122"/>
              </a:rPr>
              <a:t>);    </a:t>
            </a:r>
          </a:p>
          <a:p>
            <a:pPr marL="457200" indent="-457200">
              <a:tabLst>
                <a:tab pos="914400" algn="l"/>
              </a:tabLst>
            </a:pPr>
            <a:r>
              <a:rPr lang="en-US" altLang="zh-CN" sz="2000" b="1" dirty="0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   </a:t>
            </a:r>
            <a:r>
              <a:rPr lang="en-US" altLang="zh-CN" sz="2000" b="1" dirty="0" err="1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fclose</a:t>
            </a:r>
            <a:r>
              <a:rPr lang="en-US" altLang="zh-CN" sz="2000" b="1" dirty="0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 (</a:t>
            </a:r>
            <a:r>
              <a:rPr lang="en-US" altLang="zh-CN" sz="2000" b="1" dirty="0" err="1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fp</a:t>
            </a:r>
            <a:r>
              <a:rPr lang="en-US" altLang="zh-CN" sz="2000" b="1" dirty="0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);   </a:t>
            </a:r>
            <a:r>
              <a:rPr lang="en-US" altLang="zh-CN" sz="2000" b="1" dirty="0">
                <a:solidFill>
                  <a:schemeClr val="accent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楷体" pitchFamily="49" charset="-122"/>
              </a:rPr>
              <a:t>//</a:t>
            </a:r>
            <a:r>
              <a:rPr lang="zh-CN" altLang="en-US" sz="2000" b="1" dirty="0">
                <a:solidFill>
                  <a:schemeClr val="accent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楷体" pitchFamily="49" charset="-122"/>
              </a:rPr>
              <a:t>关闭文件</a:t>
            </a:r>
          </a:p>
          <a:p>
            <a:pPr marL="457200" indent="-457200">
              <a:tabLst>
                <a:tab pos="914400" algn="l"/>
              </a:tabLst>
            </a:pPr>
            <a:endParaRPr lang="zh-CN" altLang="en-US" sz="2000" b="1" dirty="0">
              <a:solidFill>
                <a:schemeClr val="accent2"/>
              </a:solidFill>
              <a:effectLst>
                <a:outerShdw blurRad="38100" dist="38100" dir="2700000" algn="tl">
                  <a:srgbClr val="000000"/>
                </a:outerShdw>
              </a:effectLst>
              <a:ea typeface="楷体_GB2312" pitchFamily="49" charset="-122"/>
            </a:endParaRPr>
          </a:p>
          <a:p>
            <a:pPr marL="457200" indent="-457200">
              <a:tabLst>
                <a:tab pos="914400" algn="l"/>
              </a:tabLst>
            </a:pPr>
            <a:r>
              <a:rPr lang="zh-CN" altLang="en-US" sz="2000" b="1" dirty="0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   </a:t>
            </a:r>
            <a:r>
              <a:rPr lang="en-US" altLang="zh-CN" sz="2000" b="1" dirty="0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for (</a:t>
            </a:r>
            <a:r>
              <a:rPr lang="en-US" altLang="zh-CN" sz="2000" b="1" dirty="0" err="1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i</a:t>
            </a:r>
            <a:r>
              <a:rPr lang="en-US" altLang="zh-CN" sz="2000" b="1" dirty="0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 = 0; </a:t>
            </a:r>
            <a:r>
              <a:rPr lang="en-US" altLang="zh-CN" sz="2000" b="1" dirty="0" err="1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i</a:t>
            </a:r>
            <a:r>
              <a:rPr lang="en-US" altLang="zh-CN" sz="2000" b="1" dirty="0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 &lt; 10; </a:t>
            </a:r>
            <a:r>
              <a:rPr lang="en-US" altLang="zh-CN" sz="2000" b="1" dirty="0" err="1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i</a:t>
            </a:r>
            <a:r>
              <a:rPr lang="en-US" altLang="zh-CN" sz="2000" b="1" dirty="0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++)  </a:t>
            </a:r>
            <a:r>
              <a:rPr lang="en-US" altLang="zh-CN" sz="2000" b="1" dirty="0">
                <a:solidFill>
                  <a:schemeClr val="accent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楷体" pitchFamily="49" charset="-122"/>
              </a:rPr>
              <a:t>//</a:t>
            </a:r>
            <a:r>
              <a:rPr lang="zh-CN" altLang="en-US" sz="2000" b="1" dirty="0">
                <a:solidFill>
                  <a:schemeClr val="accent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楷体" pitchFamily="49" charset="-122"/>
              </a:rPr>
              <a:t>显示数组</a:t>
            </a:r>
            <a:r>
              <a:rPr lang="en-US" altLang="zh-CN" sz="2000" b="1" dirty="0">
                <a:solidFill>
                  <a:schemeClr val="accent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楷体" pitchFamily="49" charset="-122"/>
              </a:rPr>
              <a:t>a</a:t>
            </a:r>
            <a:r>
              <a:rPr lang="zh-CN" altLang="en-US" sz="2000" b="1" dirty="0">
                <a:solidFill>
                  <a:schemeClr val="accent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楷体" pitchFamily="49" charset="-122"/>
              </a:rPr>
              <a:t>的元素</a:t>
            </a:r>
          </a:p>
          <a:p>
            <a:pPr marL="457200" indent="-457200">
              <a:tabLst>
                <a:tab pos="914400" algn="l"/>
              </a:tabLst>
            </a:pPr>
            <a:r>
              <a:rPr lang="zh-CN" altLang="en-US" sz="2000" b="1" dirty="0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       </a:t>
            </a:r>
            <a:r>
              <a:rPr lang="en-US" altLang="zh-CN" sz="2000" b="1" dirty="0" err="1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printf</a:t>
            </a:r>
            <a:r>
              <a:rPr lang="en-US" altLang="zh-CN" sz="2000" b="1" dirty="0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 ("%d ", a[</a:t>
            </a:r>
            <a:r>
              <a:rPr lang="en-US" altLang="zh-CN" sz="2000" b="1" dirty="0" err="1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i</a:t>
            </a:r>
            <a:r>
              <a:rPr lang="en-US" altLang="zh-CN" sz="2000" b="1" dirty="0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]);</a:t>
            </a:r>
          </a:p>
          <a:p>
            <a:pPr marL="457200" indent="-457200">
              <a:tabLst>
                <a:tab pos="914400" algn="l"/>
              </a:tabLst>
            </a:pPr>
            <a:r>
              <a:rPr lang="en-US" altLang="zh-CN" sz="2000" b="1" dirty="0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   return 0; </a:t>
            </a:r>
          </a:p>
          <a:p>
            <a:pPr marL="457200" indent="-457200">
              <a:tabLst>
                <a:tab pos="914400" algn="l"/>
              </a:tabLst>
            </a:pPr>
            <a:r>
              <a:rPr lang="en-US" altLang="zh-CN" sz="2000" b="1" dirty="0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}</a:t>
            </a:r>
          </a:p>
        </p:txBody>
      </p:sp>
      <p:grpSp>
        <p:nvGrpSpPr>
          <p:cNvPr id="1086517" name="Group 53"/>
          <p:cNvGrpSpPr>
            <a:grpSpLocks/>
          </p:cNvGrpSpPr>
          <p:nvPr/>
        </p:nvGrpSpPr>
        <p:grpSpPr bwMode="auto">
          <a:xfrm>
            <a:off x="2990403" y="2060575"/>
            <a:ext cx="6337300" cy="2736850"/>
            <a:chOff x="1111" y="1298"/>
            <a:chExt cx="3992" cy="1724"/>
          </a:xfrm>
        </p:grpSpPr>
        <p:sp>
          <p:nvSpPr>
            <p:cNvPr id="1086474" name="AutoShape 10"/>
            <p:cNvSpPr>
              <a:spLocks noChangeArrowheads="1"/>
            </p:cNvSpPr>
            <p:nvPr/>
          </p:nvSpPr>
          <p:spPr bwMode="auto">
            <a:xfrm>
              <a:off x="1111" y="1298"/>
              <a:ext cx="3992" cy="1724"/>
            </a:xfrm>
            <a:prstGeom prst="foldedCorner">
              <a:avLst>
                <a:gd name="adj" fmla="val 12500"/>
              </a:avLst>
            </a:prstGeom>
            <a:gradFill rotWithShape="1">
              <a:gsLst>
                <a:gs pos="0">
                  <a:srgbClr val="00FFFF"/>
                </a:gs>
                <a:gs pos="100000">
                  <a:schemeClr val="bg1"/>
                </a:gs>
              </a:gsLst>
              <a:lin ang="5400000" scaled="1"/>
            </a:gradFill>
            <a:ln w="25400">
              <a:solidFill>
                <a:srgbClr val="FF00FF"/>
              </a:solidFill>
              <a:round/>
              <a:headEnd/>
              <a:tailEnd/>
            </a:ln>
            <a:effectLst>
              <a:outerShdw blurRad="50800" dist="106680" dir="2700000" algn="tl" rotWithShape="0">
                <a:prstClr val="black">
                  <a:alpha val="43000"/>
                </a:prstClr>
              </a:outerShdw>
            </a:effectLst>
          </p:spPr>
          <p:txBody>
            <a:bodyPr wrap="none"/>
            <a:lstStyle/>
            <a:p>
              <a:pPr algn="ctr"/>
              <a:r>
                <a:rPr lang="en-US" altLang="zh-CN" b="1" u="sng">
                  <a:solidFill>
                    <a:srgbClr val="FF33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</a:rPr>
                <a:t>wang.dat</a:t>
              </a:r>
            </a:p>
            <a:p>
              <a:pPr algn="ctr"/>
              <a:endParaRPr lang="en-US" altLang="zh-CN" b="1">
                <a:solidFill>
                  <a:srgbClr val="FF33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endParaRPr>
            </a:p>
          </p:txBody>
        </p:sp>
        <p:sp>
          <p:nvSpPr>
            <p:cNvPr id="1086475" name="Text Box 11"/>
            <p:cNvSpPr txBox="1">
              <a:spLocks noChangeArrowheads="1"/>
            </p:cNvSpPr>
            <p:nvPr/>
          </p:nvSpPr>
          <p:spPr bwMode="auto">
            <a:xfrm>
              <a:off x="1256" y="1625"/>
              <a:ext cx="3810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b="1">
                  <a:effectLst>
                    <a:outerShdw blurRad="38100" dist="38100" dir="2700000" algn="tl">
                      <a:srgbClr val="FFFFFF"/>
                    </a:outerShdw>
                  </a:effectLst>
                </a:rPr>
                <a:t>00 00  01 00  02 00  03 00  04 00  05 00  06 00</a:t>
              </a:r>
            </a:p>
          </p:txBody>
        </p:sp>
        <p:sp>
          <p:nvSpPr>
            <p:cNvPr id="1086476" name="Text Box 12"/>
            <p:cNvSpPr txBox="1">
              <a:spLocks noChangeArrowheads="1"/>
            </p:cNvSpPr>
            <p:nvPr/>
          </p:nvSpPr>
          <p:spPr bwMode="auto">
            <a:xfrm>
              <a:off x="1257" y="2301"/>
              <a:ext cx="3810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b="1">
                  <a:effectLst>
                    <a:outerShdw blurRad="38100" dist="38100" dir="2700000" algn="tl">
                      <a:srgbClr val="FFFFFF"/>
                    </a:outerShdw>
                  </a:effectLst>
                </a:rPr>
                <a:t>07 00  08 00  09 00  </a:t>
              </a:r>
            </a:p>
          </p:txBody>
        </p:sp>
        <p:grpSp>
          <p:nvGrpSpPr>
            <p:cNvPr id="1086488" name="Group 24"/>
            <p:cNvGrpSpPr>
              <a:grpSpLocks/>
            </p:cNvGrpSpPr>
            <p:nvPr/>
          </p:nvGrpSpPr>
          <p:grpSpPr bwMode="auto">
            <a:xfrm>
              <a:off x="1329" y="1870"/>
              <a:ext cx="399" cy="397"/>
              <a:chOff x="1329" y="1870"/>
              <a:chExt cx="399" cy="397"/>
            </a:xfrm>
          </p:grpSpPr>
          <p:sp>
            <p:nvSpPr>
              <p:cNvPr id="1086477" name="AutoShape 13"/>
              <p:cNvSpPr>
                <a:spLocks/>
              </p:cNvSpPr>
              <p:nvPr/>
            </p:nvSpPr>
            <p:spPr bwMode="auto">
              <a:xfrm rot="-5400000">
                <a:off x="1461" y="1738"/>
                <a:ext cx="136" cy="399"/>
              </a:xfrm>
              <a:prstGeom prst="leftBrace">
                <a:avLst>
                  <a:gd name="adj1" fmla="val 24449"/>
                  <a:gd name="adj2" fmla="val 50000"/>
                </a:avLst>
              </a:prstGeom>
              <a:noFill/>
              <a:ln w="25400">
                <a:solidFill>
                  <a:srgbClr val="0000FF"/>
                </a:solidFill>
                <a:round/>
                <a:headEnd/>
                <a:tailEnd/>
              </a:ln>
              <a:effectLst>
                <a:outerShdw dist="35921" dir="2700000" algn="ctr" rotWithShape="0">
                  <a:schemeClr val="bg2"/>
                </a:outerShdw>
              </a:effec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086478" name="Text Box 14"/>
              <p:cNvSpPr txBox="1">
                <a:spLocks noChangeArrowheads="1"/>
              </p:cNvSpPr>
              <p:nvPr/>
            </p:nvSpPr>
            <p:spPr bwMode="auto">
              <a:xfrm>
                <a:off x="1429" y="1979"/>
                <a:ext cx="227" cy="28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altLang="zh-CN" b="1">
                    <a:solidFill>
                      <a:schemeClr val="accent2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</a:rPr>
                  <a:t>0</a:t>
                </a:r>
              </a:p>
            </p:txBody>
          </p:sp>
        </p:grpSp>
        <p:grpSp>
          <p:nvGrpSpPr>
            <p:cNvPr id="1086489" name="Group 25"/>
            <p:cNvGrpSpPr>
              <a:grpSpLocks/>
            </p:cNvGrpSpPr>
            <p:nvPr/>
          </p:nvGrpSpPr>
          <p:grpSpPr bwMode="auto">
            <a:xfrm>
              <a:off x="1870" y="1862"/>
              <a:ext cx="399" cy="397"/>
              <a:chOff x="1329" y="1870"/>
              <a:chExt cx="399" cy="397"/>
            </a:xfrm>
          </p:grpSpPr>
          <p:sp>
            <p:nvSpPr>
              <p:cNvPr id="1086490" name="AutoShape 26"/>
              <p:cNvSpPr>
                <a:spLocks/>
              </p:cNvSpPr>
              <p:nvPr/>
            </p:nvSpPr>
            <p:spPr bwMode="auto">
              <a:xfrm rot="-5400000">
                <a:off x="1461" y="1738"/>
                <a:ext cx="136" cy="399"/>
              </a:xfrm>
              <a:prstGeom prst="leftBrace">
                <a:avLst>
                  <a:gd name="adj1" fmla="val 24449"/>
                  <a:gd name="adj2" fmla="val 50000"/>
                </a:avLst>
              </a:prstGeom>
              <a:noFill/>
              <a:ln w="25400">
                <a:solidFill>
                  <a:srgbClr val="0000FF"/>
                </a:solidFill>
                <a:round/>
                <a:headEnd/>
                <a:tailEnd/>
              </a:ln>
              <a:effectLst>
                <a:outerShdw dist="35921" dir="2700000" algn="ctr" rotWithShape="0">
                  <a:schemeClr val="bg2"/>
                </a:outerShdw>
              </a:effec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086491" name="Text Box 27"/>
              <p:cNvSpPr txBox="1">
                <a:spLocks noChangeArrowheads="1"/>
              </p:cNvSpPr>
              <p:nvPr/>
            </p:nvSpPr>
            <p:spPr bwMode="auto">
              <a:xfrm>
                <a:off x="1429" y="1979"/>
                <a:ext cx="227" cy="28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altLang="zh-CN" b="1">
                    <a:solidFill>
                      <a:schemeClr val="accent2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</a:rPr>
                  <a:t>1</a:t>
                </a:r>
              </a:p>
            </p:txBody>
          </p:sp>
        </p:grpSp>
        <p:grpSp>
          <p:nvGrpSpPr>
            <p:cNvPr id="1086492" name="Group 28"/>
            <p:cNvGrpSpPr>
              <a:grpSpLocks/>
            </p:cNvGrpSpPr>
            <p:nvPr/>
          </p:nvGrpSpPr>
          <p:grpSpPr bwMode="auto">
            <a:xfrm>
              <a:off x="2393" y="1863"/>
              <a:ext cx="399" cy="397"/>
              <a:chOff x="1329" y="1870"/>
              <a:chExt cx="399" cy="397"/>
            </a:xfrm>
          </p:grpSpPr>
          <p:sp>
            <p:nvSpPr>
              <p:cNvPr id="1086493" name="AutoShape 29"/>
              <p:cNvSpPr>
                <a:spLocks/>
              </p:cNvSpPr>
              <p:nvPr/>
            </p:nvSpPr>
            <p:spPr bwMode="auto">
              <a:xfrm rot="-5400000">
                <a:off x="1461" y="1738"/>
                <a:ext cx="136" cy="399"/>
              </a:xfrm>
              <a:prstGeom prst="leftBrace">
                <a:avLst>
                  <a:gd name="adj1" fmla="val 24449"/>
                  <a:gd name="adj2" fmla="val 50000"/>
                </a:avLst>
              </a:prstGeom>
              <a:noFill/>
              <a:ln w="25400">
                <a:solidFill>
                  <a:srgbClr val="0000FF"/>
                </a:solidFill>
                <a:round/>
                <a:headEnd/>
                <a:tailEnd/>
              </a:ln>
              <a:effectLst>
                <a:outerShdw dist="35921" dir="2700000" algn="ctr" rotWithShape="0">
                  <a:schemeClr val="bg2"/>
                </a:outerShdw>
              </a:effec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086494" name="Text Box 30"/>
              <p:cNvSpPr txBox="1">
                <a:spLocks noChangeArrowheads="1"/>
              </p:cNvSpPr>
              <p:nvPr/>
            </p:nvSpPr>
            <p:spPr bwMode="auto">
              <a:xfrm>
                <a:off x="1429" y="1979"/>
                <a:ext cx="227" cy="28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altLang="zh-CN" b="1">
                    <a:solidFill>
                      <a:schemeClr val="accent2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</a:rPr>
                  <a:t>2</a:t>
                </a:r>
              </a:p>
            </p:txBody>
          </p:sp>
        </p:grpSp>
        <p:grpSp>
          <p:nvGrpSpPr>
            <p:cNvPr id="1086495" name="Group 31"/>
            <p:cNvGrpSpPr>
              <a:grpSpLocks/>
            </p:cNvGrpSpPr>
            <p:nvPr/>
          </p:nvGrpSpPr>
          <p:grpSpPr bwMode="auto">
            <a:xfrm>
              <a:off x="2925" y="1855"/>
              <a:ext cx="399" cy="397"/>
              <a:chOff x="1329" y="1870"/>
              <a:chExt cx="399" cy="397"/>
            </a:xfrm>
          </p:grpSpPr>
          <p:sp>
            <p:nvSpPr>
              <p:cNvPr id="1086496" name="AutoShape 32"/>
              <p:cNvSpPr>
                <a:spLocks/>
              </p:cNvSpPr>
              <p:nvPr/>
            </p:nvSpPr>
            <p:spPr bwMode="auto">
              <a:xfrm rot="-5400000">
                <a:off x="1461" y="1738"/>
                <a:ext cx="136" cy="399"/>
              </a:xfrm>
              <a:prstGeom prst="leftBrace">
                <a:avLst>
                  <a:gd name="adj1" fmla="val 24449"/>
                  <a:gd name="adj2" fmla="val 50000"/>
                </a:avLst>
              </a:prstGeom>
              <a:noFill/>
              <a:ln w="25400">
                <a:solidFill>
                  <a:srgbClr val="0000FF"/>
                </a:solidFill>
                <a:round/>
                <a:headEnd/>
                <a:tailEnd/>
              </a:ln>
              <a:effectLst>
                <a:outerShdw dist="35921" dir="2700000" algn="ctr" rotWithShape="0">
                  <a:schemeClr val="bg2"/>
                </a:outerShdw>
              </a:effec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086497" name="Text Box 33"/>
              <p:cNvSpPr txBox="1">
                <a:spLocks noChangeArrowheads="1"/>
              </p:cNvSpPr>
              <p:nvPr/>
            </p:nvSpPr>
            <p:spPr bwMode="auto">
              <a:xfrm>
                <a:off x="1429" y="1979"/>
                <a:ext cx="227" cy="28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altLang="zh-CN" b="1">
                    <a:solidFill>
                      <a:schemeClr val="accent2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</a:rPr>
                  <a:t>3</a:t>
                </a:r>
              </a:p>
            </p:txBody>
          </p:sp>
        </p:grpSp>
        <p:grpSp>
          <p:nvGrpSpPr>
            <p:cNvPr id="1086498" name="Group 34"/>
            <p:cNvGrpSpPr>
              <a:grpSpLocks/>
            </p:cNvGrpSpPr>
            <p:nvPr/>
          </p:nvGrpSpPr>
          <p:grpSpPr bwMode="auto">
            <a:xfrm>
              <a:off x="3448" y="1856"/>
              <a:ext cx="399" cy="397"/>
              <a:chOff x="1329" y="1870"/>
              <a:chExt cx="399" cy="397"/>
            </a:xfrm>
          </p:grpSpPr>
          <p:sp>
            <p:nvSpPr>
              <p:cNvPr id="1086499" name="AutoShape 35"/>
              <p:cNvSpPr>
                <a:spLocks/>
              </p:cNvSpPr>
              <p:nvPr/>
            </p:nvSpPr>
            <p:spPr bwMode="auto">
              <a:xfrm rot="-5400000">
                <a:off x="1461" y="1738"/>
                <a:ext cx="136" cy="399"/>
              </a:xfrm>
              <a:prstGeom prst="leftBrace">
                <a:avLst>
                  <a:gd name="adj1" fmla="val 24449"/>
                  <a:gd name="adj2" fmla="val 50000"/>
                </a:avLst>
              </a:prstGeom>
              <a:noFill/>
              <a:ln w="25400">
                <a:solidFill>
                  <a:srgbClr val="0000FF"/>
                </a:solidFill>
                <a:round/>
                <a:headEnd/>
                <a:tailEnd/>
              </a:ln>
              <a:effectLst>
                <a:outerShdw dist="35921" dir="2700000" algn="ctr" rotWithShape="0">
                  <a:schemeClr val="bg2"/>
                </a:outerShdw>
              </a:effec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086500" name="Text Box 36"/>
              <p:cNvSpPr txBox="1">
                <a:spLocks noChangeArrowheads="1"/>
              </p:cNvSpPr>
              <p:nvPr/>
            </p:nvSpPr>
            <p:spPr bwMode="auto">
              <a:xfrm>
                <a:off x="1429" y="1979"/>
                <a:ext cx="227" cy="28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altLang="zh-CN" b="1">
                    <a:solidFill>
                      <a:schemeClr val="accent2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</a:rPr>
                  <a:t>4</a:t>
                </a:r>
              </a:p>
            </p:txBody>
          </p:sp>
        </p:grpSp>
        <p:grpSp>
          <p:nvGrpSpPr>
            <p:cNvPr id="1086501" name="Group 37"/>
            <p:cNvGrpSpPr>
              <a:grpSpLocks/>
            </p:cNvGrpSpPr>
            <p:nvPr/>
          </p:nvGrpSpPr>
          <p:grpSpPr bwMode="auto">
            <a:xfrm>
              <a:off x="3989" y="1866"/>
              <a:ext cx="399" cy="397"/>
              <a:chOff x="1329" y="1870"/>
              <a:chExt cx="399" cy="397"/>
            </a:xfrm>
          </p:grpSpPr>
          <p:sp>
            <p:nvSpPr>
              <p:cNvPr id="1086502" name="AutoShape 38"/>
              <p:cNvSpPr>
                <a:spLocks/>
              </p:cNvSpPr>
              <p:nvPr/>
            </p:nvSpPr>
            <p:spPr bwMode="auto">
              <a:xfrm rot="-5400000">
                <a:off x="1461" y="1738"/>
                <a:ext cx="136" cy="399"/>
              </a:xfrm>
              <a:prstGeom prst="leftBrace">
                <a:avLst>
                  <a:gd name="adj1" fmla="val 24449"/>
                  <a:gd name="adj2" fmla="val 50000"/>
                </a:avLst>
              </a:prstGeom>
              <a:noFill/>
              <a:ln w="25400">
                <a:solidFill>
                  <a:srgbClr val="0000FF"/>
                </a:solidFill>
                <a:round/>
                <a:headEnd/>
                <a:tailEnd/>
              </a:ln>
              <a:effectLst>
                <a:outerShdw dist="35921" dir="2700000" algn="ctr" rotWithShape="0">
                  <a:schemeClr val="bg2"/>
                </a:outerShdw>
              </a:effec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086503" name="Text Box 39"/>
              <p:cNvSpPr txBox="1">
                <a:spLocks noChangeArrowheads="1"/>
              </p:cNvSpPr>
              <p:nvPr/>
            </p:nvSpPr>
            <p:spPr bwMode="auto">
              <a:xfrm>
                <a:off x="1429" y="1979"/>
                <a:ext cx="227" cy="28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altLang="zh-CN" b="1">
                    <a:solidFill>
                      <a:schemeClr val="accent2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</a:rPr>
                  <a:t>5</a:t>
                </a:r>
              </a:p>
            </p:txBody>
          </p:sp>
        </p:grpSp>
        <p:grpSp>
          <p:nvGrpSpPr>
            <p:cNvPr id="1086504" name="Group 40"/>
            <p:cNvGrpSpPr>
              <a:grpSpLocks/>
            </p:cNvGrpSpPr>
            <p:nvPr/>
          </p:nvGrpSpPr>
          <p:grpSpPr bwMode="auto">
            <a:xfrm>
              <a:off x="4494" y="1867"/>
              <a:ext cx="399" cy="397"/>
              <a:chOff x="1329" y="1870"/>
              <a:chExt cx="399" cy="397"/>
            </a:xfrm>
          </p:grpSpPr>
          <p:sp>
            <p:nvSpPr>
              <p:cNvPr id="1086505" name="AutoShape 41"/>
              <p:cNvSpPr>
                <a:spLocks/>
              </p:cNvSpPr>
              <p:nvPr/>
            </p:nvSpPr>
            <p:spPr bwMode="auto">
              <a:xfrm rot="-5400000">
                <a:off x="1461" y="1738"/>
                <a:ext cx="136" cy="399"/>
              </a:xfrm>
              <a:prstGeom prst="leftBrace">
                <a:avLst>
                  <a:gd name="adj1" fmla="val 24449"/>
                  <a:gd name="adj2" fmla="val 50000"/>
                </a:avLst>
              </a:prstGeom>
              <a:noFill/>
              <a:ln w="25400">
                <a:solidFill>
                  <a:srgbClr val="0000FF"/>
                </a:solidFill>
                <a:round/>
                <a:headEnd/>
                <a:tailEnd/>
              </a:ln>
              <a:effectLst>
                <a:outerShdw dist="35921" dir="2700000" algn="ctr" rotWithShape="0">
                  <a:schemeClr val="bg2"/>
                </a:outerShdw>
              </a:effec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086506" name="Text Box 42"/>
              <p:cNvSpPr txBox="1">
                <a:spLocks noChangeArrowheads="1"/>
              </p:cNvSpPr>
              <p:nvPr/>
            </p:nvSpPr>
            <p:spPr bwMode="auto">
              <a:xfrm>
                <a:off x="1429" y="1979"/>
                <a:ext cx="227" cy="28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altLang="zh-CN" b="1">
                    <a:solidFill>
                      <a:schemeClr val="accent2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</a:rPr>
                  <a:t>6</a:t>
                </a:r>
              </a:p>
            </p:txBody>
          </p:sp>
        </p:grpSp>
        <p:grpSp>
          <p:nvGrpSpPr>
            <p:cNvPr id="1086507" name="Group 43"/>
            <p:cNvGrpSpPr>
              <a:grpSpLocks/>
            </p:cNvGrpSpPr>
            <p:nvPr/>
          </p:nvGrpSpPr>
          <p:grpSpPr bwMode="auto">
            <a:xfrm>
              <a:off x="1330" y="2528"/>
              <a:ext cx="399" cy="397"/>
              <a:chOff x="1329" y="1870"/>
              <a:chExt cx="399" cy="397"/>
            </a:xfrm>
          </p:grpSpPr>
          <p:sp>
            <p:nvSpPr>
              <p:cNvPr id="1086508" name="AutoShape 44"/>
              <p:cNvSpPr>
                <a:spLocks/>
              </p:cNvSpPr>
              <p:nvPr/>
            </p:nvSpPr>
            <p:spPr bwMode="auto">
              <a:xfrm rot="-5400000">
                <a:off x="1461" y="1738"/>
                <a:ext cx="136" cy="399"/>
              </a:xfrm>
              <a:prstGeom prst="leftBrace">
                <a:avLst>
                  <a:gd name="adj1" fmla="val 24449"/>
                  <a:gd name="adj2" fmla="val 50000"/>
                </a:avLst>
              </a:prstGeom>
              <a:noFill/>
              <a:ln w="25400">
                <a:solidFill>
                  <a:srgbClr val="0000FF"/>
                </a:solidFill>
                <a:round/>
                <a:headEnd/>
                <a:tailEnd/>
              </a:ln>
              <a:effectLst>
                <a:outerShdw dist="35921" dir="2700000" algn="ctr" rotWithShape="0">
                  <a:schemeClr val="bg2"/>
                </a:outerShdw>
              </a:effec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086509" name="Text Box 45"/>
              <p:cNvSpPr txBox="1">
                <a:spLocks noChangeArrowheads="1"/>
              </p:cNvSpPr>
              <p:nvPr/>
            </p:nvSpPr>
            <p:spPr bwMode="auto">
              <a:xfrm>
                <a:off x="1429" y="1979"/>
                <a:ext cx="227" cy="28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altLang="zh-CN" b="1">
                    <a:solidFill>
                      <a:schemeClr val="accent2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</a:rPr>
                  <a:t>7</a:t>
                </a:r>
              </a:p>
            </p:txBody>
          </p:sp>
        </p:grpSp>
        <p:grpSp>
          <p:nvGrpSpPr>
            <p:cNvPr id="1086510" name="Group 46"/>
            <p:cNvGrpSpPr>
              <a:grpSpLocks/>
            </p:cNvGrpSpPr>
            <p:nvPr/>
          </p:nvGrpSpPr>
          <p:grpSpPr bwMode="auto">
            <a:xfrm>
              <a:off x="1871" y="2538"/>
              <a:ext cx="399" cy="397"/>
              <a:chOff x="1329" y="1870"/>
              <a:chExt cx="399" cy="397"/>
            </a:xfrm>
          </p:grpSpPr>
          <p:sp>
            <p:nvSpPr>
              <p:cNvPr id="1086511" name="AutoShape 47"/>
              <p:cNvSpPr>
                <a:spLocks/>
              </p:cNvSpPr>
              <p:nvPr/>
            </p:nvSpPr>
            <p:spPr bwMode="auto">
              <a:xfrm rot="-5400000">
                <a:off x="1461" y="1738"/>
                <a:ext cx="136" cy="399"/>
              </a:xfrm>
              <a:prstGeom prst="leftBrace">
                <a:avLst>
                  <a:gd name="adj1" fmla="val 24449"/>
                  <a:gd name="adj2" fmla="val 50000"/>
                </a:avLst>
              </a:prstGeom>
              <a:noFill/>
              <a:ln w="25400">
                <a:solidFill>
                  <a:srgbClr val="0000FF"/>
                </a:solidFill>
                <a:round/>
                <a:headEnd/>
                <a:tailEnd/>
              </a:ln>
              <a:effectLst>
                <a:outerShdw dist="35921" dir="2700000" algn="ctr" rotWithShape="0">
                  <a:schemeClr val="bg2"/>
                </a:outerShdw>
              </a:effec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086512" name="Text Box 48"/>
              <p:cNvSpPr txBox="1">
                <a:spLocks noChangeArrowheads="1"/>
              </p:cNvSpPr>
              <p:nvPr/>
            </p:nvSpPr>
            <p:spPr bwMode="auto">
              <a:xfrm>
                <a:off x="1429" y="1979"/>
                <a:ext cx="227" cy="28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altLang="zh-CN" b="1">
                    <a:solidFill>
                      <a:schemeClr val="accent2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</a:rPr>
                  <a:t>8</a:t>
                </a:r>
              </a:p>
            </p:txBody>
          </p:sp>
        </p:grpSp>
        <p:grpSp>
          <p:nvGrpSpPr>
            <p:cNvPr id="1086513" name="Group 49"/>
            <p:cNvGrpSpPr>
              <a:grpSpLocks/>
            </p:cNvGrpSpPr>
            <p:nvPr/>
          </p:nvGrpSpPr>
          <p:grpSpPr bwMode="auto">
            <a:xfrm>
              <a:off x="2403" y="2539"/>
              <a:ext cx="399" cy="397"/>
              <a:chOff x="1329" y="1870"/>
              <a:chExt cx="399" cy="397"/>
            </a:xfrm>
          </p:grpSpPr>
          <p:sp>
            <p:nvSpPr>
              <p:cNvPr id="1086514" name="AutoShape 50"/>
              <p:cNvSpPr>
                <a:spLocks/>
              </p:cNvSpPr>
              <p:nvPr/>
            </p:nvSpPr>
            <p:spPr bwMode="auto">
              <a:xfrm rot="-5400000">
                <a:off x="1461" y="1738"/>
                <a:ext cx="136" cy="399"/>
              </a:xfrm>
              <a:prstGeom prst="leftBrace">
                <a:avLst>
                  <a:gd name="adj1" fmla="val 24449"/>
                  <a:gd name="adj2" fmla="val 50000"/>
                </a:avLst>
              </a:prstGeom>
              <a:noFill/>
              <a:ln w="25400">
                <a:solidFill>
                  <a:srgbClr val="0000FF"/>
                </a:solidFill>
                <a:round/>
                <a:headEnd/>
                <a:tailEnd/>
              </a:ln>
              <a:effectLst>
                <a:outerShdw dist="35921" dir="2700000" algn="ctr" rotWithShape="0">
                  <a:schemeClr val="bg2"/>
                </a:outerShdw>
              </a:effec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086515" name="Text Box 51"/>
              <p:cNvSpPr txBox="1">
                <a:spLocks noChangeArrowheads="1"/>
              </p:cNvSpPr>
              <p:nvPr/>
            </p:nvSpPr>
            <p:spPr bwMode="auto">
              <a:xfrm>
                <a:off x="1429" y="1979"/>
                <a:ext cx="227" cy="28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altLang="zh-CN" b="1">
                    <a:solidFill>
                      <a:schemeClr val="accent2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</a:rPr>
                  <a:t>9</a:t>
                </a:r>
              </a:p>
            </p:txBody>
          </p:sp>
        </p:grpSp>
        <p:sp>
          <p:nvSpPr>
            <p:cNvPr id="1086516" name="Rectangle 52"/>
            <p:cNvSpPr>
              <a:spLocks noChangeArrowheads="1"/>
            </p:cNvSpPr>
            <p:nvPr/>
          </p:nvSpPr>
          <p:spPr bwMode="auto">
            <a:xfrm>
              <a:off x="3424" y="2523"/>
              <a:ext cx="1142" cy="300"/>
            </a:xfrm>
            <a:prstGeom prst="rect">
              <a:avLst/>
            </a:prstGeom>
            <a:gradFill rotWithShape="1">
              <a:gsLst>
                <a:gs pos="0">
                  <a:srgbClr val="FFCC99"/>
                </a:gs>
                <a:gs pos="100000">
                  <a:schemeClr val="bg1"/>
                </a:gs>
              </a:gsLst>
              <a:lin ang="5400000" scaled="1"/>
            </a:gradFill>
            <a:ln w="19050">
              <a:solidFill>
                <a:srgbClr val="0000FF"/>
              </a:solidFill>
              <a:miter lim="800000"/>
              <a:headEnd/>
              <a:tailEnd/>
            </a:ln>
            <a:effectLst>
              <a:outerShdw dist="35921" dir="2700000" algn="ctr" rotWithShape="0">
                <a:schemeClr val="bg2"/>
              </a:outerShdw>
            </a:effectLst>
          </p:spPr>
          <p:txBody>
            <a:bodyPr wrap="none" anchor="ctr">
              <a:spAutoFit/>
            </a:bodyPr>
            <a:lstStyle/>
            <a:p>
              <a:r>
                <a:rPr lang="en-US" altLang="zh-CN" b="1">
                  <a:solidFill>
                    <a:srgbClr val="CC00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隶书" pitchFamily="49" charset="-122"/>
                  <a:ea typeface="隶书" pitchFamily="49" charset="-122"/>
                </a:rPr>
                <a:t>16</a:t>
              </a:r>
              <a:r>
                <a:rPr lang="zh-CN" altLang="en-US" b="1">
                  <a:solidFill>
                    <a:srgbClr val="CC00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隶书" pitchFamily="49" charset="-122"/>
                  <a:ea typeface="隶书" pitchFamily="49" charset="-122"/>
                </a:rPr>
                <a:t>进制形式</a:t>
              </a:r>
              <a:r>
                <a:rPr lang="zh-CN" altLang="en-US"/>
                <a:t> </a:t>
              </a:r>
            </a:p>
          </p:txBody>
        </p:sp>
      </p:grpSp>
      <p:sp>
        <p:nvSpPr>
          <p:cNvPr id="1086473" name="Text Box 9"/>
          <p:cNvSpPr txBox="1">
            <a:spLocks noChangeArrowheads="1"/>
          </p:cNvSpPr>
          <p:nvPr/>
        </p:nvSpPr>
        <p:spPr bwMode="auto">
          <a:xfrm>
            <a:off x="9392350" y="5619010"/>
            <a:ext cx="2232025" cy="792163"/>
          </a:xfrm>
          <a:prstGeom prst="rect">
            <a:avLst/>
          </a:prstGeom>
          <a:solidFill>
            <a:srgbClr val="FFFFFF"/>
          </a:solidFill>
          <a:ln w="38100">
            <a:solidFill>
              <a:srgbClr val="FF00FF"/>
            </a:solidFill>
            <a:miter lim="800000"/>
            <a:headEnd/>
            <a:tailEnd/>
          </a:ln>
          <a:effectLst>
            <a:outerShdw blurRad="50800" dist="106680" dir="2700000" algn="tl" rotWithShape="0">
              <a:prstClr val="black">
                <a:alpha val="43000"/>
              </a:prstClr>
            </a:outerShdw>
          </a:effectLst>
          <a:scene3d>
            <a:camera prst="orthographicFront"/>
            <a:lightRig rig="threePt" dir="t"/>
          </a:scene3d>
          <a:sp3d>
            <a:bevelT w="114300" prst="hardEdge"/>
          </a:sp3d>
        </p:spPr>
        <p:txBody>
          <a:bodyPr/>
          <a:lstStyle/>
          <a:p>
            <a:pPr algn="just"/>
            <a:r>
              <a:rPr lang="zh-CN" altLang="en-US" sz="2000" b="1" dirty="0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隶书" pitchFamily="49" charset="-122"/>
                <a:ea typeface="隶书" pitchFamily="49" charset="-122"/>
              </a:rPr>
              <a:t>运行结果：</a:t>
            </a:r>
          </a:p>
          <a:p>
            <a:pPr algn="just"/>
            <a:r>
              <a:rPr lang="en-US" altLang="zh-CN" sz="2000" b="1" dirty="0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0 1 2 3 4 5 6 7 8 9</a:t>
            </a:r>
          </a:p>
          <a:p>
            <a:pPr algn="just"/>
            <a:endParaRPr lang="en-US" altLang="zh-CN" sz="2000" b="1" dirty="0">
              <a:solidFill>
                <a:schemeClr val="accent2"/>
              </a:solidFill>
              <a:effectLst>
                <a:outerShdw blurRad="38100" dist="38100" dir="2700000" algn="tl">
                  <a:srgbClr val="C0C0C0"/>
                </a:outerShdw>
              </a:effectLst>
            </a:endParaRPr>
          </a:p>
          <a:p>
            <a:pPr algn="just"/>
            <a:endParaRPr lang="en-US" altLang="zh-CN" sz="2000" b="1" dirty="0">
              <a:solidFill>
                <a:schemeClr val="accent2"/>
              </a:solidFill>
              <a:effectLst>
                <a:outerShdw blurRad="38100" dist="38100" dir="2700000" algn="tl">
                  <a:srgbClr val="C0C0C0"/>
                </a:outerShdw>
              </a:effectLst>
            </a:endParaRPr>
          </a:p>
          <a:p>
            <a:pPr algn="just"/>
            <a:endParaRPr lang="en-US" altLang="zh-CN" sz="2000" b="1" dirty="0">
              <a:solidFill>
                <a:schemeClr val="accent2"/>
              </a:solidFill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</p:spTree>
  </p:cSld>
  <p:clrMapOvr>
    <a:masterClrMapping/>
  </p:clrMapOvr>
  <p:transition>
    <p:cover/>
    <p:sndAc>
      <p:stSnd>
        <p:snd r:embed="rId3" name="CAMER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64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7" dur="500"/>
                                        <p:tgtEl>
                                          <p:spTgt spid="1086466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64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2" dur="500"/>
                                        <p:tgtEl>
                                          <p:spTgt spid="1086472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64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7" dur="500"/>
                                        <p:tgtEl>
                                          <p:spTgt spid="1086473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chime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65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22" dur="500"/>
                                        <p:tgtEl>
                                          <p:spTgt spid="1086517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86466" grpId="0" animBg="1"/>
      <p:bldP spid="1086472" grpId="0" animBg="1"/>
      <p:bldP spid="1086473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8514" name="Rectangle 2" descr="信纸"/>
          <p:cNvSpPr>
            <a:spLocks noChangeArrowheads="1"/>
          </p:cNvSpPr>
          <p:nvPr/>
        </p:nvSpPr>
        <p:spPr bwMode="auto">
          <a:xfrm>
            <a:off x="529928" y="866776"/>
            <a:ext cx="5411788" cy="5006975"/>
          </a:xfrm>
          <a:prstGeom prst="rect">
            <a:avLst/>
          </a:prstGeom>
          <a:blipFill dpi="0" rotWithShape="1">
            <a:blip r:embed="rId4" cstate="print"/>
            <a:srcRect/>
            <a:tile tx="0" ty="0" sx="100000" sy="100000" flip="none" algn="tl"/>
          </a:blipFill>
          <a:ln w="38100">
            <a:solidFill>
              <a:srgbClr val="008000"/>
            </a:solidFill>
            <a:miter lim="800000"/>
            <a:headEnd/>
            <a:tailEnd/>
          </a:ln>
          <a:effectLst>
            <a:outerShdw blurRad="50800" dist="106680" dir="2700000" algn="tl" rotWithShape="0">
              <a:prstClr val="black">
                <a:alpha val="43000"/>
              </a:prstClr>
            </a:outerShdw>
          </a:effectLst>
          <a:scene3d>
            <a:camera prst="orthographicFront"/>
            <a:lightRig rig="threePt" dir="t"/>
          </a:scene3d>
          <a:sp3d>
            <a:bevelT w="114300" prst="hardEdge"/>
          </a:sp3d>
        </p:spPr>
        <p:txBody>
          <a:bodyPr wrap="none" anchor="ctr">
            <a:spAutoFit/>
          </a:bodyPr>
          <a:lstStyle/>
          <a:p>
            <a:pPr marL="457200" indent="-457200">
              <a:tabLst>
                <a:tab pos="914400" algn="l"/>
              </a:tabLst>
            </a:pPr>
            <a:r>
              <a:rPr lang="en-US" altLang="zh-CN" sz="2000" b="1">
                <a:effectLst>
                  <a:outerShdw blurRad="38100" dist="38100" dir="2700000" algn="tl">
                    <a:srgbClr val="FFFFFF"/>
                  </a:outerShdw>
                </a:effectLst>
              </a:rPr>
              <a:t>#include &lt;stdio.h&gt;</a:t>
            </a:r>
          </a:p>
          <a:p>
            <a:pPr marL="457200" indent="-457200">
              <a:tabLst>
                <a:tab pos="914400" algn="l"/>
              </a:tabLst>
            </a:pPr>
            <a:r>
              <a:rPr lang="en-US" altLang="zh-CN" sz="2000" b="1">
                <a:effectLst>
                  <a:outerShdw blurRad="38100" dist="38100" dir="2700000" algn="tl">
                    <a:srgbClr val="FFFFFF"/>
                  </a:outerShdw>
                </a:effectLst>
              </a:rPr>
              <a:t>#include &lt;stdlib.h&gt;</a:t>
            </a:r>
          </a:p>
          <a:p>
            <a:pPr marL="457200" indent="-457200">
              <a:tabLst>
                <a:tab pos="914400" algn="l"/>
              </a:tabLst>
            </a:pPr>
            <a:r>
              <a:rPr lang="en-US" altLang="zh-CN" sz="2000" b="1">
                <a:effectLst>
                  <a:outerShdw blurRad="38100" dist="38100" dir="2700000" algn="tl">
                    <a:srgbClr val="FFFFFF"/>
                  </a:outerShdw>
                </a:effectLst>
              </a:rPr>
              <a:t>#include &lt;memory.h&gt;</a:t>
            </a:r>
          </a:p>
          <a:p>
            <a:pPr marL="457200" indent="-457200">
              <a:tabLst>
                <a:tab pos="914400" algn="l"/>
              </a:tabLst>
            </a:pPr>
            <a:endParaRPr lang="en-US" altLang="zh-CN" sz="2000" b="1">
              <a:effectLst>
                <a:outerShdw blurRad="38100" dist="38100" dir="2700000" algn="tl">
                  <a:srgbClr val="FFFFFF"/>
                </a:outerShdw>
              </a:effectLst>
            </a:endParaRPr>
          </a:p>
          <a:p>
            <a:pPr marL="457200" indent="-457200">
              <a:tabLst>
                <a:tab pos="914400" algn="l"/>
              </a:tabLst>
            </a:pPr>
            <a:r>
              <a:rPr lang="en-US" altLang="zh-CN" sz="2000" b="1">
                <a:effectLst>
                  <a:outerShdw blurRad="38100" dist="38100" dir="2700000" algn="tl">
                    <a:srgbClr val="FFFFFF"/>
                  </a:outerShdw>
                </a:effectLst>
              </a:rPr>
              <a:t>struct student_info</a:t>
            </a:r>
          </a:p>
          <a:p>
            <a:pPr marL="457200" indent="-457200">
              <a:tabLst>
                <a:tab pos="914400" algn="l"/>
              </a:tabLst>
            </a:pPr>
            <a:r>
              <a:rPr lang="en-US" altLang="zh-CN" sz="2000" b="1">
                <a:effectLst>
                  <a:outerShdw blurRad="38100" dist="38100" dir="2700000" algn="tl">
                    <a:srgbClr val="FFFFFF"/>
                  </a:outerShdw>
                </a:effectLst>
              </a:rPr>
              <a:t>{    </a:t>
            </a:r>
          </a:p>
          <a:p>
            <a:pPr marL="457200" indent="-457200">
              <a:tabLst>
                <a:tab pos="914400" algn="l"/>
              </a:tabLst>
            </a:pPr>
            <a:r>
              <a:rPr lang="en-US" altLang="zh-CN" sz="2000" b="1">
                <a:effectLst>
                  <a:outerShdw blurRad="38100" dist="38100" dir="2700000" algn="tl">
                    <a:srgbClr val="FFFFFF"/>
                  </a:outerShdw>
                </a:effectLst>
              </a:rPr>
              <a:t>   char no[9];</a:t>
            </a:r>
          </a:p>
          <a:p>
            <a:pPr marL="457200" indent="-457200">
              <a:tabLst>
                <a:tab pos="914400" algn="l"/>
              </a:tabLst>
            </a:pPr>
            <a:r>
              <a:rPr lang="en-US" altLang="zh-CN" sz="2000" b="1">
                <a:effectLst>
                  <a:outerShdw blurRad="38100" dist="38100" dir="2700000" algn="tl">
                    <a:srgbClr val="FFFFFF"/>
                  </a:outerShdw>
                </a:effectLst>
              </a:rPr>
              <a:t>   char name[10];</a:t>
            </a:r>
          </a:p>
          <a:p>
            <a:pPr marL="457200" indent="-457200">
              <a:tabLst>
                <a:tab pos="914400" algn="l"/>
              </a:tabLst>
            </a:pPr>
            <a:r>
              <a:rPr lang="en-US" altLang="zh-CN" sz="2000" b="1">
                <a:effectLst>
                  <a:outerShdw blurRad="38100" dist="38100" dir="2700000" algn="tl">
                    <a:srgbClr val="FFFFFF"/>
                  </a:outerShdw>
                </a:effectLst>
              </a:rPr>
              <a:t>   char sex;</a:t>
            </a:r>
          </a:p>
          <a:p>
            <a:pPr marL="457200" indent="-457200">
              <a:tabLst>
                <a:tab pos="914400" algn="l"/>
              </a:tabLst>
            </a:pPr>
            <a:r>
              <a:rPr lang="en-US" altLang="zh-CN" sz="2000" b="1">
                <a:effectLst>
                  <a:outerShdw blurRad="38100" dist="38100" dir="2700000" algn="tl">
                    <a:srgbClr val="FFFFFF"/>
                  </a:outerShdw>
                </a:effectLst>
              </a:rPr>
              <a:t>   int  age;</a:t>
            </a:r>
          </a:p>
          <a:p>
            <a:pPr marL="457200" indent="-457200">
              <a:tabLst>
                <a:tab pos="914400" algn="l"/>
              </a:tabLst>
            </a:pPr>
            <a:r>
              <a:rPr lang="en-US" altLang="zh-CN" sz="2000" b="1">
                <a:effectLst>
                  <a:outerShdw blurRad="38100" dist="38100" dir="2700000" algn="tl">
                    <a:srgbClr val="FFFFFF"/>
                  </a:outerShdw>
                </a:effectLst>
              </a:rPr>
              <a:t>   char address[20];</a:t>
            </a:r>
          </a:p>
          <a:p>
            <a:pPr marL="457200" indent="-457200">
              <a:tabLst>
                <a:tab pos="914400" algn="l"/>
              </a:tabLst>
            </a:pPr>
            <a:r>
              <a:rPr lang="en-US" altLang="zh-CN" sz="2000" b="1">
                <a:effectLst>
                  <a:outerShdw blurRad="38100" dist="38100" dir="2700000" algn="tl">
                    <a:srgbClr val="FFFFFF"/>
                  </a:outerShdw>
                </a:effectLst>
              </a:rPr>
              <a:t>};</a:t>
            </a:r>
          </a:p>
          <a:p>
            <a:pPr marL="457200" indent="-457200">
              <a:tabLst>
                <a:tab pos="914400" algn="l"/>
              </a:tabLst>
            </a:pPr>
            <a:r>
              <a:rPr lang="en-US" altLang="zh-CN" sz="2000" b="1">
                <a:effectLst>
                  <a:outerShdw blurRad="38100" dist="38100" dir="2700000" algn="tl">
                    <a:srgbClr val="FFFFFF"/>
                  </a:outerShdw>
                </a:effectLst>
              </a:rPr>
              <a:t>typedef struct student_info STUINFO;</a:t>
            </a:r>
          </a:p>
          <a:p>
            <a:pPr marL="457200" indent="-457200">
              <a:tabLst>
                <a:tab pos="914400" algn="l"/>
              </a:tabLst>
            </a:pPr>
            <a:endParaRPr lang="en-US" altLang="zh-CN" sz="2000" b="1">
              <a:effectLst>
                <a:outerShdw blurRad="38100" dist="38100" dir="2700000" algn="tl">
                  <a:srgbClr val="FFFFFF"/>
                </a:outerShdw>
              </a:effectLst>
            </a:endParaRPr>
          </a:p>
          <a:p>
            <a:pPr marL="457200" indent="-457200">
              <a:tabLst>
                <a:tab pos="914400" algn="l"/>
              </a:tabLst>
            </a:pPr>
            <a:r>
              <a:rPr lang="en-US" altLang="zh-CN" sz="2000" b="1">
                <a:effectLst>
                  <a:outerShdw blurRad="38100" dist="38100" dir="2700000" algn="tl">
                    <a:srgbClr val="FFFFFF"/>
                  </a:outerShdw>
                </a:effectLst>
              </a:rPr>
              <a:t>void WriteToFile (STUINFO *pstu, int num);</a:t>
            </a:r>
          </a:p>
          <a:p>
            <a:pPr marL="457200" indent="-457200">
              <a:tabLst>
                <a:tab pos="914400" algn="l"/>
              </a:tabLst>
            </a:pPr>
            <a:r>
              <a:rPr lang="en-US" altLang="zh-CN" sz="2000" b="1">
                <a:effectLst>
                  <a:outerShdw blurRad="38100" dist="38100" dir="2700000" algn="tl">
                    <a:srgbClr val="FFFFFF"/>
                  </a:outerShdw>
                </a:effectLst>
              </a:rPr>
              <a:t>void ReadFromFile (STUINFO *pstu, int num);</a:t>
            </a:r>
            <a:endParaRPr lang="en-US" altLang="zh-CN" sz="2000"/>
          </a:p>
        </p:txBody>
      </p:sp>
      <p:sp>
        <p:nvSpPr>
          <p:cNvPr id="1088520" name="Rectangle 8"/>
          <p:cNvSpPr>
            <a:spLocks noChangeArrowheads="1"/>
          </p:cNvSpPr>
          <p:nvPr/>
        </p:nvSpPr>
        <p:spPr bwMode="auto">
          <a:xfrm>
            <a:off x="-24680" y="151755"/>
            <a:ext cx="11833521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anchor="ctr">
            <a:spAutoFit/>
          </a:bodyPr>
          <a:lstStyle/>
          <a:p>
            <a:r>
              <a:rPr lang="en-US" altLang="zh-CN" b="1" dirty="0">
                <a:solidFill>
                  <a:srgbClr val="CC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隶书" pitchFamily="49" charset="-122"/>
                <a:ea typeface="隶书" pitchFamily="49" charset="-122"/>
              </a:rPr>
              <a:t>   【</a:t>
            </a:r>
            <a:r>
              <a:rPr lang="zh-CN" altLang="en-US" b="1" dirty="0">
                <a:solidFill>
                  <a:srgbClr val="CC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隶书" pitchFamily="49" charset="-122"/>
                <a:ea typeface="隶书" pitchFamily="49" charset="-122"/>
              </a:rPr>
              <a:t>例</a:t>
            </a:r>
            <a:r>
              <a:rPr lang="en-US" altLang="zh-CN" b="1" dirty="0">
                <a:solidFill>
                  <a:srgbClr val="CC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隶书" pitchFamily="49" charset="-122"/>
                <a:ea typeface="隶书" pitchFamily="49" charset="-122"/>
              </a:rPr>
              <a:t>6】</a:t>
            </a:r>
            <a:r>
              <a:rPr lang="zh-CN" altLang="en-US" b="1" dirty="0">
                <a:solidFill>
                  <a:srgbClr val="CC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隶书" pitchFamily="49" charset="-122"/>
                <a:ea typeface="隶书" pitchFamily="49" charset="-122"/>
              </a:rPr>
              <a:t>将多个学生的基本信息存放到</a:t>
            </a:r>
            <a:r>
              <a:rPr lang="en-US" altLang="zh-CN" b="1" dirty="0">
                <a:solidFill>
                  <a:srgbClr val="CC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隶书" pitchFamily="49" charset="-122"/>
              </a:rPr>
              <a:t>student.dat</a:t>
            </a:r>
            <a:r>
              <a:rPr lang="zh-CN" altLang="en-US" b="1" dirty="0">
                <a:solidFill>
                  <a:srgbClr val="CC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隶书" pitchFamily="49" charset="-122"/>
                <a:ea typeface="隶书" pitchFamily="49" charset="-122"/>
              </a:rPr>
              <a:t>文件中，然后从文件中读出并显示。</a:t>
            </a:r>
          </a:p>
        </p:txBody>
      </p:sp>
      <p:sp>
        <p:nvSpPr>
          <p:cNvPr id="1088556" name="Rectangle 44" descr="信纸"/>
          <p:cNvSpPr>
            <a:spLocks noChangeArrowheads="1"/>
          </p:cNvSpPr>
          <p:nvPr/>
        </p:nvSpPr>
        <p:spPr bwMode="auto">
          <a:xfrm>
            <a:off x="5375920" y="2004070"/>
            <a:ext cx="6577013" cy="4702175"/>
          </a:xfrm>
          <a:prstGeom prst="rect">
            <a:avLst/>
          </a:prstGeom>
          <a:blipFill dpi="0" rotWithShape="1">
            <a:blip r:embed="rId4" cstate="print"/>
            <a:srcRect/>
            <a:tile tx="0" ty="0" sx="100000" sy="100000" flip="none" algn="tl"/>
          </a:blipFill>
          <a:ln w="38100">
            <a:solidFill>
              <a:srgbClr val="008000"/>
            </a:solidFill>
            <a:miter lim="800000"/>
            <a:headEnd/>
            <a:tailEnd/>
          </a:ln>
          <a:effectLst>
            <a:outerShdw blurRad="50800" dist="106680" dir="2700000" algn="tl" rotWithShape="0">
              <a:prstClr val="black">
                <a:alpha val="43000"/>
              </a:prstClr>
            </a:outerShdw>
          </a:effectLst>
          <a:scene3d>
            <a:camera prst="orthographicFront"/>
            <a:lightRig rig="threePt" dir="t"/>
          </a:scene3d>
          <a:sp3d>
            <a:bevelT w="114300" prst="hardEdge"/>
          </a:sp3d>
        </p:spPr>
        <p:txBody>
          <a:bodyPr wrap="none" anchor="ctr">
            <a:spAutoFit/>
          </a:bodyPr>
          <a:lstStyle/>
          <a:p>
            <a:pPr marL="457200" indent="-457200">
              <a:tabLst>
                <a:tab pos="914400" algn="l"/>
              </a:tabLst>
            </a:pPr>
            <a:r>
              <a:rPr lang="en-US" altLang="zh-CN" sz="2000" b="1" dirty="0" err="1">
                <a:solidFill>
                  <a:srgbClr val="CC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楷体_GB2312" pitchFamily="49" charset="-122"/>
              </a:rPr>
              <a:t>int</a:t>
            </a:r>
            <a:r>
              <a:rPr lang="en-US" altLang="zh-CN" sz="2000" b="1" dirty="0">
                <a:solidFill>
                  <a:srgbClr val="CC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楷体_GB2312" pitchFamily="49" charset="-122"/>
              </a:rPr>
              <a:t> main ( )</a:t>
            </a:r>
          </a:p>
          <a:p>
            <a:pPr marL="457200" indent="-457200">
              <a:tabLst>
                <a:tab pos="914400" algn="l"/>
              </a:tabLst>
            </a:pPr>
            <a:r>
              <a:rPr lang="en-US" altLang="zh-CN" sz="2000" b="1" dirty="0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{</a:t>
            </a:r>
          </a:p>
          <a:p>
            <a:pPr marL="457200" indent="-457200">
              <a:tabLst>
                <a:tab pos="914400" algn="l"/>
              </a:tabLst>
            </a:pPr>
            <a:r>
              <a:rPr lang="en-US" altLang="zh-CN" sz="2000" b="1" dirty="0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    </a:t>
            </a:r>
            <a:r>
              <a:rPr lang="en-US" altLang="zh-CN" sz="2000" b="1" dirty="0" err="1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int</a:t>
            </a:r>
            <a:r>
              <a:rPr lang="en-US" altLang="zh-CN" sz="2000" b="1" dirty="0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 </a:t>
            </a:r>
            <a:r>
              <a:rPr lang="en-US" altLang="zh-CN" sz="2000" b="1" dirty="0" err="1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i</a:t>
            </a:r>
            <a:r>
              <a:rPr lang="en-US" altLang="zh-CN" sz="2000" b="1" dirty="0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, num;</a:t>
            </a:r>
          </a:p>
          <a:p>
            <a:pPr marL="457200" indent="-457200">
              <a:tabLst>
                <a:tab pos="914400" algn="l"/>
              </a:tabLst>
            </a:pPr>
            <a:r>
              <a:rPr lang="en-US" altLang="zh-CN" sz="2000" b="1" dirty="0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    STUINFO *</a:t>
            </a:r>
            <a:r>
              <a:rPr lang="en-US" altLang="zh-CN" sz="2000" b="1" dirty="0" err="1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pstu</a:t>
            </a:r>
            <a:r>
              <a:rPr lang="en-US" altLang="zh-CN" sz="2000" b="1" dirty="0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;</a:t>
            </a:r>
          </a:p>
          <a:p>
            <a:pPr marL="457200" indent="-457200">
              <a:tabLst>
                <a:tab pos="914400" algn="l"/>
              </a:tabLst>
            </a:pPr>
            <a:r>
              <a:rPr lang="en-US" altLang="zh-CN" sz="2000" b="1" dirty="0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    </a:t>
            </a:r>
            <a:r>
              <a:rPr lang="en-US" altLang="zh-CN" sz="2000" b="1" dirty="0">
                <a:solidFill>
                  <a:schemeClr val="accent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楷体" pitchFamily="49" charset="-122"/>
              </a:rPr>
              <a:t>//</a:t>
            </a:r>
            <a:r>
              <a:rPr lang="zh-CN" altLang="en-US" sz="2000" b="1" dirty="0">
                <a:solidFill>
                  <a:schemeClr val="accent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楷体" pitchFamily="49" charset="-122"/>
              </a:rPr>
              <a:t>输入学生人数</a:t>
            </a:r>
          </a:p>
          <a:p>
            <a:pPr marL="457200" indent="-457200">
              <a:tabLst>
                <a:tab pos="914400" algn="l"/>
              </a:tabLst>
            </a:pPr>
            <a:r>
              <a:rPr lang="zh-CN" altLang="en-US" sz="2000" b="1" dirty="0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    </a:t>
            </a:r>
            <a:r>
              <a:rPr lang="en-US" altLang="zh-CN" sz="2000" b="1" dirty="0" err="1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printf</a:t>
            </a:r>
            <a:r>
              <a:rPr lang="en-US" altLang="zh-CN" sz="2000" b="1" dirty="0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 ("input the number of students: ");  </a:t>
            </a:r>
          </a:p>
          <a:p>
            <a:pPr marL="457200" indent="-457200">
              <a:tabLst>
                <a:tab pos="914400" algn="l"/>
              </a:tabLst>
            </a:pPr>
            <a:r>
              <a:rPr lang="en-US" altLang="zh-CN" sz="2000" b="1" dirty="0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    </a:t>
            </a:r>
            <a:r>
              <a:rPr lang="en-US" altLang="zh-CN" sz="2000" b="1" dirty="0" err="1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scanf</a:t>
            </a:r>
            <a:r>
              <a:rPr lang="en-US" altLang="zh-CN" sz="2000" b="1" dirty="0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 ("%d", &amp;num);</a:t>
            </a:r>
          </a:p>
          <a:p>
            <a:pPr marL="457200" indent="-457200">
              <a:tabLst>
                <a:tab pos="914400" algn="l"/>
              </a:tabLst>
            </a:pPr>
            <a:r>
              <a:rPr lang="en-US" altLang="zh-CN" sz="2000" b="1" dirty="0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    </a:t>
            </a:r>
            <a:r>
              <a:rPr lang="en-US" altLang="zh-CN" sz="2000" b="1" dirty="0" err="1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fflush</a:t>
            </a:r>
            <a:r>
              <a:rPr lang="en-US" altLang="zh-CN" sz="2000" b="1" dirty="0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 (</a:t>
            </a:r>
            <a:r>
              <a:rPr lang="en-US" altLang="zh-CN" sz="2000" b="1" dirty="0" err="1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stdin</a:t>
            </a:r>
            <a:r>
              <a:rPr lang="en-US" altLang="zh-CN" sz="2000" b="1" dirty="0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);</a:t>
            </a:r>
          </a:p>
          <a:p>
            <a:pPr marL="457200" indent="-457200">
              <a:tabLst>
                <a:tab pos="914400" algn="l"/>
              </a:tabLst>
            </a:pPr>
            <a:r>
              <a:rPr lang="en-US" altLang="zh-CN" sz="2000" b="1" dirty="0">
                <a:solidFill>
                  <a:schemeClr val="accent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楷体" pitchFamily="49" charset="-122"/>
              </a:rPr>
              <a:t>    //</a:t>
            </a:r>
            <a:r>
              <a:rPr lang="zh-CN" altLang="en-US" sz="2000" b="1" dirty="0">
                <a:solidFill>
                  <a:schemeClr val="accent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楷体" pitchFamily="49" charset="-122"/>
              </a:rPr>
              <a:t>动态分配内存</a:t>
            </a:r>
          </a:p>
          <a:p>
            <a:pPr marL="457200" indent="-457200">
              <a:tabLst>
                <a:tab pos="914400" algn="l"/>
              </a:tabLst>
            </a:pPr>
            <a:r>
              <a:rPr lang="zh-CN" altLang="en-US" sz="2000" b="1" dirty="0">
                <a:solidFill>
                  <a:srgbClr val="FF33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楷体_GB2312" pitchFamily="49" charset="-122"/>
              </a:rPr>
              <a:t>    </a:t>
            </a:r>
            <a:r>
              <a:rPr lang="en-US" altLang="zh-CN" sz="2000" b="1" dirty="0" err="1">
                <a:solidFill>
                  <a:srgbClr val="FF33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楷体_GB2312" pitchFamily="49" charset="-122"/>
              </a:rPr>
              <a:t>pstu</a:t>
            </a:r>
            <a:r>
              <a:rPr lang="en-US" altLang="zh-CN" sz="2000" b="1" dirty="0">
                <a:solidFill>
                  <a:srgbClr val="FF33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楷体_GB2312" pitchFamily="49" charset="-122"/>
              </a:rPr>
              <a:t> = (STUINFO *) </a:t>
            </a:r>
            <a:r>
              <a:rPr lang="en-US" altLang="zh-CN" sz="2000" b="1" dirty="0" err="1">
                <a:solidFill>
                  <a:srgbClr val="FF33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楷体_GB2312" pitchFamily="49" charset="-122"/>
              </a:rPr>
              <a:t>malloc</a:t>
            </a:r>
            <a:r>
              <a:rPr lang="en-US" altLang="zh-CN" sz="2000" b="1" dirty="0">
                <a:solidFill>
                  <a:srgbClr val="FF33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楷体_GB2312" pitchFamily="49" charset="-122"/>
              </a:rPr>
              <a:t> (num * </a:t>
            </a:r>
            <a:r>
              <a:rPr lang="en-US" altLang="zh-CN" sz="2000" b="1" dirty="0" err="1">
                <a:solidFill>
                  <a:srgbClr val="FF33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楷体_GB2312" pitchFamily="49" charset="-122"/>
              </a:rPr>
              <a:t>sizeof</a:t>
            </a:r>
            <a:r>
              <a:rPr lang="en-US" altLang="zh-CN" sz="2000" b="1" dirty="0">
                <a:solidFill>
                  <a:srgbClr val="FF33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楷体_GB2312" pitchFamily="49" charset="-122"/>
              </a:rPr>
              <a:t>(STUINFO));</a:t>
            </a:r>
            <a:r>
              <a:rPr lang="en-US" altLang="zh-CN" sz="2000" b="1" dirty="0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  </a:t>
            </a:r>
          </a:p>
          <a:p>
            <a:pPr marL="457200" indent="-457200">
              <a:tabLst>
                <a:tab pos="914400" algn="l"/>
              </a:tabLst>
            </a:pPr>
            <a:r>
              <a:rPr lang="en-US" altLang="zh-CN" sz="2000" b="1" dirty="0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    if (</a:t>
            </a:r>
            <a:r>
              <a:rPr lang="en-US" altLang="zh-CN" sz="2000" b="1" dirty="0" err="1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pstu</a:t>
            </a:r>
            <a:r>
              <a:rPr lang="en-US" altLang="zh-CN" sz="2000" b="1" dirty="0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 == NULL)   </a:t>
            </a:r>
            <a:r>
              <a:rPr lang="en-US" altLang="zh-CN" sz="2000" b="1" dirty="0">
                <a:solidFill>
                  <a:schemeClr val="accent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楷体" pitchFamily="49" charset="-122"/>
              </a:rPr>
              <a:t>//</a:t>
            </a:r>
            <a:r>
              <a:rPr lang="zh-CN" altLang="en-US" sz="2000" b="1" dirty="0">
                <a:solidFill>
                  <a:schemeClr val="accent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楷体" pitchFamily="49" charset="-122"/>
              </a:rPr>
              <a:t>内存分配失败</a:t>
            </a:r>
          </a:p>
          <a:p>
            <a:pPr marL="457200" indent="-457200">
              <a:tabLst>
                <a:tab pos="914400" algn="l"/>
              </a:tabLst>
            </a:pPr>
            <a:r>
              <a:rPr lang="zh-CN" altLang="en-US" sz="2000" b="1" dirty="0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    </a:t>
            </a:r>
            <a:r>
              <a:rPr lang="en-US" altLang="zh-CN" sz="2000" b="1" dirty="0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{</a:t>
            </a:r>
          </a:p>
          <a:p>
            <a:pPr marL="457200" indent="-457200">
              <a:tabLst>
                <a:tab pos="914400" algn="l"/>
              </a:tabLst>
            </a:pPr>
            <a:r>
              <a:rPr lang="en-US" altLang="zh-CN" sz="2000" b="1" dirty="0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      </a:t>
            </a:r>
            <a:r>
              <a:rPr lang="en-US" altLang="zh-CN" sz="2000" b="1" dirty="0" err="1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printf</a:t>
            </a:r>
            <a:r>
              <a:rPr lang="en-US" altLang="zh-CN" sz="2000" b="1" dirty="0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 ("not enough memory\n");</a:t>
            </a:r>
          </a:p>
          <a:p>
            <a:pPr marL="457200" indent="-457200">
              <a:tabLst>
                <a:tab pos="914400" algn="l"/>
              </a:tabLst>
            </a:pPr>
            <a:r>
              <a:rPr lang="en-US" altLang="zh-CN" sz="2000" b="1" dirty="0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      return;</a:t>
            </a:r>
          </a:p>
          <a:p>
            <a:pPr marL="457200" indent="-457200">
              <a:tabLst>
                <a:tab pos="914400" algn="l"/>
              </a:tabLst>
            </a:pPr>
            <a:r>
              <a:rPr lang="en-US" altLang="zh-CN" sz="2000" b="1" dirty="0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    }</a:t>
            </a:r>
          </a:p>
        </p:txBody>
      </p:sp>
      <p:grpSp>
        <p:nvGrpSpPr>
          <p:cNvPr id="1088558" name="Group 46"/>
          <p:cNvGrpSpPr>
            <a:grpSpLocks/>
          </p:cNvGrpSpPr>
          <p:nvPr/>
        </p:nvGrpSpPr>
        <p:grpSpPr bwMode="auto">
          <a:xfrm>
            <a:off x="-9822" y="0"/>
            <a:ext cx="446088" cy="6858000"/>
            <a:chOff x="0" y="0"/>
            <a:chExt cx="281" cy="4320"/>
          </a:xfrm>
        </p:grpSpPr>
        <p:sp>
          <p:nvSpPr>
            <p:cNvPr id="1088559" name="Text Box 47"/>
            <p:cNvSpPr txBox="1">
              <a:spLocks noChangeArrowheads="1"/>
            </p:cNvSpPr>
            <p:nvPr/>
          </p:nvSpPr>
          <p:spPr bwMode="auto">
            <a:xfrm>
              <a:off x="0" y="0"/>
              <a:ext cx="281" cy="4320"/>
            </a:xfrm>
            <a:prstGeom prst="rect">
              <a:avLst/>
            </a:prstGeom>
            <a:gradFill rotWithShape="0">
              <a:gsLst>
                <a:gs pos="0">
                  <a:schemeClr val="hlink">
                    <a:gamma/>
                    <a:shade val="60784"/>
                    <a:invGamma/>
                  </a:schemeClr>
                </a:gs>
                <a:gs pos="50000">
                  <a:schemeClr val="hlink"/>
                </a:gs>
                <a:gs pos="100000">
                  <a:schemeClr val="hlink">
                    <a:gamma/>
                    <a:shade val="60784"/>
                    <a:invGamma/>
                  </a:schemeClr>
                </a:gs>
              </a:gsLst>
              <a:lin ang="0" scaled="1"/>
            </a:gradFill>
            <a:ln w="9525">
              <a:noFill/>
              <a:miter lim="800000"/>
              <a:headEnd/>
              <a:tailEnd/>
            </a:ln>
            <a:effectLst/>
          </p:spPr>
          <p:txBody>
            <a:bodyPr/>
            <a:lstStyle/>
            <a:p>
              <a:pPr eaLnBrk="0" hangingPunct="0">
                <a:spcBef>
                  <a:spcPct val="50000"/>
                </a:spcBef>
              </a:pPr>
              <a:endParaRPr lang="en-US" altLang="zh-CN" sz="1800" dirty="0">
                <a:solidFill>
                  <a:srgbClr val="3333CC"/>
                </a:solidFill>
                <a:latin typeface="Verdana" pitchFamily="34" charset="0"/>
              </a:endParaRPr>
            </a:p>
            <a:p>
              <a:pPr eaLnBrk="0" hangingPunct="0">
                <a:spcBef>
                  <a:spcPct val="50000"/>
                </a:spcBef>
              </a:pPr>
              <a:r>
                <a:rPr lang="zh-CN" altLang="en-US" sz="1600" b="1" dirty="0">
                  <a:solidFill>
                    <a:srgbClr val="3333CC"/>
                  </a:solidFill>
                  <a:latin typeface="Verdana" pitchFamily="34" charset="0"/>
                </a:rPr>
                <a:t>语言程序设计教程       </a:t>
              </a:r>
            </a:p>
            <a:p>
              <a:pPr eaLnBrk="0" hangingPunct="0">
                <a:spcBef>
                  <a:spcPct val="50000"/>
                </a:spcBef>
              </a:pPr>
              <a:r>
                <a:rPr lang="zh-CN" altLang="en-US" sz="1600" b="1" dirty="0">
                  <a:solidFill>
                    <a:srgbClr val="3333CC"/>
                  </a:solidFill>
                  <a:latin typeface="Verdana" pitchFamily="34" charset="0"/>
                </a:rPr>
                <a:t>第三版</a:t>
              </a:r>
            </a:p>
            <a:p>
              <a:pPr eaLnBrk="0" hangingPunct="0">
                <a:spcBef>
                  <a:spcPct val="50000"/>
                </a:spcBef>
              </a:pPr>
              <a:endParaRPr lang="zh-CN" altLang="en-US" sz="1600" b="1" dirty="0">
                <a:solidFill>
                  <a:srgbClr val="3333CC"/>
                </a:solidFill>
                <a:latin typeface="Verdana" pitchFamily="34" charset="0"/>
              </a:endParaRPr>
            </a:p>
            <a:p>
              <a:pPr eaLnBrk="0" hangingPunct="0">
                <a:spcBef>
                  <a:spcPct val="50000"/>
                </a:spcBef>
              </a:pPr>
              <a:endParaRPr lang="zh-CN" altLang="en-US" sz="1600" b="1" dirty="0">
                <a:solidFill>
                  <a:srgbClr val="3333CC"/>
                </a:solidFill>
                <a:latin typeface="Verdana" pitchFamily="34" charset="0"/>
              </a:endParaRPr>
            </a:p>
            <a:p>
              <a:pPr eaLnBrk="0" hangingPunct="0">
                <a:spcBef>
                  <a:spcPct val="50000"/>
                </a:spcBef>
              </a:pPr>
              <a:r>
                <a:rPr lang="zh-CN" altLang="en-US" sz="1600" b="1" dirty="0">
                  <a:solidFill>
                    <a:srgbClr val="3333CC"/>
                  </a:solidFill>
                  <a:latin typeface="Verdana" pitchFamily="34" charset="0"/>
                </a:rPr>
                <a:t>第十</a:t>
              </a:r>
            </a:p>
            <a:p>
              <a:pPr eaLnBrk="0" hangingPunct="0">
                <a:spcBef>
                  <a:spcPct val="50000"/>
                </a:spcBef>
              </a:pPr>
              <a:r>
                <a:rPr lang="zh-CN" altLang="en-US" sz="1600" b="1" dirty="0">
                  <a:solidFill>
                    <a:srgbClr val="3333CC"/>
                  </a:solidFill>
                  <a:latin typeface="Verdana" pitchFamily="34" charset="0"/>
                </a:rPr>
                <a:t>二章 </a:t>
              </a:r>
            </a:p>
            <a:p>
              <a:pPr eaLnBrk="0" hangingPunct="0">
                <a:spcBef>
                  <a:spcPct val="50000"/>
                </a:spcBef>
              </a:pPr>
              <a:endParaRPr lang="zh-CN" altLang="en-US" sz="1600" b="1" dirty="0">
                <a:solidFill>
                  <a:srgbClr val="3333CC"/>
                </a:solidFill>
                <a:latin typeface="Verdana" pitchFamily="34" charset="0"/>
              </a:endParaRPr>
            </a:p>
            <a:p>
              <a:pPr eaLnBrk="0" hangingPunct="0">
                <a:spcBef>
                  <a:spcPct val="50000"/>
                </a:spcBef>
              </a:pPr>
              <a:r>
                <a:rPr lang="zh-CN" altLang="en-US" sz="1600" b="1" dirty="0">
                  <a:solidFill>
                    <a:srgbClr val="3333CC"/>
                  </a:solidFill>
                  <a:latin typeface="Verdana" pitchFamily="34" charset="0"/>
                </a:rPr>
                <a:t>文</a:t>
              </a:r>
            </a:p>
            <a:p>
              <a:pPr eaLnBrk="0" hangingPunct="0">
                <a:spcBef>
                  <a:spcPct val="50000"/>
                </a:spcBef>
              </a:pPr>
              <a:endParaRPr lang="zh-CN" altLang="en-US" sz="1600" b="1" dirty="0">
                <a:solidFill>
                  <a:srgbClr val="3333CC"/>
                </a:solidFill>
                <a:latin typeface="Verdana" pitchFamily="34" charset="0"/>
              </a:endParaRPr>
            </a:p>
            <a:p>
              <a:pPr eaLnBrk="0" hangingPunct="0">
                <a:spcBef>
                  <a:spcPct val="50000"/>
                </a:spcBef>
              </a:pPr>
              <a:r>
                <a:rPr lang="zh-CN" altLang="en-US" sz="1600" b="1" dirty="0">
                  <a:solidFill>
                    <a:srgbClr val="3333CC"/>
                  </a:solidFill>
                  <a:latin typeface="Verdana" pitchFamily="34" charset="0"/>
                </a:rPr>
                <a:t>件</a:t>
              </a:r>
            </a:p>
          </p:txBody>
        </p:sp>
        <p:sp>
          <p:nvSpPr>
            <p:cNvPr id="1088560" name="Text Box 48"/>
            <p:cNvSpPr txBox="1">
              <a:spLocks noChangeArrowheads="1"/>
            </p:cNvSpPr>
            <p:nvPr/>
          </p:nvSpPr>
          <p:spPr bwMode="auto">
            <a:xfrm>
              <a:off x="0" y="0"/>
              <a:ext cx="281" cy="231"/>
            </a:xfrm>
            <a:prstGeom prst="rect">
              <a:avLst/>
            </a:prstGeom>
            <a:gradFill rotWithShape="0">
              <a:gsLst>
                <a:gs pos="0">
                  <a:schemeClr val="hlink">
                    <a:gamma/>
                    <a:shade val="46275"/>
                    <a:invGamma/>
                  </a:schemeClr>
                </a:gs>
                <a:gs pos="50000">
                  <a:schemeClr val="hlink"/>
                </a:gs>
                <a:gs pos="100000">
                  <a:schemeClr val="hlink">
                    <a:gamma/>
                    <a:shade val="46275"/>
                    <a:invGamma/>
                  </a:schemeClr>
                </a:gs>
              </a:gsLst>
              <a:lin ang="0" scaled="1"/>
            </a:gradFill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eaLnBrk="0" hangingPunct="0">
                <a:spcBef>
                  <a:spcPct val="50000"/>
                </a:spcBef>
              </a:pPr>
              <a:r>
                <a:rPr lang="en-US" altLang="zh-CN" sz="1800" b="1">
                  <a:solidFill>
                    <a:srgbClr val="0000FF"/>
                  </a:solidFill>
                  <a:latin typeface="Arial" pitchFamily="34" charset="0"/>
                </a:rPr>
                <a:t>C</a:t>
              </a:r>
            </a:p>
          </p:txBody>
        </p:sp>
      </p:grpSp>
    </p:spTree>
  </p:cSld>
  <p:clrMapOvr>
    <a:masterClrMapping/>
  </p:clrMapOvr>
  <p:transition>
    <p:cover/>
    <p:sndAc>
      <p:stSnd>
        <p:snd r:embed="rId3" name="CAMER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85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7" dur="500"/>
                                        <p:tgtEl>
                                          <p:spTgt spid="1088514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85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2" dur="500"/>
                                        <p:tgtEl>
                                          <p:spTgt spid="1088556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88514" grpId="0" animBg="1"/>
      <p:bldP spid="1088556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0566" name="Rectangle 6"/>
          <p:cNvSpPr>
            <a:spLocks noChangeArrowheads="1"/>
          </p:cNvSpPr>
          <p:nvPr/>
        </p:nvSpPr>
        <p:spPr bwMode="auto">
          <a:xfrm>
            <a:off x="47328" y="151755"/>
            <a:ext cx="11837826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anchor="ctr">
            <a:spAutoFit/>
          </a:bodyPr>
          <a:lstStyle/>
          <a:p>
            <a:r>
              <a:rPr lang="en-US" altLang="zh-CN" b="1" dirty="0">
                <a:solidFill>
                  <a:srgbClr val="CC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隶书" pitchFamily="49" charset="-122"/>
                <a:ea typeface="隶书" pitchFamily="49" charset="-122"/>
              </a:rPr>
              <a:t>   【</a:t>
            </a:r>
            <a:r>
              <a:rPr lang="zh-CN" altLang="en-US" b="1" dirty="0">
                <a:solidFill>
                  <a:srgbClr val="CC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隶书" pitchFamily="49" charset="-122"/>
                <a:ea typeface="隶书" pitchFamily="49" charset="-122"/>
              </a:rPr>
              <a:t>例</a:t>
            </a:r>
            <a:r>
              <a:rPr lang="en-US" altLang="zh-CN" b="1" dirty="0">
                <a:solidFill>
                  <a:srgbClr val="CC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隶书" pitchFamily="49" charset="-122"/>
                <a:ea typeface="隶书" pitchFamily="49" charset="-122"/>
              </a:rPr>
              <a:t>6】</a:t>
            </a:r>
            <a:r>
              <a:rPr lang="zh-CN" altLang="en-US" b="1" dirty="0">
                <a:solidFill>
                  <a:srgbClr val="CC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隶书" pitchFamily="49" charset="-122"/>
                <a:ea typeface="隶书" pitchFamily="49" charset="-122"/>
              </a:rPr>
              <a:t>将多个学生的基本信息存放到</a:t>
            </a:r>
            <a:r>
              <a:rPr lang="en-US" altLang="zh-CN" b="1" dirty="0">
                <a:solidFill>
                  <a:srgbClr val="CC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隶书" pitchFamily="49" charset="-122"/>
              </a:rPr>
              <a:t>student.dat</a:t>
            </a:r>
            <a:r>
              <a:rPr lang="zh-CN" altLang="en-US" b="1" dirty="0">
                <a:solidFill>
                  <a:srgbClr val="CC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隶书" pitchFamily="49" charset="-122"/>
                <a:ea typeface="隶书" pitchFamily="49" charset="-122"/>
              </a:rPr>
              <a:t>文件中，然后从文件中读出并显示。</a:t>
            </a:r>
          </a:p>
        </p:txBody>
      </p:sp>
      <p:sp>
        <p:nvSpPr>
          <p:cNvPr id="1090568" name="Rectangle 8" descr="信纸"/>
          <p:cNvSpPr>
            <a:spLocks noChangeArrowheads="1"/>
          </p:cNvSpPr>
          <p:nvPr/>
        </p:nvSpPr>
        <p:spPr bwMode="auto">
          <a:xfrm>
            <a:off x="597062" y="836614"/>
            <a:ext cx="5443537" cy="5616575"/>
          </a:xfrm>
          <a:prstGeom prst="rect">
            <a:avLst/>
          </a:prstGeom>
          <a:blipFill dpi="0" rotWithShape="1">
            <a:blip r:embed="rId4" cstate="print"/>
            <a:srcRect/>
            <a:tile tx="0" ty="0" sx="100000" sy="100000" flip="none" algn="tl"/>
          </a:blipFill>
          <a:ln w="38100">
            <a:solidFill>
              <a:srgbClr val="008000"/>
            </a:solidFill>
            <a:miter lim="800000"/>
            <a:headEnd/>
            <a:tailEnd/>
          </a:ln>
          <a:effectLst>
            <a:outerShdw blurRad="50800" dist="106680" dir="2700000" algn="tl" rotWithShape="0">
              <a:prstClr val="black">
                <a:alpha val="43000"/>
              </a:prstClr>
            </a:outerShdw>
          </a:effectLst>
          <a:scene3d>
            <a:camera prst="orthographicFront"/>
            <a:lightRig rig="threePt" dir="t"/>
          </a:scene3d>
          <a:sp3d>
            <a:bevelT w="114300" prst="hardEdge"/>
          </a:sp3d>
        </p:spPr>
        <p:txBody>
          <a:bodyPr wrap="none" anchor="ctr">
            <a:spAutoFit/>
          </a:bodyPr>
          <a:lstStyle/>
          <a:p>
            <a:pPr marL="457200" indent="-457200">
              <a:tabLst>
                <a:tab pos="914400" algn="l"/>
              </a:tabLst>
            </a:pPr>
            <a:r>
              <a:rPr lang="en-US" altLang="zh-CN" sz="2000" b="1" dirty="0">
                <a:effectLst>
                  <a:outerShdw blurRad="38100" dist="38100" dir="2700000" algn="tl">
                    <a:srgbClr val="FFFFFF"/>
                  </a:outerShdw>
                </a:effectLst>
              </a:rPr>
              <a:t>    for (</a:t>
            </a:r>
            <a:r>
              <a:rPr lang="en-US" altLang="zh-CN" sz="2000" b="1" dirty="0" err="1">
                <a:effectLst>
                  <a:outerShdw blurRad="38100" dist="38100" dir="2700000" algn="tl">
                    <a:srgbClr val="FFFFFF"/>
                  </a:outerShdw>
                </a:effectLst>
              </a:rPr>
              <a:t>i</a:t>
            </a:r>
            <a:r>
              <a:rPr lang="en-US" altLang="zh-CN" sz="2000" b="1" dirty="0">
                <a:effectLst>
                  <a:outerShdw blurRad="38100" dist="38100" dir="2700000" algn="tl">
                    <a:srgbClr val="FFFFFF"/>
                  </a:outerShdw>
                </a:effectLst>
              </a:rPr>
              <a:t> = 0; </a:t>
            </a:r>
            <a:r>
              <a:rPr lang="en-US" altLang="zh-CN" sz="2000" b="1" dirty="0" err="1">
                <a:effectLst>
                  <a:outerShdw blurRad="38100" dist="38100" dir="2700000" algn="tl">
                    <a:srgbClr val="FFFFFF"/>
                  </a:outerShdw>
                </a:effectLst>
              </a:rPr>
              <a:t>i</a:t>
            </a:r>
            <a:r>
              <a:rPr lang="en-US" altLang="zh-CN" sz="2000" b="1" dirty="0">
                <a:effectLst>
                  <a:outerShdw blurRad="38100" dist="38100" dir="2700000" algn="tl">
                    <a:srgbClr val="FFFFFF"/>
                  </a:outerShdw>
                </a:effectLst>
              </a:rPr>
              <a:t> &lt; num; </a:t>
            </a:r>
            <a:r>
              <a:rPr lang="en-US" altLang="zh-CN" sz="2000" b="1" dirty="0" err="1">
                <a:effectLst>
                  <a:outerShdw blurRad="38100" dist="38100" dir="2700000" algn="tl">
                    <a:srgbClr val="FFFFFF"/>
                  </a:outerShdw>
                </a:effectLst>
              </a:rPr>
              <a:t>i</a:t>
            </a:r>
            <a:r>
              <a:rPr lang="en-US" altLang="zh-CN" sz="2000" b="1" dirty="0">
                <a:effectLst>
                  <a:outerShdw blurRad="38100" dist="38100" dir="2700000" algn="tl">
                    <a:srgbClr val="FFFFFF"/>
                  </a:outerShdw>
                </a:effectLst>
              </a:rPr>
              <a:t>++)   </a:t>
            </a:r>
            <a:r>
              <a:rPr lang="en-US" altLang="zh-CN" sz="2000" b="1" dirty="0">
                <a:solidFill>
                  <a:schemeClr val="accent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楷体" pitchFamily="49" charset="-122"/>
              </a:rPr>
              <a:t>//</a:t>
            </a:r>
            <a:r>
              <a:rPr lang="zh-CN" altLang="en-US" sz="2000" b="1" dirty="0">
                <a:solidFill>
                  <a:schemeClr val="accent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楷体" pitchFamily="49" charset="-122"/>
              </a:rPr>
              <a:t>输入学生信息</a:t>
            </a:r>
          </a:p>
          <a:p>
            <a:pPr marL="457200" indent="-457200">
              <a:tabLst>
                <a:tab pos="914400" algn="l"/>
              </a:tabLst>
            </a:pPr>
            <a:r>
              <a:rPr lang="zh-CN" altLang="en-US" sz="2000" b="1" dirty="0">
                <a:effectLst>
                  <a:outerShdw blurRad="38100" dist="38100" dir="2700000" algn="tl">
                    <a:srgbClr val="FFFFFF"/>
                  </a:outerShdw>
                </a:effectLst>
              </a:rPr>
              <a:t>    </a:t>
            </a:r>
            <a:r>
              <a:rPr lang="en-US" altLang="zh-CN" sz="2000" b="1" dirty="0">
                <a:effectLst>
                  <a:outerShdw blurRad="38100" dist="38100" dir="2700000" algn="tl">
                    <a:srgbClr val="FFFFFF"/>
                  </a:outerShdw>
                </a:effectLst>
              </a:rPr>
              <a:t>{</a:t>
            </a:r>
          </a:p>
          <a:p>
            <a:pPr marL="457200" indent="-457200">
              <a:tabLst>
                <a:tab pos="914400" algn="l"/>
              </a:tabLst>
            </a:pPr>
            <a:r>
              <a:rPr lang="en-US" altLang="zh-CN" sz="2000" b="1" dirty="0">
                <a:effectLst>
                  <a:outerShdw blurRad="38100" dist="38100" dir="2700000" algn="tl">
                    <a:srgbClr val="FFFFFF"/>
                  </a:outerShdw>
                </a:effectLst>
              </a:rPr>
              <a:t>      </a:t>
            </a:r>
            <a:r>
              <a:rPr lang="en-US" altLang="zh-CN" sz="2000" b="1" dirty="0" err="1">
                <a:effectLst>
                  <a:outerShdw blurRad="38100" dist="38100" dir="2700000" algn="tl">
                    <a:srgbClr val="FFFFFF"/>
                  </a:outerShdw>
                </a:effectLst>
              </a:rPr>
              <a:t>printf</a:t>
            </a:r>
            <a:r>
              <a:rPr lang="en-US" altLang="zh-CN" sz="2000" b="1" dirty="0">
                <a:effectLst>
                  <a:outerShdw blurRad="38100" dist="38100" dir="2700000" algn="tl">
                    <a:srgbClr val="FFFFFF"/>
                  </a:outerShdw>
                </a:effectLst>
              </a:rPr>
              <a:t> ("the %</a:t>
            </a:r>
            <a:r>
              <a:rPr lang="en-US" altLang="zh-CN" sz="2000" b="1" dirty="0" err="1">
                <a:effectLst>
                  <a:outerShdw blurRad="38100" dist="38100" dir="2700000" algn="tl">
                    <a:srgbClr val="FFFFFF"/>
                  </a:outerShdw>
                </a:effectLst>
              </a:rPr>
              <a:t>dth</a:t>
            </a:r>
            <a:r>
              <a:rPr lang="en-US" altLang="zh-CN" sz="2000" b="1" dirty="0">
                <a:effectLst>
                  <a:outerShdw blurRad="38100" dist="38100" dir="2700000" algn="tl">
                    <a:srgbClr val="FFFFFF"/>
                  </a:outerShdw>
                </a:effectLst>
              </a:rPr>
              <a:t> student: no = ", i+1);</a:t>
            </a:r>
          </a:p>
          <a:p>
            <a:pPr marL="457200" indent="-457200">
              <a:tabLst>
                <a:tab pos="914400" algn="l"/>
              </a:tabLst>
            </a:pPr>
            <a:r>
              <a:rPr lang="en-US" altLang="zh-CN" sz="2000" b="1" dirty="0">
                <a:effectLst>
                  <a:outerShdw blurRad="38100" dist="38100" dir="2700000" algn="tl">
                    <a:srgbClr val="FFFFFF"/>
                  </a:outerShdw>
                </a:effectLst>
              </a:rPr>
              <a:t>      gets (</a:t>
            </a:r>
            <a:r>
              <a:rPr lang="en-US" altLang="zh-CN" sz="2000" b="1" dirty="0" err="1">
                <a:effectLst>
                  <a:outerShdw blurRad="38100" dist="38100" dir="2700000" algn="tl">
                    <a:srgbClr val="FFFFFF"/>
                  </a:outerShdw>
                </a:effectLst>
              </a:rPr>
              <a:t>pstu</a:t>
            </a:r>
            <a:r>
              <a:rPr lang="en-US" altLang="zh-CN" sz="2000" b="1" dirty="0">
                <a:effectLst>
                  <a:outerShdw blurRad="38100" dist="38100" dir="2700000" algn="tl">
                    <a:srgbClr val="FFFFFF"/>
                  </a:outerShdw>
                </a:effectLst>
              </a:rPr>
              <a:t>[</a:t>
            </a:r>
            <a:r>
              <a:rPr lang="en-US" altLang="zh-CN" sz="2000" b="1" dirty="0" err="1">
                <a:effectLst>
                  <a:outerShdw blurRad="38100" dist="38100" dir="2700000" algn="tl">
                    <a:srgbClr val="FFFFFF"/>
                  </a:outerShdw>
                </a:effectLst>
              </a:rPr>
              <a:t>i</a:t>
            </a:r>
            <a:r>
              <a:rPr lang="en-US" altLang="zh-CN" sz="2000" b="1" dirty="0">
                <a:effectLst>
                  <a:outerShdw blurRad="38100" dist="38100" dir="2700000" algn="tl">
                    <a:srgbClr val="FFFFFF"/>
                  </a:outerShdw>
                </a:effectLst>
              </a:rPr>
              <a:t>].no);</a:t>
            </a:r>
          </a:p>
          <a:p>
            <a:pPr marL="457200" indent="-457200">
              <a:tabLst>
                <a:tab pos="914400" algn="l"/>
              </a:tabLst>
            </a:pPr>
            <a:r>
              <a:rPr lang="en-US" altLang="zh-CN" sz="2000" b="1" dirty="0">
                <a:effectLst>
                  <a:outerShdw blurRad="38100" dist="38100" dir="2700000" algn="tl">
                    <a:srgbClr val="FFFFFF"/>
                  </a:outerShdw>
                </a:effectLst>
              </a:rPr>
              <a:t>      </a:t>
            </a:r>
            <a:r>
              <a:rPr lang="en-US" altLang="zh-CN" sz="2000" b="1" dirty="0" err="1">
                <a:effectLst>
                  <a:outerShdw blurRad="38100" dist="38100" dir="2700000" algn="tl">
                    <a:srgbClr val="FFFFFF"/>
                  </a:outerShdw>
                </a:effectLst>
              </a:rPr>
              <a:t>fflush</a:t>
            </a:r>
            <a:r>
              <a:rPr lang="en-US" altLang="zh-CN" sz="2000" b="1" dirty="0">
                <a:effectLst>
                  <a:outerShdw blurRad="38100" dist="38100" dir="2700000" algn="tl">
                    <a:srgbClr val="FFFFFF"/>
                  </a:outerShdw>
                </a:effectLst>
              </a:rPr>
              <a:t> (</a:t>
            </a:r>
            <a:r>
              <a:rPr lang="en-US" altLang="zh-CN" sz="2000" b="1" dirty="0" err="1">
                <a:effectLst>
                  <a:outerShdw blurRad="38100" dist="38100" dir="2700000" algn="tl">
                    <a:srgbClr val="FFFFFF"/>
                  </a:outerShdw>
                </a:effectLst>
              </a:rPr>
              <a:t>stdin</a:t>
            </a:r>
            <a:r>
              <a:rPr lang="en-US" altLang="zh-CN" sz="2000" b="1" dirty="0">
                <a:effectLst>
                  <a:outerShdw blurRad="38100" dist="38100" dir="2700000" algn="tl">
                    <a:srgbClr val="FFFFFF"/>
                  </a:outerShdw>
                </a:effectLst>
              </a:rPr>
              <a:t>);</a:t>
            </a:r>
          </a:p>
          <a:p>
            <a:pPr marL="457200" indent="-457200">
              <a:tabLst>
                <a:tab pos="914400" algn="l"/>
              </a:tabLst>
            </a:pPr>
            <a:r>
              <a:rPr lang="en-US" altLang="zh-CN" sz="2000" b="1" dirty="0">
                <a:effectLst>
                  <a:outerShdw blurRad="38100" dist="38100" dir="2700000" algn="tl">
                    <a:srgbClr val="FFFFFF"/>
                  </a:outerShdw>
                </a:effectLst>
              </a:rPr>
              <a:t>      </a:t>
            </a:r>
            <a:r>
              <a:rPr lang="en-US" altLang="zh-CN" sz="2000" b="1" dirty="0" err="1">
                <a:effectLst>
                  <a:outerShdw blurRad="38100" dist="38100" dir="2700000" algn="tl">
                    <a:srgbClr val="FFFFFF"/>
                  </a:outerShdw>
                </a:effectLst>
              </a:rPr>
              <a:t>printf</a:t>
            </a:r>
            <a:r>
              <a:rPr lang="en-US" altLang="zh-CN" sz="2000" b="1" dirty="0">
                <a:effectLst>
                  <a:outerShdw blurRad="38100" dist="38100" dir="2700000" algn="tl">
                    <a:srgbClr val="FFFFFF"/>
                  </a:outerShdw>
                </a:effectLst>
              </a:rPr>
              <a:t> ("the %</a:t>
            </a:r>
            <a:r>
              <a:rPr lang="en-US" altLang="zh-CN" sz="2000" b="1" dirty="0" err="1">
                <a:effectLst>
                  <a:outerShdw blurRad="38100" dist="38100" dir="2700000" algn="tl">
                    <a:srgbClr val="FFFFFF"/>
                  </a:outerShdw>
                </a:effectLst>
              </a:rPr>
              <a:t>dth</a:t>
            </a:r>
            <a:r>
              <a:rPr lang="en-US" altLang="zh-CN" sz="2000" b="1" dirty="0">
                <a:effectLst>
                  <a:outerShdw blurRad="38100" dist="38100" dir="2700000" algn="tl">
                    <a:srgbClr val="FFFFFF"/>
                  </a:outerShdw>
                </a:effectLst>
              </a:rPr>
              <a:t> student: name = ", i+1);</a:t>
            </a:r>
          </a:p>
          <a:p>
            <a:pPr marL="457200" indent="-457200">
              <a:tabLst>
                <a:tab pos="914400" algn="l"/>
              </a:tabLst>
            </a:pPr>
            <a:r>
              <a:rPr lang="en-US" altLang="zh-CN" sz="2000" b="1" dirty="0">
                <a:effectLst>
                  <a:outerShdw blurRad="38100" dist="38100" dir="2700000" algn="tl">
                    <a:srgbClr val="FFFFFF"/>
                  </a:outerShdw>
                </a:effectLst>
              </a:rPr>
              <a:t>      gets (</a:t>
            </a:r>
            <a:r>
              <a:rPr lang="en-US" altLang="zh-CN" sz="2000" b="1" dirty="0" err="1">
                <a:effectLst>
                  <a:outerShdw blurRad="38100" dist="38100" dir="2700000" algn="tl">
                    <a:srgbClr val="FFFFFF"/>
                  </a:outerShdw>
                </a:effectLst>
              </a:rPr>
              <a:t>pstu</a:t>
            </a:r>
            <a:r>
              <a:rPr lang="en-US" altLang="zh-CN" sz="2000" b="1" dirty="0">
                <a:effectLst>
                  <a:outerShdw blurRad="38100" dist="38100" dir="2700000" algn="tl">
                    <a:srgbClr val="FFFFFF"/>
                  </a:outerShdw>
                </a:effectLst>
              </a:rPr>
              <a:t>[</a:t>
            </a:r>
            <a:r>
              <a:rPr lang="en-US" altLang="zh-CN" sz="2000" b="1" dirty="0" err="1">
                <a:effectLst>
                  <a:outerShdw blurRad="38100" dist="38100" dir="2700000" algn="tl">
                    <a:srgbClr val="FFFFFF"/>
                  </a:outerShdw>
                </a:effectLst>
              </a:rPr>
              <a:t>i</a:t>
            </a:r>
            <a:r>
              <a:rPr lang="en-US" altLang="zh-CN" sz="2000" b="1" dirty="0">
                <a:effectLst>
                  <a:outerShdw blurRad="38100" dist="38100" dir="2700000" algn="tl">
                    <a:srgbClr val="FFFFFF"/>
                  </a:outerShdw>
                </a:effectLst>
              </a:rPr>
              <a:t>].name);</a:t>
            </a:r>
          </a:p>
          <a:p>
            <a:pPr marL="457200" indent="-457200">
              <a:tabLst>
                <a:tab pos="914400" algn="l"/>
              </a:tabLst>
            </a:pPr>
            <a:r>
              <a:rPr lang="en-US" altLang="zh-CN" sz="2000" b="1" dirty="0">
                <a:effectLst>
                  <a:outerShdw blurRad="38100" dist="38100" dir="2700000" algn="tl">
                    <a:srgbClr val="FFFFFF"/>
                  </a:outerShdw>
                </a:effectLst>
              </a:rPr>
              <a:t>      </a:t>
            </a:r>
            <a:r>
              <a:rPr lang="en-US" altLang="zh-CN" sz="2000" b="1" dirty="0" err="1">
                <a:effectLst>
                  <a:outerShdw blurRad="38100" dist="38100" dir="2700000" algn="tl">
                    <a:srgbClr val="FFFFFF"/>
                  </a:outerShdw>
                </a:effectLst>
              </a:rPr>
              <a:t>fflush</a:t>
            </a:r>
            <a:r>
              <a:rPr lang="en-US" altLang="zh-CN" sz="2000" b="1" dirty="0">
                <a:effectLst>
                  <a:outerShdw blurRad="38100" dist="38100" dir="2700000" algn="tl">
                    <a:srgbClr val="FFFFFF"/>
                  </a:outerShdw>
                </a:effectLst>
              </a:rPr>
              <a:t> (</a:t>
            </a:r>
            <a:r>
              <a:rPr lang="en-US" altLang="zh-CN" sz="2000" b="1" dirty="0" err="1">
                <a:effectLst>
                  <a:outerShdw blurRad="38100" dist="38100" dir="2700000" algn="tl">
                    <a:srgbClr val="FFFFFF"/>
                  </a:outerShdw>
                </a:effectLst>
              </a:rPr>
              <a:t>stdin</a:t>
            </a:r>
            <a:r>
              <a:rPr lang="en-US" altLang="zh-CN" sz="2000" b="1" dirty="0">
                <a:effectLst>
                  <a:outerShdw blurRad="38100" dist="38100" dir="2700000" algn="tl">
                    <a:srgbClr val="FFFFFF"/>
                  </a:outerShdw>
                </a:effectLst>
              </a:rPr>
              <a:t>);</a:t>
            </a:r>
          </a:p>
          <a:p>
            <a:pPr marL="457200" indent="-457200">
              <a:tabLst>
                <a:tab pos="914400" algn="l"/>
              </a:tabLst>
            </a:pPr>
            <a:r>
              <a:rPr lang="en-US" altLang="zh-CN" sz="2000" b="1" dirty="0">
                <a:effectLst>
                  <a:outerShdw blurRad="38100" dist="38100" dir="2700000" algn="tl">
                    <a:srgbClr val="FFFFFF"/>
                  </a:outerShdw>
                </a:effectLst>
              </a:rPr>
              <a:t>      </a:t>
            </a:r>
            <a:r>
              <a:rPr lang="en-US" altLang="zh-CN" sz="2000" b="1" dirty="0" err="1">
                <a:effectLst>
                  <a:outerShdw blurRad="38100" dist="38100" dir="2700000" algn="tl">
                    <a:srgbClr val="FFFFFF"/>
                  </a:outerShdw>
                </a:effectLst>
              </a:rPr>
              <a:t>printf</a:t>
            </a:r>
            <a:r>
              <a:rPr lang="en-US" altLang="zh-CN" sz="2000" b="1" dirty="0">
                <a:effectLst>
                  <a:outerShdw blurRad="38100" dist="38100" dir="2700000" algn="tl">
                    <a:srgbClr val="FFFFFF"/>
                  </a:outerShdw>
                </a:effectLst>
              </a:rPr>
              <a:t> ("the %</a:t>
            </a:r>
            <a:r>
              <a:rPr lang="en-US" altLang="zh-CN" sz="2000" b="1" dirty="0" err="1">
                <a:effectLst>
                  <a:outerShdw blurRad="38100" dist="38100" dir="2700000" algn="tl">
                    <a:srgbClr val="FFFFFF"/>
                  </a:outerShdw>
                </a:effectLst>
              </a:rPr>
              <a:t>dth</a:t>
            </a:r>
            <a:r>
              <a:rPr lang="en-US" altLang="zh-CN" sz="2000" b="1" dirty="0">
                <a:effectLst>
                  <a:outerShdw blurRad="38100" dist="38100" dir="2700000" algn="tl">
                    <a:srgbClr val="FFFFFF"/>
                  </a:outerShdw>
                </a:effectLst>
              </a:rPr>
              <a:t> student: sex = ", i+1);</a:t>
            </a:r>
          </a:p>
          <a:p>
            <a:pPr marL="457200" indent="-457200">
              <a:tabLst>
                <a:tab pos="914400" algn="l"/>
              </a:tabLst>
            </a:pPr>
            <a:r>
              <a:rPr lang="en-US" altLang="zh-CN" sz="2000" b="1" dirty="0">
                <a:effectLst>
                  <a:outerShdw blurRad="38100" dist="38100" dir="2700000" algn="tl">
                    <a:srgbClr val="FFFFFF"/>
                  </a:outerShdw>
                </a:effectLst>
              </a:rPr>
              <a:t>      </a:t>
            </a:r>
            <a:r>
              <a:rPr lang="en-US" altLang="zh-CN" sz="2000" b="1" dirty="0" err="1">
                <a:effectLst>
                  <a:outerShdw blurRad="38100" dist="38100" dir="2700000" algn="tl">
                    <a:srgbClr val="FFFFFF"/>
                  </a:outerShdw>
                </a:effectLst>
              </a:rPr>
              <a:t>scanf</a:t>
            </a:r>
            <a:r>
              <a:rPr lang="en-US" altLang="zh-CN" sz="2000" b="1" dirty="0">
                <a:effectLst>
                  <a:outerShdw blurRad="38100" dist="38100" dir="2700000" algn="tl">
                    <a:srgbClr val="FFFFFF"/>
                  </a:outerShdw>
                </a:effectLst>
              </a:rPr>
              <a:t> ("%</a:t>
            </a:r>
            <a:r>
              <a:rPr lang="en-US" altLang="zh-CN" sz="2000" b="1" dirty="0" err="1">
                <a:effectLst>
                  <a:outerShdw blurRad="38100" dist="38100" dir="2700000" algn="tl">
                    <a:srgbClr val="FFFFFF"/>
                  </a:outerShdw>
                </a:effectLst>
              </a:rPr>
              <a:t>c",&amp;pstu</a:t>
            </a:r>
            <a:r>
              <a:rPr lang="en-US" altLang="zh-CN" sz="2000" b="1" dirty="0">
                <a:effectLst>
                  <a:outerShdw blurRad="38100" dist="38100" dir="2700000" algn="tl">
                    <a:srgbClr val="FFFFFF"/>
                  </a:outerShdw>
                </a:effectLst>
              </a:rPr>
              <a:t>[</a:t>
            </a:r>
            <a:r>
              <a:rPr lang="en-US" altLang="zh-CN" sz="2000" b="1" dirty="0" err="1">
                <a:effectLst>
                  <a:outerShdw blurRad="38100" dist="38100" dir="2700000" algn="tl">
                    <a:srgbClr val="FFFFFF"/>
                  </a:outerShdw>
                </a:effectLst>
              </a:rPr>
              <a:t>i</a:t>
            </a:r>
            <a:r>
              <a:rPr lang="en-US" altLang="zh-CN" sz="2000" b="1" dirty="0">
                <a:effectLst>
                  <a:outerShdw blurRad="38100" dist="38100" dir="2700000" algn="tl">
                    <a:srgbClr val="FFFFFF"/>
                  </a:outerShdw>
                </a:effectLst>
              </a:rPr>
              <a:t>].sex);</a:t>
            </a:r>
          </a:p>
          <a:p>
            <a:pPr marL="457200" indent="-457200">
              <a:tabLst>
                <a:tab pos="914400" algn="l"/>
              </a:tabLst>
            </a:pPr>
            <a:r>
              <a:rPr lang="en-US" altLang="zh-CN" sz="2000" b="1" dirty="0">
                <a:effectLst>
                  <a:outerShdw blurRad="38100" dist="38100" dir="2700000" algn="tl">
                    <a:srgbClr val="FFFFFF"/>
                  </a:outerShdw>
                </a:effectLst>
              </a:rPr>
              <a:t>      </a:t>
            </a:r>
            <a:r>
              <a:rPr lang="en-US" altLang="zh-CN" sz="2000" b="1" dirty="0" err="1">
                <a:effectLst>
                  <a:outerShdw blurRad="38100" dist="38100" dir="2700000" algn="tl">
                    <a:srgbClr val="FFFFFF"/>
                  </a:outerShdw>
                </a:effectLst>
              </a:rPr>
              <a:t>fflush</a:t>
            </a:r>
            <a:r>
              <a:rPr lang="en-US" altLang="zh-CN" sz="2000" b="1" dirty="0">
                <a:effectLst>
                  <a:outerShdw blurRad="38100" dist="38100" dir="2700000" algn="tl">
                    <a:srgbClr val="FFFFFF"/>
                  </a:outerShdw>
                </a:effectLst>
              </a:rPr>
              <a:t> (</a:t>
            </a:r>
            <a:r>
              <a:rPr lang="en-US" altLang="zh-CN" sz="2000" b="1" dirty="0" err="1">
                <a:effectLst>
                  <a:outerShdw blurRad="38100" dist="38100" dir="2700000" algn="tl">
                    <a:srgbClr val="FFFFFF"/>
                  </a:outerShdw>
                </a:effectLst>
              </a:rPr>
              <a:t>stdin</a:t>
            </a:r>
            <a:r>
              <a:rPr lang="en-US" altLang="zh-CN" sz="2000" b="1" dirty="0">
                <a:effectLst>
                  <a:outerShdw blurRad="38100" dist="38100" dir="2700000" algn="tl">
                    <a:srgbClr val="FFFFFF"/>
                  </a:outerShdw>
                </a:effectLst>
              </a:rPr>
              <a:t>);</a:t>
            </a:r>
          </a:p>
          <a:p>
            <a:pPr marL="457200" indent="-457200">
              <a:tabLst>
                <a:tab pos="914400" algn="l"/>
              </a:tabLst>
            </a:pPr>
            <a:r>
              <a:rPr lang="en-US" altLang="zh-CN" sz="2000" b="1" dirty="0">
                <a:effectLst>
                  <a:outerShdw blurRad="38100" dist="38100" dir="2700000" algn="tl">
                    <a:srgbClr val="FFFFFF"/>
                  </a:outerShdw>
                </a:effectLst>
              </a:rPr>
              <a:t>      </a:t>
            </a:r>
            <a:r>
              <a:rPr lang="en-US" altLang="zh-CN" sz="2000" b="1" dirty="0" err="1">
                <a:effectLst>
                  <a:outerShdw blurRad="38100" dist="38100" dir="2700000" algn="tl">
                    <a:srgbClr val="FFFFFF"/>
                  </a:outerShdw>
                </a:effectLst>
              </a:rPr>
              <a:t>printf</a:t>
            </a:r>
            <a:r>
              <a:rPr lang="en-US" altLang="zh-CN" sz="2000" b="1" dirty="0">
                <a:effectLst>
                  <a:outerShdw blurRad="38100" dist="38100" dir="2700000" algn="tl">
                    <a:srgbClr val="FFFFFF"/>
                  </a:outerShdw>
                </a:effectLst>
              </a:rPr>
              <a:t> ("the %</a:t>
            </a:r>
            <a:r>
              <a:rPr lang="en-US" altLang="zh-CN" sz="2000" b="1" dirty="0" err="1">
                <a:effectLst>
                  <a:outerShdw blurRad="38100" dist="38100" dir="2700000" algn="tl">
                    <a:srgbClr val="FFFFFF"/>
                  </a:outerShdw>
                </a:effectLst>
              </a:rPr>
              <a:t>dth</a:t>
            </a:r>
            <a:r>
              <a:rPr lang="en-US" altLang="zh-CN" sz="2000" b="1" dirty="0">
                <a:effectLst>
                  <a:outerShdw blurRad="38100" dist="38100" dir="2700000" algn="tl">
                    <a:srgbClr val="FFFFFF"/>
                  </a:outerShdw>
                </a:effectLst>
              </a:rPr>
              <a:t> student: age = ", i+1);</a:t>
            </a:r>
          </a:p>
          <a:p>
            <a:pPr marL="457200" indent="-457200">
              <a:tabLst>
                <a:tab pos="914400" algn="l"/>
              </a:tabLst>
            </a:pPr>
            <a:r>
              <a:rPr lang="en-US" altLang="zh-CN" sz="2000" b="1" dirty="0">
                <a:effectLst>
                  <a:outerShdw blurRad="38100" dist="38100" dir="2700000" algn="tl">
                    <a:srgbClr val="FFFFFF"/>
                  </a:outerShdw>
                </a:effectLst>
              </a:rPr>
              <a:t>      </a:t>
            </a:r>
            <a:r>
              <a:rPr lang="en-US" altLang="zh-CN" sz="2000" b="1" dirty="0" err="1">
                <a:effectLst>
                  <a:outerShdw blurRad="38100" dist="38100" dir="2700000" algn="tl">
                    <a:srgbClr val="FFFFFF"/>
                  </a:outerShdw>
                </a:effectLst>
              </a:rPr>
              <a:t>scanf</a:t>
            </a:r>
            <a:r>
              <a:rPr lang="en-US" altLang="zh-CN" sz="2000" b="1" dirty="0">
                <a:effectLst>
                  <a:outerShdw blurRad="38100" dist="38100" dir="2700000" algn="tl">
                    <a:srgbClr val="FFFFFF"/>
                  </a:outerShdw>
                </a:effectLst>
              </a:rPr>
              <a:t> ("%d", &amp;</a:t>
            </a:r>
            <a:r>
              <a:rPr lang="en-US" altLang="zh-CN" sz="2000" b="1" dirty="0" err="1">
                <a:effectLst>
                  <a:outerShdw blurRad="38100" dist="38100" dir="2700000" algn="tl">
                    <a:srgbClr val="FFFFFF"/>
                  </a:outerShdw>
                </a:effectLst>
              </a:rPr>
              <a:t>pstu</a:t>
            </a:r>
            <a:r>
              <a:rPr lang="en-US" altLang="zh-CN" sz="2000" b="1" dirty="0">
                <a:effectLst>
                  <a:outerShdw blurRad="38100" dist="38100" dir="2700000" algn="tl">
                    <a:srgbClr val="FFFFFF"/>
                  </a:outerShdw>
                </a:effectLst>
              </a:rPr>
              <a:t>[</a:t>
            </a:r>
            <a:r>
              <a:rPr lang="en-US" altLang="zh-CN" sz="2000" b="1" dirty="0" err="1">
                <a:effectLst>
                  <a:outerShdw blurRad="38100" dist="38100" dir="2700000" algn="tl">
                    <a:srgbClr val="FFFFFF"/>
                  </a:outerShdw>
                </a:effectLst>
              </a:rPr>
              <a:t>i</a:t>
            </a:r>
            <a:r>
              <a:rPr lang="en-US" altLang="zh-CN" sz="2000" b="1" dirty="0">
                <a:effectLst>
                  <a:outerShdw blurRad="38100" dist="38100" dir="2700000" algn="tl">
                    <a:srgbClr val="FFFFFF"/>
                  </a:outerShdw>
                </a:effectLst>
              </a:rPr>
              <a:t>].age);</a:t>
            </a:r>
          </a:p>
          <a:p>
            <a:pPr marL="457200" indent="-457200">
              <a:tabLst>
                <a:tab pos="914400" algn="l"/>
              </a:tabLst>
            </a:pPr>
            <a:r>
              <a:rPr lang="en-US" altLang="zh-CN" sz="2000" b="1" dirty="0">
                <a:effectLst>
                  <a:outerShdw blurRad="38100" dist="38100" dir="2700000" algn="tl">
                    <a:srgbClr val="FFFFFF"/>
                  </a:outerShdw>
                </a:effectLst>
              </a:rPr>
              <a:t>      </a:t>
            </a:r>
            <a:r>
              <a:rPr lang="en-US" altLang="zh-CN" sz="2000" b="1" dirty="0" err="1">
                <a:effectLst>
                  <a:outerShdw blurRad="38100" dist="38100" dir="2700000" algn="tl">
                    <a:srgbClr val="FFFFFF"/>
                  </a:outerShdw>
                </a:effectLst>
              </a:rPr>
              <a:t>fflush</a:t>
            </a:r>
            <a:r>
              <a:rPr lang="en-US" altLang="zh-CN" sz="2000" b="1" dirty="0">
                <a:effectLst>
                  <a:outerShdw blurRad="38100" dist="38100" dir="2700000" algn="tl">
                    <a:srgbClr val="FFFFFF"/>
                  </a:outerShdw>
                </a:effectLst>
              </a:rPr>
              <a:t> (</a:t>
            </a:r>
            <a:r>
              <a:rPr lang="en-US" altLang="zh-CN" sz="2000" b="1" dirty="0" err="1">
                <a:effectLst>
                  <a:outerShdw blurRad="38100" dist="38100" dir="2700000" algn="tl">
                    <a:srgbClr val="FFFFFF"/>
                  </a:outerShdw>
                </a:effectLst>
              </a:rPr>
              <a:t>stdin</a:t>
            </a:r>
            <a:r>
              <a:rPr lang="en-US" altLang="zh-CN" sz="2000" b="1" dirty="0">
                <a:effectLst>
                  <a:outerShdw blurRad="38100" dist="38100" dir="2700000" algn="tl">
                    <a:srgbClr val="FFFFFF"/>
                  </a:outerShdw>
                </a:effectLst>
              </a:rPr>
              <a:t>);</a:t>
            </a:r>
          </a:p>
          <a:p>
            <a:pPr marL="457200" indent="-457200">
              <a:tabLst>
                <a:tab pos="914400" algn="l"/>
              </a:tabLst>
            </a:pPr>
            <a:r>
              <a:rPr lang="en-US" altLang="zh-CN" sz="2000" b="1" dirty="0">
                <a:effectLst>
                  <a:outerShdw blurRad="38100" dist="38100" dir="2700000" algn="tl">
                    <a:srgbClr val="FFFFFF"/>
                  </a:outerShdw>
                </a:effectLst>
              </a:rPr>
              <a:t>      </a:t>
            </a:r>
            <a:r>
              <a:rPr lang="en-US" altLang="zh-CN" sz="2000" b="1" dirty="0" err="1">
                <a:effectLst>
                  <a:outerShdw blurRad="38100" dist="38100" dir="2700000" algn="tl">
                    <a:srgbClr val="FFFFFF"/>
                  </a:outerShdw>
                </a:effectLst>
              </a:rPr>
              <a:t>printf</a:t>
            </a:r>
            <a:r>
              <a:rPr lang="en-US" altLang="zh-CN" sz="2000" b="1" dirty="0">
                <a:effectLst>
                  <a:outerShdw blurRad="38100" dist="38100" dir="2700000" algn="tl">
                    <a:srgbClr val="FFFFFF"/>
                  </a:outerShdw>
                </a:effectLst>
              </a:rPr>
              <a:t> ("the %</a:t>
            </a:r>
            <a:r>
              <a:rPr lang="en-US" altLang="zh-CN" sz="2000" b="1" dirty="0" err="1">
                <a:effectLst>
                  <a:outerShdw blurRad="38100" dist="38100" dir="2700000" algn="tl">
                    <a:srgbClr val="FFFFFF"/>
                  </a:outerShdw>
                </a:effectLst>
              </a:rPr>
              <a:t>dth</a:t>
            </a:r>
            <a:r>
              <a:rPr lang="en-US" altLang="zh-CN" sz="2000" b="1" dirty="0">
                <a:effectLst>
                  <a:outerShdw blurRad="38100" dist="38100" dir="2700000" algn="tl">
                    <a:srgbClr val="FFFFFF"/>
                  </a:outerShdw>
                </a:effectLst>
              </a:rPr>
              <a:t> student: address = ", i+1);</a:t>
            </a:r>
          </a:p>
          <a:p>
            <a:pPr marL="457200" indent="-457200">
              <a:tabLst>
                <a:tab pos="914400" algn="l"/>
              </a:tabLst>
            </a:pPr>
            <a:r>
              <a:rPr lang="en-US" altLang="zh-CN" sz="2000" b="1" dirty="0">
                <a:effectLst>
                  <a:outerShdw blurRad="38100" dist="38100" dir="2700000" algn="tl">
                    <a:srgbClr val="FFFFFF"/>
                  </a:outerShdw>
                </a:effectLst>
              </a:rPr>
              <a:t>      gets (</a:t>
            </a:r>
            <a:r>
              <a:rPr lang="en-US" altLang="zh-CN" sz="2000" b="1" dirty="0" err="1">
                <a:effectLst>
                  <a:outerShdw blurRad="38100" dist="38100" dir="2700000" algn="tl">
                    <a:srgbClr val="FFFFFF"/>
                  </a:outerShdw>
                </a:effectLst>
              </a:rPr>
              <a:t>pstu</a:t>
            </a:r>
            <a:r>
              <a:rPr lang="en-US" altLang="zh-CN" sz="2000" b="1" dirty="0">
                <a:effectLst>
                  <a:outerShdw blurRad="38100" dist="38100" dir="2700000" algn="tl">
                    <a:srgbClr val="FFFFFF"/>
                  </a:outerShdw>
                </a:effectLst>
              </a:rPr>
              <a:t>[</a:t>
            </a:r>
            <a:r>
              <a:rPr lang="en-US" altLang="zh-CN" sz="2000" b="1" dirty="0" err="1">
                <a:effectLst>
                  <a:outerShdw blurRad="38100" dist="38100" dir="2700000" algn="tl">
                    <a:srgbClr val="FFFFFF"/>
                  </a:outerShdw>
                </a:effectLst>
              </a:rPr>
              <a:t>i</a:t>
            </a:r>
            <a:r>
              <a:rPr lang="en-US" altLang="zh-CN" sz="2000" b="1" dirty="0">
                <a:effectLst>
                  <a:outerShdw blurRad="38100" dist="38100" dir="2700000" algn="tl">
                    <a:srgbClr val="FFFFFF"/>
                  </a:outerShdw>
                </a:effectLst>
              </a:rPr>
              <a:t>].address);</a:t>
            </a:r>
          </a:p>
          <a:p>
            <a:pPr marL="457200" indent="-457200">
              <a:tabLst>
                <a:tab pos="914400" algn="l"/>
              </a:tabLst>
            </a:pPr>
            <a:r>
              <a:rPr lang="en-US" altLang="zh-CN" sz="2000" b="1" dirty="0">
                <a:effectLst>
                  <a:outerShdw blurRad="38100" dist="38100" dir="2700000" algn="tl">
                    <a:srgbClr val="FFFFFF"/>
                  </a:outerShdw>
                </a:effectLst>
              </a:rPr>
              <a:t>      </a:t>
            </a:r>
            <a:r>
              <a:rPr lang="en-US" altLang="zh-CN" sz="2000" b="1" dirty="0" err="1">
                <a:effectLst>
                  <a:outerShdw blurRad="38100" dist="38100" dir="2700000" algn="tl">
                    <a:srgbClr val="FFFFFF"/>
                  </a:outerShdw>
                </a:effectLst>
              </a:rPr>
              <a:t>fflush</a:t>
            </a:r>
            <a:r>
              <a:rPr lang="en-US" altLang="zh-CN" sz="2000" b="1" dirty="0">
                <a:effectLst>
                  <a:outerShdw blurRad="38100" dist="38100" dir="2700000" algn="tl">
                    <a:srgbClr val="FFFFFF"/>
                  </a:outerShdw>
                </a:effectLst>
              </a:rPr>
              <a:t> (</a:t>
            </a:r>
            <a:r>
              <a:rPr lang="en-US" altLang="zh-CN" sz="2000" b="1" dirty="0" err="1">
                <a:effectLst>
                  <a:outerShdw blurRad="38100" dist="38100" dir="2700000" algn="tl">
                    <a:srgbClr val="FFFFFF"/>
                  </a:outerShdw>
                </a:effectLst>
              </a:rPr>
              <a:t>stdin</a:t>
            </a:r>
            <a:r>
              <a:rPr lang="en-US" altLang="zh-CN" sz="2000" b="1" dirty="0">
                <a:effectLst>
                  <a:outerShdw blurRad="38100" dist="38100" dir="2700000" algn="tl">
                    <a:srgbClr val="FFFFFF"/>
                  </a:outerShdw>
                </a:effectLst>
              </a:rPr>
              <a:t>);</a:t>
            </a:r>
          </a:p>
          <a:p>
            <a:pPr marL="457200" indent="-457200">
              <a:tabLst>
                <a:tab pos="914400" algn="l"/>
              </a:tabLst>
            </a:pPr>
            <a:r>
              <a:rPr lang="en-US" altLang="zh-CN" sz="2000" b="1" dirty="0">
                <a:effectLst>
                  <a:outerShdw blurRad="38100" dist="38100" dir="2700000" algn="tl">
                    <a:srgbClr val="FFFFFF"/>
                  </a:outerShdw>
                </a:effectLst>
              </a:rPr>
              <a:t>    }</a:t>
            </a:r>
          </a:p>
        </p:txBody>
      </p:sp>
      <p:grpSp>
        <p:nvGrpSpPr>
          <p:cNvPr id="1090570" name="Group 10"/>
          <p:cNvGrpSpPr>
            <a:grpSpLocks/>
          </p:cNvGrpSpPr>
          <p:nvPr/>
        </p:nvGrpSpPr>
        <p:grpSpPr bwMode="auto">
          <a:xfrm>
            <a:off x="-14127" y="0"/>
            <a:ext cx="446088" cy="6858000"/>
            <a:chOff x="0" y="0"/>
            <a:chExt cx="281" cy="4320"/>
          </a:xfrm>
        </p:grpSpPr>
        <p:sp>
          <p:nvSpPr>
            <p:cNvPr id="1090571" name="Text Box 11"/>
            <p:cNvSpPr txBox="1">
              <a:spLocks noChangeArrowheads="1"/>
            </p:cNvSpPr>
            <p:nvPr/>
          </p:nvSpPr>
          <p:spPr bwMode="auto">
            <a:xfrm>
              <a:off x="0" y="0"/>
              <a:ext cx="281" cy="4320"/>
            </a:xfrm>
            <a:prstGeom prst="rect">
              <a:avLst/>
            </a:prstGeom>
            <a:gradFill rotWithShape="0">
              <a:gsLst>
                <a:gs pos="0">
                  <a:schemeClr val="hlink">
                    <a:gamma/>
                    <a:shade val="60784"/>
                    <a:invGamma/>
                  </a:schemeClr>
                </a:gs>
                <a:gs pos="50000">
                  <a:schemeClr val="hlink"/>
                </a:gs>
                <a:gs pos="100000">
                  <a:schemeClr val="hlink">
                    <a:gamma/>
                    <a:shade val="60784"/>
                    <a:invGamma/>
                  </a:schemeClr>
                </a:gs>
              </a:gsLst>
              <a:lin ang="0" scaled="1"/>
            </a:gradFill>
            <a:ln w="9525">
              <a:noFill/>
              <a:miter lim="800000"/>
              <a:headEnd/>
              <a:tailEnd/>
            </a:ln>
            <a:effectLst/>
          </p:spPr>
          <p:txBody>
            <a:bodyPr/>
            <a:lstStyle/>
            <a:p>
              <a:pPr eaLnBrk="0" hangingPunct="0">
                <a:spcBef>
                  <a:spcPct val="50000"/>
                </a:spcBef>
              </a:pPr>
              <a:endParaRPr lang="en-US" altLang="zh-CN" sz="1800" dirty="0">
                <a:solidFill>
                  <a:srgbClr val="3333CC"/>
                </a:solidFill>
                <a:latin typeface="Verdana" pitchFamily="34" charset="0"/>
              </a:endParaRPr>
            </a:p>
            <a:p>
              <a:pPr eaLnBrk="0" hangingPunct="0">
                <a:spcBef>
                  <a:spcPct val="50000"/>
                </a:spcBef>
              </a:pPr>
              <a:r>
                <a:rPr lang="zh-CN" altLang="en-US" sz="1600" b="1" dirty="0">
                  <a:solidFill>
                    <a:srgbClr val="3333CC"/>
                  </a:solidFill>
                  <a:latin typeface="Verdana" pitchFamily="34" charset="0"/>
                </a:rPr>
                <a:t>语言程序设计教程       </a:t>
              </a:r>
            </a:p>
            <a:p>
              <a:pPr eaLnBrk="0" hangingPunct="0">
                <a:spcBef>
                  <a:spcPct val="50000"/>
                </a:spcBef>
              </a:pPr>
              <a:r>
                <a:rPr lang="zh-CN" altLang="en-US" sz="1600" b="1" dirty="0">
                  <a:solidFill>
                    <a:srgbClr val="3333CC"/>
                  </a:solidFill>
                  <a:latin typeface="Verdana" pitchFamily="34" charset="0"/>
                </a:rPr>
                <a:t>第三版</a:t>
              </a:r>
            </a:p>
            <a:p>
              <a:pPr eaLnBrk="0" hangingPunct="0">
                <a:spcBef>
                  <a:spcPct val="50000"/>
                </a:spcBef>
              </a:pPr>
              <a:endParaRPr lang="zh-CN" altLang="en-US" sz="1600" b="1" dirty="0">
                <a:solidFill>
                  <a:srgbClr val="3333CC"/>
                </a:solidFill>
                <a:latin typeface="Verdana" pitchFamily="34" charset="0"/>
              </a:endParaRPr>
            </a:p>
            <a:p>
              <a:pPr eaLnBrk="0" hangingPunct="0">
                <a:spcBef>
                  <a:spcPct val="50000"/>
                </a:spcBef>
              </a:pPr>
              <a:endParaRPr lang="zh-CN" altLang="en-US" sz="1600" b="1" dirty="0">
                <a:solidFill>
                  <a:srgbClr val="3333CC"/>
                </a:solidFill>
                <a:latin typeface="Verdana" pitchFamily="34" charset="0"/>
              </a:endParaRPr>
            </a:p>
            <a:p>
              <a:pPr eaLnBrk="0" hangingPunct="0">
                <a:spcBef>
                  <a:spcPct val="50000"/>
                </a:spcBef>
              </a:pPr>
              <a:r>
                <a:rPr lang="zh-CN" altLang="en-US" sz="1600" b="1" dirty="0">
                  <a:solidFill>
                    <a:srgbClr val="3333CC"/>
                  </a:solidFill>
                  <a:latin typeface="Verdana" pitchFamily="34" charset="0"/>
                </a:rPr>
                <a:t>第十</a:t>
              </a:r>
            </a:p>
            <a:p>
              <a:pPr eaLnBrk="0" hangingPunct="0">
                <a:spcBef>
                  <a:spcPct val="50000"/>
                </a:spcBef>
              </a:pPr>
              <a:r>
                <a:rPr lang="zh-CN" altLang="en-US" sz="1600" b="1" dirty="0">
                  <a:solidFill>
                    <a:srgbClr val="3333CC"/>
                  </a:solidFill>
                  <a:latin typeface="Verdana" pitchFamily="34" charset="0"/>
                </a:rPr>
                <a:t>二章 </a:t>
              </a:r>
            </a:p>
            <a:p>
              <a:pPr eaLnBrk="0" hangingPunct="0">
                <a:spcBef>
                  <a:spcPct val="50000"/>
                </a:spcBef>
              </a:pPr>
              <a:endParaRPr lang="zh-CN" altLang="en-US" sz="1600" b="1" dirty="0">
                <a:solidFill>
                  <a:srgbClr val="3333CC"/>
                </a:solidFill>
                <a:latin typeface="Verdana" pitchFamily="34" charset="0"/>
              </a:endParaRPr>
            </a:p>
            <a:p>
              <a:pPr eaLnBrk="0" hangingPunct="0">
                <a:spcBef>
                  <a:spcPct val="50000"/>
                </a:spcBef>
              </a:pPr>
              <a:r>
                <a:rPr lang="zh-CN" altLang="en-US" sz="1600" b="1" dirty="0">
                  <a:solidFill>
                    <a:srgbClr val="3333CC"/>
                  </a:solidFill>
                  <a:latin typeface="Verdana" pitchFamily="34" charset="0"/>
                </a:rPr>
                <a:t>文</a:t>
              </a:r>
            </a:p>
            <a:p>
              <a:pPr eaLnBrk="0" hangingPunct="0">
                <a:spcBef>
                  <a:spcPct val="50000"/>
                </a:spcBef>
              </a:pPr>
              <a:endParaRPr lang="zh-CN" altLang="en-US" sz="1600" b="1" dirty="0">
                <a:solidFill>
                  <a:srgbClr val="3333CC"/>
                </a:solidFill>
                <a:latin typeface="Verdana" pitchFamily="34" charset="0"/>
              </a:endParaRPr>
            </a:p>
            <a:p>
              <a:pPr eaLnBrk="0" hangingPunct="0">
                <a:spcBef>
                  <a:spcPct val="50000"/>
                </a:spcBef>
              </a:pPr>
              <a:r>
                <a:rPr lang="zh-CN" altLang="en-US" sz="1600" b="1" dirty="0">
                  <a:solidFill>
                    <a:srgbClr val="3333CC"/>
                  </a:solidFill>
                  <a:latin typeface="Verdana" pitchFamily="34" charset="0"/>
                </a:rPr>
                <a:t>件</a:t>
              </a:r>
            </a:p>
          </p:txBody>
        </p:sp>
        <p:sp>
          <p:nvSpPr>
            <p:cNvPr id="1090572" name="Text Box 12"/>
            <p:cNvSpPr txBox="1">
              <a:spLocks noChangeArrowheads="1"/>
            </p:cNvSpPr>
            <p:nvPr/>
          </p:nvSpPr>
          <p:spPr bwMode="auto">
            <a:xfrm>
              <a:off x="0" y="0"/>
              <a:ext cx="281" cy="231"/>
            </a:xfrm>
            <a:prstGeom prst="rect">
              <a:avLst/>
            </a:prstGeom>
            <a:gradFill rotWithShape="0">
              <a:gsLst>
                <a:gs pos="0">
                  <a:schemeClr val="hlink">
                    <a:gamma/>
                    <a:shade val="46275"/>
                    <a:invGamma/>
                  </a:schemeClr>
                </a:gs>
                <a:gs pos="50000">
                  <a:schemeClr val="hlink"/>
                </a:gs>
                <a:gs pos="100000">
                  <a:schemeClr val="hlink">
                    <a:gamma/>
                    <a:shade val="46275"/>
                    <a:invGamma/>
                  </a:schemeClr>
                </a:gs>
              </a:gsLst>
              <a:lin ang="0" scaled="1"/>
            </a:gradFill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eaLnBrk="0" hangingPunct="0">
                <a:spcBef>
                  <a:spcPct val="50000"/>
                </a:spcBef>
              </a:pPr>
              <a:r>
                <a:rPr lang="en-US" altLang="zh-CN" sz="1800" b="1">
                  <a:solidFill>
                    <a:srgbClr val="0000FF"/>
                  </a:solidFill>
                  <a:latin typeface="Arial" pitchFamily="34" charset="0"/>
                </a:rPr>
                <a:t>C</a:t>
              </a:r>
            </a:p>
          </p:txBody>
        </p:sp>
      </p:grpSp>
      <p:sp>
        <p:nvSpPr>
          <p:cNvPr id="1090569" name="Rectangle 9" descr="信纸"/>
          <p:cNvSpPr>
            <a:spLocks noChangeArrowheads="1"/>
          </p:cNvSpPr>
          <p:nvPr/>
        </p:nvSpPr>
        <p:spPr bwMode="auto">
          <a:xfrm>
            <a:off x="4511824" y="2020144"/>
            <a:ext cx="7457491" cy="4708981"/>
          </a:xfrm>
          <a:prstGeom prst="rect">
            <a:avLst/>
          </a:prstGeom>
          <a:blipFill dpi="0" rotWithShape="1">
            <a:blip r:embed="rId4" cstate="print"/>
            <a:srcRect/>
            <a:tile tx="0" ty="0" sx="100000" sy="100000" flip="none" algn="tl"/>
          </a:blipFill>
          <a:ln w="38100">
            <a:solidFill>
              <a:srgbClr val="008000"/>
            </a:solidFill>
            <a:miter lim="800000"/>
            <a:headEnd/>
            <a:tailEnd/>
          </a:ln>
          <a:effectLst>
            <a:outerShdw blurRad="50800" dist="106680" dir="2700000" algn="tl" rotWithShape="0">
              <a:prstClr val="black">
                <a:alpha val="43000"/>
              </a:prstClr>
            </a:outerShdw>
          </a:effectLst>
          <a:scene3d>
            <a:camera prst="orthographicFront"/>
            <a:lightRig rig="threePt" dir="t"/>
          </a:scene3d>
          <a:sp3d>
            <a:bevelT w="114300" prst="hardEdge"/>
          </a:sp3d>
        </p:spPr>
        <p:txBody>
          <a:bodyPr wrap="none" anchor="ctr">
            <a:spAutoFit/>
          </a:bodyPr>
          <a:lstStyle/>
          <a:p>
            <a:pPr marL="457200" indent="-457200">
              <a:tabLst>
                <a:tab pos="914400" algn="l"/>
              </a:tabLst>
            </a:pPr>
            <a:r>
              <a:rPr lang="en-US" altLang="zh-CN" sz="2000" b="1" dirty="0">
                <a:solidFill>
                  <a:schemeClr val="accent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楷体" pitchFamily="49" charset="-122"/>
              </a:rPr>
              <a:t>    //</a:t>
            </a:r>
            <a:r>
              <a:rPr lang="zh-CN" altLang="en-US" sz="2000" b="1" dirty="0">
                <a:solidFill>
                  <a:schemeClr val="accent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楷体" pitchFamily="49" charset="-122"/>
              </a:rPr>
              <a:t>将</a:t>
            </a:r>
            <a:r>
              <a:rPr lang="en-US" altLang="zh-CN" sz="2000" b="1" dirty="0" err="1">
                <a:solidFill>
                  <a:schemeClr val="accent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楷体" pitchFamily="49" charset="-122"/>
              </a:rPr>
              <a:t>pstu</a:t>
            </a:r>
            <a:r>
              <a:rPr lang="zh-CN" altLang="en-US" sz="2000" b="1" dirty="0">
                <a:solidFill>
                  <a:schemeClr val="accent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楷体" pitchFamily="49" charset="-122"/>
              </a:rPr>
              <a:t>所指向的学生信息写入文件中</a:t>
            </a:r>
          </a:p>
          <a:p>
            <a:pPr marL="457200" indent="-457200">
              <a:tabLst>
                <a:tab pos="914400" algn="l"/>
              </a:tabLst>
            </a:pPr>
            <a:r>
              <a:rPr lang="zh-CN" altLang="en-US" sz="2000" b="1" dirty="0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    </a:t>
            </a:r>
            <a:r>
              <a:rPr lang="en-US" altLang="zh-CN" sz="2000" b="1" dirty="0" err="1">
                <a:solidFill>
                  <a:srgbClr val="FF00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楷体_GB2312" pitchFamily="49" charset="-122"/>
              </a:rPr>
              <a:t>WriteToFile</a:t>
            </a:r>
            <a:r>
              <a:rPr lang="en-US" altLang="zh-CN" sz="2000" b="1" dirty="0">
                <a:solidFill>
                  <a:srgbClr val="FF00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楷体_GB2312" pitchFamily="49" charset="-122"/>
              </a:rPr>
              <a:t> (</a:t>
            </a:r>
            <a:r>
              <a:rPr lang="en-US" altLang="zh-CN" sz="2000" b="1" dirty="0" err="1">
                <a:solidFill>
                  <a:srgbClr val="FF00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楷体_GB2312" pitchFamily="49" charset="-122"/>
              </a:rPr>
              <a:t>pstu</a:t>
            </a:r>
            <a:r>
              <a:rPr lang="en-US" altLang="zh-CN" sz="2000" b="1" dirty="0">
                <a:solidFill>
                  <a:srgbClr val="FF00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楷体_GB2312" pitchFamily="49" charset="-122"/>
              </a:rPr>
              <a:t>, num);</a:t>
            </a:r>
            <a:r>
              <a:rPr lang="en-US" altLang="zh-CN" sz="2000" b="1" dirty="0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 </a:t>
            </a:r>
          </a:p>
          <a:p>
            <a:pPr marL="457200" indent="-457200">
              <a:tabLst>
                <a:tab pos="914400" algn="l"/>
              </a:tabLst>
            </a:pPr>
            <a:r>
              <a:rPr lang="en-US" altLang="zh-CN" sz="2000" b="1" dirty="0">
                <a:effectLst>
                  <a:outerShdw blurRad="38100" dist="38100" dir="2700000" algn="tl">
                    <a:srgbClr val="FFFFFF"/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  </a:t>
            </a:r>
            <a:r>
              <a:rPr lang="en-US" altLang="zh-CN" sz="2000" b="1" dirty="0">
                <a:solidFill>
                  <a:schemeClr val="accent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楷体" panose="02010609060101010101" pitchFamily="49" charset="-122"/>
              </a:rPr>
              <a:t>//</a:t>
            </a:r>
            <a:r>
              <a:rPr lang="zh-CN" altLang="en-US" sz="2000" b="1" dirty="0">
                <a:solidFill>
                  <a:schemeClr val="accent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将</a:t>
            </a:r>
            <a:r>
              <a:rPr lang="en-US" altLang="zh-CN" sz="2000" b="1" dirty="0" err="1">
                <a:solidFill>
                  <a:schemeClr val="accent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pstu</a:t>
            </a:r>
            <a:r>
              <a:rPr lang="zh-CN" altLang="en-US" sz="2000" b="1" dirty="0">
                <a:solidFill>
                  <a:schemeClr val="accent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所指向的内存块清</a:t>
            </a:r>
            <a:r>
              <a:rPr lang="en-US" altLang="zh-CN" sz="2000" b="1" dirty="0">
                <a:solidFill>
                  <a:schemeClr val="accent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0</a:t>
            </a:r>
            <a:r>
              <a:rPr lang="en-US" altLang="zh-CN" sz="2000" b="1" dirty="0">
                <a:effectLst>
                  <a:outerShdw blurRad="38100" dist="38100" dir="2700000" algn="tl">
                    <a:srgbClr val="FFFFFF"/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    </a:t>
            </a:r>
          </a:p>
          <a:p>
            <a:pPr marL="457200" indent="-457200">
              <a:tabLst>
                <a:tab pos="914400" algn="l"/>
              </a:tabLst>
            </a:pPr>
            <a:r>
              <a:rPr lang="en-US" altLang="zh-CN" sz="2000" b="1" dirty="0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    </a:t>
            </a:r>
            <a:r>
              <a:rPr lang="en-US" altLang="zh-CN" sz="2000" b="1" dirty="0" err="1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memset</a:t>
            </a:r>
            <a:r>
              <a:rPr lang="en-US" altLang="zh-CN" sz="2000" b="1" dirty="0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 (</a:t>
            </a:r>
            <a:r>
              <a:rPr lang="en-US" altLang="zh-CN" sz="2000" b="1" dirty="0" err="1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pstu</a:t>
            </a:r>
            <a:r>
              <a:rPr lang="en-US" altLang="zh-CN" sz="2000" b="1" dirty="0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, 0, num * </a:t>
            </a:r>
            <a:r>
              <a:rPr lang="en-US" altLang="zh-CN" sz="2000" b="1" dirty="0" err="1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sizeof</a:t>
            </a:r>
            <a:r>
              <a:rPr lang="en-US" altLang="zh-CN" sz="2000" b="1" dirty="0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(STUINFO)); </a:t>
            </a:r>
          </a:p>
          <a:p>
            <a:pPr marL="457200" indent="-457200">
              <a:tabLst>
                <a:tab pos="914400" algn="l"/>
              </a:tabLst>
            </a:pPr>
            <a:r>
              <a:rPr lang="en-US" altLang="zh-CN" sz="2000" b="1" dirty="0">
                <a:solidFill>
                  <a:schemeClr val="accent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楷体" pitchFamily="49" charset="-122"/>
              </a:rPr>
              <a:t>    //</a:t>
            </a:r>
            <a:r>
              <a:rPr lang="zh-CN" altLang="en-US" sz="2000" b="1" dirty="0">
                <a:solidFill>
                  <a:schemeClr val="accent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楷体" pitchFamily="49" charset="-122"/>
              </a:rPr>
              <a:t>从文件中读取学生信息到</a:t>
            </a:r>
            <a:r>
              <a:rPr lang="en-US" altLang="zh-CN" sz="2000" b="1" dirty="0" err="1">
                <a:solidFill>
                  <a:schemeClr val="accent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楷体" pitchFamily="49" charset="-122"/>
              </a:rPr>
              <a:t>pstu</a:t>
            </a:r>
            <a:r>
              <a:rPr lang="zh-CN" altLang="en-US" sz="2000" b="1" dirty="0">
                <a:solidFill>
                  <a:schemeClr val="accent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楷体" pitchFamily="49" charset="-122"/>
              </a:rPr>
              <a:t>所指向的内存块中</a:t>
            </a:r>
          </a:p>
          <a:p>
            <a:pPr marL="457200" indent="-457200">
              <a:tabLst>
                <a:tab pos="914400" algn="l"/>
              </a:tabLst>
            </a:pPr>
            <a:r>
              <a:rPr lang="zh-CN" altLang="en-US" sz="2000" b="1" dirty="0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    </a:t>
            </a:r>
            <a:r>
              <a:rPr lang="en-US" altLang="zh-CN" sz="2000" b="1" dirty="0" err="1">
                <a:solidFill>
                  <a:srgbClr val="FF00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楷体_GB2312" pitchFamily="49" charset="-122"/>
              </a:rPr>
              <a:t>ReadFromFile</a:t>
            </a:r>
            <a:r>
              <a:rPr lang="en-US" altLang="zh-CN" sz="2000" b="1" dirty="0">
                <a:solidFill>
                  <a:srgbClr val="FF00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楷体_GB2312" pitchFamily="49" charset="-122"/>
              </a:rPr>
              <a:t> (</a:t>
            </a:r>
            <a:r>
              <a:rPr lang="en-US" altLang="zh-CN" sz="2000" b="1" dirty="0" err="1">
                <a:solidFill>
                  <a:srgbClr val="FF00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楷体_GB2312" pitchFamily="49" charset="-122"/>
              </a:rPr>
              <a:t>pstu</a:t>
            </a:r>
            <a:r>
              <a:rPr lang="en-US" altLang="zh-CN" sz="2000" b="1" dirty="0">
                <a:solidFill>
                  <a:srgbClr val="FF00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楷体_GB2312" pitchFamily="49" charset="-122"/>
              </a:rPr>
              <a:t>, num);</a:t>
            </a:r>
            <a:r>
              <a:rPr lang="en-US" altLang="zh-CN" sz="2000" b="1" dirty="0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    </a:t>
            </a:r>
          </a:p>
          <a:p>
            <a:pPr marL="457200" indent="-457200">
              <a:tabLst>
                <a:tab pos="914400" algn="l"/>
              </a:tabLst>
            </a:pPr>
            <a:r>
              <a:rPr lang="en-US" altLang="zh-CN" sz="2000" b="1" dirty="0">
                <a:solidFill>
                  <a:schemeClr val="accent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楷体" pitchFamily="49" charset="-122"/>
              </a:rPr>
              <a:t>    //</a:t>
            </a:r>
            <a:r>
              <a:rPr lang="zh-CN" altLang="en-US" sz="2000" b="1" dirty="0">
                <a:solidFill>
                  <a:schemeClr val="accent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楷体" pitchFamily="49" charset="-122"/>
              </a:rPr>
              <a:t>显示学生信息</a:t>
            </a:r>
          </a:p>
          <a:p>
            <a:pPr marL="457200" indent="-457200">
              <a:tabLst>
                <a:tab pos="914400" algn="l"/>
              </a:tabLst>
            </a:pPr>
            <a:r>
              <a:rPr lang="zh-CN" altLang="en-US" sz="2000" b="1" dirty="0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    </a:t>
            </a:r>
            <a:r>
              <a:rPr lang="en-US" altLang="zh-CN" sz="2000" b="1" dirty="0" err="1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printf</a:t>
            </a:r>
            <a:r>
              <a:rPr lang="en-US" altLang="zh-CN" sz="2000" b="1" dirty="0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 ("%10s%12s%6s%5s%20s\</a:t>
            </a:r>
            <a:r>
              <a:rPr lang="en-US" altLang="zh-CN" sz="2000" b="1" dirty="0" err="1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n","no","name</a:t>
            </a:r>
            <a:r>
              <a:rPr lang="en-US" altLang="zh-CN" sz="2000" b="1" dirty="0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",</a:t>
            </a:r>
          </a:p>
          <a:p>
            <a:pPr marL="457200" indent="-457200">
              <a:tabLst>
                <a:tab pos="914400" algn="l"/>
              </a:tabLst>
            </a:pPr>
            <a:r>
              <a:rPr lang="en-US" altLang="zh-CN" sz="2000" b="1" dirty="0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                "</a:t>
            </a:r>
            <a:r>
              <a:rPr lang="en-US" altLang="zh-CN" sz="2000" b="1" dirty="0" err="1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sex","age","address</a:t>
            </a:r>
            <a:r>
              <a:rPr lang="en-US" altLang="zh-CN" sz="2000" b="1" dirty="0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");</a:t>
            </a:r>
          </a:p>
          <a:p>
            <a:pPr marL="457200" indent="-457200">
              <a:tabLst>
                <a:tab pos="914400" algn="l"/>
              </a:tabLst>
            </a:pPr>
            <a:r>
              <a:rPr lang="en-US" altLang="zh-CN" sz="2000" b="1" dirty="0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    for (</a:t>
            </a:r>
            <a:r>
              <a:rPr lang="en-US" altLang="zh-CN" sz="2000" b="1" dirty="0" err="1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i</a:t>
            </a:r>
            <a:r>
              <a:rPr lang="en-US" altLang="zh-CN" sz="2000" b="1" dirty="0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 = 0; </a:t>
            </a:r>
            <a:r>
              <a:rPr lang="en-US" altLang="zh-CN" sz="2000" b="1" dirty="0" err="1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i</a:t>
            </a:r>
            <a:r>
              <a:rPr lang="en-US" altLang="zh-CN" sz="2000" b="1" dirty="0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 &lt; num; </a:t>
            </a:r>
            <a:r>
              <a:rPr lang="en-US" altLang="zh-CN" sz="2000" b="1" dirty="0" err="1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i</a:t>
            </a:r>
            <a:r>
              <a:rPr lang="en-US" altLang="zh-CN" sz="2000" b="1" dirty="0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++)</a:t>
            </a:r>
          </a:p>
          <a:p>
            <a:pPr marL="457200" indent="-457200">
              <a:tabLst>
                <a:tab pos="914400" algn="l"/>
              </a:tabLst>
            </a:pPr>
            <a:r>
              <a:rPr lang="en-US" altLang="zh-CN" sz="2000" b="1" dirty="0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      </a:t>
            </a:r>
            <a:r>
              <a:rPr lang="en-US" altLang="zh-CN" sz="2000" b="1" dirty="0" err="1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printf</a:t>
            </a:r>
            <a:r>
              <a:rPr lang="en-US" altLang="zh-CN" sz="2000" b="1" dirty="0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 ("%10s%12s%6c%5d%20s\n", </a:t>
            </a:r>
            <a:r>
              <a:rPr lang="en-US" altLang="zh-CN" sz="2000" b="1" dirty="0" err="1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pstu</a:t>
            </a:r>
            <a:r>
              <a:rPr lang="en-US" altLang="zh-CN" sz="2000" b="1" dirty="0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[</a:t>
            </a:r>
            <a:r>
              <a:rPr lang="en-US" altLang="zh-CN" sz="2000" b="1" dirty="0" err="1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i</a:t>
            </a:r>
            <a:r>
              <a:rPr lang="en-US" altLang="zh-CN" sz="2000" b="1" dirty="0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].no, </a:t>
            </a:r>
            <a:r>
              <a:rPr lang="en-US" altLang="zh-CN" sz="2000" b="1" dirty="0" err="1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pstu</a:t>
            </a:r>
            <a:r>
              <a:rPr lang="en-US" altLang="zh-CN" sz="2000" b="1" dirty="0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[</a:t>
            </a:r>
            <a:r>
              <a:rPr lang="en-US" altLang="zh-CN" sz="2000" b="1" dirty="0" err="1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i</a:t>
            </a:r>
            <a:r>
              <a:rPr lang="en-US" altLang="zh-CN" sz="2000" b="1" dirty="0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].name,</a:t>
            </a:r>
          </a:p>
          <a:p>
            <a:pPr marL="457200" indent="-457200">
              <a:tabLst>
                <a:tab pos="914400" algn="l"/>
              </a:tabLst>
            </a:pPr>
            <a:r>
              <a:rPr lang="en-US" altLang="zh-CN" sz="2000" b="1" dirty="0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                        </a:t>
            </a:r>
            <a:r>
              <a:rPr lang="en-US" altLang="zh-CN" sz="2000" b="1" dirty="0" err="1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pstu</a:t>
            </a:r>
            <a:r>
              <a:rPr lang="en-US" altLang="zh-CN" sz="2000" b="1" dirty="0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[</a:t>
            </a:r>
            <a:r>
              <a:rPr lang="en-US" altLang="zh-CN" sz="2000" b="1" dirty="0" err="1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i</a:t>
            </a:r>
            <a:r>
              <a:rPr lang="en-US" altLang="zh-CN" sz="2000" b="1" dirty="0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].sex, </a:t>
            </a:r>
            <a:r>
              <a:rPr lang="en-US" altLang="zh-CN" sz="2000" b="1" dirty="0" err="1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pstu</a:t>
            </a:r>
            <a:r>
              <a:rPr lang="en-US" altLang="zh-CN" sz="2000" b="1" dirty="0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[</a:t>
            </a:r>
            <a:r>
              <a:rPr lang="en-US" altLang="zh-CN" sz="2000" b="1" dirty="0" err="1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i</a:t>
            </a:r>
            <a:r>
              <a:rPr lang="en-US" altLang="zh-CN" sz="2000" b="1" dirty="0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].age, </a:t>
            </a:r>
            <a:r>
              <a:rPr lang="en-US" altLang="zh-CN" sz="2000" b="1" dirty="0" err="1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pstu</a:t>
            </a:r>
            <a:r>
              <a:rPr lang="en-US" altLang="zh-CN" sz="2000" b="1" dirty="0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[</a:t>
            </a:r>
            <a:r>
              <a:rPr lang="en-US" altLang="zh-CN" sz="2000" b="1" dirty="0" err="1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i</a:t>
            </a:r>
            <a:r>
              <a:rPr lang="en-US" altLang="zh-CN" sz="2000" b="1" dirty="0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].address);</a:t>
            </a:r>
          </a:p>
          <a:p>
            <a:pPr marL="457200" indent="-457200">
              <a:tabLst>
                <a:tab pos="914400" algn="l"/>
              </a:tabLst>
            </a:pPr>
            <a:r>
              <a:rPr lang="en-US" altLang="zh-CN" sz="2000" b="1" dirty="0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    free (</a:t>
            </a:r>
            <a:r>
              <a:rPr lang="en-US" altLang="zh-CN" sz="2000" b="1" dirty="0" err="1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pstu</a:t>
            </a:r>
            <a:r>
              <a:rPr lang="en-US" altLang="zh-CN" sz="2000" b="1" dirty="0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);  </a:t>
            </a:r>
            <a:r>
              <a:rPr lang="en-US" altLang="zh-CN" sz="2000" b="1" dirty="0">
                <a:solidFill>
                  <a:schemeClr val="accent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楷体" pitchFamily="49" charset="-122"/>
              </a:rPr>
              <a:t>//</a:t>
            </a:r>
            <a:r>
              <a:rPr lang="zh-CN" altLang="en-US" sz="2000" b="1" dirty="0">
                <a:solidFill>
                  <a:schemeClr val="accent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楷体" pitchFamily="49" charset="-122"/>
              </a:rPr>
              <a:t>释放动态分配的内存</a:t>
            </a:r>
          </a:p>
          <a:p>
            <a:pPr marL="457200" indent="-457200">
              <a:tabLst>
                <a:tab pos="914400" algn="l"/>
              </a:tabLst>
            </a:pPr>
            <a:r>
              <a:rPr lang="zh-CN" altLang="en-US" sz="2000" b="1" dirty="0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    </a:t>
            </a:r>
            <a:r>
              <a:rPr lang="en-US" altLang="zh-CN" sz="2000" b="1" dirty="0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return 0;</a:t>
            </a:r>
            <a:r>
              <a:rPr lang="zh-CN" altLang="en-US" sz="2000" b="1" dirty="0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 </a:t>
            </a:r>
            <a:endParaRPr lang="en-US" altLang="zh-CN" sz="2000" b="1" dirty="0">
              <a:effectLst>
                <a:outerShdw blurRad="38100" dist="38100" dir="2700000" algn="tl">
                  <a:srgbClr val="FFFFFF"/>
                </a:outerShdw>
              </a:effectLst>
              <a:ea typeface="楷体_GB2312" pitchFamily="49" charset="-122"/>
            </a:endParaRPr>
          </a:p>
          <a:p>
            <a:pPr marL="457200" indent="-457200">
              <a:tabLst>
                <a:tab pos="914400" algn="l"/>
              </a:tabLst>
            </a:pPr>
            <a:r>
              <a:rPr lang="zh-CN" altLang="en-US" sz="2000" b="1" dirty="0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 </a:t>
            </a:r>
            <a:r>
              <a:rPr lang="en-US" altLang="zh-CN" sz="2000" b="1" dirty="0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}</a:t>
            </a:r>
          </a:p>
        </p:txBody>
      </p:sp>
    </p:spTree>
  </p:cSld>
  <p:clrMapOvr>
    <a:masterClrMapping/>
  </p:clrMapOvr>
  <p:transition>
    <p:cover/>
    <p:sndAc>
      <p:stSnd>
        <p:snd r:embed="rId3" name="CAMER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05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7" dur="500"/>
                                        <p:tgtEl>
                                          <p:spTgt spid="1090568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05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2" dur="500"/>
                                        <p:tgtEl>
                                          <p:spTgt spid="1090569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90568" grpId="0" animBg="1"/>
      <p:bldP spid="1090569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2613" name="Rectangle 5"/>
          <p:cNvSpPr>
            <a:spLocks noChangeArrowheads="1"/>
          </p:cNvSpPr>
          <p:nvPr/>
        </p:nvSpPr>
        <p:spPr bwMode="auto">
          <a:xfrm>
            <a:off x="47328" y="151755"/>
            <a:ext cx="11833521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anchor="ctr">
            <a:spAutoFit/>
          </a:bodyPr>
          <a:lstStyle/>
          <a:p>
            <a:r>
              <a:rPr lang="en-US" altLang="zh-CN" b="1" dirty="0">
                <a:solidFill>
                  <a:srgbClr val="CC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隶书" pitchFamily="49" charset="-122"/>
                <a:ea typeface="隶书" pitchFamily="49" charset="-122"/>
              </a:rPr>
              <a:t>   【</a:t>
            </a:r>
            <a:r>
              <a:rPr lang="zh-CN" altLang="en-US" b="1" dirty="0">
                <a:solidFill>
                  <a:srgbClr val="CC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隶书" pitchFamily="49" charset="-122"/>
                <a:ea typeface="隶书" pitchFamily="49" charset="-122"/>
              </a:rPr>
              <a:t>例</a:t>
            </a:r>
            <a:r>
              <a:rPr lang="en-US" altLang="zh-CN" b="1" dirty="0">
                <a:solidFill>
                  <a:srgbClr val="CC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隶书" pitchFamily="49" charset="-122"/>
                <a:ea typeface="隶书" pitchFamily="49" charset="-122"/>
              </a:rPr>
              <a:t>6】</a:t>
            </a:r>
            <a:r>
              <a:rPr lang="zh-CN" altLang="en-US" b="1" dirty="0">
                <a:solidFill>
                  <a:srgbClr val="CC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隶书" pitchFamily="49" charset="-122"/>
                <a:ea typeface="隶书" pitchFamily="49" charset="-122"/>
              </a:rPr>
              <a:t>将多个学生的基本信息存放到</a:t>
            </a:r>
            <a:r>
              <a:rPr lang="en-US" altLang="zh-CN" b="1" dirty="0">
                <a:solidFill>
                  <a:srgbClr val="CC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隶书" pitchFamily="49" charset="-122"/>
              </a:rPr>
              <a:t>student.dat</a:t>
            </a:r>
            <a:r>
              <a:rPr lang="zh-CN" altLang="en-US" b="1" dirty="0">
                <a:solidFill>
                  <a:srgbClr val="CC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隶书" pitchFamily="49" charset="-122"/>
                <a:ea typeface="隶书" pitchFamily="49" charset="-122"/>
              </a:rPr>
              <a:t>文件中，然后从文件中读出并显示。</a:t>
            </a:r>
          </a:p>
        </p:txBody>
      </p:sp>
      <p:sp>
        <p:nvSpPr>
          <p:cNvPr id="1092614" name="Rectangle 6" descr="信纸"/>
          <p:cNvSpPr>
            <a:spLocks noChangeArrowheads="1"/>
          </p:cNvSpPr>
          <p:nvPr/>
        </p:nvSpPr>
        <p:spPr bwMode="auto">
          <a:xfrm>
            <a:off x="615503" y="821056"/>
            <a:ext cx="5624513" cy="4397375"/>
          </a:xfrm>
          <a:prstGeom prst="rect">
            <a:avLst/>
          </a:prstGeom>
          <a:blipFill dpi="0" rotWithShape="1">
            <a:blip r:embed="rId4" cstate="print"/>
            <a:srcRect/>
            <a:tile tx="0" ty="0" sx="100000" sy="100000" flip="none" algn="tl"/>
          </a:blipFill>
          <a:ln w="38100">
            <a:solidFill>
              <a:srgbClr val="008000"/>
            </a:solidFill>
            <a:miter lim="800000"/>
            <a:headEnd/>
            <a:tailEnd/>
          </a:ln>
          <a:effectLst>
            <a:outerShdw blurRad="50800" dist="106680" dir="2700000" algn="tl" rotWithShape="0">
              <a:prstClr val="black">
                <a:alpha val="43000"/>
              </a:prstClr>
            </a:outerShdw>
          </a:effectLst>
          <a:scene3d>
            <a:camera prst="orthographicFront"/>
            <a:lightRig rig="threePt" dir="t"/>
          </a:scene3d>
          <a:sp3d>
            <a:bevelT w="114300" prst="hardEdge"/>
          </a:sp3d>
        </p:spPr>
        <p:txBody>
          <a:bodyPr wrap="none" anchor="ctr">
            <a:spAutoFit/>
          </a:bodyPr>
          <a:lstStyle/>
          <a:p>
            <a:pPr marL="457200" indent="-457200">
              <a:tabLst>
                <a:tab pos="914400" algn="l"/>
              </a:tabLst>
            </a:pPr>
            <a:r>
              <a:rPr lang="en-US" altLang="zh-CN" sz="2000" b="1" dirty="0">
                <a:solidFill>
                  <a:schemeClr val="accent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楷体" pitchFamily="49" charset="-122"/>
              </a:rPr>
              <a:t>//</a:t>
            </a:r>
            <a:r>
              <a:rPr lang="zh-CN" altLang="en-US" sz="2000" b="1" dirty="0">
                <a:solidFill>
                  <a:schemeClr val="accent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楷体" pitchFamily="49" charset="-122"/>
              </a:rPr>
              <a:t>将</a:t>
            </a:r>
            <a:r>
              <a:rPr lang="en-US" altLang="zh-CN" sz="2000" b="1" dirty="0" err="1">
                <a:solidFill>
                  <a:schemeClr val="accent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楷体" pitchFamily="49" charset="-122"/>
              </a:rPr>
              <a:t>pstu</a:t>
            </a:r>
            <a:r>
              <a:rPr lang="zh-CN" altLang="en-US" sz="2000" b="1" dirty="0">
                <a:solidFill>
                  <a:schemeClr val="accent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楷体" pitchFamily="49" charset="-122"/>
              </a:rPr>
              <a:t>所指向的学生信息写入文件</a:t>
            </a:r>
            <a:r>
              <a:rPr lang="en-US" altLang="zh-CN" sz="2000" b="1" dirty="0">
                <a:solidFill>
                  <a:schemeClr val="accent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楷体" pitchFamily="49" charset="-122"/>
              </a:rPr>
              <a:t>student.dat</a:t>
            </a:r>
            <a:r>
              <a:rPr lang="zh-CN" altLang="en-US" sz="2000" b="1" dirty="0">
                <a:solidFill>
                  <a:schemeClr val="accent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楷体" pitchFamily="49" charset="-122"/>
              </a:rPr>
              <a:t>中</a:t>
            </a:r>
          </a:p>
          <a:p>
            <a:pPr marL="457200" indent="-457200">
              <a:tabLst>
                <a:tab pos="914400" algn="l"/>
              </a:tabLst>
            </a:pPr>
            <a:r>
              <a:rPr lang="en-US" altLang="zh-CN" sz="2000" b="1" dirty="0">
                <a:solidFill>
                  <a:srgbClr val="CC00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void </a:t>
            </a:r>
            <a:r>
              <a:rPr lang="en-US" altLang="zh-CN" sz="2000" b="1" dirty="0" err="1">
                <a:solidFill>
                  <a:srgbClr val="CC00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WriteToFile</a:t>
            </a:r>
            <a:r>
              <a:rPr lang="en-US" altLang="zh-CN" sz="2000" b="1" dirty="0">
                <a:solidFill>
                  <a:srgbClr val="CC00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 (STUINFO *</a:t>
            </a:r>
            <a:r>
              <a:rPr lang="en-US" altLang="zh-CN" sz="2000" b="1" dirty="0" err="1">
                <a:solidFill>
                  <a:srgbClr val="CC00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pstu</a:t>
            </a:r>
            <a:r>
              <a:rPr lang="en-US" altLang="zh-CN" sz="2000" b="1" dirty="0">
                <a:solidFill>
                  <a:srgbClr val="CC00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, </a:t>
            </a:r>
            <a:r>
              <a:rPr lang="en-US" altLang="zh-CN" sz="2000" b="1" dirty="0" err="1">
                <a:solidFill>
                  <a:srgbClr val="CC00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int</a:t>
            </a:r>
            <a:r>
              <a:rPr lang="en-US" altLang="zh-CN" sz="2000" b="1" dirty="0">
                <a:solidFill>
                  <a:srgbClr val="CC00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 num)</a:t>
            </a:r>
          </a:p>
          <a:p>
            <a:pPr marL="457200" indent="-457200">
              <a:tabLst>
                <a:tab pos="914400" algn="l"/>
              </a:tabLst>
            </a:pPr>
            <a:r>
              <a:rPr lang="en-US" altLang="zh-CN" sz="2000" b="1" dirty="0">
                <a:effectLst>
                  <a:outerShdw blurRad="38100" dist="38100" dir="2700000" algn="tl">
                    <a:srgbClr val="FFFFFF"/>
                  </a:outerShdw>
                </a:effectLst>
              </a:rPr>
              <a:t>{</a:t>
            </a:r>
          </a:p>
          <a:p>
            <a:pPr marL="457200" indent="-457200">
              <a:tabLst>
                <a:tab pos="914400" algn="l"/>
              </a:tabLst>
            </a:pPr>
            <a:r>
              <a:rPr lang="en-US" altLang="zh-CN" sz="2000" b="1" dirty="0">
                <a:effectLst>
                  <a:outerShdw blurRad="38100" dist="38100" dir="2700000" algn="tl">
                    <a:srgbClr val="FFFFFF"/>
                  </a:outerShdw>
                </a:effectLst>
              </a:rPr>
              <a:t>    FILE *</a:t>
            </a:r>
            <a:r>
              <a:rPr lang="en-US" altLang="zh-CN" sz="2000" b="1" dirty="0" err="1">
                <a:effectLst>
                  <a:outerShdw blurRad="38100" dist="38100" dir="2700000" algn="tl">
                    <a:srgbClr val="FFFFFF"/>
                  </a:outerShdw>
                </a:effectLst>
              </a:rPr>
              <a:t>fp</a:t>
            </a:r>
            <a:r>
              <a:rPr lang="en-US" altLang="zh-CN" sz="2000" b="1" dirty="0">
                <a:effectLst>
                  <a:outerShdw blurRad="38100" dist="38100" dir="2700000" algn="tl">
                    <a:srgbClr val="FFFFFF"/>
                  </a:outerShdw>
                </a:effectLst>
              </a:rPr>
              <a:t>;</a:t>
            </a:r>
          </a:p>
          <a:p>
            <a:pPr marL="457200" indent="-457200">
              <a:tabLst>
                <a:tab pos="914400" algn="l"/>
              </a:tabLst>
            </a:pPr>
            <a:r>
              <a:rPr lang="en-US" altLang="zh-CN" sz="2000" b="1" dirty="0">
                <a:effectLst>
                  <a:outerShdw blurRad="38100" dist="38100" dir="2700000" algn="tl">
                    <a:srgbClr val="FFFFFF"/>
                  </a:outerShdw>
                </a:effectLst>
              </a:rPr>
              <a:t>    </a:t>
            </a:r>
            <a:r>
              <a:rPr lang="en-US" altLang="zh-CN" sz="2000" b="1" dirty="0" err="1">
                <a:effectLst>
                  <a:outerShdw blurRad="38100" dist="38100" dir="2700000" algn="tl">
                    <a:srgbClr val="FFFFFF"/>
                  </a:outerShdw>
                </a:effectLst>
              </a:rPr>
              <a:t>fp</a:t>
            </a:r>
            <a:r>
              <a:rPr lang="en-US" altLang="zh-CN" sz="2000" b="1" dirty="0">
                <a:effectLst>
                  <a:outerShdw blurRad="38100" dist="38100" dir="2700000" algn="tl">
                    <a:srgbClr val="FFFFFF"/>
                  </a:outerShdw>
                </a:effectLst>
              </a:rPr>
              <a:t> = </a:t>
            </a:r>
            <a:r>
              <a:rPr lang="en-US" altLang="zh-CN" sz="2000" b="1" dirty="0" err="1">
                <a:effectLst>
                  <a:outerShdw blurRad="38100" dist="38100" dir="2700000" algn="tl">
                    <a:srgbClr val="FFFFFF"/>
                  </a:outerShdw>
                </a:effectLst>
              </a:rPr>
              <a:t>fopen</a:t>
            </a:r>
            <a:r>
              <a:rPr lang="en-US" altLang="zh-CN" sz="2000" b="1" dirty="0">
                <a:effectLst>
                  <a:outerShdw blurRad="38100" dist="38100" dir="2700000" algn="tl">
                    <a:srgbClr val="FFFFFF"/>
                  </a:outerShdw>
                </a:effectLst>
              </a:rPr>
              <a:t> ("student.dat", "</a:t>
            </a:r>
            <a:r>
              <a:rPr lang="en-US" altLang="zh-CN" sz="2000" b="1" dirty="0" err="1">
                <a:effectLst>
                  <a:outerShdw blurRad="38100" dist="38100" dir="2700000" algn="tl">
                    <a:srgbClr val="FFFFFF"/>
                  </a:outerShdw>
                </a:effectLst>
              </a:rPr>
              <a:t>wb</a:t>
            </a:r>
            <a:r>
              <a:rPr lang="en-US" altLang="zh-CN" sz="2000" b="1" dirty="0">
                <a:effectLst>
                  <a:outerShdw blurRad="38100" dist="38100" dir="2700000" algn="tl">
                    <a:srgbClr val="FFFFFF"/>
                  </a:outerShdw>
                </a:effectLst>
              </a:rPr>
              <a:t>");</a:t>
            </a:r>
          </a:p>
          <a:p>
            <a:pPr marL="457200" indent="-457200">
              <a:tabLst>
                <a:tab pos="914400" algn="l"/>
              </a:tabLst>
            </a:pPr>
            <a:r>
              <a:rPr lang="en-US" altLang="zh-CN" sz="2000" b="1" dirty="0">
                <a:effectLst>
                  <a:outerShdw blurRad="38100" dist="38100" dir="2700000" algn="tl">
                    <a:srgbClr val="FFFFFF"/>
                  </a:outerShdw>
                </a:effectLst>
              </a:rPr>
              <a:t>    if (</a:t>
            </a:r>
            <a:r>
              <a:rPr lang="en-US" altLang="zh-CN" sz="2000" b="1" dirty="0" err="1">
                <a:effectLst>
                  <a:outerShdw blurRad="38100" dist="38100" dir="2700000" algn="tl">
                    <a:srgbClr val="FFFFFF"/>
                  </a:outerShdw>
                </a:effectLst>
              </a:rPr>
              <a:t>fp</a:t>
            </a:r>
            <a:r>
              <a:rPr lang="en-US" altLang="zh-CN" sz="2000" b="1" dirty="0">
                <a:effectLst>
                  <a:outerShdw blurRad="38100" dist="38100" dir="2700000" algn="tl">
                    <a:srgbClr val="FFFFFF"/>
                  </a:outerShdw>
                </a:effectLst>
              </a:rPr>
              <a:t> = = NULL)</a:t>
            </a:r>
          </a:p>
          <a:p>
            <a:pPr marL="457200" indent="-457200">
              <a:tabLst>
                <a:tab pos="914400" algn="l"/>
              </a:tabLst>
            </a:pPr>
            <a:r>
              <a:rPr lang="en-US" altLang="zh-CN" sz="2000" b="1" dirty="0">
                <a:effectLst>
                  <a:outerShdw blurRad="38100" dist="38100" dir="2700000" algn="tl">
                    <a:srgbClr val="FFFFFF"/>
                  </a:outerShdw>
                </a:effectLst>
              </a:rPr>
              <a:t>    {</a:t>
            </a:r>
          </a:p>
          <a:p>
            <a:pPr marL="457200" indent="-457200">
              <a:tabLst>
                <a:tab pos="914400" algn="l"/>
              </a:tabLst>
            </a:pPr>
            <a:r>
              <a:rPr lang="en-US" altLang="zh-CN" sz="2000" b="1" dirty="0">
                <a:effectLst>
                  <a:outerShdw blurRad="38100" dist="38100" dir="2700000" algn="tl">
                    <a:srgbClr val="FFFFFF"/>
                  </a:outerShdw>
                </a:effectLst>
              </a:rPr>
              <a:t>      </a:t>
            </a:r>
            <a:r>
              <a:rPr lang="en-US" altLang="zh-CN" sz="2000" b="1" dirty="0" err="1">
                <a:effectLst>
                  <a:outerShdw blurRad="38100" dist="38100" dir="2700000" algn="tl">
                    <a:srgbClr val="FFFFFF"/>
                  </a:outerShdw>
                </a:effectLst>
              </a:rPr>
              <a:t>printf</a:t>
            </a:r>
            <a:r>
              <a:rPr lang="en-US" altLang="zh-CN" sz="2000" b="1" dirty="0">
                <a:effectLst>
                  <a:outerShdw blurRad="38100" dist="38100" dir="2700000" algn="tl">
                    <a:srgbClr val="FFFFFF"/>
                  </a:outerShdw>
                </a:effectLst>
              </a:rPr>
              <a:t> ("can't create student.dat\n");</a:t>
            </a:r>
          </a:p>
          <a:p>
            <a:pPr marL="457200" indent="-457200">
              <a:tabLst>
                <a:tab pos="914400" algn="l"/>
              </a:tabLst>
            </a:pPr>
            <a:r>
              <a:rPr lang="en-US" altLang="zh-CN" sz="2000" b="1" dirty="0">
                <a:effectLst>
                  <a:outerShdw blurRad="38100" dist="38100" dir="2700000" algn="tl">
                    <a:srgbClr val="FFFFFF"/>
                  </a:outerShdw>
                </a:effectLst>
              </a:rPr>
              <a:t>      free (</a:t>
            </a:r>
            <a:r>
              <a:rPr lang="en-US" altLang="zh-CN" sz="2000" b="1" dirty="0" err="1">
                <a:effectLst>
                  <a:outerShdw blurRad="38100" dist="38100" dir="2700000" algn="tl">
                    <a:srgbClr val="FFFFFF"/>
                  </a:outerShdw>
                </a:effectLst>
              </a:rPr>
              <a:t>pstu</a:t>
            </a:r>
            <a:r>
              <a:rPr lang="en-US" altLang="zh-CN" sz="2000" b="1" dirty="0">
                <a:effectLst>
                  <a:outerShdw blurRad="38100" dist="38100" dir="2700000" algn="tl">
                    <a:srgbClr val="FFFFFF"/>
                  </a:outerShdw>
                </a:effectLst>
              </a:rPr>
              <a:t>);</a:t>
            </a:r>
          </a:p>
          <a:p>
            <a:pPr marL="457200" indent="-457200">
              <a:tabLst>
                <a:tab pos="914400" algn="l"/>
              </a:tabLst>
            </a:pPr>
            <a:r>
              <a:rPr lang="en-US" altLang="zh-CN" sz="2000" b="1" dirty="0">
                <a:effectLst>
                  <a:outerShdw blurRad="38100" dist="38100" dir="2700000" algn="tl">
                    <a:srgbClr val="FFFFFF"/>
                  </a:outerShdw>
                </a:effectLst>
              </a:rPr>
              <a:t>      exit (0);</a:t>
            </a:r>
          </a:p>
          <a:p>
            <a:pPr marL="457200" indent="-457200">
              <a:tabLst>
                <a:tab pos="914400" algn="l"/>
              </a:tabLst>
            </a:pPr>
            <a:r>
              <a:rPr lang="en-US" altLang="zh-CN" sz="2000" b="1" dirty="0">
                <a:effectLst>
                  <a:outerShdw blurRad="38100" dist="38100" dir="2700000" algn="tl">
                    <a:srgbClr val="FFFFFF"/>
                  </a:outerShdw>
                </a:effectLst>
              </a:rPr>
              <a:t>    }</a:t>
            </a:r>
          </a:p>
          <a:p>
            <a:pPr marL="457200" indent="-457200">
              <a:tabLst>
                <a:tab pos="914400" algn="l"/>
              </a:tabLst>
            </a:pPr>
            <a:r>
              <a:rPr lang="en-US" altLang="zh-CN" sz="2000" b="1" dirty="0">
                <a:effectLst>
                  <a:outerShdw blurRad="38100" dist="38100" dir="2700000" algn="tl">
                    <a:srgbClr val="FFFFFF"/>
                  </a:outerShdw>
                </a:effectLst>
              </a:rPr>
              <a:t>    </a:t>
            </a:r>
            <a:r>
              <a:rPr lang="en-US" altLang="zh-CN" sz="2000" b="1" dirty="0" err="1">
                <a:effectLst>
                  <a:outerShdw blurRad="38100" dist="38100" dir="2700000" algn="tl">
                    <a:srgbClr val="FFFFFF"/>
                  </a:outerShdw>
                </a:effectLst>
              </a:rPr>
              <a:t>fwrite</a:t>
            </a:r>
            <a:r>
              <a:rPr lang="en-US" altLang="zh-CN" sz="2000" b="1" dirty="0">
                <a:effectLst>
                  <a:outerShdw blurRad="38100" dist="38100" dir="2700000" algn="tl">
                    <a:srgbClr val="FFFFFF"/>
                  </a:outerShdw>
                </a:effectLst>
              </a:rPr>
              <a:t> (</a:t>
            </a:r>
            <a:r>
              <a:rPr lang="en-US" altLang="zh-CN" sz="2000" b="1" dirty="0" err="1">
                <a:effectLst>
                  <a:outerShdw blurRad="38100" dist="38100" dir="2700000" algn="tl">
                    <a:srgbClr val="FFFFFF"/>
                  </a:outerShdw>
                </a:effectLst>
              </a:rPr>
              <a:t>pstu</a:t>
            </a:r>
            <a:r>
              <a:rPr lang="en-US" altLang="zh-CN" sz="2000" b="1" dirty="0">
                <a:effectLst>
                  <a:outerShdw blurRad="38100" dist="38100" dir="2700000" algn="tl">
                    <a:srgbClr val="FFFFFF"/>
                  </a:outerShdw>
                </a:effectLst>
              </a:rPr>
              <a:t>, </a:t>
            </a:r>
            <a:r>
              <a:rPr lang="en-US" altLang="zh-CN" sz="2000" b="1" dirty="0" err="1">
                <a:effectLst>
                  <a:outerShdw blurRad="38100" dist="38100" dir="2700000" algn="tl">
                    <a:srgbClr val="FFFFFF"/>
                  </a:outerShdw>
                </a:effectLst>
              </a:rPr>
              <a:t>sizeof</a:t>
            </a:r>
            <a:r>
              <a:rPr lang="en-US" altLang="zh-CN" sz="2000" b="1" dirty="0">
                <a:effectLst>
                  <a:outerShdw blurRad="38100" dist="38100" dir="2700000" algn="tl">
                    <a:srgbClr val="FFFFFF"/>
                  </a:outerShdw>
                </a:effectLst>
              </a:rPr>
              <a:t>(STUINFO), num, </a:t>
            </a:r>
            <a:r>
              <a:rPr lang="en-US" altLang="zh-CN" sz="2000" b="1" dirty="0" err="1">
                <a:effectLst>
                  <a:outerShdw blurRad="38100" dist="38100" dir="2700000" algn="tl">
                    <a:srgbClr val="FFFFFF"/>
                  </a:outerShdw>
                </a:effectLst>
              </a:rPr>
              <a:t>fp</a:t>
            </a:r>
            <a:r>
              <a:rPr lang="en-US" altLang="zh-CN" sz="2000" b="1" dirty="0">
                <a:effectLst>
                  <a:outerShdw blurRad="38100" dist="38100" dir="2700000" algn="tl">
                    <a:srgbClr val="FFFFFF"/>
                  </a:outerShdw>
                </a:effectLst>
              </a:rPr>
              <a:t>);</a:t>
            </a:r>
          </a:p>
          <a:p>
            <a:pPr marL="457200" indent="-457200">
              <a:tabLst>
                <a:tab pos="914400" algn="l"/>
              </a:tabLst>
            </a:pPr>
            <a:r>
              <a:rPr lang="en-US" altLang="zh-CN" sz="2000" b="1" dirty="0">
                <a:effectLst>
                  <a:outerShdw blurRad="38100" dist="38100" dir="2700000" algn="tl">
                    <a:srgbClr val="FFFFFF"/>
                  </a:outerShdw>
                </a:effectLst>
              </a:rPr>
              <a:t>    </a:t>
            </a:r>
            <a:r>
              <a:rPr lang="en-US" altLang="zh-CN" sz="2000" b="1" dirty="0" err="1">
                <a:effectLst>
                  <a:outerShdw blurRad="38100" dist="38100" dir="2700000" algn="tl">
                    <a:srgbClr val="FFFFFF"/>
                  </a:outerShdw>
                </a:effectLst>
              </a:rPr>
              <a:t>fclose</a:t>
            </a:r>
            <a:r>
              <a:rPr lang="en-US" altLang="zh-CN" sz="2000" b="1" dirty="0">
                <a:effectLst>
                  <a:outerShdw blurRad="38100" dist="38100" dir="2700000" algn="tl">
                    <a:srgbClr val="FFFFFF"/>
                  </a:outerShdw>
                </a:effectLst>
              </a:rPr>
              <a:t> (</a:t>
            </a:r>
            <a:r>
              <a:rPr lang="en-US" altLang="zh-CN" sz="2000" b="1" dirty="0" err="1">
                <a:effectLst>
                  <a:outerShdw blurRad="38100" dist="38100" dir="2700000" algn="tl">
                    <a:srgbClr val="FFFFFF"/>
                  </a:outerShdw>
                </a:effectLst>
              </a:rPr>
              <a:t>fp</a:t>
            </a:r>
            <a:r>
              <a:rPr lang="en-US" altLang="zh-CN" sz="2000" b="1" dirty="0">
                <a:effectLst>
                  <a:outerShdw blurRad="38100" dist="38100" dir="2700000" algn="tl">
                    <a:srgbClr val="FFFFFF"/>
                  </a:outerShdw>
                </a:effectLst>
              </a:rPr>
              <a:t>);</a:t>
            </a:r>
          </a:p>
          <a:p>
            <a:pPr marL="457200" indent="-457200">
              <a:tabLst>
                <a:tab pos="914400" algn="l"/>
              </a:tabLst>
            </a:pPr>
            <a:r>
              <a:rPr lang="en-US" altLang="zh-CN" sz="2000" b="1" dirty="0">
                <a:effectLst>
                  <a:outerShdw blurRad="38100" dist="38100" dir="2700000" algn="tl">
                    <a:srgbClr val="FFFFFF"/>
                  </a:outerShdw>
                </a:effectLst>
              </a:rPr>
              <a:t>}</a:t>
            </a:r>
          </a:p>
        </p:txBody>
      </p:sp>
      <p:sp>
        <p:nvSpPr>
          <p:cNvPr id="1092616" name="Rectangle 8" descr="信纸"/>
          <p:cNvSpPr>
            <a:spLocks noChangeArrowheads="1"/>
          </p:cNvSpPr>
          <p:nvPr/>
        </p:nvSpPr>
        <p:spPr bwMode="auto">
          <a:xfrm>
            <a:off x="6552425" y="1844824"/>
            <a:ext cx="5327650" cy="4702175"/>
          </a:xfrm>
          <a:prstGeom prst="rect">
            <a:avLst/>
          </a:prstGeom>
          <a:blipFill dpi="0" rotWithShape="1">
            <a:blip r:embed="rId4" cstate="print"/>
            <a:srcRect/>
            <a:tile tx="0" ty="0" sx="100000" sy="100000" flip="none" algn="tl"/>
          </a:blipFill>
          <a:ln w="38100">
            <a:solidFill>
              <a:srgbClr val="008000"/>
            </a:solidFill>
            <a:miter lim="800000"/>
            <a:headEnd/>
            <a:tailEnd/>
          </a:ln>
          <a:effectLst>
            <a:outerShdw blurRad="50800" dist="106680" dir="2700000" algn="tl" rotWithShape="0">
              <a:prstClr val="black">
                <a:alpha val="43000"/>
              </a:prstClr>
            </a:outerShdw>
          </a:effectLst>
          <a:scene3d>
            <a:camera prst="orthographicFront"/>
            <a:lightRig rig="threePt" dir="t"/>
          </a:scene3d>
          <a:sp3d>
            <a:bevelT w="114300" prst="hardEdge"/>
          </a:sp3d>
        </p:spPr>
        <p:txBody>
          <a:bodyPr wrap="none" anchor="ctr">
            <a:spAutoFit/>
          </a:bodyPr>
          <a:lstStyle/>
          <a:p>
            <a:pPr marL="457200" indent="-457200">
              <a:tabLst>
                <a:tab pos="914400" algn="l"/>
              </a:tabLst>
            </a:pPr>
            <a:r>
              <a:rPr lang="en-US" altLang="zh-CN" sz="2000" b="1" dirty="0">
                <a:solidFill>
                  <a:schemeClr val="accent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楷体_GB2312" pitchFamily="49" charset="-122"/>
              </a:rPr>
              <a:t>//</a:t>
            </a:r>
            <a:r>
              <a:rPr lang="zh-CN" altLang="en-US" sz="2000" b="1" dirty="0">
                <a:solidFill>
                  <a:schemeClr val="accent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楷体" pitchFamily="49" charset="-122"/>
              </a:rPr>
              <a:t>从文件</a:t>
            </a:r>
            <a:r>
              <a:rPr lang="en-US" altLang="zh-CN" sz="2000" b="1" dirty="0">
                <a:solidFill>
                  <a:schemeClr val="accent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楷体" pitchFamily="49" charset="-122"/>
              </a:rPr>
              <a:t>student.dat</a:t>
            </a:r>
            <a:r>
              <a:rPr lang="zh-CN" altLang="en-US" sz="2000" b="1" dirty="0">
                <a:solidFill>
                  <a:schemeClr val="accent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楷体" pitchFamily="49" charset="-122"/>
              </a:rPr>
              <a:t>中读取学生信息</a:t>
            </a:r>
          </a:p>
          <a:p>
            <a:pPr marL="457200" indent="-457200">
              <a:tabLst>
                <a:tab pos="914400" algn="l"/>
              </a:tabLst>
            </a:pPr>
            <a:r>
              <a:rPr lang="zh-CN" altLang="en-US" sz="2000" b="1" dirty="0">
                <a:solidFill>
                  <a:schemeClr val="accent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楷体" pitchFamily="49" charset="-122"/>
              </a:rPr>
              <a:t>  到</a:t>
            </a:r>
            <a:r>
              <a:rPr lang="en-US" altLang="zh-CN" sz="2000" b="1" dirty="0" err="1">
                <a:solidFill>
                  <a:schemeClr val="accent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楷体" pitchFamily="49" charset="-122"/>
              </a:rPr>
              <a:t>pstu</a:t>
            </a:r>
            <a:r>
              <a:rPr lang="zh-CN" altLang="en-US" sz="2000" b="1" dirty="0">
                <a:solidFill>
                  <a:schemeClr val="accent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楷体" pitchFamily="49" charset="-122"/>
              </a:rPr>
              <a:t>所指向的内存块中</a:t>
            </a:r>
          </a:p>
          <a:p>
            <a:pPr marL="457200" indent="-457200">
              <a:tabLst>
                <a:tab pos="914400" algn="l"/>
              </a:tabLst>
            </a:pPr>
            <a:r>
              <a:rPr lang="en-US" altLang="zh-CN" sz="2000" b="1" dirty="0">
                <a:solidFill>
                  <a:srgbClr val="CC00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void </a:t>
            </a:r>
            <a:r>
              <a:rPr lang="en-US" altLang="zh-CN" sz="2000" b="1" dirty="0" err="1">
                <a:solidFill>
                  <a:srgbClr val="CC00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ReadFromFile</a:t>
            </a:r>
            <a:r>
              <a:rPr lang="en-US" altLang="zh-CN" sz="2000" b="1" dirty="0">
                <a:solidFill>
                  <a:srgbClr val="CC00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 (STUINFO *</a:t>
            </a:r>
            <a:r>
              <a:rPr lang="en-US" altLang="zh-CN" sz="2000" b="1" dirty="0" err="1">
                <a:solidFill>
                  <a:srgbClr val="CC00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pstu</a:t>
            </a:r>
            <a:r>
              <a:rPr lang="en-US" altLang="zh-CN" sz="2000" b="1" dirty="0">
                <a:solidFill>
                  <a:srgbClr val="CC00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, </a:t>
            </a:r>
            <a:r>
              <a:rPr lang="en-US" altLang="zh-CN" sz="2000" b="1" dirty="0" err="1">
                <a:solidFill>
                  <a:srgbClr val="CC00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int</a:t>
            </a:r>
            <a:r>
              <a:rPr lang="en-US" altLang="zh-CN" sz="2000" b="1" dirty="0">
                <a:solidFill>
                  <a:srgbClr val="CC00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 num)</a:t>
            </a:r>
          </a:p>
          <a:p>
            <a:pPr marL="457200" indent="-457200">
              <a:tabLst>
                <a:tab pos="914400" algn="l"/>
              </a:tabLst>
            </a:pPr>
            <a:r>
              <a:rPr lang="en-US" altLang="zh-CN" sz="2000" b="1" dirty="0">
                <a:effectLst>
                  <a:outerShdw blurRad="38100" dist="38100" dir="2700000" algn="tl">
                    <a:srgbClr val="FFFFFF"/>
                  </a:outerShdw>
                </a:effectLst>
              </a:rPr>
              <a:t>{</a:t>
            </a:r>
          </a:p>
          <a:p>
            <a:pPr marL="457200" indent="-457200">
              <a:tabLst>
                <a:tab pos="914400" algn="l"/>
              </a:tabLst>
            </a:pPr>
            <a:r>
              <a:rPr lang="en-US" altLang="zh-CN" sz="2000" b="1" dirty="0">
                <a:effectLst>
                  <a:outerShdw blurRad="38100" dist="38100" dir="2700000" algn="tl">
                    <a:srgbClr val="FFFFFF"/>
                  </a:outerShdw>
                </a:effectLst>
              </a:rPr>
              <a:t>    FILE *</a:t>
            </a:r>
            <a:r>
              <a:rPr lang="en-US" altLang="zh-CN" sz="2000" b="1" dirty="0" err="1">
                <a:effectLst>
                  <a:outerShdw blurRad="38100" dist="38100" dir="2700000" algn="tl">
                    <a:srgbClr val="FFFFFF"/>
                  </a:outerShdw>
                </a:effectLst>
              </a:rPr>
              <a:t>fp</a:t>
            </a:r>
            <a:r>
              <a:rPr lang="en-US" altLang="zh-CN" sz="2000" b="1" dirty="0">
                <a:effectLst>
                  <a:outerShdw blurRad="38100" dist="38100" dir="2700000" algn="tl">
                    <a:srgbClr val="FFFFFF"/>
                  </a:outerShdw>
                </a:effectLst>
              </a:rPr>
              <a:t>;</a:t>
            </a:r>
          </a:p>
          <a:p>
            <a:pPr marL="457200" indent="-457200">
              <a:tabLst>
                <a:tab pos="914400" algn="l"/>
              </a:tabLst>
            </a:pPr>
            <a:r>
              <a:rPr lang="en-US" altLang="zh-CN" sz="2000" b="1" dirty="0">
                <a:effectLst>
                  <a:outerShdw blurRad="38100" dist="38100" dir="2700000" algn="tl">
                    <a:srgbClr val="FFFFFF"/>
                  </a:outerShdw>
                </a:effectLst>
              </a:rPr>
              <a:t>    </a:t>
            </a:r>
            <a:r>
              <a:rPr lang="en-US" altLang="zh-CN" sz="2000" b="1" dirty="0" err="1">
                <a:effectLst>
                  <a:outerShdw blurRad="38100" dist="38100" dir="2700000" algn="tl">
                    <a:srgbClr val="FFFFFF"/>
                  </a:outerShdw>
                </a:effectLst>
              </a:rPr>
              <a:t>fp</a:t>
            </a:r>
            <a:r>
              <a:rPr lang="en-US" altLang="zh-CN" sz="2000" b="1" dirty="0">
                <a:effectLst>
                  <a:outerShdw blurRad="38100" dist="38100" dir="2700000" algn="tl">
                    <a:srgbClr val="FFFFFF"/>
                  </a:outerShdw>
                </a:effectLst>
              </a:rPr>
              <a:t> = </a:t>
            </a:r>
            <a:r>
              <a:rPr lang="en-US" altLang="zh-CN" sz="2000" b="1" dirty="0" err="1">
                <a:effectLst>
                  <a:outerShdw blurRad="38100" dist="38100" dir="2700000" algn="tl">
                    <a:srgbClr val="FFFFFF"/>
                  </a:outerShdw>
                </a:effectLst>
              </a:rPr>
              <a:t>fopen</a:t>
            </a:r>
            <a:r>
              <a:rPr lang="en-US" altLang="zh-CN" sz="2000" b="1" dirty="0">
                <a:effectLst>
                  <a:outerShdw blurRad="38100" dist="38100" dir="2700000" algn="tl">
                    <a:srgbClr val="FFFFFF"/>
                  </a:outerShdw>
                </a:effectLst>
              </a:rPr>
              <a:t> ("student.dat", "</a:t>
            </a:r>
            <a:r>
              <a:rPr lang="en-US" altLang="zh-CN" sz="2000" b="1" dirty="0" err="1">
                <a:effectLst>
                  <a:outerShdw blurRad="38100" dist="38100" dir="2700000" algn="tl">
                    <a:srgbClr val="FFFFFF"/>
                  </a:outerShdw>
                </a:effectLst>
              </a:rPr>
              <a:t>rb</a:t>
            </a:r>
            <a:r>
              <a:rPr lang="en-US" altLang="zh-CN" sz="2000" b="1" dirty="0">
                <a:effectLst>
                  <a:outerShdw blurRad="38100" dist="38100" dir="2700000" algn="tl">
                    <a:srgbClr val="FFFFFF"/>
                  </a:outerShdw>
                </a:effectLst>
              </a:rPr>
              <a:t>");</a:t>
            </a:r>
          </a:p>
          <a:p>
            <a:pPr marL="457200" indent="-457200">
              <a:tabLst>
                <a:tab pos="914400" algn="l"/>
              </a:tabLst>
            </a:pPr>
            <a:r>
              <a:rPr lang="en-US" altLang="zh-CN" sz="2000" b="1" dirty="0">
                <a:effectLst>
                  <a:outerShdw blurRad="38100" dist="38100" dir="2700000" algn="tl">
                    <a:srgbClr val="FFFFFF"/>
                  </a:outerShdw>
                </a:effectLst>
              </a:rPr>
              <a:t>    if (</a:t>
            </a:r>
            <a:r>
              <a:rPr lang="en-US" altLang="zh-CN" sz="2000" b="1" dirty="0" err="1">
                <a:effectLst>
                  <a:outerShdw blurRad="38100" dist="38100" dir="2700000" algn="tl">
                    <a:srgbClr val="FFFFFF"/>
                  </a:outerShdw>
                </a:effectLst>
              </a:rPr>
              <a:t>fp</a:t>
            </a:r>
            <a:r>
              <a:rPr lang="en-US" altLang="zh-CN" sz="2000" b="1" dirty="0">
                <a:effectLst>
                  <a:outerShdw blurRad="38100" dist="38100" dir="2700000" algn="tl">
                    <a:srgbClr val="FFFFFF"/>
                  </a:outerShdw>
                </a:effectLst>
              </a:rPr>
              <a:t> = = NULL)</a:t>
            </a:r>
          </a:p>
          <a:p>
            <a:pPr marL="457200" indent="-457200">
              <a:tabLst>
                <a:tab pos="914400" algn="l"/>
              </a:tabLst>
            </a:pPr>
            <a:r>
              <a:rPr lang="en-US" altLang="zh-CN" sz="2000" b="1" dirty="0">
                <a:effectLst>
                  <a:outerShdw blurRad="38100" dist="38100" dir="2700000" algn="tl">
                    <a:srgbClr val="FFFFFF"/>
                  </a:outerShdw>
                </a:effectLst>
              </a:rPr>
              <a:t>    {</a:t>
            </a:r>
          </a:p>
          <a:p>
            <a:pPr marL="457200" indent="-457200">
              <a:tabLst>
                <a:tab pos="914400" algn="l"/>
              </a:tabLst>
            </a:pPr>
            <a:r>
              <a:rPr lang="en-US" altLang="zh-CN" sz="2000" b="1" dirty="0">
                <a:effectLst>
                  <a:outerShdw blurRad="38100" dist="38100" dir="2700000" algn="tl">
                    <a:srgbClr val="FFFFFF"/>
                  </a:outerShdw>
                </a:effectLst>
              </a:rPr>
              <a:t>      </a:t>
            </a:r>
            <a:r>
              <a:rPr lang="en-US" altLang="zh-CN" sz="2000" b="1" dirty="0" err="1">
                <a:effectLst>
                  <a:outerShdw blurRad="38100" dist="38100" dir="2700000" algn="tl">
                    <a:srgbClr val="FFFFFF"/>
                  </a:outerShdw>
                </a:effectLst>
              </a:rPr>
              <a:t>printf</a:t>
            </a:r>
            <a:r>
              <a:rPr lang="en-US" altLang="zh-CN" sz="2000" b="1" dirty="0">
                <a:effectLst>
                  <a:outerShdw blurRad="38100" dist="38100" dir="2700000" algn="tl">
                    <a:srgbClr val="FFFFFF"/>
                  </a:outerShdw>
                </a:effectLst>
              </a:rPr>
              <a:t> ("can't open student.dat\n");</a:t>
            </a:r>
          </a:p>
          <a:p>
            <a:pPr marL="457200" indent="-457200">
              <a:tabLst>
                <a:tab pos="914400" algn="l"/>
              </a:tabLst>
            </a:pPr>
            <a:r>
              <a:rPr lang="en-US" altLang="zh-CN" sz="2000" b="1" dirty="0">
                <a:effectLst>
                  <a:outerShdw blurRad="38100" dist="38100" dir="2700000" algn="tl">
                    <a:srgbClr val="FFFFFF"/>
                  </a:outerShdw>
                </a:effectLst>
              </a:rPr>
              <a:t>      free (</a:t>
            </a:r>
            <a:r>
              <a:rPr lang="en-US" altLang="zh-CN" sz="2000" b="1" dirty="0" err="1">
                <a:effectLst>
                  <a:outerShdw blurRad="38100" dist="38100" dir="2700000" algn="tl">
                    <a:srgbClr val="FFFFFF"/>
                  </a:outerShdw>
                </a:effectLst>
              </a:rPr>
              <a:t>pstu</a:t>
            </a:r>
            <a:r>
              <a:rPr lang="en-US" altLang="zh-CN" sz="2000" b="1" dirty="0">
                <a:effectLst>
                  <a:outerShdw blurRad="38100" dist="38100" dir="2700000" algn="tl">
                    <a:srgbClr val="FFFFFF"/>
                  </a:outerShdw>
                </a:effectLst>
              </a:rPr>
              <a:t>);</a:t>
            </a:r>
          </a:p>
          <a:p>
            <a:pPr marL="457200" indent="-457200">
              <a:tabLst>
                <a:tab pos="914400" algn="l"/>
              </a:tabLst>
            </a:pPr>
            <a:r>
              <a:rPr lang="en-US" altLang="zh-CN" sz="2000" b="1" dirty="0">
                <a:effectLst>
                  <a:outerShdw blurRad="38100" dist="38100" dir="2700000" algn="tl">
                    <a:srgbClr val="FFFFFF"/>
                  </a:outerShdw>
                </a:effectLst>
              </a:rPr>
              <a:t>      exit (0);</a:t>
            </a:r>
          </a:p>
          <a:p>
            <a:pPr marL="457200" indent="-457200">
              <a:tabLst>
                <a:tab pos="914400" algn="l"/>
              </a:tabLst>
            </a:pPr>
            <a:r>
              <a:rPr lang="en-US" altLang="zh-CN" sz="2000" b="1" dirty="0">
                <a:effectLst>
                  <a:outerShdw blurRad="38100" dist="38100" dir="2700000" algn="tl">
                    <a:srgbClr val="FFFFFF"/>
                  </a:outerShdw>
                </a:effectLst>
              </a:rPr>
              <a:t>    }</a:t>
            </a:r>
          </a:p>
          <a:p>
            <a:pPr marL="457200" indent="-457200">
              <a:tabLst>
                <a:tab pos="914400" algn="l"/>
              </a:tabLst>
            </a:pPr>
            <a:r>
              <a:rPr lang="en-US" altLang="zh-CN" sz="2000" b="1" dirty="0">
                <a:effectLst>
                  <a:outerShdw blurRad="38100" dist="38100" dir="2700000" algn="tl">
                    <a:srgbClr val="FFFFFF"/>
                  </a:outerShdw>
                </a:effectLst>
              </a:rPr>
              <a:t>    </a:t>
            </a:r>
            <a:r>
              <a:rPr lang="en-US" altLang="zh-CN" sz="2000" b="1" dirty="0" err="1">
                <a:effectLst>
                  <a:outerShdw blurRad="38100" dist="38100" dir="2700000" algn="tl">
                    <a:srgbClr val="FFFFFF"/>
                  </a:outerShdw>
                </a:effectLst>
              </a:rPr>
              <a:t>fread</a:t>
            </a:r>
            <a:r>
              <a:rPr lang="en-US" altLang="zh-CN" sz="2000" b="1" dirty="0">
                <a:effectLst>
                  <a:outerShdw blurRad="38100" dist="38100" dir="2700000" algn="tl">
                    <a:srgbClr val="FFFFFF"/>
                  </a:outerShdw>
                </a:effectLst>
              </a:rPr>
              <a:t> (</a:t>
            </a:r>
            <a:r>
              <a:rPr lang="en-US" altLang="zh-CN" sz="2000" b="1" dirty="0" err="1">
                <a:effectLst>
                  <a:outerShdw blurRad="38100" dist="38100" dir="2700000" algn="tl">
                    <a:srgbClr val="FFFFFF"/>
                  </a:outerShdw>
                </a:effectLst>
              </a:rPr>
              <a:t>pstu</a:t>
            </a:r>
            <a:r>
              <a:rPr lang="en-US" altLang="zh-CN" sz="2000" b="1" dirty="0">
                <a:effectLst>
                  <a:outerShdw blurRad="38100" dist="38100" dir="2700000" algn="tl">
                    <a:srgbClr val="FFFFFF"/>
                  </a:outerShdw>
                </a:effectLst>
              </a:rPr>
              <a:t>, </a:t>
            </a:r>
            <a:r>
              <a:rPr lang="en-US" altLang="zh-CN" sz="2000" b="1" dirty="0" err="1">
                <a:effectLst>
                  <a:outerShdw blurRad="38100" dist="38100" dir="2700000" algn="tl">
                    <a:srgbClr val="FFFFFF"/>
                  </a:outerShdw>
                </a:effectLst>
              </a:rPr>
              <a:t>sizeof</a:t>
            </a:r>
            <a:r>
              <a:rPr lang="en-US" altLang="zh-CN" sz="2000" b="1" dirty="0">
                <a:effectLst>
                  <a:outerShdw blurRad="38100" dist="38100" dir="2700000" algn="tl">
                    <a:srgbClr val="FFFFFF"/>
                  </a:outerShdw>
                </a:effectLst>
              </a:rPr>
              <a:t>(STUINFO), num, </a:t>
            </a:r>
            <a:r>
              <a:rPr lang="en-US" altLang="zh-CN" sz="2000" b="1" dirty="0" err="1">
                <a:effectLst>
                  <a:outerShdw blurRad="38100" dist="38100" dir="2700000" algn="tl">
                    <a:srgbClr val="FFFFFF"/>
                  </a:outerShdw>
                </a:effectLst>
              </a:rPr>
              <a:t>fp</a:t>
            </a:r>
            <a:r>
              <a:rPr lang="en-US" altLang="zh-CN" sz="2000" b="1" dirty="0">
                <a:effectLst>
                  <a:outerShdw blurRad="38100" dist="38100" dir="2700000" algn="tl">
                    <a:srgbClr val="FFFFFF"/>
                  </a:outerShdw>
                </a:effectLst>
              </a:rPr>
              <a:t>);</a:t>
            </a:r>
          </a:p>
          <a:p>
            <a:pPr marL="457200" indent="-457200">
              <a:tabLst>
                <a:tab pos="914400" algn="l"/>
              </a:tabLst>
            </a:pPr>
            <a:r>
              <a:rPr lang="en-US" altLang="zh-CN" sz="2000" b="1" dirty="0">
                <a:effectLst>
                  <a:outerShdw blurRad="38100" dist="38100" dir="2700000" algn="tl">
                    <a:srgbClr val="FFFFFF"/>
                  </a:outerShdw>
                </a:effectLst>
              </a:rPr>
              <a:t>    </a:t>
            </a:r>
            <a:r>
              <a:rPr lang="en-US" altLang="zh-CN" sz="2000" b="1" dirty="0" err="1">
                <a:effectLst>
                  <a:outerShdw blurRad="38100" dist="38100" dir="2700000" algn="tl">
                    <a:srgbClr val="FFFFFF"/>
                  </a:outerShdw>
                </a:effectLst>
              </a:rPr>
              <a:t>fclose</a:t>
            </a:r>
            <a:r>
              <a:rPr lang="en-US" altLang="zh-CN" sz="2000" b="1" dirty="0">
                <a:effectLst>
                  <a:outerShdw blurRad="38100" dist="38100" dir="2700000" algn="tl">
                    <a:srgbClr val="FFFFFF"/>
                  </a:outerShdw>
                </a:effectLst>
              </a:rPr>
              <a:t> (</a:t>
            </a:r>
            <a:r>
              <a:rPr lang="en-US" altLang="zh-CN" sz="2000" b="1" dirty="0" err="1">
                <a:effectLst>
                  <a:outerShdw blurRad="38100" dist="38100" dir="2700000" algn="tl">
                    <a:srgbClr val="FFFFFF"/>
                  </a:outerShdw>
                </a:effectLst>
              </a:rPr>
              <a:t>fp</a:t>
            </a:r>
            <a:r>
              <a:rPr lang="en-US" altLang="zh-CN" sz="2000" b="1" dirty="0">
                <a:effectLst>
                  <a:outerShdw blurRad="38100" dist="38100" dir="2700000" algn="tl">
                    <a:srgbClr val="FFFFFF"/>
                  </a:outerShdw>
                </a:effectLst>
              </a:rPr>
              <a:t>);</a:t>
            </a:r>
          </a:p>
          <a:p>
            <a:pPr marL="457200" indent="-457200">
              <a:tabLst>
                <a:tab pos="914400" algn="l"/>
              </a:tabLst>
            </a:pPr>
            <a:r>
              <a:rPr lang="en-US" altLang="zh-CN" sz="2000" b="1" dirty="0">
                <a:effectLst>
                  <a:outerShdw blurRad="38100" dist="38100" dir="2700000" algn="tl">
                    <a:srgbClr val="FFFFFF"/>
                  </a:outerShdw>
                </a:effectLst>
              </a:rPr>
              <a:t>}</a:t>
            </a:r>
          </a:p>
        </p:txBody>
      </p:sp>
      <p:grpSp>
        <p:nvGrpSpPr>
          <p:cNvPr id="1092617" name="Group 9"/>
          <p:cNvGrpSpPr>
            <a:grpSpLocks/>
          </p:cNvGrpSpPr>
          <p:nvPr/>
        </p:nvGrpSpPr>
        <p:grpSpPr bwMode="auto">
          <a:xfrm>
            <a:off x="-9822" y="0"/>
            <a:ext cx="446088" cy="6858000"/>
            <a:chOff x="0" y="0"/>
            <a:chExt cx="281" cy="4320"/>
          </a:xfrm>
        </p:grpSpPr>
        <p:sp>
          <p:nvSpPr>
            <p:cNvPr id="1092618" name="Text Box 10"/>
            <p:cNvSpPr txBox="1">
              <a:spLocks noChangeArrowheads="1"/>
            </p:cNvSpPr>
            <p:nvPr/>
          </p:nvSpPr>
          <p:spPr bwMode="auto">
            <a:xfrm>
              <a:off x="0" y="0"/>
              <a:ext cx="281" cy="4320"/>
            </a:xfrm>
            <a:prstGeom prst="rect">
              <a:avLst/>
            </a:prstGeom>
            <a:gradFill rotWithShape="0">
              <a:gsLst>
                <a:gs pos="0">
                  <a:schemeClr val="hlink">
                    <a:gamma/>
                    <a:shade val="60784"/>
                    <a:invGamma/>
                  </a:schemeClr>
                </a:gs>
                <a:gs pos="50000">
                  <a:schemeClr val="hlink"/>
                </a:gs>
                <a:gs pos="100000">
                  <a:schemeClr val="hlink">
                    <a:gamma/>
                    <a:shade val="60784"/>
                    <a:invGamma/>
                  </a:schemeClr>
                </a:gs>
              </a:gsLst>
              <a:lin ang="0" scaled="1"/>
            </a:gradFill>
            <a:ln w="9525">
              <a:noFill/>
              <a:miter lim="800000"/>
              <a:headEnd/>
              <a:tailEnd/>
            </a:ln>
            <a:effectLst/>
          </p:spPr>
          <p:txBody>
            <a:bodyPr/>
            <a:lstStyle/>
            <a:p>
              <a:pPr eaLnBrk="0" hangingPunct="0">
                <a:spcBef>
                  <a:spcPct val="50000"/>
                </a:spcBef>
              </a:pPr>
              <a:endParaRPr lang="en-US" altLang="zh-CN" sz="1800" dirty="0">
                <a:solidFill>
                  <a:srgbClr val="3333CC"/>
                </a:solidFill>
                <a:latin typeface="Verdana" pitchFamily="34" charset="0"/>
              </a:endParaRPr>
            </a:p>
            <a:p>
              <a:pPr eaLnBrk="0" hangingPunct="0">
                <a:spcBef>
                  <a:spcPct val="50000"/>
                </a:spcBef>
              </a:pPr>
              <a:r>
                <a:rPr lang="zh-CN" altLang="en-US" sz="1600" b="1" dirty="0">
                  <a:solidFill>
                    <a:srgbClr val="3333CC"/>
                  </a:solidFill>
                  <a:latin typeface="Verdana" pitchFamily="34" charset="0"/>
                </a:rPr>
                <a:t>语言程序设计教程       </a:t>
              </a:r>
            </a:p>
            <a:p>
              <a:pPr eaLnBrk="0" hangingPunct="0">
                <a:spcBef>
                  <a:spcPct val="50000"/>
                </a:spcBef>
              </a:pPr>
              <a:r>
                <a:rPr lang="zh-CN" altLang="en-US" sz="1600" b="1" dirty="0">
                  <a:solidFill>
                    <a:srgbClr val="3333CC"/>
                  </a:solidFill>
                  <a:latin typeface="Verdana" pitchFamily="34" charset="0"/>
                </a:rPr>
                <a:t>第三版</a:t>
              </a:r>
            </a:p>
            <a:p>
              <a:pPr eaLnBrk="0" hangingPunct="0">
                <a:spcBef>
                  <a:spcPct val="50000"/>
                </a:spcBef>
              </a:pPr>
              <a:endParaRPr lang="zh-CN" altLang="en-US" sz="1600" b="1" dirty="0">
                <a:solidFill>
                  <a:srgbClr val="3333CC"/>
                </a:solidFill>
                <a:latin typeface="Verdana" pitchFamily="34" charset="0"/>
              </a:endParaRPr>
            </a:p>
            <a:p>
              <a:pPr eaLnBrk="0" hangingPunct="0">
                <a:spcBef>
                  <a:spcPct val="50000"/>
                </a:spcBef>
              </a:pPr>
              <a:endParaRPr lang="zh-CN" altLang="en-US" sz="1600" b="1" dirty="0">
                <a:solidFill>
                  <a:srgbClr val="3333CC"/>
                </a:solidFill>
                <a:latin typeface="Verdana" pitchFamily="34" charset="0"/>
              </a:endParaRPr>
            </a:p>
            <a:p>
              <a:pPr eaLnBrk="0" hangingPunct="0">
                <a:spcBef>
                  <a:spcPct val="50000"/>
                </a:spcBef>
              </a:pPr>
              <a:r>
                <a:rPr lang="zh-CN" altLang="en-US" sz="1600" b="1" dirty="0">
                  <a:solidFill>
                    <a:srgbClr val="3333CC"/>
                  </a:solidFill>
                  <a:latin typeface="Verdana" pitchFamily="34" charset="0"/>
                </a:rPr>
                <a:t>第十</a:t>
              </a:r>
            </a:p>
            <a:p>
              <a:pPr eaLnBrk="0" hangingPunct="0">
                <a:spcBef>
                  <a:spcPct val="50000"/>
                </a:spcBef>
              </a:pPr>
              <a:r>
                <a:rPr lang="zh-CN" altLang="en-US" sz="1600" b="1" dirty="0">
                  <a:solidFill>
                    <a:srgbClr val="3333CC"/>
                  </a:solidFill>
                  <a:latin typeface="Verdana" pitchFamily="34" charset="0"/>
                </a:rPr>
                <a:t>二章 </a:t>
              </a:r>
            </a:p>
            <a:p>
              <a:pPr eaLnBrk="0" hangingPunct="0">
                <a:spcBef>
                  <a:spcPct val="50000"/>
                </a:spcBef>
              </a:pPr>
              <a:endParaRPr lang="zh-CN" altLang="en-US" sz="1600" b="1" dirty="0">
                <a:solidFill>
                  <a:srgbClr val="3333CC"/>
                </a:solidFill>
                <a:latin typeface="Verdana" pitchFamily="34" charset="0"/>
              </a:endParaRPr>
            </a:p>
            <a:p>
              <a:pPr eaLnBrk="0" hangingPunct="0">
                <a:spcBef>
                  <a:spcPct val="50000"/>
                </a:spcBef>
              </a:pPr>
              <a:r>
                <a:rPr lang="zh-CN" altLang="en-US" sz="1600" b="1" dirty="0">
                  <a:solidFill>
                    <a:srgbClr val="3333CC"/>
                  </a:solidFill>
                  <a:latin typeface="Verdana" pitchFamily="34" charset="0"/>
                </a:rPr>
                <a:t>文</a:t>
              </a:r>
            </a:p>
            <a:p>
              <a:pPr eaLnBrk="0" hangingPunct="0">
                <a:spcBef>
                  <a:spcPct val="50000"/>
                </a:spcBef>
              </a:pPr>
              <a:endParaRPr lang="zh-CN" altLang="en-US" sz="1600" b="1" dirty="0">
                <a:solidFill>
                  <a:srgbClr val="3333CC"/>
                </a:solidFill>
                <a:latin typeface="Verdana" pitchFamily="34" charset="0"/>
              </a:endParaRPr>
            </a:p>
            <a:p>
              <a:pPr eaLnBrk="0" hangingPunct="0">
                <a:spcBef>
                  <a:spcPct val="50000"/>
                </a:spcBef>
              </a:pPr>
              <a:r>
                <a:rPr lang="zh-CN" altLang="en-US" sz="1600" b="1" dirty="0">
                  <a:solidFill>
                    <a:srgbClr val="3333CC"/>
                  </a:solidFill>
                  <a:latin typeface="Verdana" pitchFamily="34" charset="0"/>
                </a:rPr>
                <a:t>件</a:t>
              </a:r>
            </a:p>
          </p:txBody>
        </p:sp>
        <p:sp>
          <p:nvSpPr>
            <p:cNvPr id="1092619" name="Text Box 11"/>
            <p:cNvSpPr txBox="1">
              <a:spLocks noChangeArrowheads="1"/>
            </p:cNvSpPr>
            <p:nvPr/>
          </p:nvSpPr>
          <p:spPr bwMode="auto">
            <a:xfrm>
              <a:off x="0" y="0"/>
              <a:ext cx="281" cy="231"/>
            </a:xfrm>
            <a:prstGeom prst="rect">
              <a:avLst/>
            </a:prstGeom>
            <a:gradFill rotWithShape="0">
              <a:gsLst>
                <a:gs pos="0">
                  <a:schemeClr val="hlink">
                    <a:gamma/>
                    <a:shade val="46275"/>
                    <a:invGamma/>
                  </a:schemeClr>
                </a:gs>
                <a:gs pos="50000">
                  <a:schemeClr val="hlink"/>
                </a:gs>
                <a:gs pos="100000">
                  <a:schemeClr val="hlink">
                    <a:gamma/>
                    <a:shade val="46275"/>
                    <a:invGamma/>
                  </a:schemeClr>
                </a:gs>
              </a:gsLst>
              <a:lin ang="0" scaled="1"/>
            </a:gradFill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eaLnBrk="0" hangingPunct="0">
                <a:spcBef>
                  <a:spcPct val="50000"/>
                </a:spcBef>
              </a:pPr>
              <a:r>
                <a:rPr lang="en-US" altLang="zh-CN" sz="1800" b="1">
                  <a:solidFill>
                    <a:srgbClr val="0000FF"/>
                  </a:solidFill>
                  <a:latin typeface="Arial" pitchFamily="34" charset="0"/>
                </a:rPr>
                <a:t>C</a:t>
              </a:r>
            </a:p>
          </p:txBody>
        </p:sp>
      </p:grpSp>
    </p:spTree>
  </p:cSld>
  <p:clrMapOvr>
    <a:masterClrMapping/>
  </p:clrMapOvr>
  <p:transition>
    <p:cover/>
    <p:sndAc>
      <p:stSnd>
        <p:snd r:embed="rId3" name="CAMER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26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7" dur="500"/>
                                        <p:tgtEl>
                                          <p:spTgt spid="1092614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26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2" dur="500"/>
                                        <p:tgtEl>
                                          <p:spTgt spid="1092616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92614" grpId="0" animBg="1"/>
      <p:bldP spid="1092616" grpId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4661" name="Rectangle 5"/>
          <p:cNvSpPr>
            <a:spLocks noChangeArrowheads="1"/>
          </p:cNvSpPr>
          <p:nvPr/>
        </p:nvSpPr>
        <p:spPr bwMode="auto">
          <a:xfrm>
            <a:off x="908489" y="151757"/>
            <a:ext cx="5115503" cy="461665"/>
          </a:xfrm>
          <a:prstGeom prst="rect">
            <a:avLst/>
          </a:prstGeom>
          <a:ln>
            <a:noFill/>
            <a:headEnd/>
            <a:tailEnd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none" anchor="ctr">
            <a:spAutoFit/>
          </a:bodyPr>
          <a:lstStyle/>
          <a:p>
            <a:pPr marL="457200" indent="-457200">
              <a:tabLst>
                <a:tab pos="457200" algn="l"/>
              </a:tabLst>
            </a:pPr>
            <a:r>
              <a:rPr lang="en-US" altLang="zh-CN" b="1" dirty="0">
                <a:solidFill>
                  <a:srgbClr val="FF00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隶书" pitchFamily="49" charset="-122"/>
              </a:rPr>
              <a:t>(4) </a:t>
            </a:r>
            <a:r>
              <a:rPr lang="zh-CN" altLang="zh-CN" b="1" dirty="0">
                <a:solidFill>
                  <a:srgbClr val="FF00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隶书" pitchFamily="49" charset="-122"/>
              </a:rPr>
              <a:t>格式化读写函数：</a:t>
            </a:r>
            <a:r>
              <a:rPr lang="en-US" altLang="zh-CN" b="1" dirty="0" err="1">
                <a:solidFill>
                  <a:srgbClr val="FF00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隶书" pitchFamily="49" charset="-122"/>
              </a:rPr>
              <a:t>fscanf</a:t>
            </a:r>
            <a:r>
              <a:rPr lang="en-US" altLang="zh-CN" b="1" dirty="0">
                <a:solidFill>
                  <a:srgbClr val="FF00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隶书" pitchFamily="49" charset="-122"/>
              </a:rPr>
              <a:t> </a:t>
            </a:r>
            <a:r>
              <a:rPr lang="zh-CN" altLang="en-US" b="1" dirty="0">
                <a:solidFill>
                  <a:srgbClr val="FF00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隶书" pitchFamily="49" charset="-122"/>
              </a:rPr>
              <a:t>和 </a:t>
            </a:r>
            <a:r>
              <a:rPr lang="en-US" altLang="zh-CN" b="1" dirty="0" err="1">
                <a:solidFill>
                  <a:srgbClr val="FF00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隶书" pitchFamily="49" charset="-122"/>
              </a:rPr>
              <a:t>fprinf</a:t>
            </a:r>
            <a:endParaRPr lang="en-US" altLang="zh-CN" b="1" dirty="0">
              <a:solidFill>
                <a:srgbClr val="FF00FF"/>
              </a:solidFill>
              <a:effectLst>
                <a:outerShdw blurRad="38100" dist="38100" dir="2700000" algn="tl">
                  <a:srgbClr val="000000"/>
                </a:outerShdw>
              </a:effectLst>
              <a:ea typeface="隶书" pitchFamily="49" charset="-122"/>
            </a:endParaRPr>
          </a:p>
        </p:txBody>
      </p:sp>
      <p:sp>
        <p:nvSpPr>
          <p:cNvPr id="1094662" name="Rectangle 6"/>
          <p:cNvSpPr>
            <a:spLocks noChangeArrowheads="1"/>
          </p:cNvSpPr>
          <p:nvPr/>
        </p:nvSpPr>
        <p:spPr bwMode="auto">
          <a:xfrm>
            <a:off x="863303" y="631825"/>
            <a:ext cx="1397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>
            <a:spAutoFit/>
          </a:bodyPr>
          <a:lstStyle/>
          <a:p>
            <a:pPr>
              <a:buFont typeface="Wingdings" pitchFamily="2" charset="2"/>
              <a:buChar char="Ø"/>
              <a:tabLst>
                <a:tab pos="496888" algn="l"/>
              </a:tabLst>
            </a:pPr>
            <a:r>
              <a:rPr lang="en-US" altLang="zh-CN" b="1">
                <a:solidFill>
                  <a:srgbClr val="FF33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楷体_GB2312" pitchFamily="49" charset="-122"/>
              </a:rPr>
              <a:t> fscanf</a:t>
            </a:r>
          </a:p>
        </p:txBody>
      </p:sp>
      <p:sp>
        <p:nvSpPr>
          <p:cNvPr id="1094663" name="Rectangle 7"/>
          <p:cNvSpPr>
            <a:spLocks noChangeArrowheads="1"/>
          </p:cNvSpPr>
          <p:nvPr/>
        </p:nvSpPr>
        <p:spPr bwMode="auto">
          <a:xfrm>
            <a:off x="1193503" y="1104900"/>
            <a:ext cx="2160588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buClr>
                <a:srgbClr val="339933"/>
              </a:buClr>
              <a:buFont typeface="Wingdings" pitchFamily="2" charset="2"/>
              <a:buChar char="l"/>
            </a:pPr>
            <a:r>
              <a:rPr lang="en-US" altLang="zh-CN" b="1" dirty="0">
                <a:effectLst>
                  <a:outerShdw blurRad="38100" dist="38100" dir="2700000" algn="tl">
                    <a:srgbClr val="FFFFFF"/>
                  </a:outerShdw>
                </a:effectLst>
                <a:latin typeface="+mn-lt"/>
                <a:ea typeface="楷体" pitchFamily="49" charset="-122"/>
              </a:rPr>
              <a:t> </a:t>
            </a:r>
            <a:r>
              <a:rPr lang="zh-CN" altLang="zh-CN" b="1" dirty="0">
                <a:effectLst>
                  <a:outerShdw blurRad="38100" dist="38100" dir="2700000" algn="tl">
                    <a:srgbClr val="FFFFFF"/>
                  </a:outerShdw>
                </a:effectLst>
                <a:latin typeface="+mn-lt"/>
                <a:ea typeface="楷体" pitchFamily="49" charset="-122"/>
              </a:rPr>
              <a:t>函数原形：         </a:t>
            </a:r>
            <a:endParaRPr lang="zh-CN" altLang="en-US" b="1" dirty="0">
              <a:solidFill>
                <a:srgbClr val="D60093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+mn-lt"/>
              <a:ea typeface="楷体" pitchFamily="49" charset="-122"/>
            </a:endParaRPr>
          </a:p>
        </p:txBody>
      </p:sp>
      <p:sp>
        <p:nvSpPr>
          <p:cNvPr id="1094664" name="Text Box 8"/>
          <p:cNvSpPr txBox="1">
            <a:spLocks noChangeArrowheads="1"/>
          </p:cNvSpPr>
          <p:nvPr/>
        </p:nvSpPr>
        <p:spPr bwMode="auto">
          <a:xfrm>
            <a:off x="1620542" y="1571627"/>
            <a:ext cx="9227986" cy="422922"/>
          </a:xfrm>
          <a:prstGeom prst="rect">
            <a:avLst/>
          </a:prstGeom>
          <a:gradFill rotWithShape="1">
            <a:gsLst>
              <a:gs pos="0">
                <a:srgbClr val="FFFF99"/>
              </a:gs>
              <a:gs pos="100000">
                <a:srgbClr val="FFFF99">
                  <a:gamma/>
                  <a:shade val="75686"/>
                  <a:invGamma/>
                </a:srgbClr>
              </a:gs>
            </a:gsLst>
            <a:lin ang="5400000" scaled="1"/>
          </a:gradFill>
          <a:ln w="38100">
            <a:solidFill>
              <a:srgbClr val="0000FF"/>
            </a:solidFill>
            <a:miter lim="800000"/>
            <a:headEnd/>
            <a:tailEnd/>
          </a:ln>
          <a:effectLst>
            <a:outerShdw blurRad="50800" dist="106680" dir="2700000" algn="tl" rotWithShape="0">
              <a:prstClr val="black">
                <a:alpha val="43000"/>
              </a:prstClr>
            </a:outerShdw>
          </a:effectLst>
          <a:scene3d>
            <a:camera prst="orthographicFront"/>
            <a:lightRig rig="threePt" dir="t"/>
          </a:scene3d>
          <a:sp3d>
            <a:bevelT w="114300" prst="hardEdge"/>
          </a:sp3d>
        </p:spPr>
        <p:txBody>
          <a:bodyPr/>
          <a:lstStyle/>
          <a:p>
            <a:pPr algn="ctr"/>
            <a:r>
              <a:rPr lang="en-US" altLang="zh-CN" sz="2000" b="1">
                <a:effectLst>
                  <a:outerShdw blurRad="38100" dist="38100" dir="2700000" algn="tl">
                    <a:srgbClr val="FFFFFF"/>
                  </a:outerShdw>
                </a:effectLst>
              </a:rPr>
              <a:t>int  fscanf ( FILE *filepointer, const char *format[,address,…]);</a:t>
            </a:r>
          </a:p>
        </p:txBody>
      </p:sp>
      <p:sp>
        <p:nvSpPr>
          <p:cNvPr id="1094665" name="Rectangle 9"/>
          <p:cNvSpPr>
            <a:spLocks noChangeArrowheads="1"/>
          </p:cNvSpPr>
          <p:nvPr/>
        </p:nvSpPr>
        <p:spPr bwMode="auto">
          <a:xfrm>
            <a:off x="1200933" y="2112964"/>
            <a:ext cx="10295667" cy="120032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marL="342900" indent="-342900">
              <a:buClr>
                <a:srgbClr val="339933"/>
              </a:buClr>
              <a:buFont typeface="Wingdings" panose="05000000000000000000" pitchFamily="2" charset="2"/>
              <a:buChar char="l"/>
            </a:pPr>
            <a:r>
              <a:rPr lang="zh-CN" altLang="en-US" b="1" dirty="0">
                <a:effectLst>
                  <a:outerShdw blurRad="38100" dist="38100" dir="2700000" algn="tl">
                    <a:srgbClr val="FFFFFF"/>
                  </a:outerShdw>
                </a:effectLst>
                <a:latin typeface="+mn-lt"/>
                <a:ea typeface="楷体" pitchFamily="49" charset="-122"/>
              </a:rPr>
              <a:t>功能：从</a:t>
            </a:r>
            <a:r>
              <a:rPr lang="en-US" altLang="zh-CN" b="1" dirty="0" err="1">
                <a:effectLst>
                  <a:outerShdw blurRad="38100" dist="38100" dir="2700000" algn="tl">
                    <a:srgbClr val="FFFFFF"/>
                  </a:outerShdw>
                </a:effectLst>
                <a:latin typeface="+mn-lt"/>
                <a:ea typeface="楷体" pitchFamily="49" charset="-122"/>
              </a:rPr>
              <a:t>filepointer</a:t>
            </a:r>
            <a:r>
              <a:rPr lang="zh-CN" altLang="en-US" b="1" dirty="0">
                <a:effectLst>
                  <a:outerShdw blurRad="38100" dist="38100" dir="2700000" algn="tl">
                    <a:srgbClr val="FFFFFF"/>
                  </a:outerShdw>
                </a:effectLst>
                <a:latin typeface="+mn-lt"/>
                <a:ea typeface="楷体" pitchFamily="49" charset="-122"/>
              </a:rPr>
              <a:t>所指向的文件中读取数据。</a:t>
            </a:r>
            <a:endParaRPr lang="en-US" altLang="zh-CN" b="1" dirty="0">
              <a:effectLst>
                <a:outerShdw blurRad="38100" dist="38100" dir="2700000" algn="tl">
                  <a:srgbClr val="FFFFFF"/>
                </a:outerShdw>
              </a:effectLst>
              <a:latin typeface="+mn-lt"/>
              <a:ea typeface="楷体" pitchFamily="49" charset="-122"/>
            </a:endParaRPr>
          </a:p>
          <a:p>
            <a:pPr marL="342900" indent="-342900">
              <a:buClr>
                <a:srgbClr val="339933"/>
              </a:buClr>
              <a:buFont typeface="Wingdings" panose="05000000000000000000" pitchFamily="2" charset="2"/>
              <a:buChar char="l"/>
            </a:pPr>
            <a:r>
              <a:rPr lang="zh-CN" altLang="en-US" b="1" dirty="0">
                <a:effectLst>
                  <a:outerShdw blurRad="38100" dist="38100" dir="2700000" algn="tl">
                    <a:srgbClr val="FFFFFF"/>
                  </a:outerShdw>
                </a:effectLst>
                <a:latin typeface="+mn-lt"/>
                <a:ea typeface="楷体" pitchFamily="49" charset="-122"/>
              </a:rPr>
              <a:t>返值：如果操作成功，则函数返回值就是读取的数据项的个数；如果操作出错或遇到文件尾，则返回</a:t>
            </a:r>
            <a:r>
              <a:rPr lang="en-US" altLang="zh-CN" b="1" dirty="0">
                <a:effectLst>
                  <a:outerShdw blurRad="38100" dist="38100" dir="2700000" algn="tl">
                    <a:srgbClr val="FFFFFF"/>
                  </a:outerShdw>
                </a:effectLst>
                <a:latin typeface="+mn-lt"/>
                <a:ea typeface="楷体" pitchFamily="49" charset="-122"/>
              </a:rPr>
              <a:t>EOF</a:t>
            </a:r>
            <a:r>
              <a:rPr lang="zh-CN" altLang="en-US" b="1" dirty="0">
                <a:effectLst>
                  <a:outerShdw blurRad="38100" dist="38100" dir="2700000" algn="tl">
                    <a:srgbClr val="FFFFFF"/>
                  </a:outerShdw>
                </a:effectLst>
                <a:latin typeface="+mn-lt"/>
                <a:ea typeface="楷体" pitchFamily="49" charset="-122"/>
              </a:rPr>
              <a:t>。</a:t>
            </a:r>
            <a:r>
              <a:rPr lang="zh-CN" altLang="en-US" dirty="0">
                <a:latin typeface="+mn-lt"/>
                <a:ea typeface="楷体" pitchFamily="49" charset="-122"/>
              </a:rPr>
              <a:t> </a:t>
            </a:r>
          </a:p>
        </p:txBody>
      </p:sp>
      <p:sp>
        <p:nvSpPr>
          <p:cNvPr id="1094667" name="Rectangle 11"/>
          <p:cNvSpPr>
            <a:spLocks noChangeArrowheads="1"/>
          </p:cNvSpPr>
          <p:nvPr/>
        </p:nvSpPr>
        <p:spPr bwMode="auto">
          <a:xfrm>
            <a:off x="871146" y="3302000"/>
            <a:ext cx="1397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>
            <a:spAutoFit/>
          </a:bodyPr>
          <a:lstStyle/>
          <a:p>
            <a:pPr>
              <a:buFont typeface="Wingdings" pitchFamily="2" charset="2"/>
              <a:buChar char="Ø"/>
              <a:tabLst>
                <a:tab pos="496888" algn="l"/>
              </a:tabLst>
            </a:pPr>
            <a:r>
              <a:rPr lang="en-US" altLang="zh-CN" b="1" dirty="0">
                <a:solidFill>
                  <a:srgbClr val="FF33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楷体_GB2312" pitchFamily="49" charset="-122"/>
              </a:rPr>
              <a:t> </a:t>
            </a:r>
            <a:r>
              <a:rPr lang="en-US" altLang="zh-CN" b="1" dirty="0" err="1">
                <a:solidFill>
                  <a:srgbClr val="FF33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楷体_GB2312" pitchFamily="49" charset="-122"/>
              </a:rPr>
              <a:t>fprintf</a:t>
            </a:r>
            <a:endParaRPr lang="en-US" altLang="zh-CN" b="1" dirty="0">
              <a:solidFill>
                <a:srgbClr val="FF3300"/>
              </a:solidFill>
              <a:effectLst>
                <a:outerShdw blurRad="38100" dist="38100" dir="2700000" algn="tl">
                  <a:srgbClr val="000000"/>
                </a:outerShdw>
              </a:effectLst>
              <a:ea typeface="楷体_GB2312" pitchFamily="49" charset="-122"/>
            </a:endParaRPr>
          </a:p>
        </p:txBody>
      </p:sp>
      <p:sp>
        <p:nvSpPr>
          <p:cNvPr id="1094668" name="Rectangle 12"/>
          <p:cNvSpPr>
            <a:spLocks noChangeArrowheads="1"/>
          </p:cNvSpPr>
          <p:nvPr/>
        </p:nvSpPr>
        <p:spPr bwMode="auto">
          <a:xfrm>
            <a:off x="1199109" y="3775075"/>
            <a:ext cx="2160587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buClr>
                <a:srgbClr val="339933"/>
              </a:buClr>
              <a:buFont typeface="Wingdings" pitchFamily="2" charset="2"/>
              <a:buChar char="l"/>
            </a:pPr>
            <a:r>
              <a:rPr lang="en-US" altLang="zh-CN" b="1" dirty="0">
                <a:effectLst>
                  <a:outerShdw blurRad="38100" dist="38100" dir="2700000" algn="tl">
                    <a:srgbClr val="FFFFFF"/>
                  </a:outerShdw>
                </a:effectLst>
                <a:latin typeface="+mn-lt"/>
                <a:ea typeface="楷体" pitchFamily="49" charset="-122"/>
              </a:rPr>
              <a:t> </a:t>
            </a:r>
            <a:r>
              <a:rPr lang="zh-CN" altLang="zh-CN" b="1" dirty="0">
                <a:effectLst>
                  <a:outerShdw blurRad="38100" dist="38100" dir="2700000" algn="tl">
                    <a:srgbClr val="FFFFFF"/>
                  </a:outerShdw>
                </a:effectLst>
                <a:latin typeface="+mn-lt"/>
                <a:ea typeface="楷体" pitchFamily="49" charset="-122"/>
              </a:rPr>
              <a:t>函数原形：         </a:t>
            </a:r>
            <a:endParaRPr lang="zh-CN" altLang="en-US" b="1" dirty="0">
              <a:solidFill>
                <a:srgbClr val="D60093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+mn-lt"/>
              <a:ea typeface="楷体" pitchFamily="49" charset="-122"/>
            </a:endParaRPr>
          </a:p>
        </p:txBody>
      </p:sp>
      <p:sp>
        <p:nvSpPr>
          <p:cNvPr id="1094669" name="Text Box 13"/>
          <p:cNvSpPr txBox="1">
            <a:spLocks noChangeArrowheads="1"/>
          </p:cNvSpPr>
          <p:nvPr/>
        </p:nvSpPr>
        <p:spPr bwMode="auto">
          <a:xfrm>
            <a:off x="1630002" y="4241802"/>
            <a:ext cx="9218522" cy="452256"/>
          </a:xfrm>
          <a:prstGeom prst="rect">
            <a:avLst/>
          </a:prstGeom>
          <a:gradFill rotWithShape="1">
            <a:gsLst>
              <a:gs pos="0">
                <a:srgbClr val="FFFF99"/>
              </a:gs>
              <a:gs pos="100000">
                <a:srgbClr val="FFFF99">
                  <a:gamma/>
                  <a:shade val="75686"/>
                  <a:invGamma/>
                </a:srgbClr>
              </a:gs>
            </a:gsLst>
            <a:lin ang="5400000" scaled="1"/>
          </a:gradFill>
          <a:ln w="38100">
            <a:solidFill>
              <a:srgbClr val="0000FF"/>
            </a:solidFill>
            <a:miter lim="800000"/>
            <a:headEnd/>
            <a:tailEnd/>
          </a:ln>
          <a:effectLst>
            <a:outerShdw blurRad="50800" dist="106680" dir="2700000" algn="tl" rotWithShape="0">
              <a:prstClr val="black">
                <a:alpha val="43000"/>
              </a:prstClr>
            </a:outerShdw>
          </a:effectLst>
          <a:scene3d>
            <a:camera prst="orthographicFront"/>
            <a:lightRig rig="threePt" dir="t"/>
          </a:scene3d>
          <a:sp3d>
            <a:bevelT w="114300" prst="hardEdge"/>
          </a:sp3d>
        </p:spPr>
        <p:txBody>
          <a:bodyPr/>
          <a:lstStyle/>
          <a:p>
            <a:pPr algn="ctr"/>
            <a:r>
              <a:rPr lang="en-US" altLang="zh-CN" sz="2000" b="1" dirty="0">
                <a:effectLst>
                  <a:outerShdw blurRad="38100" dist="38100" dir="2700000" algn="tl">
                    <a:srgbClr val="FFFFFF"/>
                  </a:outerShdw>
                </a:effectLst>
              </a:rPr>
              <a:t>int  </a:t>
            </a:r>
            <a:r>
              <a:rPr lang="en-US" altLang="zh-CN" sz="2000" b="1" dirty="0" err="1">
                <a:effectLst>
                  <a:outerShdw blurRad="38100" dist="38100" dir="2700000" algn="tl">
                    <a:srgbClr val="FFFFFF"/>
                  </a:outerShdw>
                </a:effectLst>
              </a:rPr>
              <a:t>fprintf</a:t>
            </a:r>
            <a:r>
              <a:rPr lang="en-US" altLang="zh-CN" sz="2000" b="1" dirty="0">
                <a:effectLst>
                  <a:outerShdw blurRad="38100" dist="38100" dir="2700000" algn="tl">
                    <a:srgbClr val="FFFFFF"/>
                  </a:outerShdw>
                </a:effectLst>
              </a:rPr>
              <a:t> ( FILE *</a:t>
            </a:r>
            <a:r>
              <a:rPr lang="en-US" altLang="zh-CN" sz="2000" b="1" dirty="0" err="1">
                <a:effectLst>
                  <a:outerShdw blurRad="38100" dist="38100" dir="2700000" algn="tl">
                    <a:srgbClr val="FFFFFF"/>
                  </a:outerShdw>
                </a:effectLst>
              </a:rPr>
              <a:t>filepointer</a:t>
            </a:r>
            <a:r>
              <a:rPr lang="en-US" altLang="zh-CN" sz="2000" b="1" dirty="0">
                <a:effectLst>
                  <a:outerShdw blurRad="38100" dist="38100" dir="2700000" algn="tl">
                    <a:srgbClr val="FFFFFF"/>
                  </a:outerShdw>
                </a:effectLst>
              </a:rPr>
              <a:t>, const char *format[,address,…]);</a:t>
            </a:r>
          </a:p>
        </p:txBody>
      </p:sp>
      <p:sp>
        <p:nvSpPr>
          <p:cNvPr id="1094670" name="Rectangle 14"/>
          <p:cNvSpPr>
            <a:spLocks noChangeArrowheads="1"/>
          </p:cNvSpPr>
          <p:nvPr/>
        </p:nvSpPr>
        <p:spPr bwMode="auto">
          <a:xfrm>
            <a:off x="1249065" y="4859339"/>
            <a:ext cx="10247529" cy="120032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marL="342900" indent="-342900">
              <a:buClr>
                <a:srgbClr val="339933"/>
              </a:buClr>
              <a:buFont typeface="Wingdings" panose="05000000000000000000" pitchFamily="2" charset="2"/>
              <a:buChar char="l"/>
            </a:pPr>
            <a:r>
              <a:rPr lang="zh-CN" altLang="en-US" b="1" dirty="0">
                <a:effectLst>
                  <a:outerShdw blurRad="38100" dist="38100" dir="2700000" algn="tl">
                    <a:srgbClr val="FFFFFF"/>
                  </a:outerShdw>
                </a:effectLst>
                <a:latin typeface="+mn-lt"/>
                <a:ea typeface="楷体" pitchFamily="49" charset="-122"/>
              </a:rPr>
              <a:t>功能：将表达式输出到</a:t>
            </a:r>
            <a:r>
              <a:rPr lang="en-US" altLang="zh-CN" b="1" dirty="0" err="1">
                <a:effectLst>
                  <a:outerShdw blurRad="38100" dist="38100" dir="2700000" algn="tl">
                    <a:srgbClr val="FFFFFF"/>
                  </a:outerShdw>
                </a:effectLst>
                <a:latin typeface="+mn-lt"/>
                <a:ea typeface="楷体" pitchFamily="49" charset="-122"/>
              </a:rPr>
              <a:t>filepointer</a:t>
            </a:r>
            <a:r>
              <a:rPr lang="zh-CN" altLang="en-US" b="1" dirty="0">
                <a:effectLst>
                  <a:outerShdw blurRad="38100" dist="38100" dir="2700000" algn="tl">
                    <a:srgbClr val="FFFFFF"/>
                  </a:outerShdw>
                </a:effectLst>
                <a:latin typeface="+mn-lt"/>
                <a:ea typeface="楷体" pitchFamily="49" charset="-122"/>
              </a:rPr>
              <a:t>所指向的文件中。</a:t>
            </a:r>
            <a:endParaRPr lang="en-US" altLang="zh-CN" dirty="0">
              <a:latin typeface="+mn-lt"/>
              <a:ea typeface="楷体" pitchFamily="49" charset="-122"/>
            </a:endParaRPr>
          </a:p>
          <a:p>
            <a:pPr marL="342900" indent="-342900">
              <a:buClr>
                <a:srgbClr val="339933"/>
              </a:buClr>
              <a:buFont typeface="Wingdings" panose="05000000000000000000" pitchFamily="2" charset="2"/>
              <a:buChar char="l"/>
            </a:pPr>
            <a:r>
              <a:rPr lang="zh-CN" altLang="en-US" b="1" dirty="0">
                <a:effectLst>
                  <a:outerShdw blurRad="38100" dist="38100" dir="2700000" algn="tl">
                    <a:srgbClr val="FFFFFF"/>
                  </a:outerShdw>
                </a:effectLst>
                <a:latin typeface="+mn-lt"/>
                <a:ea typeface="楷体" pitchFamily="49" charset="-122"/>
              </a:rPr>
              <a:t>返值：如果操作成功，则函数返回值就是写入到文件中数据的字节个数；如果操作出错，则返回</a:t>
            </a:r>
            <a:r>
              <a:rPr lang="en-US" altLang="zh-CN" b="1" dirty="0">
                <a:effectLst>
                  <a:outerShdw blurRad="38100" dist="38100" dir="2700000" algn="tl">
                    <a:srgbClr val="FFFFFF"/>
                  </a:outerShdw>
                </a:effectLst>
                <a:latin typeface="+mn-lt"/>
                <a:ea typeface="楷体" pitchFamily="49" charset="-122"/>
              </a:rPr>
              <a:t>EOF</a:t>
            </a:r>
            <a:r>
              <a:rPr lang="zh-CN" altLang="en-US" b="1" dirty="0">
                <a:effectLst>
                  <a:outerShdw blurRad="38100" dist="38100" dir="2700000" algn="tl">
                    <a:srgbClr val="FFFFFF"/>
                  </a:outerShdw>
                </a:effectLst>
                <a:latin typeface="+mn-lt"/>
                <a:ea typeface="楷体" pitchFamily="49" charset="-122"/>
              </a:rPr>
              <a:t>。 </a:t>
            </a:r>
          </a:p>
        </p:txBody>
      </p:sp>
      <p:sp>
        <p:nvSpPr>
          <p:cNvPr id="1094672" name="Rectangle 16" descr="信纸"/>
          <p:cNvSpPr>
            <a:spLocks noChangeArrowheads="1"/>
          </p:cNvSpPr>
          <p:nvPr/>
        </p:nvSpPr>
        <p:spPr bwMode="auto">
          <a:xfrm>
            <a:off x="1620075" y="5688791"/>
            <a:ext cx="9228450" cy="1044575"/>
          </a:xfrm>
          <a:prstGeom prst="rect">
            <a:avLst/>
          </a:prstGeom>
          <a:solidFill>
            <a:schemeClr val="bg1"/>
          </a:solidFill>
          <a:ln w="38100">
            <a:solidFill>
              <a:srgbClr val="008000"/>
            </a:solidFill>
            <a:miter lim="800000"/>
            <a:headEnd/>
            <a:tailEnd/>
          </a:ln>
          <a:effectLst>
            <a:outerShdw blurRad="50800" dist="106680" dir="2700000" algn="tl" rotWithShape="0">
              <a:prstClr val="black">
                <a:alpha val="43000"/>
              </a:prstClr>
            </a:outerShdw>
          </a:effectLst>
          <a:scene3d>
            <a:camera prst="orthographicFront"/>
            <a:lightRig rig="threePt" dir="t"/>
          </a:scene3d>
          <a:sp3d>
            <a:bevelT w="114300" prst="hardEdge"/>
          </a:sp3d>
        </p:spPr>
        <p:txBody>
          <a:bodyPr wrap="square">
            <a:spAutoFit/>
          </a:bodyPr>
          <a:lstStyle/>
          <a:p>
            <a:r>
              <a:rPr lang="zh-CN" altLang="en-US" sz="2000" b="1" dirty="0">
                <a:solidFill>
                  <a:srgbClr val="FF33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隶书" pitchFamily="49" charset="-122"/>
                <a:ea typeface="隶书" pitchFamily="49" charset="-122"/>
              </a:rPr>
              <a:t>例如：</a:t>
            </a:r>
          </a:p>
          <a:p>
            <a:r>
              <a:rPr lang="en-US" altLang="zh-CN" sz="2000" b="1" dirty="0" err="1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fprintf</a:t>
            </a:r>
            <a:r>
              <a:rPr lang="en-US" altLang="zh-CN" sz="2000" b="1" dirty="0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 (</a:t>
            </a:r>
            <a:r>
              <a:rPr lang="en-US" altLang="zh-CN" sz="2000" b="1" dirty="0" err="1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fp</a:t>
            </a:r>
            <a:r>
              <a:rPr lang="en-US" altLang="zh-CN" sz="2000" b="1" dirty="0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, "%d,%6.2f", </a:t>
            </a:r>
            <a:r>
              <a:rPr lang="en-US" altLang="zh-CN" sz="2000" b="1" dirty="0" err="1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i</a:t>
            </a:r>
            <a:r>
              <a:rPr lang="en-US" altLang="zh-CN" sz="2000" b="1" dirty="0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, t);     </a:t>
            </a:r>
            <a:r>
              <a:rPr lang="en-US" altLang="zh-CN" sz="2000" b="1" dirty="0">
                <a:solidFill>
                  <a:schemeClr val="accent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楷体" pitchFamily="49" charset="-122"/>
              </a:rPr>
              <a:t>//</a:t>
            </a:r>
            <a:r>
              <a:rPr lang="zh-CN" altLang="en-US" sz="2000" b="1" dirty="0">
                <a:solidFill>
                  <a:schemeClr val="accent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楷体" pitchFamily="49" charset="-122"/>
              </a:rPr>
              <a:t>将</a:t>
            </a:r>
            <a:r>
              <a:rPr lang="en-US" altLang="zh-CN" sz="2000" b="1" dirty="0" err="1">
                <a:solidFill>
                  <a:schemeClr val="accent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楷体" pitchFamily="49" charset="-122"/>
              </a:rPr>
              <a:t>i</a:t>
            </a:r>
            <a:r>
              <a:rPr lang="zh-CN" altLang="en-US" sz="2000" b="1" dirty="0">
                <a:solidFill>
                  <a:schemeClr val="accent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楷体" pitchFamily="49" charset="-122"/>
              </a:rPr>
              <a:t>和</a:t>
            </a:r>
            <a:r>
              <a:rPr lang="en-US" altLang="zh-CN" sz="2000" b="1" dirty="0">
                <a:solidFill>
                  <a:schemeClr val="accent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楷体" pitchFamily="49" charset="-122"/>
              </a:rPr>
              <a:t>t</a:t>
            </a:r>
            <a:r>
              <a:rPr lang="zh-CN" altLang="en-US" sz="2000" b="1" dirty="0">
                <a:solidFill>
                  <a:schemeClr val="accent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楷体" pitchFamily="49" charset="-122"/>
              </a:rPr>
              <a:t>按</a:t>
            </a:r>
            <a:r>
              <a:rPr lang="en-US" altLang="zh-CN" sz="2000" b="1" dirty="0">
                <a:solidFill>
                  <a:schemeClr val="accent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楷体" pitchFamily="49" charset="-122"/>
              </a:rPr>
              <a:t>%d, %6.2f</a:t>
            </a:r>
            <a:r>
              <a:rPr lang="zh-CN" altLang="en-US" sz="2000" b="1" dirty="0">
                <a:solidFill>
                  <a:schemeClr val="accent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楷体" pitchFamily="49" charset="-122"/>
              </a:rPr>
              <a:t>格式输出到</a:t>
            </a:r>
            <a:r>
              <a:rPr lang="en-US" altLang="zh-CN" sz="2000" b="1" dirty="0" err="1">
                <a:solidFill>
                  <a:schemeClr val="accent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楷体" pitchFamily="49" charset="-122"/>
              </a:rPr>
              <a:t>fp</a:t>
            </a:r>
            <a:r>
              <a:rPr lang="zh-CN" altLang="en-US" sz="2000" b="1" dirty="0">
                <a:solidFill>
                  <a:schemeClr val="accent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楷体" pitchFamily="49" charset="-122"/>
              </a:rPr>
              <a:t>文件</a:t>
            </a:r>
          </a:p>
          <a:p>
            <a:r>
              <a:rPr lang="en-US" altLang="zh-CN" sz="2000" b="1" dirty="0" err="1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fscanf</a:t>
            </a:r>
            <a:r>
              <a:rPr lang="en-US" altLang="zh-CN" sz="2000" b="1" dirty="0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 (</a:t>
            </a:r>
            <a:r>
              <a:rPr lang="en-US" altLang="zh-CN" sz="2000" b="1" dirty="0" err="1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fp</a:t>
            </a:r>
            <a:r>
              <a:rPr lang="en-US" altLang="zh-CN" sz="2000" b="1" dirty="0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, "%</a:t>
            </a:r>
            <a:r>
              <a:rPr lang="en-US" altLang="zh-CN" sz="2000" b="1" dirty="0" err="1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d,%f</a:t>
            </a:r>
            <a:r>
              <a:rPr lang="en-US" altLang="zh-CN" sz="2000" b="1" dirty="0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", &amp;</a:t>
            </a:r>
            <a:r>
              <a:rPr lang="en-US" altLang="zh-CN" sz="2000" b="1" dirty="0" err="1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i</a:t>
            </a:r>
            <a:r>
              <a:rPr lang="en-US" altLang="zh-CN" sz="2000" b="1" dirty="0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, &amp;t);    </a:t>
            </a:r>
            <a:r>
              <a:rPr lang="en-US" altLang="zh-CN" sz="2000" b="1" dirty="0">
                <a:solidFill>
                  <a:schemeClr val="accent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楷体" pitchFamily="49" charset="-122"/>
              </a:rPr>
              <a:t>//</a:t>
            </a:r>
            <a:r>
              <a:rPr lang="zh-CN" altLang="en-US" sz="2000" b="1" dirty="0">
                <a:solidFill>
                  <a:schemeClr val="accent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楷体" pitchFamily="49" charset="-122"/>
              </a:rPr>
              <a:t>若文件中有</a:t>
            </a:r>
            <a:r>
              <a:rPr lang="en-US" altLang="zh-CN" sz="2000" b="1" dirty="0">
                <a:solidFill>
                  <a:schemeClr val="accent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楷体" pitchFamily="49" charset="-122"/>
              </a:rPr>
              <a:t>3, 4.5</a:t>
            </a:r>
            <a:r>
              <a:rPr lang="zh-CN" altLang="en-US" sz="2000" b="1" dirty="0">
                <a:solidFill>
                  <a:schemeClr val="accent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楷体" pitchFamily="49" charset="-122"/>
              </a:rPr>
              <a:t>，则将</a:t>
            </a:r>
            <a:r>
              <a:rPr lang="en-US" altLang="zh-CN" sz="2000" b="1" dirty="0">
                <a:solidFill>
                  <a:schemeClr val="accent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楷体" pitchFamily="49" charset="-122"/>
              </a:rPr>
              <a:t>3</a:t>
            </a:r>
            <a:r>
              <a:rPr lang="zh-CN" altLang="en-US" sz="2000" b="1" dirty="0">
                <a:solidFill>
                  <a:schemeClr val="accent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楷体" pitchFamily="49" charset="-122"/>
              </a:rPr>
              <a:t>送入</a:t>
            </a:r>
            <a:r>
              <a:rPr lang="en-US" altLang="zh-CN" sz="2000" b="1" dirty="0" err="1">
                <a:solidFill>
                  <a:schemeClr val="accent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楷体" pitchFamily="49" charset="-122"/>
              </a:rPr>
              <a:t>i</a:t>
            </a:r>
            <a:r>
              <a:rPr lang="zh-CN" altLang="en-US" sz="2000" b="1" dirty="0">
                <a:solidFill>
                  <a:schemeClr val="accent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楷体" pitchFamily="49" charset="-122"/>
              </a:rPr>
              <a:t>，</a:t>
            </a:r>
            <a:r>
              <a:rPr lang="en-US" altLang="zh-CN" sz="2000" b="1" dirty="0">
                <a:solidFill>
                  <a:schemeClr val="accent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楷体" pitchFamily="49" charset="-122"/>
              </a:rPr>
              <a:t>4.5</a:t>
            </a:r>
            <a:r>
              <a:rPr lang="zh-CN" altLang="en-US" sz="2000" b="1" dirty="0">
                <a:solidFill>
                  <a:schemeClr val="accent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楷体" pitchFamily="49" charset="-122"/>
              </a:rPr>
              <a:t>送入</a:t>
            </a:r>
            <a:r>
              <a:rPr lang="en-US" altLang="zh-CN" sz="2000" b="1" dirty="0">
                <a:solidFill>
                  <a:schemeClr val="accent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楷体" pitchFamily="49" charset="-122"/>
              </a:rPr>
              <a:t>t</a:t>
            </a:r>
          </a:p>
        </p:txBody>
      </p:sp>
      <p:grpSp>
        <p:nvGrpSpPr>
          <p:cNvPr id="1094673" name="Group 17"/>
          <p:cNvGrpSpPr>
            <a:grpSpLocks/>
          </p:cNvGrpSpPr>
          <p:nvPr/>
        </p:nvGrpSpPr>
        <p:grpSpPr bwMode="auto">
          <a:xfrm>
            <a:off x="-9822" y="0"/>
            <a:ext cx="446088" cy="6858000"/>
            <a:chOff x="0" y="0"/>
            <a:chExt cx="281" cy="4320"/>
          </a:xfrm>
        </p:grpSpPr>
        <p:sp>
          <p:nvSpPr>
            <p:cNvPr id="1094674" name="Text Box 18"/>
            <p:cNvSpPr txBox="1">
              <a:spLocks noChangeArrowheads="1"/>
            </p:cNvSpPr>
            <p:nvPr/>
          </p:nvSpPr>
          <p:spPr bwMode="auto">
            <a:xfrm>
              <a:off x="0" y="0"/>
              <a:ext cx="281" cy="4320"/>
            </a:xfrm>
            <a:prstGeom prst="rect">
              <a:avLst/>
            </a:prstGeom>
            <a:gradFill rotWithShape="0">
              <a:gsLst>
                <a:gs pos="0">
                  <a:schemeClr val="hlink">
                    <a:gamma/>
                    <a:shade val="60784"/>
                    <a:invGamma/>
                  </a:schemeClr>
                </a:gs>
                <a:gs pos="50000">
                  <a:schemeClr val="hlink"/>
                </a:gs>
                <a:gs pos="100000">
                  <a:schemeClr val="hlink">
                    <a:gamma/>
                    <a:shade val="60784"/>
                    <a:invGamma/>
                  </a:schemeClr>
                </a:gs>
              </a:gsLst>
              <a:lin ang="0" scaled="1"/>
            </a:gradFill>
            <a:ln w="9525">
              <a:noFill/>
              <a:miter lim="800000"/>
              <a:headEnd/>
              <a:tailEnd/>
            </a:ln>
            <a:effectLst/>
          </p:spPr>
          <p:txBody>
            <a:bodyPr/>
            <a:lstStyle/>
            <a:p>
              <a:pPr eaLnBrk="0" hangingPunct="0">
                <a:spcBef>
                  <a:spcPct val="50000"/>
                </a:spcBef>
              </a:pPr>
              <a:endParaRPr lang="en-US" altLang="zh-CN" sz="1800" dirty="0">
                <a:solidFill>
                  <a:srgbClr val="3333CC"/>
                </a:solidFill>
                <a:latin typeface="Verdana" pitchFamily="34" charset="0"/>
              </a:endParaRPr>
            </a:p>
            <a:p>
              <a:pPr eaLnBrk="0" hangingPunct="0">
                <a:spcBef>
                  <a:spcPct val="50000"/>
                </a:spcBef>
              </a:pPr>
              <a:r>
                <a:rPr lang="zh-CN" altLang="en-US" sz="1600" b="1" dirty="0">
                  <a:solidFill>
                    <a:srgbClr val="3333CC"/>
                  </a:solidFill>
                  <a:latin typeface="Verdana" pitchFamily="34" charset="0"/>
                </a:rPr>
                <a:t>语言程序设计教程       </a:t>
              </a:r>
            </a:p>
            <a:p>
              <a:pPr eaLnBrk="0" hangingPunct="0">
                <a:spcBef>
                  <a:spcPct val="50000"/>
                </a:spcBef>
              </a:pPr>
              <a:r>
                <a:rPr lang="zh-CN" altLang="en-US" sz="1600" b="1" dirty="0">
                  <a:solidFill>
                    <a:srgbClr val="3333CC"/>
                  </a:solidFill>
                  <a:latin typeface="Verdana" pitchFamily="34" charset="0"/>
                </a:rPr>
                <a:t>第三版</a:t>
              </a:r>
            </a:p>
            <a:p>
              <a:pPr eaLnBrk="0" hangingPunct="0">
                <a:spcBef>
                  <a:spcPct val="50000"/>
                </a:spcBef>
              </a:pPr>
              <a:endParaRPr lang="zh-CN" altLang="en-US" sz="1600" b="1" dirty="0">
                <a:solidFill>
                  <a:srgbClr val="3333CC"/>
                </a:solidFill>
                <a:latin typeface="Verdana" pitchFamily="34" charset="0"/>
              </a:endParaRPr>
            </a:p>
            <a:p>
              <a:pPr eaLnBrk="0" hangingPunct="0">
                <a:spcBef>
                  <a:spcPct val="50000"/>
                </a:spcBef>
              </a:pPr>
              <a:endParaRPr lang="zh-CN" altLang="en-US" sz="1600" b="1" dirty="0">
                <a:solidFill>
                  <a:srgbClr val="3333CC"/>
                </a:solidFill>
                <a:latin typeface="Verdana" pitchFamily="34" charset="0"/>
              </a:endParaRPr>
            </a:p>
            <a:p>
              <a:pPr eaLnBrk="0" hangingPunct="0">
                <a:spcBef>
                  <a:spcPct val="50000"/>
                </a:spcBef>
              </a:pPr>
              <a:r>
                <a:rPr lang="zh-CN" altLang="en-US" sz="1600" b="1" dirty="0">
                  <a:solidFill>
                    <a:srgbClr val="3333CC"/>
                  </a:solidFill>
                  <a:latin typeface="Verdana" pitchFamily="34" charset="0"/>
                </a:rPr>
                <a:t>第十</a:t>
              </a:r>
            </a:p>
            <a:p>
              <a:pPr eaLnBrk="0" hangingPunct="0">
                <a:spcBef>
                  <a:spcPct val="50000"/>
                </a:spcBef>
              </a:pPr>
              <a:r>
                <a:rPr lang="zh-CN" altLang="en-US" sz="1600" b="1" dirty="0">
                  <a:solidFill>
                    <a:srgbClr val="3333CC"/>
                  </a:solidFill>
                  <a:latin typeface="Verdana" pitchFamily="34" charset="0"/>
                </a:rPr>
                <a:t>二章 </a:t>
              </a:r>
            </a:p>
            <a:p>
              <a:pPr eaLnBrk="0" hangingPunct="0">
                <a:spcBef>
                  <a:spcPct val="50000"/>
                </a:spcBef>
              </a:pPr>
              <a:endParaRPr lang="zh-CN" altLang="en-US" sz="1600" b="1" dirty="0">
                <a:solidFill>
                  <a:srgbClr val="3333CC"/>
                </a:solidFill>
                <a:latin typeface="Verdana" pitchFamily="34" charset="0"/>
              </a:endParaRPr>
            </a:p>
            <a:p>
              <a:pPr eaLnBrk="0" hangingPunct="0">
                <a:spcBef>
                  <a:spcPct val="50000"/>
                </a:spcBef>
              </a:pPr>
              <a:r>
                <a:rPr lang="zh-CN" altLang="en-US" sz="1600" b="1" dirty="0">
                  <a:solidFill>
                    <a:srgbClr val="3333CC"/>
                  </a:solidFill>
                  <a:latin typeface="Verdana" pitchFamily="34" charset="0"/>
                </a:rPr>
                <a:t>文</a:t>
              </a:r>
            </a:p>
            <a:p>
              <a:pPr eaLnBrk="0" hangingPunct="0">
                <a:spcBef>
                  <a:spcPct val="50000"/>
                </a:spcBef>
              </a:pPr>
              <a:endParaRPr lang="zh-CN" altLang="en-US" sz="1600" b="1" dirty="0">
                <a:solidFill>
                  <a:srgbClr val="3333CC"/>
                </a:solidFill>
                <a:latin typeface="Verdana" pitchFamily="34" charset="0"/>
              </a:endParaRPr>
            </a:p>
            <a:p>
              <a:pPr eaLnBrk="0" hangingPunct="0">
                <a:spcBef>
                  <a:spcPct val="50000"/>
                </a:spcBef>
              </a:pPr>
              <a:r>
                <a:rPr lang="zh-CN" altLang="en-US" sz="1600" b="1" dirty="0">
                  <a:solidFill>
                    <a:srgbClr val="3333CC"/>
                  </a:solidFill>
                  <a:latin typeface="Verdana" pitchFamily="34" charset="0"/>
                </a:rPr>
                <a:t>件</a:t>
              </a:r>
            </a:p>
          </p:txBody>
        </p:sp>
        <p:sp>
          <p:nvSpPr>
            <p:cNvPr id="1094675" name="Text Box 19"/>
            <p:cNvSpPr txBox="1">
              <a:spLocks noChangeArrowheads="1"/>
            </p:cNvSpPr>
            <p:nvPr/>
          </p:nvSpPr>
          <p:spPr bwMode="auto">
            <a:xfrm>
              <a:off x="0" y="0"/>
              <a:ext cx="281" cy="231"/>
            </a:xfrm>
            <a:prstGeom prst="rect">
              <a:avLst/>
            </a:prstGeom>
            <a:gradFill rotWithShape="0">
              <a:gsLst>
                <a:gs pos="0">
                  <a:schemeClr val="hlink">
                    <a:gamma/>
                    <a:shade val="46275"/>
                    <a:invGamma/>
                  </a:schemeClr>
                </a:gs>
                <a:gs pos="50000">
                  <a:schemeClr val="hlink"/>
                </a:gs>
                <a:gs pos="100000">
                  <a:schemeClr val="hlink">
                    <a:gamma/>
                    <a:shade val="46275"/>
                    <a:invGamma/>
                  </a:schemeClr>
                </a:gs>
              </a:gsLst>
              <a:lin ang="0" scaled="1"/>
            </a:gradFill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eaLnBrk="0" hangingPunct="0">
                <a:spcBef>
                  <a:spcPct val="50000"/>
                </a:spcBef>
              </a:pPr>
              <a:r>
                <a:rPr lang="en-US" altLang="zh-CN" sz="1800" b="1">
                  <a:solidFill>
                    <a:srgbClr val="0000FF"/>
                  </a:solidFill>
                  <a:latin typeface="Arial" pitchFamily="34" charset="0"/>
                </a:rPr>
                <a:t>C</a:t>
              </a:r>
            </a:p>
          </p:txBody>
        </p:sp>
      </p:grpSp>
    </p:spTree>
  </p:cSld>
  <p:clrMapOvr>
    <a:masterClrMapping/>
  </p:clrMapOvr>
  <p:transition>
    <p:cover/>
    <p:sndAc>
      <p:stSnd>
        <p:snd r:embed="rId3" name="CAMER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46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09466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09466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46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09466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09466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46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9" dur="500"/>
                                        <p:tgtEl>
                                          <p:spTgt spid="1094663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7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500"/>
                            </p:stCondLst>
                            <p:childTnLst>
                              <p:par>
                                <p:cTn id="21" presetID="4" presetClass="entr" presetSubtype="3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46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23" dur="500"/>
                                        <p:tgtEl>
                                          <p:spTgt spid="1094664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466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28" dur="500"/>
                                        <p:tgtEl>
                                          <p:spTgt spid="109466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6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466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33" dur="500"/>
                                        <p:tgtEl>
                                          <p:spTgt spid="109466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46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09466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109466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6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46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44" dur="500"/>
                                        <p:tgtEl>
                                          <p:spTgt spid="1094668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2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500"/>
                            </p:stCondLst>
                            <p:childTnLst>
                              <p:par>
                                <p:cTn id="46" presetID="4" presetClass="entr" presetSubtype="3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46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48" dur="500"/>
                                        <p:tgtEl>
                                          <p:spTgt spid="1094669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6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467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53" dur="500"/>
                                        <p:tgtEl>
                                          <p:spTgt spid="109467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467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58" dur="500"/>
                                        <p:tgtEl>
                                          <p:spTgt spid="109467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6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46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63" dur="500"/>
                                        <p:tgtEl>
                                          <p:spTgt spid="1094672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6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94661" grpId="0" animBg="1"/>
      <p:bldP spid="1094662" grpId="0"/>
      <p:bldP spid="1094663" grpId="0"/>
      <p:bldP spid="1094664" grpId="0" animBg="1"/>
      <p:bldP spid="1094667" grpId="0"/>
      <p:bldP spid="1094668" grpId="0"/>
      <p:bldP spid="1094669" grpId="0" animBg="1"/>
      <p:bldP spid="1094672" grpId="0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6706" name="Rectangle 2" descr="信纸"/>
          <p:cNvSpPr>
            <a:spLocks noChangeArrowheads="1"/>
          </p:cNvSpPr>
          <p:nvPr/>
        </p:nvSpPr>
        <p:spPr bwMode="auto">
          <a:xfrm>
            <a:off x="601365" y="968376"/>
            <a:ext cx="4804935" cy="5311775"/>
          </a:xfrm>
          <a:prstGeom prst="rect">
            <a:avLst/>
          </a:prstGeom>
          <a:blipFill dpi="0" rotWithShape="1">
            <a:blip r:embed="rId6" cstate="print"/>
            <a:srcRect/>
            <a:tile tx="0" ty="0" sx="100000" sy="100000" flip="none" algn="tl"/>
          </a:blipFill>
          <a:ln w="38100">
            <a:solidFill>
              <a:srgbClr val="008000"/>
            </a:solidFill>
            <a:miter lim="800000"/>
            <a:headEnd/>
            <a:tailEnd/>
          </a:ln>
          <a:effectLst>
            <a:outerShdw blurRad="50800" dist="106680" dir="2700000" algn="tl" rotWithShape="0">
              <a:prstClr val="black">
                <a:alpha val="43000"/>
              </a:prstClr>
            </a:outerShdw>
          </a:effectLst>
          <a:scene3d>
            <a:camera prst="orthographicFront"/>
            <a:lightRig rig="threePt" dir="t"/>
          </a:scene3d>
          <a:sp3d>
            <a:bevelT w="114300" prst="hardEdge"/>
          </a:sp3d>
        </p:spPr>
        <p:txBody>
          <a:bodyPr wrap="square" anchor="ctr">
            <a:spAutoFit/>
          </a:bodyPr>
          <a:lstStyle/>
          <a:p>
            <a:pPr marL="457200" indent="-457200">
              <a:tabLst>
                <a:tab pos="914400" algn="l"/>
              </a:tabLst>
            </a:pPr>
            <a:r>
              <a:rPr lang="en-US" altLang="zh-CN" sz="2000" b="1" dirty="0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#include &lt;</a:t>
            </a:r>
            <a:r>
              <a:rPr lang="en-US" altLang="zh-CN" sz="2000" b="1" dirty="0" err="1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stdio.h</a:t>
            </a:r>
            <a:r>
              <a:rPr lang="en-US" altLang="zh-CN" sz="2000" b="1" dirty="0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&gt;</a:t>
            </a:r>
          </a:p>
          <a:p>
            <a:pPr marL="457200" indent="-457200">
              <a:tabLst>
                <a:tab pos="914400" algn="l"/>
              </a:tabLst>
            </a:pPr>
            <a:r>
              <a:rPr lang="en-US" altLang="zh-CN" sz="2000" b="1" dirty="0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#include &lt;</a:t>
            </a:r>
            <a:r>
              <a:rPr lang="en-US" altLang="zh-CN" sz="2000" b="1" dirty="0" err="1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stdlib.h</a:t>
            </a:r>
            <a:r>
              <a:rPr lang="en-US" altLang="zh-CN" sz="2000" b="1" dirty="0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&gt;</a:t>
            </a:r>
          </a:p>
          <a:p>
            <a:pPr marL="457200" indent="-457200">
              <a:tabLst>
                <a:tab pos="914400" algn="l"/>
              </a:tabLst>
            </a:pPr>
            <a:r>
              <a:rPr lang="en-US" altLang="zh-CN" sz="2000" b="1" dirty="0" err="1">
                <a:solidFill>
                  <a:srgbClr val="CC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楷体_GB2312" pitchFamily="49" charset="-122"/>
              </a:rPr>
              <a:t>int</a:t>
            </a:r>
            <a:r>
              <a:rPr lang="en-US" altLang="zh-CN" sz="2000" b="1" dirty="0">
                <a:solidFill>
                  <a:srgbClr val="CC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楷体_GB2312" pitchFamily="49" charset="-122"/>
              </a:rPr>
              <a:t> main ( )</a:t>
            </a:r>
          </a:p>
          <a:p>
            <a:pPr marL="457200" indent="-457200">
              <a:tabLst>
                <a:tab pos="914400" algn="l"/>
              </a:tabLst>
            </a:pPr>
            <a:r>
              <a:rPr lang="en-US" altLang="zh-CN" sz="2000" b="1" dirty="0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{</a:t>
            </a:r>
          </a:p>
          <a:p>
            <a:pPr marL="457200" indent="-457200">
              <a:tabLst>
                <a:tab pos="914400" algn="l"/>
              </a:tabLst>
            </a:pPr>
            <a:r>
              <a:rPr lang="en-US" altLang="zh-CN" sz="2000" b="1" dirty="0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  </a:t>
            </a:r>
            <a:r>
              <a:rPr lang="en-US" altLang="zh-CN" sz="2000" b="1" dirty="0" err="1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int</a:t>
            </a:r>
            <a:r>
              <a:rPr lang="en-US" altLang="zh-CN" sz="2000" b="1" dirty="0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 </a:t>
            </a:r>
            <a:r>
              <a:rPr lang="en-US" altLang="zh-CN" sz="2000" b="1" dirty="0" err="1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i</a:t>
            </a:r>
            <a:r>
              <a:rPr lang="en-US" altLang="zh-CN" sz="2000" b="1" dirty="0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 = 3;</a:t>
            </a:r>
          </a:p>
          <a:p>
            <a:pPr marL="457200" indent="-457200">
              <a:tabLst>
                <a:tab pos="914400" algn="l"/>
              </a:tabLst>
            </a:pPr>
            <a:r>
              <a:rPr lang="en-US" altLang="zh-CN" sz="2000" b="1" dirty="0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  float f = (float)9.8;</a:t>
            </a:r>
          </a:p>
          <a:p>
            <a:pPr marL="457200" indent="-457200">
              <a:tabLst>
                <a:tab pos="914400" algn="l"/>
              </a:tabLst>
            </a:pPr>
            <a:r>
              <a:rPr lang="en-US" altLang="zh-CN" sz="2000" b="1" dirty="0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  FILE *</a:t>
            </a:r>
            <a:r>
              <a:rPr lang="en-US" altLang="zh-CN" sz="2000" b="1" dirty="0" err="1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fp</a:t>
            </a:r>
            <a:r>
              <a:rPr lang="en-US" altLang="zh-CN" sz="2000" b="1" dirty="0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;</a:t>
            </a:r>
          </a:p>
          <a:p>
            <a:pPr marL="457200" indent="-457200">
              <a:tabLst>
                <a:tab pos="914400" algn="l"/>
              </a:tabLst>
            </a:pPr>
            <a:r>
              <a:rPr lang="en-US" altLang="zh-CN" sz="2000" b="1" dirty="0">
                <a:solidFill>
                  <a:schemeClr val="accent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楷体" pitchFamily="49" charset="-122"/>
              </a:rPr>
              <a:t>  //</a:t>
            </a:r>
            <a:r>
              <a:rPr lang="zh-CN" altLang="en-US" sz="2000" b="1" dirty="0">
                <a:solidFill>
                  <a:schemeClr val="accent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楷体" pitchFamily="49" charset="-122"/>
              </a:rPr>
              <a:t>创建文本文件</a:t>
            </a:r>
            <a:r>
              <a:rPr lang="en-US" altLang="zh-CN" sz="2000" b="1" dirty="0">
                <a:solidFill>
                  <a:schemeClr val="accent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楷体" pitchFamily="49" charset="-122"/>
              </a:rPr>
              <a:t>wang.txt</a:t>
            </a:r>
          </a:p>
          <a:p>
            <a:pPr marL="457200" indent="-457200">
              <a:tabLst>
                <a:tab pos="914400" algn="l"/>
              </a:tabLst>
            </a:pPr>
            <a:r>
              <a:rPr lang="en-US" altLang="zh-CN" sz="2000" b="1" dirty="0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  </a:t>
            </a:r>
            <a:r>
              <a:rPr lang="en-US" altLang="zh-CN" sz="2000" b="1" dirty="0" err="1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fp</a:t>
            </a:r>
            <a:r>
              <a:rPr lang="en-US" altLang="zh-CN" sz="2000" b="1" dirty="0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 = </a:t>
            </a:r>
            <a:r>
              <a:rPr lang="en-US" altLang="zh-CN" sz="2000" b="1" dirty="0" err="1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fopen</a:t>
            </a:r>
            <a:r>
              <a:rPr lang="en-US" altLang="zh-CN" sz="2000" b="1" dirty="0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 ("wang.txt", "w");     </a:t>
            </a:r>
          </a:p>
          <a:p>
            <a:pPr marL="457200" indent="-457200">
              <a:tabLst>
                <a:tab pos="914400" algn="l"/>
              </a:tabLst>
            </a:pPr>
            <a:r>
              <a:rPr lang="en-US" altLang="zh-CN" sz="2000" b="1" dirty="0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  if (</a:t>
            </a:r>
            <a:r>
              <a:rPr lang="en-US" altLang="zh-CN" sz="2000" b="1" dirty="0" err="1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fp</a:t>
            </a:r>
            <a:r>
              <a:rPr lang="en-US" altLang="zh-CN" sz="2000" b="1" dirty="0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 = = NULL)     </a:t>
            </a:r>
            <a:r>
              <a:rPr lang="en-US" altLang="zh-CN" sz="2000" b="1" dirty="0">
                <a:solidFill>
                  <a:schemeClr val="accent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楷体" pitchFamily="49" charset="-122"/>
              </a:rPr>
              <a:t>//</a:t>
            </a:r>
            <a:r>
              <a:rPr lang="zh-CN" altLang="en-US" sz="2000" b="1" dirty="0">
                <a:solidFill>
                  <a:schemeClr val="accent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楷体" pitchFamily="49" charset="-122"/>
              </a:rPr>
              <a:t>创建失败</a:t>
            </a:r>
          </a:p>
          <a:p>
            <a:pPr marL="457200" indent="-457200">
              <a:tabLst>
                <a:tab pos="914400" algn="l"/>
              </a:tabLst>
            </a:pPr>
            <a:r>
              <a:rPr lang="zh-CN" altLang="en-US" sz="2000" b="1" dirty="0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  </a:t>
            </a:r>
            <a:r>
              <a:rPr lang="en-US" altLang="zh-CN" sz="2000" b="1" dirty="0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{</a:t>
            </a:r>
          </a:p>
          <a:p>
            <a:pPr marL="457200" indent="-457200">
              <a:tabLst>
                <a:tab pos="914400" algn="l"/>
              </a:tabLst>
            </a:pPr>
            <a:r>
              <a:rPr lang="en-US" altLang="zh-CN" sz="2000" b="1" dirty="0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    </a:t>
            </a:r>
            <a:r>
              <a:rPr lang="en-US" altLang="zh-CN" sz="2000" b="1" dirty="0" err="1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printf</a:t>
            </a:r>
            <a:r>
              <a:rPr lang="en-US" altLang="zh-CN" sz="2000" b="1" dirty="0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 ("can't create file: wang.dat\n");</a:t>
            </a:r>
          </a:p>
          <a:p>
            <a:pPr marL="457200" indent="-457200">
              <a:tabLst>
                <a:tab pos="914400" algn="l"/>
              </a:tabLst>
            </a:pPr>
            <a:r>
              <a:rPr lang="en-US" altLang="zh-CN" sz="2000" b="1" dirty="0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    exit (0);</a:t>
            </a:r>
          </a:p>
          <a:p>
            <a:pPr marL="457200" indent="-457200">
              <a:tabLst>
                <a:tab pos="914400" algn="l"/>
              </a:tabLst>
            </a:pPr>
            <a:r>
              <a:rPr lang="en-US" altLang="zh-CN" sz="2000" b="1" dirty="0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  }</a:t>
            </a:r>
          </a:p>
          <a:p>
            <a:pPr marL="457200" indent="-457200">
              <a:tabLst>
                <a:tab pos="914400" algn="l"/>
              </a:tabLst>
            </a:pPr>
            <a:r>
              <a:rPr lang="en-US" altLang="zh-CN" sz="2000" b="1" dirty="0">
                <a:solidFill>
                  <a:schemeClr val="accent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楷体_GB2312" pitchFamily="49" charset="-122"/>
              </a:rPr>
              <a:t>  </a:t>
            </a:r>
            <a:r>
              <a:rPr lang="en-US" altLang="zh-CN" sz="2000" b="1" dirty="0">
                <a:solidFill>
                  <a:schemeClr val="accent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楷体" pitchFamily="49" charset="-122"/>
              </a:rPr>
              <a:t>//</a:t>
            </a:r>
            <a:r>
              <a:rPr lang="zh-CN" altLang="en-US" sz="2000" b="1" dirty="0">
                <a:solidFill>
                  <a:schemeClr val="accent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楷体" pitchFamily="49" charset="-122"/>
              </a:rPr>
              <a:t>将变量</a:t>
            </a:r>
            <a:r>
              <a:rPr lang="en-US" altLang="zh-CN" sz="2000" b="1" dirty="0" err="1">
                <a:solidFill>
                  <a:schemeClr val="accent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楷体" pitchFamily="49" charset="-122"/>
              </a:rPr>
              <a:t>i</a:t>
            </a:r>
            <a:r>
              <a:rPr lang="zh-CN" altLang="en-US" sz="2000" b="1" dirty="0">
                <a:solidFill>
                  <a:schemeClr val="accent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楷体" pitchFamily="49" charset="-122"/>
              </a:rPr>
              <a:t>和</a:t>
            </a:r>
            <a:r>
              <a:rPr lang="en-US" altLang="zh-CN" sz="2000" b="1" dirty="0">
                <a:solidFill>
                  <a:schemeClr val="accent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楷体" pitchFamily="49" charset="-122"/>
              </a:rPr>
              <a:t>f</a:t>
            </a:r>
            <a:r>
              <a:rPr lang="zh-CN" altLang="en-US" sz="2000" b="1" dirty="0">
                <a:solidFill>
                  <a:schemeClr val="accent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楷体" pitchFamily="49" charset="-122"/>
              </a:rPr>
              <a:t>的值格式化输出到文件中</a:t>
            </a:r>
          </a:p>
          <a:p>
            <a:pPr marL="457200" indent="-457200">
              <a:tabLst>
                <a:tab pos="914400" algn="l"/>
              </a:tabLst>
            </a:pPr>
            <a:r>
              <a:rPr lang="zh-CN" altLang="en-US" sz="2000" b="1" dirty="0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  </a:t>
            </a:r>
            <a:r>
              <a:rPr lang="en-US" altLang="zh-CN" sz="2000" b="1" dirty="0" err="1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fprintf</a:t>
            </a:r>
            <a:r>
              <a:rPr lang="en-US" altLang="zh-CN" sz="2000" b="1" dirty="0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 (</a:t>
            </a:r>
            <a:r>
              <a:rPr lang="en-US" altLang="zh-CN" sz="2000" b="1" dirty="0" err="1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fp</a:t>
            </a:r>
            <a:r>
              <a:rPr lang="en-US" altLang="zh-CN" sz="2000" b="1" dirty="0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, "%2d,%6.2f", </a:t>
            </a:r>
            <a:r>
              <a:rPr lang="en-US" altLang="zh-CN" sz="2000" b="1" dirty="0" err="1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i</a:t>
            </a:r>
            <a:r>
              <a:rPr lang="en-US" altLang="zh-CN" sz="2000" b="1" dirty="0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, f);     </a:t>
            </a:r>
          </a:p>
          <a:p>
            <a:pPr marL="457200" indent="-457200">
              <a:tabLst>
                <a:tab pos="914400" algn="l"/>
              </a:tabLst>
            </a:pPr>
            <a:r>
              <a:rPr lang="en-US" altLang="zh-CN" sz="2000" b="1" dirty="0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  </a:t>
            </a:r>
            <a:r>
              <a:rPr lang="en-US" altLang="zh-CN" sz="2000" b="1" dirty="0" err="1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fclose</a:t>
            </a:r>
            <a:r>
              <a:rPr lang="en-US" altLang="zh-CN" sz="2000" b="1" dirty="0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 (</a:t>
            </a:r>
            <a:r>
              <a:rPr lang="en-US" altLang="zh-CN" sz="2000" b="1" dirty="0" err="1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fp</a:t>
            </a:r>
            <a:r>
              <a:rPr lang="en-US" altLang="zh-CN" sz="2000" b="1" dirty="0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);  </a:t>
            </a:r>
            <a:r>
              <a:rPr lang="en-US" altLang="zh-CN" sz="2000" b="1" dirty="0">
                <a:solidFill>
                  <a:schemeClr val="accent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楷体" pitchFamily="49" charset="-122"/>
              </a:rPr>
              <a:t>//</a:t>
            </a:r>
            <a:r>
              <a:rPr lang="zh-CN" altLang="en-US" sz="2000" b="1" dirty="0">
                <a:solidFill>
                  <a:schemeClr val="accent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楷体" pitchFamily="49" charset="-122"/>
              </a:rPr>
              <a:t>关闭文件</a:t>
            </a:r>
          </a:p>
        </p:txBody>
      </p:sp>
      <p:grpSp>
        <p:nvGrpSpPr>
          <p:cNvPr id="1096766" name="Group 62"/>
          <p:cNvGrpSpPr>
            <a:grpSpLocks/>
          </p:cNvGrpSpPr>
          <p:nvPr/>
        </p:nvGrpSpPr>
        <p:grpSpPr bwMode="auto">
          <a:xfrm>
            <a:off x="5465236" y="2232198"/>
            <a:ext cx="6489700" cy="2420938"/>
            <a:chOff x="1600" y="618"/>
            <a:chExt cx="4088" cy="1525"/>
          </a:xfrm>
        </p:grpSpPr>
        <p:grpSp>
          <p:nvGrpSpPr>
            <p:cNvPr id="1096715" name="Group 11"/>
            <p:cNvGrpSpPr>
              <a:grpSpLocks/>
            </p:cNvGrpSpPr>
            <p:nvPr/>
          </p:nvGrpSpPr>
          <p:grpSpPr bwMode="auto">
            <a:xfrm>
              <a:off x="2228" y="618"/>
              <a:ext cx="3460" cy="1525"/>
              <a:chOff x="1854" y="1134"/>
              <a:chExt cx="3249" cy="1525"/>
            </a:xfrm>
          </p:grpSpPr>
          <p:sp>
            <p:nvSpPr>
              <p:cNvPr id="1096716" name="AutoShape 12"/>
              <p:cNvSpPr>
                <a:spLocks noChangeArrowheads="1"/>
              </p:cNvSpPr>
              <p:nvPr/>
            </p:nvSpPr>
            <p:spPr bwMode="auto">
              <a:xfrm>
                <a:off x="1854" y="1452"/>
                <a:ext cx="3249" cy="1207"/>
              </a:xfrm>
              <a:prstGeom prst="foldedCorner">
                <a:avLst>
                  <a:gd name="adj" fmla="val 12500"/>
                </a:avLst>
              </a:prstGeom>
              <a:gradFill rotWithShape="1">
                <a:gsLst>
                  <a:gs pos="0">
                    <a:srgbClr val="00FFFF"/>
                  </a:gs>
                  <a:gs pos="100000">
                    <a:schemeClr val="bg1"/>
                  </a:gs>
                </a:gsLst>
                <a:lin ang="5400000" scaled="1"/>
              </a:gradFill>
              <a:ln w="25400">
                <a:solidFill>
                  <a:srgbClr val="FF00FF"/>
                </a:solidFill>
                <a:round/>
                <a:headEnd/>
                <a:tailEnd/>
              </a:ln>
              <a:effectLst>
                <a:outerShdw blurRad="50800" dist="106680" dir="2700000" algn="tl" rotWithShape="0">
                  <a:prstClr val="black">
                    <a:alpha val="43000"/>
                  </a:prstClr>
                </a:outerShdw>
              </a:effectLst>
            </p:spPr>
            <p:txBody>
              <a:bodyPr wrap="none" anchor="ctr"/>
              <a:lstStyle/>
              <a:p>
                <a:pPr algn="ctr"/>
                <a:endParaRPr lang="zh-CN" altLang="zh-CN"/>
              </a:p>
            </p:txBody>
          </p:sp>
          <p:sp>
            <p:nvSpPr>
              <p:cNvPr id="1096717" name="Text Box 13"/>
              <p:cNvSpPr txBox="1">
                <a:spLocks noChangeArrowheads="1"/>
              </p:cNvSpPr>
              <p:nvPr/>
            </p:nvSpPr>
            <p:spPr bwMode="auto">
              <a:xfrm>
                <a:off x="3053" y="1134"/>
                <a:ext cx="908" cy="28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altLang="zh-CN" b="1">
                    <a:solidFill>
                      <a:srgbClr val="FF3300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</a:rPr>
                  <a:t>wang.txt</a:t>
                </a:r>
              </a:p>
            </p:txBody>
          </p:sp>
        </p:grpSp>
        <p:grpSp>
          <p:nvGrpSpPr>
            <p:cNvPr id="1096726" name="Group 22"/>
            <p:cNvGrpSpPr>
              <a:grpSpLocks/>
            </p:cNvGrpSpPr>
            <p:nvPr/>
          </p:nvGrpSpPr>
          <p:grpSpPr bwMode="auto">
            <a:xfrm>
              <a:off x="1600" y="1008"/>
              <a:ext cx="609" cy="250"/>
              <a:chOff x="1591" y="972"/>
              <a:chExt cx="691" cy="250"/>
            </a:xfrm>
          </p:grpSpPr>
          <p:sp>
            <p:nvSpPr>
              <p:cNvPr id="1096721" name="Line 17"/>
              <p:cNvSpPr>
                <a:spLocks noChangeShapeType="1"/>
              </p:cNvSpPr>
              <p:nvPr/>
            </p:nvSpPr>
            <p:spPr bwMode="auto">
              <a:xfrm>
                <a:off x="1828" y="1117"/>
                <a:ext cx="454" cy="0"/>
              </a:xfrm>
              <a:prstGeom prst="line">
                <a:avLst/>
              </a:prstGeom>
              <a:noFill/>
              <a:ln w="28575">
                <a:solidFill>
                  <a:srgbClr val="FF0000"/>
                </a:solidFill>
                <a:round/>
                <a:headEnd/>
                <a:tailEnd type="stealth" w="lg" len="lg"/>
              </a:ln>
              <a:effectLst>
                <a:outerShdw dist="35921" dir="2700000" algn="ctr" rotWithShape="0">
                  <a:schemeClr val="bg2"/>
                </a:outerShdw>
              </a:effec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96722" name="Text Box 18"/>
              <p:cNvSpPr txBox="1">
                <a:spLocks noChangeArrowheads="1"/>
              </p:cNvSpPr>
              <p:nvPr/>
            </p:nvSpPr>
            <p:spPr bwMode="auto">
              <a:xfrm>
                <a:off x="1591" y="972"/>
                <a:ext cx="318" cy="25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altLang="zh-CN" sz="2000" b="1">
                    <a:solidFill>
                      <a:srgbClr val="FF3300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</a:rPr>
                  <a:t>fp</a:t>
                </a:r>
              </a:p>
            </p:txBody>
          </p:sp>
        </p:grpSp>
      </p:grpSp>
      <p:sp>
        <p:nvSpPr>
          <p:cNvPr id="1096710" name="Rectangle 6"/>
          <p:cNvSpPr>
            <a:spLocks noChangeArrowheads="1"/>
          </p:cNvSpPr>
          <p:nvPr/>
        </p:nvSpPr>
        <p:spPr bwMode="auto">
          <a:xfrm>
            <a:off x="-24680" y="197476"/>
            <a:ext cx="11833521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anchor="ctr">
            <a:spAutoFit/>
          </a:bodyPr>
          <a:lstStyle/>
          <a:p>
            <a:r>
              <a:rPr lang="en-US" altLang="zh-CN" b="1" dirty="0">
                <a:solidFill>
                  <a:srgbClr val="CC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隶书" pitchFamily="49" charset="-122"/>
                <a:ea typeface="隶书" pitchFamily="49" charset="-122"/>
              </a:rPr>
              <a:t>   【</a:t>
            </a:r>
            <a:r>
              <a:rPr lang="zh-CN" altLang="en-US" b="1" dirty="0">
                <a:solidFill>
                  <a:srgbClr val="CC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隶书" pitchFamily="49" charset="-122"/>
                <a:ea typeface="隶书" pitchFamily="49" charset="-122"/>
              </a:rPr>
              <a:t>例</a:t>
            </a:r>
            <a:r>
              <a:rPr lang="en-US" altLang="zh-CN" b="1" dirty="0">
                <a:solidFill>
                  <a:srgbClr val="CC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隶书" pitchFamily="49" charset="-122"/>
                <a:ea typeface="隶书" pitchFamily="49" charset="-122"/>
              </a:rPr>
              <a:t>7】</a:t>
            </a:r>
            <a:r>
              <a:rPr lang="zh-CN" altLang="en-US" b="1" dirty="0">
                <a:solidFill>
                  <a:srgbClr val="CC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隶书" pitchFamily="49" charset="-122"/>
              </a:rPr>
              <a:t>将变量的值格式化写入文件中，然后从文件中格式化读出并显示。</a:t>
            </a:r>
            <a:r>
              <a:rPr lang="zh-CN" altLang="en-US" dirty="0"/>
              <a:t> </a:t>
            </a:r>
          </a:p>
        </p:txBody>
      </p:sp>
      <p:sp>
        <p:nvSpPr>
          <p:cNvPr id="1096718" name="Text Box 14"/>
          <p:cNvSpPr txBox="1">
            <a:spLocks noChangeArrowheads="1"/>
          </p:cNvSpPr>
          <p:nvPr/>
        </p:nvSpPr>
        <p:spPr bwMode="auto">
          <a:xfrm>
            <a:off x="6478062" y="2852911"/>
            <a:ext cx="4837113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b="1">
                <a:effectLst>
                  <a:outerShdw blurRad="38100" dist="38100" dir="2700000" algn="tl">
                    <a:srgbClr val="FFFFFF"/>
                  </a:outerShdw>
                </a:effectLst>
              </a:rPr>
              <a:t>20  33  2C  20  20  39  2E  38  30</a:t>
            </a:r>
          </a:p>
        </p:txBody>
      </p:sp>
      <p:grpSp>
        <p:nvGrpSpPr>
          <p:cNvPr id="1096767" name="Group 63"/>
          <p:cNvGrpSpPr>
            <a:grpSpLocks/>
          </p:cNvGrpSpPr>
          <p:nvPr/>
        </p:nvGrpSpPr>
        <p:grpSpPr bwMode="auto">
          <a:xfrm>
            <a:off x="10724624" y="2878311"/>
            <a:ext cx="1344612" cy="366712"/>
            <a:chOff x="4913" y="1025"/>
            <a:chExt cx="847" cy="231"/>
          </a:xfrm>
        </p:grpSpPr>
        <p:sp>
          <p:nvSpPr>
            <p:cNvPr id="1096746" name="Line 42"/>
            <p:cNvSpPr>
              <a:spLocks noChangeShapeType="1"/>
            </p:cNvSpPr>
            <p:nvPr/>
          </p:nvSpPr>
          <p:spPr bwMode="auto">
            <a:xfrm flipH="1">
              <a:off x="4913" y="1162"/>
              <a:ext cx="226" cy="0"/>
            </a:xfrm>
            <a:prstGeom prst="line">
              <a:avLst/>
            </a:prstGeom>
            <a:noFill/>
            <a:ln w="9525">
              <a:solidFill>
                <a:srgbClr val="800080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zh-CN" altLang="en-US">
                <a:latin typeface="+mn-lt"/>
                <a:ea typeface="楷体" pitchFamily="49" charset="-122"/>
              </a:endParaRPr>
            </a:p>
          </p:txBody>
        </p:sp>
        <p:sp>
          <p:nvSpPr>
            <p:cNvPr id="1096747" name="Text Box 43"/>
            <p:cNvSpPr txBox="1">
              <a:spLocks noChangeArrowheads="1"/>
            </p:cNvSpPr>
            <p:nvPr/>
          </p:nvSpPr>
          <p:spPr bwMode="auto">
            <a:xfrm>
              <a:off x="5079" y="1025"/>
              <a:ext cx="681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1800" b="1">
                  <a:solidFill>
                    <a:srgbClr val="990099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+mn-lt"/>
                  <a:ea typeface="楷体" pitchFamily="49" charset="-122"/>
                </a:rPr>
                <a:t>ASCII</a:t>
              </a:r>
              <a:r>
                <a:rPr lang="zh-CN" altLang="en-US" sz="1800" b="1">
                  <a:solidFill>
                    <a:srgbClr val="990099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+mn-lt"/>
                  <a:ea typeface="楷体" pitchFamily="49" charset="-122"/>
                </a:rPr>
                <a:t>码</a:t>
              </a:r>
            </a:p>
          </p:txBody>
        </p:sp>
      </p:grpSp>
      <p:grpSp>
        <p:nvGrpSpPr>
          <p:cNvPr id="1096768" name="Group 64"/>
          <p:cNvGrpSpPr>
            <a:grpSpLocks/>
          </p:cNvGrpSpPr>
          <p:nvPr/>
        </p:nvGrpSpPr>
        <p:grpSpPr bwMode="auto">
          <a:xfrm>
            <a:off x="10726211" y="3394248"/>
            <a:ext cx="1049338" cy="641350"/>
            <a:chOff x="4914" y="1350"/>
            <a:chExt cx="661" cy="404"/>
          </a:xfrm>
        </p:grpSpPr>
        <p:sp>
          <p:nvSpPr>
            <p:cNvPr id="1096748" name="Line 44"/>
            <p:cNvSpPr>
              <a:spLocks noChangeShapeType="1"/>
            </p:cNvSpPr>
            <p:nvPr/>
          </p:nvSpPr>
          <p:spPr bwMode="auto">
            <a:xfrm flipH="1">
              <a:off x="4914" y="1568"/>
              <a:ext cx="226" cy="0"/>
            </a:xfrm>
            <a:prstGeom prst="line">
              <a:avLst/>
            </a:prstGeom>
            <a:noFill/>
            <a:ln w="9525">
              <a:solidFill>
                <a:srgbClr val="800080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zh-CN" altLang="en-US">
                <a:latin typeface="+mn-lt"/>
                <a:ea typeface="楷体" pitchFamily="49" charset="-122"/>
              </a:endParaRPr>
            </a:p>
          </p:txBody>
        </p:sp>
        <p:sp>
          <p:nvSpPr>
            <p:cNvPr id="1096749" name="Text Box 45"/>
            <p:cNvSpPr txBox="1">
              <a:spLocks noChangeArrowheads="1"/>
            </p:cNvSpPr>
            <p:nvPr/>
          </p:nvSpPr>
          <p:spPr bwMode="auto">
            <a:xfrm>
              <a:off x="5134" y="1350"/>
              <a:ext cx="441" cy="40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1800" b="1" dirty="0">
                  <a:solidFill>
                    <a:srgbClr val="990099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+mn-lt"/>
                  <a:ea typeface="楷体" pitchFamily="49" charset="-122"/>
                </a:rPr>
                <a:t>对应字符</a:t>
              </a:r>
            </a:p>
          </p:txBody>
        </p:sp>
      </p:grpSp>
      <p:grpSp>
        <p:nvGrpSpPr>
          <p:cNvPr id="1096769" name="Group 65"/>
          <p:cNvGrpSpPr>
            <a:grpSpLocks/>
          </p:cNvGrpSpPr>
          <p:nvPr/>
        </p:nvGrpSpPr>
        <p:grpSpPr bwMode="auto">
          <a:xfrm>
            <a:off x="6505049" y="3262486"/>
            <a:ext cx="4278312" cy="1282700"/>
            <a:chOff x="2255" y="1267"/>
            <a:chExt cx="2695" cy="808"/>
          </a:xfrm>
        </p:grpSpPr>
        <p:grpSp>
          <p:nvGrpSpPr>
            <p:cNvPr id="1096751" name="Group 47"/>
            <p:cNvGrpSpPr>
              <a:grpSpLocks/>
            </p:cNvGrpSpPr>
            <p:nvPr/>
          </p:nvGrpSpPr>
          <p:grpSpPr bwMode="auto">
            <a:xfrm>
              <a:off x="2255" y="1280"/>
              <a:ext cx="270" cy="470"/>
              <a:chOff x="2255" y="1280"/>
              <a:chExt cx="270" cy="470"/>
            </a:xfrm>
          </p:grpSpPr>
          <p:sp>
            <p:nvSpPr>
              <p:cNvPr id="1096727" name="Line 23"/>
              <p:cNvSpPr>
                <a:spLocks noChangeShapeType="1"/>
              </p:cNvSpPr>
              <p:nvPr/>
            </p:nvSpPr>
            <p:spPr bwMode="auto">
              <a:xfrm>
                <a:off x="2382" y="1280"/>
                <a:ext cx="0" cy="227"/>
              </a:xfrm>
              <a:prstGeom prst="line">
                <a:avLst/>
              </a:prstGeom>
              <a:noFill/>
              <a:ln w="19050">
                <a:solidFill>
                  <a:srgbClr val="0000FF"/>
                </a:solidFill>
                <a:round/>
                <a:headEnd/>
                <a:tailEnd type="stealth" w="lg" len="lg"/>
              </a:ln>
              <a:effectLst/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96728" name="Rectangle 24"/>
              <p:cNvSpPr>
                <a:spLocks noChangeArrowheads="1"/>
              </p:cNvSpPr>
              <p:nvPr/>
            </p:nvSpPr>
            <p:spPr bwMode="auto">
              <a:xfrm>
                <a:off x="2255" y="1462"/>
                <a:ext cx="270" cy="28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>
                <a:spAutoFit/>
              </a:bodyPr>
              <a:lstStyle/>
              <a:p>
                <a:r>
                  <a:rPr lang="en-US" altLang="zh-CN" b="1">
                    <a:solidFill>
                      <a:srgbClr val="CC0000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</a:rPr>
                  <a:t>' '</a:t>
                </a:r>
              </a:p>
            </p:txBody>
          </p:sp>
        </p:grpSp>
        <p:grpSp>
          <p:nvGrpSpPr>
            <p:cNvPr id="1096752" name="Group 48"/>
            <p:cNvGrpSpPr>
              <a:grpSpLocks/>
            </p:cNvGrpSpPr>
            <p:nvPr/>
          </p:nvGrpSpPr>
          <p:grpSpPr bwMode="auto">
            <a:xfrm>
              <a:off x="2554" y="1272"/>
              <a:ext cx="318" cy="487"/>
              <a:chOff x="2554" y="1272"/>
              <a:chExt cx="318" cy="487"/>
            </a:xfrm>
          </p:grpSpPr>
          <p:sp>
            <p:nvSpPr>
              <p:cNvPr id="1096729" name="Line 25"/>
              <p:cNvSpPr>
                <a:spLocks noChangeShapeType="1"/>
              </p:cNvSpPr>
              <p:nvPr/>
            </p:nvSpPr>
            <p:spPr bwMode="auto">
              <a:xfrm>
                <a:off x="2671" y="1272"/>
                <a:ext cx="0" cy="227"/>
              </a:xfrm>
              <a:prstGeom prst="line">
                <a:avLst/>
              </a:prstGeom>
              <a:noFill/>
              <a:ln w="19050">
                <a:solidFill>
                  <a:srgbClr val="0000FF"/>
                </a:solidFill>
                <a:round/>
                <a:headEnd/>
                <a:tailEnd type="stealth" w="lg" len="lg"/>
              </a:ln>
              <a:effectLst/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96730" name="Rectangle 26"/>
              <p:cNvSpPr>
                <a:spLocks noChangeArrowheads="1"/>
              </p:cNvSpPr>
              <p:nvPr/>
            </p:nvSpPr>
            <p:spPr bwMode="auto">
              <a:xfrm>
                <a:off x="2554" y="1471"/>
                <a:ext cx="318" cy="28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>
                <a:spAutoFit/>
              </a:bodyPr>
              <a:lstStyle/>
              <a:p>
                <a:r>
                  <a:rPr lang="en-US" altLang="zh-CN" b="1">
                    <a:solidFill>
                      <a:srgbClr val="CC0000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</a:rPr>
                  <a:t>'3'</a:t>
                </a:r>
              </a:p>
            </p:txBody>
          </p:sp>
        </p:grpSp>
        <p:grpSp>
          <p:nvGrpSpPr>
            <p:cNvPr id="1096753" name="Group 49"/>
            <p:cNvGrpSpPr>
              <a:grpSpLocks/>
            </p:cNvGrpSpPr>
            <p:nvPr/>
          </p:nvGrpSpPr>
          <p:grpSpPr bwMode="auto">
            <a:xfrm>
              <a:off x="2854" y="1282"/>
              <a:ext cx="318" cy="468"/>
              <a:chOff x="2854" y="1282"/>
              <a:chExt cx="318" cy="468"/>
            </a:xfrm>
          </p:grpSpPr>
          <p:sp>
            <p:nvSpPr>
              <p:cNvPr id="1096731" name="Line 27"/>
              <p:cNvSpPr>
                <a:spLocks noChangeShapeType="1"/>
              </p:cNvSpPr>
              <p:nvPr/>
            </p:nvSpPr>
            <p:spPr bwMode="auto">
              <a:xfrm>
                <a:off x="2987" y="1282"/>
                <a:ext cx="0" cy="227"/>
              </a:xfrm>
              <a:prstGeom prst="line">
                <a:avLst/>
              </a:prstGeom>
              <a:noFill/>
              <a:ln w="19050">
                <a:solidFill>
                  <a:srgbClr val="0000FF"/>
                </a:solidFill>
                <a:round/>
                <a:headEnd/>
                <a:tailEnd type="stealth" w="lg" len="lg"/>
              </a:ln>
              <a:effectLst/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96732" name="Rectangle 28"/>
              <p:cNvSpPr>
                <a:spLocks noChangeArrowheads="1"/>
              </p:cNvSpPr>
              <p:nvPr/>
            </p:nvSpPr>
            <p:spPr bwMode="auto">
              <a:xfrm>
                <a:off x="2854" y="1462"/>
                <a:ext cx="318" cy="28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>
                <a:spAutoFit/>
              </a:bodyPr>
              <a:lstStyle/>
              <a:p>
                <a:r>
                  <a:rPr lang="en-US" altLang="zh-CN" b="1">
                    <a:solidFill>
                      <a:srgbClr val="CC0000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</a:rPr>
                  <a:t>', '</a:t>
                </a:r>
              </a:p>
            </p:txBody>
          </p:sp>
        </p:grpSp>
        <p:grpSp>
          <p:nvGrpSpPr>
            <p:cNvPr id="1096754" name="Group 50"/>
            <p:cNvGrpSpPr>
              <a:grpSpLocks/>
            </p:cNvGrpSpPr>
            <p:nvPr/>
          </p:nvGrpSpPr>
          <p:grpSpPr bwMode="auto">
            <a:xfrm>
              <a:off x="3192" y="1274"/>
              <a:ext cx="270" cy="477"/>
              <a:chOff x="3192" y="1274"/>
              <a:chExt cx="270" cy="477"/>
            </a:xfrm>
          </p:grpSpPr>
          <p:sp>
            <p:nvSpPr>
              <p:cNvPr id="1096733" name="Line 29"/>
              <p:cNvSpPr>
                <a:spLocks noChangeShapeType="1"/>
              </p:cNvSpPr>
              <p:nvPr/>
            </p:nvSpPr>
            <p:spPr bwMode="auto">
              <a:xfrm>
                <a:off x="3303" y="1274"/>
                <a:ext cx="0" cy="227"/>
              </a:xfrm>
              <a:prstGeom prst="line">
                <a:avLst/>
              </a:prstGeom>
              <a:noFill/>
              <a:ln w="19050">
                <a:solidFill>
                  <a:srgbClr val="0000FF"/>
                </a:solidFill>
                <a:round/>
                <a:headEnd/>
                <a:tailEnd type="stealth" w="lg" len="lg"/>
              </a:ln>
              <a:effectLst/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96734" name="Rectangle 30"/>
              <p:cNvSpPr>
                <a:spLocks noChangeArrowheads="1"/>
              </p:cNvSpPr>
              <p:nvPr/>
            </p:nvSpPr>
            <p:spPr bwMode="auto">
              <a:xfrm>
                <a:off x="3192" y="1463"/>
                <a:ext cx="270" cy="28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>
                <a:spAutoFit/>
              </a:bodyPr>
              <a:lstStyle/>
              <a:p>
                <a:r>
                  <a:rPr lang="en-US" altLang="zh-CN" b="1">
                    <a:solidFill>
                      <a:srgbClr val="CC0000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</a:rPr>
                  <a:t>' '</a:t>
                </a:r>
              </a:p>
            </p:txBody>
          </p:sp>
        </p:grpSp>
        <p:grpSp>
          <p:nvGrpSpPr>
            <p:cNvPr id="1096755" name="Group 51"/>
            <p:cNvGrpSpPr>
              <a:grpSpLocks/>
            </p:cNvGrpSpPr>
            <p:nvPr/>
          </p:nvGrpSpPr>
          <p:grpSpPr bwMode="auto">
            <a:xfrm>
              <a:off x="3472" y="1275"/>
              <a:ext cx="270" cy="477"/>
              <a:chOff x="3472" y="1275"/>
              <a:chExt cx="270" cy="477"/>
            </a:xfrm>
          </p:grpSpPr>
          <p:sp>
            <p:nvSpPr>
              <p:cNvPr id="1096736" name="Line 32"/>
              <p:cNvSpPr>
                <a:spLocks noChangeShapeType="1"/>
              </p:cNvSpPr>
              <p:nvPr/>
            </p:nvSpPr>
            <p:spPr bwMode="auto">
              <a:xfrm>
                <a:off x="3592" y="1275"/>
                <a:ext cx="0" cy="227"/>
              </a:xfrm>
              <a:prstGeom prst="line">
                <a:avLst/>
              </a:prstGeom>
              <a:noFill/>
              <a:ln w="19050">
                <a:solidFill>
                  <a:srgbClr val="0000FF"/>
                </a:solidFill>
                <a:round/>
                <a:headEnd/>
                <a:tailEnd type="stealth" w="lg" len="lg"/>
              </a:ln>
              <a:effectLst/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96737" name="Rectangle 33"/>
              <p:cNvSpPr>
                <a:spLocks noChangeArrowheads="1"/>
              </p:cNvSpPr>
              <p:nvPr/>
            </p:nvSpPr>
            <p:spPr bwMode="auto">
              <a:xfrm>
                <a:off x="3472" y="1464"/>
                <a:ext cx="270" cy="28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>
                <a:spAutoFit/>
              </a:bodyPr>
              <a:lstStyle/>
              <a:p>
                <a:r>
                  <a:rPr lang="en-US" altLang="zh-CN" b="1">
                    <a:solidFill>
                      <a:srgbClr val="CC0000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</a:rPr>
                  <a:t>' '</a:t>
                </a:r>
              </a:p>
            </p:txBody>
          </p:sp>
        </p:grpSp>
        <p:grpSp>
          <p:nvGrpSpPr>
            <p:cNvPr id="1096756" name="Group 52"/>
            <p:cNvGrpSpPr>
              <a:grpSpLocks/>
            </p:cNvGrpSpPr>
            <p:nvPr/>
          </p:nvGrpSpPr>
          <p:grpSpPr bwMode="auto">
            <a:xfrm>
              <a:off x="3725" y="1267"/>
              <a:ext cx="318" cy="474"/>
              <a:chOff x="3725" y="1267"/>
              <a:chExt cx="318" cy="474"/>
            </a:xfrm>
          </p:grpSpPr>
          <p:sp>
            <p:nvSpPr>
              <p:cNvPr id="1096738" name="Line 34"/>
              <p:cNvSpPr>
                <a:spLocks noChangeShapeType="1"/>
              </p:cNvSpPr>
              <p:nvPr/>
            </p:nvSpPr>
            <p:spPr bwMode="auto">
              <a:xfrm>
                <a:off x="3872" y="1267"/>
                <a:ext cx="0" cy="227"/>
              </a:xfrm>
              <a:prstGeom prst="line">
                <a:avLst/>
              </a:prstGeom>
              <a:noFill/>
              <a:ln w="19050">
                <a:solidFill>
                  <a:srgbClr val="0000FF"/>
                </a:solidFill>
                <a:round/>
                <a:headEnd/>
                <a:tailEnd type="stealth" w="lg" len="lg"/>
              </a:ln>
              <a:effectLst/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96739" name="Rectangle 35"/>
              <p:cNvSpPr>
                <a:spLocks noChangeArrowheads="1"/>
              </p:cNvSpPr>
              <p:nvPr/>
            </p:nvSpPr>
            <p:spPr bwMode="auto">
              <a:xfrm>
                <a:off x="3725" y="1453"/>
                <a:ext cx="318" cy="28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>
                <a:spAutoFit/>
              </a:bodyPr>
              <a:lstStyle/>
              <a:p>
                <a:r>
                  <a:rPr lang="en-US" altLang="zh-CN" b="1">
                    <a:solidFill>
                      <a:srgbClr val="CC0000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</a:rPr>
                  <a:t>'9'</a:t>
                </a:r>
              </a:p>
            </p:txBody>
          </p:sp>
        </p:grpSp>
        <p:grpSp>
          <p:nvGrpSpPr>
            <p:cNvPr id="1096757" name="Group 53"/>
            <p:cNvGrpSpPr>
              <a:grpSpLocks/>
            </p:cNvGrpSpPr>
            <p:nvPr/>
          </p:nvGrpSpPr>
          <p:grpSpPr bwMode="auto">
            <a:xfrm>
              <a:off x="4024" y="1277"/>
              <a:ext cx="318" cy="464"/>
              <a:chOff x="4024" y="1277"/>
              <a:chExt cx="318" cy="464"/>
            </a:xfrm>
          </p:grpSpPr>
          <p:sp>
            <p:nvSpPr>
              <p:cNvPr id="1096740" name="Line 36"/>
              <p:cNvSpPr>
                <a:spLocks noChangeShapeType="1"/>
              </p:cNvSpPr>
              <p:nvPr/>
            </p:nvSpPr>
            <p:spPr bwMode="auto">
              <a:xfrm>
                <a:off x="4170" y="1277"/>
                <a:ext cx="0" cy="227"/>
              </a:xfrm>
              <a:prstGeom prst="line">
                <a:avLst/>
              </a:prstGeom>
              <a:noFill/>
              <a:ln w="19050">
                <a:solidFill>
                  <a:srgbClr val="0000FF"/>
                </a:solidFill>
                <a:round/>
                <a:headEnd/>
                <a:tailEnd type="stealth" w="lg" len="lg"/>
              </a:ln>
              <a:effectLst/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96741" name="Rectangle 37"/>
              <p:cNvSpPr>
                <a:spLocks noChangeArrowheads="1"/>
              </p:cNvSpPr>
              <p:nvPr/>
            </p:nvSpPr>
            <p:spPr bwMode="auto">
              <a:xfrm>
                <a:off x="4024" y="1453"/>
                <a:ext cx="318" cy="28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>
                <a:spAutoFit/>
              </a:bodyPr>
              <a:lstStyle/>
              <a:p>
                <a:r>
                  <a:rPr lang="en-US" altLang="zh-CN" b="1">
                    <a:solidFill>
                      <a:srgbClr val="CC0000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</a:rPr>
                  <a:t>'. '</a:t>
                </a:r>
              </a:p>
            </p:txBody>
          </p:sp>
        </p:grpSp>
        <p:grpSp>
          <p:nvGrpSpPr>
            <p:cNvPr id="1096758" name="Group 54"/>
            <p:cNvGrpSpPr>
              <a:grpSpLocks/>
            </p:cNvGrpSpPr>
            <p:nvPr/>
          </p:nvGrpSpPr>
          <p:grpSpPr bwMode="auto">
            <a:xfrm>
              <a:off x="4350" y="1278"/>
              <a:ext cx="318" cy="471"/>
              <a:chOff x="4350" y="1278"/>
              <a:chExt cx="318" cy="471"/>
            </a:xfrm>
          </p:grpSpPr>
          <p:sp>
            <p:nvSpPr>
              <p:cNvPr id="1096742" name="Line 38"/>
              <p:cNvSpPr>
                <a:spLocks noChangeShapeType="1"/>
              </p:cNvSpPr>
              <p:nvPr/>
            </p:nvSpPr>
            <p:spPr bwMode="auto">
              <a:xfrm>
                <a:off x="4486" y="1278"/>
                <a:ext cx="0" cy="227"/>
              </a:xfrm>
              <a:prstGeom prst="line">
                <a:avLst/>
              </a:prstGeom>
              <a:noFill/>
              <a:ln w="19050">
                <a:solidFill>
                  <a:srgbClr val="0000FF"/>
                </a:solidFill>
                <a:round/>
                <a:headEnd/>
                <a:tailEnd type="stealth" w="lg" len="lg"/>
              </a:ln>
              <a:effectLst/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96743" name="Rectangle 39"/>
              <p:cNvSpPr>
                <a:spLocks noChangeArrowheads="1"/>
              </p:cNvSpPr>
              <p:nvPr/>
            </p:nvSpPr>
            <p:spPr bwMode="auto">
              <a:xfrm>
                <a:off x="4350" y="1461"/>
                <a:ext cx="318" cy="28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>
                <a:spAutoFit/>
              </a:bodyPr>
              <a:lstStyle/>
              <a:p>
                <a:r>
                  <a:rPr lang="en-US" altLang="zh-CN" b="1">
                    <a:solidFill>
                      <a:srgbClr val="CC0000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</a:rPr>
                  <a:t>'8'</a:t>
                </a:r>
              </a:p>
            </p:txBody>
          </p:sp>
        </p:grpSp>
        <p:grpSp>
          <p:nvGrpSpPr>
            <p:cNvPr id="1096759" name="Group 55"/>
            <p:cNvGrpSpPr>
              <a:grpSpLocks/>
            </p:cNvGrpSpPr>
            <p:nvPr/>
          </p:nvGrpSpPr>
          <p:grpSpPr bwMode="auto">
            <a:xfrm>
              <a:off x="4632" y="1270"/>
              <a:ext cx="318" cy="470"/>
              <a:chOff x="4632" y="1270"/>
              <a:chExt cx="318" cy="470"/>
            </a:xfrm>
          </p:grpSpPr>
          <p:sp>
            <p:nvSpPr>
              <p:cNvPr id="1096744" name="Line 40"/>
              <p:cNvSpPr>
                <a:spLocks noChangeShapeType="1"/>
              </p:cNvSpPr>
              <p:nvPr/>
            </p:nvSpPr>
            <p:spPr bwMode="auto">
              <a:xfrm>
                <a:off x="4766" y="1270"/>
                <a:ext cx="0" cy="227"/>
              </a:xfrm>
              <a:prstGeom prst="line">
                <a:avLst/>
              </a:prstGeom>
              <a:noFill/>
              <a:ln w="19050">
                <a:solidFill>
                  <a:srgbClr val="0000FF"/>
                </a:solidFill>
                <a:round/>
                <a:headEnd/>
                <a:tailEnd type="stealth" w="lg" len="lg"/>
              </a:ln>
              <a:effectLst/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96745" name="Rectangle 41"/>
              <p:cNvSpPr>
                <a:spLocks noChangeArrowheads="1"/>
              </p:cNvSpPr>
              <p:nvPr/>
            </p:nvSpPr>
            <p:spPr bwMode="auto">
              <a:xfrm>
                <a:off x="4632" y="1452"/>
                <a:ext cx="318" cy="28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>
                <a:spAutoFit/>
              </a:bodyPr>
              <a:lstStyle/>
              <a:p>
                <a:r>
                  <a:rPr lang="en-US" altLang="zh-CN" b="1">
                    <a:solidFill>
                      <a:srgbClr val="CC0000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</a:rPr>
                  <a:t>'0'</a:t>
                </a:r>
              </a:p>
            </p:txBody>
          </p:sp>
        </p:grpSp>
        <p:grpSp>
          <p:nvGrpSpPr>
            <p:cNvPr id="1096764" name="Group 60"/>
            <p:cNvGrpSpPr>
              <a:grpSpLocks/>
            </p:cNvGrpSpPr>
            <p:nvPr/>
          </p:nvGrpSpPr>
          <p:grpSpPr bwMode="auto">
            <a:xfrm>
              <a:off x="2318" y="1724"/>
              <a:ext cx="454" cy="341"/>
              <a:chOff x="2318" y="1724"/>
              <a:chExt cx="454" cy="341"/>
            </a:xfrm>
          </p:grpSpPr>
          <p:sp>
            <p:nvSpPr>
              <p:cNvPr id="1096760" name="AutoShape 56"/>
              <p:cNvSpPr>
                <a:spLocks/>
              </p:cNvSpPr>
              <p:nvPr/>
            </p:nvSpPr>
            <p:spPr bwMode="auto">
              <a:xfrm rot="-5400000">
                <a:off x="2477" y="1565"/>
                <a:ext cx="136" cy="453"/>
              </a:xfrm>
              <a:prstGeom prst="leftBrace">
                <a:avLst>
                  <a:gd name="adj1" fmla="val 27757"/>
                  <a:gd name="adj2" fmla="val 50000"/>
                </a:avLst>
              </a:prstGeom>
              <a:noFill/>
              <a:ln w="22225">
                <a:solidFill>
                  <a:srgbClr val="0000FF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096761" name="Text Box 57"/>
              <p:cNvSpPr txBox="1">
                <a:spLocks noChangeArrowheads="1"/>
              </p:cNvSpPr>
              <p:nvPr/>
            </p:nvSpPr>
            <p:spPr bwMode="auto">
              <a:xfrm>
                <a:off x="2318" y="1815"/>
                <a:ext cx="454" cy="25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altLang="zh-CN" sz="2000" b="1">
                    <a:solidFill>
                      <a:schemeClr val="accent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</a:rPr>
                  <a:t>%2d</a:t>
                </a:r>
              </a:p>
            </p:txBody>
          </p:sp>
        </p:grpSp>
        <p:grpSp>
          <p:nvGrpSpPr>
            <p:cNvPr id="1096765" name="Group 61"/>
            <p:cNvGrpSpPr>
              <a:grpSpLocks/>
            </p:cNvGrpSpPr>
            <p:nvPr/>
          </p:nvGrpSpPr>
          <p:grpSpPr bwMode="auto">
            <a:xfrm>
              <a:off x="3300" y="1688"/>
              <a:ext cx="1494" cy="387"/>
              <a:chOff x="3300" y="1688"/>
              <a:chExt cx="1494" cy="387"/>
            </a:xfrm>
          </p:grpSpPr>
          <p:sp>
            <p:nvSpPr>
              <p:cNvPr id="1096762" name="AutoShape 58"/>
              <p:cNvSpPr>
                <a:spLocks/>
              </p:cNvSpPr>
              <p:nvPr/>
            </p:nvSpPr>
            <p:spPr bwMode="auto">
              <a:xfrm rot="-5400000">
                <a:off x="3956" y="1032"/>
                <a:ext cx="182" cy="1494"/>
              </a:xfrm>
              <a:prstGeom prst="leftBrace">
                <a:avLst>
                  <a:gd name="adj1" fmla="val 68407"/>
                  <a:gd name="adj2" fmla="val 50000"/>
                </a:avLst>
              </a:prstGeom>
              <a:noFill/>
              <a:ln w="22225">
                <a:solidFill>
                  <a:srgbClr val="0000FF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096763" name="Text Box 59"/>
              <p:cNvSpPr txBox="1">
                <a:spLocks noChangeArrowheads="1"/>
              </p:cNvSpPr>
              <p:nvPr/>
            </p:nvSpPr>
            <p:spPr bwMode="auto">
              <a:xfrm>
                <a:off x="3761" y="1825"/>
                <a:ext cx="680" cy="25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altLang="zh-CN" sz="2000" b="1">
                    <a:solidFill>
                      <a:schemeClr val="accent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</a:rPr>
                  <a:t>%6.2f</a:t>
                </a:r>
              </a:p>
            </p:txBody>
          </p:sp>
        </p:grpSp>
      </p:grpSp>
      <p:grpSp>
        <p:nvGrpSpPr>
          <p:cNvPr id="1096770" name="Group 66"/>
          <p:cNvGrpSpPr>
            <a:grpSpLocks/>
          </p:cNvGrpSpPr>
          <p:nvPr/>
        </p:nvGrpSpPr>
        <p:grpSpPr bwMode="auto">
          <a:xfrm>
            <a:off x="-9822" y="0"/>
            <a:ext cx="446088" cy="6858000"/>
            <a:chOff x="0" y="0"/>
            <a:chExt cx="281" cy="4320"/>
          </a:xfrm>
        </p:grpSpPr>
        <p:sp>
          <p:nvSpPr>
            <p:cNvPr id="1096771" name="Text Box 67"/>
            <p:cNvSpPr txBox="1">
              <a:spLocks noChangeArrowheads="1"/>
            </p:cNvSpPr>
            <p:nvPr/>
          </p:nvSpPr>
          <p:spPr bwMode="auto">
            <a:xfrm>
              <a:off x="0" y="0"/>
              <a:ext cx="281" cy="4320"/>
            </a:xfrm>
            <a:prstGeom prst="rect">
              <a:avLst/>
            </a:prstGeom>
            <a:gradFill rotWithShape="0">
              <a:gsLst>
                <a:gs pos="0">
                  <a:schemeClr val="hlink">
                    <a:gamma/>
                    <a:shade val="60784"/>
                    <a:invGamma/>
                  </a:schemeClr>
                </a:gs>
                <a:gs pos="50000">
                  <a:schemeClr val="hlink"/>
                </a:gs>
                <a:gs pos="100000">
                  <a:schemeClr val="hlink">
                    <a:gamma/>
                    <a:shade val="60784"/>
                    <a:invGamma/>
                  </a:schemeClr>
                </a:gs>
              </a:gsLst>
              <a:lin ang="0" scaled="1"/>
            </a:gradFill>
            <a:ln w="9525">
              <a:noFill/>
              <a:miter lim="800000"/>
              <a:headEnd/>
              <a:tailEnd/>
            </a:ln>
            <a:effectLst/>
          </p:spPr>
          <p:txBody>
            <a:bodyPr/>
            <a:lstStyle/>
            <a:p>
              <a:pPr eaLnBrk="0" hangingPunct="0">
                <a:spcBef>
                  <a:spcPct val="50000"/>
                </a:spcBef>
              </a:pPr>
              <a:endParaRPr lang="en-US" altLang="zh-CN" sz="1800" dirty="0">
                <a:solidFill>
                  <a:srgbClr val="3333CC"/>
                </a:solidFill>
                <a:latin typeface="Verdana" pitchFamily="34" charset="0"/>
              </a:endParaRPr>
            </a:p>
            <a:p>
              <a:pPr eaLnBrk="0" hangingPunct="0">
                <a:spcBef>
                  <a:spcPct val="50000"/>
                </a:spcBef>
              </a:pPr>
              <a:r>
                <a:rPr lang="zh-CN" altLang="en-US" sz="1600" b="1" dirty="0">
                  <a:solidFill>
                    <a:srgbClr val="3333CC"/>
                  </a:solidFill>
                  <a:latin typeface="Verdana" pitchFamily="34" charset="0"/>
                </a:rPr>
                <a:t>语言程序设计教程       </a:t>
              </a:r>
            </a:p>
            <a:p>
              <a:pPr eaLnBrk="0" hangingPunct="0">
                <a:spcBef>
                  <a:spcPct val="50000"/>
                </a:spcBef>
              </a:pPr>
              <a:r>
                <a:rPr lang="zh-CN" altLang="en-US" sz="1600" b="1" dirty="0">
                  <a:solidFill>
                    <a:srgbClr val="3333CC"/>
                  </a:solidFill>
                  <a:latin typeface="Verdana" pitchFamily="34" charset="0"/>
                </a:rPr>
                <a:t>第三版</a:t>
              </a:r>
            </a:p>
            <a:p>
              <a:pPr eaLnBrk="0" hangingPunct="0">
                <a:spcBef>
                  <a:spcPct val="50000"/>
                </a:spcBef>
              </a:pPr>
              <a:endParaRPr lang="zh-CN" altLang="en-US" sz="1600" b="1" dirty="0">
                <a:solidFill>
                  <a:srgbClr val="3333CC"/>
                </a:solidFill>
                <a:latin typeface="Verdana" pitchFamily="34" charset="0"/>
              </a:endParaRPr>
            </a:p>
            <a:p>
              <a:pPr eaLnBrk="0" hangingPunct="0">
                <a:spcBef>
                  <a:spcPct val="50000"/>
                </a:spcBef>
              </a:pPr>
              <a:endParaRPr lang="zh-CN" altLang="en-US" sz="1600" b="1" dirty="0">
                <a:solidFill>
                  <a:srgbClr val="3333CC"/>
                </a:solidFill>
                <a:latin typeface="Verdana" pitchFamily="34" charset="0"/>
              </a:endParaRPr>
            </a:p>
            <a:p>
              <a:pPr eaLnBrk="0" hangingPunct="0">
                <a:spcBef>
                  <a:spcPct val="50000"/>
                </a:spcBef>
              </a:pPr>
              <a:r>
                <a:rPr lang="zh-CN" altLang="en-US" sz="1600" b="1" dirty="0">
                  <a:solidFill>
                    <a:srgbClr val="3333CC"/>
                  </a:solidFill>
                  <a:latin typeface="Verdana" pitchFamily="34" charset="0"/>
                </a:rPr>
                <a:t>第十</a:t>
              </a:r>
            </a:p>
            <a:p>
              <a:pPr eaLnBrk="0" hangingPunct="0">
                <a:spcBef>
                  <a:spcPct val="50000"/>
                </a:spcBef>
              </a:pPr>
              <a:r>
                <a:rPr lang="zh-CN" altLang="en-US" sz="1600" b="1" dirty="0">
                  <a:solidFill>
                    <a:srgbClr val="3333CC"/>
                  </a:solidFill>
                  <a:latin typeface="Verdana" pitchFamily="34" charset="0"/>
                </a:rPr>
                <a:t>二章 </a:t>
              </a:r>
            </a:p>
            <a:p>
              <a:pPr eaLnBrk="0" hangingPunct="0">
                <a:spcBef>
                  <a:spcPct val="50000"/>
                </a:spcBef>
              </a:pPr>
              <a:endParaRPr lang="zh-CN" altLang="en-US" sz="1600" b="1" dirty="0">
                <a:solidFill>
                  <a:srgbClr val="3333CC"/>
                </a:solidFill>
                <a:latin typeface="Verdana" pitchFamily="34" charset="0"/>
              </a:endParaRPr>
            </a:p>
            <a:p>
              <a:pPr eaLnBrk="0" hangingPunct="0">
                <a:spcBef>
                  <a:spcPct val="50000"/>
                </a:spcBef>
              </a:pPr>
              <a:r>
                <a:rPr lang="zh-CN" altLang="en-US" sz="1600" b="1" dirty="0">
                  <a:solidFill>
                    <a:srgbClr val="3333CC"/>
                  </a:solidFill>
                  <a:latin typeface="Verdana" pitchFamily="34" charset="0"/>
                </a:rPr>
                <a:t>文</a:t>
              </a:r>
            </a:p>
            <a:p>
              <a:pPr eaLnBrk="0" hangingPunct="0">
                <a:spcBef>
                  <a:spcPct val="50000"/>
                </a:spcBef>
              </a:pPr>
              <a:endParaRPr lang="zh-CN" altLang="en-US" sz="1600" b="1" dirty="0">
                <a:solidFill>
                  <a:srgbClr val="3333CC"/>
                </a:solidFill>
                <a:latin typeface="Verdana" pitchFamily="34" charset="0"/>
              </a:endParaRPr>
            </a:p>
            <a:p>
              <a:pPr eaLnBrk="0" hangingPunct="0">
                <a:spcBef>
                  <a:spcPct val="50000"/>
                </a:spcBef>
              </a:pPr>
              <a:r>
                <a:rPr lang="zh-CN" altLang="en-US" sz="1600" b="1" dirty="0">
                  <a:solidFill>
                    <a:srgbClr val="3333CC"/>
                  </a:solidFill>
                  <a:latin typeface="Verdana" pitchFamily="34" charset="0"/>
                </a:rPr>
                <a:t>件</a:t>
              </a:r>
            </a:p>
          </p:txBody>
        </p:sp>
        <p:sp>
          <p:nvSpPr>
            <p:cNvPr id="1096772" name="Text Box 68"/>
            <p:cNvSpPr txBox="1">
              <a:spLocks noChangeArrowheads="1"/>
            </p:cNvSpPr>
            <p:nvPr/>
          </p:nvSpPr>
          <p:spPr bwMode="auto">
            <a:xfrm>
              <a:off x="0" y="0"/>
              <a:ext cx="281" cy="231"/>
            </a:xfrm>
            <a:prstGeom prst="rect">
              <a:avLst/>
            </a:prstGeom>
            <a:gradFill rotWithShape="0">
              <a:gsLst>
                <a:gs pos="0">
                  <a:schemeClr val="hlink">
                    <a:gamma/>
                    <a:shade val="46275"/>
                    <a:invGamma/>
                  </a:schemeClr>
                </a:gs>
                <a:gs pos="50000">
                  <a:schemeClr val="hlink"/>
                </a:gs>
                <a:gs pos="100000">
                  <a:schemeClr val="hlink">
                    <a:gamma/>
                    <a:shade val="46275"/>
                    <a:invGamma/>
                  </a:schemeClr>
                </a:gs>
              </a:gsLst>
              <a:lin ang="0" scaled="1"/>
            </a:gradFill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eaLnBrk="0" hangingPunct="0">
                <a:spcBef>
                  <a:spcPct val="50000"/>
                </a:spcBef>
              </a:pPr>
              <a:r>
                <a:rPr lang="en-US" altLang="zh-CN" sz="1800" b="1">
                  <a:solidFill>
                    <a:srgbClr val="0000FF"/>
                  </a:solidFill>
                  <a:latin typeface="Arial" pitchFamily="34" charset="0"/>
                </a:rPr>
                <a:t>C</a:t>
              </a:r>
            </a:p>
          </p:txBody>
        </p:sp>
      </p:grpSp>
    </p:spTree>
  </p:cSld>
  <p:clrMapOvr>
    <a:masterClrMapping/>
  </p:clrMapOvr>
  <p:transition>
    <p:cover/>
    <p:sndAc>
      <p:stSnd>
        <p:snd r:embed="rId3" name="CAMER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670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09670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09670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670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09670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09670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9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670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09670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09670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3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1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670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09670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09670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7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2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670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09670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09670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2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670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109670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09670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2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670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09670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09670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9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3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670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109670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109670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3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3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670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109670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109670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7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4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670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09670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09670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4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670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109670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109670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4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6706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1096706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1096706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9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5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6706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1096706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1096706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3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5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6706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1096706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1096706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7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61" fill="hold">
                            <p:stCondLst>
                              <p:cond delay="500"/>
                            </p:stCondLst>
                            <p:childTnLst>
                              <p:par>
                                <p:cTn id="62" presetID="4" presetClass="entr" presetSubtype="3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67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64" dur="500"/>
                                        <p:tgtEl>
                                          <p:spTgt spid="1096766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62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6706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9" dur="500" fill="hold"/>
                                        <p:tgtEl>
                                          <p:spTgt spid="1096706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0" dur="500" fill="hold"/>
                                        <p:tgtEl>
                                          <p:spTgt spid="1096706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67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7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6706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1096706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1096706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7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75" fill="hold">
                            <p:stCondLst>
                              <p:cond delay="500"/>
                            </p:stCondLst>
                            <p:childTnLst>
                              <p:par>
                                <p:cTn id="76" presetID="18" presetClass="entr" presetSubtype="6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67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78" dur="1000"/>
                                        <p:tgtEl>
                                          <p:spTgt spid="1096718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76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79" fill="hold">
                            <p:stCondLst>
                              <p:cond delay="3200"/>
                            </p:stCondLst>
                            <p:childTnLst>
                              <p:par>
                                <p:cTn id="80" presetID="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67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2" dur="500" fill="hold"/>
                                        <p:tgtEl>
                                          <p:spTgt spid="109676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3" dur="500" fill="hold"/>
                                        <p:tgtEl>
                                          <p:spTgt spid="109676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8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5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84" fill="hold">
                            <p:stCondLst>
                              <p:cond delay="3700"/>
                            </p:stCondLst>
                            <p:childTnLst>
                              <p:par>
                                <p:cTn id="85" presetID="18" presetClass="entr" presetSubtype="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67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87" dur="500"/>
                                        <p:tgtEl>
                                          <p:spTgt spid="1096769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8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88" fill="hold">
                            <p:stCondLst>
                              <p:cond delay="4200"/>
                            </p:stCondLst>
                            <p:childTnLst>
                              <p:par>
                                <p:cTn id="89" presetID="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67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1" dur="500" fill="hold"/>
                                        <p:tgtEl>
                                          <p:spTgt spid="109676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2" dur="500" fill="hold"/>
                                        <p:tgtEl>
                                          <p:spTgt spid="109676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89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5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6706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7" dur="500" fill="hold"/>
                                        <p:tgtEl>
                                          <p:spTgt spid="1096706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8" dur="500" fill="hold"/>
                                        <p:tgtEl>
                                          <p:spTgt spid="1096706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9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96718" grpId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8754" name="Rectangle 2" descr="信纸"/>
          <p:cNvSpPr>
            <a:spLocks noChangeArrowheads="1"/>
          </p:cNvSpPr>
          <p:nvPr/>
        </p:nvSpPr>
        <p:spPr bwMode="auto">
          <a:xfrm>
            <a:off x="767408" y="489307"/>
            <a:ext cx="4680521" cy="4702175"/>
          </a:xfrm>
          <a:prstGeom prst="rect">
            <a:avLst/>
          </a:prstGeom>
          <a:blipFill dpi="0" rotWithShape="1">
            <a:blip r:embed="rId6" cstate="print"/>
            <a:srcRect/>
            <a:tile tx="0" ty="0" sx="100000" sy="100000" flip="none" algn="tl"/>
          </a:blipFill>
          <a:ln w="38100">
            <a:solidFill>
              <a:srgbClr val="008000"/>
            </a:solidFill>
            <a:miter lim="800000"/>
            <a:headEnd/>
            <a:tailEnd/>
          </a:ln>
          <a:effectLst>
            <a:outerShdw blurRad="50800" dist="106680" dir="2700000" algn="tl" rotWithShape="0">
              <a:prstClr val="black">
                <a:alpha val="43000"/>
              </a:prstClr>
            </a:outerShdw>
          </a:effectLst>
          <a:scene3d>
            <a:camera prst="orthographicFront"/>
            <a:lightRig rig="threePt" dir="t"/>
          </a:scene3d>
          <a:sp3d>
            <a:bevelT w="114300" prst="hardEdge"/>
          </a:sp3d>
        </p:spPr>
        <p:txBody>
          <a:bodyPr wrap="square" anchor="ctr">
            <a:spAutoFit/>
          </a:bodyPr>
          <a:lstStyle/>
          <a:p>
            <a:pPr marL="457200" indent="-457200">
              <a:tabLst>
                <a:tab pos="914400" algn="l"/>
              </a:tabLst>
            </a:pPr>
            <a:r>
              <a:rPr lang="en-US" altLang="zh-CN" sz="2000" b="1" dirty="0">
                <a:solidFill>
                  <a:schemeClr val="accent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楷体" pitchFamily="49" charset="-122"/>
              </a:rPr>
              <a:t>  //</a:t>
            </a:r>
            <a:r>
              <a:rPr lang="zh-CN" altLang="en-US" sz="2000" b="1" dirty="0">
                <a:solidFill>
                  <a:schemeClr val="accent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楷体" pitchFamily="49" charset="-122"/>
              </a:rPr>
              <a:t>以读的方式打开文件</a:t>
            </a:r>
            <a:r>
              <a:rPr lang="en-US" altLang="zh-CN" sz="2000" b="1" dirty="0">
                <a:solidFill>
                  <a:schemeClr val="accent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楷体" pitchFamily="49" charset="-122"/>
              </a:rPr>
              <a:t>wang.txt</a:t>
            </a:r>
          </a:p>
          <a:p>
            <a:pPr marL="457200" indent="-457200">
              <a:tabLst>
                <a:tab pos="914400" algn="l"/>
              </a:tabLst>
            </a:pPr>
            <a:r>
              <a:rPr lang="en-US" altLang="zh-CN" sz="2000" dirty="0">
                <a:ea typeface="楷体_GB2312" pitchFamily="49" charset="-122"/>
              </a:rPr>
              <a:t>  </a:t>
            </a:r>
            <a:r>
              <a:rPr lang="en-US" altLang="zh-CN" sz="2000" b="1" dirty="0" err="1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fp</a:t>
            </a:r>
            <a:r>
              <a:rPr lang="en-US" altLang="zh-CN" sz="2000" b="1" dirty="0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 = </a:t>
            </a:r>
            <a:r>
              <a:rPr lang="en-US" altLang="zh-CN" sz="2000" b="1" dirty="0" err="1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fopen</a:t>
            </a:r>
            <a:r>
              <a:rPr lang="en-US" altLang="zh-CN" sz="2000" b="1" dirty="0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 ("wang.txt", "r");       </a:t>
            </a:r>
          </a:p>
          <a:p>
            <a:pPr marL="457200" indent="-457200">
              <a:tabLst>
                <a:tab pos="914400" algn="l"/>
              </a:tabLst>
            </a:pPr>
            <a:r>
              <a:rPr lang="en-US" altLang="zh-CN" sz="2000" b="1" dirty="0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  if (</a:t>
            </a:r>
            <a:r>
              <a:rPr lang="en-US" altLang="zh-CN" sz="2000" b="1" dirty="0" err="1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fp</a:t>
            </a:r>
            <a:r>
              <a:rPr lang="en-US" altLang="zh-CN" sz="2000" b="1" dirty="0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 = = NULL)    </a:t>
            </a:r>
            <a:r>
              <a:rPr lang="en-US" altLang="zh-CN" sz="2000" b="1" dirty="0">
                <a:solidFill>
                  <a:schemeClr val="accent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楷体" pitchFamily="49" charset="-122"/>
              </a:rPr>
              <a:t>//</a:t>
            </a:r>
            <a:r>
              <a:rPr lang="zh-CN" altLang="en-US" sz="2000" b="1" dirty="0">
                <a:solidFill>
                  <a:schemeClr val="accent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楷体" pitchFamily="49" charset="-122"/>
              </a:rPr>
              <a:t>打开失败</a:t>
            </a:r>
          </a:p>
          <a:p>
            <a:pPr marL="457200" indent="-457200">
              <a:tabLst>
                <a:tab pos="914400" algn="l"/>
              </a:tabLst>
            </a:pPr>
            <a:r>
              <a:rPr lang="zh-CN" altLang="en-US" sz="2000" b="1" dirty="0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  </a:t>
            </a:r>
            <a:r>
              <a:rPr lang="en-US" altLang="zh-CN" sz="2000" b="1" dirty="0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{</a:t>
            </a:r>
          </a:p>
          <a:p>
            <a:pPr marL="457200" indent="-457200">
              <a:tabLst>
                <a:tab pos="914400" algn="l"/>
              </a:tabLst>
            </a:pPr>
            <a:r>
              <a:rPr lang="en-US" altLang="zh-CN" sz="2000" b="1" dirty="0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    </a:t>
            </a:r>
            <a:r>
              <a:rPr lang="en-US" altLang="zh-CN" sz="2000" b="1" dirty="0" err="1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printf</a:t>
            </a:r>
            <a:r>
              <a:rPr lang="en-US" altLang="zh-CN" sz="2000" b="1" dirty="0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 ("can't open file: wang.dat\n");</a:t>
            </a:r>
          </a:p>
          <a:p>
            <a:pPr marL="457200" indent="-457200">
              <a:tabLst>
                <a:tab pos="914400" algn="l"/>
              </a:tabLst>
            </a:pPr>
            <a:r>
              <a:rPr lang="en-US" altLang="zh-CN" sz="2000" b="1" dirty="0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    exit (0);</a:t>
            </a:r>
          </a:p>
          <a:p>
            <a:pPr marL="457200" indent="-457200">
              <a:tabLst>
                <a:tab pos="914400" algn="l"/>
              </a:tabLst>
            </a:pPr>
            <a:r>
              <a:rPr lang="en-US" altLang="zh-CN" sz="2000" b="1" dirty="0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  }</a:t>
            </a:r>
          </a:p>
          <a:p>
            <a:pPr marL="457200" indent="-457200">
              <a:tabLst>
                <a:tab pos="914400" algn="l"/>
              </a:tabLst>
            </a:pPr>
            <a:r>
              <a:rPr lang="en-US" altLang="zh-CN" sz="2000" b="1" dirty="0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  </a:t>
            </a:r>
            <a:r>
              <a:rPr lang="en-US" altLang="zh-CN" sz="2000" b="1" dirty="0" err="1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i</a:t>
            </a:r>
            <a:r>
              <a:rPr lang="en-US" altLang="zh-CN" sz="2000" b="1" dirty="0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 = 0;      </a:t>
            </a:r>
            <a:r>
              <a:rPr lang="en-US" altLang="zh-CN" sz="2000" b="1" dirty="0">
                <a:solidFill>
                  <a:schemeClr val="accent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楷体" pitchFamily="49" charset="-122"/>
              </a:rPr>
              <a:t>//</a:t>
            </a:r>
            <a:r>
              <a:rPr lang="en-US" altLang="zh-CN" sz="2000" b="1" dirty="0" err="1">
                <a:solidFill>
                  <a:schemeClr val="accent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楷体" pitchFamily="49" charset="-122"/>
              </a:rPr>
              <a:t>i</a:t>
            </a:r>
            <a:r>
              <a:rPr lang="zh-CN" altLang="en-US" sz="2000" b="1" dirty="0">
                <a:solidFill>
                  <a:schemeClr val="accent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楷体" pitchFamily="49" charset="-122"/>
              </a:rPr>
              <a:t>清</a:t>
            </a:r>
            <a:r>
              <a:rPr lang="en-US" altLang="zh-CN" sz="2000" b="1" dirty="0">
                <a:solidFill>
                  <a:schemeClr val="accent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楷体" pitchFamily="49" charset="-122"/>
              </a:rPr>
              <a:t>0</a:t>
            </a:r>
          </a:p>
          <a:p>
            <a:pPr marL="457200" indent="-457200">
              <a:tabLst>
                <a:tab pos="914400" algn="l"/>
              </a:tabLst>
            </a:pPr>
            <a:r>
              <a:rPr lang="en-US" altLang="zh-CN" sz="2000" b="1" dirty="0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  f = 0;      </a:t>
            </a:r>
            <a:r>
              <a:rPr lang="en-US" altLang="zh-CN" sz="2000" b="1" dirty="0">
                <a:solidFill>
                  <a:schemeClr val="accent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楷体" pitchFamily="49" charset="-122"/>
              </a:rPr>
              <a:t>//f</a:t>
            </a:r>
            <a:r>
              <a:rPr lang="zh-CN" altLang="en-US" sz="2000" b="1" dirty="0">
                <a:solidFill>
                  <a:schemeClr val="accent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楷体" pitchFamily="49" charset="-122"/>
              </a:rPr>
              <a:t>清</a:t>
            </a:r>
            <a:r>
              <a:rPr lang="en-US" altLang="zh-CN" sz="2000" b="1" dirty="0">
                <a:solidFill>
                  <a:schemeClr val="accent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楷体" pitchFamily="49" charset="-122"/>
              </a:rPr>
              <a:t>0</a:t>
            </a:r>
          </a:p>
          <a:p>
            <a:pPr marL="457200" indent="-457200">
              <a:tabLst>
                <a:tab pos="914400" algn="l"/>
              </a:tabLst>
            </a:pPr>
            <a:r>
              <a:rPr lang="en-US" altLang="zh-CN" sz="2000" b="1" dirty="0">
                <a:solidFill>
                  <a:schemeClr val="accent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楷体_GB2312" pitchFamily="49" charset="-122"/>
              </a:rPr>
              <a:t>  </a:t>
            </a:r>
            <a:r>
              <a:rPr lang="en-US" altLang="zh-CN" sz="2000" b="1" dirty="0">
                <a:solidFill>
                  <a:schemeClr val="accent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楷体" pitchFamily="49" charset="-122"/>
              </a:rPr>
              <a:t>//</a:t>
            </a:r>
            <a:r>
              <a:rPr lang="zh-CN" altLang="en-US" sz="2000" b="1" dirty="0">
                <a:solidFill>
                  <a:schemeClr val="accent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楷体" pitchFamily="49" charset="-122"/>
              </a:rPr>
              <a:t>从文件中读取数值到变量</a:t>
            </a:r>
            <a:r>
              <a:rPr lang="en-US" altLang="zh-CN" sz="2000" b="1" dirty="0" err="1">
                <a:solidFill>
                  <a:schemeClr val="accent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楷体" pitchFamily="49" charset="-122"/>
              </a:rPr>
              <a:t>i</a:t>
            </a:r>
            <a:r>
              <a:rPr lang="zh-CN" altLang="en-US" sz="2000" b="1" dirty="0">
                <a:solidFill>
                  <a:schemeClr val="accent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楷体" pitchFamily="49" charset="-122"/>
              </a:rPr>
              <a:t>和</a:t>
            </a:r>
            <a:r>
              <a:rPr lang="en-US" altLang="zh-CN" sz="2000" b="1" dirty="0">
                <a:solidFill>
                  <a:schemeClr val="accent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楷体" pitchFamily="49" charset="-122"/>
              </a:rPr>
              <a:t>f</a:t>
            </a:r>
          </a:p>
          <a:p>
            <a:pPr marL="457200" indent="-457200">
              <a:tabLst>
                <a:tab pos="914400" algn="l"/>
              </a:tabLst>
            </a:pPr>
            <a:r>
              <a:rPr lang="en-US" altLang="zh-CN" sz="2000" b="1" dirty="0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  </a:t>
            </a:r>
            <a:r>
              <a:rPr lang="en-US" altLang="zh-CN" sz="2000" b="1" dirty="0" err="1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fscanf</a:t>
            </a:r>
            <a:r>
              <a:rPr lang="en-US" altLang="zh-CN" sz="2000" b="1" dirty="0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 (</a:t>
            </a:r>
            <a:r>
              <a:rPr lang="en-US" altLang="zh-CN" sz="2000" b="1" dirty="0" err="1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fp</a:t>
            </a:r>
            <a:r>
              <a:rPr lang="en-US" altLang="zh-CN" sz="2000" b="1" dirty="0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, "%</a:t>
            </a:r>
            <a:r>
              <a:rPr lang="en-US" altLang="zh-CN" sz="2000" b="1" dirty="0" err="1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d,%f</a:t>
            </a:r>
            <a:r>
              <a:rPr lang="en-US" altLang="zh-CN" sz="2000" b="1" dirty="0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", &amp;</a:t>
            </a:r>
            <a:r>
              <a:rPr lang="en-US" altLang="zh-CN" sz="2000" b="1" dirty="0" err="1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i</a:t>
            </a:r>
            <a:r>
              <a:rPr lang="en-US" altLang="zh-CN" sz="2000" b="1" dirty="0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, &amp;f);      </a:t>
            </a:r>
          </a:p>
          <a:p>
            <a:pPr marL="457200" indent="-457200">
              <a:tabLst>
                <a:tab pos="914400" algn="l"/>
              </a:tabLst>
            </a:pPr>
            <a:r>
              <a:rPr lang="en-US" altLang="zh-CN" sz="2000" b="1" dirty="0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  </a:t>
            </a:r>
            <a:r>
              <a:rPr lang="en-US" altLang="zh-CN" sz="2000" b="1" dirty="0" err="1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fclose</a:t>
            </a:r>
            <a:r>
              <a:rPr lang="en-US" altLang="zh-CN" sz="2000" b="1" dirty="0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 (</a:t>
            </a:r>
            <a:r>
              <a:rPr lang="en-US" altLang="zh-CN" sz="2000" b="1" dirty="0" err="1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fp</a:t>
            </a:r>
            <a:r>
              <a:rPr lang="en-US" altLang="zh-CN" sz="2000" b="1" dirty="0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);                     </a:t>
            </a:r>
            <a:r>
              <a:rPr lang="en-US" altLang="zh-CN" sz="2000" b="1" dirty="0">
                <a:solidFill>
                  <a:schemeClr val="accent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楷体" pitchFamily="49" charset="-122"/>
              </a:rPr>
              <a:t>//</a:t>
            </a:r>
            <a:r>
              <a:rPr lang="zh-CN" altLang="en-US" sz="2000" b="1" dirty="0">
                <a:solidFill>
                  <a:schemeClr val="accent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楷体" pitchFamily="49" charset="-122"/>
              </a:rPr>
              <a:t>关闭文件</a:t>
            </a:r>
          </a:p>
          <a:p>
            <a:pPr marL="457200" indent="-457200">
              <a:tabLst>
                <a:tab pos="914400" algn="l"/>
              </a:tabLst>
            </a:pPr>
            <a:r>
              <a:rPr lang="zh-CN" altLang="en-US" sz="2000" b="1" dirty="0">
                <a:solidFill>
                  <a:schemeClr val="accent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楷体_GB2312" pitchFamily="49" charset="-122"/>
              </a:rPr>
              <a:t>  </a:t>
            </a:r>
            <a:r>
              <a:rPr lang="en-US" altLang="zh-CN" sz="2000" b="1" dirty="0">
                <a:solidFill>
                  <a:schemeClr val="accent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楷体" pitchFamily="49" charset="-122"/>
              </a:rPr>
              <a:t>//</a:t>
            </a:r>
            <a:r>
              <a:rPr lang="zh-CN" altLang="en-US" sz="2000" b="1" dirty="0">
                <a:solidFill>
                  <a:schemeClr val="accent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楷体" pitchFamily="49" charset="-122"/>
              </a:rPr>
              <a:t>显示从文件中读取的变量</a:t>
            </a:r>
            <a:r>
              <a:rPr lang="en-US" altLang="zh-CN" sz="2000" b="1" dirty="0" err="1">
                <a:solidFill>
                  <a:schemeClr val="accent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楷体" pitchFamily="49" charset="-122"/>
              </a:rPr>
              <a:t>i</a:t>
            </a:r>
            <a:r>
              <a:rPr lang="zh-CN" altLang="en-US" sz="2000" b="1" dirty="0">
                <a:solidFill>
                  <a:schemeClr val="accent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楷体" pitchFamily="49" charset="-122"/>
              </a:rPr>
              <a:t>和</a:t>
            </a:r>
            <a:r>
              <a:rPr lang="en-US" altLang="zh-CN" sz="2000" b="1" dirty="0">
                <a:solidFill>
                  <a:schemeClr val="accent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楷体" pitchFamily="49" charset="-122"/>
              </a:rPr>
              <a:t>f</a:t>
            </a:r>
            <a:r>
              <a:rPr lang="zh-CN" altLang="en-US" sz="2000" b="1" dirty="0">
                <a:solidFill>
                  <a:schemeClr val="accent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楷体" pitchFamily="49" charset="-122"/>
              </a:rPr>
              <a:t>的值</a:t>
            </a:r>
          </a:p>
          <a:p>
            <a:pPr marL="457200" indent="-457200">
              <a:tabLst>
                <a:tab pos="914400" algn="l"/>
              </a:tabLst>
            </a:pPr>
            <a:r>
              <a:rPr lang="zh-CN" altLang="en-US" sz="2000" b="1" dirty="0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  </a:t>
            </a:r>
            <a:r>
              <a:rPr lang="en-US" altLang="zh-CN" sz="2000" b="1" dirty="0" err="1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printf</a:t>
            </a:r>
            <a:r>
              <a:rPr lang="en-US" altLang="zh-CN" sz="2000" b="1" dirty="0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 ("</a:t>
            </a:r>
            <a:r>
              <a:rPr lang="en-US" altLang="zh-CN" sz="2000" b="1" dirty="0" err="1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i</a:t>
            </a:r>
            <a:r>
              <a:rPr lang="en-US" altLang="zh-CN" sz="2000" b="1" dirty="0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 = %2d, f = %6.2f\n", </a:t>
            </a:r>
            <a:r>
              <a:rPr lang="en-US" altLang="zh-CN" sz="2000" b="1" dirty="0" err="1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i</a:t>
            </a:r>
            <a:r>
              <a:rPr lang="en-US" altLang="zh-CN" sz="2000" b="1" dirty="0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, f);  </a:t>
            </a:r>
          </a:p>
          <a:p>
            <a:pPr marL="457200" indent="-457200">
              <a:tabLst>
                <a:tab pos="914400" algn="l"/>
              </a:tabLst>
            </a:pPr>
            <a:r>
              <a:rPr lang="en-US" altLang="zh-CN" sz="2000" b="1" dirty="0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}</a:t>
            </a:r>
          </a:p>
        </p:txBody>
      </p:sp>
      <p:grpSp>
        <p:nvGrpSpPr>
          <p:cNvPr id="1098807" name="Group 55"/>
          <p:cNvGrpSpPr>
            <a:grpSpLocks/>
          </p:cNvGrpSpPr>
          <p:nvPr/>
        </p:nvGrpSpPr>
        <p:grpSpPr bwMode="auto">
          <a:xfrm>
            <a:off x="5465236" y="576014"/>
            <a:ext cx="6604000" cy="2420938"/>
            <a:chOff x="1546" y="2714"/>
            <a:chExt cx="4160" cy="1525"/>
          </a:xfrm>
        </p:grpSpPr>
        <p:grpSp>
          <p:nvGrpSpPr>
            <p:cNvPr id="1098755" name="Group 3"/>
            <p:cNvGrpSpPr>
              <a:grpSpLocks/>
            </p:cNvGrpSpPr>
            <p:nvPr/>
          </p:nvGrpSpPr>
          <p:grpSpPr bwMode="auto">
            <a:xfrm>
              <a:off x="1546" y="2714"/>
              <a:ext cx="4088" cy="1525"/>
              <a:chOff x="1600" y="618"/>
              <a:chExt cx="4088" cy="1525"/>
            </a:xfrm>
          </p:grpSpPr>
          <p:grpSp>
            <p:nvGrpSpPr>
              <p:cNvPr id="1098756" name="Group 4"/>
              <p:cNvGrpSpPr>
                <a:grpSpLocks/>
              </p:cNvGrpSpPr>
              <p:nvPr/>
            </p:nvGrpSpPr>
            <p:grpSpPr bwMode="auto">
              <a:xfrm>
                <a:off x="2228" y="618"/>
                <a:ext cx="3460" cy="1525"/>
                <a:chOff x="1854" y="1134"/>
                <a:chExt cx="3249" cy="1525"/>
              </a:xfrm>
            </p:grpSpPr>
            <p:sp>
              <p:nvSpPr>
                <p:cNvPr id="1098757" name="AutoShape 5"/>
                <p:cNvSpPr>
                  <a:spLocks noChangeArrowheads="1"/>
                </p:cNvSpPr>
                <p:nvPr/>
              </p:nvSpPr>
              <p:spPr bwMode="auto">
                <a:xfrm>
                  <a:off x="1854" y="1452"/>
                  <a:ext cx="3249" cy="1207"/>
                </a:xfrm>
                <a:prstGeom prst="foldedCorner">
                  <a:avLst>
                    <a:gd name="adj" fmla="val 12500"/>
                  </a:avLst>
                </a:prstGeom>
                <a:gradFill rotWithShape="1">
                  <a:gsLst>
                    <a:gs pos="0">
                      <a:srgbClr val="00FFFF"/>
                    </a:gs>
                    <a:gs pos="100000">
                      <a:schemeClr val="bg1"/>
                    </a:gs>
                  </a:gsLst>
                  <a:lin ang="5400000" scaled="1"/>
                </a:gradFill>
                <a:ln w="25400">
                  <a:solidFill>
                    <a:srgbClr val="FF00FF"/>
                  </a:solidFill>
                  <a:round/>
                  <a:headEnd/>
                  <a:tailEnd/>
                </a:ln>
                <a:effectLst>
                  <a:outerShdw blurRad="50800" dist="106680" dir="2700000" algn="tl" rotWithShape="0">
                    <a:prstClr val="black">
                      <a:alpha val="43000"/>
                    </a:prstClr>
                  </a:outerShdw>
                </a:effectLst>
              </p:spPr>
              <p:txBody>
                <a:bodyPr wrap="none" anchor="ctr"/>
                <a:lstStyle/>
                <a:p>
                  <a:pPr algn="ctr"/>
                  <a:endParaRPr lang="zh-CN" altLang="zh-CN"/>
                </a:p>
              </p:txBody>
            </p:sp>
            <p:sp>
              <p:nvSpPr>
                <p:cNvPr id="1098758" name="Text Box 6"/>
                <p:cNvSpPr txBox="1">
                  <a:spLocks noChangeArrowheads="1"/>
                </p:cNvSpPr>
                <p:nvPr/>
              </p:nvSpPr>
              <p:spPr bwMode="auto">
                <a:xfrm>
                  <a:off x="3053" y="1134"/>
                  <a:ext cx="908" cy="288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  <a:effectLst/>
              </p:spPr>
              <p:txBody>
                <a:bodyPr>
                  <a:spAutoFit/>
                </a:bodyPr>
                <a:lstStyle/>
                <a:p>
                  <a:pPr>
                    <a:spcBef>
                      <a:spcPct val="50000"/>
                    </a:spcBef>
                  </a:pPr>
                  <a:r>
                    <a:rPr lang="en-US" altLang="zh-CN" b="1">
                      <a:solidFill>
                        <a:srgbClr val="FF3300"/>
                      </a:solidFill>
                      <a:effectLst>
                        <a:outerShdw blurRad="38100" dist="38100" dir="2700000" algn="tl">
                          <a:srgbClr val="000000"/>
                        </a:outerShdw>
                      </a:effectLst>
                    </a:rPr>
                    <a:t>wang.txt</a:t>
                  </a:r>
                </a:p>
              </p:txBody>
            </p:sp>
          </p:grpSp>
          <p:grpSp>
            <p:nvGrpSpPr>
              <p:cNvPr id="1098759" name="Group 7"/>
              <p:cNvGrpSpPr>
                <a:grpSpLocks/>
              </p:cNvGrpSpPr>
              <p:nvPr/>
            </p:nvGrpSpPr>
            <p:grpSpPr bwMode="auto">
              <a:xfrm>
                <a:off x="1600" y="1008"/>
                <a:ext cx="609" cy="250"/>
                <a:chOff x="1591" y="972"/>
                <a:chExt cx="691" cy="250"/>
              </a:xfrm>
            </p:grpSpPr>
            <p:sp>
              <p:nvSpPr>
                <p:cNvPr id="1098760" name="Line 8"/>
                <p:cNvSpPr>
                  <a:spLocks noChangeShapeType="1"/>
                </p:cNvSpPr>
                <p:nvPr/>
              </p:nvSpPr>
              <p:spPr bwMode="auto">
                <a:xfrm>
                  <a:off x="1828" y="1117"/>
                  <a:ext cx="454" cy="0"/>
                </a:xfrm>
                <a:prstGeom prst="line">
                  <a:avLst/>
                </a:prstGeom>
                <a:noFill/>
                <a:ln w="28575">
                  <a:solidFill>
                    <a:srgbClr val="FF0000"/>
                  </a:solidFill>
                  <a:round/>
                  <a:headEnd/>
                  <a:tailEnd type="stealth" w="lg" len="lg"/>
                </a:ln>
                <a:effectLst>
                  <a:outerShdw dist="35921" dir="2700000" algn="ctr" rotWithShape="0">
                    <a:schemeClr val="bg2"/>
                  </a:outerShdw>
                </a:effec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098761" name="Text Box 9"/>
                <p:cNvSpPr txBox="1">
                  <a:spLocks noChangeArrowheads="1"/>
                </p:cNvSpPr>
                <p:nvPr/>
              </p:nvSpPr>
              <p:spPr bwMode="auto">
                <a:xfrm>
                  <a:off x="1591" y="972"/>
                  <a:ext cx="318" cy="250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  <a:effectLst/>
              </p:spPr>
              <p:txBody>
                <a:bodyPr>
                  <a:spAutoFit/>
                </a:bodyPr>
                <a:lstStyle/>
                <a:p>
                  <a:pPr>
                    <a:spcBef>
                      <a:spcPct val="50000"/>
                    </a:spcBef>
                  </a:pPr>
                  <a:r>
                    <a:rPr lang="en-US" altLang="zh-CN" sz="2000" b="1">
                      <a:solidFill>
                        <a:srgbClr val="FF3300"/>
                      </a:solidFill>
                      <a:effectLst>
                        <a:outerShdw blurRad="38100" dist="38100" dir="2700000" algn="tl">
                          <a:srgbClr val="000000"/>
                        </a:outerShdw>
                      </a:effectLst>
                    </a:rPr>
                    <a:t>fp</a:t>
                  </a:r>
                </a:p>
              </p:txBody>
            </p:sp>
          </p:grpSp>
        </p:grpSp>
        <p:sp>
          <p:nvSpPr>
            <p:cNvPr id="1098766" name="Text Box 14"/>
            <p:cNvSpPr txBox="1">
              <a:spLocks noChangeArrowheads="1"/>
            </p:cNvSpPr>
            <p:nvPr/>
          </p:nvSpPr>
          <p:spPr bwMode="auto">
            <a:xfrm>
              <a:off x="2184" y="3105"/>
              <a:ext cx="3047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b="1">
                  <a:effectLst>
                    <a:outerShdw blurRad="38100" dist="38100" dir="2700000" algn="tl">
                      <a:srgbClr val="FFFFFF"/>
                    </a:outerShdw>
                  </a:effectLst>
                </a:rPr>
                <a:t>20  33  2C  20  20  39  2E  38  30</a:t>
              </a:r>
            </a:p>
          </p:txBody>
        </p:sp>
        <p:grpSp>
          <p:nvGrpSpPr>
            <p:cNvPr id="1098767" name="Group 15"/>
            <p:cNvGrpSpPr>
              <a:grpSpLocks/>
            </p:cNvGrpSpPr>
            <p:nvPr/>
          </p:nvGrpSpPr>
          <p:grpSpPr bwMode="auto">
            <a:xfrm>
              <a:off x="4859" y="3121"/>
              <a:ext cx="847" cy="231"/>
              <a:chOff x="4913" y="1025"/>
              <a:chExt cx="847" cy="231"/>
            </a:xfrm>
          </p:grpSpPr>
          <p:sp>
            <p:nvSpPr>
              <p:cNvPr id="1098768" name="Line 16"/>
              <p:cNvSpPr>
                <a:spLocks noChangeShapeType="1"/>
              </p:cNvSpPr>
              <p:nvPr/>
            </p:nvSpPr>
            <p:spPr bwMode="auto">
              <a:xfrm flipH="1">
                <a:off x="4913" y="1162"/>
                <a:ext cx="226" cy="0"/>
              </a:xfrm>
              <a:prstGeom prst="line">
                <a:avLst/>
              </a:prstGeom>
              <a:noFill/>
              <a:ln w="9525">
                <a:solidFill>
                  <a:srgbClr val="800080"/>
                </a:solidFill>
                <a:round/>
                <a:headEnd/>
                <a:tailEnd type="triangle" w="med" len="med"/>
              </a:ln>
              <a:effectLst/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98769" name="Text Box 17"/>
              <p:cNvSpPr txBox="1">
                <a:spLocks noChangeArrowheads="1"/>
              </p:cNvSpPr>
              <p:nvPr/>
            </p:nvSpPr>
            <p:spPr bwMode="auto">
              <a:xfrm>
                <a:off x="5079" y="1025"/>
                <a:ext cx="681" cy="23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altLang="zh-CN" sz="1800" b="1" dirty="0">
                    <a:solidFill>
                      <a:srgbClr val="990099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+mn-lt"/>
                    <a:ea typeface="楷体" pitchFamily="49" charset="-122"/>
                  </a:rPr>
                  <a:t>ASCII</a:t>
                </a:r>
                <a:r>
                  <a:rPr lang="zh-CN" altLang="en-US" sz="1800" b="1" dirty="0">
                    <a:solidFill>
                      <a:srgbClr val="990099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+mn-lt"/>
                    <a:ea typeface="楷体" pitchFamily="49" charset="-122"/>
                  </a:rPr>
                  <a:t>码</a:t>
                </a:r>
              </a:p>
            </p:txBody>
          </p:sp>
        </p:grpSp>
        <p:grpSp>
          <p:nvGrpSpPr>
            <p:cNvPr id="1098770" name="Group 18"/>
            <p:cNvGrpSpPr>
              <a:grpSpLocks/>
            </p:cNvGrpSpPr>
            <p:nvPr/>
          </p:nvGrpSpPr>
          <p:grpSpPr bwMode="auto">
            <a:xfrm>
              <a:off x="4860" y="3446"/>
              <a:ext cx="661" cy="404"/>
              <a:chOff x="4914" y="1350"/>
              <a:chExt cx="661" cy="404"/>
            </a:xfrm>
          </p:grpSpPr>
          <p:sp>
            <p:nvSpPr>
              <p:cNvPr id="1098771" name="Line 19"/>
              <p:cNvSpPr>
                <a:spLocks noChangeShapeType="1"/>
              </p:cNvSpPr>
              <p:nvPr/>
            </p:nvSpPr>
            <p:spPr bwMode="auto">
              <a:xfrm flipH="1">
                <a:off x="4914" y="1568"/>
                <a:ext cx="226" cy="0"/>
              </a:xfrm>
              <a:prstGeom prst="line">
                <a:avLst/>
              </a:prstGeom>
              <a:noFill/>
              <a:ln w="9525">
                <a:solidFill>
                  <a:srgbClr val="800080"/>
                </a:solidFill>
                <a:round/>
                <a:headEnd/>
                <a:tailEnd type="triangle" w="med" len="med"/>
              </a:ln>
              <a:effectLst/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98772" name="Text Box 20"/>
              <p:cNvSpPr txBox="1">
                <a:spLocks noChangeArrowheads="1"/>
              </p:cNvSpPr>
              <p:nvPr/>
            </p:nvSpPr>
            <p:spPr bwMode="auto">
              <a:xfrm>
                <a:off x="5134" y="1350"/>
                <a:ext cx="441" cy="404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zh-CN" altLang="en-US" sz="1800" b="1">
                    <a:solidFill>
                      <a:srgbClr val="990099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+mn-lt"/>
                    <a:ea typeface="楷体" pitchFamily="49" charset="-122"/>
                  </a:rPr>
                  <a:t>对应字符</a:t>
                </a:r>
              </a:p>
            </p:txBody>
          </p:sp>
        </p:grpSp>
        <p:grpSp>
          <p:nvGrpSpPr>
            <p:cNvPr id="1098774" name="Group 22"/>
            <p:cNvGrpSpPr>
              <a:grpSpLocks/>
            </p:cNvGrpSpPr>
            <p:nvPr/>
          </p:nvGrpSpPr>
          <p:grpSpPr bwMode="auto">
            <a:xfrm>
              <a:off x="2201" y="3376"/>
              <a:ext cx="270" cy="470"/>
              <a:chOff x="2255" y="1280"/>
              <a:chExt cx="270" cy="470"/>
            </a:xfrm>
          </p:grpSpPr>
          <p:sp>
            <p:nvSpPr>
              <p:cNvPr id="1098775" name="Line 23"/>
              <p:cNvSpPr>
                <a:spLocks noChangeShapeType="1"/>
              </p:cNvSpPr>
              <p:nvPr/>
            </p:nvSpPr>
            <p:spPr bwMode="auto">
              <a:xfrm>
                <a:off x="2382" y="1280"/>
                <a:ext cx="0" cy="227"/>
              </a:xfrm>
              <a:prstGeom prst="line">
                <a:avLst/>
              </a:prstGeom>
              <a:noFill/>
              <a:ln w="19050">
                <a:solidFill>
                  <a:srgbClr val="0000FF"/>
                </a:solidFill>
                <a:round/>
                <a:headEnd/>
                <a:tailEnd type="stealth" w="lg" len="lg"/>
              </a:ln>
              <a:effectLst/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98776" name="Rectangle 24"/>
              <p:cNvSpPr>
                <a:spLocks noChangeArrowheads="1"/>
              </p:cNvSpPr>
              <p:nvPr/>
            </p:nvSpPr>
            <p:spPr bwMode="auto">
              <a:xfrm>
                <a:off x="2255" y="1462"/>
                <a:ext cx="270" cy="28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>
                <a:spAutoFit/>
              </a:bodyPr>
              <a:lstStyle/>
              <a:p>
                <a:r>
                  <a:rPr lang="en-US" altLang="zh-CN" b="1">
                    <a:solidFill>
                      <a:srgbClr val="CC0000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</a:rPr>
                  <a:t>' '</a:t>
                </a:r>
              </a:p>
            </p:txBody>
          </p:sp>
        </p:grpSp>
        <p:grpSp>
          <p:nvGrpSpPr>
            <p:cNvPr id="1098777" name="Group 25"/>
            <p:cNvGrpSpPr>
              <a:grpSpLocks/>
            </p:cNvGrpSpPr>
            <p:nvPr/>
          </p:nvGrpSpPr>
          <p:grpSpPr bwMode="auto">
            <a:xfrm>
              <a:off x="2500" y="3368"/>
              <a:ext cx="318" cy="487"/>
              <a:chOff x="2554" y="1272"/>
              <a:chExt cx="318" cy="487"/>
            </a:xfrm>
          </p:grpSpPr>
          <p:sp>
            <p:nvSpPr>
              <p:cNvPr id="1098778" name="Line 26"/>
              <p:cNvSpPr>
                <a:spLocks noChangeShapeType="1"/>
              </p:cNvSpPr>
              <p:nvPr/>
            </p:nvSpPr>
            <p:spPr bwMode="auto">
              <a:xfrm>
                <a:off x="2671" y="1272"/>
                <a:ext cx="0" cy="227"/>
              </a:xfrm>
              <a:prstGeom prst="line">
                <a:avLst/>
              </a:prstGeom>
              <a:noFill/>
              <a:ln w="19050">
                <a:solidFill>
                  <a:srgbClr val="0000FF"/>
                </a:solidFill>
                <a:round/>
                <a:headEnd/>
                <a:tailEnd type="stealth" w="lg" len="lg"/>
              </a:ln>
              <a:effectLst/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98779" name="Rectangle 27"/>
              <p:cNvSpPr>
                <a:spLocks noChangeArrowheads="1"/>
              </p:cNvSpPr>
              <p:nvPr/>
            </p:nvSpPr>
            <p:spPr bwMode="auto">
              <a:xfrm>
                <a:off x="2554" y="1471"/>
                <a:ext cx="318" cy="28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>
                <a:spAutoFit/>
              </a:bodyPr>
              <a:lstStyle/>
              <a:p>
                <a:r>
                  <a:rPr lang="en-US" altLang="zh-CN" b="1">
                    <a:solidFill>
                      <a:srgbClr val="CC0000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</a:rPr>
                  <a:t>'3'</a:t>
                </a:r>
              </a:p>
            </p:txBody>
          </p:sp>
        </p:grpSp>
        <p:grpSp>
          <p:nvGrpSpPr>
            <p:cNvPr id="1098780" name="Group 28"/>
            <p:cNvGrpSpPr>
              <a:grpSpLocks/>
            </p:cNvGrpSpPr>
            <p:nvPr/>
          </p:nvGrpSpPr>
          <p:grpSpPr bwMode="auto">
            <a:xfrm>
              <a:off x="2800" y="3378"/>
              <a:ext cx="318" cy="468"/>
              <a:chOff x="2854" y="1282"/>
              <a:chExt cx="318" cy="468"/>
            </a:xfrm>
          </p:grpSpPr>
          <p:sp>
            <p:nvSpPr>
              <p:cNvPr id="1098781" name="Line 29"/>
              <p:cNvSpPr>
                <a:spLocks noChangeShapeType="1"/>
              </p:cNvSpPr>
              <p:nvPr/>
            </p:nvSpPr>
            <p:spPr bwMode="auto">
              <a:xfrm>
                <a:off x="2987" y="1282"/>
                <a:ext cx="0" cy="227"/>
              </a:xfrm>
              <a:prstGeom prst="line">
                <a:avLst/>
              </a:prstGeom>
              <a:noFill/>
              <a:ln w="19050">
                <a:solidFill>
                  <a:srgbClr val="0000FF"/>
                </a:solidFill>
                <a:round/>
                <a:headEnd/>
                <a:tailEnd type="stealth" w="lg" len="lg"/>
              </a:ln>
              <a:effectLst/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98782" name="Rectangle 30"/>
              <p:cNvSpPr>
                <a:spLocks noChangeArrowheads="1"/>
              </p:cNvSpPr>
              <p:nvPr/>
            </p:nvSpPr>
            <p:spPr bwMode="auto">
              <a:xfrm>
                <a:off x="2854" y="1462"/>
                <a:ext cx="318" cy="28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>
                <a:spAutoFit/>
              </a:bodyPr>
              <a:lstStyle/>
              <a:p>
                <a:r>
                  <a:rPr lang="en-US" altLang="zh-CN" b="1">
                    <a:solidFill>
                      <a:srgbClr val="CC0000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</a:rPr>
                  <a:t>', '</a:t>
                </a:r>
              </a:p>
            </p:txBody>
          </p:sp>
        </p:grpSp>
        <p:grpSp>
          <p:nvGrpSpPr>
            <p:cNvPr id="1098783" name="Group 31"/>
            <p:cNvGrpSpPr>
              <a:grpSpLocks/>
            </p:cNvGrpSpPr>
            <p:nvPr/>
          </p:nvGrpSpPr>
          <p:grpSpPr bwMode="auto">
            <a:xfrm>
              <a:off x="3138" y="3370"/>
              <a:ext cx="270" cy="477"/>
              <a:chOff x="3192" y="1274"/>
              <a:chExt cx="270" cy="477"/>
            </a:xfrm>
          </p:grpSpPr>
          <p:sp>
            <p:nvSpPr>
              <p:cNvPr id="1098784" name="Line 32"/>
              <p:cNvSpPr>
                <a:spLocks noChangeShapeType="1"/>
              </p:cNvSpPr>
              <p:nvPr/>
            </p:nvSpPr>
            <p:spPr bwMode="auto">
              <a:xfrm>
                <a:off x="3303" y="1274"/>
                <a:ext cx="0" cy="227"/>
              </a:xfrm>
              <a:prstGeom prst="line">
                <a:avLst/>
              </a:prstGeom>
              <a:noFill/>
              <a:ln w="19050">
                <a:solidFill>
                  <a:srgbClr val="0000FF"/>
                </a:solidFill>
                <a:round/>
                <a:headEnd/>
                <a:tailEnd type="stealth" w="lg" len="lg"/>
              </a:ln>
              <a:effectLst/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98785" name="Rectangle 33"/>
              <p:cNvSpPr>
                <a:spLocks noChangeArrowheads="1"/>
              </p:cNvSpPr>
              <p:nvPr/>
            </p:nvSpPr>
            <p:spPr bwMode="auto">
              <a:xfrm>
                <a:off x="3192" y="1463"/>
                <a:ext cx="270" cy="28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>
                <a:spAutoFit/>
              </a:bodyPr>
              <a:lstStyle/>
              <a:p>
                <a:r>
                  <a:rPr lang="en-US" altLang="zh-CN" b="1">
                    <a:solidFill>
                      <a:srgbClr val="CC0000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</a:rPr>
                  <a:t>' '</a:t>
                </a:r>
              </a:p>
            </p:txBody>
          </p:sp>
        </p:grpSp>
        <p:grpSp>
          <p:nvGrpSpPr>
            <p:cNvPr id="1098786" name="Group 34"/>
            <p:cNvGrpSpPr>
              <a:grpSpLocks/>
            </p:cNvGrpSpPr>
            <p:nvPr/>
          </p:nvGrpSpPr>
          <p:grpSpPr bwMode="auto">
            <a:xfrm>
              <a:off x="3418" y="3371"/>
              <a:ext cx="270" cy="477"/>
              <a:chOff x="3472" y="1275"/>
              <a:chExt cx="270" cy="477"/>
            </a:xfrm>
          </p:grpSpPr>
          <p:sp>
            <p:nvSpPr>
              <p:cNvPr id="1098787" name="Line 35"/>
              <p:cNvSpPr>
                <a:spLocks noChangeShapeType="1"/>
              </p:cNvSpPr>
              <p:nvPr/>
            </p:nvSpPr>
            <p:spPr bwMode="auto">
              <a:xfrm>
                <a:off x="3592" y="1275"/>
                <a:ext cx="0" cy="227"/>
              </a:xfrm>
              <a:prstGeom prst="line">
                <a:avLst/>
              </a:prstGeom>
              <a:noFill/>
              <a:ln w="19050">
                <a:solidFill>
                  <a:srgbClr val="0000FF"/>
                </a:solidFill>
                <a:round/>
                <a:headEnd/>
                <a:tailEnd type="stealth" w="lg" len="lg"/>
              </a:ln>
              <a:effectLst/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98788" name="Rectangle 36"/>
              <p:cNvSpPr>
                <a:spLocks noChangeArrowheads="1"/>
              </p:cNvSpPr>
              <p:nvPr/>
            </p:nvSpPr>
            <p:spPr bwMode="auto">
              <a:xfrm>
                <a:off x="3472" y="1464"/>
                <a:ext cx="270" cy="28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>
                <a:spAutoFit/>
              </a:bodyPr>
              <a:lstStyle/>
              <a:p>
                <a:r>
                  <a:rPr lang="en-US" altLang="zh-CN" b="1">
                    <a:solidFill>
                      <a:srgbClr val="CC0000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</a:rPr>
                  <a:t>' '</a:t>
                </a:r>
              </a:p>
            </p:txBody>
          </p:sp>
        </p:grpSp>
        <p:grpSp>
          <p:nvGrpSpPr>
            <p:cNvPr id="1098789" name="Group 37"/>
            <p:cNvGrpSpPr>
              <a:grpSpLocks/>
            </p:cNvGrpSpPr>
            <p:nvPr/>
          </p:nvGrpSpPr>
          <p:grpSpPr bwMode="auto">
            <a:xfrm>
              <a:off x="3671" y="3363"/>
              <a:ext cx="318" cy="474"/>
              <a:chOff x="3725" y="1267"/>
              <a:chExt cx="318" cy="474"/>
            </a:xfrm>
          </p:grpSpPr>
          <p:sp>
            <p:nvSpPr>
              <p:cNvPr id="1098790" name="Line 38"/>
              <p:cNvSpPr>
                <a:spLocks noChangeShapeType="1"/>
              </p:cNvSpPr>
              <p:nvPr/>
            </p:nvSpPr>
            <p:spPr bwMode="auto">
              <a:xfrm>
                <a:off x="3872" y="1267"/>
                <a:ext cx="0" cy="227"/>
              </a:xfrm>
              <a:prstGeom prst="line">
                <a:avLst/>
              </a:prstGeom>
              <a:noFill/>
              <a:ln w="19050">
                <a:solidFill>
                  <a:srgbClr val="0000FF"/>
                </a:solidFill>
                <a:round/>
                <a:headEnd/>
                <a:tailEnd type="stealth" w="lg" len="lg"/>
              </a:ln>
              <a:effectLst/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98791" name="Rectangle 39"/>
              <p:cNvSpPr>
                <a:spLocks noChangeArrowheads="1"/>
              </p:cNvSpPr>
              <p:nvPr/>
            </p:nvSpPr>
            <p:spPr bwMode="auto">
              <a:xfrm>
                <a:off x="3725" y="1453"/>
                <a:ext cx="318" cy="28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>
                <a:spAutoFit/>
              </a:bodyPr>
              <a:lstStyle/>
              <a:p>
                <a:r>
                  <a:rPr lang="en-US" altLang="zh-CN" b="1">
                    <a:solidFill>
                      <a:srgbClr val="CC0000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</a:rPr>
                  <a:t>'9'</a:t>
                </a:r>
              </a:p>
            </p:txBody>
          </p:sp>
        </p:grpSp>
        <p:grpSp>
          <p:nvGrpSpPr>
            <p:cNvPr id="1098792" name="Group 40"/>
            <p:cNvGrpSpPr>
              <a:grpSpLocks/>
            </p:cNvGrpSpPr>
            <p:nvPr/>
          </p:nvGrpSpPr>
          <p:grpSpPr bwMode="auto">
            <a:xfrm>
              <a:off x="3970" y="3373"/>
              <a:ext cx="318" cy="464"/>
              <a:chOff x="4024" y="1277"/>
              <a:chExt cx="318" cy="464"/>
            </a:xfrm>
          </p:grpSpPr>
          <p:sp>
            <p:nvSpPr>
              <p:cNvPr id="1098793" name="Line 41"/>
              <p:cNvSpPr>
                <a:spLocks noChangeShapeType="1"/>
              </p:cNvSpPr>
              <p:nvPr/>
            </p:nvSpPr>
            <p:spPr bwMode="auto">
              <a:xfrm>
                <a:off x="4170" y="1277"/>
                <a:ext cx="0" cy="227"/>
              </a:xfrm>
              <a:prstGeom prst="line">
                <a:avLst/>
              </a:prstGeom>
              <a:noFill/>
              <a:ln w="19050">
                <a:solidFill>
                  <a:srgbClr val="0000FF"/>
                </a:solidFill>
                <a:round/>
                <a:headEnd/>
                <a:tailEnd type="stealth" w="lg" len="lg"/>
              </a:ln>
              <a:effectLst/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98794" name="Rectangle 42"/>
              <p:cNvSpPr>
                <a:spLocks noChangeArrowheads="1"/>
              </p:cNvSpPr>
              <p:nvPr/>
            </p:nvSpPr>
            <p:spPr bwMode="auto">
              <a:xfrm>
                <a:off x="4024" y="1453"/>
                <a:ext cx="318" cy="28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>
                <a:spAutoFit/>
              </a:bodyPr>
              <a:lstStyle/>
              <a:p>
                <a:r>
                  <a:rPr lang="en-US" altLang="zh-CN" b="1">
                    <a:solidFill>
                      <a:srgbClr val="CC0000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</a:rPr>
                  <a:t>'. '</a:t>
                </a:r>
              </a:p>
            </p:txBody>
          </p:sp>
        </p:grpSp>
        <p:grpSp>
          <p:nvGrpSpPr>
            <p:cNvPr id="1098795" name="Group 43"/>
            <p:cNvGrpSpPr>
              <a:grpSpLocks/>
            </p:cNvGrpSpPr>
            <p:nvPr/>
          </p:nvGrpSpPr>
          <p:grpSpPr bwMode="auto">
            <a:xfrm>
              <a:off x="4296" y="3374"/>
              <a:ext cx="318" cy="471"/>
              <a:chOff x="4350" y="1278"/>
              <a:chExt cx="318" cy="471"/>
            </a:xfrm>
          </p:grpSpPr>
          <p:sp>
            <p:nvSpPr>
              <p:cNvPr id="1098796" name="Line 44"/>
              <p:cNvSpPr>
                <a:spLocks noChangeShapeType="1"/>
              </p:cNvSpPr>
              <p:nvPr/>
            </p:nvSpPr>
            <p:spPr bwMode="auto">
              <a:xfrm>
                <a:off x="4486" y="1278"/>
                <a:ext cx="0" cy="227"/>
              </a:xfrm>
              <a:prstGeom prst="line">
                <a:avLst/>
              </a:prstGeom>
              <a:noFill/>
              <a:ln w="19050">
                <a:solidFill>
                  <a:srgbClr val="0000FF"/>
                </a:solidFill>
                <a:round/>
                <a:headEnd/>
                <a:tailEnd type="stealth" w="lg" len="lg"/>
              </a:ln>
              <a:effectLst/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98797" name="Rectangle 45"/>
              <p:cNvSpPr>
                <a:spLocks noChangeArrowheads="1"/>
              </p:cNvSpPr>
              <p:nvPr/>
            </p:nvSpPr>
            <p:spPr bwMode="auto">
              <a:xfrm>
                <a:off x="4350" y="1461"/>
                <a:ext cx="318" cy="28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>
                <a:spAutoFit/>
              </a:bodyPr>
              <a:lstStyle/>
              <a:p>
                <a:r>
                  <a:rPr lang="en-US" altLang="zh-CN" b="1">
                    <a:solidFill>
                      <a:srgbClr val="CC0000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</a:rPr>
                  <a:t>'8'</a:t>
                </a:r>
              </a:p>
            </p:txBody>
          </p:sp>
        </p:grpSp>
        <p:grpSp>
          <p:nvGrpSpPr>
            <p:cNvPr id="1098798" name="Group 46"/>
            <p:cNvGrpSpPr>
              <a:grpSpLocks/>
            </p:cNvGrpSpPr>
            <p:nvPr/>
          </p:nvGrpSpPr>
          <p:grpSpPr bwMode="auto">
            <a:xfrm>
              <a:off x="4578" y="3366"/>
              <a:ext cx="318" cy="470"/>
              <a:chOff x="4632" y="1270"/>
              <a:chExt cx="318" cy="470"/>
            </a:xfrm>
          </p:grpSpPr>
          <p:sp>
            <p:nvSpPr>
              <p:cNvPr id="1098799" name="Line 47"/>
              <p:cNvSpPr>
                <a:spLocks noChangeShapeType="1"/>
              </p:cNvSpPr>
              <p:nvPr/>
            </p:nvSpPr>
            <p:spPr bwMode="auto">
              <a:xfrm>
                <a:off x="4766" y="1270"/>
                <a:ext cx="0" cy="227"/>
              </a:xfrm>
              <a:prstGeom prst="line">
                <a:avLst/>
              </a:prstGeom>
              <a:noFill/>
              <a:ln w="19050">
                <a:solidFill>
                  <a:srgbClr val="0000FF"/>
                </a:solidFill>
                <a:round/>
                <a:headEnd/>
                <a:tailEnd type="stealth" w="lg" len="lg"/>
              </a:ln>
              <a:effectLst/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98800" name="Rectangle 48"/>
              <p:cNvSpPr>
                <a:spLocks noChangeArrowheads="1"/>
              </p:cNvSpPr>
              <p:nvPr/>
            </p:nvSpPr>
            <p:spPr bwMode="auto">
              <a:xfrm>
                <a:off x="4632" y="1452"/>
                <a:ext cx="318" cy="28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>
                <a:spAutoFit/>
              </a:bodyPr>
              <a:lstStyle/>
              <a:p>
                <a:r>
                  <a:rPr lang="en-US" altLang="zh-CN" b="1">
                    <a:solidFill>
                      <a:srgbClr val="CC0000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</a:rPr>
                  <a:t>'0'</a:t>
                </a:r>
              </a:p>
            </p:txBody>
          </p:sp>
        </p:grpSp>
      </p:grpSp>
      <p:grpSp>
        <p:nvGrpSpPr>
          <p:cNvPr id="1098814" name="Group 62"/>
          <p:cNvGrpSpPr>
            <a:grpSpLocks/>
          </p:cNvGrpSpPr>
          <p:nvPr/>
        </p:nvGrpSpPr>
        <p:grpSpPr bwMode="auto">
          <a:xfrm>
            <a:off x="6517749" y="1195140"/>
            <a:ext cx="1352550" cy="1787525"/>
            <a:chOff x="2209" y="3104"/>
            <a:chExt cx="852" cy="1126"/>
          </a:xfrm>
        </p:grpSpPr>
        <p:sp>
          <p:nvSpPr>
            <p:cNvPr id="1098808" name="Oval 56"/>
            <p:cNvSpPr>
              <a:spLocks noChangeArrowheads="1"/>
            </p:cNvSpPr>
            <p:nvPr/>
          </p:nvSpPr>
          <p:spPr bwMode="auto">
            <a:xfrm>
              <a:off x="2209" y="3104"/>
              <a:ext cx="544" cy="272"/>
            </a:xfrm>
            <a:prstGeom prst="ellipse">
              <a:avLst/>
            </a:prstGeom>
            <a:noFill/>
            <a:ln w="28575">
              <a:solidFill>
                <a:srgbClr val="FF0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98809" name="Line 57"/>
            <p:cNvSpPr>
              <a:spLocks noChangeShapeType="1"/>
            </p:cNvSpPr>
            <p:nvPr/>
          </p:nvSpPr>
          <p:spPr bwMode="auto">
            <a:xfrm>
              <a:off x="2472" y="3385"/>
              <a:ext cx="0" cy="589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prstDash val="sysDot"/>
              <a:round/>
              <a:headEnd/>
              <a:tailEnd type="stealth" w="lg" len="lg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98810" name="Text Box 58"/>
            <p:cNvSpPr txBox="1">
              <a:spLocks noChangeArrowheads="1"/>
            </p:cNvSpPr>
            <p:nvPr/>
          </p:nvSpPr>
          <p:spPr bwMode="auto">
            <a:xfrm>
              <a:off x="2390" y="3942"/>
              <a:ext cx="671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b="1">
                  <a:effectLst>
                    <a:outerShdw blurRad="38100" dist="38100" dir="2700000" algn="tl">
                      <a:srgbClr val="FFFFFF"/>
                    </a:outerShdw>
                  </a:effectLst>
                </a:rPr>
                <a:t>i = 3</a:t>
              </a:r>
            </a:p>
          </p:txBody>
        </p:sp>
      </p:grpSp>
      <p:grpSp>
        <p:nvGrpSpPr>
          <p:cNvPr id="1098815" name="Group 63"/>
          <p:cNvGrpSpPr>
            <a:grpSpLocks/>
          </p:cNvGrpSpPr>
          <p:nvPr/>
        </p:nvGrpSpPr>
        <p:grpSpPr bwMode="auto">
          <a:xfrm>
            <a:off x="7943325" y="1164978"/>
            <a:ext cx="2808287" cy="1811337"/>
            <a:chOff x="3107" y="3085"/>
            <a:chExt cx="1769" cy="1141"/>
          </a:xfrm>
        </p:grpSpPr>
        <p:sp>
          <p:nvSpPr>
            <p:cNvPr id="1098811" name="Oval 59"/>
            <p:cNvSpPr>
              <a:spLocks noChangeArrowheads="1"/>
            </p:cNvSpPr>
            <p:nvPr/>
          </p:nvSpPr>
          <p:spPr bwMode="auto">
            <a:xfrm>
              <a:off x="3107" y="3085"/>
              <a:ext cx="1769" cy="318"/>
            </a:xfrm>
            <a:prstGeom prst="ellipse">
              <a:avLst/>
            </a:prstGeom>
            <a:noFill/>
            <a:ln w="28575">
              <a:solidFill>
                <a:srgbClr val="FF0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98812" name="Line 60"/>
            <p:cNvSpPr>
              <a:spLocks noChangeShapeType="1"/>
            </p:cNvSpPr>
            <p:nvPr/>
          </p:nvSpPr>
          <p:spPr bwMode="auto">
            <a:xfrm>
              <a:off x="3985" y="3404"/>
              <a:ext cx="0" cy="589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prstDash val="sysDot"/>
              <a:round/>
              <a:headEnd/>
              <a:tailEnd type="stealth" w="lg" len="lg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98813" name="Text Box 61"/>
            <p:cNvSpPr txBox="1">
              <a:spLocks noChangeArrowheads="1"/>
            </p:cNvSpPr>
            <p:nvPr/>
          </p:nvSpPr>
          <p:spPr bwMode="auto">
            <a:xfrm>
              <a:off x="3905" y="3938"/>
              <a:ext cx="789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b="1">
                  <a:effectLst>
                    <a:outerShdw blurRad="38100" dist="38100" dir="2700000" algn="tl">
                      <a:srgbClr val="FFFFFF"/>
                    </a:outerShdw>
                  </a:effectLst>
                </a:rPr>
                <a:t>f = 9.80</a:t>
              </a:r>
            </a:p>
          </p:txBody>
        </p:sp>
      </p:grpSp>
      <p:sp>
        <p:nvSpPr>
          <p:cNvPr id="1098816" name="Rectangle 64"/>
          <p:cNvSpPr>
            <a:spLocks noChangeArrowheads="1"/>
          </p:cNvSpPr>
          <p:nvPr/>
        </p:nvSpPr>
        <p:spPr bwMode="auto">
          <a:xfrm>
            <a:off x="6462186" y="3717032"/>
            <a:ext cx="2508303" cy="707886"/>
          </a:xfrm>
          <a:prstGeom prst="rect">
            <a:avLst/>
          </a:prstGeom>
          <a:solidFill>
            <a:srgbClr val="FFFFFF"/>
          </a:solidFill>
          <a:ln w="38100">
            <a:solidFill>
              <a:srgbClr val="FF00FF"/>
            </a:solidFill>
            <a:miter lim="800000"/>
            <a:headEnd/>
            <a:tailEnd/>
          </a:ln>
          <a:effectLst>
            <a:outerShdw blurRad="50800" dist="106680" dir="2700000" algn="tl" rotWithShape="0">
              <a:prstClr val="black">
                <a:alpha val="43000"/>
              </a:prstClr>
            </a:outerShdw>
          </a:effectLst>
          <a:scene3d>
            <a:camera prst="orthographicFront"/>
            <a:lightRig rig="threePt" dir="t"/>
          </a:scene3d>
          <a:sp3d>
            <a:bevelT w="114300" prst="hardEdge"/>
          </a:sp3d>
        </p:spPr>
        <p:txBody>
          <a:bodyPr wrap="square" anchor="ctr">
            <a:spAutoFit/>
          </a:bodyPr>
          <a:lstStyle/>
          <a:p>
            <a:r>
              <a:rPr lang="zh-CN" altLang="en-US" sz="2000" b="1" dirty="0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隶书" pitchFamily="49" charset="-122"/>
                <a:ea typeface="隶书" pitchFamily="49" charset="-122"/>
              </a:rPr>
              <a:t>运行结果：</a:t>
            </a:r>
          </a:p>
          <a:p>
            <a:r>
              <a:rPr lang="en-US" altLang="zh-CN" sz="2000" b="1" dirty="0" err="1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楷体_GB2312" pitchFamily="49" charset="-122"/>
              </a:rPr>
              <a:t>i</a:t>
            </a:r>
            <a:r>
              <a:rPr lang="en-US" altLang="zh-CN" sz="2000" b="1" dirty="0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楷体_GB2312" pitchFamily="49" charset="-122"/>
              </a:rPr>
              <a:t> =  3, f =   9.80</a:t>
            </a:r>
          </a:p>
        </p:txBody>
      </p:sp>
      <p:sp>
        <p:nvSpPr>
          <p:cNvPr id="1098817" name="Rectangle 65"/>
          <p:cNvSpPr>
            <a:spLocks noChangeArrowheads="1"/>
          </p:cNvSpPr>
          <p:nvPr/>
        </p:nvSpPr>
        <p:spPr bwMode="auto">
          <a:xfrm>
            <a:off x="755977" y="5589240"/>
            <a:ext cx="11019571" cy="830997"/>
          </a:xfrm>
          <a:prstGeom prst="rect">
            <a:avLst/>
          </a:prstGeom>
          <a:gradFill flip="none" rotWithShape="1">
            <a:gsLst>
              <a:gs pos="0">
                <a:srgbClr val="FFFFCC">
                  <a:shade val="30000"/>
                  <a:satMod val="115000"/>
                </a:srgbClr>
              </a:gs>
              <a:gs pos="50000">
                <a:srgbClr val="FFFFCC">
                  <a:shade val="67500"/>
                  <a:satMod val="115000"/>
                </a:srgbClr>
              </a:gs>
              <a:gs pos="100000">
                <a:srgbClr val="FFFFCC">
                  <a:shade val="100000"/>
                  <a:satMod val="115000"/>
                </a:srgbClr>
              </a:gs>
            </a:gsLst>
            <a:lin ang="13500000" scaled="1"/>
            <a:tileRect/>
          </a:gradFill>
          <a:ln w="38100">
            <a:solidFill>
              <a:srgbClr val="FF0000"/>
            </a:solidFill>
            <a:miter lim="800000"/>
            <a:headEnd/>
            <a:tailEnd/>
          </a:ln>
          <a:effectLst>
            <a:outerShdw blurRad="50800" dist="106680" dir="2700000" algn="tl" rotWithShape="0">
              <a:prstClr val="black">
                <a:alpha val="43000"/>
              </a:prstClr>
            </a:outerShdw>
          </a:effectLst>
          <a:scene3d>
            <a:camera prst="orthographicFront"/>
            <a:lightRig rig="threePt" dir="t"/>
          </a:scene3d>
          <a:sp3d>
            <a:bevelT w="114300" prst="hardEdge"/>
          </a:sp3d>
        </p:spPr>
        <p:txBody>
          <a:bodyPr wrap="square" anchor="ctr">
            <a:spAutoFit/>
          </a:bodyPr>
          <a:lstStyle/>
          <a:p>
            <a:r>
              <a:rPr lang="en-US" altLang="zh-CN" b="1" dirty="0">
                <a:solidFill>
                  <a:srgbClr val="FF33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隶书" pitchFamily="49" charset="-122"/>
                <a:ea typeface="隶书" pitchFamily="49" charset="-122"/>
              </a:rPr>
              <a:t>  </a:t>
            </a:r>
            <a:r>
              <a:rPr lang="zh-CN" altLang="en-US" b="1" dirty="0">
                <a:solidFill>
                  <a:srgbClr val="FF33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隶书" pitchFamily="49" charset="-122"/>
                <a:ea typeface="隶书" pitchFamily="49" charset="-122"/>
              </a:rPr>
              <a:t>注意：</a:t>
            </a:r>
            <a:r>
              <a:rPr lang="zh-CN" altLang="en-US" b="1" dirty="0">
                <a:effectLst>
                  <a:outerShdw blurRad="38100" dist="38100" dir="2700000" algn="tl">
                    <a:srgbClr val="FFFFFF"/>
                  </a:outerShdw>
                </a:effectLst>
                <a:latin typeface="隶书" pitchFamily="49" charset="-122"/>
                <a:ea typeface="隶书" pitchFamily="49" charset="-122"/>
              </a:rPr>
              <a:t>文件格式化输出函数</a:t>
            </a:r>
            <a:r>
              <a:rPr lang="en-US" altLang="zh-CN" b="1" dirty="0" err="1">
                <a:effectLst>
                  <a:outerShdw blurRad="38100" dist="38100" dir="2700000" algn="tl">
                    <a:srgbClr val="FFFFFF"/>
                  </a:outerShdw>
                </a:effectLst>
                <a:ea typeface="隶书" pitchFamily="49" charset="-122"/>
              </a:rPr>
              <a:t>fprintf</a:t>
            </a:r>
            <a:r>
              <a:rPr lang="zh-CN" altLang="en-US" b="1" dirty="0">
                <a:effectLst>
                  <a:outerShdw blurRad="38100" dist="38100" dir="2700000" algn="tl">
                    <a:srgbClr val="FFFFFF"/>
                  </a:outerShdw>
                </a:effectLst>
                <a:latin typeface="隶书" pitchFamily="49" charset="-122"/>
                <a:ea typeface="隶书" pitchFamily="49" charset="-122"/>
              </a:rPr>
              <a:t>总是以</a:t>
            </a:r>
            <a:r>
              <a:rPr lang="zh-CN" altLang="en-US" b="1" dirty="0">
                <a:solidFill>
                  <a:srgbClr val="CC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隶书" pitchFamily="49" charset="-122"/>
                <a:ea typeface="隶书" pitchFamily="49" charset="-122"/>
              </a:rPr>
              <a:t>字符串的形式</a:t>
            </a:r>
            <a:r>
              <a:rPr lang="zh-CN" altLang="en-US" b="1" dirty="0">
                <a:effectLst>
                  <a:outerShdw blurRad="38100" dist="38100" dir="2700000" algn="tl">
                    <a:srgbClr val="FFFFFF"/>
                  </a:outerShdw>
                </a:effectLst>
                <a:latin typeface="隶书" pitchFamily="49" charset="-122"/>
                <a:ea typeface="隶书" pitchFamily="49" charset="-122"/>
              </a:rPr>
              <a:t>将数据信息存放到文件中，而不是以数值的形式存放到文件中，不管打开的是文本文件还是二进制文件。</a:t>
            </a:r>
          </a:p>
        </p:txBody>
      </p:sp>
      <p:grpSp>
        <p:nvGrpSpPr>
          <p:cNvPr id="1098818" name="Group 66"/>
          <p:cNvGrpSpPr>
            <a:grpSpLocks/>
          </p:cNvGrpSpPr>
          <p:nvPr/>
        </p:nvGrpSpPr>
        <p:grpSpPr bwMode="auto">
          <a:xfrm>
            <a:off x="-9822" y="0"/>
            <a:ext cx="446088" cy="6858000"/>
            <a:chOff x="0" y="0"/>
            <a:chExt cx="281" cy="4320"/>
          </a:xfrm>
        </p:grpSpPr>
        <p:sp>
          <p:nvSpPr>
            <p:cNvPr id="1098819" name="Text Box 67"/>
            <p:cNvSpPr txBox="1">
              <a:spLocks noChangeArrowheads="1"/>
            </p:cNvSpPr>
            <p:nvPr/>
          </p:nvSpPr>
          <p:spPr bwMode="auto">
            <a:xfrm>
              <a:off x="0" y="0"/>
              <a:ext cx="281" cy="4320"/>
            </a:xfrm>
            <a:prstGeom prst="rect">
              <a:avLst/>
            </a:prstGeom>
            <a:gradFill rotWithShape="0">
              <a:gsLst>
                <a:gs pos="0">
                  <a:schemeClr val="hlink">
                    <a:gamma/>
                    <a:shade val="60784"/>
                    <a:invGamma/>
                  </a:schemeClr>
                </a:gs>
                <a:gs pos="50000">
                  <a:schemeClr val="hlink"/>
                </a:gs>
                <a:gs pos="100000">
                  <a:schemeClr val="hlink">
                    <a:gamma/>
                    <a:shade val="60784"/>
                    <a:invGamma/>
                  </a:schemeClr>
                </a:gs>
              </a:gsLst>
              <a:lin ang="0" scaled="1"/>
            </a:gradFill>
            <a:ln w="9525">
              <a:noFill/>
              <a:miter lim="800000"/>
              <a:headEnd/>
              <a:tailEnd/>
            </a:ln>
            <a:effectLst/>
          </p:spPr>
          <p:txBody>
            <a:bodyPr/>
            <a:lstStyle/>
            <a:p>
              <a:pPr eaLnBrk="0" hangingPunct="0">
                <a:spcBef>
                  <a:spcPct val="50000"/>
                </a:spcBef>
              </a:pPr>
              <a:endParaRPr lang="en-US" altLang="zh-CN" sz="1800" dirty="0">
                <a:solidFill>
                  <a:srgbClr val="3333CC"/>
                </a:solidFill>
                <a:latin typeface="Verdana" pitchFamily="34" charset="0"/>
              </a:endParaRPr>
            </a:p>
            <a:p>
              <a:pPr eaLnBrk="0" hangingPunct="0">
                <a:spcBef>
                  <a:spcPct val="50000"/>
                </a:spcBef>
              </a:pPr>
              <a:r>
                <a:rPr lang="zh-CN" altLang="en-US" sz="1600" b="1" dirty="0">
                  <a:solidFill>
                    <a:srgbClr val="3333CC"/>
                  </a:solidFill>
                  <a:latin typeface="Verdana" pitchFamily="34" charset="0"/>
                </a:rPr>
                <a:t>语言程序设计教程       </a:t>
              </a:r>
            </a:p>
            <a:p>
              <a:pPr eaLnBrk="0" hangingPunct="0">
                <a:spcBef>
                  <a:spcPct val="50000"/>
                </a:spcBef>
              </a:pPr>
              <a:r>
                <a:rPr lang="zh-CN" altLang="en-US" sz="1600" b="1" dirty="0">
                  <a:solidFill>
                    <a:srgbClr val="3333CC"/>
                  </a:solidFill>
                  <a:latin typeface="Verdana" pitchFamily="34" charset="0"/>
                </a:rPr>
                <a:t>第三版</a:t>
              </a:r>
            </a:p>
            <a:p>
              <a:pPr eaLnBrk="0" hangingPunct="0">
                <a:spcBef>
                  <a:spcPct val="50000"/>
                </a:spcBef>
              </a:pPr>
              <a:endParaRPr lang="zh-CN" altLang="en-US" sz="1600" b="1" dirty="0">
                <a:solidFill>
                  <a:srgbClr val="3333CC"/>
                </a:solidFill>
                <a:latin typeface="Verdana" pitchFamily="34" charset="0"/>
              </a:endParaRPr>
            </a:p>
            <a:p>
              <a:pPr eaLnBrk="0" hangingPunct="0">
                <a:spcBef>
                  <a:spcPct val="50000"/>
                </a:spcBef>
              </a:pPr>
              <a:endParaRPr lang="zh-CN" altLang="en-US" sz="1600" b="1" dirty="0">
                <a:solidFill>
                  <a:srgbClr val="3333CC"/>
                </a:solidFill>
                <a:latin typeface="Verdana" pitchFamily="34" charset="0"/>
              </a:endParaRPr>
            </a:p>
            <a:p>
              <a:pPr eaLnBrk="0" hangingPunct="0">
                <a:spcBef>
                  <a:spcPct val="50000"/>
                </a:spcBef>
              </a:pPr>
              <a:r>
                <a:rPr lang="zh-CN" altLang="en-US" sz="1600" b="1" dirty="0">
                  <a:solidFill>
                    <a:srgbClr val="3333CC"/>
                  </a:solidFill>
                  <a:latin typeface="Verdana" pitchFamily="34" charset="0"/>
                </a:rPr>
                <a:t>第十</a:t>
              </a:r>
            </a:p>
            <a:p>
              <a:pPr eaLnBrk="0" hangingPunct="0">
                <a:spcBef>
                  <a:spcPct val="50000"/>
                </a:spcBef>
              </a:pPr>
              <a:r>
                <a:rPr lang="zh-CN" altLang="en-US" sz="1600" b="1" dirty="0">
                  <a:solidFill>
                    <a:srgbClr val="3333CC"/>
                  </a:solidFill>
                  <a:latin typeface="Verdana" pitchFamily="34" charset="0"/>
                </a:rPr>
                <a:t>二章 </a:t>
              </a:r>
            </a:p>
            <a:p>
              <a:pPr eaLnBrk="0" hangingPunct="0">
                <a:spcBef>
                  <a:spcPct val="50000"/>
                </a:spcBef>
              </a:pPr>
              <a:endParaRPr lang="zh-CN" altLang="en-US" sz="1600" b="1" dirty="0">
                <a:solidFill>
                  <a:srgbClr val="3333CC"/>
                </a:solidFill>
                <a:latin typeface="Verdana" pitchFamily="34" charset="0"/>
              </a:endParaRPr>
            </a:p>
            <a:p>
              <a:pPr eaLnBrk="0" hangingPunct="0">
                <a:spcBef>
                  <a:spcPct val="50000"/>
                </a:spcBef>
              </a:pPr>
              <a:r>
                <a:rPr lang="zh-CN" altLang="en-US" sz="1600" b="1" dirty="0">
                  <a:solidFill>
                    <a:srgbClr val="3333CC"/>
                  </a:solidFill>
                  <a:latin typeface="Verdana" pitchFamily="34" charset="0"/>
                </a:rPr>
                <a:t>文</a:t>
              </a:r>
            </a:p>
            <a:p>
              <a:pPr eaLnBrk="0" hangingPunct="0">
                <a:spcBef>
                  <a:spcPct val="50000"/>
                </a:spcBef>
              </a:pPr>
              <a:endParaRPr lang="zh-CN" altLang="en-US" sz="1600" b="1" dirty="0">
                <a:solidFill>
                  <a:srgbClr val="3333CC"/>
                </a:solidFill>
                <a:latin typeface="Verdana" pitchFamily="34" charset="0"/>
              </a:endParaRPr>
            </a:p>
            <a:p>
              <a:pPr eaLnBrk="0" hangingPunct="0">
                <a:spcBef>
                  <a:spcPct val="50000"/>
                </a:spcBef>
              </a:pPr>
              <a:r>
                <a:rPr lang="zh-CN" altLang="en-US" sz="1600" b="1" dirty="0">
                  <a:solidFill>
                    <a:srgbClr val="3333CC"/>
                  </a:solidFill>
                  <a:latin typeface="Verdana" pitchFamily="34" charset="0"/>
                </a:rPr>
                <a:t>件</a:t>
              </a:r>
            </a:p>
          </p:txBody>
        </p:sp>
        <p:sp>
          <p:nvSpPr>
            <p:cNvPr id="1098820" name="Text Box 68"/>
            <p:cNvSpPr txBox="1">
              <a:spLocks noChangeArrowheads="1"/>
            </p:cNvSpPr>
            <p:nvPr/>
          </p:nvSpPr>
          <p:spPr bwMode="auto">
            <a:xfrm>
              <a:off x="0" y="0"/>
              <a:ext cx="281" cy="231"/>
            </a:xfrm>
            <a:prstGeom prst="rect">
              <a:avLst/>
            </a:prstGeom>
            <a:gradFill rotWithShape="0">
              <a:gsLst>
                <a:gs pos="0">
                  <a:schemeClr val="hlink">
                    <a:gamma/>
                    <a:shade val="46275"/>
                    <a:invGamma/>
                  </a:schemeClr>
                </a:gs>
                <a:gs pos="50000">
                  <a:schemeClr val="hlink"/>
                </a:gs>
                <a:gs pos="100000">
                  <a:schemeClr val="hlink">
                    <a:gamma/>
                    <a:shade val="46275"/>
                    <a:invGamma/>
                  </a:schemeClr>
                </a:gs>
              </a:gsLst>
              <a:lin ang="0" scaled="1"/>
            </a:gradFill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eaLnBrk="0" hangingPunct="0">
                <a:spcBef>
                  <a:spcPct val="50000"/>
                </a:spcBef>
              </a:pPr>
              <a:r>
                <a:rPr lang="en-US" altLang="zh-CN" sz="1800" b="1">
                  <a:solidFill>
                    <a:srgbClr val="0000FF"/>
                  </a:solidFill>
                  <a:latin typeface="Arial" pitchFamily="34" charset="0"/>
                </a:rPr>
                <a:t>C</a:t>
              </a:r>
            </a:p>
          </p:txBody>
        </p:sp>
      </p:grpSp>
    </p:spTree>
  </p:cSld>
  <p:clrMapOvr>
    <a:masterClrMapping/>
  </p:clrMapOvr>
  <p:transition>
    <p:cover/>
    <p:sndAc>
      <p:stSnd>
        <p:snd r:embed="rId3" name="CAMER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875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09875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09875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875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09875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09875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9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875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09875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09875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3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1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875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09875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09875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7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2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875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09875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09875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2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875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109875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09875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2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875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09875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09875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9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500"/>
                            </p:stCondLst>
                            <p:childTnLst>
                              <p:par>
                                <p:cTn id="34" presetID="4" presetClass="entr" presetSubtype="3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88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36" dur="500"/>
                                        <p:tgtEl>
                                          <p:spTgt spid="1098807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4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875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109875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109875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9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4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875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109875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109875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3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4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875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109875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109875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7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5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875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109875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109875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>
                            <p:stCondLst>
                              <p:cond delay="500"/>
                            </p:stCondLst>
                            <p:childTnLst>
                              <p:par>
                                <p:cTn id="56" presetID="18" presetClass="entr" presetSubtype="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88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58" dur="500"/>
                                        <p:tgtEl>
                                          <p:spTgt spid="1098814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6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laser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59" fill="hold">
                            <p:stCondLst>
                              <p:cond delay="1000"/>
                            </p:stCondLst>
                            <p:childTnLst>
                              <p:par>
                                <p:cTn id="60" presetID="18" presetClass="entr" presetSubtype="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88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62" dur="500"/>
                                        <p:tgtEl>
                                          <p:spTgt spid="1098815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6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laser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875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109875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109875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6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875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109875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109875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7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7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8754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500" fill="hold"/>
                                        <p:tgtEl>
                                          <p:spTgt spid="1098754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8" dur="500" fill="hold"/>
                                        <p:tgtEl>
                                          <p:spTgt spid="1098754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7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7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8754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1" dur="500" fill="hold"/>
                                        <p:tgtEl>
                                          <p:spTgt spid="1098754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2" dur="500" fill="hold"/>
                                        <p:tgtEl>
                                          <p:spTgt spid="1098754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79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83" fill="hold">
                            <p:stCondLst>
                              <p:cond delay="500"/>
                            </p:stCondLst>
                            <p:childTnLst>
                              <p:par>
                                <p:cTn id="84" presetID="4" presetClass="entr" presetSubtype="3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88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86" dur="500"/>
                                        <p:tgtEl>
                                          <p:spTgt spid="1098816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84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5" name="chime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88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91" dur="500"/>
                                        <p:tgtEl>
                                          <p:spTgt spid="1098817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89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5" name="chime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98816" grpId="0" animBg="1"/>
      <p:bldP spid="1098817" grpId="0" animBg="1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0805" name="Rectangle 5"/>
          <p:cNvSpPr>
            <a:spLocks noChangeArrowheads="1"/>
          </p:cNvSpPr>
          <p:nvPr/>
        </p:nvSpPr>
        <p:spPr bwMode="auto">
          <a:xfrm>
            <a:off x="617242" y="208172"/>
            <a:ext cx="3897221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r>
              <a:rPr lang="en-US" altLang="zh-CN" b="1" dirty="0">
                <a:solidFill>
                  <a:srgbClr val="D60093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隶书" panose="02010509060101010101" pitchFamily="49" charset="-122"/>
                <a:ea typeface="隶书" panose="02010509060101010101" pitchFamily="49" charset="-122"/>
              </a:rPr>
              <a:t>3</a:t>
            </a:r>
            <a:r>
              <a:rPr lang="zh-CN" altLang="en-US" b="1" dirty="0">
                <a:solidFill>
                  <a:srgbClr val="D60093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隶书" panose="02010509060101010101" pitchFamily="49" charset="-122"/>
                <a:ea typeface="隶书" panose="02010509060101010101" pitchFamily="49" charset="-122"/>
              </a:rPr>
              <a:t>、</a:t>
            </a:r>
            <a:r>
              <a:rPr lang="zh-CN" altLang="en-US" b="1" dirty="0">
                <a:solidFill>
                  <a:srgbClr val="CC0066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隶书" panose="02010509060101010101" pitchFamily="49" charset="-122"/>
                <a:ea typeface="隶书" panose="02010509060101010101" pitchFamily="49" charset="-122"/>
              </a:rPr>
              <a:t>文件读写函数选用原则</a:t>
            </a:r>
            <a:r>
              <a:rPr lang="zh-CN" altLang="en-US" dirty="0">
                <a:latin typeface="隶书" panose="02010509060101010101" pitchFamily="49" charset="-122"/>
                <a:ea typeface="隶书" panose="02010509060101010101" pitchFamily="49" charset="-122"/>
              </a:rPr>
              <a:t> </a:t>
            </a:r>
          </a:p>
        </p:txBody>
      </p:sp>
      <p:sp>
        <p:nvSpPr>
          <p:cNvPr id="1100812" name="Rectangle 12"/>
          <p:cNvSpPr>
            <a:spLocks noChangeArrowheads="1"/>
          </p:cNvSpPr>
          <p:nvPr/>
        </p:nvSpPr>
        <p:spPr bwMode="auto">
          <a:xfrm>
            <a:off x="1146949" y="781013"/>
            <a:ext cx="10277643" cy="1495859"/>
          </a:xfrm>
          <a:prstGeom prst="rect">
            <a:avLst/>
          </a:prstGeom>
          <a:ln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scene3d>
            <a:camera prst="orthographicFront"/>
            <a:lightRig rig="threePt" dir="t"/>
          </a:scene3d>
          <a:sp3d>
            <a:bevelT w="114300" prst="hardEdge"/>
          </a:sp3d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anchor="ctr">
            <a:spAutoFit/>
          </a:bodyPr>
          <a:lstStyle/>
          <a:p>
            <a:pPr>
              <a:lnSpc>
                <a:spcPts val="2800"/>
              </a:lnSpc>
              <a:buClr>
                <a:srgbClr val="CC0066"/>
              </a:buClr>
              <a:buFont typeface="Wingdings" pitchFamily="2" charset="2"/>
              <a:buChar char="Ø"/>
              <a:tabLst>
                <a:tab pos="457200" algn="l"/>
              </a:tabLst>
            </a:pPr>
            <a:r>
              <a:rPr lang="en-US" altLang="zh-CN" sz="2000" b="1" dirty="0">
                <a:effectLst>
                  <a:outerShdw blurRad="38100" dist="38100" dir="2700000" algn="tl">
                    <a:srgbClr val="FFFFFF"/>
                  </a:outerShdw>
                </a:effectLst>
                <a:ea typeface="楷体" pitchFamily="49" charset="-122"/>
              </a:rPr>
              <a:t> </a:t>
            </a:r>
            <a:r>
              <a:rPr lang="zh-CN" altLang="en-US" sz="2000" b="1" dirty="0">
                <a:effectLst>
                  <a:outerShdw blurRad="38100" dist="38100" dir="2700000" algn="tl">
                    <a:srgbClr val="FFFFFF"/>
                  </a:outerShdw>
                </a:effectLst>
                <a:ea typeface="楷体" pitchFamily="49" charset="-122"/>
              </a:rPr>
              <a:t>读</a:t>
            </a:r>
            <a:r>
              <a:rPr lang="en-US" altLang="zh-CN" sz="2000" b="1" dirty="0">
                <a:effectLst>
                  <a:outerShdw blurRad="38100" dist="38100" dir="2700000" algn="tl">
                    <a:srgbClr val="FFFFFF"/>
                  </a:outerShdw>
                </a:effectLst>
                <a:ea typeface="楷体" pitchFamily="49" charset="-122"/>
              </a:rPr>
              <a:t>/</a:t>
            </a:r>
            <a:r>
              <a:rPr lang="zh-CN" altLang="en-US" sz="2000" b="1" dirty="0">
                <a:effectLst>
                  <a:outerShdw blurRad="38100" dist="38100" dir="2700000" algn="tl">
                    <a:srgbClr val="FFFFFF"/>
                  </a:outerShdw>
                </a:effectLst>
                <a:ea typeface="楷体" pitchFamily="49" charset="-122"/>
              </a:rPr>
              <a:t>写</a:t>
            </a:r>
            <a:r>
              <a:rPr lang="en-US" altLang="zh-CN" sz="2000" b="1" dirty="0">
                <a:effectLst>
                  <a:outerShdw blurRad="38100" dist="38100" dir="2700000" algn="tl">
                    <a:srgbClr val="FFFFFF"/>
                  </a:outerShdw>
                </a:effectLst>
                <a:ea typeface="楷体" pitchFamily="49" charset="-122"/>
              </a:rPr>
              <a:t>1</a:t>
            </a:r>
            <a:r>
              <a:rPr lang="zh-CN" altLang="en-US" sz="2000" b="1" dirty="0">
                <a:effectLst>
                  <a:outerShdw blurRad="38100" dist="38100" dir="2700000" algn="tl">
                    <a:srgbClr val="FFFFFF"/>
                  </a:outerShdw>
                </a:effectLst>
                <a:ea typeface="楷体" pitchFamily="49" charset="-122"/>
              </a:rPr>
              <a:t>个字符（或字节）数据时：选用</a:t>
            </a:r>
            <a:r>
              <a:rPr lang="en-US" altLang="zh-CN" sz="2000" b="1" dirty="0" err="1">
                <a:effectLst>
                  <a:outerShdw blurRad="38100" dist="38100" dir="2700000" algn="tl">
                    <a:srgbClr val="FFFFFF"/>
                  </a:outerShdw>
                </a:effectLst>
                <a:ea typeface="楷体" pitchFamily="49" charset="-122"/>
              </a:rPr>
              <a:t>fgetc</a:t>
            </a:r>
            <a:r>
              <a:rPr lang="en-US" altLang="zh-CN" sz="2000" b="1" dirty="0">
                <a:effectLst>
                  <a:outerShdw blurRad="38100" dist="38100" dir="2700000" algn="tl">
                    <a:srgbClr val="FFFFFF"/>
                  </a:outerShdw>
                </a:effectLst>
                <a:ea typeface="楷体" pitchFamily="49" charset="-122"/>
              </a:rPr>
              <a:t>( )</a:t>
            </a:r>
            <a:r>
              <a:rPr lang="zh-CN" altLang="en-US" sz="2000" b="1" dirty="0">
                <a:effectLst>
                  <a:outerShdw blurRad="38100" dist="38100" dir="2700000" algn="tl">
                    <a:srgbClr val="FFFFFF"/>
                  </a:outerShdw>
                </a:effectLst>
                <a:ea typeface="楷体" pitchFamily="49" charset="-122"/>
              </a:rPr>
              <a:t>和</a:t>
            </a:r>
            <a:r>
              <a:rPr lang="en-US" altLang="zh-CN" sz="2000" b="1" dirty="0" err="1">
                <a:effectLst>
                  <a:outerShdw blurRad="38100" dist="38100" dir="2700000" algn="tl">
                    <a:srgbClr val="FFFFFF"/>
                  </a:outerShdw>
                </a:effectLst>
                <a:ea typeface="楷体" pitchFamily="49" charset="-122"/>
              </a:rPr>
              <a:t>fputc</a:t>
            </a:r>
            <a:r>
              <a:rPr lang="en-US" altLang="zh-CN" sz="2000" b="1" dirty="0">
                <a:effectLst>
                  <a:outerShdw blurRad="38100" dist="38100" dir="2700000" algn="tl">
                    <a:srgbClr val="FFFFFF"/>
                  </a:outerShdw>
                </a:effectLst>
                <a:ea typeface="楷体" pitchFamily="49" charset="-122"/>
              </a:rPr>
              <a:t>( )</a:t>
            </a:r>
            <a:r>
              <a:rPr lang="zh-CN" altLang="en-US" sz="2000" b="1" dirty="0">
                <a:effectLst>
                  <a:outerShdw blurRad="38100" dist="38100" dir="2700000" algn="tl">
                    <a:srgbClr val="FFFFFF"/>
                  </a:outerShdw>
                </a:effectLst>
                <a:ea typeface="楷体" pitchFamily="49" charset="-122"/>
              </a:rPr>
              <a:t>函数。</a:t>
            </a:r>
          </a:p>
          <a:p>
            <a:pPr>
              <a:lnSpc>
                <a:spcPts val="2800"/>
              </a:lnSpc>
              <a:buClr>
                <a:srgbClr val="CC0066"/>
              </a:buClr>
              <a:buFont typeface="Wingdings" pitchFamily="2" charset="2"/>
              <a:buChar char="Ø"/>
              <a:tabLst>
                <a:tab pos="457200" algn="l"/>
              </a:tabLst>
            </a:pPr>
            <a:r>
              <a:rPr lang="zh-CN" altLang="en-US" sz="2000" b="1" dirty="0">
                <a:effectLst>
                  <a:outerShdw blurRad="38100" dist="38100" dir="2700000" algn="tl">
                    <a:srgbClr val="FFFFFF"/>
                  </a:outerShdw>
                </a:effectLst>
                <a:ea typeface="楷体" pitchFamily="49" charset="-122"/>
              </a:rPr>
              <a:t> 读</a:t>
            </a:r>
            <a:r>
              <a:rPr lang="en-US" altLang="zh-CN" sz="2000" b="1" dirty="0">
                <a:effectLst>
                  <a:outerShdw blurRad="38100" dist="38100" dir="2700000" algn="tl">
                    <a:srgbClr val="FFFFFF"/>
                  </a:outerShdw>
                </a:effectLst>
                <a:ea typeface="楷体" pitchFamily="49" charset="-122"/>
              </a:rPr>
              <a:t>/</a:t>
            </a:r>
            <a:r>
              <a:rPr lang="zh-CN" altLang="en-US" sz="2000" b="1" dirty="0">
                <a:effectLst>
                  <a:outerShdw blurRad="38100" dist="38100" dir="2700000" algn="tl">
                    <a:srgbClr val="FFFFFF"/>
                  </a:outerShdw>
                </a:effectLst>
                <a:ea typeface="楷体" pitchFamily="49" charset="-122"/>
              </a:rPr>
              <a:t>写</a:t>
            </a:r>
            <a:r>
              <a:rPr lang="en-US" altLang="zh-CN" sz="2000" b="1" dirty="0">
                <a:effectLst>
                  <a:outerShdw blurRad="38100" dist="38100" dir="2700000" algn="tl">
                    <a:srgbClr val="FFFFFF"/>
                  </a:outerShdw>
                </a:effectLst>
                <a:ea typeface="楷体" pitchFamily="49" charset="-122"/>
              </a:rPr>
              <a:t>1</a:t>
            </a:r>
            <a:r>
              <a:rPr lang="zh-CN" altLang="en-US" sz="2000" b="1" dirty="0">
                <a:effectLst>
                  <a:outerShdw blurRad="38100" dist="38100" dir="2700000" algn="tl">
                    <a:srgbClr val="FFFFFF"/>
                  </a:outerShdw>
                </a:effectLst>
                <a:ea typeface="楷体" pitchFamily="49" charset="-122"/>
              </a:rPr>
              <a:t>个字符串时：选用</a:t>
            </a:r>
            <a:r>
              <a:rPr lang="en-US" altLang="zh-CN" sz="2000" b="1" dirty="0" err="1">
                <a:effectLst>
                  <a:outerShdw blurRad="38100" dist="38100" dir="2700000" algn="tl">
                    <a:srgbClr val="FFFFFF"/>
                  </a:outerShdw>
                </a:effectLst>
                <a:ea typeface="楷体" pitchFamily="49" charset="-122"/>
              </a:rPr>
              <a:t>fgets</a:t>
            </a:r>
            <a:r>
              <a:rPr lang="en-US" altLang="zh-CN" sz="2000" b="1" dirty="0">
                <a:effectLst>
                  <a:outerShdw blurRad="38100" dist="38100" dir="2700000" algn="tl">
                    <a:srgbClr val="FFFFFF"/>
                  </a:outerShdw>
                </a:effectLst>
                <a:ea typeface="楷体" pitchFamily="49" charset="-122"/>
              </a:rPr>
              <a:t>( )</a:t>
            </a:r>
            <a:r>
              <a:rPr lang="zh-CN" altLang="en-US" sz="2000" b="1" dirty="0">
                <a:effectLst>
                  <a:outerShdw blurRad="38100" dist="38100" dir="2700000" algn="tl">
                    <a:srgbClr val="FFFFFF"/>
                  </a:outerShdw>
                </a:effectLst>
                <a:ea typeface="楷体" pitchFamily="49" charset="-122"/>
              </a:rPr>
              <a:t>和</a:t>
            </a:r>
            <a:r>
              <a:rPr lang="en-US" altLang="zh-CN" sz="2000" b="1" dirty="0" err="1">
                <a:effectLst>
                  <a:outerShdw blurRad="38100" dist="38100" dir="2700000" algn="tl">
                    <a:srgbClr val="FFFFFF"/>
                  </a:outerShdw>
                </a:effectLst>
                <a:ea typeface="楷体" pitchFamily="49" charset="-122"/>
              </a:rPr>
              <a:t>fputs</a:t>
            </a:r>
            <a:r>
              <a:rPr lang="en-US" altLang="zh-CN" sz="2000" b="1" dirty="0">
                <a:effectLst>
                  <a:outerShdw blurRad="38100" dist="38100" dir="2700000" algn="tl">
                    <a:srgbClr val="FFFFFF"/>
                  </a:outerShdw>
                </a:effectLst>
                <a:ea typeface="楷体" pitchFamily="49" charset="-122"/>
              </a:rPr>
              <a:t>( )</a:t>
            </a:r>
            <a:r>
              <a:rPr lang="zh-CN" altLang="en-US" sz="2000" b="1" dirty="0">
                <a:effectLst>
                  <a:outerShdw blurRad="38100" dist="38100" dir="2700000" algn="tl">
                    <a:srgbClr val="FFFFFF"/>
                  </a:outerShdw>
                </a:effectLst>
                <a:ea typeface="楷体" pitchFamily="49" charset="-122"/>
              </a:rPr>
              <a:t>函数。</a:t>
            </a:r>
          </a:p>
          <a:p>
            <a:pPr>
              <a:lnSpc>
                <a:spcPts val="2800"/>
              </a:lnSpc>
              <a:buClr>
                <a:srgbClr val="CC0066"/>
              </a:buClr>
              <a:buFont typeface="Wingdings" pitchFamily="2" charset="2"/>
              <a:buChar char="Ø"/>
              <a:tabLst>
                <a:tab pos="457200" algn="l"/>
              </a:tabLst>
            </a:pPr>
            <a:r>
              <a:rPr lang="zh-CN" altLang="en-US" sz="2000" b="1" dirty="0">
                <a:effectLst>
                  <a:outerShdw blurRad="38100" dist="38100" dir="2700000" algn="tl">
                    <a:srgbClr val="FFFFFF"/>
                  </a:outerShdw>
                </a:effectLst>
                <a:ea typeface="楷体" pitchFamily="49" charset="-122"/>
              </a:rPr>
              <a:t> 读</a:t>
            </a:r>
            <a:r>
              <a:rPr lang="en-US" altLang="zh-CN" sz="2000" b="1" dirty="0">
                <a:effectLst>
                  <a:outerShdw blurRad="38100" dist="38100" dir="2700000" algn="tl">
                    <a:srgbClr val="FFFFFF"/>
                  </a:outerShdw>
                </a:effectLst>
                <a:ea typeface="楷体" pitchFamily="49" charset="-122"/>
              </a:rPr>
              <a:t>/</a:t>
            </a:r>
            <a:r>
              <a:rPr lang="zh-CN" altLang="en-US" sz="2000" b="1" dirty="0">
                <a:effectLst>
                  <a:outerShdw blurRad="38100" dist="38100" dir="2700000" algn="tl">
                    <a:srgbClr val="FFFFFF"/>
                  </a:outerShdw>
                </a:effectLst>
                <a:ea typeface="楷体" pitchFamily="49" charset="-122"/>
              </a:rPr>
              <a:t>写</a:t>
            </a:r>
            <a:r>
              <a:rPr lang="en-US" altLang="zh-CN" sz="2000" b="1" dirty="0">
                <a:effectLst>
                  <a:outerShdw blurRad="38100" dist="38100" dir="2700000" algn="tl">
                    <a:srgbClr val="FFFFFF"/>
                  </a:outerShdw>
                </a:effectLst>
                <a:ea typeface="楷体" pitchFamily="49" charset="-122"/>
              </a:rPr>
              <a:t>1</a:t>
            </a:r>
            <a:r>
              <a:rPr lang="zh-CN" altLang="en-US" sz="2000" b="1" dirty="0">
                <a:effectLst>
                  <a:outerShdw blurRad="38100" dist="38100" dir="2700000" algn="tl">
                    <a:srgbClr val="FFFFFF"/>
                  </a:outerShdw>
                </a:effectLst>
                <a:ea typeface="楷体" pitchFamily="49" charset="-122"/>
              </a:rPr>
              <a:t>个（或多个）不含格式的数据时：选用</a:t>
            </a:r>
            <a:r>
              <a:rPr lang="en-US" altLang="zh-CN" sz="2000" b="1" dirty="0" err="1">
                <a:effectLst>
                  <a:outerShdw blurRad="38100" dist="38100" dir="2700000" algn="tl">
                    <a:srgbClr val="FFFFFF"/>
                  </a:outerShdw>
                </a:effectLst>
                <a:ea typeface="楷体" pitchFamily="49" charset="-122"/>
              </a:rPr>
              <a:t>fread</a:t>
            </a:r>
            <a:r>
              <a:rPr lang="en-US" altLang="zh-CN" sz="2000" b="1" dirty="0">
                <a:effectLst>
                  <a:outerShdw blurRad="38100" dist="38100" dir="2700000" algn="tl">
                    <a:srgbClr val="FFFFFF"/>
                  </a:outerShdw>
                </a:effectLst>
                <a:ea typeface="楷体" pitchFamily="49" charset="-122"/>
              </a:rPr>
              <a:t>( )</a:t>
            </a:r>
            <a:r>
              <a:rPr lang="zh-CN" altLang="en-US" sz="2000" b="1" dirty="0">
                <a:effectLst>
                  <a:outerShdw blurRad="38100" dist="38100" dir="2700000" algn="tl">
                    <a:srgbClr val="FFFFFF"/>
                  </a:outerShdw>
                </a:effectLst>
                <a:ea typeface="楷体" pitchFamily="49" charset="-122"/>
              </a:rPr>
              <a:t>和</a:t>
            </a:r>
            <a:r>
              <a:rPr lang="en-US" altLang="zh-CN" sz="2000" b="1" dirty="0" err="1">
                <a:effectLst>
                  <a:outerShdw blurRad="38100" dist="38100" dir="2700000" algn="tl">
                    <a:srgbClr val="FFFFFF"/>
                  </a:outerShdw>
                </a:effectLst>
                <a:ea typeface="楷体" pitchFamily="49" charset="-122"/>
              </a:rPr>
              <a:t>fwrite</a:t>
            </a:r>
            <a:r>
              <a:rPr lang="en-US" altLang="zh-CN" sz="2000" b="1" dirty="0">
                <a:effectLst>
                  <a:outerShdw blurRad="38100" dist="38100" dir="2700000" algn="tl">
                    <a:srgbClr val="FFFFFF"/>
                  </a:outerShdw>
                </a:effectLst>
                <a:ea typeface="楷体" pitchFamily="49" charset="-122"/>
              </a:rPr>
              <a:t>( )</a:t>
            </a:r>
            <a:r>
              <a:rPr lang="zh-CN" altLang="en-US" sz="2000" b="1" dirty="0">
                <a:effectLst>
                  <a:outerShdw blurRad="38100" dist="38100" dir="2700000" algn="tl">
                    <a:srgbClr val="FFFFFF"/>
                  </a:outerShdw>
                </a:effectLst>
                <a:ea typeface="楷体" pitchFamily="49" charset="-122"/>
              </a:rPr>
              <a:t>函数。</a:t>
            </a:r>
          </a:p>
          <a:p>
            <a:pPr>
              <a:lnSpc>
                <a:spcPts val="2800"/>
              </a:lnSpc>
              <a:buClr>
                <a:srgbClr val="CC0066"/>
              </a:buClr>
              <a:buFont typeface="Wingdings" pitchFamily="2" charset="2"/>
              <a:buChar char="Ø"/>
              <a:tabLst>
                <a:tab pos="457200" algn="l"/>
              </a:tabLst>
            </a:pPr>
            <a:r>
              <a:rPr lang="zh-CN" altLang="en-US" sz="2000" b="1" dirty="0">
                <a:effectLst>
                  <a:outerShdw blurRad="38100" dist="38100" dir="2700000" algn="tl">
                    <a:srgbClr val="FFFFFF"/>
                  </a:outerShdw>
                </a:effectLst>
                <a:ea typeface="楷体" pitchFamily="49" charset="-122"/>
              </a:rPr>
              <a:t> 读</a:t>
            </a:r>
            <a:r>
              <a:rPr lang="en-US" altLang="zh-CN" sz="2000" b="1" dirty="0">
                <a:effectLst>
                  <a:outerShdw blurRad="38100" dist="38100" dir="2700000" algn="tl">
                    <a:srgbClr val="FFFFFF"/>
                  </a:outerShdw>
                </a:effectLst>
                <a:ea typeface="楷体" pitchFamily="49" charset="-122"/>
              </a:rPr>
              <a:t>/</a:t>
            </a:r>
            <a:r>
              <a:rPr lang="zh-CN" altLang="en-US" sz="2000" b="1" dirty="0">
                <a:effectLst>
                  <a:outerShdw blurRad="38100" dist="38100" dir="2700000" algn="tl">
                    <a:srgbClr val="FFFFFF"/>
                  </a:outerShdw>
                </a:effectLst>
                <a:ea typeface="楷体" pitchFamily="49" charset="-122"/>
              </a:rPr>
              <a:t>写</a:t>
            </a:r>
            <a:r>
              <a:rPr lang="en-US" altLang="zh-CN" sz="2000" b="1" dirty="0">
                <a:effectLst>
                  <a:outerShdw blurRad="38100" dist="38100" dir="2700000" algn="tl">
                    <a:srgbClr val="FFFFFF"/>
                  </a:outerShdw>
                </a:effectLst>
                <a:ea typeface="楷体" pitchFamily="49" charset="-122"/>
              </a:rPr>
              <a:t>1</a:t>
            </a:r>
            <a:r>
              <a:rPr lang="zh-CN" altLang="en-US" sz="2000" b="1" dirty="0">
                <a:effectLst>
                  <a:outerShdw blurRad="38100" dist="38100" dir="2700000" algn="tl">
                    <a:srgbClr val="FFFFFF"/>
                  </a:outerShdw>
                </a:effectLst>
                <a:ea typeface="楷体" pitchFamily="49" charset="-122"/>
              </a:rPr>
              <a:t>个（或多个）含格式的数据时：选用</a:t>
            </a:r>
            <a:r>
              <a:rPr lang="en-US" altLang="zh-CN" sz="2000" b="1" dirty="0" err="1">
                <a:effectLst>
                  <a:outerShdw blurRad="38100" dist="38100" dir="2700000" algn="tl">
                    <a:srgbClr val="FFFFFF"/>
                  </a:outerShdw>
                </a:effectLst>
                <a:ea typeface="楷体" pitchFamily="49" charset="-122"/>
              </a:rPr>
              <a:t>fscanf</a:t>
            </a:r>
            <a:r>
              <a:rPr lang="en-US" altLang="zh-CN" sz="2000" b="1" dirty="0">
                <a:effectLst>
                  <a:outerShdw blurRad="38100" dist="38100" dir="2700000" algn="tl">
                    <a:srgbClr val="FFFFFF"/>
                  </a:outerShdw>
                </a:effectLst>
                <a:ea typeface="楷体" pitchFamily="49" charset="-122"/>
              </a:rPr>
              <a:t>( )</a:t>
            </a:r>
            <a:r>
              <a:rPr lang="zh-CN" altLang="en-US" sz="2000" b="1" dirty="0">
                <a:effectLst>
                  <a:outerShdw blurRad="38100" dist="38100" dir="2700000" algn="tl">
                    <a:srgbClr val="FFFFFF"/>
                  </a:outerShdw>
                </a:effectLst>
                <a:ea typeface="楷体" pitchFamily="49" charset="-122"/>
              </a:rPr>
              <a:t>和</a:t>
            </a:r>
            <a:r>
              <a:rPr lang="en-US" altLang="zh-CN" sz="2000" b="1" dirty="0" err="1">
                <a:effectLst>
                  <a:outerShdw blurRad="38100" dist="38100" dir="2700000" algn="tl">
                    <a:srgbClr val="FFFFFF"/>
                  </a:outerShdw>
                </a:effectLst>
                <a:ea typeface="楷体" pitchFamily="49" charset="-122"/>
              </a:rPr>
              <a:t>fprintf</a:t>
            </a:r>
            <a:r>
              <a:rPr lang="en-US" altLang="zh-CN" sz="2000" b="1" dirty="0">
                <a:effectLst>
                  <a:outerShdw blurRad="38100" dist="38100" dir="2700000" algn="tl">
                    <a:srgbClr val="FFFFFF"/>
                  </a:outerShdw>
                </a:effectLst>
                <a:ea typeface="楷体" pitchFamily="49" charset="-122"/>
              </a:rPr>
              <a:t>( )</a:t>
            </a:r>
            <a:r>
              <a:rPr lang="zh-CN" altLang="en-US" sz="2000" b="1" dirty="0">
                <a:effectLst>
                  <a:outerShdw blurRad="38100" dist="38100" dir="2700000" algn="tl">
                    <a:srgbClr val="FFFFFF"/>
                  </a:outerShdw>
                </a:effectLst>
                <a:ea typeface="楷体" pitchFamily="49" charset="-122"/>
              </a:rPr>
              <a:t>函数。</a:t>
            </a:r>
          </a:p>
        </p:txBody>
      </p:sp>
      <p:sp>
        <p:nvSpPr>
          <p:cNvPr id="1100813" name="Rectangle 13"/>
          <p:cNvSpPr>
            <a:spLocks noChangeArrowheads="1"/>
          </p:cNvSpPr>
          <p:nvPr/>
        </p:nvSpPr>
        <p:spPr bwMode="auto">
          <a:xfrm>
            <a:off x="1127448" y="2564904"/>
            <a:ext cx="10277642" cy="2098588"/>
          </a:xfrm>
          <a:prstGeom prst="rect">
            <a:avLst/>
          </a:prstGeom>
          <a:ln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scene3d>
            <a:camera prst="orthographicFront"/>
            <a:lightRig rig="threePt" dir="t"/>
          </a:scene3d>
          <a:sp3d>
            <a:bevelT w="114300" prst="hardEdge"/>
          </a:sp3d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square" anchor="ctr">
            <a:spAutoFit/>
          </a:bodyPr>
          <a:lstStyle/>
          <a:p>
            <a:pPr>
              <a:lnSpc>
                <a:spcPts val="3200"/>
              </a:lnSpc>
              <a:tabLst>
                <a:tab pos="457200" algn="l"/>
              </a:tabLst>
            </a:pPr>
            <a:r>
              <a:rPr lang="zh-CN" altLang="en-US" b="1" u="sng" dirty="0">
                <a:solidFill>
                  <a:srgbClr val="FF33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隶书" pitchFamily="49" charset="-122"/>
                <a:ea typeface="隶书" pitchFamily="49" charset="-122"/>
              </a:rPr>
              <a:t>对使用文件类型的要求：</a:t>
            </a:r>
          </a:p>
          <a:p>
            <a:pPr>
              <a:lnSpc>
                <a:spcPts val="3200"/>
              </a:lnSpc>
              <a:buClr>
                <a:srgbClr val="CC0066"/>
              </a:buClr>
              <a:buFont typeface="Wingdings" pitchFamily="2" charset="2"/>
              <a:buChar char="Ø"/>
              <a:tabLst>
                <a:tab pos="457200" algn="l"/>
              </a:tabLst>
            </a:pPr>
            <a:r>
              <a:rPr lang="zh-CN" altLang="en-US" sz="2000" b="1" dirty="0">
                <a:solidFill>
                  <a:schemeClr val="accent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楷体_GB2312" pitchFamily="49" charset="-122"/>
              </a:rPr>
              <a:t> </a:t>
            </a:r>
            <a:r>
              <a:rPr lang="en-US" altLang="zh-CN" sz="2000" b="1" dirty="0" err="1">
                <a:solidFill>
                  <a:schemeClr val="accent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楷体" pitchFamily="49" charset="-122"/>
              </a:rPr>
              <a:t>fgetc</a:t>
            </a:r>
            <a:r>
              <a:rPr lang="en-US" altLang="zh-CN" sz="2000" b="1" dirty="0">
                <a:solidFill>
                  <a:schemeClr val="accent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楷体" pitchFamily="49" charset="-122"/>
              </a:rPr>
              <a:t>( )</a:t>
            </a:r>
            <a:r>
              <a:rPr lang="zh-CN" altLang="en-US" sz="2000" b="1" dirty="0">
                <a:solidFill>
                  <a:schemeClr val="accent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楷体" pitchFamily="49" charset="-122"/>
              </a:rPr>
              <a:t>和</a:t>
            </a:r>
            <a:r>
              <a:rPr lang="en-US" altLang="zh-CN" sz="2000" b="1" dirty="0" err="1">
                <a:solidFill>
                  <a:schemeClr val="accent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楷体" pitchFamily="49" charset="-122"/>
              </a:rPr>
              <a:t>fputc</a:t>
            </a:r>
            <a:r>
              <a:rPr lang="en-US" altLang="zh-CN" sz="2000" b="1" dirty="0">
                <a:solidFill>
                  <a:schemeClr val="accent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楷体" pitchFamily="49" charset="-122"/>
              </a:rPr>
              <a:t>( )</a:t>
            </a:r>
            <a:r>
              <a:rPr lang="zh-CN" altLang="en-US" sz="2000" b="1" dirty="0">
                <a:solidFill>
                  <a:schemeClr val="accent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楷体" pitchFamily="49" charset="-122"/>
              </a:rPr>
              <a:t>：</a:t>
            </a:r>
            <a:r>
              <a:rPr lang="zh-CN" altLang="en-US" sz="2000" b="1" dirty="0">
                <a:effectLst>
                  <a:outerShdw blurRad="38100" dist="38100" dir="2700000" algn="tl">
                    <a:srgbClr val="FFFFFF"/>
                  </a:outerShdw>
                </a:effectLst>
                <a:ea typeface="楷体" pitchFamily="49" charset="-122"/>
              </a:rPr>
              <a:t>主要对文本文件进行读写，但也可对二进制文件进行读写；</a:t>
            </a:r>
          </a:p>
          <a:p>
            <a:pPr>
              <a:lnSpc>
                <a:spcPts val="3200"/>
              </a:lnSpc>
              <a:buClr>
                <a:srgbClr val="CC0066"/>
              </a:buClr>
              <a:buFont typeface="Wingdings" pitchFamily="2" charset="2"/>
              <a:buChar char="Ø"/>
              <a:tabLst>
                <a:tab pos="457200" algn="l"/>
              </a:tabLst>
            </a:pPr>
            <a:r>
              <a:rPr lang="zh-CN" altLang="en-US" sz="2000" b="1" dirty="0">
                <a:solidFill>
                  <a:schemeClr val="accent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楷体" pitchFamily="49" charset="-122"/>
              </a:rPr>
              <a:t> </a:t>
            </a:r>
            <a:r>
              <a:rPr lang="en-US" altLang="zh-CN" sz="2000" b="1" dirty="0" err="1">
                <a:solidFill>
                  <a:schemeClr val="accent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楷体" pitchFamily="49" charset="-122"/>
              </a:rPr>
              <a:t>fgets</a:t>
            </a:r>
            <a:r>
              <a:rPr lang="en-US" altLang="zh-CN" sz="2000" b="1" dirty="0">
                <a:solidFill>
                  <a:schemeClr val="accent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楷体" pitchFamily="49" charset="-122"/>
              </a:rPr>
              <a:t>( )</a:t>
            </a:r>
            <a:r>
              <a:rPr lang="zh-CN" altLang="en-US" sz="2000" b="1" dirty="0">
                <a:solidFill>
                  <a:schemeClr val="accent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楷体" pitchFamily="49" charset="-122"/>
              </a:rPr>
              <a:t>和</a:t>
            </a:r>
            <a:r>
              <a:rPr lang="en-US" altLang="zh-CN" sz="2000" b="1" dirty="0" err="1">
                <a:solidFill>
                  <a:schemeClr val="accent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楷体" pitchFamily="49" charset="-122"/>
              </a:rPr>
              <a:t>fputs</a:t>
            </a:r>
            <a:r>
              <a:rPr lang="en-US" altLang="zh-CN" sz="2000" b="1" dirty="0">
                <a:solidFill>
                  <a:schemeClr val="accent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楷体" pitchFamily="49" charset="-122"/>
              </a:rPr>
              <a:t>( )</a:t>
            </a:r>
            <a:r>
              <a:rPr lang="zh-CN" altLang="en-US" sz="2000" b="1" dirty="0">
                <a:solidFill>
                  <a:schemeClr val="accent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楷体" pitchFamily="49" charset="-122"/>
              </a:rPr>
              <a:t>：</a:t>
            </a:r>
            <a:r>
              <a:rPr lang="zh-CN" altLang="en-US" sz="2000" b="1" dirty="0">
                <a:effectLst>
                  <a:outerShdw blurRad="38100" dist="38100" dir="2700000" algn="tl">
                    <a:srgbClr val="FFFFFF"/>
                  </a:outerShdw>
                </a:effectLst>
                <a:ea typeface="楷体" pitchFamily="49" charset="-122"/>
              </a:rPr>
              <a:t>主要对文本文件进行读写，对二进制文件操作无意义；</a:t>
            </a:r>
          </a:p>
          <a:p>
            <a:pPr>
              <a:lnSpc>
                <a:spcPts val="3200"/>
              </a:lnSpc>
              <a:buClr>
                <a:srgbClr val="CC0066"/>
              </a:buClr>
              <a:buFont typeface="Wingdings" pitchFamily="2" charset="2"/>
              <a:buChar char="Ø"/>
              <a:tabLst>
                <a:tab pos="457200" algn="l"/>
              </a:tabLst>
            </a:pPr>
            <a:r>
              <a:rPr lang="zh-CN" altLang="en-US" sz="2000" b="1" dirty="0">
                <a:solidFill>
                  <a:schemeClr val="accent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楷体" pitchFamily="49" charset="-122"/>
              </a:rPr>
              <a:t> </a:t>
            </a:r>
            <a:r>
              <a:rPr lang="en-US" altLang="zh-CN" sz="2000" b="1" dirty="0" err="1">
                <a:solidFill>
                  <a:schemeClr val="accent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楷体" pitchFamily="49" charset="-122"/>
              </a:rPr>
              <a:t>fread</a:t>
            </a:r>
            <a:r>
              <a:rPr lang="en-US" altLang="zh-CN" sz="2000" b="1" dirty="0">
                <a:solidFill>
                  <a:schemeClr val="accent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楷体" pitchFamily="49" charset="-122"/>
              </a:rPr>
              <a:t>( )</a:t>
            </a:r>
            <a:r>
              <a:rPr lang="zh-CN" altLang="en-US" sz="2000" b="1" dirty="0">
                <a:solidFill>
                  <a:schemeClr val="accent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楷体" pitchFamily="49" charset="-122"/>
              </a:rPr>
              <a:t>和</a:t>
            </a:r>
            <a:r>
              <a:rPr lang="en-US" altLang="zh-CN" sz="2000" b="1" dirty="0" err="1">
                <a:solidFill>
                  <a:schemeClr val="accent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楷体" pitchFamily="49" charset="-122"/>
              </a:rPr>
              <a:t>fwrite</a:t>
            </a:r>
            <a:r>
              <a:rPr lang="en-US" altLang="zh-CN" sz="2000" b="1" dirty="0">
                <a:solidFill>
                  <a:schemeClr val="accent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楷体" pitchFamily="49" charset="-122"/>
              </a:rPr>
              <a:t>( )</a:t>
            </a:r>
            <a:r>
              <a:rPr lang="zh-CN" altLang="en-US" sz="2000" b="1" dirty="0">
                <a:solidFill>
                  <a:schemeClr val="accent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楷体" pitchFamily="49" charset="-122"/>
              </a:rPr>
              <a:t>：</a:t>
            </a:r>
            <a:r>
              <a:rPr lang="zh-CN" altLang="en-US" sz="2000" b="1" dirty="0">
                <a:effectLst>
                  <a:outerShdw blurRad="38100" dist="38100" dir="2700000" algn="tl">
                    <a:srgbClr val="FFFFFF"/>
                  </a:outerShdw>
                </a:effectLst>
                <a:ea typeface="楷体" pitchFamily="49" charset="-122"/>
              </a:rPr>
              <a:t>主要对二进制文件进行读写，但也可对文本文件进行读写；</a:t>
            </a:r>
          </a:p>
          <a:p>
            <a:pPr>
              <a:lnSpc>
                <a:spcPts val="3200"/>
              </a:lnSpc>
              <a:buClr>
                <a:srgbClr val="CC0066"/>
              </a:buClr>
              <a:buFont typeface="Wingdings" pitchFamily="2" charset="2"/>
              <a:buChar char="Ø"/>
              <a:tabLst>
                <a:tab pos="457200" algn="l"/>
              </a:tabLst>
            </a:pPr>
            <a:r>
              <a:rPr lang="zh-CN" altLang="en-US" sz="2000" b="1" dirty="0">
                <a:solidFill>
                  <a:schemeClr val="accent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楷体" pitchFamily="49" charset="-122"/>
              </a:rPr>
              <a:t> </a:t>
            </a:r>
            <a:r>
              <a:rPr lang="en-US" altLang="zh-CN" sz="2000" b="1" dirty="0" err="1">
                <a:solidFill>
                  <a:schemeClr val="accent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楷体" pitchFamily="49" charset="-122"/>
              </a:rPr>
              <a:t>fscanf</a:t>
            </a:r>
            <a:r>
              <a:rPr lang="en-US" altLang="zh-CN" sz="2000" b="1" dirty="0">
                <a:solidFill>
                  <a:schemeClr val="accent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楷体" pitchFamily="49" charset="-122"/>
              </a:rPr>
              <a:t>( )</a:t>
            </a:r>
            <a:r>
              <a:rPr lang="zh-CN" altLang="en-US" sz="2000" b="1" dirty="0">
                <a:solidFill>
                  <a:schemeClr val="accent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楷体" pitchFamily="49" charset="-122"/>
              </a:rPr>
              <a:t>和</a:t>
            </a:r>
            <a:r>
              <a:rPr lang="en-US" altLang="zh-CN" sz="2000" b="1" dirty="0" err="1">
                <a:solidFill>
                  <a:schemeClr val="accent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楷体" pitchFamily="49" charset="-122"/>
              </a:rPr>
              <a:t>fprintf</a:t>
            </a:r>
            <a:r>
              <a:rPr lang="en-US" altLang="zh-CN" sz="2000" b="1" dirty="0">
                <a:solidFill>
                  <a:schemeClr val="accent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楷体" pitchFamily="49" charset="-122"/>
              </a:rPr>
              <a:t>( )</a:t>
            </a:r>
            <a:r>
              <a:rPr lang="zh-CN" altLang="en-US" sz="2000" b="1" dirty="0">
                <a:solidFill>
                  <a:schemeClr val="accent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楷体" pitchFamily="49" charset="-122"/>
              </a:rPr>
              <a:t>：</a:t>
            </a:r>
            <a:r>
              <a:rPr lang="zh-CN" altLang="en-US" sz="2000" b="1" dirty="0">
                <a:effectLst>
                  <a:outerShdw blurRad="38100" dist="38100" dir="2700000" algn="tl">
                    <a:srgbClr val="FFFFFF"/>
                  </a:outerShdw>
                </a:effectLst>
                <a:ea typeface="楷体" pitchFamily="49" charset="-122"/>
              </a:rPr>
              <a:t>主要对文本文件进行读写，对二进制文件操作无意义。</a:t>
            </a:r>
          </a:p>
        </p:txBody>
      </p:sp>
      <p:grpSp>
        <p:nvGrpSpPr>
          <p:cNvPr id="1100814" name="Group 14"/>
          <p:cNvGrpSpPr>
            <a:grpSpLocks/>
          </p:cNvGrpSpPr>
          <p:nvPr/>
        </p:nvGrpSpPr>
        <p:grpSpPr bwMode="auto">
          <a:xfrm>
            <a:off x="-9822" y="0"/>
            <a:ext cx="446088" cy="6858000"/>
            <a:chOff x="0" y="0"/>
            <a:chExt cx="281" cy="4320"/>
          </a:xfrm>
        </p:grpSpPr>
        <p:sp>
          <p:nvSpPr>
            <p:cNvPr id="1100815" name="Text Box 15"/>
            <p:cNvSpPr txBox="1">
              <a:spLocks noChangeArrowheads="1"/>
            </p:cNvSpPr>
            <p:nvPr/>
          </p:nvSpPr>
          <p:spPr bwMode="auto">
            <a:xfrm>
              <a:off x="0" y="0"/>
              <a:ext cx="281" cy="4320"/>
            </a:xfrm>
            <a:prstGeom prst="rect">
              <a:avLst/>
            </a:prstGeom>
            <a:gradFill rotWithShape="0">
              <a:gsLst>
                <a:gs pos="0">
                  <a:schemeClr val="hlink">
                    <a:gamma/>
                    <a:shade val="60784"/>
                    <a:invGamma/>
                  </a:schemeClr>
                </a:gs>
                <a:gs pos="50000">
                  <a:schemeClr val="hlink"/>
                </a:gs>
                <a:gs pos="100000">
                  <a:schemeClr val="hlink">
                    <a:gamma/>
                    <a:shade val="60784"/>
                    <a:invGamma/>
                  </a:schemeClr>
                </a:gs>
              </a:gsLst>
              <a:lin ang="0" scaled="1"/>
            </a:gradFill>
            <a:ln w="9525">
              <a:noFill/>
              <a:miter lim="800000"/>
              <a:headEnd/>
              <a:tailEnd/>
            </a:ln>
            <a:effectLst/>
          </p:spPr>
          <p:txBody>
            <a:bodyPr/>
            <a:lstStyle/>
            <a:p>
              <a:pPr eaLnBrk="0" hangingPunct="0">
                <a:spcBef>
                  <a:spcPct val="50000"/>
                </a:spcBef>
              </a:pPr>
              <a:endParaRPr lang="en-US" altLang="zh-CN" sz="1800" dirty="0">
                <a:solidFill>
                  <a:srgbClr val="3333CC"/>
                </a:solidFill>
                <a:latin typeface="Verdana" pitchFamily="34" charset="0"/>
              </a:endParaRPr>
            </a:p>
            <a:p>
              <a:pPr eaLnBrk="0" hangingPunct="0">
                <a:spcBef>
                  <a:spcPct val="50000"/>
                </a:spcBef>
              </a:pPr>
              <a:r>
                <a:rPr lang="zh-CN" altLang="en-US" sz="1600" b="1" dirty="0">
                  <a:solidFill>
                    <a:srgbClr val="3333CC"/>
                  </a:solidFill>
                  <a:latin typeface="Verdana" pitchFamily="34" charset="0"/>
                </a:rPr>
                <a:t>语言程序设计教程       </a:t>
              </a:r>
            </a:p>
            <a:p>
              <a:pPr eaLnBrk="0" hangingPunct="0">
                <a:spcBef>
                  <a:spcPct val="50000"/>
                </a:spcBef>
              </a:pPr>
              <a:r>
                <a:rPr lang="zh-CN" altLang="en-US" sz="1600" b="1" dirty="0">
                  <a:solidFill>
                    <a:srgbClr val="3333CC"/>
                  </a:solidFill>
                  <a:latin typeface="Verdana" pitchFamily="34" charset="0"/>
                </a:rPr>
                <a:t>第三版</a:t>
              </a:r>
            </a:p>
            <a:p>
              <a:pPr eaLnBrk="0" hangingPunct="0">
                <a:spcBef>
                  <a:spcPct val="50000"/>
                </a:spcBef>
              </a:pPr>
              <a:endParaRPr lang="zh-CN" altLang="en-US" sz="1600" b="1" dirty="0">
                <a:solidFill>
                  <a:srgbClr val="3333CC"/>
                </a:solidFill>
                <a:latin typeface="Verdana" pitchFamily="34" charset="0"/>
              </a:endParaRPr>
            </a:p>
            <a:p>
              <a:pPr eaLnBrk="0" hangingPunct="0">
                <a:spcBef>
                  <a:spcPct val="50000"/>
                </a:spcBef>
              </a:pPr>
              <a:endParaRPr lang="zh-CN" altLang="en-US" sz="1600" b="1" dirty="0">
                <a:solidFill>
                  <a:srgbClr val="3333CC"/>
                </a:solidFill>
                <a:latin typeface="Verdana" pitchFamily="34" charset="0"/>
              </a:endParaRPr>
            </a:p>
            <a:p>
              <a:pPr eaLnBrk="0" hangingPunct="0">
                <a:spcBef>
                  <a:spcPct val="50000"/>
                </a:spcBef>
              </a:pPr>
              <a:r>
                <a:rPr lang="zh-CN" altLang="en-US" sz="1600" b="1" dirty="0">
                  <a:solidFill>
                    <a:srgbClr val="3333CC"/>
                  </a:solidFill>
                  <a:latin typeface="Verdana" pitchFamily="34" charset="0"/>
                </a:rPr>
                <a:t>第十</a:t>
              </a:r>
            </a:p>
            <a:p>
              <a:pPr eaLnBrk="0" hangingPunct="0">
                <a:spcBef>
                  <a:spcPct val="50000"/>
                </a:spcBef>
              </a:pPr>
              <a:r>
                <a:rPr lang="zh-CN" altLang="en-US" sz="1600" b="1" dirty="0">
                  <a:solidFill>
                    <a:srgbClr val="3333CC"/>
                  </a:solidFill>
                  <a:latin typeface="Verdana" pitchFamily="34" charset="0"/>
                </a:rPr>
                <a:t>二章 </a:t>
              </a:r>
            </a:p>
            <a:p>
              <a:pPr eaLnBrk="0" hangingPunct="0">
                <a:spcBef>
                  <a:spcPct val="50000"/>
                </a:spcBef>
              </a:pPr>
              <a:endParaRPr lang="zh-CN" altLang="en-US" sz="1600" b="1" dirty="0">
                <a:solidFill>
                  <a:srgbClr val="3333CC"/>
                </a:solidFill>
                <a:latin typeface="Verdana" pitchFamily="34" charset="0"/>
              </a:endParaRPr>
            </a:p>
            <a:p>
              <a:pPr eaLnBrk="0" hangingPunct="0">
                <a:spcBef>
                  <a:spcPct val="50000"/>
                </a:spcBef>
              </a:pPr>
              <a:r>
                <a:rPr lang="zh-CN" altLang="en-US" sz="1600" b="1" dirty="0">
                  <a:solidFill>
                    <a:srgbClr val="3333CC"/>
                  </a:solidFill>
                  <a:latin typeface="Verdana" pitchFamily="34" charset="0"/>
                </a:rPr>
                <a:t>文</a:t>
              </a:r>
            </a:p>
            <a:p>
              <a:pPr eaLnBrk="0" hangingPunct="0">
                <a:spcBef>
                  <a:spcPct val="50000"/>
                </a:spcBef>
              </a:pPr>
              <a:endParaRPr lang="zh-CN" altLang="en-US" sz="1600" b="1" dirty="0">
                <a:solidFill>
                  <a:srgbClr val="3333CC"/>
                </a:solidFill>
                <a:latin typeface="Verdana" pitchFamily="34" charset="0"/>
              </a:endParaRPr>
            </a:p>
            <a:p>
              <a:pPr eaLnBrk="0" hangingPunct="0">
                <a:spcBef>
                  <a:spcPct val="50000"/>
                </a:spcBef>
              </a:pPr>
              <a:r>
                <a:rPr lang="zh-CN" altLang="en-US" sz="1600" b="1" dirty="0">
                  <a:solidFill>
                    <a:srgbClr val="3333CC"/>
                  </a:solidFill>
                  <a:latin typeface="Verdana" pitchFamily="34" charset="0"/>
                </a:rPr>
                <a:t>件</a:t>
              </a:r>
            </a:p>
          </p:txBody>
        </p:sp>
        <p:sp>
          <p:nvSpPr>
            <p:cNvPr id="1100816" name="Text Box 16"/>
            <p:cNvSpPr txBox="1">
              <a:spLocks noChangeArrowheads="1"/>
            </p:cNvSpPr>
            <p:nvPr/>
          </p:nvSpPr>
          <p:spPr bwMode="auto">
            <a:xfrm>
              <a:off x="0" y="0"/>
              <a:ext cx="281" cy="231"/>
            </a:xfrm>
            <a:prstGeom prst="rect">
              <a:avLst/>
            </a:prstGeom>
            <a:gradFill rotWithShape="0">
              <a:gsLst>
                <a:gs pos="0">
                  <a:schemeClr val="hlink">
                    <a:gamma/>
                    <a:shade val="46275"/>
                    <a:invGamma/>
                  </a:schemeClr>
                </a:gs>
                <a:gs pos="50000">
                  <a:schemeClr val="hlink"/>
                </a:gs>
                <a:gs pos="100000">
                  <a:schemeClr val="hlink">
                    <a:gamma/>
                    <a:shade val="46275"/>
                    <a:invGamma/>
                  </a:schemeClr>
                </a:gs>
              </a:gsLst>
              <a:lin ang="0" scaled="1"/>
            </a:gradFill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eaLnBrk="0" hangingPunct="0">
                <a:spcBef>
                  <a:spcPct val="50000"/>
                </a:spcBef>
              </a:pPr>
              <a:r>
                <a:rPr lang="en-US" altLang="zh-CN" sz="1800" b="1">
                  <a:solidFill>
                    <a:srgbClr val="0000FF"/>
                  </a:solidFill>
                  <a:latin typeface="Arial" pitchFamily="34" charset="0"/>
                </a:rPr>
                <a:t>C</a:t>
              </a:r>
            </a:p>
          </p:txBody>
        </p:sp>
      </p:grpSp>
    </p:spTree>
  </p:cSld>
  <p:clrMapOvr>
    <a:masterClrMapping/>
  </p:clrMapOvr>
  <p:transition>
    <p:cover/>
    <p:sndAc>
      <p:stSnd>
        <p:snd r:embed="rId3" name="CAMER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08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7" dur="500"/>
                                        <p:tgtEl>
                                          <p:spTgt spid="1100812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08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2" dur="500"/>
                                        <p:tgtEl>
                                          <p:spTgt spid="1100813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00812" grpId="0" animBg="1"/>
      <p:bldP spid="1100813" grpId="0" animBg="1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2853" name="Rectangle 5"/>
          <p:cNvSpPr>
            <a:spLocks noChangeArrowheads="1"/>
          </p:cNvSpPr>
          <p:nvPr/>
        </p:nvSpPr>
        <p:spPr bwMode="auto">
          <a:xfrm>
            <a:off x="487066" y="42622"/>
            <a:ext cx="4064000" cy="5794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r>
              <a:rPr lang="en-US" altLang="zh-CN" sz="3200" b="1" dirty="0">
                <a:solidFill>
                  <a:srgbClr val="FF33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隶书" pitchFamily="49" charset="-122"/>
                <a:ea typeface="隶书" pitchFamily="49" charset="-122"/>
              </a:rPr>
              <a:t>12.6 </a:t>
            </a:r>
            <a:r>
              <a:rPr lang="zh-CN" altLang="en-US" sz="3200" b="1" dirty="0">
                <a:solidFill>
                  <a:srgbClr val="FF33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隶书" pitchFamily="49" charset="-122"/>
                <a:ea typeface="隶书" pitchFamily="49" charset="-122"/>
              </a:rPr>
              <a:t>文件的定位读写</a:t>
            </a:r>
          </a:p>
        </p:txBody>
      </p:sp>
      <p:sp>
        <p:nvSpPr>
          <p:cNvPr id="1102856" name="Rectangle 8"/>
          <p:cNvSpPr>
            <a:spLocks noChangeArrowheads="1"/>
          </p:cNvSpPr>
          <p:nvPr/>
        </p:nvSpPr>
        <p:spPr bwMode="auto">
          <a:xfrm>
            <a:off x="747416" y="692696"/>
            <a:ext cx="2590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marL="0" lvl="1">
              <a:buFont typeface="Wingdings" pitchFamily="2" charset="2"/>
              <a:buChar char="Ø"/>
            </a:pPr>
            <a:r>
              <a:rPr lang="zh-CN" altLang="en-US" b="1" dirty="0">
                <a:solidFill>
                  <a:srgbClr val="FF33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楷体" pitchFamily="49" charset="-122"/>
              </a:rPr>
              <a:t>几个概念</a:t>
            </a:r>
          </a:p>
        </p:txBody>
      </p:sp>
      <p:sp>
        <p:nvSpPr>
          <p:cNvPr id="1102857" name="Rectangle 9"/>
          <p:cNvSpPr>
            <a:spLocks noChangeArrowheads="1"/>
          </p:cNvSpPr>
          <p:nvPr/>
        </p:nvSpPr>
        <p:spPr bwMode="auto">
          <a:xfrm>
            <a:off x="529730" y="1111797"/>
            <a:ext cx="8064896" cy="8309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lvl="1">
              <a:buClr>
                <a:srgbClr val="0000FF"/>
              </a:buClr>
              <a:buFont typeface="Wingdings" pitchFamily="2" charset="2"/>
              <a:buChar char="l"/>
            </a:pPr>
            <a:r>
              <a:rPr lang="en-US" altLang="zh-CN" b="1" dirty="0">
                <a:effectLst>
                  <a:outerShdw blurRad="38100" dist="38100" dir="2700000" algn="tl">
                    <a:srgbClr val="FFFFFF"/>
                  </a:outerShdw>
                </a:effectLst>
                <a:latin typeface="楷体_GB2312" pitchFamily="49" charset="-122"/>
                <a:ea typeface="楷体_GB2312" pitchFamily="49" charset="-122"/>
              </a:rPr>
              <a:t> </a:t>
            </a:r>
            <a:r>
              <a:rPr lang="zh-CN" altLang="en-US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隶书" pitchFamily="49" charset="-122"/>
                <a:ea typeface="隶书" pitchFamily="49" charset="-122"/>
              </a:rPr>
              <a:t>文件位置指针</a:t>
            </a:r>
            <a:r>
              <a:rPr lang="en-US" altLang="zh-CN" b="1" dirty="0">
                <a:effectLst>
                  <a:outerShdw blurRad="38100" dist="38100" dir="2700000" algn="tl">
                    <a:srgbClr val="FFFFFF"/>
                  </a:outerShdw>
                </a:effectLst>
                <a:latin typeface="楷体_GB2312" pitchFamily="49" charset="-122"/>
                <a:ea typeface="楷体_GB2312" pitchFamily="49" charset="-122"/>
              </a:rPr>
              <a:t>-----</a:t>
            </a:r>
            <a:r>
              <a:rPr lang="zh-CN" altLang="en-US" b="1" dirty="0">
                <a:effectLst>
                  <a:outerShdw blurRad="38100" dist="38100" dir="2700000" algn="tl">
                    <a:srgbClr val="FFFFFF"/>
                  </a:outerShdw>
                </a:effectLst>
                <a:latin typeface="+mn-lt"/>
                <a:ea typeface="楷体" pitchFamily="49" charset="-122"/>
              </a:rPr>
              <a:t>指向当前读写位置的指针</a:t>
            </a:r>
          </a:p>
          <a:p>
            <a:pPr lvl="1">
              <a:buClr>
                <a:srgbClr val="0000FF"/>
              </a:buClr>
              <a:buFont typeface="Wingdings" pitchFamily="2" charset="2"/>
              <a:buChar char="l"/>
            </a:pPr>
            <a:r>
              <a:rPr lang="zh-CN" altLang="en-US" b="1" dirty="0">
                <a:effectLst>
                  <a:outerShdw blurRad="38100" dist="38100" dir="2700000" algn="tl">
                    <a:srgbClr val="FFFFFF"/>
                  </a:outerShdw>
                </a:effectLst>
                <a:latin typeface="楷体_GB2312" pitchFamily="49" charset="-122"/>
                <a:ea typeface="楷体_GB2312" pitchFamily="49" charset="-122"/>
              </a:rPr>
              <a:t> </a:t>
            </a:r>
            <a:r>
              <a:rPr lang="zh-CN" altLang="en-US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隶书" pitchFamily="49" charset="-122"/>
                <a:ea typeface="隶书" pitchFamily="49" charset="-122"/>
              </a:rPr>
              <a:t>读写方式</a:t>
            </a:r>
          </a:p>
        </p:txBody>
      </p:sp>
      <p:sp>
        <p:nvSpPr>
          <p:cNvPr id="1102858" name="Rectangle 10"/>
          <p:cNvSpPr>
            <a:spLocks noChangeArrowheads="1"/>
          </p:cNvSpPr>
          <p:nvPr/>
        </p:nvSpPr>
        <p:spPr bwMode="auto">
          <a:xfrm>
            <a:off x="1394298" y="1889672"/>
            <a:ext cx="7272337" cy="8309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zh-CN" altLang="en-US" b="1" dirty="0">
                <a:effectLst>
                  <a:outerShdw blurRad="38100" dist="38100" dir="2700000" algn="tl">
                    <a:srgbClr val="FFFFFF"/>
                  </a:outerShdw>
                </a:effectLst>
                <a:latin typeface="+mn-lt"/>
                <a:ea typeface="楷体" pitchFamily="49" charset="-122"/>
              </a:rPr>
              <a:t>顺序读写：位置指针按字节位置顺序移动</a:t>
            </a:r>
          </a:p>
          <a:p>
            <a:r>
              <a:rPr lang="zh-CN" altLang="en-US" b="1" dirty="0">
                <a:effectLst>
                  <a:outerShdw blurRad="38100" dist="38100" dir="2700000" algn="tl">
                    <a:srgbClr val="FFFFFF"/>
                  </a:outerShdw>
                </a:effectLst>
                <a:latin typeface="+mn-lt"/>
                <a:ea typeface="楷体" pitchFamily="49" charset="-122"/>
              </a:rPr>
              <a:t>随机读写：位置指针按需要移动到任意位置</a:t>
            </a:r>
          </a:p>
        </p:txBody>
      </p:sp>
      <p:sp>
        <p:nvSpPr>
          <p:cNvPr id="1102859" name="Rectangle 11"/>
          <p:cNvSpPr>
            <a:spLocks noChangeArrowheads="1"/>
          </p:cNvSpPr>
          <p:nvPr/>
        </p:nvSpPr>
        <p:spPr bwMode="auto">
          <a:xfrm>
            <a:off x="753132" y="2781755"/>
            <a:ext cx="1800225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>
            <a:spAutoFit/>
          </a:bodyPr>
          <a:lstStyle/>
          <a:p>
            <a:pPr>
              <a:buFont typeface="Wingdings" pitchFamily="2" charset="2"/>
              <a:buChar char="Ø"/>
              <a:tabLst>
                <a:tab pos="496888" algn="l"/>
              </a:tabLst>
            </a:pPr>
            <a:r>
              <a:rPr lang="en-US" altLang="zh-CN" b="1" dirty="0">
                <a:solidFill>
                  <a:srgbClr val="FF33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楷体_GB2312" pitchFamily="49" charset="-122"/>
              </a:rPr>
              <a:t> rewind</a:t>
            </a:r>
          </a:p>
        </p:txBody>
      </p:sp>
      <p:sp>
        <p:nvSpPr>
          <p:cNvPr id="1102860" name="Rectangle 12"/>
          <p:cNvSpPr>
            <a:spLocks noChangeArrowheads="1"/>
          </p:cNvSpPr>
          <p:nvPr/>
        </p:nvSpPr>
        <p:spPr bwMode="auto">
          <a:xfrm>
            <a:off x="994862" y="3199267"/>
            <a:ext cx="2160587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buClr>
                <a:srgbClr val="339933"/>
              </a:buClr>
              <a:buFont typeface="Wingdings" pitchFamily="2" charset="2"/>
              <a:buChar char="l"/>
            </a:pPr>
            <a:r>
              <a:rPr lang="en-US" altLang="zh-CN" b="1" dirty="0">
                <a:effectLst>
                  <a:outerShdw blurRad="38100" dist="38100" dir="2700000" algn="tl">
                    <a:srgbClr val="FFFFFF"/>
                  </a:outerShdw>
                </a:effectLst>
                <a:latin typeface="+mn-lt"/>
                <a:ea typeface="楷体" pitchFamily="49" charset="-122"/>
              </a:rPr>
              <a:t> </a:t>
            </a:r>
            <a:r>
              <a:rPr lang="zh-CN" altLang="zh-CN" b="1" dirty="0">
                <a:effectLst>
                  <a:outerShdw blurRad="38100" dist="38100" dir="2700000" algn="tl">
                    <a:srgbClr val="FFFFFF"/>
                  </a:outerShdw>
                </a:effectLst>
                <a:latin typeface="+mn-lt"/>
                <a:ea typeface="楷体" pitchFamily="49" charset="-122"/>
              </a:rPr>
              <a:t>函数原形：         </a:t>
            </a:r>
            <a:endParaRPr lang="zh-CN" altLang="en-US" b="1" dirty="0">
              <a:solidFill>
                <a:srgbClr val="D60093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+mn-lt"/>
              <a:ea typeface="楷体" pitchFamily="49" charset="-122"/>
            </a:endParaRPr>
          </a:p>
        </p:txBody>
      </p:sp>
      <p:sp>
        <p:nvSpPr>
          <p:cNvPr id="1102861" name="Text Box 13"/>
          <p:cNvSpPr txBox="1">
            <a:spLocks noChangeArrowheads="1"/>
          </p:cNvSpPr>
          <p:nvPr/>
        </p:nvSpPr>
        <p:spPr bwMode="auto">
          <a:xfrm>
            <a:off x="3020717" y="3227842"/>
            <a:ext cx="7395763" cy="431800"/>
          </a:xfrm>
          <a:prstGeom prst="rect">
            <a:avLst/>
          </a:prstGeom>
          <a:gradFill rotWithShape="1">
            <a:gsLst>
              <a:gs pos="0">
                <a:srgbClr val="FFFF99"/>
              </a:gs>
              <a:gs pos="100000">
                <a:srgbClr val="FFFF99">
                  <a:gamma/>
                  <a:shade val="75686"/>
                  <a:invGamma/>
                </a:srgbClr>
              </a:gs>
            </a:gsLst>
            <a:lin ang="5400000" scaled="1"/>
          </a:gradFill>
          <a:ln w="38100">
            <a:solidFill>
              <a:srgbClr val="0000FF"/>
            </a:solidFill>
            <a:miter lim="800000"/>
            <a:headEnd/>
            <a:tailEnd/>
          </a:ln>
          <a:effectLst>
            <a:outerShdw blurRad="50800" dist="106680" dir="2700000" algn="tl" rotWithShape="0">
              <a:prstClr val="black">
                <a:alpha val="43000"/>
              </a:prstClr>
            </a:outerShdw>
          </a:effectLst>
          <a:scene3d>
            <a:camera prst="orthographicFront"/>
            <a:lightRig rig="threePt" dir="t"/>
          </a:scene3d>
          <a:sp3d>
            <a:bevelT w="114300" prst="hardEdge"/>
          </a:sp3d>
        </p:spPr>
        <p:txBody>
          <a:bodyPr/>
          <a:lstStyle/>
          <a:p>
            <a:pPr algn="ctr"/>
            <a:r>
              <a:rPr lang="en-US" altLang="zh-CN" sz="2000" b="1">
                <a:effectLst>
                  <a:outerShdw blurRad="38100" dist="38100" dir="2700000" algn="tl">
                    <a:srgbClr val="FFFFFF"/>
                  </a:outerShdw>
                </a:effectLst>
              </a:rPr>
              <a:t>void rewind (FILE *filepointer);</a:t>
            </a:r>
          </a:p>
        </p:txBody>
      </p:sp>
      <p:sp>
        <p:nvSpPr>
          <p:cNvPr id="1102862" name="Rectangle 14"/>
          <p:cNvSpPr>
            <a:spLocks noChangeArrowheads="1"/>
          </p:cNvSpPr>
          <p:nvPr/>
        </p:nvSpPr>
        <p:spPr bwMode="auto">
          <a:xfrm>
            <a:off x="994862" y="3750131"/>
            <a:ext cx="10390407" cy="8309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buClr>
                <a:srgbClr val="339933"/>
              </a:buClr>
              <a:buFont typeface="Wingdings" pitchFamily="2" charset="2"/>
              <a:buChar char="l"/>
            </a:pPr>
            <a:r>
              <a:rPr lang="en-US" altLang="zh-CN" b="1" dirty="0">
                <a:effectLst>
                  <a:outerShdw blurRad="38100" dist="38100" dir="2700000" algn="tl">
                    <a:srgbClr val="FFFFFF"/>
                  </a:outerShdw>
                </a:effectLst>
                <a:latin typeface="+mn-lt"/>
                <a:ea typeface="楷体" pitchFamily="49" charset="-122"/>
              </a:rPr>
              <a:t> </a:t>
            </a:r>
            <a:r>
              <a:rPr lang="zh-CN" altLang="en-US" b="1" dirty="0">
                <a:effectLst>
                  <a:outerShdw blurRad="38100" dist="38100" dir="2700000" algn="tl">
                    <a:srgbClr val="FFFFFF"/>
                  </a:outerShdw>
                </a:effectLst>
                <a:latin typeface="+mn-lt"/>
                <a:ea typeface="楷体" pitchFamily="49" charset="-122"/>
              </a:rPr>
              <a:t>功能：将</a:t>
            </a:r>
            <a:r>
              <a:rPr lang="en-US" altLang="zh-CN" b="1" dirty="0" err="1">
                <a:effectLst>
                  <a:outerShdw blurRad="38100" dist="38100" dir="2700000" algn="tl">
                    <a:srgbClr val="FFFFFF"/>
                  </a:outerShdw>
                </a:effectLst>
                <a:latin typeface="+mn-lt"/>
                <a:ea typeface="楷体" pitchFamily="49" charset="-122"/>
              </a:rPr>
              <a:t>filepointer</a:t>
            </a:r>
            <a:r>
              <a:rPr lang="zh-CN" altLang="en-US" b="1" dirty="0">
                <a:effectLst>
                  <a:outerShdw blurRad="38100" dist="38100" dir="2700000" algn="tl">
                    <a:srgbClr val="FFFFFF"/>
                  </a:outerShdw>
                </a:effectLst>
                <a:latin typeface="+mn-lt"/>
                <a:ea typeface="楷体" pitchFamily="49" charset="-122"/>
              </a:rPr>
              <a:t>所指向的文件的位置指针重新置回到文件的开头。</a:t>
            </a:r>
            <a:r>
              <a:rPr lang="zh-CN" altLang="en-US" dirty="0">
                <a:latin typeface="+mn-lt"/>
                <a:ea typeface="楷体" pitchFamily="49" charset="-122"/>
              </a:rPr>
              <a:t> </a:t>
            </a:r>
            <a:endParaRPr lang="zh-CN" altLang="en-US" b="1" dirty="0">
              <a:effectLst>
                <a:outerShdw blurRad="38100" dist="38100" dir="2700000" algn="tl">
                  <a:srgbClr val="FFFFFF"/>
                </a:outerShdw>
              </a:effectLst>
              <a:latin typeface="+mn-lt"/>
              <a:ea typeface="楷体" pitchFamily="49" charset="-122"/>
            </a:endParaRPr>
          </a:p>
          <a:p>
            <a:pPr>
              <a:buClr>
                <a:srgbClr val="339933"/>
              </a:buClr>
              <a:buFont typeface="Wingdings" pitchFamily="2" charset="2"/>
              <a:buChar char="l"/>
            </a:pPr>
            <a:r>
              <a:rPr lang="zh-CN" altLang="en-US" b="1" dirty="0">
                <a:effectLst>
                  <a:outerShdw blurRad="38100" dist="38100" dir="2700000" algn="tl">
                    <a:srgbClr val="FFFFFF"/>
                  </a:outerShdw>
                </a:effectLst>
                <a:latin typeface="+mn-lt"/>
                <a:ea typeface="楷体" pitchFamily="49" charset="-122"/>
              </a:rPr>
              <a:t> 返值：无</a:t>
            </a:r>
          </a:p>
        </p:txBody>
      </p:sp>
      <p:grpSp>
        <p:nvGrpSpPr>
          <p:cNvPr id="1102889" name="Group 41"/>
          <p:cNvGrpSpPr>
            <a:grpSpLocks/>
          </p:cNvGrpSpPr>
          <p:nvPr/>
        </p:nvGrpSpPr>
        <p:grpSpPr bwMode="auto">
          <a:xfrm>
            <a:off x="1768674" y="4724400"/>
            <a:ext cx="3500437" cy="1873250"/>
            <a:chOff x="359" y="2976"/>
            <a:chExt cx="2205" cy="1180"/>
          </a:xfrm>
        </p:grpSpPr>
        <p:grpSp>
          <p:nvGrpSpPr>
            <p:cNvPr id="1102886" name="Group 38"/>
            <p:cNvGrpSpPr>
              <a:grpSpLocks/>
            </p:cNvGrpSpPr>
            <p:nvPr/>
          </p:nvGrpSpPr>
          <p:grpSpPr bwMode="auto">
            <a:xfrm>
              <a:off x="359" y="2976"/>
              <a:ext cx="2205" cy="1180"/>
              <a:chOff x="539" y="2976"/>
              <a:chExt cx="2205" cy="1180"/>
            </a:xfrm>
          </p:grpSpPr>
          <p:sp>
            <p:nvSpPr>
              <p:cNvPr id="1102865" name="Text Box 17"/>
              <p:cNvSpPr txBox="1">
                <a:spLocks noChangeArrowheads="1"/>
              </p:cNvSpPr>
              <p:nvPr/>
            </p:nvSpPr>
            <p:spPr bwMode="auto">
              <a:xfrm>
                <a:off x="539" y="3087"/>
                <a:ext cx="317" cy="101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zh-CN" altLang="en-US" sz="2000" b="1" dirty="0">
                    <a:solidFill>
                      <a:srgbClr val="FF3300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+mn-lt"/>
                    <a:ea typeface="楷体" pitchFamily="49" charset="-122"/>
                  </a:rPr>
                  <a:t>文件指针</a:t>
                </a:r>
                <a:r>
                  <a:rPr lang="en-US" altLang="zh-CN" sz="2000" b="1" dirty="0" err="1">
                    <a:solidFill>
                      <a:srgbClr val="FF3300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+mn-lt"/>
                    <a:ea typeface="楷体" pitchFamily="49" charset="-122"/>
                  </a:rPr>
                  <a:t>fp</a:t>
                </a:r>
                <a:endParaRPr lang="en-US" altLang="zh-CN" sz="2000" b="1" dirty="0">
                  <a:solidFill>
                    <a:srgbClr val="FF33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+mn-lt"/>
                  <a:ea typeface="楷体" pitchFamily="49" charset="-122"/>
                </a:endParaRPr>
              </a:p>
            </p:txBody>
          </p:sp>
          <p:sp>
            <p:nvSpPr>
              <p:cNvPr id="1102863" name="AutoShape 15"/>
              <p:cNvSpPr>
                <a:spLocks noChangeArrowheads="1"/>
              </p:cNvSpPr>
              <p:nvPr/>
            </p:nvSpPr>
            <p:spPr bwMode="auto">
              <a:xfrm>
                <a:off x="839" y="2976"/>
                <a:ext cx="1905" cy="1180"/>
              </a:xfrm>
              <a:prstGeom prst="foldedCorner">
                <a:avLst>
                  <a:gd name="adj" fmla="val 12500"/>
                </a:avLst>
              </a:prstGeom>
              <a:gradFill rotWithShape="1">
                <a:gsLst>
                  <a:gs pos="0">
                    <a:srgbClr val="00FFFF"/>
                  </a:gs>
                  <a:gs pos="100000">
                    <a:schemeClr val="bg1"/>
                  </a:gs>
                </a:gsLst>
                <a:lin ang="5400000" scaled="1"/>
              </a:gradFill>
              <a:ln w="19050">
                <a:solidFill>
                  <a:schemeClr val="tx1"/>
                </a:solidFill>
                <a:round/>
                <a:headEnd/>
                <a:tailEnd/>
              </a:ln>
              <a:effectLst>
                <a:outerShdw blurRad="50800" dist="106680" dir="2700000" algn="tl" rotWithShape="0">
                  <a:prstClr val="black">
                    <a:alpha val="43000"/>
                  </a:prstClr>
                </a:outerShdw>
              </a:effectLst>
            </p:spPr>
            <p:txBody>
              <a:bodyPr wrap="none"/>
              <a:lstStyle/>
              <a:p>
                <a:pPr marL="457200" indent="-457200" algn="ctr">
                  <a:buFontTx/>
                  <a:buAutoNum type="arabicPlain" startAt="21"/>
                </a:pPr>
                <a:r>
                  <a:rPr lang="en-US" altLang="zh-CN" b="1" dirty="0">
                    <a:effectLst>
                      <a:outerShdw blurRad="38100" dist="38100" dir="2700000" algn="tl">
                        <a:srgbClr val="FFFFFF"/>
                      </a:outerShdw>
                    </a:effectLst>
                  </a:rPr>
                  <a:t>33  2C  20  20  39</a:t>
                </a:r>
              </a:p>
              <a:p>
                <a:pPr marL="457200" indent="-457200" algn="ctr">
                  <a:buFontTx/>
                  <a:buAutoNum type="arabicPlain" startAt="21"/>
                </a:pPr>
                <a:endParaRPr lang="en-US" altLang="zh-CN" b="1" dirty="0">
                  <a:effectLst>
                    <a:outerShdw blurRad="38100" dist="38100" dir="2700000" algn="tl">
                      <a:srgbClr val="FFFFFF"/>
                    </a:outerShdw>
                  </a:effectLst>
                </a:endParaRPr>
              </a:p>
              <a:p>
                <a:pPr marL="457200" indent="-457200" algn="ctr"/>
                <a:r>
                  <a:rPr lang="en-US" altLang="zh-CN" b="1" dirty="0">
                    <a:effectLst>
                      <a:outerShdw blurRad="38100" dist="38100" dir="2700000" algn="tl">
                        <a:srgbClr val="FFFFFF"/>
                      </a:outerShdw>
                    </a:effectLst>
                  </a:rPr>
                  <a:t>20  30  36  61  45  47</a:t>
                </a:r>
              </a:p>
            </p:txBody>
          </p:sp>
        </p:grpSp>
        <p:sp>
          <p:nvSpPr>
            <p:cNvPr id="1102864" name="Line 16"/>
            <p:cNvSpPr>
              <a:spLocks noChangeShapeType="1"/>
            </p:cNvSpPr>
            <p:nvPr/>
          </p:nvSpPr>
          <p:spPr bwMode="auto">
            <a:xfrm>
              <a:off x="387" y="3113"/>
              <a:ext cx="272" cy="0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/>
              <a:tailEnd type="stealth" w="lg" len="lg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1102870" name="Group 22"/>
            <p:cNvGrpSpPr>
              <a:grpSpLocks/>
            </p:cNvGrpSpPr>
            <p:nvPr/>
          </p:nvGrpSpPr>
          <p:grpSpPr bwMode="auto">
            <a:xfrm>
              <a:off x="1194" y="3657"/>
              <a:ext cx="1271" cy="278"/>
              <a:chOff x="1338" y="3657"/>
              <a:chExt cx="1271" cy="278"/>
            </a:xfrm>
          </p:grpSpPr>
          <p:grpSp>
            <p:nvGrpSpPr>
              <p:cNvPr id="1102868" name="Group 20"/>
              <p:cNvGrpSpPr>
                <a:grpSpLocks/>
              </p:cNvGrpSpPr>
              <p:nvPr/>
            </p:nvGrpSpPr>
            <p:grpSpPr bwMode="auto">
              <a:xfrm>
                <a:off x="1338" y="3657"/>
                <a:ext cx="453" cy="181"/>
                <a:chOff x="1338" y="3657"/>
                <a:chExt cx="453" cy="181"/>
              </a:xfrm>
            </p:grpSpPr>
            <p:sp>
              <p:nvSpPr>
                <p:cNvPr id="1102866" name="Line 18"/>
                <p:cNvSpPr>
                  <a:spLocks noChangeShapeType="1"/>
                </p:cNvSpPr>
                <p:nvPr/>
              </p:nvSpPr>
              <p:spPr bwMode="auto">
                <a:xfrm flipV="1">
                  <a:off x="1338" y="3657"/>
                  <a:ext cx="0" cy="181"/>
                </a:xfrm>
                <a:prstGeom prst="line">
                  <a:avLst/>
                </a:prstGeom>
                <a:noFill/>
                <a:ln w="28575">
                  <a:solidFill>
                    <a:srgbClr val="0000FF"/>
                  </a:solidFill>
                  <a:prstDash val="sysDot"/>
                  <a:round/>
                  <a:headEnd/>
                  <a:tailEnd type="stealth" w="lg" len="lg"/>
                </a:ln>
                <a:effectLst/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102867" name="Line 19"/>
                <p:cNvSpPr>
                  <a:spLocks noChangeShapeType="1"/>
                </p:cNvSpPr>
                <p:nvPr/>
              </p:nvSpPr>
              <p:spPr bwMode="auto">
                <a:xfrm>
                  <a:off x="1338" y="3838"/>
                  <a:ext cx="453" cy="0"/>
                </a:xfrm>
                <a:prstGeom prst="line">
                  <a:avLst/>
                </a:prstGeom>
                <a:noFill/>
                <a:ln w="28575">
                  <a:solidFill>
                    <a:srgbClr val="0000FF"/>
                  </a:solidFill>
                  <a:prstDash val="sysDot"/>
                  <a:round/>
                  <a:headEnd/>
                  <a:tailEnd/>
                </a:ln>
                <a:effectLst/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sp>
            <p:nvSpPr>
              <p:cNvPr id="1102869" name="Text Box 21"/>
              <p:cNvSpPr txBox="1">
                <a:spLocks noChangeArrowheads="1"/>
              </p:cNvSpPr>
              <p:nvPr/>
            </p:nvSpPr>
            <p:spPr bwMode="auto">
              <a:xfrm>
                <a:off x="1747" y="3685"/>
                <a:ext cx="862" cy="25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zh-CN" altLang="en-US" sz="2000" b="1">
                    <a:solidFill>
                      <a:schemeClr val="accent2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+mn-lt"/>
                    <a:ea typeface="楷体" pitchFamily="49" charset="-122"/>
                  </a:rPr>
                  <a:t>位置指针</a:t>
                </a:r>
              </a:p>
            </p:txBody>
          </p:sp>
        </p:grpSp>
      </p:grpSp>
      <p:grpSp>
        <p:nvGrpSpPr>
          <p:cNvPr id="1102883" name="Group 35"/>
          <p:cNvGrpSpPr>
            <a:grpSpLocks/>
          </p:cNvGrpSpPr>
          <p:nvPr/>
        </p:nvGrpSpPr>
        <p:grpSpPr bwMode="auto">
          <a:xfrm>
            <a:off x="6628010" y="4711700"/>
            <a:ext cx="3500438" cy="1873250"/>
            <a:chOff x="3420" y="2968"/>
            <a:chExt cx="2205" cy="1180"/>
          </a:xfrm>
        </p:grpSpPr>
        <p:sp>
          <p:nvSpPr>
            <p:cNvPr id="1102874" name="Text Box 26"/>
            <p:cNvSpPr txBox="1">
              <a:spLocks noChangeArrowheads="1"/>
            </p:cNvSpPr>
            <p:nvPr/>
          </p:nvSpPr>
          <p:spPr bwMode="auto">
            <a:xfrm>
              <a:off x="3420" y="3079"/>
              <a:ext cx="317" cy="101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2000" b="1" dirty="0">
                  <a:solidFill>
                    <a:srgbClr val="FF33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+mn-lt"/>
                  <a:ea typeface="楷体" pitchFamily="49" charset="-122"/>
                </a:rPr>
                <a:t>文件指针</a:t>
              </a:r>
              <a:r>
                <a:rPr lang="en-US" altLang="zh-CN" sz="2000" b="1" dirty="0" err="1">
                  <a:solidFill>
                    <a:srgbClr val="FF33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+mn-lt"/>
                  <a:ea typeface="楷体" pitchFamily="49" charset="-122"/>
                </a:rPr>
                <a:t>fp</a:t>
              </a:r>
              <a:endParaRPr lang="en-US" altLang="zh-CN" sz="2000" b="1" dirty="0">
                <a:solidFill>
                  <a:srgbClr val="FF33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楷体" pitchFamily="49" charset="-122"/>
              </a:endParaRPr>
            </a:p>
          </p:txBody>
        </p:sp>
        <p:sp>
          <p:nvSpPr>
            <p:cNvPr id="1102876" name="AutoShape 28"/>
            <p:cNvSpPr>
              <a:spLocks noChangeArrowheads="1"/>
            </p:cNvSpPr>
            <p:nvPr/>
          </p:nvSpPr>
          <p:spPr bwMode="auto">
            <a:xfrm>
              <a:off x="3720" y="2968"/>
              <a:ext cx="1905" cy="1180"/>
            </a:xfrm>
            <a:prstGeom prst="foldedCorner">
              <a:avLst>
                <a:gd name="adj" fmla="val 12500"/>
              </a:avLst>
            </a:prstGeom>
            <a:gradFill rotWithShape="1">
              <a:gsLst>
                <a:gs pos="0">
                  <a:srgbClr val="00FFFF"/>
                </a:gs>
                <a:gs pos="100000">
                  <a:schemeClr val="bg1"/>
                </a:gs>
              </a:gsLst>
              <a:lin ang="5400000" scaled="1"/>
            </a:gradFill>
            <a:ln w="19050">
              <a:solidFill>
                <a:schemeClr val="tx1"/>
              </a:solidFill>
              <a:round/>
              <a:headEnd/>
              <a:tailEnd/>
            </a:ln>
            <a:effectLst>
              <a:outerShdw blurRad="50800" dist="106680" dir="2700000" algn="tl" rotWithShape="0">
                <a:prstClr val="black">
                  <a:alpha val="43000"/>
                </a:prstClr>
              </a:outerShdw>
            </a:effectLst>
          </p:spPr>
          <p:txBody>
            <a:bodyPr wrap="none"/>
            <a:lstStyle/>
            <a:p>
              <a:pPr marL="457200" indent="-457200" algn="ctr">
                <a:buFontTx/>
                <a:buAutoNum type="arabicPlain" startAt="21"/>
              </a:pPr>
              <a:r>
                <a:rPr lang="en-US" altLang="zh-CN" b="1">
                  <a:effectLst>
                    <a:outerShdw blurRad="38100" dist="38100" dir="2700000" algn="tl">
                      <a:srgbClr val="FFFFFF"/>
                    </a:outerShdw>
                  </a:effectLst>
                </a:rPr>
                <a:t>33  2C  20  20  39</a:t>
              </a:r>
            </a:p>
            <a:p>
              <a:pPr marL="457200" indent="-457200" algn="ctr">
                <a:buFontTx/>
                <a:buAutoNum type="arabicPlain" startAt="21"/>
              </a:pPr>
              <a:endParaRPr lang="en-US" altLang="zh-CN" b="1">
                <a:effectLst>
                  <a:outerShdw blurRad="38100" dist="38100" dir="2700000" algn="tl">
                    <a:srgbClr val="FFFFFF"/>
                  </a:outerShdw>
                </a:effectLst>
              </a:endParaRPr>
            </a:p>
            <a:p>
              <a:pPr marL="457200" indent="-457200" algn="ctr"/>
              <a:r>
                <a:rPr lang="en-US" altLang="zh-CN" b="1">
                  <a:effectLst>
                    <a:outerShdw blurRad="38100" dist="38100" dir="2700000" algn="tl">
                      <a:srgbClr val="FFFFFF"/>
                    </a:outerShdw>
                  </a:effectLst>
                </a:rPr>
                <a:t>20  30  36  61  45  47</a:t>
              </a:r>
            </a:p>
          </p:txBody>
        </p:sp>
        <p:sp>
          <p:nvSpPr>
            <p:cNvPr id="1102877" name="Line 29"/>
            <p:cNvSpPr>
              <a:spLocks noChangeShapeType="1"/>
            </p:cNvSpPr>
            <p:nvPr/>
          </p:nvSpPr>
          <p:spPr bwMode="auto">
            <a:xfrm>
              <a:off x="3448" y="3105"/>
              <a:ext cx="272" cy="0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/>
              <a:tailEnd type="stealth" w="lg" len="lg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1102878" name="Group 30"/>
            <p:cNvGrpSpPr>
              <a:grpSpLocks/>
            </p:cNvGrpSpPr>
            <p:nvPr/>
          </p:nvGrpSpPr>
          <p:grpSpPr bwMode="auto">
            <a:xfrm>
              <a:off x="3913" y="3226"/>
              <a:ext cx="1271" cy="278"/>
              <a:chOff x="1338" y="3657"/>
              <a:chExt cx="1271" cy="278"/>
            </a:xfrm>
          </p:grpSpPr>
          <p:grpSp>
            <p:nvGrpSpPr>
              <p:cNvPr id="1102879" name="Group 31"/>
              <p:cNvGrpSpPr>
                <a:grpSpLocks/>
              </p:cNvGrpSpPr>
              <p:nvPr/>
            </p:nvGrpSpPr>
            <p:grpSpPr bwMode="auto">
              <a:xfrm>
                <a:off x="1338" y="3657"/>
                <a:ext cx="453" cy="181"/>
                <a:chOff x="1338" y="3657"/>
                <a:chExt cx="453" cy="181"/>
              </a:xfrm>
            </p:grpSpPr>
            <p:sp>
              <p:nvSpPr>
                <p:cNvPr id="1102880" name="Line 32"/>
                <p:cNvSpPr>
                  <a:spLocks noChangeShapeType="1"/>
                </p:cNvSpPr>
                <p:nvPr/>
              </p:nvSpPr>
              <p:spPr bwMode="auto">
                <a:xfrm flipV="1">
                  <a:off x="1338" y="3657"/>
                  <a:ext cx="0" cy="181"/>
                </a:xfrm>
                <a:prstGeom prst="line">
                  <a:avLst/>
                </a:prstGeom>
                <a:noFill/>
                <a:ln w="28575">
                  <a:solidFill>
                    <a:srgbClr val="0000FF"/>
                  </a:solidFill>
                  <a:prstDash val="sysDot"/>
                  <a:round/>
                  <a:headEnd/>
                  <a:tailEnd type="stealth" w="lg" len="lg"/>
                </a:ln>
                <a:effectLst/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102881" name="Line 33"/>
                <p:cNvSpPr>
                  <a:spLocks noChangeShapeType="1"/>
                </p:cNvSpPr>
                <p:nvPr/>
              </p:nvSpPr>
              <p:spPr bwMode="auto">
                <a:xfrm>
                  <a:off x="1338" y="3838"/>
                  <a:ext cx="453" cy="0"/>
                </a:xfrm>
                <a:prstGeom prst="line">
                  <a:avLst/>
                </a:prstGeom>
                <a:noFill/>
                <a:ln w="28575">
                  <a:solidFill>
                    <a:srgbClr val="0000FF"/>
                  </a:solidFill>
                  <a:prstDash val="sysDot"/>
                  <a:round/>
                  <a:headEnd/>
                  <a:tailEnd/>
                </a:ln>
                <a:effectLst/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sp>
            <p:nvSpPr>
              <p:cNvPr id="1102882" name="Text Box 34"/>
              <p:cNvSpPr txBox="1">
                <a:spLocks noChangeArrowheads="1"/>
              </p:cNvSpPr>
              <p:nvPr/>
            </p:nvSpPr>
            <p:spPr bwMode="auto">
              <a:xfrm>
                <a:off x="1747" y="3685"/>
                <a:ext cx="862" cy="25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zh-CN" altLang="en-US" sz="2000" b="1">
                    <a:solidFill>
                      <a:schemeClr val="accent2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+mn-lt"/>
                    <a:ea typeface="楷体" pitchFamily="49" charset="-122"/>
                  </a:rPr>
                  <a:t>位置指针</a:t>
                </a:r>
              </a:p>
            </p:txBody>
          </p:sp>
        </p:grpSp>
      </p:grpSp>
      <p:grpSp>
        <p:nvGrpSpPr>
          <p:cNvPr id="1102888" name="Group 40"/>
          <p:cNvGrpSpPr>
            <a:grpSpLocks/>
          </p:cNvGrpSpPr>
          <p:nvPr/>
        </p:nvGrpSpPr>
        <p:grpSpPr bwMode="auto">
          <a:xfrm>
            <a:off x="5338961" y="5114926"/>
            <a:ext cx="1439863" cy="619125"/>
            <a:chOff x="2608" y="3222"/>
            <a:chExt cx="907" cy="390"/>
          </a:xfrm>
        </p:grpSpPr>
        <p:sp>
          <p:nvSpPr>
            <p:cNvPr id="1102884" name="AutoShape 36"/>
            <p:cNvSpPr>
              <a:spLocks noChangeArrowheads="1"/>
            </p:cNvSpPr>
            <p:nvPr/>
          </p:nvSpPr>
          <p:spPr bwMode="auto">
            <a:xfrm>
              <a:off x="2628" y="3475"/>
              <a:ext cx="842" cy="137"/>
            </a:xfrm>
            <a:custGeom>
              <a:avLst/>
              <a:gdLst>
                <a:gd name="G0" fmla="+- 16200 0 0"/>
                <a:gd name="G1" fmla="+- 5400 0 0"/>
                <a:gd name="G2" fmla="+- 21600 0 5400"/>
                <a:gd name="G3" fmla="+- 10800 0 5400"/>
                <a:gd name="G4" fmla="+- 21600 0 16200"/>
                <a:gd name="G5" fmla="*/ G4 G3 10800"/>
                <a:gd name="G6" fmla="+- 21600 0 G5"/>
                <a:gd name="T0" fmla="*/ 16200 w 21600"/>
                <a:gd name="T1" fmla="*/ 0 h 21600"/>
                <a:gd name="T2" fmla="*/ 0 w 21600"/>
                <a:gd name="T3" fmla="*/ 10800 h 21600"/>
                <a:gd name="T4" fmla="*/ 16200 w 21600"/>
                <a:gd name="T5" fmla="*/ 21600 h 21600"/>
                <a:gd name="T6" fmla="*/ 21600 w 21600"/>
                <a:gd name="T7" fmla="*/ 10800 h 21600"/>
                <a:gd name="T8" fmla="*/ 17694720 60000 65536"/>
                <a:gd name="T9" fmla="*/ 11796480 60000 65536"/>
                <a:gd name="T10" fmla="*/ 5898240 60000 65536"/>
                <a:gd name="T11" fmla="*/ 0 60000 65536"/>
                <a:gd name="T12" fmla="*/ 3375 w 21600"/>
                <a:gd name="T13" fmla="*/ G1 h 21600"/>
                <a:gd name="T14" fmla="*/ G6 w 21600"/>
                <a:gd name="T15" fmla="*/ G2 h 2160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600" h="21600">
                  <a:moveTo>
                    <a:pt x="16200" y="0"/>
                  </a:moveTo>
                  <a:lnTo>
                    <a:pt x="16200" y="5400"/>
                  </a:lnTo>
                  <a:lnTo>
                    <a:pt x="3375" y="5400"/>
                  </a:lnTo>
                  <a:lnTo>
                    <a:pt x="3375" y="16200"/>
                  </a:lnTo>
                  <a:lnTo>
                    <a:pt x="16200" y="16200"/>
                  </a:lnTo>
                  <a:lnTo>
                    <a:pt x="16200" y="21600"/>
                  </a:lnTo>
                  <a:lnTo>
                    <a:pt x="21600" y="10800"/>
                  </a:lnTo>
                  <a:close/>
                </a:path>
                <a:path w="21600" h="21600">
                  <a:moveTo>
                    <a:pt x="1350" y="5400"/>
                  </a:moveTo>
                  <a:lnTo>
                    <a:pt x="1350" y="16200"/>
                  </a:lnTo>
                  <a:lnTo>
                    <a:pt x="2700" y="16200"/>
                  </a:lnTo>
                  <a:lnTo>
                    <a:pt x="2700" y="5400"/>
                  </a:lnTo>
                  <a:close/>
                </a:path>
                <a:path w="21600" h="21600">
                  <a:moveTo>
                    <a:pt x="0" y="5400"/>
                  </a:moveTo>
                  <a:lnTo>
                    <a:pt x="0" y="16200"/>
                  </a:lnTo>
                  <a:lnTo>
                    <a:pt x="675" y="16200"/>
                  </a:lnTo>
                  <a:lnTo>
                    <a:pt x="675" y="5400"/>
                  </a:lnTo>
                  <a:close/>
                </a:path>
              </a:pathLst>
            </a:custGeom>
            <a:gradFill rotWithShape="1">
              <a:gsLst>
                <a:gs pos="0">
                  <a:srgbClr val="FFCC99"/>
                </a:gs>
                <a:gs pos="100000">
                  <a:srgbClr val="FFCC99">
                    <a:gamma/>
                    <a:shade val="46275"/>
                    <a:invGamma/>
                  </a:srgbClr>
                </a:gs>
              </a:gsLst>
              <a:lin ang="5400000" scaled="1"/>
            </a:gradFill>
            <a:ln w="9525">
              <a:solidFill>
                <a:schemeClr val="tx1"/>
              </a:solidFill>
              <a:miter lim="800000"/>
              <a:headEnd/>
              <a:tailEnd/>
            </a:ln>
            <a:effectLst>
              <a:outerShdw dist="107763" dir="2700000" algn="ctr" rotWithShape="0">
                <a:schemeClr val="bg2">
                  <a:alpha val="50000"/>
                </a:schemeClr>
              </a:outerShdw>
            </a:effec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102885" name="Text Box 37"/>
            <p:cNvSpPr txBox="1">
              <a:spLocks noChangeArrowheads="1"/>
            </p:cNvSpPr>
            <p:nvPr/>
          </p:nvSpPr>
          <p:spPr bwMode="auto">
            <a:xfrm>
              <a:off x="2608" y="3222"/>
              <a:ext cx="907" cy="2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2000" b="1">
                  <a:solidFill>
                    <a:srgbClr val="CC0066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</a:rPr>
                <a:t>rewind(fp)</a:t>
              </a:r>
            </a:p>
          </p:txBody>
        </p:sp>
      </p:grpSp>
      <p:grpSp>
        <p:nvGrpSpPr>
          <p:cNvPr id="1102890" name="Group 42"/>
          <p:cNvGrpSpPr>
            <a:grpSpLocks/>
          </p:cNvGrpSpPr>
          <p:nvPr/>
        </p:nvGrpSpPr>
        <p:grpSpPr bwMode="auto">
          <a:xfrm>
            <a:off x="-9822" y="0"/>
            <a:ext cx="446088" cy="6858000"/>
            <a:chOff x="0" y="0"/>
            <a:chExt cx="281" cy="4320"/>
          </a:xfrm>
        </p:grpSpPr>
        <p:sp>
          <p:nvSpPr>
            <p:cNvPr id="1102891" name="Text Box 43"/>
            <p:cNvSpPr txBox="1">
              <a:spLocks noChangeArrowheads="1"/>
            </p:cNvSpPr>
            <p:nvPr/>
          </p:nvSpPr>
          <p:spPr bwMode="auto">
            <a:xfrm>
              <a:off x="0" y="0"/>
              <a:ext cx="281" cy="4320"/>
            </a:xfrm>
            <a:prstGeom prst="rect">
              <a:avLst/>
            </a:prstGeom>
            <a:gradFill rotWithShape="0">
              <a:gsLst>
                <a:gs pos="0">
                  <a:schemeClr val="hlink">
                    <a:gamma/>
                    <a:shade val="60784"/>
                    <a:invGamma/>
                  </a:schemeClr>
                </a:gs>
                <a:gs pos="50000">
                  <a:schemeClr val="hlink"/>
                </a:gs>
                <a:gs pos="100000">
                  <a:schemeClr val="hlink">
                    <a:gamma/>
                    <a:shade val="60784"/>
                    <a:invGamma/>
                  </a:schemeClr>
                </a:gs>
              </a:gsLst>
              <a:lin ang="0" scaled="1"/>
            </a:gradFill>
            <a:ln w="9525">
              <a:noFill/>
              <a:miter lim="800000"/>
              <a:headEnd/>
              <a:tailEnd/>
            </a:ln>
            <a:effectLst/>
          </p:spPr>
          <p:txBody>
            <a:bodyPr/>
            <a:lstStyle/>
            <a:p>
              <a:pPr eaLnBrk="0" hangingPunct="0">
                <a:spcBef>
                  <a:spcPct val="50000"/>
                </a:spcBef>
              </a:pPr>
              <a:endParaRPr lang="en-US" altLang="zh-CN" sz="1800" dirty="0">
                <a:solidFill>
                  <a:srgbClr val="3333CC"/>
                </a:solidFill>
                <a:latin typeface="Verdana" pitchFamily="34" charset="0"/>
              </a:endParaRPr>
            </a:p>
            <a:p>
              <a:pPr eaLnBrk="0" hangingPunct="0">
                <a:spcBef>
                  <a:spcPct val="50000"/>
                </a:spcBef>
              </a:pPr>
              <a:r>
                <a:rPr lang="zh-CN" altLang="en-US" sz="1600" b="1" dirty="0">
                  <a:solidFill>
                    <a:srgbClr val="3333CC"/>
                  </a:solidFill>
                  <a:latin typeface="Verdana" pitchFamily="34" charset="0"/>
                </a:rPr>
                <a:t>语言程序设计教程       </a:t>
              </a:r>
            </a:p>
            <a:p>
              <a:pPr eaLnBrk="0" hangingPunct="0">
                <a:spcBef>
                  <a:spcPct val="50000"/>
                </a:spcBef>
              </a:pPr>
              <a:r>
                <a:rPr lang="zh-CN" altLang="en-US" sz="1600" b="1" dirty="0">
                  <a:solidFill>
                    <a:srgbClr val="3333CC"/>
                  </a:solidFill>
                  <a:latin typeface="Verdana" pitchFamily="34" charset="0"/>
                </a:rPr>
                <a:t>第三版</a:t>
              </a:r>
            </a:p>
            <a:p>
              <a:pPr eaLnBrk="0" hangingPunct="0">
                <a:spcBef>
                  <a:spcPct val="50000"/>
                </a:spcBef>
              </a:pPr>
              <a:endParaRPr lang="zh-CN" altLang="en-US" sz="1600" b="1" dirty="0">
                <a:solidFill>
                  <a:srgbClr val="3333CC"/>
                </a:solidFill>
                <a:latin typeface="Verdana" pitchFamily="34" charset="0"/>
              </a:endParaRPr>
            </a:p>
            <a:p>
              <a:pPr eaLnBrk="0" hangingPunct="0">
                <a:spcBef>
                  <a:spcPct val="50000"/>
                </a:spcBef>
              </a:pPr>
              <a:endParaRPr lang="zh-CN" altLang="en-US" sz="1600" b="1" dirty="0">
                <a:solidFill>
                  <a:srgbClr val="3333CC"/>
                </a:solidFill>
                <a:latin typeface="Verdana" pitchFamily="34" charset="0"/>
              </a:endParaRPr>
            </a:p>
            <a:p>
              <a:pPr eaLnBrk="0" hangingPunct="0">
                <a:spcBef>
                  <a:spcPct val="50000"/>
                </a:spcBef>
              </a:pPr>
              <a:r>
                <a:rPr lang="zh-CN" altLang="en-US" sz="1600" b="1" dirty="0">
                  <a:solidFill>
                    <a:srgbClr val="3333CC"/>
                  </a:solidFill>
                  <a:latin typeface="Verdana" pitchFamily="34" charset="0"/>
                </a:rPr>
                <a:t>第十</a:t>
              </a:r>
            </a:p>
            <a:p>
              <a:pPr eaLnBrk="0" hangingPunct="0">
                <a:spcBef>
                  <a:spcPct val="50000"/>
                </a:spcBef>
              </a:pPr>
              <a:r>
                <a:rPr lang="zh-CN" altLang="en-US" sz="1600" b="1" dirty="0">
                  <a:solidFill>
                    <a:srgbClr val="3333CC"/>
                  </a:solidFill>
                  <a:latin typeface="Verdana" pitchFamily="34" charset="0"/>
                </a:rPr>
                <a:t>二章 </a:t>
              </a:r>
            </a:p>
            <a:p>
              <a:pPr eaLnBrk="0" hangingPunct="0">
                <a:spcBef>
                  <a:spcPct val="50000"/>
                </a:spcBef>
              </a:pPr>
              <a:endParaRPr lang="zh-CN" altLang="en-US" sz="1600" b="1" dirty="0">
                <a:solidFill>
                  <a:srgbClr val="3333CC"/>
                </a:solidFill>
                <a:latin typeface="Verdana" pitchFamily="34" charset="0"/>
              </a:endParaRPr>
            </a:p>
            <a:p>
              <a:pPr eaLnBrk="0" hangingPunct="0">
                <a:spcBef>
                  <a:spcPct val="50000"/>
                </a:spcBef>
              </a:pPr>
              <a:r>
                <a:rPr lang="zh-CN" altLang="en-US" sz="1600" b="1" dirty="0">
                  <a:solidFill>
                    <a:srgbClr val="3333CC"/>
                  </a:solidFill>
                  <a:latin typeface="Verdana" pitchFamily="34" charset="0"/>
                </a:rPr>
                <a:t>文</a:t>
              </a:r>
            </a:p>
            <a:p>
              <a:pPr eaLnBrk="0" hangingPunct="0">
                <a:spcBef>
                  <a:spcPct val="50000"/>
                </a:spcBef>
              </a:pPr>
              <a:endParaRPr lang="zh-CN" altLang="en-US" sz="1600" b="1" dirty="0">
                <a:solidFill>
                  <a:srgbClr val="3333CC"/>
                </a:solidFill>
                <a:latin typeface="Verdana" pitchFamily="34" charset="0"/>
              </a:endParaRPr>
            </a:p>
            <a:p>
              <a:pPr eaLnBrk="0" hangingPunct="0">
                <a:spcBef>
                  <a:spcPct val="50000"/>
                </a:spcBef>
              </a:pPr>
              <a:r>
                <a:rPr lang="zh-CN" altLang="en-US" sz="1600" b="1" dirty="0">
                  <a:solidFill>
                    <a:srgbClr val="3333CC"/>
                  </a:solidFill>
                  <a:latin typeface="Verdana" pitchFamily="34" charset="0"/>
                </a:rPr>
                <a:t>件</a:t>
              </a:r>
            </a:p>
          </p:txBody>
        </p:sp>
        <p:sp>
          <p:nvSpPr>
            <p:cNvPr id="1102892" name="Text Box 44"/>
            <p:cNvSpPr txBox="1">
              <a:spLocks noChangeArrowheads="1"/>
            </p:cNvSpPr>
            <p:nvPr/>
          </p:nvSpPr>
          <p:spPr bwMode="auto">
            <a:xfrm>
              <a:off x="0" y="0"/>
              <a:ext cx="281" cy="231"/>
            </a:xfrm>
            <a:prstGeom prst="rect">
              <a:avLst/>
            </a:prstGeom>
            <a:gradFill rotWithShape="0">
              <a:gsLst>
                <a:gs pos="0">
                  <a:schemeClr val="hlink">
                    <a:gamma/>
                    <a:shade val="46275"/>
                    <a:invGamma/>
                  </a:schemeClr>
                </a:gs>
                <a:gs pos="50000">
                  <a:schemeClr val="hlink"/>
                </a:gs>
                <a:gs pos="100000">
                  <a:schemeClr val="hlink">
                    <a:gamma/>
                    <a:shade val="46275"/>
                    <a:invGamma/>
                  </a:schemeClr>
                </a:gs>
              </a:gsLst>
              <a:lin ang="0" scaled="1"/>
            </a:gradFill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eaLnBrk="0" hangingPunct="0">
                <a:spcBef>
                  <a:spcPct val="50000"/>
                </a:spcBef>
              </a:pPr>
              <a:r>
                <a:rPr lang="en-US" altLang="zh-CN" sz="1800" b="1">
                  <a:solidFill>
                    <a:srgbClr val="0000FF"/>
                  </a:solidFill>
                  <a:latin typeface="Arial" pitchFamily="34" charset="0"/>
                </a:rPr>
                <a:t>C</a:t>
              </a:r>
            </a:p>
          </p:txBody>
        </p:sp>
      </p:grpSp>
    </p:spTree>
  </p:cSld>
  <p:clrMapOvr>
    <a:masterClrMapping/>
  </p:clrMapOvr>
  <p:transition>
    <p:cover/>
    <p:sndAc>
      <p:stSnd>
        <p:snd r:embed="rId3" name="CAMER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28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0285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028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285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3" dur="500"/>
                                        <p:tgtEl>
                                          <p:spTgt spid="110285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285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8" dur="500"/>
                                        <p:tgtEl>
                                          <p:spTgt spid="110285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6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28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23" dur="500"/>
                                        <p:tgtEl>
                                          <p:spTgt spid="1102858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28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10285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110285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6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28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34" dur="500"/>
                                        <p:tgtEl>
                                          <p:spTgt spid="1102860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2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500"/>
                            </p:stCondLst>
                            <p:childTnLst>
                              <p:par>
                                <p:cTn id="36" presetID="4" presetClass="entr" presetSubtype="3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28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38" dur="500"/>
                                        <p:tgtEl>
                                          <p:spTgt spid="1102861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6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286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43" dur="500"/>
                                        <p:tgtEl>
                                          <p:spTgt spid="110286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286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48" dur="500"/>
                                        <p:tgtEl>
                                          <p:spTgt spid="110286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6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28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53" dur="500"/>
                                        <p:tgtEl>
                                          <p:spTgt spid="1102889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28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58" dur="500"/>
                                        <p:tgtEl>
                                          <p:spTgt spid="1102888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6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59" fill="hold">
                            <p:stCondLst>
                              <p:cond delay="500"/>
                            </p:stCondLst>
                            <p:childTnLst>
                              <p:par>
                                <p:cTn id="60" presetID="18" presetClass="entr" presetSubtype="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28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62" dur="500"/>
                                        <p:tgtEl>
                                          <p:spTgt spid="1102883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6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02856" grpId="0"/>
      <p:bldP spid="1102858" grpId="0"/>
      <p:bldP spid="1102859" grpId="0"/>
      <p:bldP spid="1102860" grpId="0"/>
      <p:bldP spid="1102861" grpId="0" animBg="1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4905" name="Rectangle 9"/>
          <p:cNvSpPr>
            <a:spLocks noChangeArrowheads="1"/>
          </p:cNvSpPr>
          <p:nvPr/>
        </p:nvSpPr>
        <p:spPr bwMode="auto">
          <a:xfrm>
            <a:off x="674647" y="396875"/>
            <a:ext cx="1800225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>
            <a:spAutoFit/>
          </a:bodyPr>
          <a:lstStyle/>
          <a:p>
            <a:pPr>
              <a:buFont typeface="Wingdings" pitchFamily="2" charset="2"/>
              <a:buChar char="Ø"/>
              <a:tabLst>
                <a:tab pos="496888" algn="l"/>
              </a:tabLst>
            </a:pPr>
            <a:r>
              <a:rPr lang="en-US" altLang="zh-CN" b="1" dirty="0">
                <a:solidFill>
                  <a:srgbClr val="FF33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楷体_GB2312" pitchFamily="49" charset="-122"/>
              </a:rPr>
              <a:t> </a:t>
            </a:r>
            <a:r>
              <a:rPr lang="en-US" altLang="zh-CN" b="1" dirty="0" err="1">
                <a:solidFill>
                  <a:srgbClr val="FF33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楷体_GB2312" pitchFamily="49" charset="-122"/>
              </a:rPr>
              <a:t>fseek</a:t>
            </a:r>
            <a:endParaRPr lang="en-US" altLang="zh-CN" b="1" dirty="0">
              <a:solidFill>
                <a:srgbClr val="FF3300"/>
              </a:solidFill>
              <a:effectLst>
                <a:outerShdw blurRad="38100" dist="38100" dir="2700000" algn="tl">
                  <a:srgbClr val="000000"/>
                </a:outerShdw>
              </a:effectLst>
              <a:ea typeface="楷体_GB2312" pitchFamily="49" charset="-122"/>
            </a:endParaRPr>
          </a:p>
        </p:txBody>
      </p:sp>
      <p:sp>
        <p:nvSpPr>
          <p:cNvPr id="1104906" name="Rectangle 10"/>
          <p:cNvSpPr>
            <a:spLocks noChangeArrowheads="1"/>
          </p:cNvSpPr>
          <p:nvPr/>
        </p:nvSpPr>
        <p:spPr bwMode="auto">
          <a:xfrm>
            <a:off x="1004846" y="814388"/>
            <a:ext cx="2160588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buClr>
                <a:srgbClr val="339933"/>
              </a:buClr>
              <a:buFont typeface="Wingdings" pitchFamily="2" charset="2"/>
              <a:buChar char="l"/>
            </a:pPr>
            <a:r>
              <a:rPr lang="en-US" altLang="zh-CN" b="1" dirty="0">
                <a:effectLst>
                  <a:outerShdw blurRad="38100" dist="38100" dir="2700000" algn="tl">
                    <a:srgbClr val="FFFFFF"/>
                  </a:outerShdw>
                </a:effectLst>
                <a:latin typeface="+mn-lt"/>
                <a:ea typeface="楷体" pitchFamily="49" charset="-122"/>
              </a:rPr>
              <a:t> </a:t>
            </a:r>
            <a:r>
              <a:rPr lang="zh-CN" altLang="zh-CN" b="1" dirty="0">
                <a:effectLst>
                  <a:outerShdw blurRad="38100" dist="38100" dir="2700000" algn="tl">
                    <a:srgbClr val="FFFFFF"/>
                  </a:outerShdw>
                </a:effectLst>
                <a:latin typeface="+mn-lt"/>
                <a:ea typeface="楷体" pitchFamily="49" charset="-122"/>
              </a:rPr>
              <a:t>函数原形：         </a:t>
            </a:r>
            <a:endParaRPr lang="zh-CN" altLang="en-US" b="1" dirty="0">
              <a:effectLst>
                <a:outerShdw blurRad="38100" dist="38100" dir="2700000" algn="tl">
                  <a:srgbClr val="000000"/>
                </a:outerShdw>
              </a:effectLst>
              <a:latin typeface="+mn-lt"/>
              <a:ea typeface="楷体" pitchFamily="49" charset="-122"/>
            </a:endParaRPr>
          </a:p>
        </p:txBody>
      </p:sp>
      <p:sp>
        <p:nvSpPr>
          <p:cNvPr id="1104907" name="Text Box 11"/>
          <p:cNvSpPr txBox="1">
            <a:spLocks noChangeArrowheads="1"/>
          </p:cNvSpPr>
          <p:nvPr/>
        </p:nvSpPr>
        <p:spPr bwMode="auto">
          <a:xfrm>
            <a:off x="1490916" y="1314582"/>
            <a:ext cx="8879944" cy="431800"/>
          </a:xfrm>
          <a:prstGeom prst="rect">
            <a:avLst/>
          </a:prstGeom>
          <a:gradFill rotWithShape="1">
            <a:gsLst>
              <a:gs pos="0">
                <a:srgbClr val="FFFF99"/>
              </a:gs>
              <a:gs pos="100000">
                <a:srgbClr val="FFFF99">
                  <a:gamma/>
                  <a:shade val="75686"/>
                  <a:invGamma/>
                </a:srgbClr>
              </a:gs>
            </a:gsLst>
            <a:lin ang="5400000" scaled="1"/>
          </a:gradFill>
          <a:ln w="38100">
            <a:solidFill>
              <a:srgbClr val="0000FF"/>
            </a:solidFill>
            <a:miter lim="800000"/>
            <a:headEnd/>
            <a:tailEnd/>
          </a:ln>
          <a:effectLst>
            <a:outerShdw blurRad="50800" dist="106680" dir="2700000" algn="tl" rotWithShape="0">
              <a:prstClr val="black">
                <a:alpha val="43000"/>
              </a:prstClr>
            </a:outerShdw>
          </a:effectLst>
          <a:scene3d>
            <a:camera prst="orthographicFront"/>
            <a:lightRig rig="threePt" dir="t"/>
          </a:scene3d>
          <a:sp3d>
            <a:bevelT w="114300" prst="hardEdge"/>
          </a:sp3d>
        </p:spPr>
        <p:txBody>
          <a:bodyPr/>
          <a:lstStyle/>
          <a:p>
            <a:pPr algn="ctr"/>
            <a:r>
              <a:rPr lang="en-US" altLang="zh-CN" sz="2000" b="1">
                <a:effectLst>
                  <a:outerShdw blurRad="38100" dist="38100" dir="2700000" algn="tl">
                    <a:srgbClr val="FFFFFF"/>
                  </a:outerShdw>
                </a:effectLst>
                <a:latin typeface="+mn-lt"/>
                <a:ea typeface="楷体" pitchFamily="49" charset="-122"/>
              </a:rPr>
              <a:t>int  fseek(FILE *filepointer, long offset, int whence)</a:t>
            </a:r>
          </a:p>
        </p:txBody>
      </p:sp>
      <p:sp>
        <p:nvSpPr>
          <p:cNvPr id="1104908" name="Rectangle 12"/>
          <p:cNvSpPr>
            <a:spLocks noChangeArrowheads="1"/>
          </p:cNvSpPr>
          <p:nvPr/>
        </p:nvSpPr>
        <p:spPr bwMode="auto">
          <a:xfrm>
            <a:off x="1008246" y="1958976"/>
            <a:ext cx="7885113" cy="87889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lnSpc>
                <a:spcPts val="3200"/>
              </a:lnSpc>
              <a:buClr>
                <a:srgbClr val="339933"/>
              </a:buClr>
              <a:buFont typeface="Wingdings" pitchFamily="2" charset="2"/>
              <a:buChar char="l"/>
            </a:pPr>
            <a:r>
              <a:rPr lang="en-US" altLang="zh-CN" b="1" dirty="0">
                <a:effectLst>
                  <a:outerShdw blurRad="38100" dist="38100" dir="2700000" algn="tl">
                    <a:srgbClr val="FFFFFF"/>
                  </a:outerShdw>
                </a:effectLst>
                <a:latin typeface="+mn-lt"/>
                <a:ea typeface="楷体" pitchFamily="49" charset="-122"/>
              </a:rPr>
              <a:t> </a:t>
            </a:r>
            <a:r>
              <a:rPr lang="zh-CN" altLang="en-US" b="1" dirty="0">
                <a:effectLst>
                  <a:outerShdw blurRad="38100" dist="38100" dir="2700000" algn="tl">
                    <a:srgbClr val="FFFFFF"/>
                  </a:outerShdw>
                </a:effectLst>
                <a:latin typeface="+mn-lt"/>
                <a:ea typeface="楷体" pitchFamily="49" charset="-122"/>
              </a:rPr>
              <a:t>功能：</a:t>
            </a:r>
            <a:r>
              <a:rPr lang="zh-CN" altLang="zh-CN" b="1" dirty="0">
                <a:effectLst>
                  <a:outerShdw blurRad="38100" dist="38100" dir="2700000" algn="tl">
                    <a:srgbClr val="FFFFFF"/>
                  </a:outerShdw>
                </a:effectLst>
                <a:latin typeface="+mn-lt"/>
                <a:ea typeface="楷体" pitchFamily="49" charset="-122"/>
              </a:rPr>
              <a:t>改变文件位置指针的位置</a:t>
            </a:r>
            <a:endParaRPr lang="zh-CN" altLang="en-US" b="1" dirty="0">
              <a:effectLst>
                <a:outerShdw blurRad="38100" dist="38100" dir="2700000" algn="tl">
                  <a:srgbClr val="FFFFFF"/>
                </a:outerShdw>
              </a:effectLst>
              <a:latin typeface="+mn-lt"/>
              <a:ea typeface="楷体" pitchFamily="49" charset="-122"/>
            </a:endParaRPr>
          </a:p>
          <a:p>
            <a:pPr>
              <a:lnSpc>
                <a:spcPts val="3200"/>
              </a:lnSpc>
              <a:buClr>
                <a:srgbClr val="339933"/>
              </a:buClr>
              <a:buFont typeface="Wingdings" pitchFamily="2" charset="2"/>
              <a:buChar char="l"/>
            </a:pPr>
            <a:r>
              <a:rPr lang="zh-CN" altLang="en-US" b="1" dirty="0">
                <a:effectLst>
                  <a:outerShdw blurRad="38100" dist="38100" dir="2700000" algn="tl">
                    <a:srgbClr val="FFFFFF"/>
                  </a:outerShdw>
                </a:effectLst>
                <a:latin typeface="+mn-lt"/>
                <a:ea typeface="楷体" pitchFamily="49" charset="-122"/>
              </a:rPr>
              <a:t> 返值：</a:t>
            </a:r>
            <a:r>
              <a:rPr lang="zh-CN" altLang="zh-CN" b="1" dirty="0">
                <a:effectLst>
                  <a:outerShdw blurRad="38100" dist="38100" dir="2700000" algn="tl">
                    <a:srgbClr val="FFFFFF"/>
                  </a:outerShdw>
                </a:effectLst>
                <a:latin typeface="+mn-lt"/>
                <a:ea typeface="楷体" pitchFamily="49" charset="-122"/>
              </a:rPr>
              <a:t>成功，返回0；失败，返回非0值</a:t>
            </a:r>
            <a:endParaRPr lang="zh-CN" altLang="en-US" b="1" dirty="0">
              <a:effectLst>
                <a:outerShdw blurRad="38100" dist="38100" dir="2700000" algn="tl">
                  <a:srgbClr val="FFFFFF"/>
                </a:outerShdw>
              </a:effectLst>
              <a:latin typeface="+mn-lt"/>
              <a:ea typeface="楷体" pitchFamily="49" charset="-122"/>
            </a:endParaRPr>
          </a:p>
        </p:txBody>
      </p:sp>
      <p:sp>
        <p:nvSpPr>
          <p:cNvPr id="1104931" name="AutoShape 35"/>
          <p:cNvSpPr>
            <a:spLocks noChangeArrowheads="1"/>
          </p:cNvSpPr>
          <p:nvPr/>
        </p:nvSpPr>
        <p:spPr bwMode="auto">
          <a:xfrm>
            <a:off x="4009529" y="2581027"/>
            <a:ext cx="1222375" cy="415925"/>
          </a:xfrm>
          <a:prstGeom prst="wedgeRectCallout">
            <a:avLst>
              <a:gd name="adj1" fmla="val 64792"/>
              <a:gd name="adj2" fmla="val -258014"/>
            </a:avLst>
          </a:prstGeom>
          <a:gradFill rotWithShape="1">
            <a:gsLst>
              <a:gs pos="0">
                <a:srgbClr val="00FFFF"/>
              </a:gs>
              <a:gs pos="100000">
                <a:schemeClr val="bg1"/>
              </a:gs>
            </a:gsLst>
            <a:lin ang="5400000" scaled="1"/>
          </a:gradFill>
          <a:ln w="19050">
            <a:solidFill>
              <a:srgbClr val="FF00FF"/>
            </a:solidFill>
            <a:miter lim="800000"/>
            <a:headEnd/>
            <a:tailEnd/>
          </a:ln>
          <a:effectLst>
            <a:outerShdw blurRad="50800" dist="106680" dir="2700000" algn="tl" rotWithShape="0">
              <a:prstClr val="black">
                <a:alpha val="43000"/>
              </a:prstClr>
            </a:outerShdw>
          </a:effectLst>
          <a:scene3d>
            <a:camera prst="orthographicFront"/>
            <a:lightRig rig="threePt" dir="t"/>
          </a:scene3d>
          <a:sp3d>
            <a:bevelT w="114300" prst="hardEdge"/>
          </a:sp3d>
        </p:spPr>
        <p:txBody>
          <a:bodyPr wrap="none" lIns="90000" tIns="46800" rIns="90000" bIns="46800" anchor="ctr">
            <a:spAutoFit/>
          </a:bodyPr>
          <a:lstStyle/>
          <a:p>
            <a:pPr algn="ctr"/>
            <a:r>
              <a:rPr lang="zh-CN" altLang="en-US" sz="2000" b="1">
                <a:solidFill>
                  <a:srgbClr val="CC0066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楷体" pitchFamily="49" charset="-122"/>
              </a:rPr>
              <a:t>文件指针</a:t>
            </a:r>
          </a:p>
        </p:txBody>
      </p:sp>
      <p:sp>
        <p:nvSpPr>
          <p:cNvPr id="1104932" name="AutoShape 36"/>
          <p:cNvSpPr>
            <a:spLocks noChangeArrowheads="1"/>
          </p:cNvSpPr>
          <p:nvPr/>
        </p:nvSpPr>
        <p:spPr bwMode="auto">
          <a:xfrm>
            <a:off x="4584080" y="2276872"/>
            <a:ext cx="5040312" cy="1025525"/>
          </a:xfrm>
          <a:prstGeom prst="wedgeRectCallout">
            <a:avLst>
              <a:gd name="adj1" fmla="val -361"/>
              <a:gd name="adj2" fmla="val -116097"/>
            </a:avLst>
          </a:prstGeom>
          <a:gradFill rotWithShape="1">
            <a:gsLst>
              <a:gs pos="0">
                <a:srgbClr val="00FFFF"/>
              </a:gs>
              <a:gs pos="100000">
                <a:schemeClr val="bg1"/>
              </a:gs>
            </a:gsLst>
            <a:lin ang="5400000" scaled="1"/>
          </a:gradFill>
          <a:ln w="19050">
            <a:solidFill>
              <a:srgbClr val="FF00FF"/>
            </a:solidFill>
            <a:miter lim="800000"/>
            <a:headEnd/>
            <a:tailEnd/>
          </a:ln>
          <a:effectLst>
            <a:outerShdw blurRad="50800" dist="106680" dir="2700000" algn="tl" rotWithShape="0">
              <a:prstClr val="black">
                <a:alpha val="43000"/>
              </a:prstClr>
            </a:outerShdw>
          </a:effectLst>
          <a:scene3d>
            <a:camera prst="orthographicFront"/>
            <a:lightRig rig="threePt" dir="t"/>
          </a:scene3d>
          <a:sp3d>
            <a:bevelT w="114300" prst="hardEdge"/>
          </a:sp3d>
        </p:spPr>
        <p:txBody>
          <a:bodyPr lIns="90000" tIns="46800" rIns="90000" bIns="46800" anchor="ctr">
            <a:spAutoFit/>
          </a:bodyPr>
          <a:lstStyle/>
          <a:p>
            <a:r>
              <a:rPr lang="zh-CN" altLang="zh-CN" sz="2000" b="1">
                <a:solidFill>
                  <a:srgbClr val="CC0066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楷体" pitchFamily="49" charset="-122"/>
              </a:rPr>
              <a:t>位移量（以起始点为基点,移动的字节数)</a:t>
            </a:r>
          </a:p>
          <a:p>
            <a:r>
              <a:rPr lang="en-US" altLang="zh-CN" sz="2000" b="1">
                <a:solidFill>
                  <a:schemeClr val="accent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楷体" pitchFamily="49" charset="-122"/>
              </a:rPr>
              <a:t>&gt; 0</a:t>
            </a:r>
            <a:r>
              <a:rPr lang="en-US" altLang="zh-CN" sz="2000" b="1">
                <a:solidFill>
                  <a:srgbClr val="CC0066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楷体" pitchFamily="49" charset="-122"/>
              </a:rPr>
              <a:t>    </a:t>
            </a:r>
            <a:r>
              <a:rPr lang="zh-CN" altLang="en-US" sz="2000" b="1">
                <a:solidFill>
                  <a:srgbClr val="CC0066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楷体" pitchFamily="49" charset="-122"/>
              </a:rPr>
              <a:t>向后移动</a:t>
            </a:r>
          </a:p>
          <a:p>
            <a:r>
              <a:rPr lang="en-US" altLang="zh-CN" sz="2000" b="1">
                <a:solidFill>
                  <a:schemeClr val="accent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楷体" pitchFamily="49" charset="-122"/>
              </a:rPr>
              <a:t>&lt; 0</a:t>
            </a:r>
            <a:r>
              <a:rPr lang="en-US" altLang="zh-CN" sz="2000" b="1">
                <a:solidFill>
                  <a:srgbClr val="CC0066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楷体" pitchFamily="49" charset="-122"/>
              </a:rPr>
              <a:t>    </a:t>
            </a:r>
            <a:r>
              <a:rPr lang="zh-CN" altLang="en-US" sz="2000" b="1">
                <a:solidFill>
                  <a:srgbClr val="CC0066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楷体" pitchFamily="49" charset="-122"/>
              </a:rPr>
              <a:t>向前移动</a:t>
            </a:r>
          </a:p>
        </p:txBody>
      </p:sp>
      <p:sp>
        <p:nvSpPr>
          <p:cNvPr id="1104933" name="AutoShape 37"/>
          <p:cNvSpPr>
            <a:spLocks noChangeArrowheads="1"/>
          </p:cNvSpPr>
          <p:nvPr/>
        </p:nvSpPr>
        <p:spPr bwMode="auto">
          <a:xfrm>
            <a:off x="6742901" y="2281276"/>
            <a:ext cx="4029895" cy="1330325"/>
          </a:xfrm>
          <a:prstGeom prst="wedgeRectCallout">
            <a:avLst>
              <a:gd name="adj1" fmla="val -12362"/>
              <a:gd name="adj2" fmla="val -98209"/>
            </a:avLst>
          </a:prstGeom>
          <a:gradFill rotWithShape="1">
            <a:gsLst>
              <a:gs pos="0">
                <a:srgbClr val="00FFFF"/>
              </a:gs>
              <a:gs pos="100000">
                <a:schemeClr val="bg1"/>
              </a:gs>
            </a:gsLst>
            <a:lin ang="5400000" scaled="1"/>
          </a:gradFill>
          <a:ln w="19050">
            <a:solidFill>
              <a:srgbClr val="FF00FF"/>
            </a:solidFill>
            <a:miter lim="800000"/>
            <a:headEnd/>
            <a:tailEnd/>
          </a:ln>
          <a:effectLst>
            <a:outerShdw blurRad="50800" dist="106680" dir="2700000" algn="tl" rotWithShape="0">
              <a:prstClr val="black">
                <a:alpha val="43000"/>
              </a:prstClr>
            </a:outerShdw>
          </a:effectLst>
          <a:scene3d>
            <a:camera prst="orthographicFront"/>
            <a:lightRig rig="threePt" dir="t"/>
          </a:scene3d>
          <a:sp3d>
            <a:bevelT w="114300" prst="hardEdge"/>
          </a:sp3d>
        </p:spPr>
        <p:txBody>
          <a:bodyPr wrap="square" lIns="90000" tIns="46800" rIns="90000" bIns="46800" anchor="ctr">
            <a:spAutoFit/>
          </a:bodyPr>
          <a:lstStyle/>
          <a:p>
            <a:r>
              <a:rPr lang="zh-CN" altLang="zh-CN" sz="2000" b="1">
                <a:solidFill>
                  <a:srgbClr val="CC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楷体" pitchFamily="49" charset="-122"/>
              </a:rPr>
              <a:t>起始点</a:t>
            </a:r>
          </a:p>
          <a:p>
            <a:r>
              <a:rPr lang="zh-CN" altLang="zh-CN" sz="2000" b="1">
                <a:solidFill>
                  <a:schemeClr val="accent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楷体" pitchFamily="49" charset="-122"/>
              </a:rPr>
              <a:t>文件开始</a:t>
            </a:r>
            <a:r>
              <a:rPr lang="zh-CN" altLang="zh-CN" sz="2000" b="1">
                <a:solidFill>
                  <a:srgbClr val="CC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楷体" pitchFamily="49" charset="-122"/>
              </a:rPr>
              <a:t>              </a:t>
            </a:r>
            <a:r>
              <a:rPr lang="en-US" altLang="zh-CN" sz="2000" b="1">
                <a:solidFill>
                  <a:srgbClr val="CC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楷体" pitchFamily="49" charset="-122"/>
              </a:rPr>
              <a:t>SEEK_SET     0</a:t>
            </a:r>
          </a:p>
          <a:p>
            <a:r>
              <a:rPr lang="zh-CN" altLang="zh-CN" sz="2000" b="1">
                <a:solidFill>
                  <a:schemeClr val="accent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楷体" pitchFamily="49" charset="-122"/>
              </a:rPr>
              <a:t>文件当前位置</a:t>
            </a:r>
            <a:r>
              <a:rPr lang="zh-CN" altLang="zh-CN" sz="2000" b="1">
                <a:solidFill>
                  <a:srgbClr val="CC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楷体" pitchFamily="49" charset="-122"/>
              </a:rPr>
              <a:t>      </a:t>
            </a:r>
            <a:r>
              <a:rPr lang="en-US" altLang="zh-CN" sz="2000" b="1">
                <a:solidFill>
                  <a:srgbClr val="CC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楷体" pitchFamily="49" charset="-122"/>
              </a:rPr>
              <a:t>SEEK_CUR    1</a:t>
            </a:r>
          </a:p>
          <a:p>
            <a:r>
              <a:rPr lang="zh-CN" altLang="zh-CN" sz="2000" b="1">
                <a:solidFill>
                  <a:schemeClr val="accent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楷体" pitchFamily="49" charset="-122"/>
              </a:rPr>
              <a:t>文件末尾</a:t>
            </a:r>
            <a:r>
              <a:rPr lang="zh-CN" altLang="zh-CN" sz="2000" b="1">
                <a:solidFill>
                  <a:srgbClr val="CC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楷体" pitchFamily="49" charset="-122"/>
              </a:rPr>
              <a:t>              </a:t>
            </a:r>
            <a:r>
              <a:rPr lang="en-US" altLang="zh-CN" sz="2000" b="1">
                <a:solidFill>
                  <a:srgbClr val="CC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楷体" pitchFamily="49" charset="-122"/>
              </a:rPr>
              <a:t>SEEK_END    2</a:t>
            </a:r>
          </a:p>
        </p:txBody>
      </p:sp>
      <p:sp>
        <p:nvSpPr>
          <p:cNvPr id="1104934" name="Rectangle 38"/>
          <p:cNvSpPr>
            <a:spLocks noChangeArrowheads="1"/>
          </p:cNvSpPr>
          <p:nvPr/>
        </p:nvSpPr>
        <p:spPr bwMode="auto">
          <a:xfrm>
            <a:off x="672515" y="3212976"/>
            <a:ext cx="1800225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>
            <a:spAutoFit/>
          </a:bodyPr>
          <a:lstStyle/>
          <a:p>
            <a:pPr>
              <a:buFont typeface="Wingdings" pitchFamily="2" charset="2"/>
              <a:buChar char="Ø"/>
              <a:tabLst>
                <a:tab pos="496888" algn="l"/>
              </a:tabLst>
            </a:pPr>
            <a:r>
              <a:rPr lang="en-US" altLang="zh-CN" b="1" dirty="0">
                <a:solidFill>
                  <a:srgbClr val="FF33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楷体_GB2312" pitchFamily="49" charset="-122"/>
              </a:rPr>
              <a:t> </a:t>
            </a:r>
            <a:r>
              <a:rPr lang="en-US" altLang="zh-CN" b="1" dirty="0" err="1">
                <a:solidFill>
                  <a:srgbClr val="FF33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楷体_GB2312" pitchFamily="49" charset="-122"/>
              </a:rPr>
              <a:t>ftell</a:t>
            </a:r>
            <a:endParaRPr lang="en-US" altLang="zh-CN" b="1" dirty="0">
              <a:solidFill>
                <a:srgbClr val="FF3300"/>
              </a:solidFill>
              <a:effectLst>
                <a:outerShdw blurRad="38100" dist="38100" dir="2700000" algn="tl">
                  <a:srgbClr val="000000"/>
                </a:outerShdw>
              </a:effectLst>
              <a:ea typeface="楷体_GB2312" pitchFamily="49" charset="-122"/>
            </a:endParaRPr>
          </a:p>
        </p:txBody>
      </p:sp>
      <p:sp>
        <p:nvSpPr>
          <p:cNvPr id="1104935" name="Rectangle 39"/>
          <p:cNvSpPr>
            <a:spLocks noChangeArrowheads="1"/>
          </p:cNvSpPr>
          <p:nvPr/>
        </p:nvSpPr>
        <p:spPr bwMode="auto">
          <a:xfrm>
            <a:off x="1006435" y="3630488"/>
            <a:ext cx="2160587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buClr>
                <a:srgbClr val="339933"/>
              </a:buClr>
              <a:buFont typeface="Wingdings" pitchFamily="2" charset="2"/>
              <a:buChar char="l"/>
            </a:pPr>
            <a:r>
              <a:rPr lang="en-US" altLang="zh-CN" b="1" dirty="0">
                <a:effectLst>
                  <a:outerShdw blurRad="38100" dist="38100" dir="2700000" algn="tl">
                    <a:srgbClr val="FFFFFF"/>
                  </a:outerShdw>
                </a:effectLst>
                <a:latin typeface="+mn-lt"/>
                <a:ea typeface="楷体" pitchFamily="49" charset="-122"/>
              </a:rPr>
              <a:t> </a:t>
            </a:r>
            <a:r>
              <a:rPr lang="zh-CN" altLang="zh-CN" b="1" dirty="0">
                <a:effectLst>
                  <a:outerShdw blurRad="38100" dist="38100" dir="2700000" algn="tl">
                    <a:srgbClr val="FFFFFF"/>
                  </a:outerShdw>
                </a:effectLst>
                <a:latin typeface="+mn-lt"/>
                <a:ea typeface="楷体" pitchFamily="49" charset="-122"/>
              </a:rPr>
              <a:t>函数原形：         </a:t>
            </a:r>
            <a:endParaRPr lang="zh-CN" altLang="en-US" b="1" dirty="0">
              <a:effectLst>
                <a:outerShdw blurRad="38100" dist="38100" dir="2700000" algn="tl">
                  <a:srgbClr val="000000"/>
                </a:outerShdw>
              </a:effectLst>
              <a:latin typeface="+mn-lt"/>
              <a:ea typeface="楷体" pitchFamily="49" charset="-122"/>
            </a:endParaRPr>
          </a:p>
        </p:txBody>
      </p:sp>
      <p:sp>
        <p:nvSpPr>
          <p:cNvPr id="1104936" name="Text Box 40"/>
          <p:cNvSpPr txBox="1">
            <a:spLocks noChangeArrowheads="1"/>
          </p:cNvSpPr>
          <p:nvPr/>
        </p:nvSpPr>
        <p:spPr bwMode="auto">
          <a:xfrm>
            <a:off x="1487487" y="4210091"/>
            <a:ext cx="8883367" cy="431800"/>
          </a:xfrm>
          <a:prstGeom prst="rect">
            <a:avLst/>
          </a:prstGeom>
          <a:gradFill rotWithShape="1">
            <a:gsLst>
              <a:gs pos="0">
                <a:srgbClr val="FFFF99"/>
              </a:gs>
              <a:gs pos="100000">
                <a:srgbClr val="FFFF99">
                  <a:gamma/>
                  <a:shade val="75686"/>
                  <a:invGamma/>
                </a:srgbClr>
              </a:gs>
            </a:gsLst>
            <a:lin ang="5400000" scaled="1"/>
          </a:gradFill>
          <a:ln w="38100">
            <a:solidFill>
              <a:srgbClr val="0000FF"/>
            </a:solidFill>
            <a:miter lim="800000"/>
            <a:headEnd/>
            <a:tailEnd/>
          </a:ln>
          <a:effectLst>
            <a:outerShdw blurRad="50800" dist="106680" dir="2700000" algn="tl" rotWithShape="0">
              <a:prstClr val="black">
                <a:alpha val="43000"/>
              </a:prstClr>
            </a:outerShdw>
          </a:effectLst>
          <a:scene3d>
            <a:camera prst="orthographicFront"/>
            <a:lightRig rig="threePt" dir="t"/>
          </a:scene3d>
          <a:sp3d>
            <a:bevelT w="114300" prst="hardEdge"/>
          </a:sp3d>
        </p:spPr>
        <p:txBody>
          <a:bodyPr/>
          <a:lstStyle/>
          <a:p>
            <a:pPr algn="ctr"/>
            <a:r>
              <a:rPr lang="en-US" altLang="zh-CN" sz="2000" b="1">
                <a:effectLst>
                  <a:outerShdw blurRad="38100" dist="38100" dir="2700000" algn="tl">
                    <a:srgbClr val="FFFFFF"/>
                  </a:outerShdw>
                </a:effectLst>
                <a:latin typeface="+mn-lt"/>
                <a:ea typeface="楷体" pitchFamily="49" charset="-122"/>
              </a:rPr>
              <a:t>long  ftell (FILE *filepointer)</a:t>
            </a:r>
          </a:p>
        </p:txBody>
      </p:sp>
      <p:sp>
        <p:nvSpPr>
          <p:cNvPr id="1104937" name="Rectangle 41"/>
          <p:cNvSpPr>
            <a:spLocks noChangeArrowheads="1"/>
          </p:cNvSpPr>
          <p:nvPr/>
        </p:nvSpPr>
        <p:spPr bwMode="auto">
          <a:xfrm>
            <a:off x="1008305" y="4775076"/>
            <a:ext cx="10291699" cy="87889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lnSpc>
                <a:spcPts val="3200"/>
              </a:lnSpc>
              <a:buClr>
                <a:srgbClr val="339933"/>
              </a:buClr>
              <a:buFont typeface="Wingdings" pitchFamily="2" charset="2"/>
              <a:buChar char="l"/>
            </a:pPr>
            <a:r>
              <a:rPr lang="en-US" altLang="zh-CN" b="1" dirty="0">
                <a:effectLst>
                  <a:outerShdw blurRad="38100" dist="38100" dir="2700000" algn="tl">
                    <a:srgbClr val="FFFFFF"/>
                  </a:outerShdw>
                </a:effectLst>
                <a:latin typeface="+mn-lt"/>
                <a:ea typeface="楷体" pitchFamily="49" charset="-122"/>
              </a:rPr>
              <a:t> </a:t>
            </a:r>
            <a:r>
              <a:rPr lang="zh-CN" altLang="en-US" b="1" dirty="0">
                <a:effectLst>
                  <a:outerShdw blurRad="38100" dist="38100" dir="2700000" algn="tl">
                    <a:srgbClr val="FFFFFF"/>
                  </a:outerShdw>
                </a:effectLst>
                <a:latin typeface="+mn-lt"/>
                <a:ea typeface="楷体" pitchFamily="49" charset="-122"/>
              </a:rPr>
              <a:t>功能：</a:t>
            </a:r>
            <a:r>
              <a:rPr lang="zh-CN" altLang="zh-CN" b="1" dirty="0">
                <a:effectLst>
                  <a:outerShdw blurRad="38100" dist="38100" dir="2700000" algn="tl">
                    <a:srgbClr val="FFFFFF"/>
                  </a:outerShdw>
                </a:effectLst>
                <a:latin typeface="+mn-lt"/>
                <a:ea typeface="楷体" pitchFamily="49" charset="-122"/>
              </a:rPr>
              <a:t>返回位置指针当前位置(用相对文件开头的位移量表示)</a:t>
            </a:r>
          </a:p>
          <a:p>
            <a:pPr>
              <a:lnSpc>
                <a:spcPts val="3200"/>
              </a:lnSpc>
              <a:buClr>
                <a:srgbClr val="339933"/>
              </a:buClr>
              <a:buFont typeface="Wingdings" pitchFamily="2" charset="2"/>
              <a:buChar char="l"/>
            </a:pPr>
            <a:r>
              <a:rPr lang="en-US" altLang="zh-CN" b="1" dirty="0">
                <a:effectLst>
                  <a:outerShdw blurRad="38100" dist="38100" dir="2700000" algn="tl">
                    <a:srgbClr val="FFFFFF"/>
                  </a:outerShdw>
                </a:effectLst>
                <a:latin typeface="+mn-lt"/>
                <a:ea typeface="楷体" pitchFamily="49" charset="-122"/>
              </a:rPr>
              <a:t> </a:t>
            </a:r>
            <a:r>
              <a:rPr lang="zh-CN" altLang="en-US" b="1" dirty="0">
                <a:effectLst>
                  <a:outerShdw blurRad="38100" dist="38100" dir="2700000" algn="tl">
                    <a:srgbClr val="FFFFFF"/>
                  </a:outerShdw>
                </a:effectLst>
                <a:latin typeface="+mn-lt"/>
                <a:ea typeface="楷体" pitchFamily="49" charset="-122"/>
              </a:rPr>
              <a:t>返值：</a:t>
            </a:r>
            <a:r>
              <a:rPr lang="zh-CN" altLang="zh-CN" b="1" dirty="0">
                <a:effectLst>
                  <a:outerShdw blurRad="38100" dist="38100" dir="2700000" algn="tl">
                    <a:srgbClr val="FFFFFF"/>
                  </a:outerShdw>
                </a:effectLst>
                <a:latin typeface="+mn-lt"/>
                <a:ea typeface="楷体" pitchFamily="49" charset="-122"/>
              </a:rPr>
              <a:t>成功，返回当前位置指针位置；失败，返回-1</a:t>
            </a:r>
            <a:r>
              <a:rPr lang="en-US" altLang="zh-CN" b="1" dirty="0">
                <a:effectLst>
                  <a:outerShdw blurRad="38100" dist="38100" dir="2700000" algn="tl">
                    <a:srgbClr val="FFFFFF"/>
                  </a:outerShdw>
                </a:effectLst>
                <a:latin typeface="+mn-lt"/>
                <a:ea typeface="楷体" pitchFamily="49" charset="-122"/>
              </a:rPr>
              <a:t>L</a:t>
            </a:r>
            <a:r>
              <a:rPr lang="zh-CN" altLang="en-US" b="1" dirty="0">
                <a:effectLst>
                  <a:outerShdw blurRad="38100" dist="38100" dir="2700000" algn="tl">
                    <a:srgbClr val="FFFFFF"/>
                  </a:outerShdw>
                </a:effectLst>
                <a:latin typeface="+mn-lt"/>
                <a:ea typeface="楷体" pitchFamily="49" charset="-122"/>
              </a:rPr>
              <a:t>。</a:t>
            </a:r>
            <a:endParaRPr lang="en-US" altLang="zh-CN" b="1" dirty="0">
              <a:effectLst>
                <a:outerShdw blurRad="38100" dist="38100" dir="2700000" algn="tl">
                  <a:srgbClr val="FFFFFF"/>
                </a:outerShdw>
              </a:effectLst>
              <a:latin typeface="+mn-lt"/>
              <a:ea typeface="楷体" pitchFamily="49" charset="-122"/>
            </a:endParaRPr>
          </a:p>
        </p:txBody>
      </p:sp>
      <p:grpSp>
        <p:nvGrpSpPr>
          <p:cNvPr id="1104938" name="Group 42"/>
          <p:cNvGrpSpPr>
            <a:grpSpLocks/>
          </p:cNvGrpSpPr>
          <p:nvPr/>
        </p:nvGrpSpPr>
        <p:grpSpPr bwMode="auto">
          <a:xfrm>
            <a:off x="-11154" y="0"/>
            <a:ext cx="446088" cy="6858000"/>
            <a:chOff x="0" y="0"/>
            <a:chExt cx="281" cy="4320"/>
          </a:xfrm>
        </p:grpSpPr>
        <p:sp>
          <p:nvSpPr>
            <p:cNvPr id="1104939" name="Text Box 43"/>
            <p:cNvSpPr txBox="1">
              <a:spLocks noChangeArrowheads="1"/>
            </p:cNvSpPr>
            <p:nvPr/>
          </p:nvSpPr>
          <p:spPr bwMode="auto">
            <a:xfrm>
              <a:off x="0" y="0"/>
              <a:ext cx="281" cy="4320"/>
            </a:xfrm>
            <a:prstGeom prst="rect">
              <a:avLst/>
            </a:prstGeom>
            <a:gradFill rotWithShape="0">
              <a:gsLst>
                <a:gs pos="0">
                  <a:schemeClr val="hlink">
                    <a:gamma/>
                    <a:shade val="60784"/>
                    <a:invGamma/>
                  </a:schemeClr>
                </a:gs>
                <a:gs pos="50000">
                  <a:schemeClr val="hlink"/>
                </a:gs>
                <a:gs pos="100000">
                  <a:schemeClr val="hlink">
                    <a:gamma/>
                    <a:shade val="60784"/>
                    <a:invGamma/>
                  </a:schemeClr>
                </a:gs>
              </a:gsLst>
              <a:lin ang="0" scaled="1"/>
            </a:gradFill>
            <a:ln w="9525">
              <a:noFill/>
              <a:miter lim="800000"/>
              <a:headEnd/>
              <a:tailEnd/>
            </a:ln>
            <a:effectLst/>
          </p:spPr>
          <p:txBody>
            <a:bodyPr/>
            <a:lstStyle/>
            <a:p>
              <a:pPr eaLnBrk="0" hangingPunct="0">
                <a:spcBef>
                  <a:spcPct val="50000"/>
                </a:spcBef>
              </a:pPr>
              <a:endParaRPr lang="en-US" altLang="zh-CN" sz="1800" dirty="0">
                <a:solidFill>
                  <a:srgbClr val="3333CC"/>
                </a:solidFill>
                <a:latin typeface="Verdana" pitchFamily="34" charset="0"/>
              </a:endParaRPr>
            </a:p>
            <a:p>
              <a:pPr eaLnBrk="0" hangingPunct="0">
                <a:spcBef>
                  <a:spcPct val="50000"/>
                </a:spcBef>
              </a:pPr>
              <a:r>
                <a:rPr lang="zh-CN" altLang="en-US" sz="1600" b="1" dirty="0">
                  <a:solidFill>
                    <a:srgbClr val="3333CC"/>
                  </a:solidFill>
                  <a:latin typeface="Verdana" pitchFamily="34" charset="0"/>
                </a:rPr>
                <a:t>语言程序设计教程       </a:t>
              </a:r>
            </a:p>
            <a:p>
              <a:pPr eaLnBrk="0" hangingPunct="0">
                <a:spcBef>
                  <a:spcPct val="50000"/>
                </a:spcBef>
              </a:pPr>
              <a:r>
                <a:rPr lang="zh-CN" altLang="en-US" sz="1600" b="1" dirty="0">
                  <a:solidFill>
                    <a:srgbClr val="3333CC"/>
                  </a:solidFill>
                  <a:latin typeface="Verdana" pitchFamily="34" charset="0"/>
                </a:rPr>
                <a:t>第三版</a:t>
              </a:r>
            </a:p>
            <a:p>
              <a:pPr eaLnBrk="0" hangingPunct="0">
                <a:spcBef>
                  <a:spcPct val="50000"/>
                </a:spcBef>
              </a:pPr>
              <a:endParaRPr lang="zh-CN" altLang="en-US" sz="1600" b="1" dirty="0">
                <a:solidFill>
                  <a:srgbClr val="3333CC"/>
                </a:solidFill>
                <a:latin typeface="Verdana" pitchFamily="34" charset="0"/>
              </a:endParaRPr>
            </a:p>
            <a:p>
              <a:pPr eaLnBrk="0" hangingPunct="0">
                <a:spcBef>
                  <a:spcPct val="50000"/>
                </a:spcBef>
              </a:pPr>
              <a:endParaRPr lang="zh-CN" altLang="en-US" sz="1600" b="1" dirty="0">
                <a:solidFill>
                  <a:srgbClr val="3333CC"/>
                </a:solidFill>
                <a:latin typeface="Verdana" pitchFamily="34" charset="0"/>
              </a:endParaRPr>
            </a:p>
            <a:p>
              <a:pPr eaLnBrk="0" hangingPunct="0">
                <a:spcBef>
                  <a:spcPct val="50000"/>
                </a:spcBef>
              </a:pPr>
              <a:r>
                <a:rPr lang="zh-CN" altLang="en-US" sz="1600" b="1" dirty="0">
                  <a:solidFill>
                    <a:srgbClr val="3333CC"/>
                  </a:solidFill>
                  <a:latin typeface="Verdana" pitchFamily="34" charset="0"/>
                </a:rPr>
                <a:t>第十</a:t>
              </a:r>
            </a:p>
            <a:p>
              <a:pPr eaLnBrk="0" hangingPunct="0">
                <a:spcBef>
                  <a:spcPct val="50000"/>
                </a:spcBef>
              </a:pPr>
              <a:r>
                <a:rPr lang="zh-CN" altLang="en-US" sz="1600" b="1" dirty="0">
                  <a:solidFill>
                    <a:srgbClr val="3333CC"/>
                  </a:solidFill>
                  <a:latin typeface="Verdana" pitchFamily="34" charset="0"/>
                </a:rPr>
                <a:t>二章 </a:t>
              </a:r>
            </a:p>
            <a:p>
              <a:pPr eaLnBrk="0" hangingPunct="0">
                <a:spcBef>
                  <a:spcPct val="50000"/>
                </a:spcBef>
              </a:pPr>
              <a:endParaRPr lang="zh-CN" altLang="en-US" sz="1600" b="1" dirty="0">
                <a:solidFill>
                  <a:srgbClr val="3333CC"/>
                </a:solidFill>
                <a:latin typeface="Verdana" pitchFamily="34" charset="0"/>
              </a:endParaRPr>
            </a:p>
            <a:p>
              <a:pPr eaLnBrk="0" hangingPunct="0">
                <a:spcBef>
                  <a:spcPct val="50000"/>
                </a:spcBef>
              </a:pPr>
              <a:r>
                <a:rPr lang="zh-CN" altLang="en-US" sz="1600" b="1" dirty="0">
                  <a:solidFill>
                    <a:srgbClr val="3333CC"/>
                  </a:solidFill>
                  <a:latin typeface="Verdana" pitchFamily="34" charset="0"/>
                </a:rPr>
                <a:t>文</a:t>
              </a:r>
            </a:p>
            <a:p>
              <a:pPr eaLnBrk="0" hangingPunct="0">
                <a:spcBef>
                  <a:spcPct val="50000"/>
                </a:spcBef>
              </a:pPr>
              <a:endParaRPr lang="zh-CN" altLang="en-US" sz="1600" b="1" dirty="0">
                <a:solidFill>
                  <a:srgbClr val="3333CC"/>
                </a:solidFill>
                <a:latin typeface="Verdana" pitchFamily="34" charset="0"/>
              </a:endParaRPr>
            </a:p>
            <a:p>
              <a:pPr eaLnBrk="0" hangingPunct="0">
                <a:spcBef>
                  <a:spcPct val="50000"/>
                </a:spcBef>
              </a:pPr>
              <a:r>
                <a:rPr lang="zh-CN" altLang="en-US" sz="1600" b="1" dirty="0">
                  <a:solidFill>
                    <a:srgbClr val="3333CC"/>
                  </a:solidFill>
                  <a:latin typeface="Verdana" pitchFamily="34" charset="0"/>
                </a:rPr>
                <a:t>件</a:t>
              </a:r>
            </a:p>
          </p:txBody>
        </p:sp>
        <p:sp>
          <p:nvSpPr>
            <p:cNvPr id="1104940" name="Text Box 44"/>
            <p:cNvSpPr txBox="1">
              <a:spLocks noChangeArrowheads="1"/>
            </p:cNvSpPr>
            <p:nvPr/>
          </p:nvSpPr>
          <p:spPr bwMode="auto">
            <a:xfrm>
              <a:off x="0" y="0"/>
              <a:ext cx="281" cy="231"/>
            </a:xfrm>
            <a:prstGeom prst="rect">
              <a:avLst/>
            </a:prstGeom>
            <a:gradFill rotWithShape="0">
              <a:gsLst>
                <a:gs pos="0">
                  <a:schemeClr val="hlink">
                    <a:gamma/>
                    <a:shade val="46275"/>
                    <a:invGamma/>
                  </a:schemeClr>
                </a:gs>
                <a:gs pos="50000">
                  <a:schemeClr val="hlink"/>
                </a:gs>
                <a:gs pos="100000">
                  <a:schemeClr val="hlink">
                    <a:gamma/>
                    <a:shade val="46275"/>
                    <a:invGamma/>
                  </a:schemeClr>
                </a:gs>
              </a:gsLst>
              <a:lin ang="0" scaled="1"/>
            </a:gradFill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eaLnBrk="0" hangingPunct="0">
                <a:spcBef>
                  <a:spcPct val="50000"/>
                </a:spcBef>
              </a:pPr>
              <a:r>
                <a:rPr lang="en-US" altLang="zh-CN" sz="1800" b="1">
                  <a:solidFill>
                    <a:srgbClr val="0000FF"/>
                  </a:solidFill>
                  <a:latin typeface="Arial" pitchFamily="34" charset="0"/>
                </a:rPr>
                <a:t>C</a:t>
              </a:r>
            </a:p>
          </p:txBody>
        </p:sp>
      </p:grpSp>
    </p:spTree>
  </p:cSld>
  <p:clrMapOvr>
    <a:masterClrMapping/>
  </p:clrMapOvr>
  <p:transition>
    <p:cover/>
    <p:sndAc>
      <p:stSnd>
        <p:snd r:embed="rId3" name="CAMER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49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0490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0490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49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3" dur="500"/>
                                        <p:tgtEl>
                                          <p:spTgt spid="1104906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500"/>
                            </p:stCondLst>
                            <p:childTnLst>
                              <p:par>
                                <p:cTn id="15" presetID="4" presetClass="entr" presetSubtype="3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49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7" dur="500"/>
                                        <p:tgtEl>
                                          <p:spTgt spid="1104907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490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22" dur="500"/>
                                        <p:tgtEl>
                                          <p:spTgt spid="110490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490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27" dur="500"/>
                                        <p:tgtEl>
                                          <p:spTgt spid="110490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49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32" dur="500"/>
                                        <p:tgtEl>
                                          <p:spTgt spid="1104931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1049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49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37" dur="500"/>
                                        <p:tgtEl>
                                          <p:spTgt spid="1104932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1049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49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42" dur="500"/>
                                        <p:tgtEl>
                                          <p:spTgt spid="1104933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1049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49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11049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11049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49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53" dur="500"/>
                                        <p:tgtEl>
                                          <p:spTgt spid="1104935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500"/>
                            </p:stCondLst>
                            <p:childTnLst>
                              <p:par>
                                <p:cTn id="55" presetID="4" presetClass="entr" presetSubtype="3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49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57" dur="500"/>
                                        <p:tgtEl>
                                          <p:spTgt spid="1104936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493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62" dur="500"/>
                                        <p:tgtEl>
                                          <p:spTgt spid="110493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6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493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67" dur="500"/>
                                        <p:tgtEl>
                                          <p:spTgt spid="110493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6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04905" grpId="0"/>
      <p:bldP spid="1104906" grpId="0"/>
      <p:bldP spid="1104907" grpId="0" animBg="1"/>
      <p:bldP spid="1104931" grpId="0" animBg="1" autoUpdateAnimBg="0"/>
      <p:bldP spid="1104932" grpId="0" animBg="1" autoUpdateAnimBg="0"/>
      <p:bldP spid="1104933" grpId="0" animBg="1" autoUpdateAnimBg="0"/>
      <p:bldP spid="1104934" grpId="0"/>
      <p:bldP spid="1104935" grpId="0"/>
      <p:bldP spid="1104936" grpId="0" animBg="1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6949" name="Rectangle 5"/>
          <p:cNvSpPr>
            <a:spLocks noChangeArrowheads="1"/>
          </p:cNvSpPr>
          <p:nvPr/>
        </p:nvSpPr>
        <p:spPr bwMode="auto">
          <a:xfrm>
            <a:off x="-72554" y="151755"/>
            <a:ext cx="11209114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anchor="ctr">
            <a:spAutoFit/>
          </a:bodyPr>
          <a:lstStyle/>
          <a:p>
            <a:r>
              <a:rPr lang="en-US" altLang="zh-CN" b="1" dirty="0">
                <a:solidFill>
                  <a:srgbClr val="CC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隶书" pitchFamily="49" charset="-122"/>
                <a:ea typeface="隶书" pitchFamily="49" charset="-122"/>
              </a:rPr>
              <a:t>   【</a:t>
            </a:r>
            <a:r>
              <a:rPr lang="zh-CN" altLang="en-US" b="1" dirty="0">
                <a:solidFill>
                  <a:srgbClr val="CC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隶书" pitchFamily="49" charset="-122"/>
                <a:ea typeface="隶书" pitchFamily="49" charset="-122"/>
              </a:rPr>
              <a:t>例</a:t>
            </a:r>
            <a:r>
              <a:rPr lang="en-US" altLang="zh-CN" b="1" dirty="0">
                <a:solidFill>
                  <a:srgbClr val="CC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隶书" pitchFamily="49" charset="-122"/>
                <a:ea typeface="隶书" pitchFamily="49" charset="-122"/>
              </a:rPr>
              <a:t>8】</a:t>
            </a:r>
            <a:r>
              <a:rPr lang="zh-CN" altLang="en-US" b="1" dirty="0">
                <a:solidFill>
                  <a:srgbClr val="CC0066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隶书" pitchFamily="49" charset="-122"/>
              </a:rPr>
              <a:t>磁盘文件上有</a:t>
            </a:r>
            <a:r>
              <a:rPr lang="en-US" altLang="zh-CN" b="1" dirty="0">
                <a:solidFill>
                  <a:srgbClr val="CC0066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隶书" pitchFamily="49" charset="-122"/>
              </a:rPr>
              <a:t>3</a:t>
            </a:r>
            <a:r>
              <a:rPr lang="zh-CN" altLang="en-US" b="1" dirty="0">
                <a:solidFill>
                  <a:srgbClr val="CC0066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隶书" pitchFamily="49" charset="-122"/>
              </a:rPr>
              <a:t>个学生数据，要求读入第</a:t>
            </a:r>
            <a:r>
              <a:rPr lang="en-US" altLang="zh-CN" b="1" dirty="0">
                <a:solidFill>
                  <a:srgbClr val="CC0066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隶书" pitchFamily="49" charset="-122"/>
              </a:rPr>
              <a:t>1</a:t>
            </a:r>
            <a:r>
              <a:rPr lang="zh-CN" altLang="en-US" b="1" dirty="0">
                <a:solidFill>
                  <a:srgbClr val="CC0066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隶书" pitchFamily="49" charset="-122"/>
              </a:rPr>
              <a:t>，</a:t>
            </a:r>
            <a:r>
              <a:rPr lang="en-US" altLang="zh-CN" b="1" dirty="0">
                <a:solidFill>
                  <a:srgbClr val="CC0066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隶书" pitchFamily="49" charset="-122"/>
              </a:rPr>
              <a:t>3</a:t>
            </a:r>
            <a:r>
              <a:rPr lang="zh-CN" altLang="en-US" b="1" dirty="0">
                <a:solidFill>
                  <a:srgbClr val="CC0066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隶书" pitchFamily="49" charset="-122"/>
              </a:rPr>
              <a:t>学生数据并显示。</a:t>
            </a:r>
            <a:r>
              <a:rPr lang="zh-CN" altLang="en-US" dirty="0">
                <a:solidFill>
                  <a:srgbClr val="CC0066"/>
                </a:solidFill>
                <a:ea typeface="隶书" pitchFamily="49" charset="-122"/>
              </a:rPr>
              <a:t> </a:t>
            </a:r>
          </a:p>
        </p:txBody>
      </p:sp>
      <p:sp>
        <p:nvSpPr>
          <p:cNvPr id="1106950" name="Rectangle 6" descr="信纸"/>
          <p:cNvSpPr>
            <a:spLocks noChangeArrowheads="1"/>
          </p:cNvSpPr>
          <p:nvPr/>
        </p:nvSpPr>
        <p:spPr bwMode="auto">
          <a:xfrm>
            <a:off x="556344" y="755651"/>
            <a:ext cx="6311900" cy="4397375"/>
          </a:xfrm>
          <a:prstGeom prst="rect">
            <a:avLst/>
          </a:prstGeom>
          <a:blipFill dpi="0" rotWithShape="1">
            <a:blip r:embed="rId5" cstate="print"/>
            <a:srcRect/>
            <a:tile tx="0" ty="0" sx="100000" sy="100000" flip="none" algn="tl"/>
          </a:blipFill>
          <a:ln w="38100">
            <a:solidFill>
              <a:srgbClr val="008000"/>
            </a:solidFill>
            <a:miter lim="800000"/>
            <a:headEnd/>
            <a:tailEnd/>
          </a:ln>
          <a:effectLst>
            <a:outerShdw blurRad="50800" dist="106680" dir="2700000" algn="tl" rotWithShape="0">
              <a:prstClr val="black">
                <a:alpha val="43000"/>
              </a:prstClr>
            </a:outerShdw>
          </a:effectLst>
          <a:scene3d>
            <a:camera prst="orthographicFront"/>
            <a:lightRig rig="threePt" dir="t"/>
          </a:scene3d>
          <a:sp3d>
            <a:bevelT w="114300" prst="hardEdge"/>
          </a:sp3d>
        </p:spPr>
        <p:txBody>
          <a:bodyPr anchor="ctr">
            <a:spAutoFit/>
          </a:bodyPr>
          <a:lstStyle/>
          <a:p>
            <a:pPr marL="457200" indent="-457200">
              <a:tabLst>
                <a:tab pos="914400" algn="l"/>
              </a:tabLst>
            </a:pPr>
            <a:r>
              <a:rPr lang="en-US" altLang="zh-CN" sz="2000" b="1">
                <a:effectLst>
                  <a:outerShdw blurRad="38100" dist="38100" dir="2700000" algn="tl">
                    <a:srgbClr val="FFFFFF"/>
                  </a:outerShdw>
                </a:effectLst>
              </a:rPr>
              <a:t>#include &lt;stdio.h&gt;</a:t>
            </a:r>
          </a:p>
          <a:p>
            <a:pPr marL="457200" indent="-457200">
              <a:tabLst>
                <a:tab pos="914400" algn="l"/>
              </a:tabLst>
            </a:pPr>
            <a:r>
              <a:rPr lang="en-US" altLang="zh-CN" sz="2000" b="1">
                <a:effectLst>
                  <a:outerShdw blurRad="38100" dist="38100" dir="2700000" algn="tl">
                    <a:srgbClr val="FFFFFF"/>
                  </a:outerShdw>
                </a:effectLst>
              </a:rPr>
              <a:t>#include &lt;stdlib.h&gt;</a:t>
            </a:r>
          </a:p>
          <a:p>
            <a:pPr marL="457200" indent="-457200">
              <a:tabLst>
                <a:tab pos="914400" algn="l"/>
              </a:tabLst>
            </a:pPr>
            <a:r>
              <a:rPr lang="en-US" altLang="zh-CN" sz="2000" b="1">
                <a:effectLst>
                  <a:outerShdw blurRad="38100" dist="38100" dir="2700000" algn="tl">
                    <a:srgbClr val="FFFFFF"/>
                  </a:outerShdw>
                </a:effectLst>
              </a:rPr>
              <a:t>#include &lt;memory.h&gt;</a:t>
            </a:r>
          </a:p>
          <a:p>
            <a:pPr marL="457200" indent="-457200">
              <a:tabLst>
                <a:tab pos="914400" algn="l"/>
              </a:tabLst>
            </a:pPr>
            <a:endParaRPr lang="en-US" altLang="zh-CN" sz="2000" b="1">
              <a:effectLst>
                <a:outerShdw blurRad="38100" dist="38100" dir="2700000" algn="tl">
                  <a:srgbClr val="FFFFFF"/>
                </a:outerShdw>
              </a:effectLst>
            </a:endParaRPr>
          </a:p>
          <a:p>
            <a:pPr marL="457200" indent="-457200">
              <a:tabLst>
                <a:tab pos="914400" algn="l"/>
              </a:tabLst>
            </a:pPr>
            <a:r>
              <a:rPr lang="en-US" altLang="zh-CN" sz="2000" b="1">
                <a:effectLst>
                  <a:outerShdw blurRad="38100" dist="38100" dir="2700000" algn="tl">
                    <a:srgbClr val="FFFFFF"/>
                  </a:outerShdw>
                </a:effectLst>
              </a:rPr>
              <a:t>struct student_info</a:t>
            </a:r>
          </a:p>
          <a:p>
            <a:pPr marL="457200" indent="-457200">
              <a:tabLst>
                <a:tab pos="914400" algn="l"/>
              </a:tabLst>
            </a:pPr>
            <a:r>
              <a:rPr lang="en-US" altLang="zh-CN" sz="2000" b="1">
                <a:effectLst>
                  <a:outerShdw blurRad="38100" dist="38100" dir="2700000" algn="tl">
                    <a:srgbClr val="FFFFFF"/>
                  </a:outerShdw>
                </a:effectLst>
              </a:rPr>
              <a:t>{    </a:t>
            </a:r>
          </a:p>
          <a:p>
            <a:pPr marL="457200" indent="-457200">
              <a:tabLst>
                <a:tab pos="914400" algn="l"/>
              </a:tabLst>
            </a:pPr>
            <a:r>
              <a:rPr lang="en-US" altLang="zh-CN" sz="2000" b="1">
                <a:effectLst>
                  <a:outerShdw blurRad="38100" dist="38100" dir="2700000" algn="tl">
                    <a:srgbClr val="FFFFFF"/>
                  </a:outerShdw>
                </a:effectLst>
              </a:rPr>
              <a:t>  char no[9];</a:t>
            </a:r>
          </a:p>
          <a:p>
            <a:pPr marL="457200" indent="-457200">
              <a:tabLst>
                <a:tab pos="914400" algn="l"/>
              </a:tabLst>
            </a:pPr>
            <a:r>
              <a:rPr lang="en-US" altLang="zh-CN" sz="2000" b="1">
                <a:effectLst>
                  <a:outerShdw blurRad="38100" dist="38100" dir="2700000" algn="tl">
                    <a:srgbClr val="FFFFFF"/>
                  </a:outerShdw>
                </a:effectLst>
              </a:rPr>
              <a:t>  char name[10];</a:t>
            </a:r>
          </a:p>
          <a:p>
            <a:pPr marL="457200" indent="-457200">
              <a:tabLst>
                <a:tab pos="914400" algn="l"/>
              </a:tabLst>
            </a:pPr>
            <a:r>
              <a:rPr lang="en-US" altLang="zh-CN" sz="2000" b="1">
                <a:effectLst>
                  <a:outerShdw blurRad="38100" dist="38100" dir="2700000" algn="tl">
                    <a:srgbClr val="FFFFFF"/>
                  </a:outerShdw>
                </a:effectLst>
              </a:rPr>
              <a:t>  char sex;</a:t>
            </a:r>
          </a:p>
          <a:p>
            <a:pPr marL="457200" indent="-457200">
              <a:tabLst>
                <a:tab pos="914400" algn="l"/>
              </a:tabLst>
            </a:pPr>
            <a:r>
              <a:rPr lang="en-US" altLang="zh-CN" sz="2000" b="1">
                <a:effectLst>
                  <a:outerShdw blurRad="38100" dist="38100" dir="2700000" algn="tl">
                    <a:srgbClr val="FFFFFF"/>
                  </a:outerShdw>
                </a:effectLst>
              </a:rPr>
              <a:t>  int  age;</a:t>
            </a:r>
          </a:p>
          <a:p>
            <a:pPr marL="457200" indent="-457200">
              <a:tabLst>
                <a:tab pos="914400" algn="l"/>
              </a:tabLst>
            </a:pPr>
            <a:r>
              <a:rPr lang="en-US" altLang="zh-CN" sz="2000" b="1">
                <a:effectLst>
                  <a:outerShdw blurRad="38100" dist="38100" dir="2700000" algn="tl">
                    <a:srgbClr val="FFFFFF"/>
                  </a:outerShdw>
                </a:effectLst>
              </a:rPr>
              <a:t>  char depart[15];</a:t>
            </a:r>
          </a:p>
          <a:p>
            <a:pPr marL="457200" indent="-457200">
              <a:tabLst>
                <a:tab pos="914400" algn="l"/>
              </a:tabLst>
            </a:pPr>
            <a:r>
              <a:rPr lang="en-US" altLang="zh-CN" sz="2000" b="1">
                <a:effectLst>
                  <a:outerShdw blurRad="38100" dist="38100" dir="2700000" algn="tl">
                    <a:srgbClr val="FFFFFF"/>
                  </a:outerShdw>
                </a:effectLst>
              </a:rPr>
              <a:t>} stu[3] = { {"0001", "WangFei", 'M', 18, "Computer"},  </a:t>
            </a:r>
          </a:p>
          <a:p>
            <a:pPr marL="457200" indent="-457200">
              <a:tabLst>
                <a:tab pos="914400" algn="l"/>
              </a:tabLst>
            </a:pPr>
            <a:r>
              <a:rPr lang="en-US" altLang="zh-CN" sz="2000" b="1">
                <a:effectLst>
                  <a:outerShdw blurRad="38100" dist="38100" dir="2700000" algn="tl">
                    <a:srgbClr val="FFFFFF"/>
                  </a:outerShdw>
                </a:effectLst>
              </a:rPr>
              <a:t>                   {"0002", "ZhangMin", 'M', 19, "Math"},</a:t>
            </a:r>
          </a:p>
          <a:p>
            <a:pPr marL="457200" indent="-457200">
              <a:tabLst>
                <a:tab pos="914400" algn="l"/>
              </a:tabLst>
            </a:pPr>
            <a:r>
              <a:rPr lang="en-US" altLang="zh-CN" sz="2000" b="1">
                <a:effectLst>
                  <a:outerShdw blurRad="38100" dist="38100" dir="2700000" algn="tl">
                    <a:srgbClr val="FFFFFF"/>
                  </a:outerShdw>
                </a:effectLst>
              </a:rPr>
              <a:t>                   {"0003", "LiYan", 'F', 19, "English"} };</a:t>
            </a:r>
          </a:p>
        </p:txBody>
      </p:sp>
      <p:grpSp>
        <p:nvGrpSpPr>
          <p:cNvPr id="1106955" name="Group 11"/>
          <p:cNvGrpSpPr>
            <a:grpSpLocks/>
          </p:cNvGrpSpPr>
          <p:nvPr/>
        </p:nvGrpSpPr>
        <p:grpSpPr bwMode="auto">
          <a:xfrm>
            <a:off x="-8806" y="0"/>
            <a:ext cx="446088" cy="6858000"/>
            <a:chOff x="0" y="0"/>
            <a:chExt cx="281" cy="4320"/>
          </a:xfrm>
        </p:grpSpPr>
        <p:sp>
          <p:nvSpPr>
            <p:cNvPr id="1106956" name="Text Box 12"/>
            <p:cNvSpPr txBox="1">
              <a:spLocks noChangeArrowheads="1"/>
            </p:cNvSpPr>
            <p:nvPr/>
          </p:nvSpPr>
          <p:spPr bwMode="auto">
            <a:xfrm>
              <a:off x="0" y="0"/>
              <a:ext cx="281" cy="4320"/>
            </a:xfrm>
            <a:prstGeom prst="rect">
              <a:avLst/>
            </a:prstGeom>
            <a:gradFill rotWithShape="0">
              <a:gsLst>
                <a:gs pos="0">
                  <a:schemeClr val="hlink">
                    <a:gamma/>
                    <a:shade val="60784"/>
                    <a:invGamma/>
                  </a:schemeClr>
                </a:gs>
                <a:gs pos="50000">
                  <a:schemeClr val="hlink"/>
                </a:gs>
                <a:gs pos="100000">
                  <a:schemeClr val="hlink">
                    <a:gamma/>
                    <a:shade val="60784"/>
                    <a:invGamma/>
                  </a:schemeClr>
                </a:gs>
              </a:gsLst>
              <a:lin ang="0" scaled="1"/>
            </a:gradFill>
            <a:ln w="9525">
              <a:noFill/>
              <a:miter lim="800000"/>
              <a:headEnd/>
              <a:tailEnd/>
            </a:ln>
            <a:effectLst/>
          </p:spPr>
          <p:txBody>
            <a:bodyPr/>
            <a:lstStyle/>
            <a:p>
              <a:pPr eaLnBrk="0" hangingPunct="0">
                <a:spcBef>
                  <a:spcPct val="50000"/>
                </a:spcBef>
              </a:pPr>
              <a:endParaRPr lang="en-US" altLang="zh-CN" sz="1800" dirty="0">
                <a:solidFill>
                  <a:srgbClr val="3333CC"/>
                </a:solidFill>
                <a:latin typeface="Verdana" pitchFamily="34" charset="0"/>
              </a:endParaRPr>
            </a:p>
            <a:p>
              <a:pPr eaLnBrk="0" hangingPunct="0">
                <a:spcBef>
                  <a:spcPct val="50000"/>
                </a:spcBef>
              </a:pPr>
              <a:r>
                <a:rPr lang="zh-CN" altLang="en-US" sz="1600" b="1" dirty="0">
                  <a:solidFill>
                    <a:srgbClr val="3333CC"/>
                  </a:solidFill>
                  <a:latin typeface="Verdana" pitchFamily="34" charset="0"/>
                </a:rPr>
                <a:t>语言程序设计教程       </a:t>
              </a:r>
            </a:p>
            <a:p>
              <a:pPr eaLnBrk="0" hangingPunct="0">
                <a:spcBef>
                  <a:spcPct val="50000"/>
                </a:spcBef>
              </a:pPr>
              <a:r>
                <a:rPr lang="zh-CN" altLang="en-US" sz="1600" b="1" dirty="0">
                  <a:solidFill>
                    <a:srgbClr val="3333CC"/>
                  </a:solidFill>
                  <a:latin typeface="Verdana" pitchFamily="34" charset="0"/>
                </a:rPr>
                <a:t>第三版</a:t>
              </a:r>
            </a:p>
            <a:p>
              <a:pPr eaLnBrk="0" hangingPunct="0">
                <a:spcBef>
                  <a:spcPct val="50000"/>
                </a:spcBef>
              </a:pPr>
              <a:endParaRPr lang="zh-CN" altLang="en-US" sz="1600" b="1" dirty="0">
                <a:solidFill>
                  <a:srgbClr val="3333CC"/>
                </a:solidFill>
                <a:latin typeface="Verdana" pitchFamily="34" charset="0"/>
              </a:endParaRPr>
            </a:p>
            <a:p>
              <a:pPr eaLnBrk="0" hangingPunct="0">
                <a:spcBef>
                  <a:spcPct val="50000"/>
                </a:spcBef>
              </a:pPr>
              <a:endParaRPr lang="zh-CN" altLang="en-US" sz="1600" b="1" dirty="0">
                <a:solidFill>
                  <a:srgbClr val="3333CC"/>
                </a:solidFill>
                <a:latin typeface="Verdana" pitchFamily="34" charset="0"/>
              </a:endParaRPr>
            </a:p>
            <a:p>
              <a:pPr eaLnBrk="0" hangingPunct="0">
                <a:spcBef>
                  <a:spcPct val="50000"/>
                </a:spcBef>
              </a:pPr>
              <a:r>
                <a:rPr lang="zh-CN" altLang="en-US" sz="1600" b="1" dirty="0">
                  <a:solidFill>
                    <a:srgbClr val="3333CC"/>
                  </a:solidFill>
                  <a:latin typeface="Verdana" pitchFamily="34" charset="0"/>
                </a:rPr>
                <a:t>第十</a:t>
              </a:r>
            </a:p>
            <a:p>
              <a:pPr eaLnBrk="0" hangingPunct="0">
                <a:spcBef>
                  <a:spcPct val="50000"/>
                </a:spcBef>
              </a:pPr>
              <a:r>
                <a:rPr lang="zh-CN" altLang="en-US" sz="1600" b="1" dirty="0">
                  <a:solidFill>
                    <a:srgbClr val="3333CC"/>
                  </a:solidFill>
                  <a:latin typeface="Verdana" pitchFamily="34" charset="0"/>
                </a:rPr>
                <a:t>二章 </a:t>
              </a:r>
            </a:p>
            <a:p>
              <a:pPr eaLnBrk="0" hangingPunct="0">
                <a:spcBef>
                  <a:spcPct val="50000"/>
                </a:spcBef>
              </a:pPr>
              <a:endParaRPr lang="zh-CN" altLang="en-US" sz="1600" b="1" dirty="0">
                <a:solidFill>
                  <a:srgbClr val="3333CC"/>
                </a:solidFill>
                <a:latin typeface="Verdana" pitchFamily="34" charset="0"/>
              </a:endParaRPr>
            </a:p>
            <a:p>
              <a:pPr eaLnBrk="0" hangingPunct="0">
                <a:spcBef>
                  <a:spcPct val="50000"/>
                </a:spcBef>
              </a:pPr>
              <a:r>
                <a:rPr lang="zh-CN" altLang="en-US" sz="1600" b="1" dirty="0">
                  <a:solidFill>
                    <a:srgbClr val="3333CC"/>
                  </a:solidFill>
                  <a:latin typeface="Verdana" pitchFamily="34" charset="0"/>
                </a:rPr>
                <a:t>文</a:t>
              </a:r>
            </a:p>
            <a:p>
              <a:pPr eaLnBrk="0" hangingPunct="0">
                <a:spcBef>
                  <a:spcPct val="50000"/>
                </a:spcBef>
              </a:pPr>
              <a:endParaRPr lang="zh-CN" altLang="en-US" sz="1600" b="1" dirty="0">
                <a:solidFill>
                  <a:srgbClr val="3333CC"/>
                </a:solidFill>
                <a:latin typeface="Verdana" pitchFamily="34" charset="0"/>
              </a:endParaRPr>
            </a:p>
            <a:p>
              <a:pPr eaLnBrk="0" hangingPunct="0">
                <a:spcBef>
                  <a:spcPct val="50000"/>
                </a:spcBef>
              </a:pPr>
              <a:r>
                <a:rPr lang="zh-CN" altLang="en-US" sz="1600" b="1" dirty="0">
                  <a:solidFill>
                    <a:srgbClr val="3333CC"/>
                  </a:solidFill>
                  <a:latin typeface="Verdana" pitchFamily="34" charset="0"/>
                </a:rPr>
                <a:t>件</a:t>
              </a:r>
            </a:p>
          </p:txBody>
        </p:sp>
        <p:sp>
          <p:nvSpPr>
            <p:cNvPr id="1106957" name="Text Box 13"/>
            <p:cNvSpPr txBox="1">
              <a:spLocks noChangeArrowheads="1"/>
            </p:cNvSpPr>
            <p:nvPr/>
          </p:nvSpPr>
          <p:spPr bwMode="auto">
            <a:xfrm>
              <a:off x="0" y="0"/>
              <a:ext cx="281" cy="231"/>
            </a:xfrm>
            <a:prstGeom prst="rect">
              <a:avLst/>
            </a:prstGeom>
            <a:gradFill rotWithShape="0">
              <a:gsLst>
                <a:gs pos="0">
                  <a:schemeClr val="hlink">
                    <a:gamma/>
                    <a:shade val="46275"/>
                    <a:invGamma/>
                  </a:schemeClr>
                </a:gs>
                <a:gs pos="50000">
                  <a:schemeClr val="hlink"/>
                </a:gs>
                <a:gs pos="100000">
                  <a:schemeClr val="hlink">
                    <a:gamma/>
                    <a:shade val="46275"/>
                    <a:invGamma/>
                  </a:schemeClr>
                </a:gs>
              </a:gsLst>
              <a:lin ang="0" scaled="1"/>
            </a:gradFill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eaLnBrk="0" hangingPunct="0">
                <a:spcBef>
                  <a:spcPct val="50000"/>
                </a:spcBef>
              </a:pPr>
              <a:r>
                <a:rPr lang="en-US" altLang="zh-CN" sz="1800" b="1">
                  <a:solidFill>
                    <a:srgbClr val="0000FF"/>
                  </a:solidFill>
                  <a:latin typeface="Arial" pitchFamily="34" charset="0"/>
                </a:rPr>
                <a:t>C</a:t>
              </a:r>
            </a:p>
          </p:txBody>
        </p:sp>
      </p:grpSp>
      <p:sp>
        <p:nvSpPr>
          <p:cNvPr id="1106952" name="Rectangle 8" descr="信纸"/>
          <p:cNvSpPr>
            <a:spLocks noChangeArrowheads="1"/>
          </p:cNvSpPr>
          <p:nvPr/>
        </p:nvSpPr>
        <p:spPr bwMode="auto">
          <a:xfrm>
            <a:off x="6672064" y="759817"/>
            <a:ext cx="5303837" cy="4397375"/>
          </a:xfrm>
          <a:prstGeom prst="rect">
            <a:avLst/>
          </a:prstGeom>
          <a:blipFill dpi="0" rotWithShape="1">
            <a:blip r:embed="rId5" cstate="print"/>
            <a:srcRect/>
            <a:tile tx="0" ty="0" sx="100000" sy="100000" flip="none" algn="tl"/>
          </a:blipFill>
          <a:ln w="38100">
            <a:solidFill>
              <a:srgbClr val="008000"/>
            </a:solidFill>
            <a:miter lim="800000"/>
            <a:headEnd/>
            <a:tailEnd/>
          </a:ln>
          <a:effectLst>
            <a:outerShdw blurRad="50800" dist="106680" dir="2700000" algn="tl" rotWithShape="0">
              <a:prstClr val="black">
                <a:alpha val="43000"/>
              </a:prstClr>
            </a:outerShdw>
          </a:effectLst>
          <a:scene3d>
            <a:camera prst="orthographicFront"/>
            <a:lightRig rig="threePt" dir="t"/>
          </a:scene3d>
          <a:sp3d>
            <a:bevelT w="114300" prst="hardEdge"/>
          </a:sp3d>
        </p:spPr>
        <p:txBody>
          <a:bodyPr anchor="ctr">
            <a:spAutoFit/>
          </a:bodyPr>
          <a:lstStyle/>
          <a:p>
            <a:pPr marL="457200" indent="-457200">
              <a:tabLst>
                <a:tab pos="914400" algn="l"/>
              </a:tabLst>
            </a:pPr>
            <a:r>
              <a:rPr lang="en-US" altLang="zh-CN" sz="2000" b="1" dirty="0" err="1">
                <a:solidFill>
                  <a:srgbClr val="CC0066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楷体_GB2312" pitchFamily="49" charset="-122"/>
              </a:rPr>
              <a:t>int</a:t>
            </a:r>
            <a:r>
              <a:rPr lang="en-US" altLang="zh-CN" sz="2000" b="1" dirty="0">
                <a:solidFill>
                  <a:srgbClr val="CC0066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楷体_GB2312" pitchFamily="49" charset="-122"/>
              </a:rPr>
              <a:t> main ( )</a:t>
            </a:r>
          </a:p>
          <a:p>
            <a:pPr marL="457200" indent="-457200">
              <a:tabLst>
                <a:tab pos="914400" algn="l"/>
              </a:tabLst>
            </a:pPr>
            <a:r>
              <a:rPr lang="en-US" altLang="zh-CN" sz="2000" b="1" dirty="0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{   </a:t>
            </a:r>
          </a:p>
          <a:p>
            <a:pPr marL="457200" indent="-457200">
              <a:tabLst>
                <a:tab pos="914400" algn="l"/>
              </a:tabLst>
            </a:pPr>
            <a:r>
              <a:rPr lang="en-US" altLang="zh-CN" sz="2000" b="1" dirty="0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  </a:t>
            </a:r>
            <a:r>
              <a:rPr lang="en-US" altLang="zh-CN" sz="2000" b="1" dirty="0" err="1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int</a:t>
            </a:r>
            <a:r>
              <a:rPr lang="en-US" altLang="zh-CN" sz="2000" b="1" dirty="0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 </a:t>
            </a:r>
            <a:r>
              <a:rPr lang="en-US" altLang="zh-CN" sz="2000" b="1" dirty="0" err="1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i</a:t>
            </a:r>
            <a:r>
              <a:rPr lang="en-US" altLang="zh-CN" sz="2000" b="1" dirty="0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;</a:t>
            </a:r>
          </a:p>
          <a:p>
            <a:pPr marL="457200" indent="-457200">
              <a:tabLst>
                <a:tab pos="914400" algn="l"/>
              </a:tabLst>
            </a:pPr>
            <a:r>
              <a:rPr lang="en-US" altLang="zh-CN" sz="2000" b="1" dirty="0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  FILE *</a:t>
            </a:r>
            <a:r>
              <a:rPr lang="en-US" altLang="zh-CN" sz="2000" b="1" dirty="0" err="1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fp</a:t>
            </a:r>
            <a:r>
              <a:rPr lang="en-US" altLang="zh-CN" sz="2000" b="1" dirty="0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;</a:t>
            </a:r>
          </a:p>
          <a:p>
            <a:pPr marL="457200" indent="-457200">
              <a:tabLst>
                <a:tab pos="914400" algn="l"/>
              </a:tabLst>
            </a:pPr>
            <a:r>
              <a:rPr lang="en-US" altLang="zh-CN" sz="2000" b="1" dirty="0">
                <a:solidFill>
                  <a:schemeClr val="accent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楷体_GB2312" pitchFamily="49" charset="-122"/>
              </a:rPr>
              <a:t>  </a:t>
            </a:r>
            <a:r>
              <a:rPr lang="en-US" altLang="zh-CN" sz="2000" b="1" dirty="0">
                <a:solidFill>
                  <a:schemeClr val="accent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楷体" pitchFamily="49" charset="-122"/>
              </a:rPr>
              <a:t>//</a:t>
            </a:r>
            <a:r>
              <a:rPr lang="zh-CN" altLang="en-US" sz="2000" b="1" dirty="0">
                <a:solidFill>
                  <a:schemeClr val="accent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楷体" pitchFamily="49" charset="-122"/>
              </a:rPr>
              <a:t>以读写方式打开二进制文件</a:t>
            </a:r>
          </a:p>
          <a:p>
            <a:pPr marL="457200" indent="-457200">
              <a:tabLst>
                <a:tab pos="914400" algn="l"/>
              </a:tabLst>
            </a:pPr>
            <a:r>
              <a:rPr lang="zh-CN" altLang="en-US" sz="2000" b="1" dirty="0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  </a:t>
            </a:r>
            <a:r>
              <a:rPr lang="en-US" altLang="zh-CN" sz="2000" b="1" dirty="0" err="1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fp</a:t>
            </a:r>
            <a:r>
              <a:rPr lang="en-US" altLang="zh-CN" sz="2000" b="1" dirty="0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 = </a:t>
            </a:r>
            <a:r>
              <a:rPr lang="en-US" altLang="zh-CN" sz="2000" b="1" dirty="0" err="1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fopen</a:t>
            </a:r>
            <a:r>
              <a:rPr lang="en-US" altLang="zh-CN" sz="2000" b="1" dirty="0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 ("student.dat", "</a:t>
            </a:r>
            <a:r>
              <a:rPr lang="en-US" altLang="zh-CN" sz="2000" b="1" dirty="0" err="1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wb</a:t>
            </a:r>
            <a:r>
              <a:rPr lang="en-US" altLang="zh-CN" sz="2000" b="1" dirty="0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+");  </a:t>
            </a:r>
          </a:p>
          <a:p>
            <a:pPr marL="457200" indent="-457200">
              <a:tabLst>
                <a:tab pos="914400" algn="l"/>
              </a:tabLst>
            </a:pPr>
            <a:r>
              <a:rPr lang="en-US" altLang="zh-CN" sz="2000" b="1" dirty="0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  if (</a:t>
            </a:r>
            <a:r>
              <a:rPr lang="en-US" altLang="zh-CN" sz="2000" b="1" dirty="0" err="1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fp</a:t>
            </a:r>
            <a:r>
              <a:rPr lang="en-US" altLang="zh-CN" sz="2000" b="1" dirty="0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 = = NULL)   </a:t>
            </a:r>
            <a:r>
              <a:rPr lang="en-US" altLang="zh-CN" sz="2000" b="1" dirty="0">
                <a:solidFill>
                  <a:schemeClr val="accent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楷体" pitchFamily="49" charset="-122"/>
              </a:rPr>
              <a:t>//</a:t>
            </a:r>
            <a:r>
              <a:rPr lang="zh-CN" altLang="en-US" sz="2000" b="1" dirty="0">
                <a:solidFill>
                  <a:schemeClr val="accent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楷体" pitchFamily="49" charset="-122"/>
              </a:rPr>
              <a:t>打开失败</a:t>
            </a:r>
          </a:p>
          <a:p>
            <a:pPr marL="457200" indent="-457200">
              <a:tabLst>
                <a:tab pos="914400" algn="l"/>
              </a:tabLst>
            </a:pPr>
            <a:r>
              <a:rPr lang="zh-CN" altLang="en-US" sz="2000" b="1" dirty="0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  </a:t>
            </a:r>
            <a:r>
              <a:rPr lang="en-US" altLang="zh-CN" sz="2000" b="1" dirty="0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{   </a:t>
            </a:r>
          </a:p>
          <a:p>
            <a:pPr marL="457200" indent="-457200">
              <a:tabLst>
                <a:tab pos="914400" algn="l"/>
              </a:tabLst>
            </a:pPr>
            <a:r>
              <a:rPr lang="en-US" altLang="zh-CN" sz="2000" b="1" dirty="0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    </a:t>
            </a:r>
            <a:r>
              <a:rPr lang="en-US" altLang="zh-CN" sz="2000" b="1" dirty="0" err="1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printf</a:t>
            </a:r>
            <a:r>
              <a:rPr lang="en-US" altLang="zh-CN" sz="2000" b="1" dirty="0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 ("can't create file: student.dat\n");</a:t>
            </a:r>
          </a:p>
          <a:p>
            <a:pPr marL="457200" indent="-457200">
              <a:tabLst>
                <a:tab pos="914400" algn="l"/>
              </a:tabLst>
            </a:pPr>
            <a:r>
              <a:rPr lang="en-US" altLang="zh-CN" sz="2000" b="1" dirty="0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    exit (0);   </a:t>
            </a:r>
          </a:p>
          <a:p>
            <a:pPr marL="457200" indent="-457200">
              <a:tabLst>
                <a:tab pos="914400" algn="l"/>
              </a:tabLst>
            </a:pPr>
            <a:r>
              <a:rPr lang="en-US" altLang="zh-CN" sz="2000" b="1" dirty="0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  }</a:t>
            </a:r>
          </a:p>
          <a:p>
            <a:pPr marL="457200" indent="-457200">
              <a:tabLst>
                <a:tab pos="914400" algn="l"/>
              </a:tabLst>
            </a:pPr>
            <a:endParaRPr lang="en-US" altLang="zh-CN" sz="2000" b="1" dirty="0">
              <a:effectLst>
                <a:outerShdw blurRad="38100" dist="38100" dir="2700000" algn="tl">
                  <a:srgbClr val="FFFFFF"/>
                </a:outerShdw>
              </a:effectLst>
              <a:ea typeface="楷体_GB2312" pitchFamily="49" charset="-122"/>
            </a:endParaRPr>
          </a:p>
          <a:p>
            <a:pPr marL="457200" indent="-457200">
              <a:tabLst>
                <a:tab pos="914400" algn="l"/>
              </a:tabLst>
            </a:pPr>
            <a:r>
              <a:rPr lang="en-US" altLang="zh-CN" sz="2000" b="1" dirty="0">
                <a:solidFill>
                  <a:schemeClr val="accent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楷体_GB2312" pitchFamily="49" charset="-122"/>
              </a:rPr>
              <a:t>  </a:t>
            </a:r>
            <a:r>
              <a:rPr lang="en-US" altLang="zh-CN" sz="2000" b="1" dirty="0">
                <a:solidFill>
                  <a:schemeClr val="accent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楷体" pitchFamily="49" charset="-122"/>
              </a:rPr>
              <a:t>//</a:t>
            </a:r>
            <a:r>
              <a:rPr lang="zh-CN" altLang="en-US" sz="2000" b="1" dirty="0">
                <a:solidFill>
                  <a:schemeClr val="accent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楷体" pitchFamily="49" charset="-122"/>
              </a:rPr>
              <a:t>将学生信息写入到文件中</a:t>
            </a:r>
          </a:p>
          <a:p>
            <a:pPr marL="457200" indent="-457200">
              <a:tabLst>
                <a:tab pos="914400" algn="l"/>
              </a:tabLst>
            </a:pPr>
            <a:r>
              <a:rPr lang="zh-CN" altLang="en-US" sz="2000" b="1" dirty="0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  </a:t>
            </a:r>
            <a:r>
              <a:rPr lang="en-US" altLang="zh-CN" sz="2000" b="1" dirty="0" err="1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fwrite</a:t>
            </a:r>
            <a:r>
              <a:rPr lang="en-US" altLang="zh-CN" sz="2000" b="1" dirty="0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 (</a:t>
            </a:r>
            <a:r>
              <a:rPr lang="en-US" altLang="zh-CN" sz="2000" b="1" dirty="0" err="1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stu</a:t>
            </a:r>
            <a:r>
              <a:rPr lang="en-US" altLang="zh-CN" sz="2000" b="1" dirty="0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, </a:t>
            </a:r>
            <a:r>
              <a:rPr lang="en-US" altLang="zh-CN" sz="2000" b="1" dirty="0" err="1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sizeof</a:t>
            </a:r>
            <a:r>
              <a:rPr lang="en-US" altLang="zh-CN" sz="2000" b="1" dirty="0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(</a:t>
            </a:r>
            <a:r>
              <a:rPr lang="en-US" altLang="zh-CN" sz="2000" b="1" dirty="0" err="1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struct</a:t>
            </a:r>
            <a:r>
              <a:rPr lang="en-US" altLang="zh-CN" sz="2000" b="1" dirty="0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 </a:t>
            </a:r>
            <a:r>
              <a:rPr lang="en-US" altLang="zh-CN" sz="2000" b="1" dirty="0" err="1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student_info</a:t>
            </a:r>
            <a:r>
              <a:rPr lang="en-US" altLang="zh-CN" sz="2000" b="1" dirty="0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), 3, </a:t>
            </a:r>
            <a:r>
              <a:rPr lang="en-US" altLang="zh-CN" sz="2000" b="1" dirty="0" err="1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fp</a:t>
            </a:r>
            <a:r>
              <a:rPr lang="en-US" altLang="zh-CN" sz="2000" b="1" dirty="0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); </a:t>
            </a:r>
          </a:p>
        </p:txBody>
      </p:sp>
      <p:sp>
        <p:nvSpPr>
          <p:cNvPr id="1106953" name="Rectangle 9" descr="信纸"/>
          <p:cNvSpPr>
            <a:spLocks noChangeArrowheads="1"/>
          </p:cNvSpPr>
          <p:nvPr/>
        </p:nvSpPr>
        <p:spPr bwMode="auto">
          <a:xfrm>
            <a:off x="1343472" y="1905962"/>
            <a:ext cx="7200900" cy="4770537"/>
          </a:xfrm>
          <a:prstGeom prst="rect">
            <a:avLst/>
          </a:prstGeom>
          <a:blipFill dpi="0" rotWithShape="1">
            <a:blip r:embed="rId5" cstate="print"/>
            <a:srcRect/>
            <a:tile tx="0" ty="0" sx="100000" sy="100000" flip="none" algn="tl"/>
          </a:blipFill>
          <a:ln w="38100">
            <a:solidFill>
              <a:srgbClr val="008000"/>
            </a:solidFill>
            <a:miter lim="800000"/>
            <a:headEnd/>
            <a:tailEnd/>
          </a:ln>
          <a:effectLst>
            <a:outerShdw blurRad="50800" dist="106680" dir="2700000" algn="tl" rotWithShape="0">
              <a:prstClr val="black">
                <a:alpha val="43000"/>
              </a:prstClr>
            </a:outerShdw>
          </a:effectLst>
          <a:scene3d>
            <a:camera prst="orthographicFront"/>
            <a:lightRig rig="threePt" dir="t"/>
          </a:scene3d>
          <a:sp3d>
            <a:bevelT w="114300" prst="hardEdge"/>
          </a:sp3d>
        </p:spPr>
        <p:txBody>
          <a:bodyPr anchor="ctr">
            <a:spAutoFit/>
          </a:bodyPr>
          <a:lstStyle/>
          <a:p>
            <a:pPr marL="457200" indent="-457200">
              <a:tabLst>
                <a:tab pos="914400" algn="l"/>
              </a:tabLst>
            </a:pPr>
            <a:r>
              <a:rPr lang="en-US" altLang="zh-CN" dirty="0"/>
              <a:t>  </a:t>
            </a:r>
            <a:r>
              <a:rPr lang="en-US" altLang="zh-CN" sz="2000" b="1" dirty="0">
                <a:solidFill>
                  <a:srgbClr val="FF33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楷体_GB2312" pitchFamily="49" charset="-122"/>
              </a:rPr>
              <a:t>rewind (</a:t>
            </a:r>
            <a:r>
              <a:rPr lang="en-US" altLang="zh-CN" sz="2000" b="1" dirty="0" err="1">
                <a:solidFill>
                  <a:srgbClr val="FF33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楷体_GB2312" pitchFamily="49" charset="-122"/>
              </a:rPr>
              <a:t>fp</a:t>
            </a:r>
            <a:r>
              <a:rPr lang="en-US" altLang="zh-CN" sz="2000" b="1" dirty="0">
                <a:solidFill>
                  <a:srgbClr val="FF33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楷体_GB2312" pitchFamily="49" charset="-122"/>
              </a:rPr>
              <a:t>);</a:t>
            </a:r>
            <a:r>
              <a:rPr lang="en-US" altLang="zh-CN" sz="2000" b="1" dirty="0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    </a:t>
            </a:r>
            <a:r>
              <a:rPr lang="en-US" altLang="zh-CN" sz="2000" b="1" dirty="0">
                <a:solidFill>
                  <a:schemeClr val="accent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楷体" pitchFamily="49" charset="-122"/>
              </a:rPr>
              <a:t>//</a:t>
            </a:r>
            <a:r>
              <a:rPr lang="zh-CN" altLang="en-US" sz="2000" b="1" dirty="0">
                <a:solidFill>
                  <a:schemeClr val="accent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楷体" pitchFamily="49" charset="-122"/>
              </a:rPr>
              <a:t>将文件位置指针置回到文件头</a:t>
            </a:r>
          </a:p>
          <a:p>
            <a:pPr marL="457200" indent="-457200">
              <a:tabLst>
                <a:tab pos="914400" algn="l"/>
              </a:tabLst>
            </a:pPr>
            <a:r>
              <a:rPr lang="zh-CN" altLang="en-US" sz="2000" b="1" dirty="0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  </a:t>
            </a:r>
            <a:r>
              <a:rPr lang="en-US" altLang="zh-CN" sz="2000" b="1" dirty="0" err="1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memset</a:t>
            </a:r>
            <a:r>
              <a:rPr lang="en-US" altLang="zh-CN" sz="2000" b="1" dirty="0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 (</a:t>
            </a:r>
            <a:r>
              <a:rPr lang="en-US" altLang="zh-CN" sz="2000" b="1" dirty="0" err="1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stu</a:t>
            </a:r>
            <a:r>
              <a:rPr lang="en-US" altLang="zh-CN" sz="2000" b="1" dirty="0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, 0, 3*</a:t>
            </a:r>
            <a:r>
              <a:rPr lang="en-US" altLang="zh-CN" sz="2000" b="1" dirty="0" err="1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sizeof</a:t>
            </a:r>
            <a:r>
              <a:rPr lang="en-US" altLang="zh-CN" sz="2000" b="1" dirty="0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(</a:t>
            </a:r>
            <a:r>
              <a:rPr lang="en-US" altLang="zh-CN" sz="2000" b="1" dirty="0" err="1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struct</a:t>
            </a:r>
            <a:r>
              <a:rPr lang="en-US" altLang="zh-CN" sz="2000" b="1" dirty="0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 </a:t>
            </a:r>
            <a:r>
              <a:rPr lang="en-US" altLang="zh-CN" sz="2000" b="1" dirty="0" err="1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student_info</a:t>
            </a:r>
            <a:r>
              <a:rPr lang="en-US" altLang="zh-CN" sz="2000" b="1" dirty="0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));  </a:t>
            </a:r>
            <a:r>
              <a:rPr lang="en-US" altLang="zh-CN" sz="2000" b="1" dirty="0">
                <a:solidFill>
                  <a:schemeClr val="accent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楷体" pitchFamily="49" charset="-122"/>
              </a:rPr>
              <a:t>//</a:t>
            </a:r>
            <a:r>
              <a:rPr lang="zh-CN" altLang="en-US" sz="2000" b="1" dirty="0">
                <a:solidFill>
                  <a:schemeClr val="accent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楷体" pitchFamily="49" charset="-122"/>
              </a:rPr>
              <a:t>清除学生信息</a:t>
            </a:r>
          </a:p>
          <a:p>
            <a:pPr marL="457200" indent="-457200">
              <a:tabLst>
                <a:tab pos="914400" algn="l"/>
              </a:tabLst>
            </a:pPr>
            <a:r>
              <a:rPr lang="zh-CN" altLang="en-US" sz="2000" b="1" dirty="0">
                <a:solidFill>
                  <a:schemeClr val="accent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楷体" pitchFamily="49" charset="-122"/>
              </a:rPr>
              <a:t>  </a:t>
            </a:r>
            <a:r>
              <a:rPr lang="en-US" altLang="zh-CN" sz="2000" b="1" dirty="0">
                <a:solidFill>
                  <a:schemeClr val="accent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楷体" pitchFamily="49" charset="-122"/>
              </a:rPr>
              <a:t>//</a:t>
            </a:r>
            <a:r>
              <a:rPr lang="zh-CN" altLang="en-US" sz="2000" b="1" dirty="0">
                <a:solidFill>
                  <a:schemeClr val="accent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楷体" pitchFamily="49" charset="-122"/>
              </a:rPr>
              <a:t>读第</a:t>
            </a:r>
            <a:r>
              <a:rPr lang="en-US" altLang="zh-CN" sz="2000" b="1" dirty="0">
                <a:solidFill>
                  <a:schemeClr val="accent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楷体" pitchFamily="49" charset="-122"/>
              </a:rPr>
              <a:t>1</a:t>
            </a:r>
            <a:r>
              <a:rPr lang="zh-CN" altLang="en-US" sz="2000" b="1" dirty="0">
                <a:solidFill>
                  <a:schemeClr val="accent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楷体" pitchFamily="49" charset="-122"/>
              </a:rPr>
              <a:t>和第</a:t>
            </a:r>
            <a:r>
              <a:rPr lang="en-US" altLang="zh-CN" sz="2000" b="1" dirty="0">
                <a:solidFill>
                  <a:schemeClr val="accent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楷体" pitchFamily="49" charset="-122"/>
              </a:rPr>
              <a:t>3</a:t>
            </a:r>
            <a:r>
              <a:rPr lang="zh-CN" altLang="en-US" sz="2000" b="1" dirty="0">
                <a:solidFill>
                  <a:schemeClr val="accent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楷体" pitchFamily="49" charset="-122"/>
              </a:rPr>
              <a:t>个学生的信息到结构数组</a:t>
            </a:r>
            <a:r>
              <a:rPr lang="en-US" altLang="zh-CN" sz="2000" b="1" dirty="0" err="1">
                <a:solidFill>
                  <a:schemeClr val="accent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楷体" pitchFamily="49" charset="-122"/>
              </a:rPr>
              <a:t>stu</a:t>
            </a:r>
            <a:r>
              <a:rPr lang="zh-CN" altLang="en-US" sz="2000" b="1" dirty="0">
                <a:solidFill>
                  <a:schemeClr val="accent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楷体" pitchFamily="49" charset="-122"/>
              </a:rPr>
              <a:t>中</a:t>
            </a:r>
          </a:p>
          <a:p>
            <a:pPr marL="457200" indent="-457200">
              <a:tabLst>
                <a:tab pos="914400" algn="l"/>
              </a:tabLst>
            </a:pPr>
            <a:r>
              <a:rPr lang="zh-CN" altLang="en-US" sz="2000" b="1" dirty="0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  </a:t>
            </a:r>
            <a:r>
              <a:rPr lang="en-US" altLang="zh-CN" sz="2000" b="1" dirty="0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for (</a:t>
            </a:r>
            <a:r>
              <a:rPr lang="en-US" altLang="zh-CN" sz="2000" b="1" dirty="0" err="1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i</a:t>
            </a:r>
            <a:r>
              <a:rPr lang="en-US" altLang="zh-CN" sz="2000" b="1" dirty="0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 = 0; </a:t>
            </a:r>
            <a:r>
              <a:rPr lang="en-US" altLang="zh-CN" sz="2000" b="1" dirty="0" err="1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i</a:t>
            </a:r>
            <a:r>
              <a:rPr lang="en-US" altLang="zh-CN" sz="2000" b="1" dirty="0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 &lt; 3; </a:t>
            </a:r>
            <a:r>
              <a:rPr lang="en-US" altLang="zh-CN" sz="2000" b="1" dirty="0" err="1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i</a:t>
            </a:r>
            <a:r>
              <a:rPr lang="en-US" altLang="zh-CN" sz="2000" b="1" dirty="0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 += 2)</a:t>
            </a:r>
          </a:p>
          <a:p>
            <a:pPr marL="457200" indent="-457200">
              <a:tabLst>
                <a:tab pos="914400" algn="l"/>
              </a:tabLst>
            </a:pPr>
            <a:r>
              <a:rPr lang="en-US" altLang="zh-CN" sz="2000" b="1" dirty="0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  {   </a:t>
            </a:r>
          </a:p>
          <a:p>
            <a:pPr marL="457200" indent="-457200">
              <a:tabLst>
                <a:tab pos="914400" algn="l"/>
              </a:tabLst>
            </a:pPr>
            <a:r>
              <a:rPr lang="en-US" altLang="zh-CN" sz="2000" b="1" dirty="0">
                <a:solidFill>
                  <a:schemeClr val="accent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楷体" pitchFamily="49" charset="-122"/>
              </a:rPr>
              <a:t>    //</a:t>
            </a:r>
            <a:r>
              <a:rPr lang="zh-CN" altLang="en-US" sz="2000" b="1" dirty="0">
                <a:solidFill>
                  <a:schemeClr val="accent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楷体" pitchFamily="49" charset="-122"/>
              </a:rPr>
              <a:t>文件位置指针定位</a:t>
            </a:r>
          </a:p>
          <a:p>
            <a:pPr marL="457200" indent="-457200">
              <a:tabLst>
                <a:tab pos="914400" algn="l"/>
              </a:tabLst>
            </a:pPr>
            <a:r>
              <a:rPr lang="zh-CN" altLang="en-US" sz="2000" b="1" dirty="0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    </a:t>
            </a:r>
            <a:r>
              <a:rPr lang="en-US" altLang="zh-CN" sz="2000" b="1" dirty="0" err="1">
                <a:solidFill>
                  <a:srgbClr val="FF33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楷体_GB2312" pitchFamily="49" charset="-122"/>
              </a:rPr>
              <a:t>fseek</a:t>
            </a:r>
            <a:r>
              <a:rPr lang="en-US" altLang="zh-CN" sz="2000" b="1" dirty="0">
                <a:solidFill>
                  <a:srgbClr val="FF33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楷体_GB2312" pitchFamily="49" charset="-122"/>
              </a:rPr>
              <a:t> (</a:t>
            </a:r>
            <a:r>
              <a:rPr lang="en-US" altLang="zh-CN" sz="2000" b="1" dirty="0" err="1">
                <a:solidFill>
                  <a:srgbClr val="FF33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楷体_GB2312" pitchFamily="49" charset="-122"/>
              </a:rPr>
              <a:t>fp</a:t>
            </a:r>
            <a:r>
              <a:rPr lang="en-US" altLang="zh-CN" sz="2000" b="1" dirty="0">
                <a:solidFill>
                  <a:srgbClr val="FF33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楷体_GB2312" pitchFamily="49" charset="-122"/>
              </a:rPr>
              <a:t>, </a:t>
            </a:r>
            <a:r>
              <a:rPr lang="en-US" altLang="zh-CN" sz="2000" b="1" dirty="0" err="1">
                <a:solidFill>
                  <a:srgbClr val="FF33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楷体_GB2312" pitchFamily="49" charset="-122"/>
              </a:rPr>
              <a:t>i</a:t>
            </a:r>
            <a:r>
              <a:rPr lang="en-US" altLang="zh-CN" sz="2000" b="1" dirty="0">
                <a:solidFill>
                  <a:srgbClr val="FF33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楷体_GB2312" pitchFamily="49" charset="-122"/>
              </a:rPr>
              <a:t>*</a:t>
            </a:r>
            <a:r>
              <a:rPr lang="en-US" altLang="zh-CN" sz="2000" b="1" dirty="0" err="1">
                <a:solidFill>
                  <a:srgbClr val="FF33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楷体_GB2312" pitchFamily="49" charset="-122"/>
              </a:rPr>
              <a:t>sizeof</a:t>
            </a:r>
            <a:r>
              <a:rPr lang="en-US" altLang="zh-CN" sz="2000" b="1" dirty="0">
                <a:solidFill>
                  <a:srgbClr val="FF33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楷体_GB2312" pitchFamily="49" charset="-122"/>
              </a:rPr>
              <a:t>(</a:t>
            </a:r>
            <a:r>
              <a:rPr lang="en-US" altLang="zh-CN" sz="2000" b="1" dirty="0" err="1">
                <a:solidFill>
                  <a:srgbClr val="FF33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楷体_GB2312" pitchFamily="49" charset="-122"/>
              </a:rPr>
              <a:t>struct</a:t>
            </a:r>
            <a:r>
              <a:rPr lang="en-US" altLang="zh-CN" sz="2000" b="1" dirty="0">
                <a:solidFill>
                  <a:srgbClr val="FF33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楷体_GB2312" pitchFamily="49" charset="-122"/>
              </a:rPr>
              <a:t> </a:t>
            </a:r>
            <a:r>
              <a:rPr lang="en-US" altLang="zh-CN" sz="2000" b="1" dirty="0" err="1">
                <a:solidFill>
                  <a:srgbClr val="FF33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楷体_GB2312" pitchFamily="49" charset="-122"/>
              </a:rPr>
              <a:t>student_info</a:t>
            </a:r>
            <a:r>
              <a:rPr lang="en-US" altLang="zh-CN" sz="2000" b="1" dirty="0">
                <a:solidFill>
                  <a:srgbClr val="FF33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楷体_GB2312" pitchFamily="49" charset="-122"/>
              </a:rPr>
              <a:t>), SEEK_SET); </a:t>
            </a:r>
          </a:p>
          <a:p>
            <a:pPr marL="457200" indent="-457200">
              <a:tabLst>
                <a:tab pos="914400" algn="l"/>
              </a:tabLst>
            </a:pPr>
            <a:r>
              <a:rPr lang="en-US" altLang="zh-CN" sz="2000" b="1" dirty="0">
                <a:solidFill>
                  <a:schemeClr val="accent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楷体_GB2312" pitchFamily="49" charset="-122"/>
              </a:rPr>
              <a:t>    </a:t>
            </a:r>
            <a:r>
              <a:rPr lang="en-US" altLang="zh-CN" sz="2000" b="1" dirty="0">
                <a:solidFill>
                  <a:schemeClr val="accent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楷体" pitchFamily="49" charset="-122"/>
              </a:rPr>
              <a:t>//</a:t>
            </a:r>
            <a:r>
              <a:rPr lang="zh-CN" altLang="en-US" sz="2000" b="1" dirty="0">
                <a:solidFill>
                  <a:schemeClr val="accent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楷体" pitchFamily="49" charset="-122"/>
              </a:rPr>
              <a:t>读取一个学生的信息</a:t>
            </a:r>
          </a:p>
          <a:p>
            <a:pPr marL="457200" indent="-457200">
              <a:tabLst>
                <a:tab pos="914400" algn="l"/>
              </a:tabLst>
            </a:pPr>
            <a:r>
              <a:rPr lang="zh-CN" altLang="en-US" sz="2000" b="1" dirty="0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   </a:t>
            </a:r>
            <a:r>
              <a:rPr lang="en-US" altLang="zh-CN" sz="2000" b="1" dirty="0" err="1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fread</a:t>
            </a:r>
            <a:r>
              <a:rPr lang="en-US" altLang="zh-CN" sz="2000" b="1" dirty="0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 (&amp;</a:t>
            </a:r>
            <a:r>
              <a:rPr lang="en-US" altLang="zh-CN" sz="2000" b="1" dirty="0" err="1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stu</a:t>
            </a:r>
            <a:r>
              <a:rPr lang="en-US" altLang="zh-CN" sz="2000" b="1" dirty="0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[</a:t>
            </a:r>
            <a:r>
              <a:rPr lang="en-US" altLang="zh-CN" sz="2000" b="1" dirty="0" err="1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i</a:t>
            </a:r>
            <a:r>
              <a:rPr lang="en-US" altLang="zh-CN" sz="2000" b="1" dirty="0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], </a:t>
            </a:r>
            <a:r>
              <a:rPr lang="en-US" altLang="zh-CN" sz="2000" b="1" dirty="0" err="1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sizeof</a:t>
            </a:r>
            <a:r>
              <a:rPr lang="en-US" altLang="zh-CN" sz="2000" b="1" dirty="0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(</a:t>
            </a:r>
            <a:r>
              <a:rPr lang="en-US" altLang="zh-CN" sz="2000" b="1" dirty="0" err="1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struct</a:t>
            </a:r>
            <a:r>
              <a:rPr lang="en-US" altLang="zh-CN" sz="2000" b="1" dirty="0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 </a:t>
            </a:r>
            <a:r>
              <a:rPr lang="en-US" altLang="zh-CN" sz="2000" b="1" dirty="0" err="1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student_info</a:t>
            </a:r>
            <a:r>
              <a:rPr lang="en-US" altLang="zh-CN" sz="2000" b="1" dirty="0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), 1, </a:t>
            </a:r>
            <a:r>
              <a:rPr lang="en-US" altLang="zh-CN" sz="2000" b="1" dirty="0" err="1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fp</a:t>
            </a:r>
            <a:r>
              <a:rPr lang="en-US" altLang="zh-CN" sz="2000" b="1" dirty="0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); </a:t>
            </a:r>
          </a:p>
          <a:p>
            <a:pPr marL="457200" indent="-457200">
              <a:tabLst>
                <a:tab pos="914400" algn="l"/>
              </a:tabLst>
            </a:pPr>
            <a:r>
              <a:rPr lang="en-US" altLang="zh-CN" sz="2000" b="1" dirty="0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   </a:t>
            </a:r>
            <a:r>
              <a:rPr lang="en-US" altLang="zh-CN" sz="2000" b="1" dirty="0" err="1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printf</a:t>
            </a:r>
            <a:r>
              <a:rPr lang="en-US" altLang="zh-CN" sz="2000" b="1" dirty="0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 ("%12s%14s%5c%5d%15s\n", </a:t>
            </a:r>
            <a:r>
              <a:rPr lang="en-US" altLang="zh-CN" sz="2000" b="1" dirty="0" err="1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stu</a:t>
            </a:r>
            <a:r>
              <a:rPr lang="en-US" altLang="zh-CN" sz="2000" b="1" dirty="0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[</a:t>
            </a:r>
            <a:r>
              <a:rPr lang="en-US" altLang="zh-CN" sz="2000" b="1" dirty="0" err="1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i</a:t>
            </a:r>
            <a:r>
              <a:rPr lang="en-US" altLang="zh-CN" sz="2000" b="1" dirty="0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].no, </a:t>
            </a:r>
            <a:r>
              <a:rPr lang="en-US" altLang="zh-CN" sz="2000" b="1" dirty="0" err="1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stu</a:t>
            </a:r>
            <a:r>
              <a:rPr lang="en-US" altLang="zh-CN" sz="2000" b="1" dirty="0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[</a:t>
            </a:r>
            <a:r>
              <a:rPr lang="en-US" altLang="zh-CN" sz="2000" b="1" dirty="0" err="1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i</a:t>
            </a:r>
            <a:r>
              <a:rPr lang="en-US" altLang="zh-CN" sz="2000" b="1" dirty="0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].name,</a:t>
            </a:r>
          </a:p>
          <a:p>
            <a:pPr marL="457200" indent="-457200">
              <a:tabLst>
                <a:tab pos="914400" algn="l"/>
              </a:tabLst>
            </a:pPr>
            <a:r>
              <a:rPr lang="en-US" altLang="zh-CN" sz="2000" b="1" dirty="0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                                 </a:t>
            </a:r>
            <a:r>
              <a:rPr lang="en-US" altLang="zh-CN" sz="2000" b="1" dirty="0" err="1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stu</a:t>
            </a:r>
            <a:r>
              <a:rPr lang="en-US" altLang="zh-CN" sz="2000" b="1" dirty="0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[</a:t>
            </a:r>
            <a:r>
              <a:rPr lang="en-US" altLang="zh-CN" sz="2000" b="1" dirty="0" err="1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i</a:t>
            </a:r>
            <a:r>
              <a:rPr lang="en-US" altLang="zh-CN" sz="2000" b="1" dirty="0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].sex, </a:t>
            </a:r>
            <a:r>
              <a:rPr lang="en-US" altLang="zh-CN" sz="2000" b="1" dirty="0" err="1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stu</a:t>
            </a:r>
            <a:r>
              <a:rPr lang="en-US" altLang="zh-CN" sz="2000" b="1" dirty="0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[</a:t>
            </a:r>
            <a:r>
              <a:rPr lang="en-US" altLang="zh-CN" sz="2000" b="1" dirty="0" err="1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i</a:t>
            </a:r>
            <a:r>
              <a:rPr lang="en-US" altLang="zh-CN" sz="2000" b="1" dirty="0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].age, </a:t>
            </a:r>
            <a:r>
              <a:rPr lang="en-US" altLang="zh-CN" sz="2000" b="1" dirty="0" err="1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stu</a:t>
            </a:r>
            <a:r>
              <a:rPr lang="en-US" altLang="zh-CN" sz="2000" b="1" dirty="0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[</a:t>
            </a:r>
            <a:r>
              <a:rPr lang="en-US" altLang="zh-CN" sz="2000" b="1" dirty="0" err="1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i</a:t>
            </a:r>
            <a:r>
              <a:rPr lang="en-US" altLang="zh-CN" sz="2000" b="1" dirty="0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].depart);</a:t>
            </a:r>
          </a:p>
          <a:p>
            <a:pPr marL="457200" indent="-457200">
              <a:tabLst>
                <a:tab pos="914400" algn="l"/>
              </a:tabLst>
            </a:pPr>
            <a:r>
              <a:rPr lang="en-US" altLang="zh-CN" sz="2000" b="1" dirty="0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  }</a:t>
            </a:r>
          </a:p>
          <a:p>
            <a:pPr marL="457200" indent="-457200">
              <a:tabLst>
                <a:tab pos="914400" algn="l"/>
              </a:tabLst>
            </a:pPr>
            <a:r>
              <a:rPr lang="en-US" altLang="zh-CN" sz="2000" b="1" dirty="0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  </a:t>
            </a:r>
            <a:r>
              <a:rPr lang="en-US" altLang="zh-CN" sz="2000" b="1" dirty="0" err="1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fclose</a:t>
            </a:r>
            <a:r>
              <a:rPr lang="en-US" altLang="zh-CN" sz="2000" b="1" dirty="0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 (</a:t>
            </a:r>
            <a:r>
              <a:rPr lang="en-US" altLang="zh-CN" sz="2000" b="1" dirty="0" err="1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fp</a:t>
            </a:r>
            <a:r>
              <a:rPr lang="en-US" altLang="zh-CN" sz="2000" b="1" dirty="0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);  </a:t>
            </a:r>
            <a:r>
              <a:rPr lang="en-US" altLang="zh-CN" sz="2000" b="1" dirty="0">
                <a:solidFill>
                  <a:schemeClr val="accent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楷体" pitchFamily="49" charset="-122"/>
              </a:rPr>
              <a:t>//</a:t>
            </a:r>
            <a:r>
              <a:rPr lang="zh-CN" altLang="en-US" sz="2000" b="1" dirty="0">
                <a:solidFill>
                  <a:schemeClr val="accent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楷体" pitchFamily="49" charset="-122"/>
              </a:rPr>
              <a:t>关闭文件</a:t>
            </a:r>
          </a:p>
          <a:p>
            <a:pPr marL="457200" indent="-457200">
              <a:tabLst>
                <a:tab pos="914400" algn="l"/>
              </a:tabLst>
            </a:pPr>
            <a:r>
              <a:rPr lang="en-US" altLang="zh-CN" sz="2000" b="1" dirty="0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  return 0;</a:t>
            </a:r>
          </a:p>
          <a:p>
            <a:pPr marL="457200" indent="-457200">
              <a:tabLst>
                <a:tab pos="914400" algn="l"/>
              </a:tabLst>
            </a:pPr>
            <a:r>
              <a:rPr lang="en-US" altLang="zh-CN" sz="2000" b="1" dirty="0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}</a:t>
            </a:r>
          </a:p>
        </p:txBody>
      </p:sp>
      <p:sp>
        <p:nvSpPr>
          <p:cNvPr id="1106954" name="Text Box 10"/>
          <p:cNvSpPr txBox="1">
            <a:spLocks noChangeArrowheads="1"/>
          </p:cNvSpPr>
          <p:nvPr/>
        </p:nvSpPr>
        <p:spPr bwMode="auto">
          <a:xfrm>
            <a:off x="6815881" y="5445224"/>
            <a:ext cx="5184775" cy="1079500"/>
          </a:xfrm>
          <a:prstGeom prst="rect">
            <a:avLst/>
          </a:prstGeom>
          <a:solidFill>
            <a:srgbClr val="FFFFFF"/>
          </a:solidFill>
          <a:ln w="38100">
            <a:solidFill>
              <a:srgbClr val="FF00FF"/>
            </a:solidFill>
            <a:miter lim="800000"/>
            <a:headEnd/>
            <a:tailEnd/>
          </a:ln>
          <a:effectLst>
            <a:outerShdw blurRad="50800" dist="106680" dir="2700000" algn="tl" rotWithShape="0">
              <a:prstClr val="black">
                <a:alpha val="43000"/>
              </a:prstClr>
            </a:outerShdw>
          </a:effectLst>
          <a:scene3d>
            <a:camera prst="orthographicFront"/>
            <a:lightRig rig="threePt" dir="t"/>
          </a:scene3d>
          <a:sp3d>
            <a:bevelT w="114300" prst="hardEdge"/>
          </a:sp3d>
        </p:spPr>
        <p:txBody>
          <a:bodyPr/>
          <a:lstStyle/>
          <a:p>
            <a:pPr algn="just"/>
            <a:r>
              <a:rPr lang="zh-CN" altLang="en-US" sz="2000" b="1" dirty="0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隶书" pitchFamily="49" charset="-122"/>
                <a:ea typeface="隶书" pitchFamily="49" charset="-122"/>
              </a:rPr>
              <a:t>运行结果：</a:t>
            </a:r>
          </a:p>
          <a:p>
            <a:pPr algn="just"/>
            <a:r>
              <a:rPr lang="en-US" altLang="zh-CN" sz="2000" b="1" dirty="0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0001   </a:t>
            </a:r>
            <a:r>
              <a:rPr lang="en-US" altLang="zh-CN" sz="2000" b="1" dirty="0" err="1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WangFei</a:t>
            </a:r>
            <a:r>
              <a:rPr lang="en-US" altLang="zh-CN" sz="2000" b="1" dirty="0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    M     18      Computer</a:t>
            </a:r>
          </a:p>
          <a:p>
            <a:pPr algn="just"/>
            <a:r>
              <a:rPr lang="en-US" altLang="zh-CN" sz="2000" b="1" dirty="0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0003        </a:t>
            </a:r>
            <a:r>
              <a:rPr lang="en-US" altLang="zh-CN" sz="2000" b="1" dirty="0" err="1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LiYan</a:t>
            </a:r>
            <a:r>
              <a:rPr lang="en-US" altLang="zh-CN" sz="2000" b="1" dirty="0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    F      19           English</a:t>
            </a:r>
          </a:p>
        </p:txBody>
      </p:sp>
    </p:spTree>
  </p:cSld>
  <p:clrMapOvr>
    <a:masterClrMapping/>
  </p:clrMapOvr>
  <p:transition>
    <p:cover/>
    <p:sndAc>
      <p:stSnd>
        <p:snd r:embed="rId3" name="CAMER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69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7" dur="500"/>
                                        <p:tgtEl>
                                          <p:spTgt spid="1106950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69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2" dur="500"/>
                                        <p:tgtEl>
                                          <p:spTgt spid="1106952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69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7" dur="500"/>
                                        <p:tgtEl>
                                          <p:spTgt spid="1106953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69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22" dur="500"/>
                                        <p:tgtEl>
                                          <p:spTgt spid="1106954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chime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06950" grpId="0" animBg="1"/>
      <p:bldP spid="1106952" grpId="0" animBg="1"/>
      <p:bldP spid="1106953" grpId="0" animBg="1"/>
      <p:bldP spid="1106954" grpId="0" animBg="1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8997" name="Rectangle 5"/>
          <p:cNvSpPr>
            <a:spLocks noChangeArrowheads="1"/>
          </p:cNvSpPr>
          <p:nvPr/>
        </p:nvSpPr>
        <p:spPr bwMode="auto">
          <a:xfrm>
            <a:off x="503510" y="153988"/>
            <a:ext cx="4296346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anchor="ctr">
            <a:spAutoFit/>
          </a:bodyPr>
          <a:lstStyle/>
          <a:p>
            <a:r>
              <a:rPr lang="en-US" altLang="zh-CN" b="1" dirty="0">
                <a:solidFill>
                  <a:srgbClr val="CC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隶书" pitchFamily="49" charset="-122"/>
                <a:ea typeface="隶书" pitchFamily="49" charset="-122"/>
              </a:rPr>
              <a:t>【</a:t>
            </a:r>
            <a:r>
              <a:rPr lang="zh-CN" altLang="en-US" b="1" dirty="0">
                <a:solidFill>
                  <a:srgbClr val="CC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隶书" pitchFamily="49" charset="-122"/>
                <a:ea typeface="隶书" pitchFamily="49" charset="-122"/>
              </a:rPr>
              <a:t>例</a:t>
            </a:r>
            <a:r>
              <a:rPr lang="en-US" altLang="zh-CN" b="1" dirty="0">
                <a:solidFill>
                  <a:srgbClr val="CC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隶书" pitchFamily="49" charset="-122"/>
                <a:ea typeface="隶书" pitchFamily="49" charset="-122"/>
              </a:rPr>
              <a:t>9】</a:t>
            </a:r>
            <a:r>
              <a:rPr lang="zh-CN" altLang="en-US" b="1" dirty="0">
                <a:solidFill>
                  <a:srgbClr val="CC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隶书" pitchFamily="49" charset="-122"/>
                <a:ea typeface="隶书" pitchFamily="49" charset="-122"/>
              </a:rPr>
              <a:t>求文件的长度。</a:t>
            </a:r>
          </a:p>
        </p:txBody>
      </p:sp>
      <p:sp>
        <p:nvSpPr>
          <p:cNvPr id="1108998" name="Rectangle 6" descr="信纸"/>
          <p:cNvSpPr>
            <a:spLocks noChangeArrowheads="1"/>
          </p:cNvSpPr>
          <p:nvPr/>
        </p:nvSpPr>
        <p:spPr bwMode="auto">
          <a:xfrm>
            <a:off x="602382" y="810121"/>
            <a:ext cx="5230812" cy="3482975"/>
          </a:xfrm>
          <a:prstGeom prst="rect">
            <a:avLst/>
          </a:prstGeom>
          <a:blipFill dpi="0" rotWithShape="1">
            <a:blip r:embed="rId4" cstate="print"/>
            <a:srcRect/>
            <a:tile tx="0" ty="0" sx="100000" sy="100000" flip="none" algn="tl"/>
          </a:blipFill>
          <a:ln w="38100">
            <a:solidFill>
              <a:srgbClr val="008000"/>
            </a:solidFill>
            <a:miter lim="800000"/>
            <a:headEnd/>
            <a:tailEnd/>
          </a:ln>
          <a:effectLst>
            <a:outerShdw blurRad="50800" dist="106680" dir="2700000" algn="tl" rotWithShape="0">
              <a:prstClr val="black">
                <a:alpha val="43000"/>
              </a:prstClr>
            </a:outerShdw>
          </a:effectLst>
          <a:scene3d>
            <a:camera prst="orthographicFront"/>
            <a:lightRig rig="threePt" dir="t"/>
          </a:scene3d>
          <a:sp3d>
            <a:bevelT w="114300" prst="hardEdge"/>
          </a:sp3d>
        </p:spPr>
        <p:txBody>
          <a:bodyPr anchor="ctr">
            <a:spAutoFit/>
          </a:bodyPr>
          <a:lstStyle/>
          <a:p>
            <a:pPr marL="457200" indent="-457200">
              <a:tabLst>
                <a:tab pos="914400" algn="l"/>
              </a:tabLst>
            </a:pPr>
            <a:r>
              <a:rPr lang="en-US" altLang="zh-CN" sz="2000" b="1" dirty="0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#include &lt;</a:t>
            </a:r>
            <a:r>
              <a:rPr lang="en-US" altLang="zh-CN" sz="2000" b="1" dirty="0" err="1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stdio.h</a:t>
            </a:r>
            <a:r>
              <a:rPr lang="en-US" altLang="zh-CN" sz="2000" b="1" dirty="0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&gt;</a:t>
            </a:r>
          </a:p>
          <a:p>
            <a:pPr marL="457200" indent="-457200">
              <a:tabLst>
                <a:tab pos="914400" algn="l"/>
              </a:tabLst>
            </a:pPr>
            <a:r>
              <a:rPr lang="en-US" altLang="zh-CN" sz="2000" b="1" dirty="0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#include &lt;</a:t>
            </a:r>
            <a:r>
              <a:rPr lang="en-US" altLang="zh-CN" sz="2000" b="1" dirty="0" err="1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stdlib.h</a:t>
            </a:r>
            <a:r>
              <a:rPr lang="en-US" altLang="zh-CN" sz="2000" b="1" dirty="0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&gt;</a:t>
            </a:r>
          </a:p>
          <a:p>
            <a:pPr marL="457200" indent="-457200">
              <a:tabLst>
                <a:tab pos="914400" algn="l"/>
              </a:tabLst>
            </a:pPr>
            <a:r>
              <a:rPr lang="en-US" altLang="zh-CN" sz="2000" b="1" dirty="0" err="1">
                <a:solidFill>
                  <a:srgbClr val="CC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楷体_GB2312" pitchFamily="49" charset="-122"/>
              </a:rPr>
              <a:t>int</a:t>
            </a:r>
            <a:r>
              <a:rPr lang="en-US" altLang="zh-CN" sz="2000" b="1" dirty="0">
                <a:solidFill>
                  <a:srgbClr val="CC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楷体_GB2312" pitchFamily="49" charset="-122"/>
              </a:rPr>
              <a:t> main (</a:t>
            </a:r>
            <a:r>
              <a:rPr lang="en-US" altLang="zh-CN" sz="2000" b="1" dirty="0" err="1">
                <a:solidFill>
                  <a:srgbClr val="CC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楷体_GB2312" pitchFamily="49" charset="-122"/>
              </a:rPr>
              <a:t>int</a:t>
            </a:r>
            <a:r>
              <a:rPr lang="en-US" altLang="zh-CN" sz="2000" b="1" dirty="0">
                <a:solidFill>
                  <a:srgbClr val="CC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楷体_GB2312" pitchFamily="49" charset="-122"/>
              </a:rPr>
              <a:t> </a:t>
            </a:r>
            <a:r>
              <a:rPr lang="en-US" altLang="zh-CN" sz="2000" b="1" dirty="0" err="1">
                <a:solidFill>
                  <a:srgbClr val="CC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楷体_GB2312" pitchFamily="49" charset="-122"/>
              </a:rPr>
              <a:t>argc</a:t>
            </a:r>
            <a:r>
              <a:rPr lang="en-US" altLang="zh-CN" sz="2000" b="1" dirty="0">
                <a:solidFill>
                  <a:srgbClr val="CC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楷体_GB2312" pitchFamily="49" charset="-122"/>
              </a:rPr>
              <a:t>, char *</a:t>
            </a:r>
            <a:r>
              <a:rPr lang="en-US" altLang="zh-CN" sz="2000" b="1" dirty="0" err="1">
                <a:solidFill>
                  <a:srgbClr val="CC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楷体_GB2312" pitchFamily="49" charset="-122"/>
              </a:rPr>
              <a:t>argv</a:t>
            </a:r>
            <a:r>
              <a:rPr lang="en-US" altLang="zh-CN" sz="2000" b="1" dirty="0">
                <a:solidFill>
                  <a:srgbClr val="CC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楷体_GB2312" pitchFamily="49" charset="-122"/>
              </a:rPr>
              <a:t>[ ])</a:t>
            </a:r>
          </a:p>
          <a:p>
            <a:pPr marL="457200" indent="-457200">
              <a:tabLst>
                <a:tab pos="914400" algn="l"/>
              </a:tabLst>
            </a:pPr>
            <a:r>
              <a:rPr lang="en-US" altLang="zh-CN" sz="2000" b="1" dirty="0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{</a:t>
            </a:r>
          </a:p>
          <a:p>
            <a:pPr marL="457200" indent="-457200">
              <a:tabLst>
                <a:tab pos="914400" algn="l"/>
              </a:tabLst>
            </a:pPr>
            <a:r>
              <a:rPr lang="en-US" altLang="zh-CN" sz="2000" b="1" dirty="0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  FILE *</a:t>
            </a:r>
            <a:r>
              <a:rPr lang="en-US" altLang="zh-CN" sz="2000" b="1" dirty="0" err="1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fp</a:t>
            </a:r>
            <a:r>
              <a:rPr lang="en-US" altLang="zh-CN" sz="2000" b="1" dirty="0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;</a:t>
            </a:r>
          </a:p>
          <a:p>
            <a:pPr marL="457200" indent="-457200">
              <a:tabLst>
                <a:tab pos="914400" algn="l"/>
              </a:tabLst>
            </a:pPr>
            <a:r>
              <a:rPr lang="en-US" altLang="zh-CN" sz="2000" b="1" dirty="0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  long length;</a:t>
            </a:r>
          </a:p>
          <a:p>
            <a:pPr marL="457200" indent="-457200">
              <a:tabLst>
                <a:tab pos="914400" algn="l"/>
              </a:tabLst>
            </a:pPr>
            <a:r>
              <a:rPr lang="en-US" altLang="zh-CN" sz="2000" b="1" dirty="0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  if (</a:t>
            </a:r>
            <a:r>
              <a:rPr lang="en-US" altLang="zh-CN" sz="2000" b="1" dirty="0" err="1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argc</a:t>
            </a:r>
            <a:r>
              <a:rPr lang="en-US" altLang="zh-CN" sz="2000" b="1" dirty="0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 != 2)  </a:t>
            </a:r>
            <a:r>
              <a:rPr lang="en-US" altLang="zh-CN" sz="2000" b="1" dirty="0">
                <a:solidFill>
                  <a:schemeClr val="accent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楷体" pitchFamily="49" charset="-122"/>
              </a:rPr>
              <a:t>//</a:t>
            </a:r>
            <a:r>
              <a:rPr lang="zh-CN" altLang="en-US" sz="2000" b="1" dirty="0">
                <a:solidFill>
                  <a:schemeClr val="accent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楷体" pitchFamily="49" charset="-122"/>
              </a:rPr>
              <a:t>命令行参数有误</a:t>
            </a:r>
          </a:p>
          <a:p>
            <a:pPr marL="457200" indent="-457200">
              <a:tabLst>
                <a:tab pos="914400" algn="l"/>
              </a:tabLst>
            </a:pPr>
            <a:r>
              <a:rPr lang="zh-CN" altLang="en-US" sz="2000" b="1" dirty="0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  </a:t>
            </a:r>
            <a:r>
              <a:rPr lang="en-US" altLang="zh-CN" sz="2000" b="1" dirty="0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{</a:t>
            </a:r>
          </a:p>
          <a:p>
            <a:pPr marL="457200" indent="-457200">
              <a:tabLst>
                <a:tab pos="914400" algn="l"/>
              </a:tabLst>
            </a:pPr>
            <a:r>
              <a:rPr lang="en-US" altLang="zh-CN" sz="2000" b="1" dirty="0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    </a:t>
            </a:r>
            <a:r>
              <a:rPr lang="en-US" altLang="zh-CN" sz="2000" b="1" dirty="0" err="1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printf</a:t>
            </a:r>
            <a:r>
              <a:rPr lang="en-US" altLang="zh-CN" sz="2000" b="1" dirty="0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 ("</a:t>
            </a:r>
            <a:r>
              <a:rPr lang="en-US" altLang="zh-CN" sz="2000" b="1" dirty="0" err="1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Useage</a:t>
            </a:r>
            <a:r>
              <a:rPr lang="en-US" altLang="zh-CN" sz="2000" b="1" dirty="0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: </a:t>
            </a:r>
            <a:r>
              <a:rPr lang="zh-CN" altLang="en-US" sz="2000" b="1" dirty="0">
                <a:effectLst>
                  <a:outerShdw blurRad="38100" dist="38100" dir="2700000" algn="tl">
                    <a:srgbClr val="FFFFFF"/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执行文件名  </a:t>
            </a:r>
            <a:r>
              <a:rPr lang="en-US" altLang="zh-CN" sz="2000" b="1" dirty="0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filename\n");</a:t>
            </a:r>
          </a:p>
          <a:p>
            <a:pPr marL="457200" indent="-457200">
              <a:tabLst>
                <a:tab pos="914400" algn="l"/>
              </a:tabLst>
            </a:pPr>
            <a:r>
              <a:rPr lang="en-US" altLang="zh-CN" sz="2000" b="1" dirty="0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    exit (0);</a:t>
            </a:r>
          </a:p>
          <a:p>
            <a:pPr marL="457200" indent="-457200">
              <a:tabLst>
                <a:tab pos="914400" algn="l"/>
              </a:tabLst>
            </a:pPr>
            <a:r>
              <a:rPr lang="en-US" altLang="zh-CN" sz="2000" b="1" dirty="0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  }</a:t>
            </a:r>
          </a:p>
        </p:txBody>
      </p:sp>
      <p:sp>
        <p:nvSpPr>
          <p:cNvPr id="1109002" name="Rectangle 10" descr="信纸"/>
          <p:cNvSpPr>
            <a:spLocks noChangeArrowheads="1"/>
          </p:cNvSpPr>
          <p:nvPr/>
        </p:nvSpPr>
        <p:spPr bwMode="auto">
          <a:xfrm>
            <a:off x="6012368" y="1916832"/>
            <a:ext cx="5976937" cy="4708981"/>
          </a:xfrm>
          <a:prstGeom prst="rect">
            <a:avLst/>
          </a:prstGeom>
          <a:blipFill dpi="0" rotWithShape="1">
            <a:blip r:embed="rId4" cstate="print"/>
            <a:srcRect/>
            <a:tile tx="0" ty="0" sx="100000" sy="100000" flip="none" algn="tl"/>
          </a:blipFill>
          <a:ln w="38100">
            <a:solidFill>
              <a:srgbClr val="008000"/>
            </a:solidFill>
            <a:miter lim="800000"/>
            <a:headEnd/>
            <a:tailEnd/>
          </a:ln>
          <a:effectLst>
            <a:outerShdw blurRad="50800" dist="106680" dir="2700000" algn="tl" rotWithShape="0">
              <a:prstClr val="black">
                <a:alpha val="43000"/>
              </a:prstClr>
            </a:outerShdw>
          </a:effectLst>
          <a:scene3d>
            <a:camera prst="orthographicFront"/>
            <a:lightRig rig="threePt" dir="t"/>
          </a:scene3d>
          <a:sp3d>
            <a:bevelT w="114300" prst="hardEdge"/>
          </a:sp3d>
        </p:spPr>
        <p:txBody>
          <a:bodyPr anchor="ctr">
            <a:spAutoFit/>
          </a:bodyPr>
          <a:lstStyle/>
          <a:p>
            <a:pPr marL="457200" indent="-457200">
              <a:tabLst>
                <a:tab pos="914400" algn="l"/>
              </a:tabLst>
            </a:pPr>
            <a:r>
              <a:rPr lang="en-US" altLang="zh-CN" sz="2000" b="1" dirty="0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  </a:t>
            </a:r>
            <a:r>
              <a:rPr lang="en-US" altLang="zh-CN" sz="2000" b="1" dirty="0" err="1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fp</a:t>
            </a:r>
            <a:r>
              <a:rPr lang="en-US" altLang="zh-CN" sz="2000" b="1" dirty="0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 = </a:t>
            </a:r>
            <a:r>
              <a:rPr lang="en-US" altLang="zh-CN" sz="2000" b="1" dirty="0" err="1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fopen</a:t>
            </a:r>
            <a:r>
              <a:rPr lang="en-US" altLang="zh-CN" sz="2000" b="1" dirty="0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 (</a:t>
            </a:r>
            <a:r>
              <a:rPr lang="en-US" altLang="zh-CN" sz="2000" b="1" dirty="0" err="1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argv</a:t>
            </a:r>
            <a:r>
              <a:rPr lang="en-US" altLang="zh-CN" sz="2000" b="1" dirty="0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[1], "</a:t>
            </a:r>
            <a:r>
              <a:rPr lang="en-US" altLang="zh-CN" sz="2000" b="1" dirty="0" err="1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rb</a:t>
            </a:r>
            <a:r>
              <a:rPr lang="en-US" altLang="zh-CN" sz="2000" b="1" dirty="0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");   </a:t>
            </a:r>
            <a:r>
              <a:rPr lang="en-US" altLang="zh-CN" sz="2000" b="1" dirty="0">
                <a:solidFill>
                  <a:schemeClr val="accent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楷体" pitchFamily="49" charset="-122"/>
              </a:rPr>
              <a:t>//</a:t>
            </a:r>
            <a:r>
              <a:rPr lang="zh-CN" altLang="en-US" sz="2000" b="1" dirty="0">
                <a:solidFill>
                  <a:schemeClr val="accent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楷体" pitchFamily="49" charset="-122"/>
              </a:rPr>
              <a:t>以读的方式打开文件</a:t>
            </a:r>
          </a:p>
          <a:p>
            <a:pPr marL="457200" indent="-457200">
              <a:tabLst>
                <a:tab pos="914400" algn="l"/>
              </a:tabLst>
            </a:pPr>
            <a:r>
              <a:rPr lang="zh-CN" altLang="en-US" sz="2000" b="1" dirty="0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  </a:t>
            </a:r>
            <a:r>
              <a:rPr lang="en-US" altLang="zh-CN" sz="2000" b="1" dirty="0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if (</a:t>
            </a:r>
            <a:r>
              <a:rPr lang="en-US" altLang="zh-CN" sz="2000" b="1" dirty="0" err="1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fp</a:t>
            </a:r>
            <a:r>
              <a:rPr lang="en-US" altLang="zh-CN" sz="2000" b="1" dirty="0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 = = NULL)  </a:t>
            </a:r>
            <a:r>
              <a:rPr lang="en-US" altLang="zh-CN" sz="2000" b="1" dirty="0">
                <a:solidFill>
                  <a:schemeClr val="accent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楷体" pitchFamily="49" charset="-122"/>
              </a:rPr>
              <a:t>//</a:t>
            </a:r>
            <a:r>
              <a:rPr lang="zh-CN" altLang="en-US" sz="2000" b="1" dirty="0">
                <a:solidFill>
                  <a:schemeClr val="accent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楷体" pitchFamily="49" charset="-122"/>
              </a:rPr>
              <a:t>打开文件失败</a:t>
            </a:r>
          </a:p>
          <a:p>
            <a:pPr marL="457200" indent="-457200">
              <a:tabLst>
                <a:tab pos="914400" algn="l"/>
              </a:tabLst>
            </a:pPr>
            <a:r>
              <a:rPr lang="zh-CN" altLang="en-US" sz="2000" b="1" dirty="0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  </a:t>
            </a:r>
            <a:r>
              <a:rPr lang="en-US" altLang="zh-CN" sz="2000" b="1" dirty="0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{</a:t>
            </a:r>
          </a:p>
          <a:p>
            <a:pPr marL="457200" indent="-457200">
              <a:tabLst>
                <a:tab pos="914400" algn="l"/>
              </a:tabLst>
            </a:pPr>
            <a:r>
              <a:rPr lang="en-US" altLang="zh-CN" sz="2000" b="1" dirty="0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    </a:t>
            </a:r>
            <a:r>
              <a:rPr lang="en-US" altLang="zh-CN" sz="2000" b="1" dirty="0" err="1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printf</a:t>
            </a:r>
            <a:r>
              <a:rPr lang="en-US" altLang="zh-CN" sz="2000" b="1" dirty="0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 ("file not found!\n");</a:t>
            </a:r>
          </a:p>
          <a:p>
            <a:pPr marL="457200" indent="-457200">
              <a:tabLst>
                <a:tab pos="914400" algn="l"/>
              </a:tabLst>
            </a:pPr>
            <a:r>
              <a:rPr lang="en-US" altLang="zh-CN" sz="2000" b="1" dirty="0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    exit (0);</a:t>
            </a:r>
          </a:p>
          <a:p>
            <a:pPr marL="457200" indent="-457200">
              <a:tabLst>
                <a:tab pos="914400" algn="l"/>
              </a:tabLst>
            </a:pPr>
            <a:r>
              <a:rPr lang="en-US" altLang="zh-CN" sz="2000" b="1" dirty="0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  }</a:t>
            </a:r>
          </a:p>
          <a:p>
            <a:pPr marL="457200" indent="-457200">
              <a:tabLst>
                <a:tab pos="914400" algn="l"/>
              </a:tabLst>
            </a:pPr>
            <a:r>
              <a:rPr lang="en-US" altLang="zh-CN" sz="2000" b="1" dirty="0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  </a:t>
            </a:r>
            <a:r>
              <a:rPr lang="en-US" altLang="zh-CN" sz="2000" b="1" dirty="0">
                <a:solidFill>
                  <a:schemeClr val="accent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楷体" pitchFamily="49" charset="-122"/>
              </a:rPr>
              <a:t>//</a:t>
            </a:r>
            <a:r>
              <a:rPr lang="zh-CN" altLang="en-US" sz="2000" b="1" dirty="0">
                <a:solidFill>
                  <a:schemeClr val="accent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楷体" pitchFamily="49" charset="-122"/>
              </a:rPr>
              <a:t>文件位置指针指向文件尾</a:t>
            </a:r>
          </a:p>
          <a:p>
            <a:pPr marL="457200" indent="-457200">
              <a:tabLst>
                <a:tab pos="914400" algn="l"/>
              </a:tabLst>
            </a:pPr>
            <a:r>
              <a:rPr lang="zh-CN" altLang="en-US" sz="2000" b="1" dirty="0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  </a:t>
            </a:r>
            <a:r>
              <a:rPr lang="en-US" altLang="zh-CN" sz="2000" b="1" dirty="0" err="1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fseek</a:t>
            </a:r>
            <a:r>
              <a:rPr lang="en-US" altLang="zh-CN" sz="2000" b="1" dirty="0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 (</a:t>
            </a:r>
            <a:r>
              <a:rPr lang="en-US" altLang="zh-CN" sz="2000" b="1" dirty="0" err="1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fp</a:t>
            </a:r>
            <a:r>
              <a:rPr lang="en-US" altLang="zh-CN" sz="2000" b="1" dirty="0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, 0L, SEEK_END);</a:t>
            </a:r>
          </a:p>
          <a:p>
            <a:pPr marL="457200" indent="-457200">
              <a:tabLst>
                <a:tab pos="914400" algn="l"/>
              </a:tabLst>
            </a:pPr>
            <a:r>
              <a:rPr lang="en-US" altLang="zh-CN" sz="2000" b="1" dirty="0">
                <a:solidFill>
                  <a:schemeClr val="accent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楷体_GB2312" pitchFamily="49" charset="-122"/>
              </a:rPr>
              <a:t>  </a:t>
            </a:r>
            <a:r>
              <a:rPr lang="en-US" altLang="zh-CN" sz="2000" b="1" dirty="0">
                <a:solidFill>
                  <a:schemeClr val="accent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楷体" pitchFamily="49" charset="-122"/>
              </a:rPr>
              <a:t>//</a:t>
            </a:r>
            <a:r>
              <a:rPr lang="zh-CN" altLang="en-US" sz="2000" b="1" dirty="0">
                <a:solidFill>
                  <a:schemeClr val="accent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楷体" pitchFamily="49" charset="-122"/>
              </a:rPr>
              <a:t>取文件位置指针当前的位置，即文件的长度</a:t>
            </a:r>
          </a:p>
          <a:p>
            <a:pPr marL="457200" indent="-457200">
              <a:tabLst>
                <a:tab pos="914400" algn="l"/>
              </a:tabLst>
            </a:pPr>
            <a:r>
              <a:rPr lang="zh-CN" altLang="en-US" sz="2000" b="1" dirty="0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  </a:t>
            </a:r>
            <a:r>
              <a:rPr lang="en-US" altLang="zh-CN" sz="2000" b="1" dirty="0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length = </a:t>
            </a:r>
            <a:r>
              <a:rPr lang="en-US" altLang="zh-CN" sz="2000" b="1" dirty="0" err="1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ftell</a:t>
            </a:r>
            <a:r>
              <a:rPr lang="en-US" altLang="zh-CN" sz="2000" b="1" dirty="0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 (</a:t>
            </a:r>
            <a:r>
              <a:rPr lang="en-US" altLang="zh-CN" sz="2000" b="1" dirty="0" err="1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fp</a:t>
            </a:r>
            <a:r>
              <a:rPr lang="en-US" altLang="zh-CN" sz="2000" b="1" dirty="0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);           </a:t>
            </a:r>
          </a:p>
          <a:p>
            <a:pPr marL="457200" indent="-457200">
              <a:tabLst>
                <a:tab pos="914400" algn="l"/>
              </a:tabLst>
            </a:pPr>
            <a:r>
              <a:rPr lang="en-US" altLang="zh-CN" sz="2000" b="1" dirty="0">
                <a:solidFill>
                  <a:schemeClr val="accent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楷体_GB2312" pitchFamily="49" charset="-122"/>
              </a:rPr>
              <a:t>  </a:t>
            </a:r>
            <a:r>
              <a:rPr lang="en-US" altLang="zh-CN" sz="2000" b="1" dirty="0">
                <a:solidFill>
                  <a:schemeClr val="accent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楷体" pitchFamily="49" charset="-122"/>
              </a:rPr>
              <a:t>//</a:t>
            </a:r>
            <a:r>
              <a:rPr lang="zh-CN" altLang="en-US" sz="2000" b="1" dirty="0">
                <a:solidFill>
                  <a:schemeClr val="accent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楷体" pitchFamily="49" charset="-122"/>
              </a:rPr>
              <a:t>显示文件长度</a:t>
            </a:r>
          </a:p>
          <a:p>
            <a:pPr marL="457200" indent="-457200">
              <a:tabLst>
                <a:tab pos="914400" algn="l"/>
              </a:tabLst>
            </a:pPr>
            <a:r>
              <a:rPr lang="zh-CN" altLang="en-US" sz="2000" b="1" dirty="0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  </a:t>
            </a:r>
            <a:r>
              <a:rPr lang="en-US" altLang="zh-CN" sz="2000" b="1" dirty="0" err="1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printf</a:t>
            </a:r>
            <a:r>
              <a:rPr lang="en-US" altLang="zh-CN" sz="2000" b="1" dirty="0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 ("Length of File is %ld bytes\n", length);  </a:t>
            </a:r>
          </a:p>
          <a:p>
            <a:pPr marL="457200" indent="-457200">
              <a:tabLst>
                <a:tab pos="914400" algn="l"/>
              </a:tabLst>
            </a:pPr>
            <a:r>
              <a:rPr lang="en-US" altLang="zh-CN" sz="2000" b="1" dirty="0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  </a:t>
            </a:r>
            <a:r>
              <a:rPr lang="en-US" altLang="zh-CN" sz="2000" b="1" dirty="0" err="1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fclose</a:t>
            </a:r>
            <a:r>
              <a:rPr lang="en-US" altLang="zh-CN" sz="2000" b="1" dirty="0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 (</a:t>
            </a:r>
            <a:r>
              <a:rPr lang="en-US" altLang="zh-CN" sz="2000" b="1" dirty="0" err="1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fp</a:t>
            </a:r>
            <a:r>
              <a:rPr lang="en-US" altLang="zh-CN" sz="2000" b="1" dirty="0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);   </a:t>
            </a:r>
            <a:r>
              <a:rPr lang="en-US" altLang="zh-CN" sz="2000" b="1" dirty="0">
                <a:solidFill>
                  <a:schemeClr val="accent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楷体" pitchFamily="49" charset="-122"/>
              </a:rPr>
              <a:t>//</a:t>
            </a:r>
            <a:r>
              <a:rPr lang="zh-CN" altLang="en-US" sz="2000" b="1" dirty="0">
                <a:solidFill>
                  <a:schemeClr val="accent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楷体" pitchFamily="49" charset="-122"/>
              </a:rPr>
              <a:t>关闭文件</a:t>
            </a:r>
          </a:p>
          <a:p>
            <a:pPr marL="457200" indent="-457200">
              <a:tabLst>
                <a:tab pos="914400" algn="l"/>
              </a:tabLst>
            </a:pPr>
            <a:r>
              <a:rPr lang="en-US" altLang="zh-CN" sz="2000" b="1" dirty="0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  return 0;</a:t>
            </a:r>
          </a:p>
          <a:p>
            <a:pPr marL="457200" indent="-457200">
              <a:tabLst>
                <a:tab pos="914400" algn="l"/>
              </a:tabLst>
            </a:pPr>
            <a:r>
              <a:rPr lang="en-US" altLang="zh-CN" sz="2000" b="1" dirty="0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}</a:t>
            </a:r>
          </a:p>
        </p:txBody>
      </p:sp>
      <p:grpSp>
        <p:nvGrpSpPr>
          <p:cNvPr id="1109003" name="Group 11"/>
          <p:cNvGrpSpPr>
            <a:grpSpLocks/>
          </p:cNvGrpSpPr>
          <p:nvPr/>
        </p:nvGrpSpPr>
        <p:grpSpPr bwMode="auto">
          <a:xfrm>
            <a:off x="-8806" y="0"/>
            <a:ext cx="446088" cy="6858000"/>
            <a:chOff x="0" y="0"/>
            <a:chExt cx="281" cy="4320"/>
          </a:xfrm>
        </p:grpSpPr>
        <p:sp>
          <p:nvSpPr>
            <p:cNvPr id="1109004" name="Text Box 12"/>
            <p:cNvSpPr txBox="1">
              <a:spLocks noChangeArrowheads="1"/>
            </p:cNvSpPr>
            <p:nvPr/>
          </p:nvSpPr>
          <p:spPr bwMode="auto">
            <a:xfrm>
              <a:off x="0" y="0"/>
              <a:ext cx="281" cy="4320"/>
            </a:xfrm>
            <a:prstGeom prst="rect">
              <a:avLst/>
            </a:prstGeom>
            <a:gradFill rotWithShape="0">
              <a:gsLst>
                <a:gs pos="0">
                  <a:schemeClr val="hlink">
                    <a:gamma/>
                    <a:shade val="60784"/>
                    <a:invGamma/>
                  </a:schemeClr>
                </a:gs>
                <a:gs pos="50000">
                  <a:schemeClr val="hlink"/>
                </a:gs>
                <a:gs pos="100000">
                  <a:schemeClr val="hlink">
                    <a:gamma/>
                    <a:shade val="60784"/>
                    <a:invGamma/>
                  </a:schemeClr>
                </a:gs>
              </a:gsLst>
              <a:lin ang="0" scaled="1"/>
            </a:gradFill>
            <a:ln w="9525">
              <a:noFill/>
              <a:miter lim="800000"/>
              <a:headEnd/>
              <a:tailEnd/>
            </a:ln>
            <a:effectLst/>
          </p:spPr>
          <p:txBody>
            <a:bodyPr/>
            <a:lstStyle/>
            <a:p>
              <a:pPr eaLnBrk="0" hangingPunct="0">
                <a:spcBef>
                  <a:spcPct val="50000"/>
                </a:spcBef>
              </a:pPr>
              <a:endParaRPr lang="en-US" altLang="zh-CN" sz="1800" dirty="0">
                <a:solidFill>
                  <a:srgbClr val="3333CC"/>
                </a:solidFill>
                <a:latin typeface="Verdana" pitchFamily="34" charset="0"/>
              </a:endParaRPr>
            </a:p>
            <a:p>
              <a:pPr eaLnBrk="0" hangingPunct="0">
                <a:spcBef>
                  <a:spcPct val="50000"/>
                </a:spcBef>
              </a:pPr>
              <a:r>
                <a:rPr lang="zh-CN" altLang="en-US" sz="1600" b="1" dirty="0">
                  <a:solidFill>
                    <a:srgbClr val="3333CC"/>
                  </a:solidFill>
                  <a:latin typeface="Verdana" pitchFamily="34" charset="0"/>
                </a:rPr>
                <a:t>语言程序设计教程       </a:t>
              </a:r>
            </a:p>
            <a:p>
              <a:pPr eaLnBrk="0" hangingPunct="0">
                <a:spcBef>
                  <a:spcPct val="50000"/>
                </a:spcBef>
              </a:pPr>
              <a:r>
                <a:rPr lang="zh-CN" altLang="en-US" sz="1600" b="1" dirty="0">
                  <a:solidFill>
                    <a:srgbClr val="3333CC"/>
                  </a:solidFill>
                  <a:latin typeface="Verdana" pitchFamily="34" charset="0"/>
                </a:rPr>
                <a:t>第三版</a:t>
              </a:r>
            </a:p>
            <a:p>
              <a:pPr eaLnBrk="0" hangingPunct="0">
                <a:spcBef>
                  <a:spcPct val="50000"/>
                </a:spcBef>
              </a:pPr>
              <a:endParaRPr lang="zh-CN" altLang="en-US" sz="1600" b="1" dirty="0">
                <a:solidFill>
                  <a:srgbClr val="3333CC"/>
                </a:solidFill>
                <a:latin typeface="Verdana" pitchFamily="34" charset="0"/>
              </a:endParaRPr>
            </a:p>
            <a:p>
              <a:pPr eaLnBrk="0" hangingPunct="0">
                <a:spcBef>
                  <a:spcPct val="50000"/>
                </a:spcBef>
              </a:pPr>
              <a:endParaRPr lang="zh-CN" altLang="en-US" sz="1600" b="1" dirty="0">
                <a:solidFill>
                  <a:srgbClr val="3333CC"/>
                </a:solidFill>
                <a:latin typeface="Verdana" pitchFamily="34" charset="0"/>
              </a:endParaRPr>
            </a:p>
            <a:p>
              <a:pPr eaLnBrk="0" hangingPunct="0">
                <a:spcBef>
                  <a:spcPct val="50000"/>
                </a:spcBef>
              </a:pPr>
              <a:r>
                <a:rPr lang="zh-CN" altLang="en-US" sz="1600" b="1" dirty="0">
                  <a:solidFill>
                    <a:srgbClr val="3333CC"/>
                  </a:solidFill>
                  <a:latin typeface="Verdana" pitchFamily="34" charset="0"/>
                </a:rPr>
                <a:t>第十</a:t>
              </a:r>
            </a:p>
            <a:p>
              <a:pPr eaLnBrk="0" hangingPunct="0">
                <a:spcBef>
                  <a:spcPct val="50000"/>
                </a:spcBef>
              </a:pPr>
              <a:r>
                <a:rPr lang="zh-CN" altLang="en-US" sz="1600" b="1" dirty="0">
                  <a:solidFill>
                    <a:srgbClr val="3333CC"/>
                  </a:solidFill>
                  <a:latin typeface="Verdana" pitchFamily="34" charset="0"/>
                </a:rPr>
                <a:t>二章 </a:t>
              </a:r>
            </a:p>
            <a:p>
              <a:pPr eaLnBrk="0" hangingPunct="0">
                <a:spcBef>
                  <a:spcPct val="50000"/>
                </a:spcBef>
              </a:pPr>
              <a:endParaRPr lang="zh-CN" altLang="en-US" sz="1600" b="1" dirty="0">
                <a:solidFill>
                  <a:srgbClr val="3333CC"/>
                </a:solidFill>
                <a:latin typeface="Verdana" pitchFamily="34" charset="0"/>
              </a:endParaRPr>
            </a:p>
            <a:p>
              <a:pPr eaLnBrk="0" hangingPunct="0">
                <a:spcBef>
                  <a:spcPct val="50000"/>
                </a:spcBef>
              </a:pPr>
              <a:r>
                <a:rPr lang="zh-CN" altLang="en-US" sz="1600" b="1" dirty="0">
                  <a:solidFill>
                    <a:srgbClr val="3333CC"/>
                  </a:solidFill>
                  <a:latin typeface="Verdana" pitchFamily="34" charset="0"/>
                </a:rPr>
                <a:t>文</a:t>
              </a:r>
            </a:p>
            <a:p>
              <a:pPr eaLnBrk="0" hangingPunct="0">
                <a:spcBef>
                  <a:spcPct val="50000"/>
                </a:spcBef>
              </a:pPr>
              <a:endParaRPr lang="zh-CN" altLang="en-US" sz="1600" b="1" dirty="0">
                <a:solidFill>
                  <a:srgbClr val="3333CC"/>
                </a:solidFill>
                <a:latin typeface="Verdana" pitchFamily="34" charset="0"/>
              </a:endParaRPr>
            </a:p>
            <a:p>
              <a:pPr eaLnBrk="0" hangingPunct="0">
                <a:spcBef>
                  <a:spcPct val="50000"/>
                </a:spcBef>
              </a:pPr>
              <a:r>
                <a:rPr lang="zh-CN" altLang="en-US" sz="1600" b="1" dirty="0">
                  <a:solidFill>
                    <a:srgbClr val="3333CC"/>
                  </a:solidFill>
                  <a:latin typeface="Verdana" pitchFamily="34" charset="0"/>
                </a:rPr>
                <a:t>件</a:t>
              </a:r>
            </a:p>
          </p:txBody>
        </p:sp>
        <p:sp>
          <p:nvSpPr>
            <p:cNvPr id="1109005" name="Text Box 13"/>
            <p:cNvSpPr txBox="1">
              <a:spLocks noChangeArrowheads="1"/>
            </p:cNvSpPr>
            <p:nvPr/>
          </p:nvSpPr>
          <p:spPr bwMode="auto">
            <a:xfrm>
              <a:off x="0" y="0"/>
              <a:ext cx="281" cy="231"/>
            </a:xfrm>
            <a:prstGeom prst="rect">
              <a:avLst/>
            </a:prstGeom>
            <a:gradFill rotWithShape="0">
              <a:gsLst>
                <a:gs pos="0">
                  <a:schemeClr val="hlink">
                    <a:gamma/>
                    <a:shade val="46275"/>
                    <a:invGamma/>
                  </a:schemeClr>
                </a:gs>
                <a:gs pos="50000">
                  <a:schemeClr val="hlink"/>
                </a:gs>
                <a:gs pos="100000">
                  <a:schemeClr val="hlink">
                    <a:gamma/>
                    <a:shade val="46275"/>
                    <a:invGamma/>
                  </a:schemeClr>
                </a:gs>
              </a:gsLst>
              <a:lin ang="0" scaled="1"/>
            </a:gradFill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eaLnBrk="0" hangingPunct="0">
                <a:spcBef>
                  <a:spcPct val="50000"/>
                </a:spcBef>
              </a:pPr>
              <a:r>
                <a:rPr lang="en-US" altLang="zh-CN" sz="1800" b="1">
                  <a:solidFill>
                    <a:srgbClr val="0000FF"/>
                  </a:solidFill>
                  <a:latin typeface="Arial" pitchFamily="34" charset="0"/>
                </a:rPr>
                <a:t>C</a:t>
              </a:r>
            </a:p>
          </p:txBody>
        </p:sp>
      </p:grpSp>
    </p:spTree>
  </p:cSld>
  <p:clrMapOvr>
    <a:masterClrMapping/>
  </p:clrMapOvr>
  <p:transition>
    <p:cover/>
    <p:sndAc>
      <p:stSnd>
        <p:snd r:embed="rId3" name="CAMER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89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7" dur="500"/>
                                        <p:tgtEl>
                                          <p:spTgt spid="1108998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90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2" dur="500"/>
                                        <p:tgtEl>
                                          <p:spTgt spid="1109002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08998" grpId="0" animBg="1"/>
      <p:bldP spid="1109002" grpId="0" animBg="1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1049" name="Rectangle 9"/>
          <p:cNvSpPr>
            <a:spLocks noChangeArrowheads="1"/>
          </p:cNvSpPr>
          <p:nvPr/>
        </p:nvSpPr>
        <p:spPr bwMode="auto">
          <a:xfrm>
            <a:off x="661945" y="667401"/>
            <a:ext cx="11255273" cy="1066254"/>
          </a:xfrm>
          <a:prstGeom prst="rect">
            <a:avLst/>
          </a:prstGeom>
          <a:ln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anchor="ctr">
            <a:spAutoFit/>
          </a:bodyPr>
          <a:lstStyle/>
          <a:p>
            <a:pPr marL="0" lvl="1">
              <a:lnSpc>
                <a:spcPts val="2600"/>
              </a:lnSpc>
              <a:tabLst>
                <a:tab pos="457200" algn="l"/>
              </a:tabLst>
            </a:pPr>
            <a:r>
              <a:rPr lang="en-US" altLang="zh-CN" sz="2000" b="1" dirty="0">
                <a:effectLst>
                  <a:outerShdw blurRad="38100" dist="38100" dir="2700000" algn="tl">
                    <a:srgbClr val="FFFFFF"/>
                  </a:outerShdw>
                </a:effectLst>
                <a:ea typeface="楷体" pitchFamily="49" charset="-122"/>
              </a:rPr>
              <a:t>    </a:t>
            </a:r>
            <a:r>
              <a:rPr lang="zh-CN" altLang="en-US" sz="2000" b="1" u="sng" dirty="0">
                <a:solidFill>
                  <a:srgbClr val="CC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楷体" pitchFamily="49" charset="-122"/>
              </a:rPr>
              <a:t>文件的加密方法：</a:t>
            </a:r>
            <a:r>
              <a:rPr lang="zh-CN" altLang="en-US" sz="2000" b="1" dirty="0">
                <a:effectLst>
                  <a:outerShdw blurRad="38100" dist="38100" dir="2700000" algn="tl">
                    <a:srgbClr val="FFFFFF"/>
                  </a:outerShdw>
                </a:effectLst>
                <a:ea typeface="楷体" pitchFamily="49" charset="-122"/>
              </a:rPr>
              <a:t>最初将</a:t>
            </a:r>
            <a:r>
              <a:rPr lang="en-US" altLang="zh-CN" sz="2000" b="1" dirty="0">
                <a:effectLst>
                  <a:outerShdw blurRad="38100" dist="38100" dir="2700000" algn="tl">
                    <a:srgbClr val="FFFFFF"/>
                  </a:outerShdw>
                </a:effectLst>
                <a:ea typeface="楷体" pitchFamily="49" charset="-122"/>
              </a:rPr>
              <a:t>KEY</a:t>
            </a:r>
            <a:r>
              <a:rPr lang="zh-CN" altLang="en-US" sz="2000" b="1" dirty="0">
                <a:effectLst>
                  <a:outerShdw blurRad="38100" dist="38100" dir="2700000" algn="tl">
                    <a:srgbClr val="FFFFFF"/>
                  </a:outerShdw>
                </a:effectLst>
                <a:ea typeface="楷体" pitchFamily="49" charset="-122"/>
              </a:rPr>
              <a:t>的值与文件中的第一个字节进行异或操作写入文件中，文件后面的字节值是将前一个字节值（原始字节值）与其进行异或而成，直到文件结束为止。解密的方法与加密的方法是一样的，因为</a:t>
            </a:r>
            <a:r>
              <a:rPr lang="en-US" altLang="zh-CN" sz="2000" b="1" dirty="0" err="1">
                <a:effectLst>
                  <a:outerShdw blurRad="38100" dist="38100" dir="2700000" algn="tl">
                    <a:srgbClr val="FFFFFF"/>
                  </a:outerShdw>
                </a:effectLst>
                <a:ea typeface="楷体" pitchFamily="49" charset="-122"/>
              </a:rPr>
              <a:t>ch^k^k</a:t>
            </a:r>
            <a:r>
              <a:rPr lang="zh-CN" altLang="en-US" sz="2000" b="1" dirty="0">
                <a:effectLst>
                  <a:outerShdw blurRad="38100" dist="38100" dir="2700000" algn="tl">
                    <a:srgbClr val="FFFFFF"/>
                  </a:outerShdw>
                </a:effectLst>
                <a:ea typeface="楷体" pitchFamily="49" charset="-122"/>
              </a:rPr>
              <a:t>等于</a:t>
            </a:r>
            <a:r>
              <a:rPr lang="en-US" altLang="zh-CN" sz="2000" b="1" dirty="0" err="1">
                <a:effectLst>
                  <a:outerShdw blurRad="38100" dist="38100" dir="2700000" algn="tl">
                    <a:srgbClr val="FFFFFF"/>
                  </a:outerShdw>
                </a:effectLst>
                <a:ea typeface="楷体" pitchFamily="49" charset="-122"/>
              </a:rPr>
              <a:t>ch</a:t>
            </a:r>
            <a:r>
              <a:rPr lang="en-US" altLang="zh-CN" sz="2000" b="1" dirty="0">
                <a:effectLst>
                  <a:outerShdw blurRad="38100" dist="38100" dir="2700000" algn="tl">
                    <a:srgbClr val="FFFFFF"/>
                  </a:outerShdw>
                </a:effectLst>
                <a:ea typeface="楷体" pitchFamily="49" charset="-122"/>
              </a:rPr>
              <a:t> </a:t>
            </a:r>
            <a:r>
              <a:rPr lang="zh-CN" altLang="en-US" sz="2000" b="1" dirty="0">
                <a:effectLst>
                  <a:outerShdw blurRad="38100" dist="38100" dir="2700000" algn="tl">
                    <a:srgbClr val="FFFFFF"/>
                  </a:outerShdw>
                </a:effectLst>
                <a:ea typeface="楷体" pitchFamily="49" charset="-122"/>
              </a:rPr>
              <a:t>。</a:t>
            </a:r>
            <a:endParaRPr lang="en-US" altLang="zh-CN" sz="2000" b="1" dirty="0">
              <a:effectLst>
                <a:outerShdw blurRad="38100" dist="38100" dir="2700000" algn="tl">
                  <a:srgbClr val="FFFFFF"/>
                </a:outerShdw>
              </a:effectLst>
              <a:ea typeface="楷体" pitchFamily="49" charset="-122"/>
            </a:endParaRPr>
          </a:p>
        </p:txBody>
      </p:sp>
      <p:sp>
        <p:nvSpPr>
          <p:cNvPr id="1111046" name="Rectangle 6" descr="信纸"/>
          <p:cNvSpPr>
            <a:spLocks noChangeArrowheads="1"/>
          </p:cNvSpPr>
          <p:nvPr/>
        </p:nvSpPr>
        <p:spPr bwMode="auto">
          <a:xfrm>
            <a:off x="672589" y="1965980"/>
            <a:ext cx="5616575" cy="4092575"/>
          </a:xfrm>
          <a:prstGeom prst="rect">
            <a:avLst/>
          </a:prstGeom>
          <a:blipFill dpi="0" rotWithShape="1">
            <a:blip r:embed="rId4" cstate="print"/>
            <a:srcRect/>
            <a:tile tx="0" ty="0" sx="100000" sy="100000" flip="none" algn="tl"/>
          </a:blipFill>
          <a:ln w="38100">
            <a:solidFill>
              <a:srgbClr val="008000"/>
            </a:solidFill>
            <a:miter lim="800000"/>
            <a:headEnd/>
            <a:tailEnd/>
          </a:ln>
          <a:effectLst>
            <a:outerShdw blurRad="50800" dist="106680" dir="2700000" algn="tl" rotWithShape="0">
              <a:prstClr val="black">
                <a:alpha val="43000"/>
              </a:prstClr>
            </a:outerShdw>
          </a:effectLst>
          <a:scene3d>
            <a:camera prst="orthographicFront"/>
            <a:lightRig rig="threePt" dir="t"/>
          </a:scene3d>
          <a:sp3d>
            <a:bevelT w="114300" prst="hardEdge"/>
          </a:sp3d>
        </p:spPr>
        <p:txBody>
          <a:bodyPr anchor="ctr">
            <a:spAutoFit/>
          </a:bodyPr>
          <a:lstStyle/>
          <a:p>
            <a:pPr marL="457200" indent="-457200">
              <a:tabLst>
                <a:tab pos="914400" algn="l"/>
              </a:tabLst>
            </a:pPr>
            <a:r>
              <a:rPr lang="en-US" altLang="zh-CN" sz="2000" b="1" dirty="0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#</a:t>
            </a:r>
            <a:r>
              <a:rPr lang="en-US" altLang="zh-CN" sz="2000" b="1" dirty="0">
                <a:solidFill>
                  <a:schemeClr val="accent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楷体" pitchFamily="49" charset="-122"/>
              </a:rPr>
              <a:t>include</a:t>
            </a:r>
            <a:r>
              <a:rPr lang="en-US" altLang="zh-CN" sz="2000" b="1" dirty="0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 &lt;</a:t>
            </a:r>
            <a:r>
              <a:rPr lang="en-US" altLang="zh-CN" sz="2000" b="1" dirty="0" err="1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stdio.h</a:t>
            </a:r>
            <a:r>
              <a:rPr lang="en-US" altLang="zh-CN" sz="2000" b="1" dirty="0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&gt;</a:t>
            </a:r>
          </a:p>
          <a:p>
            <a:pPr marL="457200" indent="-457200">
              <a:tabLst>
                <a:tab pos="914400" algn="l"/>
              </a:tabLst>
            </a:pPr>
            <a:r>
              <a:rPr lang="en-US" altLang="zh-CN" sz="2000" b="1" dirty="0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#include &lt;</a:t>
            </a:r>
            <a:r>
              <a:rPr lang="en-US" altLang="zh-CN" sz="2000" b="1" dirty="0" err="1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stdlib.h</a:t>
            </a:r>
            <a:r>
              <a:rPr lang="en-US" altLang="zh-CN" sz="2000" b="1" dirty="0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&gt;</a:t>
            </a:r>
          </a:p>
          <a:p>
            <a:pPr marL="457200" indent="-457200">
              <a:tabLst>
                <a:tab pos="914400" algn="l"/>
              </a:tabLst>
            </a:pPr>
            <a:r>
              <a:rPr lang="en-US" altLang="zh-CN" sz="2000" b="1" dirty="0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#define  KEY  0xFA</a:t>
            </a:r>
          </a:p>
          <a:p>
            <a:pPr marL="457200" indent="-457200">
              <a:tabLst>
                <a:tab pos="914400" algn="l"/>
              </a:tabLst>
            </a:pPr>
            <a:r>
              <a:rPr lang="en-US" altLang="zh-CN" sz="2000" b="1" dirty="0" err="1">
                <a:solidFill>
                  <a:srgbClr val="CC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楷体_GB2312" pitchFamily="49" charset="-122"/>
              </a:rPr>
              <a:t>int</a:t>
            </a:r>
            <a:r>
              <a:rPr lang="en-US" altLang="zh-CN" sz="2000" b="1" dirty="0">
                <a:solidFill>
                  <a:srgbClr val="CC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楷体_GB2312" pitchFamily="49" charset="-122"/>
              </a:rPr>
              <a:t> main (</a:t>
            </a:r>
            <a:r>
              <a:rPr lang="en-US" altLang="zh-CN" sz="2000" b="1" dirty="0" err="1">
                <a:solidFill>
                  <a:srgbClr val="CC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楷体_GB2312" pitchFamily="49" charset="-122"/>
              </a:rPr>
              <a:t>int</a:t>
            </a:r>
            <a:r>
              <a:rPr lang="en-US" altLang="zh-CN" sz="2000" b="1" dirty="0">
                <a:solidFill>
                  <a:srgbClr val="CC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楷体_GB2312" pitchFamily="49" charset="-122"/>
              </a:rPr>
              <a:t> </a:t>
            </a:r>
            <a:r>
              <a:rPr lang="en-US" altLang="zh-CN" sz="2000" b="1" dirty="0" err="1">
                <a:solidFill>
                  <a:srgbClr val="CC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楷体_GB2312" pitchFamily="49" charset="-122"/>
              </a:rPr>
              <a:t>argc</a:t>
            </a:r>
            <a:r>
              <a:rPr lang="en-US" altLang="zh-CN" sz="2000" b="1" dirty="0">
                <a:solidFill>
                  <a:srgbClr val="CC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楷体_GB2312" pitchFamily="49" charset="-122"/>
              </a:rPr>
              <a:t>, char *</a:t>
            </a:r>
            <a:r>
              <a:rPr lang="en-US" altLang="zh-CN" sz="2000" b="1" dirty="0" err="1">
                <a:solidFill>
                  <a:srgbClr val="CC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楷体_GB2312" pitchFamily="49" charset="-122"/>
              </a:rPr>
              <a:t>argv</a:t>
            </a:r>
            <a:r>
              <a:rPr lang="en-US" altLang="zh-CN" sz="2000" b="1" dirty="0">
                <a:solidFill>
                  <a:srgbClr val="CC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楷体_GB2312" pitchFamily="49" charset="-122"/>
              </a:rPr>
              <a:t>[ ])</a:t>
            </a:r>
          </a:p>
          <a:p>
            <a:pPr marL="457200" indent="-457200">
              <a:tabLst>
                <a:tab pos="914400" algn="l"/>
              </a:tabLst>
            </a:pPr>
            <a:r>
              <a:rPr lang="en-US" altLang="zh-CN" sz="2000" b="1" dirty="0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{</a:t>
            </a:r>
          </a:p>
          <a:p>
            <a:pPr marL="457200" indent="-457200">
              <a:tabLst>
                <a:tab pos="914400" algn="l"/>
              </a:tabLst>
            </a:pPr>
            <a:r>
              <a:rPr lang="en-US" altLang="zh-CN" sz="2000" b="1" dirty="0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  FILE *</a:t>
            </a:r>
            <a:r>
              <a:rPr lang="en-US" altLang="zh-CN" sz="2000" b="1" dirty="0" err="1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fpr</a:t>
            </a:r>
            <a:r>
              <a:rPr lang="en-US" altLang="zh-CN" sz="2000" b="1" dirty="0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, *</a:t>
            </a:r>
            <a:r>
              <a:rPr lang="en-US" altLang="zh-CN" sz="2000" b="1" dirty="0" err="1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fpw</a:t>
            </a:r>
            <a:r>
              <a:rPr lang="en-US" altLang="zh-CN" sz="2000" b="1" dirty="0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;</a:t>
            </a:r>
          </a:p>
          <a:p>
            <a:pPr marL="457200" indent="-457200">
              <a:tabLst>
                <a:tab pos="914400" algn="l"/>
              </a:tabLst>
            </a:pPr>
            <a:r>
              <a:rPr lang="en-US" altLang="zh-CN" sz="2000" b="1" dirty="0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  char </a:t>
            </a:r>
            <a:r>
              <a:rPr lang="en-US" altLang="zh-CN" sz="2000" b="1" dirty="0" err="1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ch</a:t>
            </a:r>
            <a:r>
              <a:rPr lang="en-US" altLang="zh-CN" sz="2000" b="1" dirty="0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, k = (char)KEY;</a:t>
            </a:r>
          </a:p>
          <a:p>
            <a:pPr marL="457200" indent="-457200">
              <a:tabLst>
                <a:tab pos="914400" algn="l"/>
              </a:tabLst>
            </a:pPr>
            <a:r>
              <a:rPr lang="en-US" altLang="zh-CN" sz="2000" b="1" dirty="0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  </a:t>
            </a:r>
            <a:r>
              <a:rPr lang="en-US" altLang="zh-CN" sz="2000" b="1" dirty="0">
                <a:solidFill>
                  <a:schemeClr val="accent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楷体" pitchFamily="49" charset="-122"/>
              </a:rPr>
              <a:t>//</a:t>
            </a:r>
            <a:r>
              <a:rPr lang="zh-CN" altLang="en-US" sz="2000" b="1" dirty="0">
                <a:solidFill>
                  <a:schemeClr val="accent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楷体" pitchFamily="49" charset="-122"/>
              </a:rPr>
              <a:t>命令行参数有误</a:t>
            </a:r>
          </a:p>
          <a:p>
            <a:pPr marL="457200" indent="-457200">
              <a:tabLst>
                <a:tab pos="914400" algn="l"/>
              </a:tabLst>
            </a:pPr>
            <a:r>
              <a:rPr lang="zh-CN" altLang="en-US" sz="2000" b="1" dirty="0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  </a:t>
            </a:r>
            <a:r>
              <a:rPr lang="en-US" altLang="zh-CN" sz="2000" b="1" dirty="0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if (</a:t>
            </a:r>
            <a:r>
              <a:rPr lang="en-US" altLang="zh-CN" sz="2000" b="1" dirty="0" err="1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argc</a:t>
            </a:r>
            <a:r>
              <a:rPr lang="en-US" altLang="zh-CN" sz="2000" b="1" dirty="0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 != 3 || *</a:t>
            </a:r>
            <a:r>
              <a:rPr lang="en-US" altLang="zh-CN" sz="2000" b="1" dirty="0" err="1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argv</a:t>
            </a:r>
            <a:r>
              <a:rPr lang="en-US" altLang="zh-CN" sz="2000" b="1" dirty="0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[2] != '+' &amp;&amp; *</a:t>
            </a:r>
            <a:r>
              <a:rPr lang="en-US" altLang="zh-CN" sz="2000" b="1" dirty="0" err="1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argv</a:t>
            </a:r>
            <a:r>
              <a:rPr lang="en-US" altLang="zh-CN" sz="2000" b="1" dirty="0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[2] != '-')</a:t>
            </a:r>
          </a:p>
          <a:p>
            <a:pPr marL="457200" indent="-457200">
              <a:tabLst>
                <a:tab pos="914400" algn="l"/>
              </a:tabLst>
            </a:pPr>
            <a:r>
              <a:rPr lang="en-US" altLang="zh-CN" sz="2000" b="1" dirty="0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  {</a:t>
            </a:r>
          </a:p>
          <a:p>
            <a:pPr marL="457200" indent="-457200">
              <a:tabLst>
                <a:tab pos="914400" algn="l"/>
              </a:tabLst>
            </a:pPr>
            <a:r>
              <a:rPr lang="en-US" altLang="zh-CN" sz="2000" b="1" dirty="0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    </a:t>
            </a:r>
            <a:r>
              <a:rPr lang="en-US" altLang="zh-CN" sz="2000" b="1" dirty="0" err="1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printf</a:t>
            </a:r>
            <a:r>
              <a:rPr lang="en-US" altLang="zh-CN" sz="2000" b="1" dirty="0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 ("</a:t>
            </a:r>
            <a:r>
              <a:rPr lang="en-US" altLang="zh-CN" sz="2000" b="1" dirty="0" err="1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Useage</a:t>
            </a:r>
            <a:r>
              <a:rPr lang="en-US" altLang="zh-CN" sz="2000" b="1" dirty="0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: </a:t>
            </a:r>
            <a:r>
              <a:rPr lang="zh-CN" altLang="en-US" sz="2000" b="1" dirty="0">
                <a:effectLst>
                  <a:outerShdw blurRad="38100" dist="38100" dir="2700000" algn="tl">
                    <a:srgbClr val="FFFFFF"/>
                  </a:outerShdw>
                </a:effectLst>
                <a:latin typeface="+mn-lt"/>
                <a:ea typeface="楷体" pitchFamily="49" charset="-122"/>
              </a:rPr>
              <a:t>执行文件名</a:t>
            </a:r>
            <a:r>
              <a:rPr lang="zh-CN" altLang="en-US" sz="2000" b="1" dirty="0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  </a:t>
            </a:r>
            <a:r>
              <a:rPr lang="en-US" altLang="zh-CN" sz="2000" b="1" dirty="0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filename +/-\n");</a:t>
            </a:r>
          </a:p>
          <a:p>
            <a:pPr marL="457200" indent="-457200">
              <a:tabLst>
                <a:tab pos="914400" algn="l"/>
              </a:tabLst>
            </a:pPr>
            <a:r>
              <a:rPr lang="en-US" altLang="zh-CN" sz="2000" b="1" dirty="0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    exit (0);</a:t>
            </a:r>
          </a:p>
          <a:p>
            <a:pPr marL="457200" indent="-457200">
              <a:tabLst>
                <a:tab pos="914400" algn="l"/>
              </a:tabLst>
            </a:pPr>
            <a:r>
              <a:rPr lang="en-US" altLang="zh-CN" sz="2000" b="1" dirty="0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  }</a:t>
            </a:r>
          </a:p>
        </p:txBody>
      </p:sp>
      <p:sp>
        <p:nvSpPr>
          <p:cNvPr id="1111045" name="Rectangle 5"/>
          <p:cNvSpPr>
            <a:spLocks noChangeArrowheads="1"/>
          </p:cNvSpPr>
          <p:nvPr/>
        </p:nvSpPr>
        <p:spPr bwMode="auto">
          <a:xfrm>
            <a:off x="430486" y="153988"/>
            <a:ext cx="400933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anchor="ctr">
            <a:spAutoFit/>
          </a:bodyPr>
          <a:lstStyle/>
          <a:p>
            <a:r>
              <a:rPr lang="en-US" altLang="zh-CN" b="1" dirty="0">
                <a:solidFill>
                  <a:srgbClr val="CC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隶书" pitchFamily="49" charset="-122"/>
                <a:ea typeface="隶书" pitchFamily="49" charset="-122"/>
              </a:rPr>
              <a:t>【</a:t>
            </a:r>
            <a:r>
              <a:rPr lang="zh-CN" altLang="en-US" b="1" dirty="0">
                <a:solidFill>
                  <a:srgbClr val="CC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隶书" pitchFamily="49" charset="-122"/>
                <a:ea typeface="隶书" pitchFamily="49" charset="-122"/>
              </a:rPr>
              <a:t>例</a:t>
            </a:r>
            <a:r>
              <a:rPr lang="en-US" altLang="zh-CN" b="1" dirty="0">
                <a:solidFill>
                  <a:srgbClr val="CC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隶书" pitchFamily="49" charset="-122"/>
                <a:ea typeface="隶书" pitchFamily="49" charset="-122"/>
              </a:rPr>
              <a:t>10】</a:t>
            </a:r>
            <a:r>
              <a:rPr lang="zh-CN" altLang="en-US" b="1" dirty="0">
                <a:solidFill>
                  <a:srgbClr val="CC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隶书" pitchFamily="49" charset="-122"/>
                <a:ea typeface="隶书" pitchFamily="49" charset="-122"/>
              </a:rPr>
              <a:t>文件加密</a:t>
            </a:r>
            <a:r>
              <a:rPr lang="en-US" altLang="zh-CN" b="1" dirty="0">
                <a:solidFill>
                  <a:srgbClr val="CC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隶书" pitchFamily="49" charset="-122"/>
                <a:ea typeface="隶书" pitchFamily="49" charset="-122"/>
              </a:rPr>
              <a:t>/</a:t>
            </a:r>
            <a:r>
              <a:rPr lang="zh-CN" altLang="en-US" b="1" dirty="0">
                <a:solidFill>
                  <a:srgbClr val="CC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隶书" pitchFamily="49" charset="-122"/>
                <a:ea typeface="隶书" pitchFamily="49" charset="-122"/>
              </a:rPr>
              <a:t>解密。</a:t>
            </a:r>
          </a:p>
        </p:txBody>
      </p:sp>
      <p:sp>
        <p:nvSpPr>
          <p:cNvPr id="1111048" name="Rectangle 8" descr="信纸"/>
          <p:cNvSpPr>
            <a:spLocks noChangeArrowheads="1"/>
          </p:cNvSpPr>
          <p:nvPr/>
        </p:nvSpPr>
        <p:spPr bwMode="auto">
          <a:xfrm>
            <a:off x="5292580" y="116632"/>
            <a:ext cx="6624638" cy="6617196"/>
          </a:xfrm>
          <a:prstGeom prst="rect">
            <a:avLst/>
          </a:prstGeom>
          <a:blipFill dpi="0" rotWithShape="1">
            <a:blip r:embed="rId4" cstate="print"/>
            <a:srcRect/>
            <a:tile tx="0" ty="0" sx="100000" sy="100000" flip="none" algn="tl"/>
          </a:blipFill>
          <a:ln w="38100">
            <a:solidFill>
              <a:srgbClr val="008000"/>
            </a:solidFill>
            <a:miter lim="800000"/>
            <a:headEnd/>
            <a:tailEnd/>
          </a:ln>
          <a:effectLst>
            <a:outerShdw blurRad="50800" dist="106680" dir="2700000" algn="tl" rotWithShape="0">
              <a:prstClr val="black">
                <a:alpha val="43000"/>
              </a:prstClr>
            </a:outerShdw>
          </a:effectLst>
          <a:scene3d>
            <a:camera prst="orthographicFront"/>
            <a:lightRig rig="threePt" dir="t"/>
          </a:scene3d>
          <a:sp3d>
            <a:bevelT w="114300" prst="hardEdge"/>
          </a:sp3d>
        </p:spPr>
        <p:txBody>
          <a:bodyPr anchor="ctr">
            <a:spAutoFit/>
          </a:bodyPr>
          <a:lstStyle/>
          <a:p>
            <a:pPr marL="457200" indent="-457200">
              <a:tabLst>
                <a:tab pos="914400" algn="l"/>
              </a:tabLst>
            </a:pPr>
            <a:r>
              <a:rPr lang="en-US" altLang="zh-CN" dirty="0"/>
              <a:t>  </a:t>
            </a:r>
            <a:r>
              <a:rPr lang="en-US" altLang="zh-CN" sz="2000" b="1" dirty="0" err="1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fpr</a:t>
            </a:r>
            <a:r>
              <a:rPr lang="en-US" altLang="zh-CN" sz="2000" b="1" dirty="0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 = </a:t>
            </a:r>
            <a:r>
              <a:rPr lang="en-US" altLang="zh-CN" sz="2000" b="1" dirty="0" err="1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fopen</a:t>
            </a:r>
            <a:r>
              <a:rPr lang="en-US" altLang="zh-CN" sz="2000" b="1" dirty="0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 (</a:t>
            </a:r>
            <a:r>
              <a:rPr lang="en-US" altLang="zh-CN" sz="2000" b="1" dirty="0" err="1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argv</a:t>
            </a:r>
            <a:r>
              <a:rPr lang="en-US" altLang="zh-CN" sz="2000" b="1" dirty="0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[1], "</a:t>
            </a:r>
            <a:r>
              <a:rPr lang="en-US" altLang="zh-CN" sz="2000" b="1" dirty="0" err="1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rb</a:t>
            </a:r>
            <a:r>
              <a:rPr lang="en-US" altLang="zh-CN" sz="2000" b="1" dirty="0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");   </a:t>
            </a:r>
            <a:r>
              <a:rPr lang="en-US" altLang="zh-CN" sz="2000" b="1" dirty="0">
                <a:solidFill>
                  <a:schemeClr val="accent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楷体" pitchFamily="49" charset="-122"/>
              </a:rPr>
              <a:t>//</a:t>
            </a:r>
            <a:r>
              <a:rPr lang="zh-CN" altLang="en-US" sz="2000" b="1" dirty="0">
                <a:solidFill>
                  <a:schemeClr val="accent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楷体" pitchFamily="49" charset="-122"/>
              </a:rPr>
              <a:t>以读的方式打开文件</a:t>
            </a:r>
          </a:p>
          <a:p>
            <a:pPr marL="457200" indent="-457200">
              <a:tabLst>
                <a:tab pos="914400" algn="l"/>
              </a:tabLst>
            </a:pPr>
            <a:r>
              <a:rPr lang="zh-CN" altLang="en-US" sz="2000" b="1" dirty="0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  </a:t>
            </a:r>
            <a:r>
              <a:rPr lang="en-US" altLang="zh-CN" sz="2000" b="1" dirty="0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if (</a:t>
            </a:r>
            <a:r>
              <a:rPr lang="en-US" altLang="zh-CN" sz="2000" b="1" dirty="0" err="1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fpr</a:t>
            </a:r>
            <a:r>
              <a:rPr lang="en-US" altLang="zh-CN" sz="2000" b="1" dirty="0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 == NULL)   </a:t>
            </a:r>
            <a:r>
              <a:rPr lang="en-US" altLang="zh-CN" sz="2000" b="1" dirty="0">
                <a:solidFill>
                  <a:schemeClr val="accent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楷体" pitchFamily="49" charset="-122"/>
              </a:rPr>
              <a:t>//</a:t>
            </a:r>
            <a:r>
              <a:rPr lang="zh-CN" altLang="en-US" sz="2000" b="1" dirty="0">
                <a:solidFill>
                  <a:schemeClr val="accent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楷体" pitchFamily="49" charset="-122"/>
              </a:rPr>
              <a:t>打开文件失败</a:t>
            </a:r>
          </a:p>
          <a:p>
            <a:pPr marL="457200" indent="-457200">
              <a:tabLst>
                <a:tab pos="914400" algn="l"/>
              </a:tabLst>
            </a:pPr>
            <a:r>
              <a:rPr lang="zh-CN" altLang="en-US" sz="2000" b="1" dirty="0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  </a:t>
            </a:r>
            <a:r>
              <a:rPr lang="en-US" altLang="zh-CN" sz="2000" b="1" dirty="0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{</a:t>
            </a:r>
          </a:p>
          <a:p>
            <a:pPr marL="457200" indent="-457200">
              <a:tabLst>
                <a:tab pos="914400" algn="l"/>
              </a:tabLst>
            </a:pPr>
            <a:r>
              <a:rPr lang="en-US" altLang="zh-CN" sz="2000" b="1" dirty="0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    </a:t>
            </a:r>
            <a:r>
              <a:rPr lang="en-US" altLang="zh-CN" sz="2000" b="1" dirty="0" err="1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printf</a:t>
            </a:r>
            <a:r>
              <a:rPr lang="en-US" altLang="zh-CN" sz="2000" b="1" dirty="0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 ("file: %s not found!\n", </a:t>
            </a:r>
            <a:r>
              <a:rPr lang="en-US" altLang="zh-CN" sz="2000" b="1" dirty="0" err="1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argv</a:t>
            </a:r>
            <a:r>
              <a:rPr lang="en-US" altLang="zh-CN" sz="2000" b="1" dirty="0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[1]);</a:t>
            </a:r>
          </a:p>
          <a:p>
            <a:pPr marL="457200" indent="-457200">
              <a:tabLst>
                <a:tab pos="914400" algn="l"/>
              </a:tabLst>
            </a:pPr>
            <a:r>
              <a:rPr lang="en-US" altLang="zh-CN" sz="2000" b="1" dirty="0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    exit (0);</a:t>
            </a:r>
          </a:p>
          <a:p>
            <a:pPr marL="457200" indent="-457200">
              <a:tabLst>
                <a:tab pos="914400" algn="l"/>
              </a:tabLst>
            </a:pPr>
            <a:r>
              <a:rPr lang="en-US" altLang="zh-CN" sz="2000" b="1" dirty="0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  }</a:t>
            </a:r>
          </a:p>
          <a:p>
            <a:pPr marL="457200" indent="-457200">
              <a:tabLst>
                <a:tab pos="914400" algn="l"/>
              </a:tabLst>
            </a:pPr>
            <a:r>
              <a:rPr lang="en-US" altLang="zh-CN" sz="2000" b="1" dirty="0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  </a:t>
            </a:r>
            <a:r>
              <a:rPr lang="en-US" altLang="zh-CN" sz="2000" b="1" dirty="0" err="1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fpw</a:t>
            </a:r>
            <a:r>
              <a:rPr lang="en-US" altLang="zh-CN" sz="2000" b="1" dirty="0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 = </a:t>
            </a:r>
            <a:r>
              <a:rPr lang="en-US" altLang="zh-CN" sz="2000" b="1" dirty="0" err="1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fopen</a:t>
            </a:r>
            <a:r>
              <a:rPr lang="en-US" altLang="zh-CN" sz="2000" b="1" dirty="0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 (</a:t>
            </a:r>
            <a:r>
              <a:rPr lang="en-US" altLang="zh-CN" sz="2000" b="1" dirty="0" err="1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argv</a:t>
            </a:r>
            <a:r>
              <a:rPr lang="en-US" altLang="zh-CN" sz="2000" b="1" dirty="0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[1], "</a:t>
            </a:r>
            <a:r>
              <a:rPr lang="en-US" altLang="zh-CN" sz="2000" b="1" dirty="0" err="1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rb</a:t>
            </a:r>
            <a:r>
              <a:rPr lang="en-US" altLang="zh-CN" sz="2000" b="1" dirty="0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+");   </a:t>
            </a:r>
            <a:r>
              <a:rPr lang="en-US" altLang="zh-CN" sz="2000" b="1" dirty="0">
                <a:solidFill>
                  <a:schemeClr val="accent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楷体" pitchFamily="49" charset="-122"/>
              </a:rPr>
              <a:t>//</a:t>
            </a:r>
            <a:r>
              <a:rPr lang="zh-CN" altLang="en-US" sz="2000" b="1" dirty="0">
                <a:solidFill>
                  <a:schemeClr val="accent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楷体" pitchFamily="49" charset="-122"/>
              </a:rPr>
              <a:t>以读写的方式打开文件</a:t>
            </a:r>
          </a:p>
          <a:p>
            <a:pPr marL="457200" indent="-457200">
              <a:tabLst>
                <a:tab pos="914400" algn="l"/>
              </a:tabLst>
            </a:pPr>
            <a:r>
              <a:rPr lang="zh-CN" altLang="en-US" sz="2000" b="1" dirty="0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  </a:t>
            </a:r>
            <a:r>
              <a:rPr lang="en-US" altLang="zh-CN" sz="2000" b="1" dirty="0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if (</a:t>
            </a:r>
            <a:r>
              <a:rPr lang="en-US" altLang="zh-CN" sz="2000" b="1" dirty="0" err="1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fpw</a:t>
            </a:r>
            <a:r>
              <a:rPr lang="en-US" altLang="zh-CN" sz="2000" b="1" dirty="0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 == NULL)   </a:t>
            </a:r>
            <a:r>
              <a:rPr lang="en-US" altLang="zh-CN" sz="2000" b="1" dirty="0">
                <a:solidFill>
                  <a:schemeClr val="accent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楷体" pitchFamily="49" charset="-122"/>
              </a:rPr>
              <a:t>//</a:t>
            </a:r>
            <a:r>
              <a:rPr lang="zh-CN" altLang="en-US" sz="2000" b="1" dirty="0">
                <a:solidFill>
                  <a:schemeClr val="accent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楷体" pitchFamily="49" charset="-122"/>
              </a:rPr>
              <a:t>打开文件失败</a:t>
            </a:r>
          </a:p>
          <a:p>
            <a:pPr marL="457200" indent="-457200">
              <a:tabLst>
                <a:tab pos="914400" algn="l"/>
              </a:tabLst>
            </a:pPr>
            <a:r>
              <a:rPr lang="zh-CN" altLang="en-US" sz="2000" b="1" dirty="0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  </a:t>
            </a:r>
            <a:r>
              <a:rPr lang="en-US" altLang="zh-CN" sz="2000" b="1" dirty="0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{</a:t>
            </a:r>
          </a:p>
          <a:p>
            <a:pPr marL="457200" indent="-457200">
              <a:tabLst>
                <a:tab pos="914400" algn="l"/>
              </a:tabLst>
            </a:pPr>
            <a:r>
              <a:rPr lang="en-US" altLang="zh-CN" sz="2000" b="1" dirty="0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    </a:t>
            </a:r>
            <a:r>
              <a:rPr lang="en-US" altLang="zh-CN" sz="2000" b="1" dirty="0" err="1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printf</a:t>
            </a:r>
            <a:r>
              <a:rPr lang="en-US" altLang="zh-CN" sz="2000" b="1" dirty="0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 ("file: %s not found!\n", </a:t>
            </a:r>
            <a:r>
              <a:rPr lang="en-US" altLang="zh-CN" sz="2000" b="1" dirty="0" err="1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argv</a:t>
            </a:r>
            <a:r>
              <a:rPr lang="en-US" altLang="zh-CN" sz="2000" b="1" dirty="0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[1]);</a:t>
            </a:r>
          </a:p>
          <a:p>
            <a:pPr marL="457200" indent="-457200">
              <a:tabLst>
                <a:tab pos="914400" algn="l"/>
              </a:tabLst>
            </a:pPr>
            <a:r>
              <a:rPr lang="en-US" altLang="zh-CN" sz="2000" b="1" dirty="0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    exit (0);</a:t>
            </a:r>
          </a:p>
          <a:p>
            <a:pPr marL="457200" indent="-457200">
              <a:tabLst>
                <a:tab pos="914400" algn="l"/>
              </a:tabLst>
            </a:pPr>
            <a:r>
              <a:rPr lang="en-US" altLang="zh-CN" sz="2000" b="1" dirty="0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  }</a:t>
            </a:r>
          </a:p>
          <a:p>
            <a:pPr marL="457200" indent="-457200">
              <a:tabLst>
                <a:tab pos="914400" algn="l"/>
              </a:tabLst>
            </a:pPr>
            <a:r>
              <a:rPr lang="en-US" altLang="zh-CN" sz="2000" b="1" dirty="0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  while ((</a:t>
            </a:r>
            <a:r>
              <a:rPr lang="en-US" altLang="zh-CN" sz="2000" b="1" dirty="0" err="1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ch</a:t>
            </a:r>
            <a:r>
              <a:rPr lang="en-US" altLang="zh-CN" sz="2000" b="1" dirty="0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 = </a:t>
            </a:r>
            <a:r>
              <a:rPr lang="en-US" altLang="zh-CN" sz="2000" b="1" dirty="0" err="1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fgetc</a:t>
            </a:r>
            <a:r>
              <a:rPr lang="en-US" altLang="zh-CN" sz="2000" b="1" dirty="0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(</a:t>
            </a:r>
            <a:r>
              <a:rPr lang="en-US" altLang="zh-CN" sz="2000" b="1" dirty="0" err="1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fpr</a:t>
            </a:r>
            <a:r>
              <a:rPr lang="en-US" altLang="zh-CN" sz="2000" b="1" dirty="0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)) != EOF)</a:t>
            </a:r>
          </a:p>
          <a:p>
            <a:pPr marL="457200" indent="-457200">
              <a:tabLst>
                <a:tab pos="914400" algn="l"/>
              </a:tabLst>
            </a:pPr>
            <a:r>
              <a:rPr lang="en-US" altLang="zh-CN" sz="2000" b="1" dirty="0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  {</a:t>
            </a:r>
          </a:p>
          <a:p>
            <a:pPr marL="457200" indent="-457200">
              <a:tabLst>
                <a:tab pos="914400" algn="l"/>
              </a:tabLst>
            </a:pPr>
            <a:r>
              <a:rPr lang="en-US" altLang="zh-CN" sz="2000" b="1" dirty="0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    </a:t>
            </a:r>
            <a:r>
              <a:rPr lang="en-US" altLang="zh-CN" sz="2000" b="1" dirty="0" err="1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fputc</a:t>
            </a:r>
            <a:r>
              <a:rPr lang="en-US" altLang="zh-CN" sz="2000" b="1" dirty="0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 (</a:t>
            </a:r>
            <a:r>
              <a:rPr lang="en-US" altLang="zh-CN" sz="2000" b="1" dirty="0" err="1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ch^k</a:t>
            </a:r>
            <a:r>
              <a:rPr lang="en-US" altLang="zh-CN" sz="2000" b="1" dirty="0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, </a:t>
            </a:r>
            <a:r>
              <a:rPr lang="en-US" altLang="zh-CN" sz="2000" b="1" dirty="0" err="1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fpw</a:t>
            </a:r>
            <a:r>
              <a:rPr lang="en-US" altLang="zh-CN" sz="2000" b="1" dirty="0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);</a:t>
            </a:r>
          </a:p>
          <a:p>
            <a:pPr marL="457200" indent="-457200">
              <a:tabLst>
                <a:tab pos="914400" algn="l"/>
              </a:tabLst>
            </a:pPr>
            <a:r>
              <a:rPr lang="en-US" altLang="zh-CN" sz="2000" b="1" dirty="0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    k = (*</a:t>
            </a:r>
            <a:r>
              <a:rPr lang="en-US" altLang="zh-CN" sz="2000" b="1" dirty="0" err="1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argv</a:t>
            </a:r>
            <a:r>
              <a:rPr lang="en-US" altLang="zh-CN" sz="2000" b="1" dirty="0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[2] == '+') ? </a:t>
            </a:r>
            <a:r>
              <a:rPr lang="en-US" altLang="zh-CN" sz="2000" b="1" dirty="0" err="1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ch</a:t>
            </a:r>
            <a:r>
              <a:rPr lang="en-US" altLang="zh-CN" sz="2000" b="1" dirty="0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 : </a:t>
            </a:r>
            <a:r>
              <a:rPr lang="en-US" altLang="zh-CN" sz="2000" b="1" dirty="0" err="1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ch^k</a:t>
            </a:r>
            <a:r>
              <a:rPr lang="en-US" altLang="zh-CN" sz="2000" b="1" dirty="0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;</a:t>
            </a:r>
          </a:p>
          <a:p>
            <a:pPr marL="457200" indent="-457200">
              <a:tabLst>
                <a:tab pos="914400" algn="l"/>
              </a:tabLst>
            </a:pPr>
            <a:r>
              <a:rPr lang="en-US" altLang="zh-CN" sz="2000" b="1" dirty="0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  }</a:t>
            </a:r>
          </a:p>
          <a:p>
            <a:pPr marL="457200" indent="-457200">
              <a:tabLst>
                <a:tab pos="914400" algn="l"/>
              </a:tabLst>
            </a:pPr>
            <a:r>
              <a:rPr lang="en-US" altLang="zh-CN" sz="2000" b="1" dirty="0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  </a:t>
            </a:r>
            <a:r>
              <a:rPr lang="en-US" altLang="zh-CN" sz="2000" b="1" dirty="0" err="1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fclose</a:t>
            </a:r>
            <a:r>
              <a:rPr lang="en-US" altLang="zh-CN" sz="2000" b="1" dirty="0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 (</a:t>
            </a:r>
            <a:r>
              <a:rPr lang="en-US" altLang="zh-CN" sz="2000" b="1" dirty="0" err="1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fpr</a:t>
            </a:r>
            <a:r>
              <a:rPr lang="en-US" altLang="zh-CN" sz="2000" b="1" dirty="0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);    </a:t>
            </a:r>
            <a:r>
              <a:rPr lang="en-US" altLang="zh-CN" sz="2000" b="1" dirty="0">
                <a:solidFill>
                  <a:schemeClr val="accent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楷体" pitchFamily="49" charset="-122"/>
              </a:rPr>
              <a:t>//</a:t>
            </a:r>
            <a:r>
              <a:rPr lang="zh-CN" altLang="en-US" sz="2000" b="1" dirty="0">
                <a:solidFill>
                  <a:schemeClr val="accent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楷体" pitchFamily="49" charset="-122"/>
              </a:rPr>
              <a:t>关闭文件</a:t>
            </a:r>
          </a:p>
          <a:p>
            <a:pPr marL="457200" indent="-457200">
              <a:tabLst>
                <a:tab pos="914400" algn="l"/>
              </a:tabLst>
            </a:pPr>
            <a:r>
              <a:rPr lang="zh-CN" altLang="en-US" sz="2000" b="1" dirty="0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  </a:t>
            </a:r>
            <a:r>
              <a:rPr lang="en-US" altLang="zh-CN" sz="2000" b="1" dirty="0" err="1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fclose</a:t>
            </a:r>
            <a:r>
              <a:rPr lang="en-US" altLang="zh-CN" sz="2000" b="1" dirty="0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 (</a:t>
            </a:r>
            <a:r>
              <a:rPr lang="en-US" altLang="zh-CN" sz="2000" b="1" dirty="0" err="1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fpw</a:t>
            </a:r>
            <a:r>
              <a:rPr lang="en-US" altLang="zh-CN" sz="2000" b="1" dirty="0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);   </a:t>
            </a:r>
            <a:r>
              <a:rPr lang="en-US" altLang="zh-CN" sz="2000" b="1" dirty="0">
                <a:solidFill>
                  <a:schemeClr val="accent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楷体" pitchFamily="49" charset="-122"/>
              </a:rPr>
              <a:t>//</a:t>
            </a:r>
            <a:r>
              <a:rPr lang="zh-CN" altLang="en-US" sz="2000" b="1" dirty="0">
                <a:solidFill>
                  <a:schemeClr val="accent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楷体" pitchFamily="49" charset="-122"/>
              </a:rPr>
              <a:t>关闭文件</a:t>
            </a:r>
          </a:p>
          <a:p>
            <a:pPr marL="457200" indent="-457200">
              <a:tabLst>
                <a:tab pos="914400" algn="l"/>
              </a:tabLst>
            </a:pPr>
            <a:r>
              <a:rPr lang="en-US" altLang="zh-CN" sz="2000" b="1" dirty="0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  return 0;</a:t>
            </a:r>
          </a:p>
          <a:p>
            <a:pPr marL="457200" indent="-457200">
              <a:tabLst>
                <a:tab pos="914400" algn="l"/>
              </a:tabLst>
            </a:pPr>
            <a:r>
              <a:rPr lang="en-US" altLang="zh-CN" sz="2000" b="1" dirty="0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}</a:t>
            </a:r>
          </a:p>
        </p:txBody>
      </p:sp>
      <p:grpSp>
        <p:nvGrpSpPr>
          <p:cNvPr id="1111050" name="Group 10"/>
          <p:cNvGrpSpPr>
            <a:grpSpLocks/>
          </p:cNvGrpSpPr>
          <p:nvPr/>
        </p:nvGrpSpPr>
        <p:grpSpPr bwMode="auto">
          <a:xfrm>
            <a:off x="-9822" y="0"/>
            <a:ext cx="446088" cy="6858000"/>
            <a:chOff x="0" y="0"/>
            <a:chExt cx="281" cy="4320"/>
          </a:xfrm>
        </p:grpSpPr>
        <p:sp>
          <p:nvSpPr>
            <p:cNvPr id="1111051" name="Text Box 11"/>
            <p:cNvSpPr txBox="1">
              <a:spLocks noChangeArrowheads="1"/>
            </p:cNvSpPr>
            <p:nvPr/>
          </p:nvSpPr>
          <p:spPr bwMode="auto">
            <a:xfrm>
              <a:off x="0" y="0"/>
              <a:ext cx="281" cy="4320"/>
            </a:xfrm>
            <a:prstGeom prst="rect">
              <a:avLst/>
            </a:prstGeom>
            <a:gradFill rotWithShape="0">
              <a:gsLst>
                <a:gs pos="0">
                  <a:schemeClr val="hlink">
                    <a:gamma/>
                    <a:shade val="60784"/>
                    <a:invGamma/>
                  </a:schemeClr>
                </a:gs>
                <a:gs pos="50000">
                  <a:schemeClr val="hlink"/>
                </a:gs>
                <a:gs pos="100000">
                  <a:schemeClr val="hlink">
                    <a:gamma/>
                    <a:shade val="60784"/>
                    <a:invGamma/>
                  </a:schemeClr>
                </a:gs>
              </a:gsLst>
              <a:lin ang="0" scaled="1"/>
            </a:gradFill>
            <a:ln w="9525">
              <a:noFill/>
              <a:miter lim="800000"/>
              <a:headEnd/>
              <a:tailEnd/>
            </a:ln>
            <a:effectLst/>
          </p:spPr>
          <p:txBody>
            <a:bodyPr/>
            <a:lstStyle/>
            <a:p>
              <a:pPr eaLnBrk="0" hangingPunct="0">
                <a:spcBef>
                  <a:spcPct val="50000"/>
                </a:spcBef>
              </a:pPr>
              <a:endParaRPr lang="en-US" altLang="zh-CN" sz="1800" dirty="0">
                <a:solidFill>
                  <a:srgbClr val="3333CC"/>
                </a:solidFill>
                <a:latin typeface="Verdana" pitchFamily="34" charset="0"/>
              </a:endParaRPr>
            </a:p>
            <a:p>
              <a:pPr eaLnBrk="0" hangingPunct="0">
                <a:spcBef>
                  <a:spcPct val="50000"/>
                </a:spcBef>
              </a:pPr>
              <a:r>
                <a:rPr lang="zh-CN" altLang="en-US" sz="1600" b="1" dirty="0">
                  <a:solidFill>
                    <a:srgbClr val="3333CC"/>
                  </a:solidFill>
                  <a:latin typeface="Verdana" pitchFamily="34" charset="0"/>
                </a:rPr>
                <a:t>语言程序设计教程       </a:t>
              </a:r>
            </a:p>
            <a:p>
              <a:pPr eaLnBrk="0" hangingPunct="0">
                <a:spcBef>
                  <a:spcPct val="50000"/>
                </a:spcBef>
              </a:pPr>
              <a:r>
                <a:rPr lang="zh-CN" altLang="en-US" sz="1600" b="1" dirty="0">
                  <a:solidFill>
                    <a:srgbClr val="3333CC"/>
                  </a:solidFill>
                  <a:latin typeface="Verdana" pitchFamily="34" charset="0"/>
                </a:rPr>
                <a:t>第三版</a:t>
              </a:r>
            </a:p>
            <a:p>
              <a:pPr eaLnBrk="0" hangingPunct="0">
                <a:spcBef>
                  <a:spcPct val="50000"/>
                </a:spcBef>
              </a:pPr>
              <a:endParaRPr lang="zh-CN" altLang="en-US" sz="1600" b="1" dirty="0">
                <a:solidFill>
                  <a:srgbClr val="3333CC"/>
                </a:solidFill>
                <a:latin typeface="Verdana" pitchFamily="34" charset="0"/>
              </a:endParaRPr>
            </a:p>
            <a:p>
              <a:pPr eaLnBrk="0" hangingPunct="0">
                <a:spcBef>
                  <a:spcPct val="50000"/>
                </a:spcBef>
              </a:pPr>
              <a:endParaRPr lang="zh-CN" altLang="en-US" sz="1600" b="1" dirty="0">
                <a:solidFill>
                  <a:srgbClr val="3333CC"/>
                </a:solidFill>
                <a:latin typeface="Verdana" pitchFamily="34" charset="0"/>
              </a:endParaRPr>
            </a:p>
            <a:p>
              <a:pPr eaLnBrk="0" hangingPunct="0">
                <a:spcBef>
                  <a:spcPct val="50000"/>
                </a:spcBef>
              </a:pPr>
              <a:r>
                <a:rPr lang="zh-CN" altLang="en-US" sz="1600" b="1" dirty="0">
                  <a:solidFill>
                    <a:srgbClr val="3333CC"/>
                  </a:solidFill>
                  <a:latin typeface="Verdana" pitchFamily="34" charset="0"/>
                </a:rPr>
                <a:t>第十</a:t>
              </a:r>
            </a:p>
            <a:p>
              <a:pPr eaLnBrk="0" hangingPunct="0">
                <a:spcBef>
                  <a:spcPct val="50000"/>
                </a:spcBef>
              </a:pPr>
              <a:r>
                <a:rPr lang="zh-CN" altLang="en-US" sz="1600" b="1" dirty="0">
                  <a:solidFill>
                    <a:srgbClr val="3333CC"/>
                  </a:solidFill>
                  <a:latin typeface="Verdana" pitchFamily="34" charset="0"/>
                </a:rPr>
                <a:t>二章 </a:t>
              </a:r>
            </a:p>
            <a:p>
              <a:pPr eaLnBrk="0" hangingPunct="0">
                <a:spcBef>
                  <a:spcPct val="50000"/>
                </a:spcBef>
              </a:pPr>
              <a:endParaRPr lang="zh-CN" altLang="en-US" sz="1600" b="1" dirty="0">
                <a:solidFill>
                  <a:srgbClr val="3333CC"/>
                </a:solidFill>
                <a:latin typeface="Verdana" pitchFamily="34" charset="0"/>
              </a:endParaRPr>
            </a:p>
            <a:p>
              <a:pPr eaLnBrk="0" hangingPunct="0">
                <a:spcBef>
                  <a:spcPct val="50000"/>
                </a:spcBef>
              </a:pPr>
              <a:r>
                <a:rPr lang="zh-CN" altLang="en-US" sz="1600" b="1" dirty="0">
                  <a:solidFill>
                    <a:srgbClr val="3333CC"/>
                  </a:solidFill>
                  <a:latin typeface="Verdana" pitchFamily="34" charset="0"/>
                </a:rPr>
                <a:t>文</a:t>
              </a:r>
            </a:p>
            <a:p>
              <a:pPr eaLnBrk="0" hangingPunct="0">
                <a:spcBef>
                  <a:spcPct val="50000"/>
                </a:spcBef>
              </a:pPr>
              <a:endParaRPr lang="zh-CN" altLang="en-US" sz="1600" b="1" dirty="0">
                <a:solidFill>
                  <a:srgbClr val="3333CC"/>
                </a:solidFill>
                <a:latin typeface="Verdana" pitchFamily="34" charset="0"/>
              </a:endParaRPr>
            </a:p>
            <a:p>
              <a:pPr eaLnBrk="0" hangingPunct="0">
                <a:spcBef>
                  <a:spcPct val="50000"/>
                </a:spcBef>
              </a:pPr>
              <a:r>
                <a:rPr lang="zh-CN" altLang="en-US" sz="1600" b="1" dirty="0">
                  <a:solidFill>
                    <a:srgbClr val="3333CC"/>
                  </a:solidFill>
                  <a:latin typeface="Verdana" pitchFamily="34" charset="0"/>
                </a:rPr>
                <a:t>件</a:t>
              </a:r>
            </a:p>
          </p:txBody>
        </p:sp>
        <p:sp>
          <p:nvSpPr>
            <p:cNvPr id="1111052" name="Text Box 12"/>
            <p:cNvSpPr txBox="1">
              <a:spLocks noChangeArrowheads="1"/>
            </p:cNvSpPr>
            <p:nvPr/>
          </p:nvSpPr>
          <p:spPr bwMode="auto">
            <a:xfrm>
              <a:off x="0" y="0"/>
              <a:ext cx="281" cy="231"/>
            </a:xfrm>
            <a:prstGeom prst="rect">
              <a:avLst/>
            </a:prstGeom>
            <a:gradFill rotWithShape="0">
              <a:gsLst>
                <a:gs pos="0">
                  <a:schemeClr val="hlink">
                    <a:gamma/>
                    <a:shade val="46275"/>
                    <a:invGamma/>
                  </a:schemeClr>
                </a:gs>
                <a:gs pos="50000">
                  <a:schemeClr val="hlink"/>
                </a:gs>
                <a:gs pos="100000">
                  <a:schemeClr val="hlink">
                    <a:gamma/>
                    <a:shade val="46275"/>
                    <a:invGamma/>
                  </a:schemeClr>
                </a:gs>
              </a:gsLst>
              <a:lin ang="0" scaled="1"/>
            </a:gradFill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eaLnBrk="0" hangingPunct="0">
                <a:spcBef>
                  <a:spcPct val="50000"/>
                </a:spcBef>
              </a:pPr>
              <a:r>
                <a:rPr lang="en-US" altLang="zh-CN" sz="1800" b="1">
                  <a:solidFill>
                    <a:srgbClr val="0000FF"/>
                  </a:solidFill>
                  <a:latin typeface="Arial" pitchFamily="34" charset="0"/>
                </a:rPr>
                <a:t>C</a:t>
              </a:r>
            </a:p>
          </p:txBody>
        </p:sp>
      </p:grpSp>
    </p:spTree>
  </p:cSld>
  <p:clrMapOvr>
    <a:masterClrMapping/>
  </p:clrMapOvr>
  <p:transition>
    <p:cover/>
    <p:sndAc>
      <p:stSnd>
        <p:snd r:embed="rId3" name="CAMER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10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7" dur="500"/>
                                        <p:tgtEl>
                                          <p:spTgt spid="1111049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10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2" dur="500"/>
                                        <p:tgtEl>
                                          <p:spTgt spid="1111046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10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7" dur="500"/>
                                        <p:tgtEl>
                                          <p:spTgt spid="1111048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11049" grpId="0" animBg="1"/>
      <p:bldP spid="1111046" grpId="0" animBg="1"/>
      <p:bldP spid="1111048" grpId="0" animBg="1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3093" name="Text Box 5"/>
          <p:cNvSpPr txBox="1">
            <a:spLocks noChangeArrowheads="1"/>
          </p:cNvSpPr>
          <p:nvPr/>
        </p:nvSpPr>
        <p:spPr bwMode="auto">
          <a:xfrm>
            <a:off x="768053" y="215876"/>
            <a:ext cx="1871563" cy="519112"/>
          </a:xfrm>
          <a:prstGeom prst="rect">
            <a:avLst/>
          </a:prstGeom>
          <a:ln>
            <a:noFill/>
            <a:headEnd/>
            <a:tailEnd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隶书" pitchFamily="49" charset="-122"/>
              </a:rPr>
              <a:t>本章小结：</a:t>
            </a:r>
          </a:p>
        </p:txBody>
      </p:sp>
      <p:sp>
        <p:nvSpPr>
          <p:cNvPr id="1113094" name="Rectangle 6"/>
          <p:cNvSpPr>
            <a:spLocks noChangeArrowheads="1"/>
          </p:cNvSpPr>
          <p:nvPr/>
        </p:nvSpPr>
        <p:spPr bwMode="auto">
          <a:xfrm>
            <a:off x="748811" y="928152"/>
            <a:ext cx="11035821" cy="4731360"/>
          </a:xfrm>
          <a:prstGeom prst="rect">
            <a:avLst/>
          </a:prstGeom>
          <a:gradFill flip="none" rotWithShape="1">
            <a:gsLst>
              <a:gs pos="0">
                <a:schemeClr val="bg1">
                  <a:shade val="30000"/>
                  <a:satMod val="115000"/>
                </a:schemeClr>
              </a:gs>
              <a:gs pos="50000">
                <a:schemeClr val="bg1">
                  <a:shade val="67500"/>
                  <a:satMod val="115000"/>
                </a:schemeClr>
              </a:gs>
              <a:gs pos="100000">
                <a:schemeClr val="bg1">
                  <a:shade val="100000"/>
                  <a:satMod val="115000"/>
                </a:schemeClr>
              </a:gs>
            </a:gsLst>
            <a:lin ang="13500000" scaled="1"/>
            <a:tileRect/>
          </a:gradFill>
          <a:ln w="38100">
            <a:solidFill>
              <a:srgbClr val="008000"/>
            </a:solidFill>
            <a:miter lim="800000"/>
            <a:headEnd/>
            <a:tailEnd/>
          </a:ln>
          <a:effectLst>
            <a:outerShdw blurRad="50800" dist="106680" dir="2700000" algn="tl" rotWithShape="0">
              <a:prstClr val="black">
                <a:alpha val="43000"/>
              </a:prstClr>
            </a:outerShdw>
          </a:effectLst>
          <a:scene3d>
            <a:camera prst="orthographicFront"/>
            <a:lightRig rig="threePt" dir="t"/>
          </a:scene3d>
          <a:sp3d>
            <a:bevelT w="114300" prst="hardEdge"/>
          </a:sp3d>
        </p:spPr>
        <p:txBody>
          <a:bodyPr wrap="square" anchor="ctr">
            <a:spAutoFit/>
          </a:bodyPr>
          <a:lstStyle/>
          <a:p>
            <a:pPr marL="342900" indent="-342900">
              <a:lnSpc>
                <a:spcPts val="2800"/>
              </a:lnSpc>
              <a:buClr>
                <a:srgbClr val="CC0066"/>
              </a:buClr>
              <a:buFont typeface="Wingdings" panose="05000000000000000000" pitchFamily="2" charset="2"/>
              <a:buChar char="l"/>
              <a:tabLst>
                <a:tab pos="228600" algn="l"/>
              </a:tabLst>
            </a:pPr>
            <a:r>
              <a:rPr lang="zh-CN" altLang="en-US" sz="2000" b="1" dirty="0">
                <a:solidFill>
                  <a:srgbClr val="0070C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+mn-lt"/>
                <a:ea typeface="微软雅黑" pitchFamily="34" charset="-122"/>
              </a:rPr>
              <a:t>Ｃ系统把文件当作一个“流”，按字节进行处理。 </a:t>
            </a:r>
            <a:endParaRPr lang="en-US" altLang="zh-CN" sz="2000" b="1" dirty="0">
              <a:solidFill>
                <a:srgbClr val="0070C0"/>
              </a:solidFill>
              <a:effectLst>
                <a:outerShdw blurRad="38100" dist="38100" dir="2700000" algn="tl">
                  <a:srgbClr val="FFFFFF"/>
                </a:outerShdw>
              </a:effectLst>
              <a:latin typeface="+mn-lt"/>
              <a:ea typeface="微软雅黑" pitchFamily="34" charset="-122"/>
            </a:endParaRPr>
          </a:p>
          <a:p>
            <a:pPr marL="342900" indent="-342900">
              <a:lnSpc>
                <a:spcPts val="2800"/>
              </a:lnSpc>
              <a:buClr>
                <a:srgbClr val="CC0066"/>
              </a:buClr>
              <a:buFont typeface="Wingdings" panose="05000000000000000000" pitchFamily="2" charset="2"/>
              <a:buChar char="l"/>
              <a:tabLst>
                <a:tab pos="228600" algn="l"/>
              </a:tabLst>
            </a:pPr>
            <a:r>
              <a:rPr lang="zh-CN" altLang="en-US" sz="2000" b="1" dirty="0">
                <a:solidFill>
                  <a:srgbClr val="0070C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+mn-lt"/>
                <a:ea typeface="微软雅黑" pitchFamily="34" charset="-122"/>
              </a:rPr>
              <a:t>Ｃ文件按编码方式分为二进制文件和</a:t>
            </a:r>
            <a:r>
              <a:rPr lang="en-US" altLang="zh-CN" sz="2000" b="1" dirty="0">
                <a:solidFill>
                  <a:srgbClr val="0070C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+mn-lt"/>
                <a:ea typeface="微软雅黑" pitchFamily="34" charset="-122"/>
              </a:rPr>
              <a:t>ASCII</a:t>
            </a:r>
            <a:r>
              <a:rPr lang="zh-CN" altLang="en-US" sz="2000" b="1" dirty="0">
                <a:solidFill>
                  <a:srgbClr val="0070C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+mn-lt"/>
                <a:ea typeface="微软雅黑" pitchFamily="34" charset="-122"/>
              </a:rPr>
              <a:t>文件。</a:t>
            </a:r>
            <a:endParaRPr lang="en-US" altLang="zh-CN" sz="2000" b="1" dirty="0">
              <a:solidFill>
                <a:srgbClr val="0070C0"/>
              </a:solidFill>
              <a:effectLst>
                <a:outerShdw blurRad="38100" dist="38100" dir="2700000" algn="tl">
                  <a:srgbClr val="FFFFFF"/>
                </a:outerShdw>
              </a:effectLst>
              <a:latin typeface="+mn-lt"/>
              <a:ea typeface="微软雅黑" pitchFamily="34" charset="-122"/>
            </a:endParaRPr>
          </a:p>
          <a:p>
            <a:pPr marL="342900" indent="-342900">
              <a:lnSpc>
                <a:spcPts val="2800"/>
              </a:lnSpc>
              <a:buClr>
                <a:srgbClr val="CC0066"/>
              </a:buClr>
              <a:buFont typeface="Wingdings" panose="05000000000000000000" pitchFamily="2" charset="2"/>
              <a:buChar char="l"/>
              <a:tabLst>
                <a:tab pos="228600" algn="l"/>
              </a:tabLst>
            </a:pPr>
            <a:r>
              <a:rPr lang="zh-CN" altLang="en-US" sz="2000" b="1" dirty="0">
                <a:solidFill>
                  <a:srgbClr val="0070C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+mn-lt"/>
                <a:ea typeface="微软雅黑" pitchFamily="34" charset="-122"/>
              </a:rPr>
              <a:t>Ｃ语言中，用文件指针标识文件，当一个文件被 打开时， 可取得该文件指针。</a:t>
            </a:r>
            <a:endParaRPr lang="en-US" altLang="zh-CN" sz="2000" b="1" dirty="0">
              <a:solidFill>
                <a:srgbClr val="0070C0"/>
              </a:solidFill>
              <a:effectLst>
                <a:outerShdw blurRad="38100" dist="38100" dir="2700000" algn="tl">
                  <a:srgbClr val="FFFFFF"/>
                </a:outerShdw>
              </a:effectLst>
              <a:latin typeface="+mn-lt"/>
              <a:ea typeface="微软雅黑" pitchFamily="34" charset="-122"/>
            </a:endParaRPr>
          </a:p>
          <a:p>
            <a:pPr marL="342900" indent="-342900">
              <a:lnSpc>
                <a:spcPts val="2800"/>
              </a:lnSpc>
              <a:buClr>
                <a:srgbClr val="CC0066"/>
              </a:buClr>
              <a:buFont typeface="Wingdings" panose="05000000000000000000" pitchFamily="2" charset="2"/>
              <a:buChar char="l"/>
              <a:tabLst>
                <a:tab pos="228600" algn="l"/>
              </a:tabLst>
            </a:pPr>
            <a:r>
              <a:rPr lang="zh-CN" altLang="en-US" sz="2000" b="1" dirty="0">
                <a:solidFill>
                  <a:srgbClr val="0070C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+mn-lt"/>
                <a:ea typeface="微软雅黑" pitchFamily="34" charset="-122"/>
              </a:rPr>
              <a:t>Ｃ语言在对文件进行操作时，必须遵从“打开（创建）──读写──关闭”的操作流程，即首先调用</a:t>
            </a:r>
            <a:r>
              <a:rPr lang="en-US" altLang="zh-CN" sz="2000" b="1" dirty="0" err="1">
                <a:solidFill>
                  <a:srgbClr val="0070C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+mn-lt"/>
                <a:ea typeface="微软雅黑" pitchFamily="34" charset="-122"/>
              </a:rPr>
              <a:t>fopen</a:t>
            </a:r>
            <a:r>
              <a:rPr lang="zh-CN" altLang="en-US" sz="2000" b="1" dirty="0">
                <a:solidFill>
                  <a:srgbClr val="0070C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+mn-lt"/>
                <a:ea typeface="微软雅黑" pitchFamily="34" charset="-122"/>
              </a:rPr>
              <a:t>函数打开文件，然后调用</a:t>
            </a:r>
            <a:r>
              <a:rPr lang="en-US" altLang="zh-CN" sz="2000" b="1" dirty="0" err="1">
                <a:solidFill>
                  <a:srgbClr val="0070C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+mn-lt"/>
                <a:ea typeface="微软雅黑" pitchFamily="34" charset="-122"/>
              </a:rPr>
              <a:t>fgetc</a:t>
            </a:r>
            <a:r>
              <a:rPr lang="zh-CN" altLang="en-US" sz="2000" b="1" dirty="0">
                <a:solidFill>
                  <a:srgbClr val="0070C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+mn-lt"/>
                <a:ea typeface="微软雅黑" pitchFamily="34" charset="-122"/>
              </a:rPr>
              <a:t>、</a:t>
            </a:r>
            <a:r>
              <a:rPr lang="en-US" altLang="zh-CN" sz="2000" b="1" dirty="0" err="1">
                <a:solidFill>
                  <a:srgbClr val="0070C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+mn-lt"/>
                <a:ea typeface="微软雅黑" pitchFamily="34" charset="-122"/>
              </a:rPr>
              <a:t>fputc</a:t>
            </a:r>
            <a:r>
              <a:rPr lang="zh-CN" altLang="en-US" sz="2000" b="1" dirty="0">
                <a:solidFill>
                  <a:srgbClr val="0070C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+mn-lt"/>
                <a:ea typeface="微软雅黑" pitchFamily="34" charset="-122"/>
              </a:rPr>
              <a:t>、</a:t>
            </a:r>
            <a:r>
              <a:rPr lang="en-US" altLang="zh-CN" sz="2000" b="1" dirty="0" err="1">
                <a:solidFill>
                  <a:srgbClr val="0070C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+mn-lt"/>
                <a:ea typeface="微软雅黑" pitchFamily="34" charset="-122"/>
              </a:rPr>
              <a:t>fgets</a:t>
            </a:r>
            <a:r>
              <a:rPr lang="zh-CN" altLang="en-US" sz="2000" b="1" dirty="0">
                <a:solidFill>
                  <a:srgbClr val="0070C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+mn-lt"/>
                <a:ea typeface="微软雅黑" pitchFamily="34" charset="-122"/>
              </a:rPr>
              <a:t>、</a:t>
            </a:r>
            <a:r>
              <a:rPr lang="en-US" altLang="zh-CN" sz="2000" b="1" dirty="0" err="1">
                <a:solidFill>
                  <a:srgbClr val="0070C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+mn-lt"/>
                <a:ea typeface="微软雅黑" pitchFamily="34" charset="-122"/>
              </a:rPr>
              <a:t>fputs</a:t>
            </a:r>
            <a:r>
              <a:rPr lang="zh-CN" altLang="en-US" sz="2000" b="1" dirty="0">
                <a:solidFill>
                  <a:srgbClr val="0070C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+mn-lt"/>
                <a:ea typeface="微软雅黑" pitchFamily="34" charset="-122"/>
              </a:rPr>
              <a:t>、</a:t>
            </a:r>
            <a:r>
              <a:rPr lang="en-US" altLang="zh-CN" sz="2000" b="1" dirty="0" err="1">
                <a:solidFill>
                  <a:srgbClr val="0070C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+mn-lt"/>
                <a:ea typeface="微软雅黑" pitchFamily="34" charset="-122"/>
              </a:rPr>
              <a:t>fread</a:t>
            </a:r>
            <a:r>
              <a:rPr lang="zh-CN" altLang="en-US" sz="2000" b="1" dirty="0">
                <a:solidFill>
                  <a:srgbClr val="0070C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+mn-lt"/>
                <a:ea typeface="微软雅黑" pitchFamily="34" charset="-122"/>
              </a:rPr>
              <a:t>、</a:t>
            </a:r>
            <a:r>
              <a:rPr lang="en-US" altLang="zh-CN" sz="2000" b="1" dirty="0" err="1">
                <a:solidFill>
                  <a:srgbClr val="0070C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+mn-lt"/>
                <a:ea typeface="微软雅黑" pitchFamily="34" charset="-122"/>
              </a:rPr>
              <a:t>fwrite</a:t>
            </a:r>
            <a:r>
              <a:rPr lang="zh-CN" altLang="en-US" sz="2000" b="1" dirty="0">
                <a:solidFill>
                  <a:srgbClr val="0070C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+mn-lt"/>
                <a:ea typeface="微软雅黑" pitchFamily="34" charset="-122"/>
              </a:rPr>
              <a:t>、</a:t>
            </a:r>
            <a:r>
              <a:rPr lang="en-US" altLang="zh-CN" sz="2000" b="1" dirty="0" err="1">
                <a:solidFill>
                  <a:srgbClr val="0070C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+mn-lt"/>
                <a:ea typeface="微软雅黑" pitchFamily="34" charset="-122"/>
              </a:rPr>
              <a:t>fprintf</a:t>
            </a:r>
            <a:r>
              <a:rPr lang="zh-CN" altLang="en-US" sz="2000" b="1" dirty="0">
                <a:solidFill>
                  <a:srgbClr val="0070C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+mn-lt"/>
                <a:ea typeface="微软雅黑" pitchFamily="34" charset="-122"/>
              </a:rPr>
              <a:t>、</a:t>
            </a:r>
            <a:r>
              <a:rPr lang="en-US" altLang="zh-CN" sz="2000" b="1" dirty="0" err="1">
                <a:solidFill>
                  <a:srgbClr val="0070C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+mn-lt"/>
                <a:ea typeface="微软雅黑" pitchFamily="34" charset="-122"/>
              </a:rPr>
              <a:t>fscanf</a:t>
            </a:r>
            <a:r>
              <a:rPr lang="zh-CN" altLang="en-US" sz="2000" b="1" dirty="0">
                <a:solidFill>
                  <a:srgbClr val="0070C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+mn-lt"/>
                <a:ea typeface="微软雅黑" pitchFamily="34" charset="-122"/>
              </a:rPr>
              <a:t>等函数进行数据读写，最后调用</a:t>
            </a:r>
            <a:r>
              <a:rPr lang="en-US" altLang="zh-CN" sz="2000" b="1" dirty="0" err="1">
                <a:solidFill>
                  <a:srgbClr val="0070C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+mn-lt"/>
                <a:ea typeface="微软雅黑" pitchFamily="34" charset="-122"/>
              </a:rPr>
              <a:t>fclose</a:t>
            </a:r>
            <a:r>
              <a:rPr lang="zh-CN" altLang="en-US" sz="2000" b="1" dirty="0">
                <a:solidFill>
                  <a:srgbClr val="0070C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+mn-lt"/>
                <a:ea typeface="微软雅黑" pitchFamily="34" charset="-122"/>
              </a:rPr>
              <a:t>函数关闭文件。</a:t>
            </a:r>
            <a:endParaRPr lang="en-US" altLang="zh-CN" sz="2000" b="1" dirty="0">
              <a:solidFill>
                <a:srgbClr val="0070C0"/>
              </a:solidFill>
              <a:effectLst>
                <a:outerShdw blurRad="38100" dist="38100" dir="2700000" algn="tl">
                  <a:srgbClr val="FFFFFF"/>
                </a:outerShdw>
              </a:effectLst>
              <a:latin typeface="+mn-lt"/>
              <a:ea typeface="微软雅黑" pitchFamily="34" charset="-122"/>
            </a:endParaRPr>
          </a:p>
          <a:p>
            <a:pPr marL="342900" indent="-342900">
              <a:lnSpc>
                <a:spcPts val="2800"/>
              </a:lnSpc>
              <a:buClr>
                <a:srgbClr val="CC0066"/>
              </a:buClr>
              <a:buFont typeface="Wingdings" panose="05000000000000000000" pitchFamily="2" charset="2"/>
              <a:buChar char="l"/>
              <a:tabLst>
                <a:tab pos="228600" algn="l"/>
              </a:tabLst>
            </a:pPr>
            <a:r>
              <a:rPr lang="zh-CN" altLang="en-US" sz="2000" b="1" dirty="0">
                <a:solidFill>
                  <a:srgbClr val="0070C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+mn-lt"/>
                <a:ea typeface="微软雅黑" pitchFamily="34" charset="-122"/>
              </a:rPr>
              <a:t>对文件操作要养成一个好的习惯：打开文件时，一定要检查</a:t>
            </a:r>
            <a:r>
              <a:rPr lang="en-US" altLang="zh-CN" sz="2000" b="1" dirty="0" err="1">
                <a:solidFill>
                  <a:srgbClr val="0070C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+mn-lt"/>
                <a:ea typeface="微软雅黑" pitchFamily="34" charset="-122"/>
              </a:rPr>
              <a:t>fopen</a:t>
            </a:r>
            <a:r>
              <a:rPr lang="zh-CN" altLang="en-US" sz="2000" b="1" dirty="0">
                <a:solidFill>
                  <a:srgbClr val="0070C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+mn-lt"/>
                <a:ea typeface="微软雅黑" pitchFamily="34" charset="-122"/>
              </a:rPr>
              <a:t>函数返回的文件指针是否是</a:t>
            </a:r>
            <a:r>
              <a:rPr lang="en-US" altLang="zh-CN" sz="2000" b="1" dirty="0">
                <a:solidFill>
                  <a:srgbClr val="0070C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+mn-lt"/>
                <a:ea typeface="微软雅黑" pitchFamily="34" charset="-122"/>
              </a:rPr>
              <a:t>NULL</a:t>
            </a:r>
            <a:r>
              <a:rPr lang="zh-CN" altLang="en-US" sz="2000" b="1" dirty="0">
                <a:solidFill>
                  <a:srgbClr val="0070C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+mn-lt"/>
                <a:ea typeface="微软雅黑" pitchFamily="34" charset="-122"/>
              </a:rPr>
              <a:t>。如果不做文件指针合法性检查，一旦文件打开失败，就会造成野指针操作，严重时会导致系统崩溃。</a:t>
            </a:r>
            <a:endParaRPr lang="en-US" altLang="zh-CN" sz="2000" b="1" dirty="0">
              <a:solidFill>
                <a:srgbClr val="0070C0"/>
              </a:solidFill>
              <a:effectLst>
                <a:outerShdw blurRad="38100" dist="38100" dir="2700000" algn="tl">
                  <a:srgbClr val="FFFFFF"/>
                </a:outerShdw>
              </a:effectLst>
              <a:latin typeface="+mn-lt"/>
              <a:ea typeface="微软雅黑" pitchFamily="34" charset="-122"/>
            </a:endParaRPr>
          </a:p>
          <a:p>
            <a:pPr marL="342900" indent="-342900">
              <a:lnSpc>
                <a:spcPts val="2800"/>
              </a:lnSpc>
              <a:buClr>
                <a:srgbClr val="CC0066"/>
              </a:buClr>
              <a:buFont typeface="Wingdings" panose="05000000000000000000" pitchFamily="2" charset="2"/>
              <a:buChar char="l"/>
              <a:tabLst>
                <a:tab pos="228600" algn="l"/>
              </a:tabLst>
            </a:pPr>
            <a:r>
              <a:rPr lang="zh-CN" altLang="en-US" sz="2000" b="1" dirty="0">
                <a:solidFill>
                  <a:srgbClr val="0070C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+mn-lt"/>
                <a:ea typeface="微软雅黑" pitchFamily="34" charset="-122"/>
              </a:rPr>
              <a:t>文件可按只读、只写、读写、追加四种操作方式打开，同时还必须指定文件的类型是二进制文件还是文本文件。</a:t>
            </a:r>
            <a:endParaRPr lang="en-US" altLang="zh-CN" sz="2000" b="1" dirty="0">
              <a:solidFill>
                <a:srgbClr val="0070C0"/>
              </a:solidFill>
              <a:effectLst>
                <a:outerShdw blurRad="38100" dist="38100" dir="2700000" algn="tl">
                  <a:srgbClr val="FFFFFF"/>
                </a:outerShdw>
              </a:effectLst>
              <a:latin typeface="+mn-lt"/>
              <a:ea typeface="微软雅黑" pitchFamily="34" charset="-122"/>
            </a:endParaRPr>
          </a:p>
          <a:p>
            <a:pPr marL="342900" indent="-342900">
              <a:lnSpc>
                <a:spcPts val="2800"/>
              </a:lnSpc>
              <a:buClr>
                <a:srgbClr val="CC0066"/>
              </a:buClr>
              <a:buFont typeface="Wingdings" panose="05000000000000000000" pitchFamily="2" charset="2"/>
              <a:buChar char="l"/>
              <a:tabLst>
                <a:tab pos="228600" algn="l"/>
              </a:tabLst>
            </a:pPr>
            <a:r>
              <a:rPr lang="zh-CN" altLang="en-US" sz="2000" b="1" dirty="0">
                <a:solidFill>
                  <a:srgbClr val="0070C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+mn-lt"/>
                <a:ea typeface="微软雅黑" pitchFamily="34" charset="-122"/>
              </a:rPr>
              <a:t>文件可按字节，字符串，数据块为单位读写，文件也可按指定的格式进行读写。</a:t>
            </a:r>
            <a:endParaRPr lang="en-US" altLang="zh-CN" sz="2000" b="1" dirty="0">
              <a:solidFill>
                <a:srgbClr val="0070C0"/>
              </a:solidFill>
              <a:effectLst>
                <a:outerShdw blurRad="38100" dist="38100" dir="2700000" algn="tl">
                  <a:srgbClr val="FFFFFF"/>
                </a:outerShdw>
              </a:effectLst>
              <a:latin typeface="+mn-lt"/>
              <a:ea typeface="微软雅黑" pitchFamily="34" charset="-122"/>
            </a:endParaRPr>
          </a:p>
          <a:p>
            <a:pPr marL="342900" indent="-342900">
              <a:lnSpc>
                <a:spcPts val="2800"/>
              </a:lnSpc>
              <a:buClr>
                <a:srgbClr val="CC0066"/>
              </a:buClr>
              <a:buFont typeface="Wingdings" panose="05000000000000000000" pitchFamily="2" charset="2"/>
              <a:buChar char="l"/>
              <a:tabLst>
                <a:tab pos="228600" algn="l"/>
              </a:tabLst>
            </a:pPr>
            <a:r>
              <a:rPr lang="zh-CN" altLang="en-US" sz="2000" b="1" dirty="0">
                <a:solidFill>
                  <a:srgbClr val="0070C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+mn-lt"/>
                <a:ea typeface="微软雅黑" pitchFamily="34" charset="-122"/>
              </a:rPr>
              <a:t>文件内部的位置指针可指示当前的读写位置，移动该指针可以对文件实现随机读写。</a:t>
            </a:r>
          </a:p>
        </p:txBody>
      </p:sp>
      <p:sp>
        <p:nvSpPr>
          <p:cNvPr id="1113095" name="Rectangle 7"/>
          <p:cNvSpPr>
            <a:spLocks noChangeArrowheads="1"/>
          </p:cNvSpPr>
          <p:nvPr/>
        </p:nvSpPr>
        <p:spPr bwMode="auto">
          <a:xfrm>
            <a:off x="728620" y="5877272"/>
            <a:ext cx="7921625" cy="461665"/>
          </a:xfrm>
          <a:prstGeom prst="rect">
            <a:avLst/>
          </a:prstGeom>
          <a:solidFill>
            <a:srgbClr val="FF0000"/>
          </a:solidFill>
          <a:ln w="28575">
            <a:solidFill>
              <a:srgbClr val="00CCFF"/>
            </a:solidFill>
            <a:miter lim="800000"/>
            <a:headEnd/>
            <a:tailEnd/>
          </a:ln>
          <a:effectLst/>
        </p:spPr>
        <p:txBody>
          <a:bodyPr anchor="ctr">
            <a:spAutoFit/>
          </a:bodyPr>
          <a:lstStyle/>
          <a:p>
            <a:r>
              <a:rPr lang="zh-CN" altLang="en-US" b="1" dirty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楷体_GB2312" pitchFamily="49" charset="-122"/>
                <a:ea typeface="楷体_GB2312" pitchFamily="49" charset="-122"/>
              </a:rPr>
              <a:t>习题</a:t>
            </a:r>
            <a:r>
              <a:rPr lang="en-US" altLang="zh-CN" b="1" dirty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楷体_GB2312" pitchFamily="49" charset="-122"/>
                <a:ea typeface="楷体_GB2312" pitchFamily="49" charset="-122"/>
              </a:rPr>
              <a:t>12</a:t>
            </a:r>
            <a:r>
              <a:rPr lang="zh-CN" altLang="en-US" b="1" dirty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楷体_GB2312" pitchFamily="49" charset="-122"/>
                <a:ea typeface="楷体_GB2312" pitchFamily="49" charset="-122"/>
              </a:rPr>
              <a:t>：</a:t>
            </a:r>
            <a:r>
              <a:rPr lang="en-US" altLang="zh-CN" b="1" dirty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1</a:t>
            </a:r>
            <a:r>
              <a:rPr lang="zh-CN" altLang="en-US" b="1" dirty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、</a:t>
            </a:r>
            <a:r>
              <a:rPr lang="en-US" altLang="zh-CN" b="1" dirty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2</a:t>
            </a:r>
            <a:r>
              <a:rPr lang="zh-CN" altLang="en-US" b="1" dirty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、</a:t>
            </a:r>
            <a:r>
              <a:rPr lang="en-US" altLang="zh-CN" b="1" dirty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3</a:t>
            </a:r>
            <a:r>
              <a:rPr lang="zh-CN" altLang="en-US" b="1" dirty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（</a:t>
            </a:r>
            <a:r>
              <a:rPr lang="en-US" altLang="zh-CN" b="1" dirty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2</a:t>
            </a:r>
            <a:r>
              <a:rPr lang="zh-CN" altLang="en-US" b="1" dirty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、</a:t>
            </a:r>
            <a:r>
              <a:rPr lang="en-US" altLang="zh-CN" b="1" dirty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3</a:t>
            </a:r>
            <a:r>
              <a:rPr lang="zh-CN" altLang="en-US" b="1" dirty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、</a:t>
            </a:r>
            <a:r>
              <a:rPr lang="en-US" altLang="zh-CN" b="1" dirty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4</a:t>
            </a:r>
            <a:r>
              <a:rPr lang="zh-CN" altLang="en-US" b="1" dirty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）</a:t>
            </a:r>
            <a:endParaRPr lang="zh-CN" altLang="en-US" b="1" dirty="0">
              <a:solidFill>
                <a:srgbClr val="FF6600"/>
              </a:solidFill>
              <a:latin typeface="楷体_GB2312" pitchFamily="49" charset="-122"/>
              <a:ea typeface="楷体_GB2312" pitchFamily="49" charset="-122"/>
            </a:endParaRPr>
          </a:p>
        </p:txBody>
      </p:sp>
      <p:grpSp>
        <p:nvGrpSpPr>
          <p:cNvPr id="1113099" name="Group 11"/>
          <p:cNvGrpSpPr>
            <a:grpSpLocks/>
          </p:cNvGrpSpPr>
          <p:nvPr/>
        </p:nvGrpSpPr>
        <p:grpSpPr bwMode="auto">
          <a:xfrm>
            <a:off x="-6394" y="0"/>
            <a:ext cx="446088" cy="6858000"/>
            <a:chOff x="0" y="0"/>
            <a:chExt cx="281" cy="4320"/>
          </a:xfrm>
        </p:grpSpPr>
        <p:sp>
          <p:nvSpPr>
            <p:cNvPr id="1113100" name="Text Box 12"/>
            <p:cNvSpPr txBox="1">
              <a:spLocks noChangeArrowheads="1"/>
            </p:cNvSpPr>
            <p:nvPr/>
          </p:nvSpPr>
          <p:spPr bwMode="auto">
            <a:xfrm>
              <a:off x="0" y="0"/>
              <a:ext cx="281" cy="4320"/>
            </a:xfrm>
            <a:prstGeom prst="rect">
              <a:avLst/>
            </a:prstGeom>
            <a:gradFill rotWithShape="0">
              <a:gsLst>
                <a:gs pos="0">
                  <a:schemeClr val="hlink">
                    <a:gamma/>
                    <a:shade val="60784"/>
                    <a:invGamma/>
                  </a:schemeClr>
                </a:gs>
                <a:gs pos="50000">
                  <a:schemeClr val="hlink"/>
                </a:gs>
                <a:gs pos="100000">
                  <a:schemeClr val="hlink">
                    <a:gamma/>
                    <a:shade val="60784"/>
                    <a:invGamma/>
                  </a:schemeClr>
                </a:gs>
              </a:gsLst>
              <a:lin ang="0" scaled="1"/>
            </a:gradFill>
            <a:ln w="9525">
              <a:noFill/>
              <a:miter lim="800000"/>
              <a:headEnd/>
              <a:tailEnd/>
            </a:ln>
            <a:effectLst/>
          </p:spPr>
          <p:txBody>
            <a:bodyPr/>
            <a:lstStyle/>
            <a:p>
              <a:pPr eaLnBrk="0" hangingPunct="0">
                <a:spcBef>
                  <a:spcPct val="50000"/>
                </a:spcBef>
              </a:pPr>
              <a:endParaRPr lang="en-US" altLang="zh-CN" sz="1800" dirty="0">
                <a:solidFill>
                  <a:srgbClr val="3333CC"/>
                </a:solidFill>
                <a:latin typeface="Verdana" pitchFamily="34" charset="0"/>
              </a:endParaRPr>
            </a:p>
            <a:p>
              <a:pPr eaLnBrk="0" hangingPunct="0">
                <a:spcBef>
                  <a:spcPct val="50000"/>
                </a:spcBef>
              </a:pPr>
              <a:r>
                <a:rPr lang="zh-CN" altLang="en-US" sz="1600" b="1" dirty="0">
                  <a:solidFill>
                    <a:srgbClr val="3333CC"/>
                  </a:solidFill>
                  <a:latin typeface="Verdana" pitchFamily="34" charset="0"/>
                </a:rPr>
                <a:t>语言程序设计教程       </a:t>
              </a:r>
            </a:p>
            <a:p>
              <a:pPr eaLnBrk="0" hangingPunct="0">
                <a:spcBef>
                  <a:spcPct val="50000"/>
                </a:spcBef>
              </a:pPr>
              <a:r>
                <a:rPr lang="zh-CN" altLang="en-US" sz="1600" b="1" dirty="0">
                  <a:solidFill>
                    <a:srgbClr val="3333CC"/>
                  </a:solidFill>
                  <a:latin typeface="Verdana" pitchFamily="34" charset="0"/>
                </a:rPr>
                <a:t>第三版</a:t>
              </a:r>
            </a:p>
            <a:p>
              <a:pPr eaLnBrk="0" hangingPunct="0">
                <a:spcBef>
                  <a:spcPct val="50000"/>
                </a:spcBef>
              </a:pPr>
              <a:endParaRPr lang="zh-CN" altLang="en-US" sz="1600" b="1" dirty="0">
                <a:solidFill>
                  <a:srgbClr val="3333CC"/>
                </a:solidFill>
                <a:latin typeface="Verdana" pitchFamily="34" charset="0"/>
              </a:endParaRPr>
            </a:p>
            <a:p>
              <a:pPr eaLnBrk="0" hangingPunct="0">
                <a:spcBef>
                  <a:spcPct val="50000"/>
                </a:spcBef>
              </a:pPr>
              <a:endParaRPr lang="zh-CN" altLang="en-US" sz="1600" b="1" dirty="0">
                <a:solidFill>
                  <a:srgbClr val="3333CC"/>
                </a:solidFill>
                <a:latin typeface="Verdana" pitchFamily="34" charset="0"/>
              </a:endParaRPr>
            </a:p>
            <a:p>
              <a:pPr eaLnBrk="0" hangingPunct="0">
                <a:spcBef>
                  <a:spcPct val="50000"/>
                </a:spcBef>
              </a:pPr>
              <a:r>
                <a:rPr lang="zh-CN" altLang="en-US" sz="1600" b="1" dirty="0">
                  <a:solidFill>
                    <a:srgbClr val="3333CC"/>
                  </a:solidFill>
                  <a:latin typeface="Verdana" pitchFamily="34" charset="0"/>
                </a:rPr>
                <a:t>第十</a:t>
              </a:r>
            </a:p>
            <a:p>
              <a:pPr eaLnBrk="0" hangingPunct="0">
                <a:spcBef>
                  <a:spcPct val="50000"/>
                </a:spcBef>
              </a:pPr>
              <a:r>
                <a:rPr lang="zh-CN" altLang="en-US" sz="1600" b="1" dirty="0">
                  <a:solidFill>
                    <a:srgbClr val="3333CC"/>
                  </a:solidFill>
                  <a:latin typeface="Verdana" pitchFamily="34" charset="0"/>
                </a:rPr>
                <a:t>二章 </a:t>
              </a:r>
            </a:p>
            <a:p>
              <a:pPr eaLnBrk="0" hangingPunct="0">
                <a:spcBef>
                  <a:spcPct val="50000"/>
                </a:spcBef>
              </a:pPr>
              <a:endParaRPr lang="zh-CN" altLang="en-US" sz="1600" b="1" dirty="0">
                <a:solidFill>
                  <a:srgbClr val="3333CC"/>
                </a:solidFill>
                <a:latin typeface="Verdana" pitchFamily="34" charset="0"/>
              </a:endParaRPr>
            </a:p>
            <a:p>
              <a:pPr eaLnBrk="0" hangingPunct="0">
                <a:spcBef>
                  <a:spcPct val="50000"/>
                </a:spcBef>
              </a:pPr>
              <a:r>
                <a:rPr lang="zh-CN" altLang="en-US" sz="1600" b="1" dirty="0">
                  <a:solidFill>
                    <a:srgbClr val="3333CC"/>
                  </a:solidFill>
                  <a:latin typeface="Verdana" pitchFamily="34" charset="0"/>
                </a:rPr>
                <a:t>文</a:t>
              </a:r>
            </a:p>
            <a:p>
              <a:pPr eaLnBrk="0" hangingPunct="0">
                <a:spcBef>
                  <a:spcPct val="50000"/>
                </a:spcBef>
              </a:pPr>
              <a:endParaRPr lang="zh-CN" altLang="en-US" sz="1600" b="1" dirty="0">
                <a:solidFill>
                  <a:srgbClr val="3333CC"/>
                </a:solidFill>
                <a:latin typeface="Verdana" pitchFamily="34" charset="0"/>
              </a:endParaRPr>
            </a:p>
            <a:p>
              <a:pPr eaLnBrk="0" hangingPunct="0">
                <a:spcBef>
                  <a:spcPct val="50000"/>
                </a:spcBef>
              </a:pPr>
              <a:r>
                <a:rPr lang="zh-CN" altLang="en-US" sz="1600" b="1" dirty="0">
                  <a:solidFill>
                    <a:srgbClr val="3333CC"/>
                  </a:solidFill>
                  <a:latin typeface="Verdana" pitchFamily="34" charset="0"/>
                </a:rPr>
                <a:t>件</a:t>
              </a:r>
            </a:p>
          </p:txBody>
        </p:sp>
        <p:sp>
          <p:nvSpPr>
            <p:cNvPr id="1113101" name="Text Box 13"/>
            <p:cNvSpPr txBox="1">
              <a:spLocks noChangeArrowheads="1"/>
            </p:cNvSpPr>
            <p:nvPr/>
          </p:nvSpPr>
          <p:spPr bwMode="auto">
            <a:xfrm>
              <a:off x="0" y="0"/>
              <a:ext cx="281" cy="231"/>
            </a:xfrm>
            <a:prstGeom prst="rect">
              <a:avLst/>
            </a:prstGeom>
            <a:gradFill rotWithShape="0">
              <a:gsLst>
                <a:gs pos="0">
                  <a:schemeClr val="hlink">
                    <a:gamma/>
                    <a:shade val="46275"/>
                    <a:invGamma/>
                  </a:schemeClr>
                </a:gs>
                <a:gs pos="50000">
                  <a:schemeClr val="hlink"/>
                </a:gs>
                <a:gs pos="100000">
                  <a:schemeClr val="hlink">
                    <a:gamma/>
                    <a:shade val="46275"/>
                    <a:invGamma/>
                  </a:schemeClr>
                </a:gs>
              </a:gsLst>
              <a:lin ang="0" scaled="1"/>
            </a:gradFill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eaLnBrk="0" hangingPunct="0">
                <a:spcBef>
                  <a:spcPct val="50000"/>
                </a:spcBef>
              </a:pPr>
              <a:r>
                <a:rPr lang="en-US" altLang="zh-CN" sz="1800" b="1">
                  <a:solidFill>
                    <a:srgbClr val="0000FF"/>
                  </a:solidFill>
                  <a:latin typeface="Arial" pitchFamily="34" charset="0"/>
                </a:rPr>
                <a:t>C</a:t>
              </a:r>
            </a:p>
          </p:txBody>
        </p:sp>
      </p:grpSp>
    </p:spTree>
  </p:cSld>
  <p:clrMapOvr>
    <a:masterClrMapping/>
  </p:clrMapOvr>
  <p:transition>
    <p:cover/>
    <p:sndAc>
      <p:stSnd>
        <p:snd r:embed="rId3" name="CAMER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30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7" dur="500"/>
                                        <p:tgtEl>
                                          <p:spTgt spid="1113094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30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2" dur="2000"/>
                                        <p:tgtEl>
                                          <p:spTgt spid="1113095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chime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13094" grpId="0" animBg="1"/>
      <p:bldP spid="1113095" grpId="0" animBg="1"/>
    </p:bldLst>
  </p:timing>
</p:sld>
</file>

<file path=ppt/theme/theme1.xml><?xml version="1.0" encoding="utf-8"?>
<a:theme xmlns:a="http://schemas.openxmlformats.org/drawingml/2006/main" name="默认设计模板">
  <a:themeElements>
    <a:clrScheme name="默认设计模板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默认设计模板">
      <a:majorFont>
        <a:latin typeface="Times New Roman"/>
        <a:ea typeface="宋体"/>
        <a:cs typeface=""/>
      </a:majorFont>
      <a:minorFont>
        <a:latin typeface="Times New Roman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zh-CN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ea typeface="宋体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zh-CN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ea typeface="宋体" pitchFamily="2" charset="-122"/>
          </a:defRPr>
        </a:defPPr>
      </a:lstStyle>
    </a:lnDef>
  </a:objectDefaults>
  <a:extraClrSchemeLst>
    <a:extraClrScheme>
      <a:clrScheme name="默认设计模板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10578</TotalTime>
  <Words>16235</Words>
  <Application>Microsoft Office PowerPoint</Application>
  <PresentationFormat>宽屏</PresentationFormat>
  <Paragraphs>2646</Paragraphs>
  <Slides>37</Slides>
  <Notes>32</Notes>
  <HiddenSlides>0</HiddenSlides>
  <MMClips>0</MMClips>
  <ScaleCrop>false</ScaleCrop>
  <HeadingPairs>
    <vt:vector size="8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37</vt:i4>
      </vt:variant>
    </vt:vector>
  </HeadingPairs>
  <TitlesOfParts>
    <vt:vector size="50" baseType="lpstr">
      <vt:lpstr>ˎ̥</vt:lpstr>
      <vt:lpstr>华文琥珀</vt:lpstr>
      <vt:lpstr>楷体</vt:lpstr>
      <vt:lpstr>楷体_GB2312</vt:lpstr>
      <vt:lpstr>隶书</vt:lpstr>
      <vt:lpstr>宋体</vt:lpstr>
      <vt:lpstr>微软雅黑</vt:lpstr>
      <vt:lpstr>Arial</vt:lpstr>
      <vt:lpstr>Times New Roman</vt:lpstr>
      <vt:lpstr>Verdana</vt:lpstr>
      <vt:lpstr>Wingdings</vt:lpstr>
      <vt:lpstr>默认设计模板</vt:lpstr>
      <vt:lpstr>剪辑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software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没有幻灯片标题</dc:title>
  <dc:creator>yanweimin</dc:creator>
  <cp:lastModifiedBy>wangjinghua</cp:lastModifiedBy>
  <cp:revision>1174</cp:revision>
  <dcterms:created xsi:type="dcterms:W3CDTF">1999-05-31T10:27:02Z</dcterms:created>
  <dcterms:modified xsi:type="dcterms:W3CDTF">2021-08-27T12:12:14Z</dcterms:modified>
</cp:coreProperties>
</file>