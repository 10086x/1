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591" r:id="rId2"/>
    <p:sldId id="593" r:id="rId3"/>
    <p:sldId id="767" r:id="rId4"/>
    <p:sldId id="768" r:id="rId5"/>
    <p:sldId id="765" r:id="rId6"/>
    <p:sldId id="766" r:id="rId7"/>
    <p:sldId id="769" r:id="rId8"/>
    <p:sldId id="770" r:id="rId9"/>
    <p:sldId id="771" r:id="rId10"/>
    <p:sldId id="772" r:id="rId11"/>
    <p:sldId id="773" r:id="rId12"/>
    <p:sldId id="774" r:id="rId13"/>
    <p:sldId id="775" r:id="rId14"/>
    <p:sldId id="776" r:id="rId15"/>
    <p:sldId id="777" r:id="rId16"/>
    <p:sldId id="778" r:id="rId17"/>
    <p:sldId id="779" r:id="rId18"/>
    <p:sldId id="780" r:id="rId19"/>
    <p:sldId id="781" r:id="rId20"/>
    <p:sldId id="782" r:id="rId21"/>
    <p:sldId id="783" r:id="rId22"/>
    <p:sldId id="784" r:id="rId23"/>
    <p:sldId id="785" r:id="rId24"/>
    <p:sldId id="786" r:id="rId25"/>
    <p:sldId id="787" r:id="rId26"/>
    <p:sldId id="788" r:id="rId27"/>
    <p:sldId id="789" r:id="rId28"/>
    <p:sldId id="790" r:id="rId29"/>
    <p:sldId id="791" r:id="rId30"/>
    <p:sldId id="792" r:id="rId31"/>
    <p:sldId id="793" r:id="rId32"/>
    <p:sldId id="794" r:id="rId33"/>
    <p:sldId id="795" r:id="rId34"/>
    <p:sldId id="796" r:id="rId35"/>
    <p:sldId id="797" r:id="rId36"/>
    <p:sldId id="798" r:id="rId37"/>
    <p:sldId id="831" r:id="rId38"/>
    <p:sldId id="830" r:id="rId39"/>
    <p:sldId id="799" r:id="rId40"/>
    <p:sldId id="800" r:id="rId41"/>
    <p:sldId id="801" r:id="rId42"/>
    <p:sldId id="802" r:id="rId43"/>
    <p:sldId id="803" r:id="rId44"/>
    <p:sldId id="804" r:id="rId45"/>
    <p:sldId id="805" r:id="rId46"/>
    <p:sldId id="806" r:id="rId47"/>
    <p:sldId id="807" r:id="rId48"/>
    <p:sldId id="808" r:id="rId49"/>
    <p:sldId id="809" r:id="rId50"/>
    <p:sldId id="833" r:id="rId51"/>
    <p:sldId id="810" r:id="rId52"/>
    <p:sldId id="811" r:id="rId53"/>
    <p:sldId id="812" r:id="rId54"/>
    <p:sldId id="813" r:id="rId55"/>
    <p:sldId id="814" r:id="rId56"/>
    <p:sldId id="815" r:id="rId57"/>
    <p:sldId id="816" r:id="rId58"/>
    <p:sldId id="817" r:id="rId59"/>
    <p:sldId id="818" r:id="rId60"/>
    <p:sldId id="819" r:id="rId61"/>
    <p:sldId id="856" r:id="rId62"/>
    <p:sldId id="857" r:id="rId63"/>
    <p:sldId id="859" r:id="rId64"/>
    <p:sldId id="860" r:id="rId65"/>
    <p:sldId id="820" r:id="rId66"/>
    <p:sldId id="821" r:id="rId67"/>
    <p:sldId id="832" r:id="rId68"/>
    <p:sldId id="835" r:id="rId69"/>
    <p:sldId id="836" r:id="rId70"/>
    <p:sldId id="837" r:id="rId71"/>
    <p:sldId id="838" r:id="rId72"/>
    <p:sldId id="839" r:id="rId73"/>
    <p:sldId id="840" r:id="rId74"/>
    <p:sldId id="841" r:id="rId75"/>
    <p:sldId id="842" r:id="rId76"/>
    <p:sldId id="843" r:id="rId77"/>
    <p:sldId id="844" r:id="rId78"/>
    <p:sldId id="845" r:id="rId79"/>
    <p:sldId id="846" r:id="rId80"/>
    <p:sldId id="847" r:id="rId81"/>
    <p:sldId id="848" r:id="rId82"/>
    <p:sldId id="849" r:id="rId83"/>
    <p:sldId id="850" r:id="rId84"/>
    <p:sldId id="852" r:id="rId85"/>
    <p:sldId id="851" r:id="rId86"/>
    <p:sldId id="853" r:id="rId87"/>
    <p:sldId id="854" r:id="rId88"/>
    <p:sldId id="834" r:id="rId89"/>
    <p:sldId id="822" r:id="rId90"/>
    <p:sldId id="823" r:id="rId91"/>
    <p:sldId id="824" r:id="rId92"/>
    <p:sldId id="825" r:id="rId93"/>
    <p:sldId id="826" r:id="rId94"/>
    <p:sldId id="861" r:id="rId95"/>
    <p:sldId id="862" r:id="rId96"/>
    <p:sldId id="863" r:id="rId97"/>
    <p:sldId id="864" r:id="rId98"/>
    <p:sldId id="865" r:id="rId99"/>
    <p:sldId id="866" r:id="rId100"/>
    <p:sldId id="827" r:id="rId101"/>
    <p:sldId id="828" r:id="rId10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6" userDrawn="1">
          <p15:clr>
            <a:srgbClr val="A4A3A4"/>
          </p15:clr>
        </p15:guide>
        <p15:guide id="2" pos="2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99"/>
    <a:srgbClr val="FF33CC"/>
    <a:srgbClr val="3333FF"/>
    <a:srgbClr val="080808"/>
    <a:srgbClr val="CC0000"/>
    <a:srgbClr val="FF7C80"/>
    <a:srgbClr val="CC99FF"/>
    <a:srgbClr val="FFFF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1" autoAdjust="0"/>
    <p:restoredTop sz="93929" autoAdjust="0"/>
  </p:normalViewPr>
  <p:slideViewPr>
    <p:cSldViewPr>
      <p:cViewPr varScale="1">
        <p:scale>
          <a:sx n="96" d="100"/>
          <a:sy n="96" d="100"/>
        </p:scale>
        <p:origin x="912" y="84"/>
      </p:cViewPr>
      <p:guideLst>
        <p:guide orient="horz" pos="1776"/>
        <p:guide pos="24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53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4CE23A8-CD72-4B4C-8E2F-C097099269B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938BE8-531F-4030-B1F1-4ED38DC7F3C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95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486642-9806-41FB-A1D6-AFF5712577C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02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09DE49-5438-49CD-9395-A13CE6D7F0EC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03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A9B09E-BB6D-4F99-B036-7C2B5DCD56CF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032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904AB-7837-4A6E-8715-5D76AF5BF023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03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1FEB32-0C74-432B-8B4F-A04D85AD0252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03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95566C-812E-4BC8-AD0C-AF594C282578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038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0F3130-4238-4506-84E6-5E6780887583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04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F63F94-DA95-4D72-B313-CBAF2B853ACC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042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9102A-6E35-48AF-9CA4-CCA23B0D4694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4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32B4C1-5911-4429-96EA-C5724E60B0CA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3933A3-65B1-4AC1-8D3B-914387A378A5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F1D85-BE8F-4EB8-934B-EC93DBCEBCAA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05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9BD0D-60E7-453D-901D-7800B45482EF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05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FA2DAB-19C2-42A7-9E50-4A375AC0B3D4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E038D5-33A4-4118-9168-B06234D9960C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06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61B903-4B70-4C87-8D29-05146E07AF2C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6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6BD14C-31EF-494E-B458-07B49F661C11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06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C4F22-E42C-4342-8D8A-A741442279B1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06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76DE1D-199F-4CB7-BABC-91C78171521B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07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41C8C9-8EE5-4488-BDA2-7136183A4A57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07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C46C54-CCF4-4A1E-B464-379FD3B2B1EE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07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705853-54DA-4FBB-A0F4-0671261FF5E3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07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99B00-AFEA-471E-BD51-7D14D855FD90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CCDFF3-0E7A-454F-9358-16DE199F6126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08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D5B520-7064-4799-8074-328497A3D6B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08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390E10-029D-40B1-B7DA-DF5E22209245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12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EC5C7F-B62C-47B9-8D72-DA6FD087F866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126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8353E3-4037-4403-A8B7-28BB90661ACB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08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 dirty="0"/>
              <a:t>1946</a:t>
            </a:r>
            <a:r>
              <a:rPr lang="zh-CN" altLang="en-US" dirty="0"/>
              <a:t>年，第一台电子计算机问世，应用领域迅速扩大，软硬件飞速发展，程序设计语言相继问世。</a:t>
            </a:r>
          </a:p>
          <a:p>
            <a:r>
              <a:rPr lang="zh-CN" altLang="en-US" dirty="0"/>
              <a:t>程序设计语言</a:t>
            </a:r>
            <a:r>
              <a:rPr lang="en-US" altLang="zh-CN" dirty="0"/>
              <a:t>:</a:t>
            </a:r>
            <a:r>
              <a:rPr lang="zh-CN" altLang="en-US" dirty="0"/>
              <a:t>将自然语言形式化为有格式的语言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将在</a:t>
            </a:r>
            <a:r>
              <a:rPr lang="en-US" altLang="zh-CN" dirty="0"/>
              <a:t>《</a:t>
            </a:r>
            <a:r>
              <a:rPr lang="zh-CN" altLang="en-US" dirty="0"/>
              <a:t>计算机组成</a:t>
            </a:r>
            <a:r>
              <a:rPr lang="en-US" altLang="zh-CN" dirty="0"/>
              <a:t>》</a:t>
            </a:r>
            <a:r>
              <a:rPr lang="zh-CN" altLang="en-US" dirty="0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指令是不可分割的最小功能单元</a:t>
            </a:r>
          </a:p>
          <a:p>
            <a:r>
              <a:rPr lang="zh-CN" altLang="en-US" dirty="0"/>
              <a:t>定义：一种</a:t>
            </a:r>
            <a:r>
              <a:rPr lang="en-US" altLang="zh-CN" dirty="0"/>
              <a:t>CPU</a:t>
            </a:r>
            <a:r>
              <a:rPr lang="zh-CN" altLang="en-US" dirty="0"/>
              <a:t>的指令系统，由该</a:t>
            </a:r>
            <a:r>
              <a:rPr lang="en-US" altLang="zh-CN" dirty="0"/>
              <a:t>CPU</a:t>
            </a:r>
            <a:r>
              <a:rPr lang="zh-CN" altLang="en-US" dirty="0"/>
              <a:t>可识别的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序列构成的指令码组成。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执行效率高</a:t>
            </a:r>
          </a:p>
          <a:p>
            <a:r>
              <a:rPr lang="zh-CN" altLang="en-US" dirty="0"/>
              <a:t>不直观，不易查错，生产效率低。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。汇编语言</a:t>
            </a:r>
          </a:p>
          <a:p>
            <a:r>
              <a:rPr lang="zh-CN" altLang="en-US" dirty="0"/>
              <a:t>定义：用助记符号描述的指令系统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生产效率高，质量好，执行效率较高；</a:t>
            </a:r>
          </a:p>
          <a:p>
            <a:r>
              <a:rPr lang="zh-CN" altLang="en-US" dirty="0"/>
              <a:t>要经汇编程序汇编成目标程序（机器语言）才能执行，依赖硬件。</a:t>
            </a:r>
          </a:p>
          <a:p>
            <a:r>
              <a:rPr lang="zh-CN" altLang="en-US" dirty="0"/>
              <a:t>（面向机器的语言</a:t>
            </a:r>
            <a:r>
              <a:rPr lang="en-US" altLang="zh-CN" dirty="0"/>
              <a:t>----</a:t>
            </a:r>
            <a:r>
              <a:rPr lang="zh-CN" altLang="en-US" dirty="0"/>
              <a:t>依</a:t>
            </a:r>
            <a:r>
              <a:rPr lang="en-US" altLang="zh-CN" dirty="0"/>
              <a:t>CPU</a:t>
            </a:r>
            <a:r>
              <a:rPr lang="zh-CN" altLang="en-US" dirty="0"/>
              <a:t>不同而异）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。高级语言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编程效率高，不必考虑硬件；</a:t>
            </a:r>
          </a:p>
          <a:p>
            <a:r>
              <a:rPr lang="zh-CN" altLang="en-US" dirty="0"/>
              <a:t>执行效率低，要经编译、连接后才能执行。</a:t>
            </a:r>
          </a:p>
          <a:p>
            <a:r>
              <a:rPr lang="zh-CN" altLang="en-US" dirty="0"/>
              <a:t>面向过程的程序设计语言</a:t>
            </a:r>
          </a:p>
          <a:p>
            <a:r>
              <a:rPr lang="zh-CN" altLang="en-US" dirty="0"/>
              <a:t>认为解题过程是数据被加工的过程</a:t>
            </a:r>
          </a:p>
          <a:p>
            <a:r>
              <a:rPr lang="zh-CN" altLang="en-US" dirty="0"/>
              <a:t>程序</a:t>
            </a:r>
            <a:r>
              <a:rPr lang="en-US" altLang="zh-CN" dirty="0"/>
              <a:t>=</a:t>
            </a:r>
            <a:r>
              <a:rPr lang="zh-CN" altLang="en-US" dirty="0"/>
              <a:t>数据结构</a:t>
            </a:r>
            <a:r>
              <a:rPr lang="en-US" altLang="zh-CN" dirty="0"/>
              <a:t>+</a:t>
            </a:r>
            <a:r>
              <a:rPr lang="zh-CN" altLang="en-US" dirty="0"/>
              <a:t>算法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语言是面向过程的高级语言</a:t>
            </a:r>
          </a:p>
          <a:p>
            <a:r>
              <a:rPr lang="zh-CN" altLang="en-US" dirty="0"/>
              <a:t>           面向对象的程序设计语言</a:t>
            </a:r>
          </a:p>
          <a:p>
            <a:r>
              <a:rPr lang="zh-CN" altLang="en-US" dirty="0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 dirty="0"/>
              <a:t>特点：比面向过程的语言更清晰、易懂，适宜编更大规模程序，是程序设计的主流</a:t>
            </a:r>
          </a:p>
          <a:p>
            <a:endParaRPr lang="zh-CN" altLang="en-US" dirty="0"/>
          </a:p>
          <a:p>
            <a:r>
              <a:rPr lang="zh-CN" altLang="en-US" dirty="0"/>
              <a:t>程序设计语言基本成分：</a:t>
            </a:r>
          </a:p>
          <a:p>
            <a:r>
              <a:rPr lang="zh-CN" altLang="en-US" dirty="0"/>
              <a:t>。数据成分</a:t>
            </a:r>
          </a:p>
          <a:p>
            <a:r>
              <a:rPr lang="zh-CN" altLang="en-US" dirty="0"/>
              <a:t>。运算成分</a:t>
            </a:r>
          </a:p>
          <a:p>
            <a:r>
              <a:rPr lang="zh-CN" altLang="en-US" dirty="0"/>
              <a:t>。控制成分</a:t>
            </a:r>
          </a:p>
          <a:p>
            <a:r>
              <a:rPr lang="zh-CN" altLang="en-US" dirty="0"/>
              <a:t>。传输成分	</a:t>
            </a:r>
          </a:p>
          <a:p>
            <a:endParaRPr lang="zh-CN" altLang="en-US" dirty="0"/>
          </a:p>
          <a:p>
            <a:r>
              <a:rPr lang="zh-CN" altLang="en-US" dirty="0"/>
              <a:t>程序设计语言定义：用于书写计算机程序的语言。通常指实现高级语言。</a:t>
            </a:r>
          </a:p>
          <a:p>
            <a:r>
              <a:rPr lang="zh-CN" altLang="en-US" dirty="0"/>
              <a:t>语言的基础是一组记号与一组规则。</a:t>
            </a:r>
          </a:p>
          <a:p>
            <a:r>
              <a:rPr lang="zh-CN" altLang="en-US" dirty="0"/>
              <a:t>程序设计语言包括：</a:t>
            </a:r>
          </a:p>
          <a:p>
            <a:r>
              <a:rPr lang="zh-CN" altLang="en-US" dirty="0"/>
              <a:t>语法：记号的组合规则</a:t>
            </a:r>
          </a:p>
          <a:p>
            <a:r>
              <a:rPr lang="zh-CN" altLang="en-US" dirty="0"/>
              <a:t>语义：记号的特定意义</a:t>
            </a:r>
          </a:p>
          <a:p>
            <a:r>
              <a:rPr lang="zh-CN" altLang="en-US" dirty="0"/>
              <a:t>语用：程序与使用者的关系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B66D85-95EE-4AF3-9929-F45AB9E92E3F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C6C8E-92E6-4FCC-8E7B-F10E9026FF18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08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957167-DF14-469F-B537-F3FB397848CC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09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A4F381-BBC8-48F9-BB2E-C969B0ADE259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09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8FD785-8A0B-4214-998E-1FB632E87917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09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3BE39-54D5-4F19-945C-C4AE09688EE9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1EBF9F-10A4-4C4A-83FF-7EC11417CE5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25B96E-EF40-4585-A5AB-82F8761E294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561EA-E18A-4620-A9E0-69B1D42CF25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7C2DAB-2D8F-401D-9265-899573BA254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8EA68F-74CF-40FA-8286-EEF5E62BB0C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9CC5E-6987-45ED-B4AC-69D2C47491B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5E17C-E8F5-4C20-BCCD-BD4EED6AEC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81F00-8390-4551-9B82-78698EAB36B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71CDE-29E2-4BBD-9D51-53FDC7710E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23904E-999F-4990-8752-AE6AF5367DF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115888"/>
            <a:ext cx="2590800" cy="5980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115888"/>
            <a:ext cx="7569200" cy="5980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CBBB64-792D-4008-8F47-5D1CEF4A80B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15888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38"/>
            <a:ext cx="10363200" cy="475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fld id="{F775D10A-2C99-4025-827E-B952F4C2A77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3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audio" Target="../media/audio3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3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7.wav"/><Relationship Id="rId4" Type="http://schemas.openxmlformats.org/officeDocument/2006/relationships/audio" Target="../media/audio3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7.wav"/><Relationship Id="rId4" Type="http://schemas.openxmlformats.org/officeDocument/2006/relationships/audio" Target="../media/audio3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3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3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1.wav"/><Relationship Id="rId7" Type="http://schemas.openxmlformats.org/officeDocument/2006/relationships/audio" Target="../media/audio2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4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audio" Target="../media/audio4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4.wav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audio" Target="../media/audio3.wav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4.wav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audio" Target="../media/audio3.wav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6946" name="Object 2"/>
          <p:cNvGraphicFramePr>
            <a:graphicFrameLocks noChangeAspect="1"/>
          </p:cNvGraphicFramePr>
          <p:nvPr/>
        </p:nvGraphicFramePr>
        <p:xfrm>
          <a:off x="2057400" y="4191001"/>
          <a:ext cx="1487488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016" name="剪辑" r:id="rId3" imgW="18926175" imgH="28251150" progId="">
                  <p:embed/>
                </p:oleObj>
              </mc:Choice>
              <mc:Fallback>
                <p:oleObj name="剪辑" r:id="rId3" imgW="18926175" imgH="2825115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91001"/>
                        <a:ext cx="1487488" cy="220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6947" name="Group 3"/>
          <p:cNvGrpSpPr>
            <a:grpSpLocks/>
          </p:cNvGrpSpPr>
          <p:nvPr/>
        </p:nvGrpSpPr>
        <p:grpSpPr bwMode="auto">
          <a:xfrm>
            <a:off x="2566988" y="333376"/>
            <a:ext cx="7543800" cy="6119813"/>
            <a:chOff x="480" y="816"/>
            <a:chExt cx="4752" cy="2865"/>
          </a:xfrm>
          <a:effectLst/>
        </p:grpSpPr>
        <p:sp>
          <p:nvSpPr>
            <p:cNvPr id="466948" name="Oval 4"/>
            <p:cNvSpPr>
              <a:spLocks noChangeArrowheads="1"/>
            </p:cNvSpPr>
            <p:nvPr/>
          </p:nvSpPr>
          <p:spPr bwMode="auto">
            <a:xfrm>
              <a:off x="480" y="816"/>
              <a:ext cx="4752" cy="2112"/>
            </a:xfrm>
            <a:prstGeom prst="ellipse">
              <a:avLst/>
            </a:prstGeom>
            <a:gradFill rotWithShape="0">
              <a:gsLst>
                <a:gs pos="0">
                  <a:srgbClr val="CC00FF">
                    <a:gamma/>
                    <a:shade val="46275"/>
                    <a:invGamma/>
                  </a:srgbClr>
                </a:gs>
                <a:gs pos="50000">
                  <a:srgbClr val="CC00FF"/>
                </a:gs>
                <a:gs pos="100000">
                  <a:srgbClr val="CC00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6949" name="Rectangle 5"/>
            <p:cNvSpPr>
              <a:spLocks noChangeArrowheads="1"/>
            </p:cNvSpPr>
            <p:nvPr/>
          </p:nvSpPr>
          <p:spPr bwMode="auto">
            <a:xfrm>
              <a:off x="1277" y="1511"/>
              <a:ext cx="3160" cy="68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5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第</a:t>
              </a:r>
              <a:r>
                <a:rPr lang="en-US" altLang="zh-CN" sz="5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8</a:t>
              </a:r>
              <a:r>
                <a:rPr lang="zh-CN" altLang="en-US" sz="5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章  函   数</a:t>
              </a:r>
            </a:p>
            <a:p>
              <a:pPr algn="ctr"/>
              <a:r>
                <a:rPr lang="zh-CN" altLang="en-US" sz="3600" b="1" dirty="0">
                  <a:solidFill>
                    <a:srgbClr val="CC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制作人：王敬华</a:t>
              </a:r>
            </a:p>
          </p:txBody>
        </p:sp>
        <p:pic>
          <p:nvPicPr>
            <p:cNvPr id="46695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37" y="2496"/>
              <a:ext cx="2503" cy="11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66951" name="Line 7"/>
            <p:cNvSpPr>
              <a:spLocks noChangeShapeType="1"/>
            </p:cNvSpPr>
            <p:nvPr/>
          </p:nvSpPr>
          <p:spPr bwMode="auto">
            <a:xfrm>
              <a:off x="2304" y="3648"/>
              <a:ext cx="2784" cy="0"/>
            </a:xfrm>
            <a:prstGeom prst="line">
              <a:avLst/>
            </a:prstGeom>
            <a:noFill/>
            <a:ln w="38100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6952" name="Line 8"/>
            <p:cNvSpPr>
              <a:spLocks noChangeShapeType="1"/>
            </p:cNvSpPr>
            <p:nvPr/>
          </p:nvSpPr>
          <p:spPr bwMode="auto">
            <a:xfrm>
              <a:off x="2160" y="3681"/>
              <a:ext cx="2784" cy="0"/>
            </a:xfrm>
            <a:prstGeom prst="line">
              <a:avLst/>
            </a:prstGeom>
            <a:noFill/>
            <a:ln w="38100">
              <a:pattFill prst="dkHorz">
                <a:fgClr>
                  <a:srgbClr val="00CCFF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46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6" name="Rectangle 4"/>
          <p:cNvSpPr>
            <a:spLocks noChangeArrowheads="1"/>
          </p:cNvSpPr>
          <p:nvPr/>
        </p:nvSpPr>
        <p:spPr bwMode="auto">
          <a:xfrm>
            <a:off x="434254" y="54147"/>
            <a:ext cx="8462962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4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第</a:t>
            </a:r>
            <a:r>
              <a:rPr lang="en-US" altLang="zh-CN" sz="4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8</a:t>
            </a:r>
            <a:r>
              <a:rPr lang="zh-CN" altLang="en-US" sz="4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章：函  数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琥珀" pitchFamily="2" charset="-122"/>
                <a:ea typeface="华文琥珀" pitchFamily="2" charset="-122"/>
                <a:cs typeface="ˎ̥"/>
              </a:rPr>
              <a:t> </a:t>
            </a: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623392" y="723798"/>
            <a:ext cx="7129463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学习的意义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endParaRPr kumimoji="0" lang="zh-CN" altLang="en-US" dirty="0"/>
          </a:p>
        </p:txBody>
      </p:sp>
      <p:grpSp>
        <p:nvGrpSpPr>
          <p:cNvPr id="469014" name="Group 22"/>
          <p:cNvGrpSpPr>
            <a:grpSpLocks/>
          </p:cNvGrpSpPr>
          <p:nvPr/>
        </p:nvGrpSpPr>
        <p:grpSpPr bwMode="auto">
          <a:xfrm>
            <a:off x="-24680" y="0"/>
            <a:ext cx="446088" cy="6858000"/>
            <a:chOff x="0" y="0"/>
            <a:chExt cx="281" cy="4320"/>
          </a:xfrm>
        </p:grpSpPr>
        <p:sp>
          <p:nvSpPr>
            <p:cNvPr id="469015" name="Text Box 2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469016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69029" name="Rectangle 37"/>
          <p:cNvSpPr>
            <a:spLocks noChangeArrowheads="1"/>
          </p:cNvSpPr>
          <p:nvPr/>
        </p:nvSpPr>
        <p:spPr bwMode="auto">
          <a:xfrm>
            <a:off x="1199456" y="1671543"/>
            <a:ext cx="10585176" cy="2677656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模块化程序设计方法：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    人们在求解某个复杂问题时，通常采用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逐步分解、分而治之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方法，也就是将一个大问题分解成若干个比较容易求解的小问题，然后分别求解。程序员在设计一个复杂的应用程序时，往往也是把整个程序划分成若干个功能较为单一的程序模块，然后分别予以实现，最后再把所有的程序模块象达积木一样装配起来，这种在程序设计中分而治之的策略，被称为模块化程序设计方法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690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7" grpId="0"/>
      <p:bldP spid="4690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89" name="Text Box 13"/>
          <p:cNvSpPr txBox="1">
            <a:spLocks noChangeArrowheads="1"/>
          </p:cNvSpPr>
          <p:nvPr/>
        </p:nvSpPr>
        <p:spPr bwMode="auto">
          <a:xfrm>
            <a:off x="4410076" y="4213225"/>
            <a:ext cx="576263" cy="156966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</a:p>
        </p:txBody>
      </p:sp>
      <p:sp>
        <p:nvSpPr>
          <p:cNvPr id="1022990" name="Text Box 14"/>
          <p:cNvSpPr txBox="1">
            <a:spLocks noChangeArrowheads="1"/>
          </p:cNvSpPr>
          <p:nvPr/>
        </p:nvSpPr>
        <p:spPr bwMode="auto">
          <a:xfrm>
            <a:off x="5519738" y="4225925"/>
            <a:ext cx="576262" cy="156966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</a:t>
            </a:r>
          </a:p>
        </p:txBody>
      </p:sp>
      <p:sp>
        <p:nvSpPr>
          <p:cNvPr id="1022991" name="Text Box 15"/>
          <p:cNvSpPr txBox="1">
            <a:spLocks noChangeArrowheads="1"/>
          </p:cNvSpPr>
          <p:nvPr/>
        </p:nvSpPr>
        <p:spPr bwMode="auto">
          <a:xfrm>
            <a:off x="7315201" y="4183063"/>
            <a:ext cx="576263" cy="156966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</a:p>
        </p:txBody>
      </p:sp>
      <p:grpSp>
        <p:nvGrpSpPr>
          <p:cNvPr id="1023010" name="Group 34"/>
          <p:cNvGrpSpPr>
            <a:grpSpLocks/>
          </p:cNvGrpSpPr>
          <p:nvPr/>
        </p:nvGrpSpPr>
        <p:grpSpPr bwMode="auto">
          <a:xfrm>
            <a:off x="4727575" y="3152776"/>
            <a:ext cx="2897188" cy="1076325"/>
            <a:chOff x="2018" y="1986"/>
            <a:chExt cx="1825" cy="678"/>
          </a:xfrm>
        </p:grpSpPr>
        <p:sp>
          <p:nvSpPr>
            <p:cNvPr id="1023004" name="Line 28"/>
            <p:cNvSpPr>
              <a:spLocks noChangeShapeType="1"/>
            </p:cNvSpPr>
            <p:nvPr/>
          </p:nvSpPr>
          <p:spPr bwMode="auto">
            <a:xfrm>
              <a:off x="2699" y="2346"/>
              <a:ext cx="0" cy="318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3003" name="Line 27"/>
            <p:cNvSpPr>
              <a:spLocks noChangeShapeType="1"/>
            </p:cNvSpPr>
            <p:nvPr/>
          </p:nvSpPr>
          <p:spPr bwMode="auto">
            <a:xfrm>
              <a:off x="2027" y="2330"/>
              <a:ext cx="0" cy="318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3002" name="Line 26"/>
            <p:cNvSpPr>
              <a:spLocks noChangeShapeType="1"/>
            </p:cNvSpPr>
            <p:nvPr/>
          </p:nvSpPr>
          <p:spPr bwMode="auto">
            <a:xfrm>
              <a:off x="2018" y="2331"/>
              <a:ext cx="1815" cy="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3001" name="Line 25"/>
            <p:cNvSpPr>
              <a:spLocks noChangeShapeType="1"/>
            </p:cNvSpPr>
            <p:nvPr/>
          </p:nvSpPr>
          <p:spPr bwMode="auto">
            <a:xfrm>
              <a:off x="2699" y="1986"/>
              <a:ext cx="0" cy="318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3005" name="Line 29"/>
            <p:cNvSpPr>
              <a:spLocks noChangeShapeType="1"/>
            </p:cNvSpPr>
            <p:nvPr/>
          </p:nvSpPr>
          <p:spPr bwMode="auto">
            <a:xfrm>
              <a:off x="3843" y="2330"/>
              <a:ext cx="0" cy="318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1022979" name="Text Box 3"/>
          <p:cNvSpPr txBox="1">
            <a:spLocks noChangeArrowheads="1"/>
          </p:cNvSpPr>
          <p:nvPr/>
        </p:nvSpPr>
        <p:spPr bwMode="auto">
          <a:xfrm>
            <a:off x="515144" y="31409"/>
            <a:ext cx="7129462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学习的意义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endParaRPr kumimoji="0" lang="zh-CN" altLang="en-US" dirty="0"/>
          </a:p>
        </p:txBody>
      </p:sp>
      <p:sp>
        <p:nvSpPr>
          <p:cNvPr id="1022986" name="Text Box 10"/>
          <p:cNvSpPr txBox="1">
            <a:spLocks noChangeArrowheads="1"/>
          </p:cNvSpPr>
          <p:nvPr/>
        </p:nvSpPr>
        <p:spPr bwMode="auto">
          <a:xfrm>
            <a:off x="2228851" y="2679700"/>
            <a:ext cx="1800225" cy="457200"/>
          </a:xfrm>
          <a:prstGeom prst="rect">
            <a:avLst/>
          </a:prstGeom>
          <a:solidFill>
            <a:srgbClr val="00FF00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</a:p>
        </p:txBody>
      </p:sp>
      <p:sp>
        <p:nvSpPr>
          <p:cNvPr id="1022987" name="Text Box 11"/>
          <p:cNvSpPr txBox="1">
            <a:spLocks noChangeArrowheads="1"/>
          </p:cNvSpPr>
          <p:nvPr/>
        </p:nvSpPr>
        <p:spPr bwMode="auto">
          <a:xfrm>
            <a:off x="4872038" y="2682875"/>
            <a:ext cx="1871662" cy="457200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FF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</a:t>
            </a:r>
          </a:p>
        </p:txBody>
      </p:sp>
      <p:sp>
        <p:nvSpPr>
          <p:cNvPr id="1022988" name="Text Box 12"/>
          <p:cNvSpPr txBox="1">
            <a:spLocks noChangeArrowheads="1"/>
          </p:cNvSpPr>
          <p:nvPr/>
        </p:nvSpPr>
        <p:spPr bwMode="auto">
          <a:xfrm>
            <a:off x="8256588" y="2679700"/>
            <a:ext cx="1655762" cy="457200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</a:p>
        </p:txBody>
      </p:sp>
      <p:sp>
        <p:nvSpPr>
          <p:cNvPr id="1022993" name="Text Box 17"/>
          <p:cNvSpPr txBox="1">
            <a:spLocks noChangeArrowheads="1"/>
          </p:cNvSpPr>
          <p:nvPr/>
        </p:nvSpPr>
        <p:spPr bwMode="auto">
          <a:xfrm>
            <a:off x="7159626" y="2425700"/>
            <a:ext cx="1655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……</a:t>
            </a:r>
          </a:p>
        </p:txBody>
      </p:sp>
      <p:sp>
        <p:nvSpPr>
          <p:cNvPr id="1022994" name="Text Box 18"/>
          <p:cNvSpPr txBox="1">
            <a:spLocks noChangeArrowheads="1"/>
          </p:cNvSpPr>
          <p:nvPr/>
        </p:nvSpPr>
        <p:spPr bwMode="auto">
          <a:xfrm>
            <a:off x="6319838" y="4411664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……</a:t>
            </a:r>
          </a:p>
        </p:txBody>
      </p:sp>
      <p:grpSp>
        <p:nvGrpSpPr>
          <p:cNvPr id="1023009" name="Group 33"/>
          <p:cNvGrpSpPr>
            <a:grpSpLocks/>
          </p:cNvGrpSpPr>
          <p:nvPr/>
        </p:nvGrpSpPr>
        <p:grpSpPr bwMode="auto">
          <a:xfrm>
            <a:off x="2927350" y="1628776"/>
            <a:ext cx="6210300" cy="1038225"/>
            <a:chOff x="884" y="1026"/>
            <a:chExt cx="3912" cy="654"/>
          </a:xfrm>
        </p:grpSpPr>
        <p:sp>
          <p:nvSpPr>
            <p:cNvPr id="1022997" name="Line 21"/>
            <p:cNvSpPr>
              <a:spLocks noChangeShapeType="1"/>
            </p:cNvSpPr>
            <p:nvPr/>
          </p:nvSpPr>
          <p:spPr bwMode="auto">
            <a:xfrm>
              <a:off x="889" y="1361"/>
              <a:ext cx="0" cy="318"/>
            </a:xfrm>
            <a:prstGeom prst="line">
              <a:avLst/>
            </a:prstGeom>
            <a:noFill/>
            <a:ln w="9525">
              <a:solidFill>
                <a:srgbClr val="00CC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2998" name="Line 22"/>
            <p:cNvSpPr>
              <a:spLocks noChangeShapeType="1"/>
            </p:cNvSpPr>
            <p:nvPr/>
          </p:nvSpPr>
          <p:spPr bwMode="auto">
            <a:xfrm>
              <a:off x="2688" y="1362"/>
              <a:ext cx="0" cy="318"/>
            </a:xfrm>
            <a:prstGeom prst="line">
              <a:avLst/>
            </a:prstGeom>
            <a:noFill/>
            <a:ln w="9525">
              <a:solidFill>
                <a:srgbClr val="00CC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2999" name="Line 23"/>
            <p:cNvSpPr>
              <a:spLocks noChangeShapeType="1"/>
            </p:cNvSpPr>
            <p:nvPr/>
          </p:nvSpPr>
          <p:spPr bwMode="auto">
            <a:xfrm>
              <a:off x="4796" y="1352"/>
              <a:ext cx="0" cy="318"/>
            </a:xfrm>
            <a:prstGeom prst="line">
              <a:avLst/>
            </a:prstGeom>
            <a:noFill/>
            <a:ln w="9525">
              <a:solidFill>
                <a:srgbClr val="00CC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2995" name="Line 19"/>
            <p:cNvSpPr>
              <a:spLocks noChangeShapeType="1"/>
            </p:cNvSpPr>
            <p:nvPr/>
          </p:nvSpPr>
          <p:spPr bwMode="auto">
            <a:xfrm>
              <a:off x="884" y="1359"/>
              <a:ext cx="3901" cy="0"/>
            </a:xfrm>
            <a:prstGeom prst="line">
              <a:avLst/>
            </a:prstGeom>
            <a:noFill/>
            <a:ln w="9525">
              <a:solidFill>
                <a:srgbClr val="00CCFF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022996" name="Line 20"/>
            <p:cNvSpPr>
              <a:spLocks noChangeShapeType="1"/>
            </p:cNvSpPr>
            <p:nvPr/>
          </p:nvSpPr>
          <p:spPr bwMode="auto">
            <a:xfrm>
              <a:off x="2690" y="1026"/>
              <a:ext cx="0" cy="318"/>
            </a:xfrm>
            <a:prstGeom prst="line">
              <a:avLst/>
            </a:prstGeom>
            <a:noFill/>
            <a:ln w="9525">
              <a:solidFill>
                <a:srgbClr val="00CCFF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FF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1023006" name="Text Box 30"/>
          <p:cNvSpPr txBox="1">
            <a:spLocks noChangeArrowheads="1"/>
          </p:cNvSpPr>
          <p:nvPr/>
        </p:nvSpPr>
        <p:spPr bwMode="auto">
          <a:xfrm>
            <a:off x="2566988" y="3081339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……</a:t>
            </a:r>
          </a:p>
        </p:txBody>
      </p:sp>
      <p:sp>
        <p:nvSpPr>
          <p:cNvPr id="1023007" name="Text Box 31"/>
          <p:cNvSpPr txBox="1">
            <a:spLocks noChangeArrowheads="1"/>
          </p:cNvSpPr>
          <p:nvPr/>
        </p:nvSpPr>
        <p:spPr bwMode="auto">
          <a:xfrm>
            <a:off x="8629651" y="3043239"/>
            <a:ext cx="16557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……</a:t>
            </a:r>
          </a:p>
        </p:txBody>
      </p:sp>
      <p:sp>
        <p:nvSpPr>
          <p:cNvPr id="1022984" name="Text Box 8"/>
          <p:cNvSpPr txBox="1">
            <a:spLocks noChangeArrowheads="1"/>
          </p:cNvSpPr>
          <p:nvPr/>
        </p:nvSpPr>
        <p:spPr bwMode="auto">
          <a:xfrm>
            <a:off x="4727576" y="1176338"/>
            <a:ext cx="2232025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软件项目</a:t>
            </a:r>
          </a:p>
        </p:txBody>
      </p:sp>
      <p:sp>
        <p:nvSpPr>
          <p:cNvPr id="1023011" name="AutoShape 35"/>
          <p:cNvSpPr>
            <a:spLocks noChangeArrowheads="1"/>
          </p:cNvSpPr>
          <p:nvPr/>
        </p:nvSpPr>
        <p:spPr bwMode="auto">
          <a:xfrm>
            <a:off x="2208213" y="3789363"/>
            <a:ext cx="1871662" cy="576262"/>
          </a:xfrm>
          <a:prstGeom prst="wedgeRoundRectCallout">
            <a:avLst>
              <a:gd name="adj1" fmla="val 92153"/>
              <a:gd name="adj2" fmla="val -192977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语言程序</a:t>
            </a:r>
          </a:p>
        </p:txBody>
      </p:sp>
      <p:sp>
        <p:nvSpPr>
          <p:cNvPr id="1023012" name="AutoShape 36"/>
          <p:cNvSpPr>
            <a:spLocks noChangeArrowheads="1"/>
          </p:cNvSpPr>
          <p:nvPr/>
        </p:nvSpPr>
        <p:spPr bwMode="auto">
          <a:xfrm>
            <a:off x="8183563" y="5805488"/>
            <a:ext cx="1871662" cy="576262"/>
          </a:xfrm>
          <a:prstGeom prst="wedgeRoundRectCallout">
            <a:avLst>
              <a:gd name="adj1" fmla="val -70694"/>
              <a:gd name="adj2" fmla="val -195454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语言函数</a:t>
            </a:r>
          </a:p>
        </p:txBody>
      </p:sp>
      <p:sp>
        <p:nvSpPr>
          <p:cNvPr id="1023013" name="AutoShape 37"/>
          <p:cNvSpPr>
            <a:spLocks noChangeArrowheads="1"/>
          </p:cNvSpPr>
          <p:nvPr/>
        </p:nvSpPr>
        <p:spPr bwMode="auto">
          <a:xfrm>
            <a:off x="7175500" y="188913"/>
            <a:ext cx="3168650" cy="1079500"/>
          </a:xfrm>
          <a:prstGeom prst="cloudCallout">
            <a:avLst>
              <a:gd name="adj1" fmla="val -60773"/>
              <a:gd name="adj2" fmla="val 122500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0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2800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达积木</a:t>
            </a:r>
          </a:p>
        </p:txBody>
      </p:sp>
      <p:grpSp>
        <p:nvGrpSpPr>
          <p:cNvPr id="1023014" name="Group 38"/>
          <p:cNvGrpSpPr>
            <a:grpSpLocks/>
          </p:cNvGrpSpPr>
          <p:nvPr/>
        </p:nvGrpSpPr>
        <p:grpSpPr bwMode="auto">
          <a:xfrm>
            <a:off x="-24680" y="0"/>
            <a:ext cx="446088" cy="6858000"/>
            <a:chOff x="0" y="0"/>
            <a:chExt cx="281" cy="4320"/>
          </a:xfrm>
        </p:grpSpPr>
        <p:sp>
          <p:nvSpPr>
            <p:cNvPr id="1023015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23016" name="Text Box 4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2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1023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2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2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22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2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23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023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22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22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229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229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23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023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1023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1023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2989" grpId="0" animBg="1"/>
      <p:bldP spid="1022990" grpId="0" animBg="1"/>
      <p:bldP spid="1022991" grpId="0" animBg="1"/>
      <p:bldP spid="1022986" grpId="0" animBg="1"/>
      <p:bldP spid="1022987" grpId="0" animBg="1"/>
      <p:bldP spid="1022988" grpId="0" animBg="1"/>
      <p:bldP spid="1022993" grpId="0"/>
      <p:bldP spid="1022994" grpId="0"/>
      <p:bldP spid="1023006" grpId="0"/>
      <p:bldP spid="1023007" grpId="0"/>
      <p:bldP spid="1022984" grpId="0" animBg="1"/>
      <p:bldP spid="1023011" grpId="0" animBg="1"/>
      <p:bldP spid="1023012" grpId="0" animBg="1"/>
      <p:bldP spid="10230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1" name="Text Box 11"/>
          <p:cNvSpPr txBox="1">
            <a:spLocks noChangeArrowheads="1"/>
          </p:cNvSpPr>
          <p:nvPr/>
        </p:nvSpPr>
        <p:spPr bwMode="auto">
          <a:xfrm>
            <a:off x="695473" y="88900"/>
            <a:ext cx="7129462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学习的意义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endParaRPr kumimoji="0" lang="zh-CN" altLang="en-US" dirty="0"/>
          </a:p>
        </p:txBody>
      </p:sp>
      <p:sp>
        <p:nvSpPr>
          <p:cNvPr id="1024032" name="Rectangle 32"/>
          <p:cNvSpPr>
            <a:spLocks noChangeArrowheads="1"/>
          </p:cNvSpPr>
          <p:nvPr/>
        </p:nvSpPr>
        <p:spPr bwMode="auto">
          <a:xfrm>
            <a:off x="895498" y="856030"/>
            <a:ext cx="11033150" cy="230832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Ø"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使用函数，不仅可以实现程序的模块化，程序设计得简单和直观，提高了程序的易读性和可维护性。</a:t>
            </a:r>
          </a:p>
          <a:p>
            <a:pPr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编写自定义函数库。把一些常用的或某些特定功能的程序制作成自己的函数库，以供随时调用，这样可以大大减轻日后编写代码的工作量。</a:t>
            </a:r>
          </a:p>
          <a:p>
            <a:pPr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通过对函数的学习，掌握模块化程序设计的理念，为将来进行团队合作，协同完成大型应用软件奠定一定的基础。</a:t>
            </a:r>
            <a:r>
              <a:rPr lang="zh-CN" altLang="en-US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24033" name="Text Box 33"/>
          <p:cNvSpPr txBox="1">
            <a:spLocks noChangeArrowheads="1"/>
          </p:cNvSpPr>
          <p:nvPr/>
        </p:nvSpPr>
        <p:spPr bwMode="auto">
          <a:xfrm>
            <a:off x="792311" y="3443289"/>
            <a:ext cx="3889375" cy="5794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学习目标</a:t>
            </a:r>
            <a:r>
              <a:rPr kumimoji="0" lang="zh-CN" alt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endParaRPr kumimoji="0" lang="zh-CN" altLang="en-US"/>
          </a:p>
        </p:txBody>
      </p:sp>
      <p:sp>
        <p:nvSpPr>
          <p:cNvPr id="1024034" name="Rectangle 34"/>
          <p:cNvSpPr>
            <a:spLocks noChangeArrowheads="1"/>
          </p:cNvSpPr>
          <p:nvPr/>
        </p:nvSpPr>
        <p:spPr bwMode="auto">
          <a:xfrm>
            <a:off x="881211" y="4217020"/>
            <a:ext cx="11047437" cy="2308324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正确理解函数在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语言程序设计中的作用和地位；</a:t>
            </a:r>
          </a:p>
          <a:p>
            <a:pPr marL="457200" indent="-457200"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理解函数、形参、实参、作用域、生存期的概念；</a:t>
            </a:r>
          </a:p>
          <a:p>
            <a:pPr marL="457200" indent="-457200"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掌握各种函数的定义、原型声明和调用的方法；</a:t>
            </a:r>
          </a:p>
          <a:p>
            <a:pPr marL="457200" indent="-457200"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理解全局变量、局部变量、静态变量、静态函数的作用域和生存期；</a:t>
            </a:r>
          </a:p>
          <a:p>
            <a:pPr marL="457200" indent="-457200"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掌握递归函数的编写规则；</a:t>
            </a:r>
          </a:p>
          <a:p>
            <a:pPr marL="457200" indent="-457200">
              <a:buClr>
                <a:srgbClr val="CC0099"/>
              </a:buClr>
              <a:buFont typeface="Wingdings" pitchFamily="2" charset="2"/>
              <a:buChar char="Ø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掌握利用工程管理程序的方法；</a:t>
            </a:r>
            <a:r>
              <a:rPr lang="zh-CN" altLang="en-US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24035" name="Group 35"/>
          <p:cNvGrpSpPr>
            <a:grpSpLocks/>
          </p:cNvGrpSpPr>
          <p:nvPr/>
        </p:nvGrpSpPr>
        <p:grpSpPr bwMode="auto">
          <a:xfrm>
            <a:off x="3313" y="0"/>
            <a:ext cx="446088" cy="6858000"/>
            <a:chOff x="0" y="0"/>
            <a:chExt cx="281" cy="4320"/>
          </a:xfrm>
        </p:grpSpPr>
        <p:sp>
          <p:nvSpPr>
            <p:cNvPr id="1024036" name="Text Box 3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24037" name="Text Box 3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40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0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240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2" grpId="0" animBg="1"/>
      <p:bldP spid="1024033" grpId="0"/>
      <p:bldP spid="10240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903" name="Text Box 15"/>
          <p:cNvSpPr txBox="1">
            <a:spLocks noChangeArrowheads="1"/>
          </p:cNvSpPr>
          <p:nvPr/>
        </p:nvSpPr>
        <p:spPr bwMode="auto">
          <a:xfrm>
            <a:off x="551384" y="333375"/>
            <a:ext cx="3889375" cy="57943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 typeface="Wingdings" pitchFamily="2" charset="2"/>
              <a:buChar char="u"/>
              <a:tabLst>
                <a:tab pos="177800" algn="l"/>
              </a:tabLst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隶书" pitchFamily="49" charset="-122"/>
              </a:rPr>
              <a:t>学习内容</a:t>
            </a:r>
            <a:r>
              <a:rPr kumimoji="0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endParaRPr kumimoji="0" lang="zh-CN" altLang="en-US" dirty="0"/>
          </a:p>
        </p:txBody>
      </p:sp>
      <p:sp>
        <p:nvSpPr>
          <p:cNvPr id="677932" name="Rectangle 44"/>
          <p:cNvSpPr>
            <a:spLocks noChangeArrowheads="1"/>
          </p:cNvSpPr>
          <p:nvPr/>
        </p:nvSpPr>
        <p:spPr bwMode="auto">
          <a:xfrm>
            <a:off x="767282" y="981075"/>
            <a:ext cx="11161365" cy="487680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函数概述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函数的定义与调用</a:t>
            </a:r>
          </a:p>
          <a:p>
            <a:pPr marL="360363">
              <a:buClr>
                <a:srgbClr val="339966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无参数无返回值的函数</a:t>
            </a:r>
          </a:p>
          <a:p>
            <a:pPr marL="360363">
              <a:buClr>
                <a:srgbClr val="339966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无参数有返回值的函数</a:t>
            </a:r>
          </a:p>
          <a:p>
            <a:pPr marL="360363">
              <a:buClr>
                <a:srgbClr val="339966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带参数无返回值的函数</a:t>
            </a:r>
          </a:p>
          <a:p>
            <a:pPr marL="360363">
              <a:buClr>
                <a:srgbClr val="339966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带参数有返回值的函数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函数参数传递的传递方式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变量的作用域和生存期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变量的存储类型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函数的嵌套和递归调用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函数的作用域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函数应用综合举例</a:t>
            </a:r>
          </a:p>
          <a:p>
            <a:pPr>
              <a:buClr>
                <a:srgbClr val="CC0099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本章小结</a:t>
            </a:r>
          </a:p>
        </p:txBody>
      </p:sp>
      <p:grpSp>
        <p:nvGrpSpPr>
          <p:cNvPr id="677941" name="Group 53"/>
          <p:cNvGrpSpPr>
            <a:grpSpLocks/>
          </p:cNvGrpSpPr>
          <p:nvPr/>
        </p:nvGrpSpPr>
        <p:grpSpPr bwMode="auto">
          <a:xfrm>
            <a:off x="3313" y="-9525"/>
            <a:ext cx="446088" cy="6858000"/>
            <a:chOff x="0" y="0"/>
            <a:chExt cx="281" cy="4320"/>
          </a:xfrm>
        </p:grpSpPr>
        <p:sp>
          <p:nvSpPr>
            <p:cNvPr id="677942" name="Text Box 5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677943" name="Text Box 5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7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77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903" grpId="0"/>
      <p:bldP spid="6779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158750"/>
            <a:ext cx="384333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8.1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函数概述</a:t>
            </a:r>
            <a:r>
              <a:rPr lang="zh-CN" altLang="en-US" dirty="0"/>
              <a:t> </a:t>
            </a:r>
          </a:p>
        </p:txBody>
      </p:sp>
      <p:sp>
        <p:nvSpPr>
          <p:cNvPr id="958496" name="Rectangle 32"/>
          <p:cNvSpPr>
            <a:spLocks noChangeArrowheads="1"/>
          </p:cNvSpPr>
          <p:nvPr/>
        </p:nvSpPr>
        <p:spPr bwMode="auto">
          <a:xfrm>
            <a:off x="997024" y="730250"/>
            <a:ext cx="2176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、函数的概念</a:t>
            </a:r>
          </a:p>
        </p:txBody>
      </p:sp>
      <p:sp>
        <p:nvSpPr>
          <p:cNvPr id="958513" name="Rectangle 49"/>
          <p:cNvSpPr>
            <a:spLocks noChangeArrowheads="1"/>
          </p:cNvSpPr>
          <p:nvPr/>
        </p:nvSpPr>
        <p:spPr bwMode="auto">
          <a:xfrm>
            <a:off x="789260" y="1277294"/>
            <a:ext cx="11283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函数其实就是一段可以重复调用的、功能相对独立完整的程序段。 </a:t>
            </a:r>
          </a:p>
        </p:txBody>
      </p:sp>
      <p:sp>
        <p:nvSpPr>
          <p:cNvPr id="958514" name="Text Box 50"/>
          <p:cNvSpPr txBox="1">
            <a:spLocks noChangeArrowheads="1"/>
          </p:cNvSpPr>
          <p:nvPr/>
        </p:nvSpPr>
        <p:spPr bwMode="auto">
          <a:xfrm>
            <a:off x="1298650" y="1715324"/>
            <a:ext cx="736291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FF66FF"/>
              </a:buClr>
              <a:buFont typeface="Wingdings" pitchFamily="2" charset="2"/>
              <a:buChar char="&amp;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C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是</a:t>
            </a:r>
            <a:r>
              <a:rPr lang="zh-CN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函数式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语言</a:t>
            </a:r>
          </a:p>
          <a:p>
            <a:pPr>
              <a:buClr>
                <a:srgbClr val="FF66FF"/>
              </a:buClr>
              <a:buFont typeface="Wingdings" pitchFamily="2" charset="2"/>
              <a:buChar char="&amp;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必须有且只能有一个名为</a:t>
            </a:r>
            <a:r>
              <a:rPr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main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的主函数</a:t>
            </a:r>
          </a:p>
          <a:p>
            <a:pPr>
              <a:buClr>
                <a:srgbClr val="FF66FF"/>
              </a:buClr>
              <a:buFont typeface="Wingdings" pitchFamily="2" charset="2"/>
              <a:buChar char="&amp;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C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程序的执行总是</a:t>
            </a:r>
            <a:r>
              <a:rPr lang="zh-CN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从</a:t>
            </a:r>
            <a:r>
              <a:rPr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main</a:t>
            </a:r>
            <a:r>
              <a:rPr lang="zh-CN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函数开始，在</a:t>
            </a:r>
            <a:r>
              <a:rPr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main</a:t>
            </a:r>
            <a:r>
              <a:rPr lang="zh-CN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中结束</a:t>
            </a:r>
          </a:p>
          <a:p>
            <a:pPr>
              <a:buClr>
                <a:srgbClr val="FF66FF"/>
              </a:buClr>
              <a:buFont typeface="Wingdings" pitchFamily="2" charset="2"/>
              <a:buChar char="&amp;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函数</a:t>
            </a:r>
            <a:r>
              <a:rPr lang="zh-CN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不能嵌套定义,可以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嵌套</a:t>
            </a:r>
            <a:r>
              <a:rPr lang="zh-CN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调用</a:t>
            </a:r>
            <a:endParaRPr lang="zh-CN" altLang="en-US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58515" name="Rectangle 51"/>
          <p:cNvSpPr>
            <a:spLocks noChangeArrowheads="1"/>
          </p:cNvSpPr>
          <p:nvPr/>
        </p:nvSpPr>
        <p:spPr bwMode="auto">
          <a:xfrm>
            <a:off x="1009724" y="3343275"/>
            <a:ext cx="2176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、函数的分类</a:t>
            </a:r>
          </a:p>
        </p:txBody>
      </p:sp>
      <p:sp>
        <p:nvSpPr>
          <p:cNvPr id="958516" name="Rectangle 52"/>
          <p:cNvSpPr>
            <a:spLocks noChangeArrowheads="1"/>
          </p:cNvSpPr>
          <p:nvPr/>
        </p:nvSpPr>
        <p:spPr bwMode="auto">
          <a:xfrm>
            <a:off x="1295474" y="3762375"/>
            <a:ext cx="7129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从用户角度</a:t>
            </a:r>
          </a:p>
        </p:txBody>
      </p:sp>
      <p:sp>
        <p:nvSpPr>
          <p:cNvPr id="958517" name="Rectangle 53"/>
          <p:cNvSpPr>
            <a:spLocks noChangeArrowheads="1"/>
          </p:cNvSpPr>
          <p:nvPr/>
        </p:nvSpPr>
        <p:spPr bwMode="auto">
          <a:xfrm>
            <a:off x="1716162" y="4108451"/>
            <a:ext cx="66960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l"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标准函数（库函数）：由系统提供</a:t>
            </a:r>
          </a:p>
          <a:p>
            <a:pPr>
              <a:buClr>
                <a:schemeClr val="accent1"/>
              </a:buClr>
              <a:buFont typeface="Wingdings" pitchFamily="2" charset="2"/>
              <a:buChar char="l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用户自定义函数</a:t>
            </a:r>
          </a:p>
        </p:txBody>
      </p:sp>
      <p:sp>
        <p:nvSpPr>
          <p:cNvPr id="958518" name="Rectangle 54"/>
          <p:cNvSpPr>
            <a:spLocks noChangeArrowheads="1"/>
          </p:cNvSpPr>
          <p:nvPr/>
        </p:nvSpPr>
        <p:spPr bwMode="auto">
          <a:xfrm>
            <a:off x="1414537" y="4821238"/>
            <a:ext cx="7129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从函数形式</a:t>
            </a:r>
          </a:p>
        </p:txBody>
      </p:sp>
      <p:sp>
        <p:nvSpPr>
          <p:cNvPr id="958519" name="Rectangle 55"/>
          <p:cNvSpPr>
            <a:spLocks noChangeArrowheads="1"/>
          </p:cNvSpPr>
          <p:nvPr/>
        </p:nvSpPr>
        <p:spPr bwMode="auto">
          <a:xfrm>
            <a:off x="1728862" y="5202238"/>
            <a:ext cx="66960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l"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无参数无返回值</a:t>
            </a:r>
          </a:p>
          <a:p>
            <a:pPr>
              <a:buClr>
                <a:schemeClr val="accent1"/>
              </a:buClr>
              <a:buFont typeface="Wingdings" pitchFamily="2" charset="2"/>
              <a:buChar char="l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无参数有返回值</a:t>
            </a:r>
          </a:p>
          <a:p>
            <a:pPr>
              <a:buClr>
                <a:schemeClr val="accent1"/>
              </a:buClr>
              <a:buFont typeface="Wingdings" pitchFamily="2" charset="2"/>
              <a:buChar char="l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有参数无返回值</a:t>
            </a:r>
          </a:p>
          <a:p>
            <a:pPr>
              <a:buClr>
                <a:schemeClr val="accent1"/>
              </a:buClr>
              <a:buFont typeface="Wingdings" pitchFamily="2" charset="2"/>
              <a:buChar char="l"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有参数有返回值</a:t>
            </a:r>
          </a:p>
        </p:txBody>
      </p:sp>
      <p:sp>
        <p:nvSpPr>
          <p:cNvPr id="958520" name="Text Box 56"/>
          <p:cNvSpPr txBox="1">
            <a:spLocks noChangeArrowheads="1"/>
          </p:cNvSpPr>
          <p:nvPr/>
        </p:nvSpPr>
        <p:spPr bwMode="auto">
          <a:xfrm>
            <a:off x="4727848" y="4638675"/>
            <a:ext cx="7190197" cy="19558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72549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u="sng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使用库函数应注意：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、函数功能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、函数参数的数目和顺序，及各参数意义和类型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、函数返回值意义和类型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、需要使用的包含文件</a:t>
            </a:r>
          </a:p>
        </p:txBody>
      </p:sp>
      <p:grpSp>
        <p:nvGrpSpPr>
          <p:cNvPr id="958521" name="Group 57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958522" name="Text Box 5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958523" name="Text Box 5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958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95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95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95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95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958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496" grpId="0"/>
      <p:bldP spid="958513" grpId="0"/>
      <p:bldP spid="958514" grpId="0" build="p" autoUpdateAnimBg="0"/>
      <p:bldP spid="958515" grpId="0"/>
      <p:bldP spid="958516" grpId="0"/>
      <p:bldP spid="958517" grpId="0"/>
      <p:bldP spid="958518" grpId="0"/>
      <p:bldP spid="958519" grpId="0"/>
      <p:bldP spid="95852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42887" y="101600"/>
            <a:ext cx="496728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8.2  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函数的定义和调用</a:t>
            </a:r>
            <a:r>
              <a:rPr lang="zh-CN" altLang="en-US"/>
              <a:t> </a:t>
            </a:r>
          </a:p>
        </p:txBody>
      </p:sp>
      <p:sp>
        <p:nvSpPr>
          <p:cNvPr id="1025027" name="Rectangle 3"/>
          <p:cNvSpPr>
            <a:spLocks noChangeArrowheads="1"/>
          </p:cNvSpPr>
          <p:nvPr/>
        </p:nvSpPr>
        <p:spPr bwMode="auto">
          <a:xfrm>
            <a:off x="809586" y="730250"/>
            <a:ext cx="3829620" cy="457200"/>
          </a:xfrm>
          <a:prstGeom prst="rect">
            <a:avLst/>
          </a:prstGeom>
          <a:noFill/>
          <a:ln>
            <a:noFill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、无参数无返回值的函数</a:t>
            </a:r>
          </a:p>
        </p:txBody>
      </p:sp>
      <p:sp>
        <p:nvSpPr>
          <p:cNvPr id="1025031" name="Rectangle 7"/>
          <p:cNvSpPr>
            <a:spLocks noChangeArrowheads="1"/>
          </p:cNvSpPr>
          <p:nvPr/>
        </p:nvSpPr>
        <p:spPr bwMode="auto">
          <a:xfrm>
            <a:off x="1279487" y="121761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隶书" pitchFamily="49" charset="-122"/>
              </a:rPr>
              <a:t>定义格式 </a:t>
            </a:r>
          </a:p>
        </p:txBody>
      </p:sp>
      <p:sp>
        <p:nvSpPr>
          <p:cNvPr id="1025040" name="Text Box 16"/>
          <p:cNvSpPr txBox="1">
            <a:spLocks noChangeArrowheads="1"/>
          </p:cNvSpPr>
          <p:nvPr/>
        </p:nvSpPr>
        <p:spPr bwMode="auto">
          <a:xfrm>
            <a:off x="3211474" y="1687514"/>
            <a:ext cx="3743325" cy="1944687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void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(void)</a:t>
            </a:r>
          </a:p>
          <a:p>
            <a:pPr algn="just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{</a:t>
            </a:r>
          </a:p>
          <a:p>
            <a:pPr algn="just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变量声明部分</a:t>
            </a:r>
          </a:p>
          <a:p>
            <a:pPr algn="just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执行部分</a:t>
            </a:r>
          </a:p>
          <a:p>
            <a:pPr algn="just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}</a:t>
            </a:r>
          </a:p>
        </p:txBody>
      </p:sp>
      <p:grpSp>
        <p:nvGrpSpPr>
          <p:cNvPr id="1025045" name="Group 21"/>
          <p:cNvGrpSpPr>
            <a:grpSpLocks/>
          </p:cNvGrpSpPr>
          <p:nvPr/>
        </p:nvGrpSpPr>
        <p:grpSpPr bwMode="auto">
          <a:xfrm>
            <a:off x="5524462" y="2593976"/>
            <a:ext cx="1152525" cy="569913"/>
            <a:chOff x="3195" y="1661"/>
            <a:chExt cx="726" cy="359"/>
          </a:xfrm>
        </p:grpSpPr>
        <p:sp>
          <p:nvSpPr>
            <p:cNvPr id="1025041" name="AutoShape 17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42" name="Text Box 18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FF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25043" name="AutoShape 19"/>
          <p:cNvSpPr>
            <a:spLocks noChangeArrowheads="1"/>
          </p:cNvSpPr>
          <p:nvPr/>
        </p:nvSpPr>
        <p:spPr bwMode="auto">
          <a:xfrm>
            <a:off x="768312" y="2217739"/>
            <a:ext cx="1944687" cy="1152525"/>
          </a:xfrm>
          <a:prstGeom prst="wedgeRoundRectCallout">
            <a:avLst>
              <a:gd name="adj1" fmla="val 79958"/>
              <a:gd name="adj2" fmla="val -73829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ea typeface="隶书" pitchFamily="49" charset="-122"/>
              </a:rPr>
              <a:t>空类型，表明函数无返回值，不可省！</a:t>
            </a:r>
          </a:p>
        </p:txBody>
      </p:sp>
      <p:sp>
        <p:nvSpPr>
          <p:cNvPr id="1025044" name="AutoShape 20"/>
          <p:cNvSpPr>
            <a:spLocks noChangeArrowheads="1"/>
          </p:cNvSpPr>
          <p:nvPr/>
        </p:nvSpPr>
        <p:spPr bwMode="auto">
          <a:xfrm>
            <a:off x="6953212" y="2349501"/>
            <a:ext cx="1944687" cy="792163"/>
          </a:xfrm>
          <a:prstGeom prst="wedgeRoundRectCallout">
            <a:avLst>
              <a:gd name="adj1" fmla="val -125917"/>
              <a:gd name="adj2" fmla="val -83269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ea typeface="隶书" pitchFamily="49" charset="-122"/>
              </a:rPr>
              <a:t>表明无参数，可缺省！</a:t>
            </a:r>
          </a:p>
        </p:txBody>
      </p:sp>
      <p:sp>
        <p:nvSpPr>
          <p:cNvPr id="1025046" name="AutoShape 22"/>
          <p:cNvSpPr>
            <a:spLocks noChangeArrowheads="1"/>
          </p:cNvSpPr>
          <p:nvPr/>
        </p:nvSpPr>
        <p:spPr bwMode="auto">
          <a:xfrm>
            <a:off x="5587962" y="536576"/>
            <a:ext cx="1944687" cy="792163"/>
          </a:xfrm>
          <a:prstGeom prst="wedgeRoundRectCallout">
            <a:avLst>
              <a:gd name="adj1" fmla="val -114329"/>
              <a:gd name="adj2" fmla="val 103907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ea typeface="隶书" pitchFamily="49" charset="-122"/>
              </a:rPr>
              <a:t>必须为合法的标识符</a:t>
            </a:r>
          </a:p>
        </p:txBody>
      </p:sp>
      <p:sp>
        <p:nvSpPr>
          <p:cNvPr id="1025048" name="Rectangle 24"/>
          <p:cNvSpPr>
            <a:spLocks noChangeArrowheads="1"/>
          </p:cNvSpPr>
          <p:nvPr/>
        </p:nvSpPr>
        <p:spPr bwMode="auto">
          <a:xfrm>
            <a:off x="1266787" y="3646488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隶书" pitchFamily="49" charset="-122"/>
              </a:rPr>
              <a:t>函数用途 </a:t>
            </a:r>
          </a:p>
        </p:txBody>
      </p:sp>
      <p:sp>
        <p:nvSpPr>
          <p:cNvPr id="1025049" name="Rectangle 25"/>
          <p:cNvSpPr>
            <a:spLocks noChangeArrowheads="1"/>
          </p:cNvSpPr>
          <p:nvPr/>
        </p:nvSpPr>
        <p:spPr bwMode="auto">
          <a:xfrm>
            <a:off x="534750" y="4045378"/>
            <a:ext cx="1110586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此类函数用于完成某项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固定的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处理任务，执行完成后不向调用者返回函数值。它类似于其它语言的过程。 </a:t>
            </a:r>
          </a:p>
        </p:txBody>
      </p:sp>
      <p:sp>
        <p:nvSpPr>
          <p:cNvPr id="1025050" name="Rectangle 26"/>
          <p:cNvSpPr>
            <a:spLocks noChangeArrowheads="1"/>
          </p:cNvSpPr>
          <p:nvPr/>
        </p:nvSpPr>
        <p:spPr bwMode="auto">
          <a:xfrm>
            <a:off x="1254086" y="4799013"/>
            <a:ext cx="3154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隶书" pitchFamily="49" charset="-122"/>
              </a:rPr>
              <a:t>函数的原型声明 </a:t>
            </a:r>
          </a:p>
        </p:txBody>
      </p:sp>
      <p:sp>
        <p:nvSpPr>
          <p:cNvPr id="1025051" name="Text Box 27"/>
          <p:cNvSpPr txBox="1">
            <a:spLocks noChangeArrowheads="1"/>
          </p:cNvSpPr>
          <p:nvPr/>
        </p:nvSpPr>
        <p:spPr bwMode="auto">
          <a:xfrm>
            <a:off x="1687474" y="5346701"/>
            <a:ext cx="6335713" cy="530225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void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void 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   或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void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 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25052" name="Rectangle 28"/>
          <p:cNvSpPr>
            <a:spLocks noChangeArrowheads="1"/>
          </p:cNvSpPr>
          <p:nvPr/>
        </p:nvSpPr>
        <p:spPr bwMode="auto">
          <a:xfrm>
            <a:off x="534750" y="6087419"/>
            <a:ext cx="1103385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en-US" altLang="zh-CN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语言规定，对函数调用之前必须对其原型加以声明，否则会出现编译错！ </a:t>
            </a:r>
          </a:p>
        </p:txBody>
      </p:sp>
      <p:grpSp>
        <p:nvGrpSpPr>
          <p:cNvPr id="1025053" name="Group 29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25054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25055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25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25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025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25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25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25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25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25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25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25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25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7" grpId="0"/>
      <p:bldP spid="1025031" grpId="0"/>
      <p:bldP spid="1025040" grpId="0" animBg="1"/>
      <p:bldP spid="1025043" grpId="0" animBg="1"/>
      <p:bldP spid="1025044" grpId="0" animBg="1"/>
      <p:bldP spid="1025046" grpId="0" animBg="1"/>
      <p:bldP spid="1025048" grpId="0"/>
      <p:bldP spid="1025049" grpId="0"/>
      <p:bldP spid="1025050" grpId="0"/>
      <p:bldP spid="1025051" grpId="0" animBg="1"/>
      <p:bldP spid="10250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3" name="Rectangle 3"/>
          <p:cNvSpPr>
            <a:spLocks noChangeArrowheads="1"/>
          </p:cNvSpPr>
          <p:nvPr/>
        </p:nvSpPr>
        <p:spPr bwMode="auto">
          <a:xfrm>
            <a:off x="613402" y="188913"/>
            <a:ext cx="4032820" cy="457200"/>
          </a:xfrm>
          <a:prstGeom prst="rect">
            <a:avLst/>
          </a:prstGeom>
          <a:noFill/>
          <a:ln>
            <a:noFill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、无参数无返回值的函数</a:t>
            </a:r>
          </a:p>
        </p:txBody>
      </p:sp>
      <p:sp>
        <p:nvSpPr>
          <p:cNvPr id="1029135" name="Rectangle 15"/>
          <p:cNvSpPr>
            <a:spLocks noChangeArrowheads="1"/>
          </p:cNvSpPr>
          <p:nvPr/>
        </p:nvSpPr>
        <p:spPr bwMode="auto">
          <a:xfrm>
            <a:off x="973765" y="692150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函数的调用 </a:t>
            </a:r>
          </a:p>
        </p:txBody>
      </p:sp>
      <p:sp>
        <p:nvSpPr>
          <p:cNvPr id="1029138" name="Text Box 18"/>
          <p:cNvSpPr txBox="1">
            <a:spLocks noChangeArrowheads="1"/>
          </p:cNvSpPr>
          <p:nvPr/>
        </p:nvSpPr>
        <p:spPr bwMode="auto">
          <a:xfrm>
            <a:off x="1405565" y="1244047"/>
            <a:ext cx="6335713" cy="530225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 )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29140" name="Rectangle 20"/>
          <p:cNvSpPr>
            <a:spLocks noChangeArrowheads="1"/>
          </p:cNvSpPr>
          <p:nvPr/>
        </p:nvSpPr>
        <p:spPr bwMode="auto">
          <a:xfrm>
            <a:off x="686428" y="1884790"/>
            <a:ext cx="109541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注意：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不能将这种函数调用赋值给任何变量，因为它没有返回值。调用时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（ ）中间不能有</a:t>
            </a:r>
            <a:r>
              <a:rPr lang="en-US" altLang="zh-CN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void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1029141" name="Rectangle 21"/>
          <p:cNvSpPr>
            <a:spLocks noChangeArrowheads="1"/>
          </p:cNvSpPr>
          <p:nvPr/>
        </p:nvSpPr>
        <p:spPr bwMode="auto">
          <a:xfrm>
            <a:off x="1002340" y="2708275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实例 </a:t>
            </a:r>
          </a:p>
        </p:txBody>
      </p:sp>
      <p:sp>
        <p:nvSpPr>
          <p:cNvPr id="1029142" name="Rectangle 22" descr="信纸"/>
          <p:cNvSpPr>
            <a:spLocks noChangeArrowheads="1"/>
          </p:cNvSpPr>
          <p:nvPr/>
        </p:nvSpPr>
        <p:spPr bwMode="auto">
          <a:xfrm>
            <a:off x="1765903" y="95916"/>
            <a:ext cx="6486525" cy="6555641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math.h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</a:t>
            </a:r>
            <a:r>
              <a:rPr lang="en-US" altLang="zh-CN" sz="2000" b="1" dirty="0" err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showerror</a:t>
            </a:r>
            <a:r>
              <a:rPr lang="en-US" altLang="zh-CN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 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声明</a:t>
            </a:r>
            <a:r>
              <a:rPr lang="en-US" altLang="zh-CN" sz="18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showerror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函数的原型</a:t>
            </a:r>
          </a:p>
          <a:p>
            <a:pPr>
              <a:tabLst>
                <a:tab pos="800100" algn="l"/>
              </a:tabLst>
            </a:pPr>
            <a:endParaRPr lang="zh-CN" altLang="en-US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 )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a;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("%d", &amp;a);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while (a &lt; 0)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{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showerror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 );                  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("%d", &amp;a);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}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sqrt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(a) = %.2f\n",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sqrt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(a));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return 0;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>
              <a:tabLst>
                <a:tab pos="8001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</a:t>
            </a:r>
            <a:r>
              <a:rPr lang="en-US" altLang="zh-CN" sz="2000" b="1" dirty="0" err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showerror</a:t>
            </a:r>
            <a:r>
              <a:rPr lang="en-US" altLang="zh-CN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 )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函数的定义，无参数无返回值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("input error!\n");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函数体，没有声明变量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029148" name="Group 28"/>
          <p:cNvGrpSpPr>
            <a:grpSpLocks/>
          </p:cNvGrpSpPr>
          <p:nvPr/>
        </p:nvGrpSpPr>
        <p:grpSpPr bwMode="auto">
          <a:xfrm>
            <a:off x="3779744" y="3297342"/>
            <a:ext cx="4024312" cy="2304033"/>
            <a:chOff x="2449" y="2251"/>
            <a:chExt cx="2535" cy="1451"/>
          </a:xfrm>
        </p:grpSpPr>
        <p:sp>
          <p:nvSpPr>
            <p:cNvPr id="1029143" name="AutoShape 23"/>
            <p:cNvSpPr>
              <a:spLocks noChangeArrowheads="1"/>
            </p:cNvSpPr>
            <p:nvPr/>
          </p:nvSpPr>
          <p:spPr bwMode="auto">
            <a:xfrm>
              <a:off x="2449" y="2251"/>
              <a:ext cx="1478" cy="1451"/>
            </a:xfrm>
            <a:prstGeom prst="curvedLeftArrow">
              <a:avLst>
                <a:gd name="adj1" fmla="val 4319"/>
                <a:gd name="adj2" fmla="val 17727"/>
                <a:gd name="adj3" fmla="val 21785"/>
              </a:avLst>
            </a:prstGeom>
            <a:gradFill flip="none" rotWithShape="1">
              <a:gsLst>
                <a:gs pos="0">
                  <a:srgbClr val="00FFFF">
                    <a:alpha val="39000"/>
                  </a:srgbClr>
                </a:gs>
                <a:gs pos="100000">
                  <a:srgbClr val="00FFFF">
                    <a:gamma/>
                    <a:shade val="72549"/>
                    <a:invGamma/>
                  </a:srgbClr>
                </a:gs>
              </a:gsLst>
              <a:lin ang="18900000" scaled="1"/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147" name="Rectangle 27"/>
            <p:cNvSpPr>
              <a:spLocks noChangeArrowheads="1"/>
            </p:cNvSpPr>
            <p:nvPr/>
          </p:nvSpPr>
          <p:spPr bwMode="auto">
            <a:xfrm>
              <a:off x="3931" y="2697"/>
              <a:ext cx="1053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1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调用</a:t>
              </a:r>
              <a:r>
                <a:rPr lang="en-US" altLang="zh-CN" sz="1800" b="1" dirty="0" err="1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showerror</a:t>
              </a:r>
              <a:endParaRPr lang="en-US" altLang="zh-CN" sz="1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endParaRPr>
            </a:p>
            <a:p>
              <a:r>
                <a:rPr lang="zh-CN" altLang="en-US" sz="1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函数</a:t>
              </a:r>
              <a:r>
                <a:rPr lang="zh-CN" altLang="en-US" sz="1800" dirty="0">
                  <a:latin typeface="+mn-lt"/>
                  <a:ea typeface="楷体" pitchFamily="49" charset="-122"/>
                </a:rPr>
                <a:t> </a:t>
              </a:r>
            </a:p>
          </p:txBody>
        </p:sp>
      </p:grpSp>
      <p:grpSp>
        <p:nvGrpSpPr>
          <p:cNvPr id="1029150" name="Group 30"/>
          <p:cNvGrpSpPr>
            <a:grpSpLocks/>
          </p:cNvGrpSpPr>
          <p:nvPr/>
        </p:nvGrpSpPr>
        <p:grpSpPr bwMode="auto">
          <a:xfrm rot="259217">
            <a:off x="745152" y="3364495"/>
            <a:ext cx="1294545" cy="3065808"/>
            <a:chOff x="576" y="2359"/>
            <a:chExt cx="764" cy="1730"/>
          </a:xfrm>
        </p:grpSpPr>
        <p:sp>
          <p:nvSpPr>
            <p:cNvPr id="1029145" name="AutoShape 25"/>
            <p:cNvSpPr>
              <a:spLocks noChangeArrowheads="1"/>
            </p:cNvSpPr>
            <p:nvPr/>
          </p:nvSpPr>
          <p:spPr bwMode="auto">
            <a:xfrm rot="11052429">
              <a:off x="595" y="2359"/>
              <a:ext cx="745" cy="1730"/>
            </a:xfrm>
            <a:prstGeom prst="curvedLeftArrow">
              <a:avLst>
                <a:gd name="adj1" fmla="val 13095"/>
                <a:gd name="adj2" fmla="val 36475"/>
                <a:gd name="adj3" fmla="val 45462"/>
              </a:avLst>
            </a:prstGeom>
            <a:gradFill flip="none" rotWithShape="1">
              <a:gsLst>
                <a:gs pos="0">
                  <a:srgbClr val="00FFFF">
                    <a:alpha val="39000"/>
                  </a:srgbClr>
                </a:gs>
                <a:gs pos="100000">
                  <a:srgbClr val="00FFFF">
                    <a:gamma/>
                    <a:shade val="84706"/>
                    <a:invGamma/>
                  </a:srgbClr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149" name="Text Box 29"/>
            <p:cNvSpPr txBox="1">
              <a:spLocks noChangeArrowheads="1"/>
            </p:cNvSpPr>
            <p:nvPr/>
          </p:nvSpPr>
          <p:spPr bwMode="auto">
            <a:xfrm rot="21340783">
              <a:off x="576" y="3123"/>
              <a:ext cx="453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返回</a:t>
              </a:r>
            </a:p>
          </p:txBody>
        </p:sp>
      </p:grpSp>
      <p:sp>
        <p:nvSpPr>
          <p:cNvPr id="1029152" name="Rectangle 32"/>
          <p:cNvSpPr>
            <a:spLocks noChangeArrowheads="1"/>
          </p:cNvSpPr>
          <p:nvPr/>
        </p:nvSpPr>
        <p:spPr bwMode="auto">
          <a:xfrm>
            <a:off x="8505254" y="4813995"/>
            <a:ext cx="3456384" cy="1815882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87843"/>
                  <a:invGamma/>
                </a:srgbClr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       </a:t>
            </a:r>
            <a:r>
              <a:rPr lang="zh-CN" altLang="en-US" sz="280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注意：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对函数调用之前，必须要先声明或先定义，否则编译错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!</a:t>
            </a:r>
          </a:p>
        </p:txBody>
      </p:sp>
      <p:grpSp>
        <p:nvGrpSpPr>
          <p:cNvPr id="1029153" name="Group 33"/>
          <p:cNvGrpSpPr>
            <a:grpSpLocks/>
          </p:cNvGrpSpPr>
          <p:nvPr/>
        </p:nvGrpSpPr>
        <p:grpSpPr bwMode="auto">
          <a:xfrm>
            <a:off x="2214" y="0"/>
            <a:ext cx="446088" cy="6858000"/>
            <a:chOff x="0" y="0"/>
            <a:chExt cx="281" cy="4320"/>
          </a:xfrm>
        </p:grpSpPr>
        <p:sp>
          <p:nvSpPr>
            <p:cNvPr id="1029154" name="Text Box 3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29155" name="Text Box 3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9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29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29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29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291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29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29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29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029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29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29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29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29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029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029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29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0291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0291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0291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102914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102914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02914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102914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3" dur="500"/>
                                        <p:tgtEl>
                                          <p:spTgt spid="1029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1029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1029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35" grpId="0"/>
      <p:bldP spid="1029138" grpId="0" animBg="1"/>
      <p:bldP spid="1029140" grpId="0"/>
      <p:bldP spid="1029141" grpId="0"/>
      <p:bldP spid="1029142" grpId="0" build="allAtOnce" animBg="1"/>
      <p:bldP spid="10291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4" name="Rectangle 6"/>
          <p:cNvSpPr>
            <a:spLocks noChangeArrowheads="1"/>
          </p:cNvSpPr>
          <p:nvPr/>
        </p:nvSpPr>
        <p:spPr bwMode="auto">
          <a:xfrm>
            <a:off x="679412" y="60325"/>
            <a:ext cx="410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编写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程序的一般格式 </a:t>
            </a:r>
          </a:p>
        </p:txBody>
      </p:sp>
      <p:sp>
        <p:nvSpPr>
          <p:cNvPr id="1031186" name="Text Box 18"/>
          <p:cNvSpPr txBox="1">
            <a:spLocks noChangeArrowheads="1"/>
          </p:cNvSpPr>
          <p:nvPr/>
        </p:nvSpPr>
        <p:spPr bwMode="auto">
          <a:xfrm>
            <a:off x="1038807" y="560712"/>
            <a:ext cx="10745825" cy="2376488"/>
          </a:xfrm>
          <a:prstGeom prst="rect">
            <a:avLst/>
          </a:prstGeom>
          <a:gradFill rotWithShape="1">
            <a:gsLst>
              <a:gs pos="0">
                <a:srgbClr val="66FFFF"/>
              </a:gs>
              <a:gs pos="100000">
                <a:srgbClr val="66FFFF">
                  <a:gamma/>
                  <a:shade val="84706"/>
                  <a:invGamma/>
                </a:srgbClr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文件包括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（如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include &lt;stdio.h&gt;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等，用于标准库库函数原型声明）</a:t>
            </a:r>
          </a:p>
          <a:p>
            <a:pPr algn="just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常量定义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（根据需要而定，如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#define PI 3.1415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等）</a:t>
            </a:r>
          </a:p>
          <a:p>
            <a:pPr algn="just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变量定义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（根据需要而定）</a:t>
            </a:r>
          </a:p>
          <a:p>
            <a:pPr algn="just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用户自定义函数原型声明</a:t>
            </a:r>
          </a:p>
          <a:p>
            <a:pPr algn="just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main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  <a:p>
            <a:pPr algn="just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用户自定义函数</a:t>
            </a:r>
          </a:p>
        </p:txBody>
      </p:sp>
      <p:sp>
        <p:nvSpPr>
          <p:cNvPr id="1031187" name="Rectangle 19"/>
          <p:cNvSpPr>
            <a:spLocks noChangeArrowheads="1"/>
          </p:cNvSpPr>
          <p:nvPr/>
        </p:nvSpPr>
        <p:spPr bwMode="auto">
          <a:xfrm>
            <a:off x="722274" y="3000375"/>
            <a:ext cx="410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函数的返回 </a:t>
            </a:r>
          </a:p>
        </p:txBody>
      </p:sp>
      <p:sp>
        <p:nvSpPr>
          <p:cNvPr id="1031188" name="Rectangle 20"/>
          <p:cNvSpPr>
            <a:spLocks noChangeArrowheads="1"/>
          </p:cNvSpPr>
          <p:nvPr/>
        </p:nvSpPr>
        <p:spPr bwMode="auto">
          <a:xfrm>
            <a:off x="1123911" y="3416300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3399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形式 </a:t>
            </a:r>
          </a:p>
        </p:txBody>
      </p:sp>
      <p:sp>
        <p:nvSpPr>
          <p:cNvPr id="1031189" name="Text Box 21"/>
          <p:cNvSpPr txBox="1">
            <a:spLocks noChangeArrowheads="1"/>
          </p:cNvSpPr>
          <p:nvPr/>
        </p:nvSpPr>
        <p:spPr bwMode="auto">
          <a:xfrm>
            <a:off x="2622512" y="3516313"/>
            <a:ext cx="5976937" cy="1225550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>
              <a:buFont typeface="宋体" pitchFamily="2" charset="-12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en-US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①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return 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);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有返回值</a:t>
            </a:r>
          </a:p>
          <a:p>
            <a:pPr>
              <a:buFont typeface="宋体" pitchFamily="2" charset="-12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en-US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②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;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有返回值</a:t>
            </a:r>
          </a:p>
          <a:p>
            <a:pPr>
              <a:buFont typeface="宋体" pitchFamily="2" charset="-12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en-US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③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return;              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无返回值</a:t>
            </a:r>
          </a:p>
        </p:txBody>
      </p:sp>
      <p:sp>
        <p:nvSpPr>
          <p:cNvPr id="1031190" name="Rectangle 22"/>
          <p:cNvSpPr>
            <a:spLocks noChangeArrowheads="1"/>
          </p:cNvSpPr>
          <p:nvPr/>
        </p:nvSpPr>
        <p:spPr bwMode="auto">
          <a:xfrm>
            <a:off x="822783" y="4930776"/>
            <a:ext cx="1096184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使程序控制从被调用函数返回到调用函数中，如果有返回值，同时把返值带给调用函数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zh-CN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31191" name="Rectangle 23"/>
          <p:cNvSpPr>
            <a:spLocks noChangeArrowheads="1"/>
          </p:cNvSpPr>
          <p:nvPr/>
        </p:nvSpPr>
        <p:spPr bwMode="auto">
          <a:xfrm>
            <a:off x="1127086" y="4570413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l"/>
            </a:pPr>
            <a:r>
              <a:rPr lang="en-US" altLang="zh-CN" b="1">
                <a:solidFill>
                  <a:srgbClr val="3399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功能 </a:t>
            </a:r>
          </a:p>
        </p:txBody>
      </p:sp>
      <p:sp>
        <p:nvSpPr>
          <p:cNvPr id="1031192" name="Rectangle 24"/>
          <p:cNvSpPr>
            <a:spLocks noChangeArrowheads="1"/>
          </p:cNvSpPr>
          <p:nvPr/>
        </p:nvSpPr>
        <p:spPr bwMode="auto">
          <a:xfrm>
            <a:off x="1157248" y="5629275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l"/>
            </a:pPr>
            <a:r>
              <a:rPr lang="en-US" altLang="zh-CN" b="1">
                <a:solidFill>
                  <a:srgbClr val="3399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 </a:t>
            </a:r>
          </a:p>
        </p:txBody>
      </p:sp>
      <p:sp>
        <p:nvSpPr>
          <p:cNvPr id="1031193" name="Rectangle 25"/>
          <p:cNvSpPr>
            <a:spLocks noChangeArrowheads="1"/>
          </p:cNvSpPr>
          <p:nvPr/>
        </p:nvSpPr>
        <p:spPr bwMode="auto">
          <a:xfrm>
            <a:off x="787808" y="5974190"/>
            <a:ext cx="1099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函数中可以有多个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语句。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在无返回值的函数中，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语句的形式只能是第③种形式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1194" name="Rectangle 26" descr="信纸"/>
          <p:cNvSpPr>
            <a:spLocks noChangeArrowheads="1"/>
          </p:cNvSpPr>
          <p:nvPr/>
        </p:nvSpPr>
        <p:spPr bwMode="auto">
          <a:xfrm>
            <a:off x="3071664" y="2815928"/>
            <a:ext cx="6486525" cy="3781425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>
              <a:tabLst>
                <a:tab pos="800100" algn="l"/>
              </a:tabLst>
            </a:pP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例如：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showyes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 )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char key;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key =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getch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 );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if 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toupper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(key) != 'Y')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return;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("YES! ");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31195" name="Rectangle 27"/>
          <p:cNvSpPr>
            <a:spLocks noChangeArrowheads="1"/>
          </p:cNvSpPr>
          <p:nvPr/>
        </p:nvSpPr>
        <p:spPr bwMode="auto">
          <a:xfrm>
            <a:off x="5879952" y="3176290"/>
            <a:ext cx="3457575" cy="1349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函数</a:t>
            </a:r>
            <a:r>
              <a:rPr lang="en-US" altLang="zh-CN" sz="2000" b="1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showyes</a:t>
            </a:r>
            <a:r>
              <a:rPr lang="zh-CN" altLang="en-US" sz="2000" b="1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的功能是：</a:t>
            </a:r>
            <a:r>
              <a:rPr lang="zh-CN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   </a:t>
            </a:r>
          </a:p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如果输入的字符不是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'Y'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或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'y'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，则什么都不输出，直接返回，否则，输出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"YES! " </a:t>
            </a:r>
          </a:p>
        </p:txBody>
      </p:sp>
      <p:sp>
        <p:nvSpPr>
          <p:cNvPr id="1031196" name="AutoShape 28"/>
          <p:cNvSpPr>
            <a:spLocks noChangeArrowheads="1"/>
          </p:cNvSpPr>
          <p:nvPr/>
        </p:nvSpPr>
        <p:spPr bwMode="auto">
          <a:xfrm>
            <a:off x="6022827" y="5695652"/>
            <a:ext cx="3240087" cy="792162"/>
          </a:xfrm>
          <a:prstGeom prst="wedgeRoundRectCallout">
            <a:avLst>
              <a:gd name="adj1" fmla="val -98995"/>
              <a:gd name="adj2" fmla="val -85671"/>
              <a:gd name="adj3" fmla="val 16667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标准库函数，其功能是将小写字符转换成大写字符</a:t>
            </a:r>
            <a:r>
              <a:rPr lang="zh-CN" altLang="en-US" sz="2000" b="1">
                <a:solidFill>
                  <a:srgbClr val="FF33CC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grpSp>
        <p:nvGrpSpPr>
          <p:cNvPr id="1031197" name="Group 29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31198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31199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31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31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31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31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31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31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3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31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031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31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031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031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74" grpId="0"/>
      <p:bldP spid="1031186" grpId="0" animBg="1"/>
      <p:bldP spid="1031187" grpId="0"/>
      <p:bldP spid="1031188" grpId="0"/>
      <p:bldP spid="1031189" grpId="0" animBg="1"/>
      <p:bldP spid="1031190" grpId="0"/>
      <p:bldP spid="1031191" grpId="0"/>
      <p:bldP spid="1031192" grpId="0"/>
      <p:bldP spid="1031193" grpId="0"/>
      <p:bldP spid="1031194" grpId="0" animBg="1"/>
      <p:bldP spid="1031195" grpId="0" animBg="1"/>
      <p:bldP spid="103119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219" name="Rectangle 3"/>
          <p:cNvSpPr>
            <a:spLocks noChangeArrowheads="1"/>
          </p:cNvSpPr>
          <p:nvPr/>
        </p:nvSpPr>
        <p:spPr bwMode="auto">
          <a:xfrm>
            <a:off x="606386" y="188913"/>
            <a:ext cx="4189412" cy="4572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、无参数有返回值的函数</a:t>
            </a:r>
          </a:p>
        </p:txBody>
      </p:sp>
      <p:sp>
        <p:nvSpPr>
          <p:cNvPr id="1033223" name="Rectangle 7"/>
          <p:cNvSpPr>
            <a:spLocks noChangeArrowheads="1"/>
          </p:cNvSpPr>
          <p:nvPr/>
        </p:nvSpPr>
        <p:spPr bwMode="auto">
          <a:xfrm>
            <a:off x="1038187" y="62071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定义格式 </a:t>
            </a:r>
          </a:p>
        </p:txBody>
      </p:sp>
      <p:sp>
        <p:nvSpPr>
          <p:cNvPr id="1033224" name="Text Box 8"/>
          <p:cNvSpPr txBox="1">
            <a:spLocks noChangeArrowheads="1"/>
          </p:cNvSpPr>
          <p:nvPr/>
        </p:nvSpPr>
        <p:spPr bwMode="auto">
          <a:xfrm>
            <a:off x="2982874" y="1209675"/>
            <a:ext cx="5243513" cy="1944688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返回值类型符  函数名 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(void)</a:t>
            </a:r>
          </a:p>
          <a:p>
            <a:pPr algn="just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{</a:t>
            </a:r>
          </a:p>
          <a:p>
            <a:pPr algn="just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变量声明部分</a:t>
            </a:r>
          </a:p>
          <a:p>
            <a:pPr algn="just"/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执行部分</a:t>
            </a:r>
          </a:p>
          <a:p>
            <a:pPr algn="just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}</a:t>
            </a:r>
          </a:p>
        </p:txBody>
      </p:sp>
      <p:grpSp>
        <p:nvGrpSpPr>
          <p:cNvPr id="1033225" name="Group 9"/>
          <p:cNvGrpSpPr>
            <a:grpSpLocks/>
          </p:cNvGrpSpPr>
          <p:nvPr/>
        </p:nvGrpSpPr>
        <p:grpSpPr bwMode="auto">
          <a:xfrm>
            <a:off x="5524462" y="2108201"/>
            <a:ext cx="1152525" cy="569913"/>
            <a:chOff x="3195" y="1661"/>
            <a:chExt cx="726" cy="359"/>
          </a:xfrm>
        </p:grpSpPr>
        <p:sp>
          <p:nvSpPr>
            <p:cNvPr id="1033226" name="AutoShape 10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27" name="Text Box 11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FF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33228" name="AutoShape 12"/>
          <p:cNvSpPr>
            <a:spLocks noChangeArrowheads="1"/>
          </p:cNvSpPr>
          <p:nvPr/>
        </p:nvSpPr>
        <p:spPr bwMode="auto">
          <a:xfrm>
            <a:off x="534948" y="1773239"/>
            <a:ext cx="2286000" cy="863674"/>
          </a:xfrm>
          <a:prstGeom prst="wedgeRoundRectCallout">
            <a:avLst>
              <a:gd name="adj1" fmla="val 66042"/>
              <a:gd name="adj2" fmla="val -63333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可以为除数组类型外的任何类型</a:t>
            </a:r>
            <a:endParaRPr lang="zh-CN" altLang="en-US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033229" name="AutoShape 13"/>
          <p:cNvSpPr>
            <a:spLocks noChangeArrowheads="1"/>
          </p:cNvSpPr>
          <p:nvPr/>
        </p:nvSpPr>
        <p:spPr bwMode="auto">
          <a:xfrm>
            <a:off x="7015123" y="2217738"/>
            <a:ext cx="1944688" cy="792162"/>
          </a:xfrm>
          <a:prstGeom prst="wedgeRoundRectCallout">
            <a:avLst>
              <a:gd name="adj1" fmla="val -76042"/>
              <a:gd name="adj2" fmla="val -127153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表明无参数，可缺省！</a:t>
            </a:r>
          </a:p>
        </p:txBody>
      </p:sp>
      <p:sp>
        <p:nvSpPr>
          <p:cNvPr id="1033230" name="AutoShape 14"/>
          <p:cNvSpPr>
            <a:spLocks noChangeArrowheads="1"/>
          </p:cNvSpPr>
          <p:nvPr/>
        </p:nvSpPr>
        <p:spPr bwMode="auto">
          <a:xfrm>
            <a:off x="6511887" y="288926"/>
            <a:ext cx="1944687" cy="792163"/>
          </a:xfrm>
          <a:prstGeom prst="wedgeRoundRectCallout">
            <a:avLst>
              <a:gd name="adj1" fmla="val -102898"/>
              <a:gd name="adj2" fmla="val 75852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必须为合法的标识符</a:t>
            </a:r>
          </a:p>
        </p:txBody>
      </p:sp>
      <p:sp>
        <p:nvSpPr>
          <p:cNvPr id="1033231" name="Rectangle 15"/>
          <p:cNvSpPr>
            <a:spLocks noChangeArrowheads="1"/>
          </p:cNvSpPr>
          <p:nvPr/>
        </p:nvSpPr>
        <p:spPr bwMode="auto">
          <a:xfrm>
            <a:off x="1266787" y="3317875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函数用途 </a:t>
            </a:r>
          </a:p>
        </p:txBody>
      </p:sp>
      <p:sp>
        <p:nvSpPr>
          <p:cNvPr id="1033232" name="Rectangle 16"/>
          <p:cNvSpPr>
            <a:spLocks noChangeArrowheads="1"/>
          </p:cNvSpPr>
          <p:nvPr/>
        </p:nvSpPr>
        <p:spPr bwMode="auto">
          <a:xfrm>
            <a:off x="822286" y="3901431"/>
            <a:ext cx="108183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此类函数用于完成某项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固定的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处理任务，执行完成后向调用者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返回函数值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033233" name="Rectangle 17"/>
          <p:cNvSpPr>
            <a:spLocks noChangeArrowheads="1"/>
          </p:cNvSpPr>
          <p:nvPr/>
        </p:nvSpPr>
        <p:spPr bwMode="auto">
          <a:xfrm>
            <a:off x="1254086" y="4437112"/>
            <a:ext cx="3154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函数的原型声明 </a:t>
            </a:r>
          </a:p>
        </p:txBody>
      </p:sp>
      <p:sp>
        <p:nvSpPr>
          <p:cNvPr id="1033234" name="Text Box 18"/>
          <p:cNvSpPr txBox="1">
            <a:spLocks noChangeArrowheads="1"/>
          </p:cNvSpPr>
          <p:nvPr/>
        </p:nvSpPr>
        <p:spPr bwMode="auto">
          <a:xfrm>
            <a:off x="1327111" y="4978450"/>
            <a:ext cx="5560977" cy="1289050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返回值类型符  函数名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void 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   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algn="ctr"/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或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algn="ctr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返回值类型符  函数名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   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grpSp>
        <p:nvGrpSpPr>
          <p:cNvPr id="1033236" name="Group 20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33237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33238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8" name="矩形 17"/>
          <p:cNvSpPr/>
          <p:nvPr/>
        </p:nvSpPr>
        <p:spPr>
          <a:xfrm>
            <a:off x="7248128" y="4581128"/>
            <a:ext cx="4660442" cy="19389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3399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   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注意：</a:t>
            </a:r>
            <a:r>
              <a:rPr lang="zh-CN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函数返回值类型符在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VC6.0</a:t>
            </a:r>
            <a:r>
              <a:rPr lang="zh-CN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下可以缺省，其默认为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int</a:t>
            </a:r>
            <a:r>
              <a:rPr lang="zh-CN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型，但在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VC2010</a:t>
            </a:r>
            <a:r>
              <a:rPr lang="zh-CN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、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CB17.12</a:t>
            </a:r>
            <a:r>
              <a:rPr lang="zh-CN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隶书" pitchFamily="49" charset="-122"/>
              </a:rPr>
              <a:t>下不可缺省，必须指定返回值类型，否则编译错。</a:t>
            </a:r>
            <a:endParaRPr lang="zh-CN" altLang="en-US" b="1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隶书" pitchFamily="49" charset="-122"/>
            </a:endParaRP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3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3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33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3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033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33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33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33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33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33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33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332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219" grpId="0"/>
      <p:bldP spid="1033223" grpId="0"/>
      <p:bldP spid="1033224" grpId="0" animBg="1"/>
      <p:bldP spid="1033228" grpId="0" animBg="1"/>
      <p:bldP spid="1033229" grpId="0" animBg="1"/>
      <p:bldP spid="1033230" grpId="0" animBg="1"/>
      <p:bldP spid="1033231" grpId="0"/>
      <p:bldP spid="1033232" grpId="0"/>
      <p:bldP spid="1033233" grpId="0"/>
      <p:bldP spid="1033234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66" name="Rectangle 2"/>
          <p:cNvSpPr>
            <a:spLocks noChangeArrowheads="1"/>
          </p:cNvSpPr>
          <p:nvPr/>
        </p:nvSpPr>
        <p:spPr bwMode="auto">
          <a:xfrm>
            <a:off x="606386" y="188913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、无参数有返回值的函数</a:t>
            </a:r>
          </a:p>
        </p:txBody>
      </p:sp>
      <p:sp>
        <p:nvSpPr>
          <p:cNvPr id="1035270" name="Rectangle 6"/>
          <p:cNvSpPr>
            <a:spLocks noChangeArrowheads="1"/>
          </p:cNvSpPr>
          <p:nvPr/>
        </p:nvSpPr>
        <p:spPr bwMode="auto">
          <a:xfrm>
            <a:off x="1038187" y="62071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函数的调用 </a:t>
            </a:r>
          </a:p>
        </p:txBody>
      </p:sp>
      <p:sp>
        <p:nvSpPr>
          <p:cNvPr id="1035281" name="Text Box 17"/>
          <p:cNvSpPr txBox="1">
            <a:spLocks noChangeArrowheads="1"/>
          </p:cNvSpPr>
          <p:nvPr/>
        </p:nvSpPr>
        <p:spPr bwMode="auto">
          <a:xfrm>
            <a:off x="2207021" y="1065905"/>
            <a:ext cx="7345363" cy="503237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void )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 </a:t>
            </a:r>
            <a:r>
              <a:rPr lang="zh-CN" altLang="en-US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或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变量 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=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   )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35282" name="Rectangle 18"/>
          <p:cNvSpPr>
            <a:spLocks noChangeArrowheads="1"/>
          </p:cNvSpPr>
          <p:nvPr/>
        </p:nvSpPr>
        <p:spPr bwMode="auto">
          <a:xfrm>
            <a:off x="1095337" y="1616075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实例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035283" name="Rectangle 19" descr="信纸"/>
          <p:cNvSpPr>
            <a:spLocks noChangeArrowheads="1"/>
          </p:cNvSpPr>
          <p:nvPr/>
        </p:nvSpPr>
        <p:spPr bwMode="auto">
          <a:xfrm>
            <a:off x="2207568" y="1720686"/>
            <a:ext cx="4464050" cy="5016758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conio.h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ctype.h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>
              <a:tabLst>
                <a:tab pos="8001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sum ( );     </a:t>
            </a:r>
          </a:p>
          <a:p>
            <a:pPr marL="457200" indent="-457200">
              <a:tabLst>
                <a:tab pos="800100" algn="l"/>
              </a:tabLst>
            </a:pP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tot;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tot = sum ( );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if (tot == -1)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("\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nnot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select!\n");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else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("\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nthe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result is : %d\n", tot);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35284" name="Rectangle 20" descr="信纸"/>
          <p:cNvSpPr>
            <a:spLocks noChangeArrowheads="1"/>
          </p:cNvSpPr>
          <p:nvPr/>
        </p:nvSpPr>
        <p:spPr bwMode="auto">
          <a:xfrm>
            <a:off x="6888335" y="1710747"/>
            <a:ext cx="5040313" cy="3787775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 sum ( )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int i, tot = 0;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char key;</a:t>
            </a:r>
          </a:p>
          <a:p>
            <a:pPr marL="457200" indent="-457200">
              <a:tabLst>
                <a:tab pos="800100" algn="l"/>
              </a:tabLst>
            </a:pPr>
            <a:endParaRPr lang="en-US" altLang="zh-CN" sz="2000" b="1">
              <a:solidFill>
                <a:srgbClr val="0099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key = getche ( 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if (key != '0' &amp;&amp; key != '1')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</a:t>
            </a:r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return (-1);</a:t>
            </a: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for (i = (key == '0') ? 2 : 1; i &lt;= 100; i += 2)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tot += i;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return ( tot 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0099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35285" name="Rectangle 21"/>
          <p:cNvSpPr>
            <a:spLocks noChangeArrowheads="1"/>
          </p:cNvSpPr>
          <p:nvPr/>
        </p:nvSpPr>
        <p:spPr bwMode="auto">
          <a:xfrm>
            <a:off x="2266305" y="2981244"/>
            <a:ext cx="1366838" cy="43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86" name="AutoShape 22"/>
          <p:cNvSpPr>
            <a:spLocks/>
          </p:cNvSpPr>
          <p:nvPr/>
        </p:nvSpPr>
        <p:spPr bwMode="auto">
          <a:xfrm>
            <a:off x="3924324" y="2717400"/>
            <a:ext cx="1368425" cy="647700"/>
          </a:xfrm>
          <a:prstGeom prst="borderCallout2">
            <a:avLst>
              <a:gd name="adj1" fmla="val 17648"/>
              <a:gd name="adj2" fmla="val -5569"/>
              <a:gd name="adj3" fmla="val 17648"/>
              <a:gd name="adj4" fmla="val -12991"/>
              <a:gd name="adj5" fmla="val 44606"/>
              <a:gd name="adj6" fmla="val -20648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声明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sum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函数的原型</a:t>
            </a:r>
            <a:r>
              <a:rPr lang="zh-CN" altLang="en-US" sz="1800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5287" name="Rectangle 23"/>
          <p:cNvSpPr>
            <a:spLocks noChangeArrowheads="1"/>
          </p:cNvSpPr>
          <p:nvPr/>
        </p:nvSpPr>
        <p:spPr bwMode="auto">
          <a:xfrm>
            <a:off x="2935060" y="4503016"/>
            <a:ext cx="936625" cy="3603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88" name="AutoShape 24"/>
          <p:cNvSpPr>
            <a:spLocks/>
          </p:cNvSpPr>
          <p:nvPr/>
        </p:nvSpPr>
        <p:spPr bwMode="auto">
          <a:xfrm>
            <a:off x="3971698" y="3725140"/>
            <a:ext cx="1368425" cy="647700"/>
          </a:xfrm>
          <a:prstGeom prst="borderCallout2">
            <a:avLst>
              <a:gd name="adj1" fmla="val 17648"/>
              <a:gd name="adj2" fmla="val -5569"/>
              <a:gd name="adj3" fmla="val 17648"/>
              <a:gd name="adj4" fmla="val -25986"/>
              <a:gd name="adj5" fmla="val 117157"/>
              <a:gd name="adj6" fmla="val -4698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调用</a:t>
            </a:r>
            <a:r>
              <a:rPr lang="en-US" altLang="zh-CN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sum</a:t>
            </a:r>
          </a:p>
          <a:p>
            <a:pPr algn="ctr"/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1800">
              <a:latin typeface="+mn-lt"/>
              <a:ea typeface="楷体" pitchFamily="49" charset="-122"/>
            </a:endParaRPr>
          </a:p>
        </p:txBody>
      </p:sp>
      <p:sp>
        <p:nvSpPr>
          <p:cNvPr id="1035289" name="AutoShape 25"/>
          <p:cNvSpPr>
            <a:spLocks/>
          </p:cNvSpPr>
          <p:nvPr/>
        </p:nvSpPr>
        <p:spPr bwMode="auto">
          <a:xfrm>
            <a:off x="9696623" y="4598409"/>
            <a:ext cx="1944687" cy="792162"/>
          </a:xfrm>
          <a:prstGeom prst="borderCallout2">
            <a:avLst>
              <a:gd name="adj1" fmla="val 14431"/>
              <a:gd name="adj2" fmla="val -3917"/>
              <a:gd name="adj3" fmla="val 14431"/>
              <a:gd name="adj4" fmla="val -60162"/>
              <a:gd name="adj5" fmla="val -310019"/>
              <a:gd name="adj6" fmla="val -117880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函数的定义，无参数有返回值</a:t>
            </a:r>
            <a:r>
              <a:rPr lang="zh-CN" altLang="en-US">
                <a:solidFill>
                  <a:schemeClr val="accent2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5290" name="Oval 26"/>
          <p:cNvSpPr>
            <a:spLocks noChangeArrowheads="1"/>
          </p:cNvSpPr>
          <p:nvPr/>
        </p:nvSpPr>
        <p:spPr bwMode="auto">
          <a:xfrm>
            <a:off x="6888335" y="1761546"/>
            <a:ext cx="1368425" cy="3889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91" name="Rectangle 27"/>
          <p:cNvSpPr>
            <a:spLocks noChangeArrowheads="1"/>
          </p:cNvSpPr>
          <p:nvPr/>
        </p:nvSpPr>
        <p:spPr bwMode="auto">
          <a:xfrm>
            <a:off x="7104234" y="2439410"/>
            <a:ext cx="1441450" cy="5746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92" name="AutoShape 28"/>
          <p:cNvSpPr>
            <a:spLocks/>
          </p:cNvSpPr>
          <p:nvPr/>
        </p:nvSpPr>
        <p:spPr bwMode="auto">
          <a:xfrm>
            <a:off x="9696623" y="2079046"/>
            <a:ext cx="1584325" cy="431800"/>
          </a:xfrm>
          <a:prstGeom prst="borderCallout2">
            <a:avLst>
              <a:gd name="adj1" fmla="val 26472"/>
              <a:gd name="adj2" fmla="val -4810"/>
              <a:gd name="adj3" fmla="val 26472"/>
              <a:gd name="adj4" fmla="val -38074"/>
              <a:gd name="adj5" fmla="val 158824"/>
              <a:gd name="adj6" fmla="val -7234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变量声明部分</a:t>
            </a:r>
            <a:endParaRPr lang="zh-CN" altLang="en-US" sz="1800">
              <a:latin typeface="+mn-lt"/>
              <a:ea typeface="楷体" pitchFamily="49" charset="-122"/>
            </a:endParaRPr>
          </a:p>
        </p:txBody>
      </p:sp>
      <p:sp>
        <p:nvSpPr>
          <p:cNvPr id="1035293" name="Rectangle 29"/>
          <p:cNvSpPr>
            <a:spLocks noChangeArrowheads="1"/>
          </p:cNvSpPr>
          <p:nvPr/>
        </p:nvSpPr>
        <p:spPr bwMode="auto">
          <a:xfrm>
            <a:off x="6888335" y="5618042"/>
            <a:ext cx="5040313" cy="1138773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函数</a:t>
            </a:r>
            <a:r>
              <a:rPr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sum</a:t>
            </a:r>
            <a:r>
              <a:rPr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的功能是：</a:t>
            </a:r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   </a:t>
            </a:r>
          </a:p>
          <a:p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输入‘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0’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：计算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～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100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之间所有偶数之和</a:t>
            </a:r>
            <a:r>
              <a:rPr lang="zh-CN" altLang="en-US" sz="2000" dirty="0">
                <a:solidFill>
                  <a:schemeClr val="accent2"/>
                </a:solidFill>
                <a:latin typeface="+mn-lt"/>
                <a:ea typeface="隶书" pitchFamily="49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 </a:t>
            </a:r>
          </a:p>
          <a:p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输入‘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1’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：计算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～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100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之间所有奇数之和</a:t>
            </a:r>
          </a:p>
        </p:txBody>
      </p:sp>
      <p:grpSp>
        <p:nvGrpSpPr>
          <p:cNvPr id="1035294" name="Group 30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35295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35296" name="Text Box 3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35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35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35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35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352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35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1035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035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35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1035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10352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1035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1035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035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270" grpId="0"/>
      <p:bldP spid="1035281" grpId="0" animBg="1"/>
      <p:bldP spid="1035282" grpId="0"/>
      <p:bldP spid="1035283" grpId="0" animBg="1"/>
      <p:bldP spid="1035284" grpId="0" animBg="1"/>
      <p:bldP spid="1035285" grpId="0" animBg="1"/>
      <p:bldP spid="1035286" grpId="0" animBg="1"/>
      <p:bldP spid="1035287" grpId="0" animBg="1"/>
      <p:bldP spid="1035288" grpId="0" animBg="1"/>
      <p:bldP spid="1035289" grpId="0" animBg="1"/>
      <p:bldP spid="1035290" grpId="0" animBg="1"/>
      <p:bldP spid="1035291" grpId="0" animBg="1"/>
      <p:bldP spid="1035292" grpId="0" animBg="1"/>
      <p:bldP spid="103529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314" name="Rectangle 2"/>
          <p:cNvSpPr>
            <a:spLocks noChangeArrowheads="1"/>
          </p:cNvSpPr>
          <p:nvPr/>
        </p:nvSpPr>
        <p:spPr bwMode="auto">
          <a:xfrm>
            <a:off x="606386" y="188913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、无参数有返回值的函数</a:t>
            </a:r>
          </a:p>
        </p:txBody>
      </p:sp>
      <p:sp>
        <p:nvSpPr>
          <p:cNvPr id="1037332" name="Rectangle 20"/>
          <p:cNvSpPr>
            <a:spLocks noChangeArrowheads="1"/>
          </p:cNvSpPr>
          <p:nvPr/>
        </p:nvSpPr>
        <p:spPr bwMode="auto">
          <a:xfrm>
            <a:off x="1038187" y="62071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函数的返回 </a:t>
            </a:r>
          </a:p>
        </p:txBody>
      </p:sp>
      <p:sp>
        <p:nvSpPr>
          <p:cNvPr id="1037333" name="Rectangle 21"/>
          <p:cNvSpPr>
            <a:spLocks noChangeArrowheads="1"/>
          </p:cNvSpPr>
          <p:nvPr/>
        </p:nvSpPr>
        <p:spPr bwMode="auto">
          <a:xfrm>
            <a:off x="1609191" y="2798926"/>
            <a:ext cx="1008112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表达式的值即是函数的返回值；</a:t>
            </a:r>
          </a:p>
          <a:p>
            <a:pPr>
              <a:buClr>
                <a:srgbClr val="FF330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函数体中一般都包含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（表达式）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语句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如果没有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函数也会返回一个值。这个值是不可预知的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将会使程序可能犯有逻辑错； </a:t>
            </a:r>
          </a:p>
          <a:p>
            <a:pPr>
              <a:buClr>
                <a:srgbClr val="FF330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一般情况下，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表达式值的类型应与函数返回值类型一致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 </a:t>
            </a:r>
          </a:p>
          <a:p>
            <a:pPr>
              <a:buClr>
                <a:srgbClr val="FF330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当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（表达式）语句中的表达式的类型与函数的返回值类型不一致时，编译器将对表达式进行强制类型转换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将表达式的值强制转换成函数返回值类型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然后返回给调用者。 </a:t>
            </a:r>
          </a:p>
        </p:txBody>
      </p:sp>
      <p:sp>
        <p:nvSpPr>
          <p:cNvPr id="1037334" name="Rectangle 22"/>
          <p:cNvSpPr>
            <a:spLocks noChangeArrowheads="1"/>
          </p:cNvSpPr>
          <p:nvPr/>
        </p:nvSpPr>
        <p:spPr bwMode="auto">
          <a:xfrm>
            <a:off x="1398548" y="1052513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3399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格式 </a:t>
            </a:r>
          </a:p>
        </p:txBody>
      </p:sp>
      <p:sp>
        <p:nvSpPr>
          <p:cNvPr id="1037335" name="Text Box 23"/>
          <p:cNvSpPr txBox="1">
            <a:spLocks noChangeArrowheads="1"/>
          </p:cNvSpPr>
          <p:nvPr/>
        </p:nvSpPr>
        <p:spPr bwMode="auto">
          <a:xfrm>
            <a:off x="1830348" y="1629620"/>
            <a:ext cx="5976938" cy="503237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>
              <a:buFont typeface="宋体" pitchFamily="2" charset="-12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return 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);    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或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;     </a:t>
            </a:r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37336" name="Rectangle 24"/>
          <p:cNvSpPr>
            <a:spLocks noChangeArrowheads="1"/>
          </p:cNvSpPr>
          <p:nvPr/>
        </p:nvSpPr>
        <p:spPr bwMode="auto">
          <a:xfrm>
            <a:off x="1414423" y="2251720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3399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 </a:t>
            </a:r>
          </a:p>
        </p:txBody>
      </p:sp>
      <p:grpSp>
        <p:nvGrpSpPr>
          <p:cNvPr id="1037341" name="Group 29"/>
          <p:cNvGrpSpPr>
            <a:grpSpLocks/>
          </p:cNvGrpSpPr>
          <p:nvPr/>
        </p:nvGrpSpPr>
        <p:grpSpPr bwMode="auto">
          <a:xfrm>
            <a:off x="1830620" y="1446362"/>
            <a:ext cx="8531032" cy="5006975"/>
            <a:chOff x="-3924" y="2064"/>
            <a:chExt cx="3765" cy="3154"/>
          </a:xfrm>
        </p:grpSpPr>
        <p:sp>
          <p:nvSpPr>
            <p:cNvPr id="1037337" name="Rectangle 25" descr="信纸"/>
            <p:cNvSpPr>
              <a:spLocks noChangeArrowheads="1"/>
            </p:cNvSpPr>
            <p:nvPr/>
          </p:nvSpPr>
          <p:spPr bwMode="auto">
            <a:xfrm>
              <a:off x="-3924" y="2064"/>
              <a:ext cx="3765" cy="3154"/>
            </a:xfrm>
            <a:prstGeom prst="rect">
              <a:avLst/>
            </a:prstGeom>
            <a:blipFill dpi="0" rotWithShape="1">
              <a:blip r:embed="rId6" cstate="print"/>
              <a:srcRect/>
              <a:tile tx="0" ty="0" sx="100000" sy="100000" flip="none" algn="tl"/>
            </a:blipFill>
            <a:ln w="38100">
              <a:solidFill>
                <a:srgbClr val="008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#include &lt;</a:t>
              </a:r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stdio.h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&gt;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int sum ( );     </a:t>
              </a:r>
            </a:p>
            <a:p>
              <a:pPr marL="457200" indent="-457200">
                <a:tabLst>
                  <a:tab pos="800100" algn="l"/>
                </a:tabLst>
              </a:pPr>
              <a:endPara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void main ( )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{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int x;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x = sum ( ); 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</a:t>
              </a:r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printf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("x = %d\n", x);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}</a:t>
              </a:r>
            </a:p>
            <a:p>
              <a:pPr marL="457200" indent="-457200">
                <a:tabLst>
                  <a:tab pos="800100" algn="l"/>
                </a:tabLst>
              </a:pPr>
              <a:endPara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int sum ( )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{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int </a:t>
              </a:r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, tot = 0;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for (</a:t>
              </a:r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= 1; </a:t>
              </a:r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&lt;= 100; </a:t>
              </a:r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++)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    tot += </a:t>
              </a:r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; 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}</a:t>
              </a:r>
            </a:p>
          </p:txBody>
        </p:sp>
        <p:sp>
          <p:nvSpPr>
            <p:cNvPr id="1037338" name="AutoShape 26"/>
            <p:cNvSpPr>
              <a:spLocks noChangeArrowheads="1"/>
            </p:cNvSpPr>
            <p:nvPr/>
          </p:nvSpPr>
          <p:spPr bwMode="auto">
            <a:xfrm>
              <a:off x="-2835" y="2205"/>
              <a:ext cx="2585" cy="1497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因</a:t>
              </a:r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sum</a:t>
              </a: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函数无</a:t>
              </a:r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return</a:t>
              </a: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语句，</a:t>
              </a:r>
            </a:p>
            <a:p>
              <a:pPr algn="ctr"/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x</a:t>
              </a: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的值将是无法预知的！</a:t>
              </a:r>
            </a:p>
          </p:txBody>
        </p:sp>
        <p:sp>
          <p:nvSpPr>
            <p:cNvPr id="1037340" name="AutoShape 28"/>
            <p:cNvSpPr>
              <a:spLocks/>
            </p:cNvSpPr>
            <p:nvPr/>
          </p:nvSpPr>
          <p:spPr bwMode="auto">
            <a:xfrm>
              <a:off x="-1837" y="4382"/>
              <a:ext cx="1224" cy="408"/>
            </a:xfrm>
            <a:prstGeom prst="borderCallout2">
              <a:avLst>
                <a:gd name="adj1" fmla="val 17648"/>
                <a:gd name="adj2" fmla="val -3921"/>
                <a:gd name="adj3" fmla="val 17648"/>
                <a:gd name="adj4" fmla="val -75329"/>
                <a:gd name="adj5" fmla="val 153921"/>
                <a:gd name="adj6" fmla="val -148694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/>
            <a:lstStyle/>
            <a:p>
              <a:pPr algn="ctr"/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应加上</a:t>
              </a:r>
            </a:p>
            <a:p>
              <a:pPr algn="ctr"/>
              <a:r>
                <a:rPr lang="en-US" altLang="zh-CN" sz="18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return tot;</a:t>
              </a:r>
              <a:r>
                <a:rPr lang="en-US" altLang="zh-CN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 </a:t>
              </a:r>
              <a:r>
                <a:rPr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语句</a:t>
              </a:r>
              <a:endParaRPr lang="zh-CN" altLang="en-US" sz="1800" dirty="0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37343" name="Rectangle 31" descr="信纸"/>
          <p:cNvSpPr>
            <a:spLocks noChangeArrowheads="1"/>
          </p:cNvSpPr>
          <p:nvPr/>
        </p:nvSpPr>
        <p:spPr bwMode="auto">
          <a:xfrm>
            <a:off x="3359423" y="4797152"/>
            <a:ext cx="5976937" cy="1958975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 func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float f = 5;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f = f / 2;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return ( f 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37346" name="Rectangle 34"/>
          <p:cNvSpPr>
            <a:spLocks noChangeArrowheads="1"/>
          </p:cNvSpPr>
          <p:nvPr/>
        </p:nvSpPr>
        <p:spPr bwMode="auto">
          <a:xfrm>
            <a:off x="6096496" y="5779287"/>
            <a:ext cx="3025775" cy="40011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函数将返回</a:t>
            </a:r>
            <a:r>
              <a:rPr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2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，而不是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2.5</a:t>
            </a:r>
            <a:r>
              <a:rPr lang="en-US" altLang="zh-CN" sz="2000" b="1">
                <a:latin typeface="+mn-lt"/>
                <a:ea typeface="隶书" pitchFamily="49" charset="-122"/>
              </a:rPr>
              <a:t> </a:t>
            </a:r>
          </a:p>
        </p:txBody>
      </p:sp>
      <p:grpSp>
        <p:nvGrpSpPr>
          <p:cNvPr id="1037348" name="Group 36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37349" name="Text Box 3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37350" name="Text Box 3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37347" name="Rectangle 35"/>
          <p:cNvSpPr>
            <a:spLocks noChangeArrowheads="1"/>
          </p:cNvSpPr>
          <p:nvPr/>
        </p:nvSpPr>
        <p:spPr bwMode="auto">
          <a:xfrm>
            <a:off x="1467610" y="3482679"/>
            <a:ext cx="9361040" cy="98425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87843"/>
                  <a:invGamma/>
                </a:srgbClr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       </a:t>
            </a: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注意：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如果不将函数调用赋值给任何变量，它的返回值将被丢弃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!</a:t>
            </a:r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37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373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373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373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7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7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7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7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037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7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37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7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37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037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037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037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332" grpId="0"/>
      <p:bldP spid="1037334" grpId="0"/>
      <p:bldP spid="1037335" grpId="0" animBg="1"/>
      <p:bldP spid="1037336" grpId="0"/>
      <p:bldP spid="1037343" grpId="0" animBg="1"/>
      <p:bldP spid="1037346" grpId="0" animBg="1"/>
      <p:bldP spid="103734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362" name="Rectangle 2"/>
          <p:cNvSpPr>
            <a:spLocks noChangeArrowheads="1"/>
          </p:cNvSpPr>
          <p:nvPr/>
        </p:nvSpPr>
        <p:spPr bwMode="auto">
          <a:xfrm>
            <a:off x="606386" y="188913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、有参数无返回值的函数</a:t>
            </a:r>
          </a:p>
        </p:txBody>
      </p:sp>
      <p:sp>
        <p:nvSpPr>
          <p:cNvPr id="1039366" name="Rectangle 6"/>
          <p:cNvSpPr>
            <a:spLocks noChangeArrowheads="1"/>
          </p:cNvSpPr>
          <p:nvPr/>
        </p:nvSpPr>
        <p:spPr bwMode="auto">
          <a:xfrm>
            <a:off x="1038187" y="62071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定义格式 </a:t>
            </a:r>
          </a:p>
        </p:txBody>
      </p:sp>
      <p:sp>
        <p:nvSpPr>
          <p:cNvPr id="1039367" name="Text Box 7"/>
          <p:cNvSpPr txBox="1">
            <a:spLocks noChangeArrowheads="1"/>
          </p:cNvSpPr>
          <p:nvPr/>
        </p:nvSpPr>
        <p:spPr bwMode="auto">
          <a:xfrm>
            <a:off x="1183021" y="1199736"/>
            <a:ext cx="10673619" cy="1944688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void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1,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2, … ,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en-US" altLang="zh-CN" sz="2000" dirty="0">
                <a:latin typeface="+mn-lt"/>
                <a:ea typeface="楷体" pitchFamily="49" charset="-122"/>
              </a:rPr>
              <a:t>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</a:p>
          <a:p>
            <a:pPr algn="just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{</a:t>
            </a:r>
          </a:p>
          <a:p>
            <a:pPr algn="just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变量声明部分</a:t>
            </a:r>
          </a:p>
          <a:p>
            <a:pPr algn="just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执行部分</a:t>
            </a:r>
          </a:p>
          <a:p>
            <a:pPr algn="just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}</a:t>
            </a:r>
          </a:p>
        </p:txBody>
      </p:sp>
      <p:grpSp>
        <p:nvGrpSpPr>
          <p:cNvPr id="1039368" name="Group 8"/>
          <p:cNvGrpSpPr>
            <a:grpSpLocks/>
          </p:cNvGrpSpPr>
          <p:nvPr/>
        </p:nvGrpSpPr>
        <p:grpSpPr bwMode="auto">
          <a:xfrm>
            <a:off x="3127709" y="1974851"/>
            <a:ext cx="1152525" cy="569913"/>
            <a:chOff x="3195" y="1661"/>
            <a:chExt cx="726" cy="359"/>
          </a:xfrm>
        </p:grpSpPr>
        <p:sp>
          <p:nvSpPr>
            <p:cNvPr id="1039369" name="AutoShape 9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370" name="Text Box 10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FF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39374" name="Rectangle 14"/>
          <p:cNvSpPr>
            <a:spLocks noChangeArrowheads="1"/>
          </p:cNvSpPr>
          <p:nvPr/>
        </p:nvSpPr>
        <p:spPr bwMode="auto">
          <a:xfrm>
            <a:off x="1109624" y="3403600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函数用途 </a:t>
            </a:r>
          </a:p>
        </p:txBody>
      </p:sp>
      <p:sp>
        <p:nvSpPr>
          <p:cNvPr id="1039375" name="Rectangle 15"/>
          <p:cNvSpPr>
            <a:spLocks noChangeArrowheads="1"/>
          </p:cNvSpPr>
          <p:nvPr/>
        </p:nvSpPr>
        <p:spPr bwMode="auto">
          <a:xfrm>
            <a:off x="714782" y="3945366"/>
            <a:ext cx="112858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此类型的函数主要是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根据形参的值来进行某种事务的处理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。灵活性上要比无形参的函数强，它更能体现调用函数与被调函数之间的数据联系。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9376" name="Rectangle 16"/>
          <p:cNvSpPr>
            <a:spLocks noChangeArrowheads="1"/>
          </p:cNvSpPr>
          <p:nvPr/>
        </p:nvSpPr>
        <p:spPr bwMode="auto">
          <a:xfrm>
            <a:off x="1096924" y="4999038"/>
            <a:ext cx="3154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函数的原型声明 </a:t>
            </a:r>
          </a:p>
        </p:txBody>
      </p:sp>
      <p:sp>
        <p:nvSpPr>
          <p:cNvPr id="1039377" name="Text Box 17"/>
          <p:cNvSpPr txBox="1">
            <a:spLocks noChangeArrowheads="1"/>
          </p:cNvSpPr>
          <p:nvPr/>
        </p:nvSpPr>
        <p:spPr bwMode="auto">
          <a:xfrm>
            <a:off x="1192733" y="5511801"/>
            <a:ext cx="10663907" cy="1096963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void 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 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1,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 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2, … ,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)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  <a:p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  或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void 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1 ,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 , … ,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)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grpSp>
        <p:nvGrpSpPr>
          <p:cNvPr id="1039380" name="Group 20"/>
          <p:cNvGrpSpPr>
            <a:grpSpLocks/>
          </p:cNvGrpSpPr>
          <p:nvPr/>
        </p:nvGrpSpPr>
        <p:grpSpPr bwMode="auto">
          <a:xfrm>
            <a:off x="2983245" y="1547399"/>
            <a:ext cx="6192838" cy="684212"/>
            <a:chOff x="1474" y="981"/>
            <a:chExt cx="3901" cy="431"/>
          </a:xfrm>
        </p:grpSpPr>
        <p:sp>
          <p:nvSpPr>
            <p:cNvPr id="1039378" name="AutoShape 18"/>
            <p:cNvSpPr>
              <a:spLocks/>
            </p:cNvSpPr>
            <p:nvPr/>
          </p:nvSpPr>
          <p:spPr bwMode="auto">
            <a:xfrm rot="-5400000">
              <a:off x="3334" y="-879"/>
              <a:ext cx="182" cy="3901"/>
            </a:xfrm>
            <a:prstGeom prst="leftBrace">
              <a:avLst>
                <a:gd name="adj1" fmla="val 178617"/>
                <a:gd name="adj2" fmla="val 50000"/>
              </a:avLst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379" name="Text Box 19"/>
            <p:cNvSpPr txBox="1">
              <a:spLocks noChangeArrowheads="1"/>
            </p:cNvSpPr>
            <p:nvPr/>
          </p:nvSpPr>
          <p:spPr bwMode="auto">
            <a:xfrm>
              <a:off x="3088" y="1162"/>
              <a:ext cx="8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形参列表</a:t>
              </a:r>
            </a:p>
          </p:txBody>
        </p:sp>
      </p:grpSp>
      <p:sp>
        <p:nvSpPr>
          <p:cNvPr id="1039381" name="AutoShape 21"/>
          <p:cNvSpPr>
            <a:spLocks noChangeArrowheads="1"/>
          </p:cNvSpPr>
          <p:nvPr/>
        </p:nvSpPr>
        <p:spPr bwMode="auto">
          <a:xfrm>
            <a:off x="5935996" y="178974"/>
            <a:ext cx="3167063" cy="792162"/>
          </a:xfrm>
          <a:prstGeom prst="wedgeRoundRectCallout">
            <a:avLst>
              <a:gd name="adj1" fmla="val -86593"/>
              <a:gd name="adj2" fmla="val 93486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至少要有一项，形参之间要用逗号“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，</a:t>
            </a:r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”分开</a:t>
            </a:r>
            <a:r>
              <a:rPr lang="zh-CN" altLang="en-US">
                <a:solidFill>
                  <a:srgbClr val="FF33CC"/>
                </a:solidFill>
              </a:rPr>
              <a:t> </a:t>
            </a:r>
          </a:p>
        </p:txBody>
      </p:sp>
      <p:sp>
        <p:nvSpPr>
          <p:cNvPr id="1039382" name="AutoShape 22"/>
          <p:cNvSpPr>
            <a:spLocks noChangeArrowheads="1"/>
          </p:cNvSpPr>
          <p:nvPr/>
        </p:nvSpPr>
        <p:spPr bwMode="auto">
          <a:xfrm>
            <a:off x="7520320" y="2276476"/>
            <a:ext cx="1873250" cy="504825"/>
          </a:xfrm>
          <a:prstGeom prst="wedgeRoundRectCallout">
            <a:avLst>
              <a:gd name="adj1" fmla="val -44491"/>
              <a:gd name="adj2" fmla="val -195282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指明形参类型</a:t>
            </a:r>
            <a:r>
              <a:rPr lang="zh-CN" altLang="en-US">
                <a:solidFill>
                  <a:srgbClr val="FF33CC"/>
                </a:solidFill>
              </a:rPr>
              <a:t> </a:t>
            </a:r>
          </a:p>
        </p:txBody>
      </p:sp>
      <p:sp>
        <p:nvSpPr>
          <p:cNvPr id="1039383" name="AutoShape 23"/>
          <p:cNvSpPr>
            <a:spLocks noChangeArrowheads="1"/>
          </p:cNvSpPr>
          <p:nvPr/>
        </p:nvSpPr>
        <p:spPr bwMode="auto">
          <a:xfrm>
            <a:off x="3859546" y="2273300"/>
            <a:ext cx="3300413" cy="1512888"/>
          </a:xfrm>
          <a:prstGeom prst="irregularSeal1">
            <a:avLst/>
          </a:prstGeom>
          <a:gradFill rotWithShape="1">
            <a:gsLst>
              <a:gs pos="0">
                <a:srgbClr val="FFCC99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不允许对</a:t>
            </a:r>
          </a:p>
          <a:p>
            <a:pPr algn="ctr"/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形参赋初值</a:t>
            </a:r>
            <a:r>
              <a:rPr lang="zh-CN" altLang="en-US" sz="2000" b="1"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grpSp>
        <p:nvGrpSpPr>
          <p:cNvPr id="1039384" name="Group 24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39385" name="Text Box 2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39386" name="Text Box 2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9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9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393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9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39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39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39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039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39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39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0393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39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39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9362" grpId="0"/>
      <p:bldP spid="1039366" grpId="0"/>
      <p:bldP spid="1039367" grpId="0" animBg="1"/>
      <p:bldP spid="1039374" grpId="0"/>
      <p:bldP spid="1039375" grpId="0"/>
      <p:bldP spid="1039376" grpId="0"/>
      <p:bldP spid="1039377" grpId="0" animBg="1"/>
      <p:bldP spid="1039381" grpId="0" animBg="1"/>
      <p:bldP spid="1039382" grpId="0" animBg="1"/>
      <p:bldP spid="103938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10" name="Rectangle 2"/>
          <p:cNvSpPr>
            <a:spLocks noChangeArrowheads="1"/>
          </p:cNvSpPr>
          <p:nvPr/>
        </p:nvSpPr>
        <p:spPr bwMode="auto">
          <a:xfrm>
            <a:off x="606386" y="188913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、有参数无返回值的函数</a:t>
            </a:r>
          </a:p>
        </p:txBody>
      </p:sp>
      <p:sp>
        <p:nvSpPr>
          <p:cNvPr id="1041414" name="Rectangle 6"/>
          <p:cNvSpPr>
            <a:spLocks noChangeArrowheads="1"/>
          </p:cNvSpPr>
          <p:nvPr/>
        </p:nvSpPr>
        <p:spPr bwMode="auto">
          <a:xfrm>
            <a:off x="1038187" y="62071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函数调用 </a:t>
            </a:r>
          </a:p>
        </p:txBody>
      </p:sp>
      <p:sp>
        <p:nvSpPr>
          <p:cNvPr id="1041422" name="Text Box 14"/>
          <p:cNvSpPr txBox="1">
            <a:spLocks noChangeArrowheads="1"/>
          </p:cNvSpPr>
          <p:nvPr/>
        </p:nvSpPr>
        <p:spPr bwMode="auto">
          <a:xfrm>
            <a:off x="1471574" y="1211561"/>
            <a:ext cx="9809002" cy="503237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1429" name="AutoShape 21"/>
          <p:cNvSpPr>
            <a:spLocks noChangeArrowheads="1"/>
          </p:cNvSpPr>
          <p:nvPr/>
        </p:nvSpPr>
        <p:spPr bwMode="auto">
          <a:xfrm>
            <a:off x="6312867" y="260648"/>
            <a:ext cx="3311525" cy="792163"/>
          </a:xfrm>
          <a:prstGeom prst="wedgeRoundRectCallout">
            <a:avLst>
              <a:gd name="adj1" fmla="val -86097"/>
              <a:gd name="adj2" fmla="val 79861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实参可以是常量、变量、表达式、函数等</a:t>
            </a:r>
            <a:r>
              <a:rPr lang="zh-CN" altLang="en-US" sz="2000">
                <a:solidFill>
                  <a:srgbClr val="FF33CC"/>
                </a:solidFill>
                <a:ea typeface="隶书" pitchFamily="49" charset="-122"/>
              </a:rPr>
              <a:t> </a:t>
            </a:r>
          </a:p>
        </p:txBody>
      </p:sp>
      <p:sp>
        <p:nvSpPr>
          <p:cNvPr id="1041430" name="Rectangle 22"/>
          <p:cNvSpPr>
            <a:spLocks noChangeArrowheads="1"/>
          </p:cNvSpPr>
          <p:nvPr/>
        </p:nvSpPr>
        <p:spPr bwMode="auto">
          <a:xfrm>
            <a:off x="1328663" y="2082976"/>
            <a:ext cx="10076934" cy="4524315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zh-CN" altLang="en-US" b="1" u="sng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注意事项：</a:t>
            </a:r>
            <a:endParaRPr lang="zh-CN" alt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隶书" pitchFamily="49" charset="-122"/>
              <a:ea typeface="隶书" pitchFamily="49" charset="-122"/>
            </a:endParaRP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(1)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实参列表中的实参必须与函数定义时的形参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数量相同、类型相符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(2)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赋值对应关系：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      </a:t>
            </a:r>
            <a:r>
              <a:rPr lang="zh-CN" altLang="en-US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1 -&gt; </a:t>
            </a:r>
            <a:r>
              <a:rPr lang="zh-CN" altLang="en-US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形参</a:t>
            </a: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1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      </a:t>
            </a:r>
            <a:r>
              <a:rPr lang="zh-CN" altLang="en-US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2 -&gt; </a:t>
            </a:r>
            <a:r>
              <a:rPr lang="zh-CN" altLang="en-US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形参</a:t>
            </a: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2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       ……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      </a:t>
            </a:r>
            <a:r>
              <a:rPr lang="zh-CN" altLang="en-US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n -&gt; </a:t>
            </a:r>
            <a:r>
              <a:rPr lang="zh-CN" altLang="en-US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形参</a:t>
            </a:r>
            <a:r>
              <a:rPr lang="en-US" altLang="zh-CN" b="1" dirty="0">
                <a:ln w="1905"/>
                <a:solidFill>
                  <a:srgbClr val="33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n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 (3)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实参表求值顺序（即实参赋值给形参的顺序）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         因系统而定。</a:t>
            </a:r>
            <a:r>
              <a:rPr lang="en-US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VC6.0</a:t>
            </a:r>
            <a:r>
              <a:rPr lang="zh-CN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VC2010</a:t>
            </a:r>
            <a:r>
              <a:rPr lang="zh-CN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和</a:t>
            </a:r>
            <a:r>
              <a:rPr lang="en-US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CB17.12</a:t>
            </a:r>
            <a:r>
              <a:rPr lang="zh-CN" altLang="zh-CN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均是自右向左</a:t>
            </a:r>
            <a:r>
              <a:rPr lang="zh-CN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，也就是说最右边的实参最先赋值给最右边的形参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最左边的实参最后赋值给最左边的形参。但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VC6.0</a:t>
            </a:r>
            <a:r>
              <a:rPr lang="zh-CN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与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VC2010</a:t>
            </a:r>
            <a:r>
              <a:rPr lang="zh-CN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和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CB17.12</a:t>
            </a:r>
            <a:r>
              <a:rPr lang="zh-CN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楷体" pitchFamily="49" charset="-122"/>
              </a:rPr>
              <a:t>在具体赋值时稍有不同，注意它们之间的区别。</a:t>
            </a:r>
            <a:endParaRPr lang="zh-CN" alt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041431" name="Group 23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41432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41433" name="Text Box 2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414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41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41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41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414" grpId="0"/>
      <p:bldP spid="1041422" grpId="0" animBg="1"/>
      <p:bldP spid="1041429" grpId="0" animBg="1"/>
      <p:bldP spid="10414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ChangeArrowheads="1"/>
          </p:cNvSpPr>
          <p:nvPr/>
        </p:nvSpPr>
        <p:spPr bwMode="auto">
          <a:xfrm>
            <a:off x="549236" y="60325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、有参数无返回值的函数</a:t>
            </a:r>
          </a:p>
        </p:txBody>
      </p:sp>
      <p:sp>
        <p:nvSpPr>
          <p:cNvPr id="1043466" name="Rectangle 10" descr="信纸"/>
          <p:cNvSpPr>
            <a:spLocks noChangeArrowheads="1"/>
          </p:cNvSpPr>
          <p:nvPr/>
        </p:nvSpPr>
        <p:spPr bwMode="auto">
          <a:xfrm>
            <a:off x="1126877" y="513382"/>
            <a:ext cx="6169006" cy="6247864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void compare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a,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b);  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2;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compare (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 );        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%d\n",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return 0;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compare ( 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a, 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b )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("a = %d  b = %d\n", a, b);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if ( a &gt; b)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("a &gt;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else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if (a == b)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("a =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else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("a &lt;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43467" name="AutoShape 11"/>
          <p:cNvSpPr>
            <a:spLocks/>
          </p:cNvSpPr>
          <p:nvPr/>
        </p:nvSpPr>
        <p:spPr bwMode="auto">
          <a:xfrm>
            <a:off x="4335283" y="1476596"/>
            <a:ext cx="1368425" cy="360362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44315"/>
              <a:gd name="adj5" fmla="val 186343"/>
              <a:gd name="adj6" fmla="val -84338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为实参</a:t>
            </a:r>
            <a:r>
              <a:rPr lang="zh-CN" altLang="en-US" sz="18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3468" name="Oval 12"/>
          <p:cNvSpPr>
            <a:spLocks noChangeArrowheads="1"/>
          </p:cNvSpPr>
          <p:nvPr/>
        </p:nvSpPr>
        <p:spPr bwMode="auto">
          <a:xfrm>
            <a:off x="2566739" y="2134580"/>
            <a:ext cx="720725" cy="2873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69" name="Oval 13"/>
          <p:cNvSpPr>
            <a:spLocks noChangeArrowheads="1"/>
          </p:cNvSpPr>
          <p:nvPr/>
        </p:nvSpPr>
        <p:spPr bwMode="auto">
          <a:xfrm>
            <a:off x="2855664" y="3273660"/>
            <a:ext cx="1223963" cy="431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70" name="AutoShape 14"/>
          <p:cNvSpPr>
            <a:spLocks/>
          </p:cNvSpPr>
          <p:nvPr/>
        </p:nvSpPr>
        <p:spPr bwMode="auto">
          <a:xfrm>
            <a:off x="5035485" y="2728457"/>
            <a:ext cx="1368425" cy="360363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38861"/>
              <a:gd name="adj5" fmla="val 182380"/>
              <a:gd name="adj6" fmla="val -73204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为形参</a:t>
            </a:r>
            <a:r>
              <a:rPr lang="zh-CN" altLang="en-US" sz="18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3471" name="Rectangle 15"/>
          <p:cNvSpPr>
            <a:spLocks noChangeArrowheads="1"/>
          </p:cNvSpPr>
          <p:nvPr/>
        </p:nvSpPr>
        <p:spPr bwMode="auto">
          <a:xfrm>
            <a:off x="1199901" y="903865"/>
            <a:ext cx="2951162" cy="360363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72" name="AutoShape 16"/>
          <p:cNvSpPr>
            <a:spLocks/>
          </p:cNvSpPr>
          <p:nvPr/>
        </p:nvSpPr>
        <p:spPr bwMode="auto">
          <a:xfrm>
            <a:off x="5095919" y="723683"/>
            <a:ext cx="1368425" cy="360363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36310"/>
              <a:gd name="adj5" fmla="val 81940"/>
              <a:gd name="adj6" fmla="val -6798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原型声明</a:t>
            </a:r>
            <a:r>
              <a:rPr lang="zh-CN" altLang="en-US" sz="1800" dirty="0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43475" name="Group 19"/>
          <p:cNvGrpSpPr>
            <a:grpSpLocks/>
          </p:cNvGrpSpPr>
          <p:nvPr/>
        </p:nvGrpSpPr>
        <p:grpSpPr bwMode="auto">
          <a:xfrm>
            <a:off x="7804766" y="115889"/>
            <a:ext cx="3979866" cy="1482725"/>
            <a:chOff x="3276" y="73"/>
            <a:chExt cx="2507" cy="934"/>
          </a:xfrm>
        </p:grpSpPr>
        <p:sp>
          <p:nvSpPr>
            <p:cNvPr id="1043473" name="Rectangle 17"/>
            <p:cNvSpPr>
              <a:spLocks noChangeArrowheads="1"/>
            </p:cNvSpPr>
            <p:nvPr/>
          </p:nvSpPr>
          <p:spPr bwMode="auto">
            <a:xfrm>
              <a:off x="3415" y="349"/>
              <a:ext cx="2178" cy="65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3  b = 2</a:t>
              </a:r>
            </a:p>
            <a:p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&gt; b</a:t>
              </a:r>
            </a:p>
            <a:p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 = 3</a:t>
              </a:r>
            </a:p>
          </p:txBody>
        </p:sp>
        <p:sp>
          <p:nvSpPr>
            <p:cNvPr id="1043474" name="Rectangle 18"/>
            <p:cNvSpPr>
              <a:spLocks noChangeArrowheads="1"/>
            </p:cNvSpPr>
            <p:nvPr/>
          </p:nvSpPr>
          <p:spPr bwMode="auto">
            <a:xfrm>
              <a:off x="3276" y="73"/>
              <a:ext cx="250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运行结果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(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在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VC2010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或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CB17.12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下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)</a:t>
              </a:r>
            </a:p>
          </p:txBody>
        </p:sp>
      </p:grpSp>
      <p:grpSp>
        <p:nvGrpSpPr>
          <p:cNvPr id="1043476" name="Group 20"/>
          <p:cNvGrpSpPr>
            <a:grpSpLocks/>
          </p:cNvGrpSpPr>
          <p:nvPr/>
        </p:nvGrpSpPr>
        <p:grpSpPr bwMode="auto">
          <a:xfrm>
            <a:off x="7925414" y="3386139"/>
            <a:ext cx="3557588" cy="1470025"/>
            <a:chOff x="3352" y="81"/>
            <a:chExt cx="2241" cy="926"/>
          </a:xfrm>
        </p:grpSpPr>
        <p:sp>
          <p:nvSpPr>
            <p:cNvPr id="1043477" name="Rectangle 21"/>
            <p:cNvSpPr>
              <a:spLocks noChangeArrowheads="1"/>
            </p:cNvSpPr>
            <p:nvPr/>
          </p:nvSpPr>
          <p:spPr bwMode="auto">
            <a:xfrm>
              <a:off x="3415" y="349"/>
              <a:ext cx="2178" cy="658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2  b = 2</a:t>
              </a:r>
            </a:p>
            <a:p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b</a:t>
              </a:r>
            </a:p>
            <a:p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 = 3</a:t>
              </a:r>
            </a:p>
          </p:txBody>
        </p:sp>
        <p:sp>
          <p:nvSpPr>
            <p:cNvPr id="1043478" name="Rectangle 22"/>
            <p:cNvSpPr>
              <a:spLocks noChangeArrowheads="1"/>
            </p:cNvSpPr>
            <p:nvPr/>
          </p:nvSpPr>
          <p:spPr bwMode="auto">
            <a:xfrm>
              <a:off x="3352" y="81"/>
              <a:ext cx="163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运行结果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(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在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VC6.0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下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)</a:t>
              </a:r>
            </a:p>
          </p:txBody>
        </p:sp>
      </p:grpSp>
      <p:grpSp>
        <p:nvGrpSpPr>
          <p:cNvPr id="1043489" name="Group 33"/>
          <p:cNvGrpSpPr>
            <a:grpSpLocks/>
          </p:cNvGrpSpPr>
          <p:nvPr/>
        </p:nvGrpSpPr>
        <p:grpSpPr bwMode="auto">
          <a:xfrm>
            <a:off x="10976589" y="2249489"/>
            <a:ext cx="342900" cy="503237"/>
            <a:chOff x="5103" y="1597"/>
            <a:chExt cx="216" cy="317"/>
          </a:xfrm>
        </p:grpSpPr>
        <p:sp>
          <p:nvSpPr>
            <p:cNvPr id="1043487" name="Line 31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88" name="Text Box 32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①</a:t>
              </a:r>
            </a:p>
          </p:txBody>
        </p:sp>
      </p:grpSp>
      <p:grpSp>
        <p:nvGrpSpPr>
          <p:cNvPr id="1043493" name="Group 37"/>
          <p:cNvGrpSpPr>
            <a:grpSpLocks/>
          </p:cNvGrpSpPr>
          <p:nvPr/>
        </p:nvGrpSpPr>
        <p:grpSpPr bwMode="auto">
          <a:xfrm>
            <a:off x="7880965" y="1762126"/>
            <a:ext cx="3527425" cy="1490663"/>
            <a:chOff x="3324" y="1281"/>
            <a:chExt cx="2222" cy="939"/>
          </a:xfrm>
        </p:grpSpPr>
        <p:sp>
          <p:nvSpPr>
            <p:cNvPr id="1043479" name="Text Box 23"/>
            <p:cNvSpPr txBox="1">
              <a:spLocks noChangeArrowheads="1"/>
            </p:cNvSpPr>
            <p:nvPr/>
          </p:nvSpPr>
          <p:spPr bwMode="auto">
            <a:xfrm>
              <a:off x="3913" y="1298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</a:p>
          </p:txBody>
        </p:sp>
        <p:sp>
          <p:nvSpPr>
            <p:cNvPr id="1043480" name="Text Box 24"/>
            <p:cNvSpPr txBox="1">
              <a:spLocks noChangeArrowheads="1"/>
            </p:cNvSpPr>
            <p:nvPr/>
          </p:nvSpPr>
          <p:spPr bwMode="auto">
            <a:xfrm>
              <a:off x="4094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481" name="Text Box 25"/>
            <p:cNvSpPr txBox="1">
              <a:spLocks noChangeArrowheads="1"/>
            </p:cNvSpPr>
            <p:nvPr/>
          </p:nvSpPr>
          <p:spPr bwMode="auto">
            <a:xfrm>
              <a:off x="4729" y="1298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i++</a:t>
              </a:r>
            </a:p>
          </p:txBody>
        </p:sp>
        <p:sp>
          <p:nvSpPr>
            <p:cNvPr id="1043482" name="Text Box 26"/>
            <p:cNvSpPr txBox="1">
              <a:spLocks noChangeArrowheads="1"/>
            </p:cNvSpPr>
            <p:nvPr/>
          </p:nvSpPr>
          <p:spPr bwMode="auto">
            <a:xfrm>
              <a:off x="5092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483" name="Text Box 27"/>
            <p:cNvSpPr txBox="1">
              <a:spLocks noChangeArrowheads="1"/>
            </p:cNvSpPr>
            <p:nvPr/>
          </p:nvSpPr>
          <p:spPr bwMode="auto">
            <a:xfrm>
              <a:off x="3905" y="1911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</a:t>
              </a:r>
            </a:p>
          </p:txBody>
        </p:sp>
        <p:sp>
          <p:nvSpPr>
            <p:cNvPr id="1043484" name="Text Box 28"/>
            <p:cNvSpPr txBox="1">
              <a:spLocks noChangeArrowheads="1"/>
            </p:cNvSpPr>
            <p:nvPr/>
          </p:nvSpPr>
          <p:spPr bwMode="auto">
            <a:xfrm>
              <a:off x="4113" y="1920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485" name="Text Box 29"/>
            <p:cNvSpPr txBox="1">
              <a:spLocks noChangeArrowheads="1"/>
            </p:cNvSpPr>
            <p:nvPr/>
          </p:nvSpPr>
          <p:spPr bwMode="auto">
            <a:xfrm>
              <a:off x="4878" y="1903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</a:t>
              </a:r>
            </a:p>
          </p:txBody>
        </p:sp>
        <p:sp>
          <p:nvSpPr>
            <p:cNvPr id="1043486" name="Text Box 30"/>
            <p:cNvSpPr txBox="1">
              <a:spLocks noChangeArrowheads="1"/>
            </p:cNvSpPr>
            <p:nvPr/>
          </p:nvSpPr>
          <p:spPr bwMode="auto">
            <a:xfrm>
              <a:off x="5086" y="1912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490" name="Text Box 34"/>
            <p:cNvSpPr txBox="1">
              <a:spLocks noChangeArrowheads="1"/>
            </p:cNvSpPr>
            <p:nvPr/>
          </p:nvSpPr>
          <p:spPr bwMode="auto">
            <a:xfrm>
              <a:off x="3324" y="1281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实参</a:t>
              </a:r>
            </a:p>
          </p:txBody>
        </p:sp>
        <p:sp>
          <p:nvSpPr>
            <p:cNvPr id="1043492" name="Text Box 36"/>
            <p:cNvSpPr txBox="1">
              <a:spLocks noChangeArrowheads="1"/>
            </p:cNvSpPr>
            <p:nvPr/>
          </p:nvSpPr>
          <p:spPr bwMode="auto">
            <a:xfrm>
              <a:off x="3334" y="1912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形参</a:t>
              </a:r>
            </a:p>
          </p:txBody>
        </p:sp>
      </p:grpSp>
      <p:sp>
        <p:nvSpPr>
          <p:cNvPr id="1043491" name="Text Box 35"/>
          <p:cNvSpPr txBox="1">
            <a:spLocks noChangeArrowheads="1"/>
          </p:cNvSpPr>
          <p:nvPr/>
        </p:nvSpPr>
        <p:spPr bwMode="auto">
          <a:xfrm>
            <a:off x="10676553" y="2754313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496" name="Group 40"/>
          <p:cNvGrpSpPr>
            <a:grpSpLocks/>
          </p:cNvGrpSpPr>
          <p:nvPr/>
        </p:nvGrpSpPr>
        <p:grpSpPr bwMode="auto">
          <a:xfrm>
            <a:off x="9839940" y="2208214"/>
            <a:ext cx="1120775" cy="503237"/>
            <a:chOff x="4558" y="1571"/>
            <a:chExt cx="706" cy="317"/>
          </a:xfrm>
        </p:grpSpPr>
        <p:sp>
          <p:nvSpPr>
            <p:cNvPr id="1043494" name="Line 38"/>
            <p:cNvSpPr>
              <a:spLocks noChangeShapeType="1"/>
            </p:cNvSpPr>
            <p:nvPr/>
          </p:nvSpPr>
          <p:spPr bwMode="auto">
            <a:xfrm flipH="1" flipV="1">
              <a:off x="4558" y="1616"/>
              <a:ext cx="545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95" name="Text Box 39"/>
            <p:cNvSpPr txBox="1">
              <a:spLocks noChangeArrowheads="1"/>
            </p:cNvSpPr>
            <p:nvPr/>
          </p:nvSpPr>
          <p:spPr bwMode="auto">
            <a:xfrm>
              <a:off x="4765" y="1571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② i+1</a:t>
              </a:r>
            </a:p>
          </p:txBody>
        </p:sp>
      </p:grpSp>
      <p:sp>
        <p:nvSpPr>
          <p:cNvPr id="1043497" name="Text Box 41"/>
          <p:cNvSpPr txBox="1">
            <a:spLocks noChangeArrowheads="1"/>
          </p:cNvSpPr>
          <p:nvPr/>
        </p:nvSpPr>
        <p:spPr bwMode="auto">
          <a:xfrm>
            <a:off x="9104928" y="1774825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grpSp>
        <p:nvGrpSpPr>
          <p:cNvPr id="1043498" name="Group 42"/>
          <p:cNvGrpSpPr>
            <a:grpSpLocks/>
          </p:cNvGrpSpPr>
          <p:nvPr/>
        </p:nvGrpSpPr>
        <p:grpSpPr bwMode="auto">
          <a:xfrm>
            <a:off x="9393852" y="2265364"/>
            <a:ext cx="342900" cy="503237"/>
            <a:chOff x="5103" y="1597"/>
            <a:chExt cx="216" cy="317"/>
          </a:xfrm>
        </p:grpSpPr>
        <p:sp>
          <p:nvSpPr>
            <p:cNvPr id="1043499" name="Line 43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00" name="Text Box 44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③</a:t>
              </a:r>
              <a:endParaRPr lang="en-US" altLang="zh-CN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043501" name="Text Box 45"/>
          <p:cNvSpPr txBox="1">
            <a:spLocks noChangeArrowheads="1"/>
          </p:cNvSpPr>
          <p:nvPr/>
        </p:nvSpPr>
        <p:spPr bwMode="auto">
          <a:xfrm>
            <a:off x="9135090" y="2768600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grpSp>
        <p:nvGrpSpPr>
          <p:cNvPr id="1043502" name="Group 46"/>
          <p:cNvGrpSpPr>
            <a:grpSpLocks/>
          </p:cNvGrpSpPr>
          <p:nvPr/>
        </p:nvGrpSpPr>
        <p:grpSpPr bwMode="auto">
          <a:xfrm>
            <a:off x="7925415" y="5027613"/>
            <a:ext cx="3527425" cy="1490662"/>
            <a:chOff x="3324" y="1281"/>
            <a:chExt cx="2222" cy="939"/>
          </a:xfrm>
        </p:grpSpPr>
        <p:sp>
          <p:nvSpPr>
            <p:cNvPr id="1043503" name="Text Box 47"/>
            <p:cNvSpPr txBox="1">
              <a:spLocks noChangeArrowheads="1"/>
            </p:cNvSpPr>
            <p:nvPr/>
          </p:nvSpPr>
          <p:spPr bwMode="auto">
            <a:xfrm>
              <a:off x="3913" y="1298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</a:p>
          </p:txBody>
        </p:sp>
        <p:sp>
          <p:nvSpPr>
            <p:cNvPr id="1043504" name="Text Box 48"/>
            <p:cNvSpPr txBox="1">
              <a:spLocks noChangeArrowheads="1"/>
            </p:cNvSpPr>
            <p:nvPr/>
          </p:nvSpPr>
          <p:spPr bwMode="auto">
            <a:xfrm>
              <a:off x="4094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505" name="Text Box 49"/>
            <p:cNvSpPr txBox="1">
              <a:spLocks noChangeArrowheads="1"/>
            </p:cNvSpPr>
            <p:nvPr/>
          </p:nvSpPr>
          <p:spPr bwMode="auto">
            <a:xfrm>
              <a:off x="4729" y="1298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i++</a:t>
              </a:r>
            </a:p>
          </p:txBody>
        </p:sp>
        <p:sp>
          <p:nvSpPr>
            <p:cNvPr id="1043506" name="Text Box 50"/>
            <p:cNvSpPr txBox="1">
              <a:spLocks noChangeArrowheads="1"/>
            </p:cNvSpPr>
            <p:nvPr/>
          </p:nvSpPr>
          <p:spPr bwMode="auto">
            <a:xfrm>
              <a:off x="5092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507" name="Text Box 51"/>
            <p:cNvSpPr txBox="1">
              <a:spLocks noChangeArrowheads="1"/>
            </p:cNvSpPr>
            <p:nvPr/>
          </p:nvSpPr>
          <p:spPr bwMode="auto">
            <a:xfrm>
              <a:off x="3905" y="1911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</a:t>
              </a:r>
            </a:p>
          </p:txBody>
        </p:sp>
        <p:sp>
          <p:nvSpPr>
            <p:cNvPr id="1043508" name="Text Box 52"/>
            <p:cNvSpPr txBox="1">
              <a:spLocks noChangeArrowheads="1"/>
            </p:cNvSpPr>
            <p:nvPr/>
          </p:nvSpPr>
          <p:spPr bwMode="auto">
            <a:xfrm>
              <a:off x="4113" y="1920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509" name="Text Box 53"/>
            <p:cNvSpPr txBox="1">
              <a:spLocks noChangeArrowheads="1"/>
            </p:cNvSpPr>
            <p:nvPr/>
          </p:nvSpPr>
          <p:spPr bwMode="auto">
            <a:xfrm>
              <a:off x="4878" y="1903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</a:t>
              </a:r>
            </a:p>
          </p:txBody>
        </p:sp>
        <p:sp>
          <p:nvSpPr>
            <p:cNvPr id="1043510" name="Text Box 54"/>
            <p:cNvSpPr txBox="1">
              <a:spLocks noChangeArrowheads="1"/>
            </p:cNvSpPr>
            <p:nvPr/>
          </p:nvSpPr>
          <p:spPr bwMode="auto">
            <a:xfrm>
              <a:off x="5086" y="1912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511" name="Text Box 55"/>
            <p:cNvSpPr txBox="1">
              <a:spLocks noChangeArrowheads="1"/>
            </p:cNvSpPr>
            <p:nvPr/>
          </p:nvSpPr>
          <p:spPr bwMode="auto">
            <a:xfrm>
              <a:off x="3324" y="1281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实参</a:t>
              </a:r>
            </a:p>
          </p:txBody>
        </p:sp>
        <p:sp>
          <p:nvSpPr>
            <p:cNvPr id="1043512" name="Text Box 56"/>
            <p:cNvSpPr txBox="1">
              <a:spLocks noChangeArrowheads="1"/>
            </p:cNvSpPr>
            <p:nvPr/>
          </p:nvSpPr>
          <p:spPr bwMode="auto">
            <a:xfrm>
              <a:off x="3334" y="1912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形参</a:t>
              </a:r>
            </a:p>
          </p:txBody>
        </p:sp>
      </p:grpSp>
      <p:grpSp>
        <p:nvGrpSpPr>
          <p:cNvPr id="1043513" name="Group 57"/>
          <p:cNvGrpSpPr>
            <a:grpSpLocks/>
          </p:cNvGrpSpPr>
          <p:nvPr/>
        </p:nvGrpSpPr>
        <p:grpSpPr bwMode="auto">
          <a:xfrm>
            <a:off x="11035327" y="5530850"/>
            <a:ext cx="342900" cy="503238"/>
            <a:chOff x="5103" y="1597"/>
            <a:chExt cx="216" cy="317"/>
          </a:xfrm>
        </p:grpSpPr>
        <p:sp>
          <p:nvSpPr>
            <p:cNvPr id="1043514" name="Line 58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15" name="Text Box 59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①</a:t>
              </a:r>
            </a:p>
          </p:txBody>
        </p:sp>
      </p:grpSp>
      <p:sp>
        <p:nvSpPr>
          <p:cNvPr id="1043516" name="Text Box 60"/>
          <p:cNvSpPr txBox="1">
            <a:spLocks noChangeArrowheads="1"/>
          </p:cNvSpPr>
          <p:nvPr/>
        </p:nvSpPr>
        <p:spPr bwMode="auto">
          <a:xfrm>
            <a:off x="10719415" y="6035675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517" name="Group 61"/>
          <p:cNvGrpSpPr>
            <a:grpSpLocks/>
          </p:cNvGrpSpPr>
          <p:nvPr/>
        </p:nvGrpSpPr>
        <p:grpSpPr bwMode="auto">
          <a:xfrm>
            <a:off x="9465289" y="5530850"/>
            <a:ext cx="342900" cy="503238"/>
            <a:chOff x="5103" y="1597"/>
            <a:chExt cx="216" cy="317"/>
          </a:xfrm>
        </p:grpSpPr>
        <p:sp>
          <p:nvSpPr>
            <p:cNvPr id="1043518" name="Line 62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19" name="Text Box 63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②</a:t>
              </a:r>
              <a:endParaRPr lang="en-US" altLang="zh-CN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043520" name="Text Box 64"/>
          <p:cNvSpPr txBox="1">
            <a:spLocks noChangeArrowheads="1"/>
          </p:cNvSpPr>
          <p:nvPr/>
        </p:nvSpPr>
        <p:spPr bwMode="auto">
          <a:xfrm>
            <a:off x="9177953" y="6037263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521" name="Group 65"/>
          <p:cNvGrpSpPr>
            <a:grpSpLocks/>
          </p:cNvGrpSpPr>
          <p:nvPr/>
        </p:nvGrpSpPr>
        <p:grpSpPr bwMode="auto">
          <a:xfrm rot="728620">
            <a:off x="9697065" y="5589589"/>
            <a:ext cx="1120775" cy="503237"/>
            <a:chOff x="4558" y="1571"/>
            <a:chExt cx="706" cy="317"/>
          </a:xfrm>
        </p:grpSpPr>
        <p:sp>
          <p:nvSpPr>
            <p:cNvPr id="1043522" name="Line 66"/>
            <p:cNvSpPr>
              <a:spLocks noChangeShapeType="1"/>
            </p:cNvSpPr>
            <p:nvPr/>
          </p:nvSpPr>
          <p:spPr bwMode="auto">
            <a:xfrm flipH="1" flipV="1">
              <a:off x="4558" y="1616"/>
              <a:ext cx="545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23" name="Text Box 67"/>
            <p:cNvSpPr txBox="1">
              <a:spLocks noChangeArrowheads="1"/>
            </p:cNvSpPr>
            <p:nvPr/>
          </p:nvSpPr>
          <p:spPr bwMode="auto">
            <a:xfrm>
              <a:off x="4765" y="1571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③</a:t>
              </a: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i+1</a:t>
              </a:r>
            </a:p>
          </p:txBody>
        </p:sp>
      </p:grpSp>
      <p:sp>
        <p:nvSpPr>
          <p:cNvPr id="1043524" name="Text Box 68"/>
          <p:cNvSpPr txBox="1">
            <a:spLocks noChangeArrowheads="1"/>
          </p:cNvSpPr>
          <p:nvPr/>
        </p:nvSpPr>
        <p:spPr bwMode="auto">
          <a:xfrm>
            <a:off x="9135090" y="5056188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grpSp>
        <p:nvGrpSpPr>
          <p:cNvPr id="1043525" name="Group 69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43526" name="Text Box 7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43527" name="Text Box 7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3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43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043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0434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0434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043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10434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043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043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10434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434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8" dur="500"/>
                                        <p:tgtEl>
                                          <p:spTgt spid="10434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043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043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1043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1043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043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1043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043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1043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1043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4" dur="500"/>
                                        <p:tgtEl>
                                          <p:spTgt spid="1043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500"/>
                                        <p:tgtEl>
                                          <p:spTgt spid="10435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66" grpId="0" animBg="1"/>
      <p:bldP spid="1043467" grpId="0" animBg="1"/>
      <p:bldP spid="1043468" grpId="0" animBg="1"/>
      <p:bldP spid="1043469" grpId="0" animBg="1"/>
      <p:bldP spid="1043470" grpId="0" animBg="1"/>
      <p:bldP spid="1043471" grpId="0" animBg="1"/>
      <p:bldP spid="1043472" grpId="0" animBg="1"/>
      <p:bldP spid="1043491" grpId="0" animBg="1"/>
      <p:bldP spid="1043497" grpId="0" animBg="1"/>
      <p:bldP spid="1043501" grpId="0" animBg="1"/>
      <p:bldP spid="1043516" grpId="0" animBg="1"/>
      <p:bldP spid="1043520" grpId="0" animBg="1"/>
      <p:bldP spid="10435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6" name="Rectangle 2"/>
          <p:cNvSpPr>
            <a:spLocks noChangeArrowheads="1"/>
          </p:cNvSpPr>
          <p:nvPr/>
        </p:nvSpPr>
        <p:spPr bwMode="auto">
          <a:xfrm>
            <a:off x="606386" y="188913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、有参数有返回值的函数</a:t>
            </a:r>
          </a:p>
        </p:txBody>
      </p:sp>
      <p:sp>
        <p:nvSpPr>
          <p:cNvPr id="1045510" name="Rectangle 6"/>
          <p:cNvSpPr>
            <a:spLocks noChangeArrowheads="1"/>
          </p:cNvSpPr>
          <p:nvPr/>
        </p:nvSpPr>
        <p:spPr bwMode="auto">
          <a:xfrm>
            <a:off x="1038187" y="62071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定义格式 </a:t>
            </a:r>
          </a:p>
        </p:txBody>
      </p:sp>
      <p:sp>
        <p:nvSpPr>
          <p:cNvPr id="1045511" name="Text Box 7"/>
          <p:cNvSpPr txBox="1">
            <a:spLocks noChangeArrowheads="1"/>
          </p:cNvSpPr>
          <p:nvPr/>
        </p:nvSpPr>
        <p:spPr bwMode="auto">
          <a:xfrm>
            <a:off x="1487561" y="1209676"/>
            <a:ext cx="9793015" cy="171526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返回值类型符  函数名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1, … … ,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en-US" altLang="zh-CN" sz="2000" dirty="0">
                <a:latin typeface="+mn-lt"/>
                <a:ea typeface="楷体" pitchFamily="49" charset="-122"/>
              </a:rPr>
              <a:t>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</a:p>
          <a:p>
            <a:pPr algn="just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{</a:t>
            </a:r>
          </a:p>
          <a:p>
            <a:pPr algn="just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变量声明部分</a:t>
            </a:r>
          </a:p>
          <a:p>
            <a:pPr algn="just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执行部分</a:t>
            </a:r>
          </a:p>
          <a:p>
            <a:pPr algn="just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}</a:t>
            </a:r>
          </a:p>
        </p:txBody>
      </p:sp>
      <p:grpSp>
        <p:nvGrpSpPr>
          <p:cNvPr id="1045512" name="Group 8"/>
          <p:cNvGrpSpPr>
            <a:grpSpLocks/>
          </p:cNvGrpSpPr>
          <p:nvPr/>
        </p:nvGrpSpPr>
        <p:grpSpPr bwMode="auto">
          <a:xfrm>
            <a:off x="3432249" y="1974851"/>
            <a:ext cx="1152525" cy="569913"/>
            <a:chOff x="3195" y="1661"/>
            <a:chExt cx="726" cy="359"/>
          </a:xfrm>
        </p:grpSpPr>
        <p:sp>
          <p:nvSpPr>
            <p:cNvPr id="1045513" name="AutoShape 9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514" name="Text Box 10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FF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45515" name="Rectangle 11"/>
          <p:cNvSpPr>
            <a:spLocks noChangeArrowheads="1"/>
          </p:cNvSpPr>
          <p:nvPr/>
        </p:nvSpPr>
        <p:spPr bwMode="auto">
          <a:xfrm>
            <a:off x="1109624" y="3200602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函数用途 </a:t>
            </a:r>
          </a:p>
        </p:txBody>
      </p:sp>
      <p:sp>
        <p:nvSpPr>
          <p:cNvPr id="1045516" name="Rectangle 12"/>
          <p:cNvSpPr>
            <a:spLocks noChangeArrowheads="1"/>
          </p:cNvSpPr>
          <p:nvPr/>
        </p:nvSpPr>
        <p:spPr bwMode="auto">
          <a:xfrm>
            <a:off x="606758" y="3665749"/>
            <a:ext cx="111778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此类型的函数主要是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根据形参的值来进行某种事务的处理，同时可将处理后的结果值返回给调用函数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。它最能体现调用函数与被调函数之间的数据联系。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5517" name="Rectangle 13"/>
          <p:cNvSpPr>
            <a:spLocks noChangeArrowheads="1"/>
          </p:cNvSpPr>
          <p:nvPr/>
        </p:nvSpPr>
        <p:spPr bwMode="auto">
          <a:xfrm>
            <a:off x="1096924" y="4706689"/>
            <a:ext cx="3154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函数的原型声明 </a:t>
            </a:r>
          </a:p>
        </p:txBody>
      </p:sp>
      <p:sp>
        <p:nvSpPr>
          <p:cNvPr id="1045518" name="Text Box 14"/>
          <p:cNvSpPr txBox="1">
            <a:spLocks noChangeArrowheads="1"/>
          </p:cNvSpPr>
          <p:nvPr/>
        </p:nvSpPr>
        <p:spPr bwMode="auto">
          <a:xfrm>
            <a:off x="1488424" y="5262315"/>
            <a:ext cx="9792152" cy="1096963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返回值类型符  函数名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 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1,  …… ,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)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  <a:p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                     或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</a:p>
          <a:p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返回值类型符  函数名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1 ,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 , …… , 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类型符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)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grpSp>
        <p:nvGrpSpPr>
          <p:cNvPr id="1045525" name="Group 21"/>
          <p:cNvGrpSpPr>
            <a:grpSpLocks/>
          </p:cNvGrpSpPr>
          <p:nvPr/>
        </p:nvGrpSpPr>
        <p:grpSpPr bwMode="auto">
          <a:xfrm>
            <a:off x="4224410" y="1555750"/>
            <a:ext cx="4679950" cy="685800"/>
            <a:chOff x="2064" y="980"/>
            <a:chExt cx="2948" cy="432"/>
          </a:xfrm>
        </p:grpSpPr>
        <p:sp>
          <p:nvSpPr>
            <p:cNvPr id="1045520" name="AutoShape 16"/>
            <p:cNvSpPr>
              <a:spLocks/>
            </p:cNvSpPr>
            <p:nvPr/>
          </p:nvSpPr>
          <p:spPr bwMode="auto">
            <a:xfrm rot="-5400000">
              <a:off x="3447" y="-403"/>
              <a:ext cx="182" cy="2948"/>
            </a:xfrm>
            <a:prstGeom prst="leftBrace">
              <a:avLst>
                <a:gd name="adj1" fmla="val 134982"/>
                <a:gd name="adj2" fmla="val 50000"/>
              </a:avLst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521" name="Text Box 17"/>
            <p:cNvSpPr txBox="1">
              <a:spLocks noChangeArrowheads="1"/>
            </p:cNvSpPr>
            <p:nvPr/>
          </p:nvSpPr>
          <p:spPr bwMode="auto">
            <a:xfrm>
              <a:off x="3196" y="1162"/>
              <a:ext cx="8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形参列表</a:t>
              </a:r>
            </a:p>
          </p:txBody>
        </p:sp>
      </p:grpSp>
      <p:grpSp>
        <p:nvGrpSpPr>
          <p:cNvPr id="1045526" name="Group 22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45527" name="Text Box 2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45528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5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5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45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45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455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455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45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045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45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45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506" grpId="0"/>
      <p:bldP spid="1045510" grpId="0"/>
      <p:bldP spid="1045511" grpId="0" animBg="1"/>
      <p:bldP spid="1045515" grpId="0"/>
      <p:bldP spid="1045516" grpId="0"/>
      <p:bldP spid="1045517" grpId="0"/>
      <p:bldP spid="10455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4" name="Rectangle 2"/>
          <p:cNvSpPr>
            <a:spLocks noChangeArrowheads="1"/>
          </p:cNvSpPr>
          <p:nvPr/>
        </p:nvSpPr>
        <p:spPr bwMode="auto">
          <a:xfrm>
            <a:off x="606386" y="39828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、有参数有返回值的函数</a:t>
            </a:r>
          </a:p>
        </p:txBody>
      </p:sp>
      <p:sp>
        <p:nvSpPr>
          <p:cNvPr id="1047558" name="Rectangle 6"/>
          <p:cNvSpPr>
            <a:spLocks noChangeArrowheads="1"/>
          </p:cNvSpPr>
          <p:nvPr/>
        </p:nvSpPr>
        <p:spPr bwMode="auto">
          <a:xfrm>
            <a:off x="1038187" y="471628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函数调用 </a:t>
            </a:r>
          </a:p>
        </p:txBody>
      </p:sp>
      <p:sp>
        <p:nvSpPr>
          <p:cNvPr id="1047559" name="Text Box 7"/>
          <p:cNvSpPr txBox="1">
            <a:spLocks noChangeArrowheads="1"/>
          </p:cNvSpPr>
          <p:nvPr/>
        </p:nvSpPr>
        <p:spPr bwMode="auto">
          <a:xfrm>
            <a:off x="1471575" y="906880"/>
            <a:ext cx="8224826" cy="12954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  <a:p>
            <a:r>
              <a:rPr kumimoji="0"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                  或</a:t>
            </a:r>
            <a:endParaRPr lang="zh-CN" altLang="en-US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变量名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=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 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47563" name="Rectangle 11" descr="信纸"/>
          <p:cNvSpPr>
            <a:spLocks noChangeArrowheads="1"/>
          </p:cNvSpPr>
          <p:nvPr/>
        </p:nvSpPr>
        <p:spPr bwMode="auto">
          <a:xfrm>
            <a:off x="1467733" y="2348880"/>
            <a:ext cx="9812843" cy="4401205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max (in t a,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b);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函数的原型声明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a, b, c;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d%d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", &amp;a, &amp;b);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c = max (a, b);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函数调用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(a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为实参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biggest number is : %d\n", c);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max (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a, </a:t>
            </a:r>
            <a:r>
              <a:rPr lang="en-US" altLang="zh-CN" sz="20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b)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函数定义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(a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为形参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return (a &gt; b ? a : b);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47564" name="Rectangle 12"/>
          <p:cNvSpPr>
            <a:spLocks noChangeArrowheads="1"/>
          </p:cNvSpPr>
          <p:nvPr/>
        </p:nvSpPr>
        <p:spPr bwMode="auto">
          <a:xfrm>
            <a:off x="7608168" y="5443288"/>
            <a:ext cx="3456384" cy="10156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5  9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↙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biggest number is 9</a:t>
            </a:r>
          </a:p>
        </p:txBody>
      </p:sp>
      <p:grpSp>
        <p:nvGrpSpPr>
          <p:cNvPr id="1047565" name="Group 13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47566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4756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475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475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75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47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558" grpId="0"/>
      <p:bldP spid="1047559" grpId="0" animBg="1"/>
      <p:bldP spid="1047563" grpId="0" animBg="1"/>
      <p:bldP spid="104756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2" name="Rectangle 2"/>
          <p:cNvSpPr>
            <a:spLocks noChangeArrowheads="1"/>
          </p:cNvSpPr>
          <p:nvPr/>
        </p:nvSpPr>
        <p:spPr bwMode="auto">
          <a:xfrm>
            <a:off x="608821" y="188913"/>
            <a:ext cx="418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b="1" dirty="0">
                <a:ln w="1905"/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、函数调用和函数说明小结</a:t>
            </a:r>
          </a:p>
        </p:txBody>
      </p:sp>
      <p:sp>
        <p:nvSpPr>
          <p:cNvPr id="1049610" name="Rectangle 10"/>
          <p:cNvSpPr>
            <a:spLocks noChangeArrowheads="1"/>
          </p:cNvSpPr>
          <p:nvPr/>
        </p:nvSpPr>
        <p:spPr bwMode="auto">
          <a:xfrm>
            <a:off x="1040622" y="649288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函数调用 </a:t>
            </a:r>
          </a:p>
        </p:txBody>
      </p:sp>
      <p:sp>
        <p:nvSpPr>
          <p:cNvPr id="1049611" name="Rectangle 11"/>
          <p:cNvSpPr>
            <a:spLocks noChangeArrowheads="1"/>
          </p:cNvSpPr>
          <p:nvPr/>
        </p:nvSpPr>
        <p:spPr bwMode="auto">
          <a:xfrm>
            <a:off x="1474009" y="1125538"/>
            <a:ext cx="6842125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函数语句：</a:t>
            </a:r>
          </a:p>
          <a:p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例：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printstar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( 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(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Hello,World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!\n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);</a:t>
            </a:r>
          </a:p>
          <a:p>
            <a:pP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函数表达式：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: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m = max (a, b) * 2;</a:t>
            </a:r>
          </a:p>
          <a:p>
            <a:pP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函数参数：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: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(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%d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max(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a,b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m = max (a, max(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b,c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));</a:t>
            </a:r>
          </a:p>
        </p:txBody>
      </p:sp>
      <p:grpSp>
        <p:nvGrpSpPr>
          <p:cNvPr id="1049612" name="Group 12"/>
          <p:cNvGrpSpPr>
            <a:grpSpLocks/>
          </p:cNvGrpSpPr>
          <p:nvPr/>
        </p:nvGrpSpPr>
        <p:grpSpPr bwMode="auto">
          <a:xfrm>
            <a:off x="-2367" y="0"/>
            <a:ext cx="446088" cy="6858000"/>
            <a:chOff x="0" y="0"/>
            <a:chExt cx="281" cy="4320"/>
          </a:xfrm>
        </p:grpSpPr>
        <p:sp>
          <p:nvSpPr>
            <p:cNvPr id="1049613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49614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9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9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49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9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9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9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9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9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9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9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49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49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49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49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49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49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02" grpId="0"/>
      <p:bldP spid="10496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40" y="268289"/>
            <a:ext cx="11676692" cy="6315075"/>
          </a:xfrm>
        </p:spPr>
        <p:txBody>
          <a:bodyPr/>
          <a:lstStyle/>
          <a:p>
            <a:pPr lvl="1"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函数说明</a:t>
            </a:r>
          </a:p>
          <a:p>
            <a:pPr lvl="2">
              <a:buFont typeface="Wingdings" pitchFamily="2" charset="2"/>
              <a:buChar char="l"/>
            </a:pPr>
            <a:r>
              <a:rPr lang="zh-CN" altLang="en-US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对被调用函数要求：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a typeface="楷体" pitchFamily="49" charset="-122"/>
              </a:rPr>
              <a:t>必须是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已存在</a:t>
            </a:r>
            <a:r>
              <a:rPr lang="zh-CN" altLang="en-US" dirty="0">
                <a:ea typeface="楷体" pitchFamily="49" charset="-122"/>
              </a:rPr>
              <a:t>的函数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a typeface="楷体" pitchFamily="49" charset="-122"/>
              </a:rPr>
              <a:t>库函数</a:t>
            </a:r>
            <a:r>
              <a:rPr lang="en-US" altLang="zh-CN" dirty="0">
                <a:ea typeface="楷体" pitchFamily="49" charset="-122"/>
              </a:rPr>
              <a:t>: 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#include &lt;*.h&gt;</a:t>
            </a:r>
            <a:endParaRPr lang="en-US" altLang="zh-CN" dirty="0">
              <a:ea typeface="楷体" pitchFamily="49" charset="-122"/>
            </a:endParaRP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zh-CN" dirty="0">
                <a:ea typeface="楷体" pitchFamily="49" charset="-122"/>
              </a:rPr>
              <a:t>用户自定义函数: </a:t>
            </a:r>
            <a:r>
              <a:rPr lang="zh-CN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函数类型说明</a:t>
            </a:r>
          </a:p>
          <a:p>
            <a:pPr lvl="2">
              <a:buFont typeface="Wingdings" pitchFamily="2" charset="2"/>
              <a:buChar char="l"/>
            </a:pPr>
            <a:r>
              <a:rPr lang="zh-CN" altLang="en-US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函数说明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a typeface="楷体" pitchFamily="49" charset="-122"/>
              </a:rPr>
              <a:t>一般形式：   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形参类型  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[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形参名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],….. );</a:t>
            </a:r>
          </a:p>
          <a:p>
            <a:pPr lvl="3"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         </a:t>
            </a:r>
            <a:r>
              <a:rPr lang="zh-CN" altLang="en-US" dirty="0">
                <a:ea typeface="楷体" pitchFamily="49" charset="-122"/>
              </a:rPr>
              <a:t>或            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(   );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a typeface="楷体" pitchFamily="49" charset="-122"/>
              </a:rPr>
              <a:t>作用：告诉编译系统</a:t>
            </a:r>
            <a:r>
              <a:rPr lang="zh-CN" altLang="en-US" dirty="0">
                <a:ea typeface="楷体" pitchFamily="49" charset="-122"/>
                <a:sym typeface="Symbol" pitchFamily="18" charset="2"/>
              </a:rPr>
              <a:t>函数类型、参数个数及类型，以便检验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  <a:sym typeface="Symbol" pitchFamily="18" charset="2"/>
              </a:rPr>
              <a:t>函数定义</a:t>
            </a:r>
            <a:r>
              <a:rPr lang="zh-CN" altLang="en-US" dirty="0">
                <a:ea typeface="楷体" pitchFamily="49" charset="-122"/>
                <a:sym typeface="Symbol" pitchFamily="18" charset="2"/>
              </a:rPr>
              <a:t>与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  <a:sym typeface="Symbol" pitchFamily="18" charset="2"/>
              </a:rPr>
              <a:t>函数说明</a:t>
            </a:r>
            <a:r>
              <a:rPr lang="zh-CN" altLang="en-US" dirty="0">
                <a:ea typeface="楷体" pitchFamily="49" charset="-122"/>
                <a:sym typeface="Symbol" pitchFamily="18" charset="2"/>
              </a:rPr>
              <a:t>不同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a typeface="楷体" pitchFamily="49" charset="-122"/>
              </a:rPr>
              <a:t>函数说明位置：</a:t>
            </a:r>
            <a:r>
              <a:rPr lang="zh-CN" altLang="en-US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程序的数据说明部分（函数内或外）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zh-CN" dirty="0">
                <a:ea typeface="楷体" pitchFamily="49" charset="-122"/>
              </a:rPr>
              <a:t>下列情况下，可不作函数说明</a:t>
            </a:r>
          </a:p>
          <a:p>
            <a:pPr lvl="4">
              <a:buFont typeface="Wingdings" pitchFamily="2" charset="2"/>
              <a:buChar char="u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若函数返值是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char</a:t>
            </a:r>
            <a:r>
              <a:rPr lang="zh-CN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或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int</a:t>
            </a:r>
            <a:r>
              <a:rPr lang="zh-CN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型</a:t>
            </a:r>
            <a:r>
              <a:rPr lang="zh-CN" altLang="zh-CN" dirty="0">
                <a:ea typeface="楷体" pitchFamily="49" charset="-122"/>
              </a:rPr>
              <a:t>，</a:t>
            </a:r>
            <a:r>
              <a:rPr lang="zh-CN" altLang="en-US" dirty="0">
                <a:ea typeface="楷体" pitchFamily="49" charset="-122"/>
              </a:rPr>
              <a:t>某些</a:t>
            </a:r>
            <a:r>
              <a:rPr lang="zh-CN" altLang="zh-CN" dirty="0">
                <a:ea typeface="楷体" pitchFamily="49" charset="-122"/>
              </a:rPr>
              <a:t>系统自动按</a:t>
            </a:r>
            <a:r>
              <a:rPr lang="en-US" altLang="zh-CN" dirty="0" err="1">
                <a:ea typeface="楷体" pitchFamily="49" charset="-122"/>
              </a:rPr>
              <a:t>int</a:t>
            </a:r>
            <a:r>
              <a:rPr lang="zh-CN" altLang="zh-CN" dirty="0">
                <a:ea typeface="楷体" pitchFamily="49" charset="-122"/>
              </a:rPr>
              <a:t>型处理</a:t>
            </a:r>
          </a:p>
          <a:p>
            <a:pPr lvl="4">
              <a:buFont typeface="Wingdings" pitchFamily="2" charset="2"/>
              <a:buChar char="u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</a:t>
            </a:r>
            <a:r>
              <a:rPr lang="zh-CN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被调用函数定义出现在主调函数之前</a:t>
            </a:r>
            <a:endParaRPr lang="zh-CN" altLang="zh-CN" dirty="0">
              <a:ea typeface="楷体" pitchFamily="49" charset="-122"/>
            </a:endParaRP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a typeface="楷体" pitchFamily="49" charset="-122"/>
              </a:rPr>
              <a:t>有些系统</a:t>
            </a:r>
            <a:r>
              <a:rPr lang="en-US" altLang="zh-CN" dirty="0">
                <a:ea typeface="楷体" pitchFamily="49" charset="-122"/>
              </a:rPr>
              <a:t>(</a:t>
            </a:r>
            <a:r>
              <a:rPr lang="zh-CN" altLang="en-US" dirty="0">
                <a:ea typeface="楷体" pitchFamily="49" charset="-122"/>
              </a:rPr>
              <a:t>如</a:t>
            </a:r>
            <a:r>
              <a:rPr lang="en-US" altLang="zh-CN" dirty="0">
                <a:ea typeface="楷体" pitchFamily="49" charset="-122"/>
              </a:rPr>
              <a:t>VC</a:t>
            </a:r>
            <a:r>
              <a:rPr lang="zh-CN" altLang="en-US" dirty="0">
                <a:ea typeface="楷体" pitchFamily="49" charset="-122"/>
              </a:rPr>
              <a:t>、</a:t>
            </a:r>
            <a:r>
              <a:rPr lang="en-US" altLang="zh-CN" dirty="0">
                <a:ea typeface="楷体" pitchFamily="49" charset="-122"/>
              </a:rPr>
              <a:t>CB)</a:t>
            </a:r>
            <a:r>
              <a:rPr lang="zh-CN" altLang="en-US" dirty="0">
                <a:ea typeface="楷体" pitchFamily="49" charset="-122"/>
              </a:rPr>
              <a:t>要求函数说明指出函数返值类型和形参类型，并且对</a:t>
            </a:r>
            <a:r>
              <a:rPr lang="en-US" altLang="zh-CN" dirty="0">
                <a:ea typeface="楷体" pitchFamily="49" charset="-122"/>
              </a:rPr>
              <a:t>void </a:t>
            </a:r>
            <a:r>
              <a:rPr lang="zh-CN" altLang="zh-CN" dirty="0">
                <a:ea typeface="楷体" pitchFamily="49" charset="-122"/>
              </a:rPr>
              <a:t>和 </a:t>
            </a:r>
            <a:r>
              <a:rPr lang="en-US" altLang="zh-CN" dirty="0" err="1">
                <a:ea typeface="楷体" pitchFamily="49" charset="-122"/>
              </a:rPr>
              <a:t>int</a:t>
            </a:r>
            <a:r>
              <a:rPr lang="en-US" altLang="zh-CN" dirty="0">
                <a:ea typeface="楷体" pitchFamily="49" charset="-122"/>
              </a:rPr>
              <a:t> </a:t>
            </a:r>
            <a:r>
              <a:rPr lang="zh-CN" altLang="zh-CN" dirty="0">
                <a:ea typeface="楷体" pitchFamily="49" charset="-122"/>
              </a:rPr>
              <a:t>型函数也要进行函数说明</a:t>
            </a:r>
            <a:endParaRPr lang="zh-CN" altLang="en-US" dirty="0">
              <a:ea typeface="楷体" pitchFamily="49" charset="-122"/>
            </a:endParaRPr>
          </a:p>
        </p:txBody>
      </p:sp>
      <p:grpSp>
        <p:nvGrpSpPr>
          <p:cNvPr id="1051654" name="Group 6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51655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51656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51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51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51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51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51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51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51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51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51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51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51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51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516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516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650" grpId="0" build="p" bldLvl="5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Text Box 2"/>
          <p:cNvSpPr txBox="1">
            <a:spLocks noChangeArrowheads="1"/>
          </p:cNvSpPr>
          <p:nvPr/>
        </p:nvSpPr>
        <p:spPr bwMode="auto">
          <a:xfrm>
            <a:off x="683875" y="115888"/>
            <a:ext cx="30432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: 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函数说明举例</a:t>
            </a:r>
          </a:p>
        </p:txBody>
      </p:sp>
      <p:sp>
        <p:nvSpPr>
          <p:cNvPr id="1052682" name="Rectangle 10" descr="信纸"/>
          <p:cNvSpPr>
            <a:spLocks noChangeArrowheads="1"/>
          </p:cNvSpPr>
          <p:nvPr/>
        </p:nvSpPr>
        <p:spPr bwMode="auto">
          <a:xfrm>
            <a:off x="899774" y="692151"/>
            <a:ext cx="4921540" cy="6001643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>
            <a:spAutoFit/>
            <a:sp3d extrusionH="57150">
              <a:bevelT w="57150" h="38100" prst="hardEdge"/>
            </a:sp3d>
          </a:bodyPr>
          <a:lstStyle/>
          <a:p>
            <a:pPr eaLnBrk="0" hangingPunct="0"/>
            <a:r>
              <a:rPr lang="en-US" altLang="zh-CN" b="1" dirty="0" err="1">
                <a:solidFill>
                  <a:srgbClr val="C0000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main( )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{   </a:t>
            </a:r>
          </a:p>
          <a:p>
            <a:pPr eaLnBrk="0" hangingPunct="0"/>
            <a:r>
              <a:rPr lang="en-US" altLang="zh-CN" b="1" dirty="0">
                <a:solidFill>
                  <a:srgbClr val="FF3399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float add(</a:t>
            </a:r>
            <a:r>
              <a:rPr lang="en-US" altLang="zh-CN" b="1" dirty="0" err="1">
                <a:solidFill>
                  <a:srgbClr val="FF3399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float,float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);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楷体" pitchFamily="49" charset="-122"/>
              </a:rPr>
              <a:t>函数原型声明</a:t>
            </a:r>
          </a:p>
          <a:p>
            <a:pPr eaLnBrk="0" hangingPunct="0"/>
            <a:r>
              <a:rPr lang="zh-CN" altLang="en-US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</a:t>
            </a:r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float a, b ,c;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</a:t>
            </a:r>
            <a:r>
              <a:rPr lang="en-US" altLang="zh-CN" b="1" dirty="0" err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scanf</a:t>
            </a:r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("%</a:t>
            </a:r>
            <a:r>
              <a:rPr lang="en-US" altLang="zh-CN" b="1" dirty="0" err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f,%f</a:t>
            </a:r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", &amp;a, &amp;b);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c = add (a, b);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</a:t>
            </a:r>
            <a:r>
              <a:rPr lang="en-US" altLang="zh-CN" b="1" dirty="0" err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("sum is %f", c);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return 0</a:t>
            </a:r>
            <a:r>
              <a:rPr lang="zh-CN" altLang="en-US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；</a:t>
            </a:r>
            <a:endParaRPr lang="en-US" altLang="zh-CN" b="1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}</a:t>
            </a:r>
          </a:p>
          <a:p>
            <a:pPr eaLnBrk="0" hangingPunct="0"/>
            <a:endParaRPr lang="en-US" altLang="zh-CN" b="1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  <a:p>
            <a:pPr eaLnBrk="0" hangingPunct="0"/>
            <a:r>
              <a:rPr lang="en-US" altLang="zh-CN" b="1" dirty="0">
                <a:solidFill>
                  <a:srgbClr val="FF3399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float add (float x, float y)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{   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float z;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z = x + y;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    return (z);</a:t>
            </a:r>
          </a:p>
          <a:p>
            <a:pPr eaLnBrk="0" hangingPunct="0"/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}</a:t>
            </a:r>
          </a:p>
        </p:txBody>
      </p:sp>
      <p:grpSp>
        <p:nvGrpSpPr>
          <p:cNvPr id="1052691" name="Group 19"/>
          <p:cNvGrpSpPr>
            <a:grpSpLocks/>
          </p:cNvGrpSpPr>
          <p:nvPr/>
        </p:nvGrpSpPr>
        <p:grpSpPr bwMode="auto">
          <a:xfrm>
            <a:off x="-339" y="0"/>
            <a:ext cx="446088" cy="6858000"/>
            <a:chOff x="0" y="0"/>
            <a:chExt cx="281" cy="4320"/>
          </a:xfrm>
        </p:grpSpPr>
        <p:sp>
          <p:nvSpPr>
            <p:cNvPr id="1052692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52693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1052688" name="Group 16"/>
          <p:cNvGrpSpPr>
            <a:grpSpLocks/>
          </p:cNvGrpSpPr>
          <p:nvPr/>
        </p:nvGrpSpPr>
        <p:grpSpPr bwMode="auto">
          <a:xfrm>
            <a:off x="3678186" y="836712"/>
            <a:ext cx="6018214" cy="5632450"/>
            <a:chOff x="1084" y="527"/>
            <a:chExt cx="3791" cy="3548"/>
          </a:xfrm>
        </p:grpSpPr>
        <p:sp>
          <p:nvSpPr>
            <p:cNvPr id="1052679" name="Rectangle 7" descr="信纸"/>
            <p:cNvSpPr>
              <a:spLocks noChangeArrowheads="1"/>
            </p:cNvSpPr>
            <p:nvPr/>
          </p:nvSpPr>
          <p:spPr bwMode="auto">
            <a:xfrm>
              <a:off x="1084" y="527"/>
              <a:ext cx="3402" cy="3548"/>
            </a:xfrm>
            <a:prstGeom prst="rect">
              <a:avLst/>
            </a:prstGeom>
            <a:blipFill dpi="0" rotWithShape="1">
              <a:blip r:embed="rId4" cstate="print"/>
              <a:srcRect/>
              <a:tile tx="0" ty="0" sx="100000" sy="100000" flip="none" algn="tl"/>
            </a:blipFill>
            <a:ln w="38100">
              <a:solidFill>
                <a:srgbClr val="008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1" dirty="0">
                  <a:solidFill>
                    <a:srgbClr val="CC0099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float add (float x, float y)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{   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float z;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z = x + y;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return (z);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}</a:t>
              </a:r>
            </a:p>
            <a:p>
              <a:pPr eaLnBrk="0" hangingPunct="0"/>
              <a:endPara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endParaRPr>
            </a:p>
            <a:p>
              <a:pPr eaLnBrk="0" hangingPunct="0"/>
              <a:r>
                <a:rPr lang="en-US" altLang="zh-CN" b="1" dirty="0" err="1">
                  <a:solidFill>
                    <a:srgbClr val="CC000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int</a:t>
              </a:r>
              <a:r>
                <a:rPr lang="en-US" altLang="zh-CN" b="1" dirty="0">
                  <a:solidFill>
                    <a:srgbClr val="CC000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main ( )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{   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float a, b, c;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scanf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("%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f,%f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", &amp;a, &amp;b);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c = add (a, b);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printf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("sum is %f", c);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return 0;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}</a:t>
              </a:r>
            </a:p>
          </p:txBody>
        </p:sp>
        <p:sp>
          <p:nvSpPr>
            <p:cNvPr id="1052687" name="AutoShape 15"/>
            <p:cNvSpPr>
              <a:spLocks noChangeArrowheads="1"/>
            </p:cNvSpPr>
            <p:nvPr/>
          </p:nvSpPr>
          <p:spPr bwMode="auto">
            <a:xfrm>
              <a:off x="2789" y="1207"/>
              <a:ext cx="2086" cy="499"/>
            </a:xfrm>
            <a:prstGeom prst="wedgeRoundRectCallout">
              <a:avLst>
                <a:gd name="adj1" fmla="val -59972"/>
                <a:gd name="adj2" fmla="val -130963"/>
                <a:gd name="adj3" fmla="val 16667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22225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zh-CN" altLang="en-US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被调函数出现在主调函数之前，不必函数说明</a:t>
              </a:r>
            </a:p>
          </p:txBody>
        </p:sp>
      </p:grpSp>
      <p:grpSp>
        <p:nvGrpSpPr>
          <p:cNvPr id="1052690" name="Group 18"/>
          <p:cNvGrpSpPr>
            <a:grpSpLocks/>
          </p:cNvGrpSpPr>
          <p:nvPr/>
        </p:nvGrpSpPr>
        <p:grpSpPr bwMode="auto">
          <a:xfrm>
            <a:off x="6661645" y="642957"/>
            <a:ext cx="5410203" cy="6002338"/>
            <a:chOff x="1073" y="188"/>
            <a:chExt cx="3408" cy="3781"/>
          </a:xfrm>
        </p:grpSpPr>
        <p:sp>
          <p:nvSpPr>
            <p:cNvPr id="1052676" name="Rectangle 4" descr="信纸"/>
            <p:cNvSpPr>
              <a:spLocks noChangeArrowheads="1"/>
            </p:cNvSpPr>
            <p:nvPr/>
          </p:nvSpPr>
          <p:spPr bwMode="auto">
            <a:xfrm>
              <a:off x="1073" y="188"/>
              <a:ext cx="2502" cy="3781"/>
            </a:xfrm>
            <a:prstGeom prst="rect">
              <a:avLst/>
            </a:prstGeom>
            <a:blipFill dpi="0" rotWithShape="1">
              <a:blip r:embed="rId5" cstate="print"/>
              <a:srcRect/>
              <a:tile tx="0" ty="0" sx="100000" sy="100000" flip="none" algn="tl"/>
            </a:blipFill>
            <a:ln w="38100">
              <a:solidFill>
                <a:srgbClr val="008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dirty="0" err="1">
                  <a:solidFill>
                    <a:srgbClr val="C0000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int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main ( )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{   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float 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a,b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int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c;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scanf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("%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f,%f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", &amp;a, &amp;b);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c = max (a, b);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</a:t>
              </a:r>
              <a:r>
                <a:rPr lang="en-US" altLang="zh-CN" b="1" dirty="0" err="1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printf</a:t>
              </a:r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("Max is %d\n", c);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return 0;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}</a:t>
              </a:r>
            </a:p>
            <a:p>
              <a:pPr eaLnBrk="0" hangingPunct="0"/>
              <a:endPara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endParaRPr>
            </a:p>
            <a:p>
              <a:pPr eaLnBrk="0" hangingPunct="0"/>
              <a:r>
                <a:rPr lang="en-US" altLang="zh-CN" b="1" dirty="0">
                  <a:solidFill>
                    <a:srgbClr val="CC0099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max (float x, float y)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{   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float z;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z = x &gt; y ? x : y;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    return (z);</a:t>
              </a:r>
            </a:p>
            <a:p>
              <a:pPr eaLnBrk="0" hangingPunct="0"/>
              <a:r>
                <a:rPr lang="en-US" altLang="zh-CN" b="1" dirty="0"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a:rPr>
                <a:t>}</a:t>
              </a:r>
            </a:p>
          </p:txBody>
        </p:sp>
        <p:sp>
          <p:nvSpPr>
            <p:cNvPr id="1052689" name="AutoShape 17"/>
            <p:cNvSpPr>
              <a:spLocks noChangeArrowheads="1"/>
            </p:cNvSpPr>
            <p:nvPr/>
          </p:nvSpPr>
          <p:spPr bwMode="auto">
            <a:xfrm>
              <a:off x="2395" y="3440"/>
              <a:ext cx="2086" cy="499"/>
            </a:xfrm>
            <a:prstGeom prst="wedgeRoundRectCallout">
              <a:avLst>
                <a:gd name="adj1" fmla="val -56483"/>
                <a:gd name="adj2" fmla="val -185290"/>
                <a:gd name="adj3" fmla="val 16667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22225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en-US" altLang="zh-CN" sz="2000" b="1" dirty="0" err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int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型函数可不作函数说明（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VC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CB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下</a:t>
              </a:r>
              <a:r>
                <a:rPr lang="zh-CN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不行）</a:t>
              </a:r>
              <a:endParaRPr lang="zh-CN" altLang="en-US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2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2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526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68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42887" y="101600"/>
            <a:ext cx="496728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8.3  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函数参数的传递方式</a:t>
            </a:r>
            <a:r>
              <a:rPr lang="zh-CN" altLang="en-US"/>
              <a:t> </a:t>
            </a:r>
          </a:p>
        </p:txBody>
      </p:sp>
      <p:sp>
        <p:nvSpPr>
          <p:cNvPr id="1053699" name="Rectangle 3"/>
          <p:cNvSpPr>
            <a:spLocks noChangeArrowheads="1"/>
          </p:cNvSpPr>
          <p:nvPr/>
        </p:nvSpPr>
        <p:spPr bwMode="auto">
          <a:xfrm>
            <a:off x="780985" y="1327656"/>
            <a:ext cx="245744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、值传递方式</a:t>
            </a:r>
          </a:p>
        </p:txBody>
      </p:sp>
      <p:sp>
        <p:nvSpPr>
          <p:cNvPr id="1053716" name="Rectangle 20"/>
          <p:cNvSpPr>
            <a:spLocks noChangeArrowheads="1"/>
          </p:cNvSpPr>
          <p:nvPr/>
        </p:nvSpPr>
        <p:spPr bwMode="auto">
          <a:xfrm>
            <a:off x="495232" y="733495"/>
            <a:ext cx="11217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根据实参传递给形参值的不同，通常有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值传递方式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地址传递方式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两种。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53717" name="Rectangle 21"/>
          <p:cNvSpPr>
            <a:spLocks noChangeArrowheads="1"/>
          </p:cNvSpPr>
          <p:nvPr/>
        </p:nvSpPr>
        <p:spPr bwMode="auto">
          <a:xfrm>
            <a:off x="1281051" y="1759456"/>
            <a:ext cx="1012996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方式：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函数调用时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为形参分配内存单元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并将实参的值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复制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到形参中；调用结束，形参单元被释放，实参单元仍保留并维持原值。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特点：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① 形参与实参占用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不同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的内存单元</a:t>
            </a:r>
          </a:p>
          <a:p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② 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单向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传递</a:t>
            </a:r>
          </a:p>
        </p:txBody>
      </p:sp>
      <p:grpSp>
        <p:nvGrpSpPr>
          <p:cNvPr id="1053718" name="Group 22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53719" name="Text Box 2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53720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3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5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53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3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537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9" grpId="1"/>
      <p:bldP spid="10537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857" name="Group 113"/>
          <p:cNvGrpSpPr>
            <a:grpSpLocks/>
          </p:cNvGrpSpPr>
          <p:nvPr/>
        </p:nvGrpSpPr>
        <p:grpSpPr bwMode="auto">
          <a:xfrm>
            <a:off x="8830171" y="1347789"/>
            <a:ext cx="2736850" cy="1793875"/>
            <a:chOff x="3923" y="939"/>
            <a:chExt cx="1724" cy="1130"/>
          </a:xfrm>
        </p:grpSpPr>
        <p:sp>
          <p:nvSpPr>
            <p:cNvPr id="1055814" name="Rectangle 70"/>
            <p:cNvSpPr>
              <a:spLocks noChangeArrowheads="1"/>
            </p:cNvSpPr>
            <p:nvPr/>
          </p:nvSpPr>
          <p:spPr bwMode="auto">
            <a:xfrm>
              <a:off x="3923" y="981"/>
              <a:ext cx="1724" cy="1088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55815" name="Group 71"/>
            <p:cNvGrpSpPr>
              <a:grpSpLocks/>
            </p:cNvGrpSpPr>
            <p:nvPr/>
          </p:nvGrpSpPr>
          <p:grpSpPr bwMode="auto">
            <a:xfrm>
              <a:off x="3969" y="1161"/>
              <a:ext cx="590" cy="317"/>
              <a:chOff x="2460" y="12426"/>
              <a:chExt cx="930" cy="492"/>
            </a:xfrm>
          </p:grpSpPr>
          <p:sp>
            <p:nvSpPr>
              <p:cNvPr id="1055816" name="Text Box 72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17" name="Text Box 73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18" name="Group 74"/>
            <p:cNvGrpSpPr>
              <a:grpSpLocks/>
            </p:cNvGrpSpPr>
            <p:nvPr/>
          </p:nvGrpSpPr>
          <p:grpSpPr bwMode="auto">
            <a:xfrm>
              <a:off x="4876" y="1161"/>
              <a:ext cx="613" cy="303"/>
              <a:chOff x="3780" y="12447"/>
              <a:chExt cx="960" cy="477"/>
            </a:xfrm>
          </p:grpSpPr>
          <p:sp>
            <p:nvSpPr>
              <p:cNvPr id="1055819" name="Text Box 75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20" name="Text Box 76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829" name="Text Box 85"/>
            <p:cNvSpPr txBox="1">
              <a:spLocks noChangeArrowheads="1"/>
            </p:cNvSpPr>
            <p:nvPr/>
          </p:nvSpPr>
          <p:spPr bwMode="auto">
            <a:xfrm>
              <a:off x="4331" y="939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②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 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调用</a:t>
              </a:r>
            </a:p>
          </p:txBody>
        </p:sp>
      </p:grpSp>
      <p:sp>
        <p:nvSpPr>
          <p:cNvPr id="1055746" name="Text Box 2"/>
          <p:cNvSpPr txBox="1">
            <a:spLocks noChangeArrowheads="1"/>
          </p:cNvSpPr>
          <p:nvPr/>
        </p:nvSpPr>
        <p:spPr bwMode="auto">
          <a:xfrm>
            <a:off x="679412" y="115888"/>
            <a:ext cx="49672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: 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交换两个数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值传递方式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)</a:t>
            </a:r>
          </a:p>
        </p:txBody>
      </p:sp>
      <p:sp>
        <p:nvSpPr>
          <p:cNvPr id="1055753" name="Rectangle 9" descr="信纸"/>
          <p:cNvSpPr>
            <a:spLocks noChangeArrowheads="1"/>
          </p:cNvSpPr>
          <p:nvPr/>
        </p:nvSpPr>
        <p:spPr bwMode="auto">
          <a:xfrm>
            <a:off x="823874" y="727075"/>
            <a:ext cx="7669747" cy="5940088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void swap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a,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b); 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x = 7, y = 11;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("before swapped: ");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("x=%d, y=%d\n", x, y);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swap (x, y);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("after  swapped: ");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("x=%d, y=%d\n", x, y);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swap (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a,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b)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temp;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temp = a;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a = b;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b = temp;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55757" name="Rectangle 13"/>
          <p:cNvSpPr>
            <a:spLocks noChangeArrowheads="1"/>
          </p:cNvSpPr>
          <p:nvPr/>
        </p:nvSpPr>
        <p:spPr bwMode="auto">
          <a:xfrm>
            <a:off x="4857581" y="5336922"/>
            <a:ext cx="3382962" cy="10445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before swapped: x = 7, y = 11</a:t>
            </a:r>
          </a:p>
          <a:p>
            <a:pPr algn="ctr"/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after  swapped: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 = 7, y = 11</a:t>
            </a:r>
          </a:p>
        </p:txBody>
      </p:sp>
      <p:grpSp>
        <p:nvGrpSpPr>
          <p:cNvPr id="1055856" name="Group 112"/>
          <p:cNvGrpSpPr>
            <a:grpSpLocks/>
          </p:cNvGrpSpPr>
          <p:nvPr/>
        </p:nvGrpSpPr>
        <p:grpSpPr bwMode="auto">
          <a:xfrm>
            <a:off x="8830171" y="174625"/>
            <a:ext cx="2736850" cy="1093788"/>
            <a:chOff x="3923" y="110"/>
            <a:chExt cx="1724" cy="689"/>
          </a:xfrm>
        </p:grpSpPr>
        <p:sp>
          <p:nvSpPr>
            <p:cNvPr id="1055813" name="Rectangle 69"/>
            <p:cNvSpPr>
              <a:spLocks noChangeArrowheads="1"/>
            </p:cNvSpPr>
            <p:nvPr/>
          </p:nvSpPr>
          <p:spPr bwMode="auto">
            <a:xfrm>
              <a:off x="3923" y="119"/>
              <a:ext cx="1724" cy="68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55762" name="Group 18"/>
            <p:cNvGrpSpPr>
              <a:grpSpLocks/>
            </p:cNvGrpSpPr>
            <p:nvPr/>
          </p:nvGrpSpPr>
          <p:grpSpPr bwMode="auto">
            <a:xfrm>
              <a:off x="3969" y="373"/>
              <a:ext cx="590" cy="317"/>
              <a:chOff x="2460" y="12426"/>
              <a:chExt cx="930" cy="492"/>
            </a:xfrm>
          </p:grpSpPr>
          <p:sp>
            <p:nvSpPr>
              <p:cNvPr id="1055763" name="Text Box 19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764" name="Text Box 20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765" name="Group 21"/>
            <p:cNvGrpSpPr>
              <a:grpSpLocks/>
            </p:cNvGrpSpPr>
            <p:nvPr/>
          </p:nvGrpSpPr>
          <p:grpSpPr bwMode="auto">
            <a:xfrm>
              <a:off x="4851" y="360"/>
              <a:ext cx="613" cy="303"/>
              <a:chOff x="3780" y="12447"/>
              <a:chExt cx="960" cy="477"/>
            </a:xfrm>
          </p:grpSpPr>
          <p:sp>
            <p:nvSpPr>
              <p:cNvPr id="1055766" name="Text Box 22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767" name="Text Box 23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768" name="Text Box 24"/>
            <p:cNvSpPr txBox="1">
              <a:spLocks noChangeArrowheads="1"/>
            </p:cNvSpPr>
            <p:nvPr/>
          </p:nvSpPr>
          <p:spPr bwMode="auto">
            <a:xfrm>
              <a:off x="4276" y="110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① 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调用前</a:t>
              </a:r>
            </a:p>
          </p:txBody>
        </p:sp>
      </p:grpSp>
      <p:grpSp>
        <p:nvGrpSpPr>
          <p:cNvPr id="1055821" name="Group 77"/>
          <p:cNvGrpSpPr>
            <a:grpSpLocks/>
          </p:cNvGrpSpPr>
          <p:nvPr/>
        </p:nvGrpSpPr>
        <p:grpSpPr bwMode="auto">
          <a:xfrm>
            <a:off x="8904784" y="2544764"/>
            <a:ext cx="936625" cy="503237"/>
            <a:chOff x="2460" y="12426"/>
            <a:chExt cx="930" cy="492"/>
          </a:xfrm>
        </p:grpSpPr>
        <p:sp>
          <p:nvSpPr>
            <p:cNvPr id="1055822" name="Text Box 78"/>
            <p:cNvSpPr txBox="1">
              <a:spLocks noChangeArrowheads="1"/>
            </p:cNvSpPr>
            <p:nvPr/>
          </p:nvSpPr>
          <p:spPr bwMode="auto">
            <a:xfrm>
              <a:off x="2850" y="12450"/>
              <a:ext cx="540" cy="4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7</a:t>
              </a:r>
            </a:p>
          </p:txBody>
        </p:sp>
        <p:sp>
          <p:nvSpPr>
            <p:cNvPr id="1055823" name="Text Box 79"/>
            <p:cNvSpPr txBox="1">
              <a:spLocks noChangeArrowheads="1"/>
            </p:cNvSpPr>
            <p:nvPr/>
          </p:nvSpPr>
          <p:spPr bwMode="auto">
            <a:xfrm>
              <a:off x="2460" y="12426"/>
              <a:ext cx="54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055824" name="Group 80"/>
          <p:cNvGrpSpPr>
            <a:grpSpLocks/>
          </p:cNvGrpSpPr>
          <p:nvPr/>
        </p:nvGrpSpPr>
        <p:grpSpPr bwMode="auto">
          <a:xfrm>
            <a:off x="10363697" y="2503489"/>
            <a:ext cx="936625" cy="503237"/>
            <a:chOff x="2460" y="12426"/>
            <a:chExt cx="930" cy="492"/>
          </a:xfrm>
        </p:grpSpPr>
        <p:sp>
          <p:nvSpPr>
            <p:cNvPr id="1055825" name="Text Box 81"/>
            <p:cNvSpPr txBox="1">
              <a:spLocks noChangeArrowheads="1"/>
            </p:cNvSpPr>
            <p:nvPr/>
          </p:nvSpPr>
          <p:spPr bwMode="auto">
            <a:xfrm>
              <a:off x="2850" y="12450"/>
              <a:ext cx="540" cy="4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</a:t>
              </a:r>
            </a:p>
          </p:txBody>
        </p:sp>
        <p:sp>
          <p:nvSpPr>
            <p:cNvPr id="1055826" name="Text Box 82"/>
            <p:cNvSpPr txBox="1">
              <a:spLocks noChangeArrowheads="1"/>
            </p:cNvSpPr>
            <p:nvPr/>
          </p:nvSpPr>
          <p:spPr bwMode="auto">
            <a:xfrm>
              <a:off x="2460" y="12426"/>
              <a:ext cx="54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</p:grpSp>
      <p:sp>
        <p:nvSpPr>
          <p:cNvPr id="1055827" name="Line 83"/>
          <p:cNvSpPr>
            <a:spLocks noChangeShapeType="1"/>
          </p:cNvSpPr>
          <p:nvPr/>
        </p:nvSpPr>
        <p:spPr bwMode="auto">
          <a:xfrm>
            <a:off x="9550896" y="2205038"/>
            <a:ext cx="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28" name="Line 84"/>
          <p:cNvSpPr>
            <a:spLocks noChangeShapeType="1"/>
          </p:cNvSpPr>
          <p:nvPr/>
        </p:nvSpPr>
        <p:spPr bwMode="auto">
          <a:xfrm>
            <a:off x="11019333" y="2160588"/>
            <a:ext cx="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055855" name="Group 111"/>
          <p:cNvGrpSpPr>
            <a:grpSpLocks/>
          </p:cNvGrpSpPr>
          <p:nvPr/>
        </p:nvGrpSpPr>
        <p:grpSpPr bwMode="auto">
          <a:xfrm>
            <a:off x="8831758" y="3273425"/>
            <a:ext cx="2736850" cy="2274888"/>
            <a:chOff x="3924" y="2224"/>
            <a:chExt cx="1724" cy="1433"/>
          </a:xfrm>
        </p:grpSpPr>
        <p:sp>
          <p:nvSpPr>
            <p:cNvPr id="1055830" name="Rectangle 86"/>
            <p:cNvSpPr>
              <a:spLocks noChangeArrowheads="1"/>
            </p:cNvSpPr>
            <p:nvPr/>
          </p:nvSpPr>
          <p:spPr bwMode="auto">
            <a:xfrm>
              <a:off x="3924" y="2233"/>
              <a:ext cx="1724" cy="1424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31" name="Text Box 87"/>
            <p:cNvSpPr txBox="1">
              <a:spLocks noChangeArrowheads="1"/>
            </p:cNvSpPr>
            <p:nvPr/>
          </p:nvSpPr>
          <p:spPr bwMode="auto">
            <a:xfrm>
              <a:off x="4332" y="2224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③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swap</a:t>
              </a:r>
            </a:p>
          </p:txBody>
        </p:sp>
        <p:grpSp>
          <p:nvGrpSpPr>
            <p:cNvPr id="1055832" name="Group 88"/>
            <p:cNvGrpSpPr>
              <a:grpSpLocks/>
            </p:cNvGrpSpPr>
            <p:nvPr/>
          </p:nvGrpSpPr>
          <p:grpSpPr bwMode="auto">
            <a:xfrm>
              <a:off x="3970" y="2476"/>
              <a:ext cx="590" cy="317"/>
              <a:chOff x="2460" y="12426"/>
              <a:chExt cx="930" cy="492"/>
            </a:xfrm>
          </p:grpSpPr>
          <p:sp>
            <p:nvSpPr>
              <p:cNvPr id="1055833" name="Text Box 89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34" name="Text Box 90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35" name="Group 91"/>
            <p:cNvGrpSpPr>
              <a:grpSpLocks/>
            </p:cNvGrpSpPr>
            <p:nvPr/>
          </p:nvGrpSpPr>
          <p:grpSpPr bwMode="auto">
            <a:xfrm>
              <a:off x="4877" y="2476"/>
              <a:ext cx="613" cy="303"/>
              <a:chOff x="3780" y="12447"/>
              <a:chExt cx="960" cy="477"/>
            </a:xfrm>
          </p:grpSpPr>
          <p:sp>
            <p:nvSpPr>
              <p:cNvPr id="1055836" name="Text Box 92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37" name="Text Box 93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grpSp>
          <p:nvGrpSpPr>
            <p:cNvPr id="1055844" name="Group 100"/>
            <p:cNvGrpSpPr>
              <a:grpSpLocks/>
            </p:cNvGrpSpPr>
            <p:nvPr/>
          </p:nvGrpSpPr>
          <p:grpSpPr bwMode="auto">
            <a:xfrm>
              <a:off x="3971" y="2900"/>
              <a:ext cx="590" cy="317"/>
              <a:chOff x="2460" y="12426"/>
              <a:chExt cx="930" cy="492"/>
            </a:xfrm>
          </p:grpSpPr>
          <p:sp>
            <p:nvSpPr>
              <p:cNvPr id="1055845" name="Text Box 101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46" name="Text Box 102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055847" name="Group 103"/>
            <p:cNvGrpSpPr>
              <a:grpSpLocks/>
            </p:cNvGrpSpPr>
            <p:nvPr/>
          </p:nvGrpSpPr>
          <p:grpSpPr bwMode="auto">
            <a:xfrm>
              <a:off x="4890" y="2874"/>
              <a:ext cx="590" cy="317"/>
              <a:chOff x="2460" y="12426"/>
              <a:chExt cx="930" cy="492"/>
            </a:xfrm>
          </p:grpSpPr>
          <p:sp>
            <p:nvSpPr>
              <p:cNvPr id="1055848" name="Text Box 104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49" name="Text Box 105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055854" name="Group 110"/>
            <p:cNvGrpSpPr>
              <a:grpSpLocks/>
            </p:cNvGrpSpPr>
            <p:nvPr/>
          </p:nvGrpSpPr>
          <p:grpSpPr bwMode="auto">
            <a:xfrm>
              <a:off x="4250" y="3276"/>
              <a:ext cx="780" cy="305"/>
              <a:chOff x="4250" y="3276"/>
              <a:chExt cx="780" cy="305"/>
            </a:xfrm>
          </p:grpSpPr>
          <p:sp>
            <p:nvSpPr>
              <p:cNvPr id="1055851" name="Text Box 107"/>
              <p:cNvSpPr txBox="1">
                <a:spLocks noChangeArrowheads="1"/>
              </p:cNvSpPr>
              <p:nvPr/>
            </p:nvSpPr>
            <p:spPr bwMode="auto">
              <a:xfrm>
                <a:off x="4687" y="3276"/>
                <a:ext cx="343" cy="30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zh-CN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055852" name="Text Box 108"/>
              <p:cNvSpPr txBox="1">
                <a:spLocks noChangeArrowheads="1"/>
              </p:cNvSpPr>
              <p:nvPr/>
            </p:nvSpPr>
            <p:spPr bwMode="auto">
              <a:xfrm>
                <a:off x="4250" y="3279"/>
                <a:ext cx="497" cy="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rgbClr val="008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temp</a:t>
                </a:r>
              </a:p>
            </p:txBody>
          </p:sp>
        </p:grpSp>
      </p:grpSp>
      <p:sp>
        <p:nvSpPr>
          <p:cNvPr id="1055853" name="Text Box 109"/>
          <p:cNvSpPr txBox="1">
            <a:spLocks noChangeArrowheads="1"/>
          </p:cNvSpPr>
          <p:nvPr/>
        </p:nvSpPr>
        <p:spPr bwMode="auto">
          <a:xfrm>
            <a:off x="10054134" y="4943476"/>
            <a:ext cx="544513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sp>
        <p:nvSpPr>
          <p:cNvPr id="1055858" name="Line 114"/>
          <p:cNvSpPr>
            <a:spLocks noChangeShapeType="1"/>
          </p:cNvSpPr>
          <p:nvPr/>
        </p:nvSpPr>
        <p:spPr bwMode="auto">
          <a:xfrm>
            <a:off x="9666784" y="4929188"/>
            <a:ext cx="358775" cy="215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59" name="Line 115"/>
          <p:cNvSpPr>
            <a:spLocks noChangeShapeType="1"/>
          </p:cNvSpPr>
          <p:nvPr/>
        </p:nvSpPr>
        <p:spPr bwMode="auto">
          <a:xfrm flipH="1">
            <a:off x="9882684" y="4640263"/>
            <a:ext cx="7921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60" name="Text Box 116"/>
          <p:cNvSpPr txBox="1">
            <a:spLocks noChangeArrowheads="1"/>
          </p:cNvSpPr>
          <p:nvPr/>
        </p:nvSpPr>
        <p:spPr bwMode="auto">
          <a:xfrm>
            <a:off x="9306421" y="4367214"/>
            <a:ext cx="544512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11</a:t>
            </a:r>
          </a:p>
        </p:txBody>
      </p:sp>
      <p:sp>
        <p:nvSpPr>
          <p:cNvPr id="1055861" name="Line 117"/>
          <p:cNvSpPr>
            <a:spLocks noChangeShapeType="1"/>
          </p:cNvSpPr>
          <p:nvPr/>
        </p:nvSpPr>
        <p:spPr bwMode="auto">
          <a:xfrm flipV="1">
            <a:off x="10630397" y="4827588"/>
            <a:ext cx="288925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62" name="Text Box 118"/>
          <p:cNvSpPr txBox="1">
            <a:spLocks noChangeArrowheads="1"/>
          </p:cNvSpPr>
          <p:nvPr/>
        </p:nvSpPr>
        <p:spPr bwMode="auto">
          <a:xfrm>
            <a:off x="10760571" y="4324351"/>
            <a:ext cx="544512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grpSp>
        <p:nvGrpSpPr>
          <p:cNvPr id="1055872" name="Group 128"/>
          <p:cNvGrpSpPr>
            <a:grpSpLocks/>
          </p:cNvGrpSpPr>
          <p:nvPr/>
        </p:nvGrpSpPr>
        <p:grpSpPr bwMode="auto">
          <a:xfrm>
            <a:off x="8830171" y="5664200"/>
            <a:ext cx="2736850" cy="1093788"/>
            <a:chOff x="3923" y="3577"/>
            <a:chExt cx="1724" cy="689"/>
          </a:xfrm>
        </p:grpSpPr>
        <p:sp>
          <p:nvSpPr>
            <p:cNvPr id="1055864" name="Rectangle 120"/>
            <p:cNvSpPr>
              <a:spLocks noChangeArrowheads="1"/>
            </p:cNvSpPr>
            <p:nvPr/>
          </p:nvSpPr>
          <p:spPr bwMode="auto">
            <a:xfrm>
              <a:off x="3923" y="3586"/>
              <a:ext cx="1724" cy="68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55865" name="Group 121"/>
            <p:cNvGrpSpPr>
              <a:grpSpLocks/>
            </p:cNvGrpSpPr>
            <p:nvPr/>
          </p:nvGrpSpPr>
          <p:grpSpPr bwMode="auto">
            <a:xfrm>
              <a:off x="3969" y="3840"/>
              <a:ext cx="590" cy="317"/>
              <a:chOff x="2460" y="12426"/>
              <a:chExt cx="930" cy="492"/>
            </a:xfrm>
          </p:grpSpPr>
          <p:sp>
            <p:nvSpPr>
              <p:cNvPr id="1055866" name="Text Box 122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67" name="Text Box 123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68" name="Group 124"/>
            <p:cNvGrpSpPr>
              <a:grpSpLocks/>
            </p:cNvGrpSpPr>
            <p:nvPr/>
          </p:nvGrpSpPr>
          <p:grpSpPr bwMode="auto">
            <a:xfrm>
              <a:off x="4851" y="3827"/>
              <a:ext cx="613" cy="303"/>
              <a:chOff x="3780" y="12447"/>
              <a:chExt cx="960" cy="477"/>
            </a:xfrm>
          </p:grpSpPr>
          <p:sp>
            <p:nvSpPr>
              <p:cNvPr id="1055869" name="Text Box 125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70" name="Text Box 126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871" name="Text Box 127"/>
            <p:cNvSpPr txBox="1">
              <a:spLocks noChangeArrowheads="1"/>
            </p:cNvSpPr>
            <p:nvPr/>
          </p:nvSpPr>
          <p:spPr bwMode="auto">
            <a:xfrm>
              <a:off x="4276" y="3577"/>
              <a:ext cx="1053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④</a:t>
              </a:r>
              <a:r>
                <a:rPr lang="en-US" altLang="zh-CN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 </a:t>
              </a:r>
              <a:r>
                <a:rPr lang="zh-CN" altLang="en-US" sz="20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调用结束</a:t>
              </a:r>
            </a:p>
          </p:txBody>
        </p:sp>
      </p:grpSp>
      <p:sp>
        <p:nvSpPr>
          <p:cNvPr id="1055873" name="AutoShape 129"/>
          <p:cNvSpPr>
            <a:spLocks noChangeArrowheads="1"/>
          </p:cNvSpPr>
          <p:nvPr/>
        </p:nvSpPr>
        <p:spPr bwMode="auto">
          <a:xfrm>
            <a:off x="3487698" y="3933825"/>
            <a:ext cx="2159000" cy="1079500"/>
          </a:xfrm>
          <a:prstGeom prst="cloudCallout">
            <a:avLst>
              <a:gd name="adj1" fmla="val 101182"/>
              <a:gd name="adj2" fmla="val 10395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25400">
            <a:solidFill>
              <a:srgbClr val="FF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Why?</a:t>
            </a:r>
          </a:p>
        </p:txBody>
      </p:sp>
      <p:grpSp>
        <p:nvGrpSpPr>
          <p:cNvPr id="1055874" name="Group 130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55875" name="Text Box 1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55876" name="Text Box 13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57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5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055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55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55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055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55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055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055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55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55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055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0558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055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055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055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0558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53" grpId="0" animBg="1"/>
      <p:bldP spid="1055757" grpId="0" animBg="1"/>
      <p:bldP spid="1055827" grpId="0" animBg="1"/>
      <p:bldP spid="1055828" grpId="0" animBg="1"/>
      <p:bldP spid="1055853" grpId="0" animBg="1"/>
      <p:bldP spid="1055858" grpId="0" animBg="1"/>
      <p:bldP spid="1055859" grpId="0" animBg="1"/>
      <p:bldP spid="1055860" grpId="0" animBg="1"/>
      <p:bldP spid="1055861" grpId="0" animBg="1"/>
      <p:bldP spid="1055862" grpId="0" animBg="1"/>
      <p:bldP spid="10558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1" name="Rectangle 3"/>
          <p:cNvSpPr>
            <a:spLocks noChangeArrowheads="1"/>
          </p:cNvSpPr>
          <p:nvPr/>
        </p:nvSpPr>
        <p:spPr bwMode="auto">
          <a:xfrm>
            <a:off x="598449" y="95250"/>
            <a:ext cx="4189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2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、地址传递方式</a:t>
            </a:r>
          </a:p>
        </p:txBody>
      </p:sp>
      <p:sp>
        <p:nvSpPr>
          <p:cNvPr id="1056776" name="Rectangle 8"/>
          <p:cNvSpPr>
            <a:spLocks noChangeArrowheads="1"/>
          </p:cNvSpPr>
          <p:nvPr/>
        </p:nvSpPr>
        <p:spPr bwMode="auto">
          <a:xfrm>
            <a:off x="1052472" y="481013"/>
            <a:ext cx="1066015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方式：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函数调用时，将数据的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存储地址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作为参数传递给形参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特点：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① 形参与实参占用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同样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的存储单元</a:t>
            </a:r>
          </a:p>
          <a:p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② 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双向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传递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③ 实参和形参必须是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地址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常量或变量</a:t>
            </a:r>
          </a:p>
        </p:txBody>
      </p:sp>
      <p:sp>
        <p:nvSpPr>
          <p:cNvPr id="1056777" name="Rectangle 9"/>
          <p:cNvSpPr>
            <a:spLocks noChangeArrowheads="1"/>
          </p:cNvSpPr>
          <p:nvPr/>
        </p:nvSpPr>
        <p:spPr bwMode="auto">
          <a:xfrm>
            <a:off x="1420733" y="2828888"/>
            <a:ext cx="10075867" cy="2308324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indent="266700">
              <a:tabLst>
                <a:tab pos="457200" algn="l"/>
              </a:tabLst>
            </a:pPr>
            <a:r>
              <a:rPr lang="zh-CN" altLang="en-US" b="1" u="sng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用数组名作为函数参数时还应注意以下几点：</a:t>
            </a:r>
            <a:endParaRPr lang="zh-CN" altLang="en-US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形参数组和实参数组的类型必须一致，否则将引起错误。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形参数组和实参数组的长度可以不相同，因为在调用时，只传送首地址而不检查形参数组的长度。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多维数组也可以作为函数的参数。在函数定义时对形参数组可以指定每一维的长度，也可省去第一维的长度。    </a:t>
            </a:r>
          </a:p>
        </p:txBody>
      </p:sp>
      <p:sp>
        <p:nvSpPr>
          <p:cNvPr id="1056778" name="Rectangle 10"/>
          <p:cNvSpPr>
            <a:spLocks noChangeArrowheads="1"/>
          </p:cNvSpPr>
          <p:nvPr/>
        </p:nvSpPr>
        <p:spPr bwMode="auto">
          <a:xfrm>
            <a:off x="1419999" y="5348288"/>
            <a:ext cx="10075867" cy="12255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38100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除了用数组名作为函数参数来实现参数的地址传递以外，其实还有一种应用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更广的地址传递方法，那就是用指针变量来作为函数的形参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，其具体使用方法将在第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9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章作详细讨论。</a:t>
            </a:r>
          </a:p>
        </p:txBody>
      </p:sp>
      <p:grpSp>
        <p:nvGrpSpPr>
          <p:cNvPr id="1056779" name="Group 11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56780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56781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56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6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6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56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56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56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567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1" grpId="0"/>
      <p:bldP spid="1056777" grpId="0" animBg="1"/>
      <p:bldP spid="105677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27" name="Text Box 11"/>
          <p:cNvSpPr txBox="1">
            <a:spLocks noChangeArrowheads="1"/>
          </p:cNvSpPr>
          <p:nvPr/>
        </p:nvSpPr>
        <p:spPr bwMode="auto">
          <a:xfrm>
            <a:off x="479386" y="81101"/>
            <a:ext cx="113052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: </a:t>
            </a:r>
            <a:r>
              <a:rPr lang="zh-CN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将任意两个字符串连接成一个字符串</a:t>
            </a:r>
            <a:r>
              <a:rPr lang="zh-CN" altLang="zh-CN" dirty="0"/>
              <a:t> 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数组名作为函数参数实现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地址传递方式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)</a:t>
            </a:r>
          </a:p>
        </p:txBody>
      </p:sp>
      <p:sp>
        <p:nvSpPr>
          <p:cNvPr id="1058831" name="Rectangle 15" descr="信纸"/>
          <p:cNvSpPr>
            <a:spLocks noChangeArrowheads="1"/>
          </p:cNvSpPr>
          <p:nvPr/>
        </p:nvSpPr>
        <p:spPr bwMode="auto">
          <a:xfrm>
            <a:off x="1593147" y="965041"/>
            <a:ext cx="9265320" cy="5632311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mergestr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(char s1[ ], char s2[ ], char s3[ ]);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</a:p>
          <a:p>
            <a:pPr marL="457200" indent="-457200"/>
            <a:r>
              <a:rPr lang="en-US" altLang="zh-CN" sz="18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char str1[ ] = {"Hello "};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char str2[ ] = {"china!"};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char str3[40];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mergestr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(str1, str2, str3); 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("%s\n", str3);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mergestr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(char s1[ ], char s2[ ], char s3[ ]) 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j;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for (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= 0; s1[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] != '\0'; 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++)  </a:t>
            </a:r>
            <a:r>
              <a:rPr lang="en-US" altLang="zh-CN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s1</a:t>
            </a:r>
            <a:r>
              <a:rPr lang="zh-CN" alt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复制到</a:t>
            </a:r>
            <a:r>
              <a:rPr lang="en-US" altLang="zh-CN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s3</a:t>
            </a:r>
            <a:r>
              <a:rPr lang="zh-CN" alt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lang="zh-CN" altLang="en-US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  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s3[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] = s1[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];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for (j = 0; s2[j] != '\0'; j++)  </a:t>
            </a:r>
            <a:r>
              <a:rPr lang="en-US" altLang="zh-CN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s2</a:t>
            </a:r>
            <a:r>
              <a:rPr lang="zh-CN" alt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复制到</a:t>
            </a:r>
            <a:r>
              <a:rPr lang="en-US" altLang="zh-CN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s3</a:t>
            </a:r>
            <a:r>
              <a:rPr lang="zh-CN" alt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的后边</a:t>
            </a:r>
          </a:p>
          <a:p>
            <a:pPr marL="457200" indent="-457200"/>
            <a:r>
              <a:rPr lang="zh-CN" altLang="en-US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  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s3[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i+j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] = s2[j];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s3[</a:t>
            </a:r>
            <a:r>
              <a:rPr lang="en-US" altLang="zh-CN" sz="18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i+j</a:t>
            </a:r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] = '\0';            </a:t>
            </a:r>
            <a:r>
              <a:rPr lang="en-US" altLang="zh-CN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58884" name="Rectangle 68"/>
          <p:cNvSpPr>
            <a:spLocks noChangeArrowheads="1"/>
          </p:cNvSpPr>
          <p:nvPr/>
        </p:nvSpPr>
        <p:spPr bwMode="auto">
          <a:xfrm>
            <a:off x="7790541" y="5661248"/>
            <a:ext cx="2808312" cy="7078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Hello china!</a:t>
            </a:r>
          </a:p>
        </p:txBody>
      </p:sp>
      <p:grpSp>
        <p:nvGrpSpPr>
          <p:cNvPr id="1058885" name="Group 69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58886" name="Text Box 7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58887" name="Text Box 7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8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8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31" grpId="0" animBg="1"/>
      <p:bldP spid="105888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941" name="Group 101"/>
          <p:cNvGrpSpPr>
            <a:grpSpLocks/>
          </p:cNvGrpSpPr>
          <p:nvPr/>
        </p:nvGrpSpPr>
        <p:grpSpPr bwMode="auto">
          <a:xfrm>
            <a:off x="2504953" y="1935186"/>
            <a:ext cx="588962" cy="639762"/>
            <a:chOff x="840" y="800"/>
            <a:chExt cx="371" cy="403"/>
          </a:xfrm>
        </p:grpSpPr>
        <p:sp>
          <p:nvSpPr>
            <p:cNvPr id="1059933" name="Line 93"/>
            <p:cNvSpPr>
              <a:spLocks noChangeShapeType="1"/>
            </p:cNvSpPr>
            <p:nvPr/>
          </p:nvSpPr>
          <p:spPr bwMode="auto">
            <a:xfrm>
              <a:off x="984" y="999"/>
              <a:ext cx="0" cy="2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934" name="Text Box 94"/>
            <p:cNvSpPr txBox="1">
              <a:spLocks noChangeArrowheads="1"/>
            </p:cNvSpPr>
            <p:nvPr/>
          </p:nvSpPr>
          <p:spPr bwMode="auto">
            <a:xfrm>
              <a:off x="840" y="80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str1</a:t>
              </a:r>
            </a:p>
          </p:txBody>
        </p:sp>
      </p:grpSp>
      <p:grpSp>
        <p:nvGrpSpPr>
          <p:cNvPr id="1059942" name="Group 102"/>
          <p:cNvGrpSpPr>
            <a:grpSpLocks/>
          </p:cNvGrpSpPr>
          <p:nvPr/>
        </p:nvGrpSpPr>
        <p:grpSpPr bwMode="auto">
          <a:xfrm>
            <a:off x="6830891" y="1935186"/>
            <a:ext cx="588963" cy="639762"/>
            <a:chOff x="3097" y="800"/>
            <a:chExt cx="371" cy="403"/>
          </a:xfrm>
        </p:grpSpPr>
        <p:sp>
          <p:nvSpPr>
            <p:cNvPr id="1059935" name="Line 95"/>
            <p:cNvSpPr>
              <a:spLocks noChangeShapeType="1"/>
            </p:cNvSpPr>
            <p:nvPr/>
          </p:nvSpPr>
          <p:spPr bwMode="auto">
            <a:xfrm>
              <a:off x="3270" y="999"/>
              <a:ext cx="0" cy="2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936" name="Text Box 96"/>
            <p:cNvSpPr txBox="1">
              <a:spLocks noChangeArrowheads="1"/>
            </p:cNvSpPr>
            <p:nvPr/>
          </p:nvSpPr>
          <p:spPr bwMode="auto">
            <a:xfrm>
              <a:off x="3097" y="80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str2</a:t>
              </a:r>
            </a:p>
          </p:txBody>
        </p:sp>
      </p:grpSp>
      <p:grpSp>
        <p:nvGrpSpPr>
          <p:cNvPr id="1059946" name="Group 106"/>
          <p:cNvGrpSpPr>
            <a:grpSpLocks/>
          </p:cNvGrpSpPr>
          <p:nvPr/>
        </p:nvGrpSpPr>
        <p:grpSpPr bwMode="auto">
          <a:xfrm>
            <a:off x="2444628" y="4727598"/>
            <a:ext cx="588962" cy="596900"/>
            <a:chOff x="748" y="2415"/>
            <a:chExt cx="371" cy="376"/>
          </a:xfrm>
        </p:grpSpPr>
        <p:sp>
          <p:nvSpPr>
            <p:cNvPr id="1059944" name="Line 104"/>
            <p:cNvSpPr>
              <a:spLocks noChangeShapeType="1"/>
            </p:cNvSpPr>
            <p:nvPr/>
          </p:nvSpPr>
          <p:spPr bwMode="auto">
            <a:xfrm rot="-10800000">
              <a:off x="930" y="2415"/>
              <a:ext cx="0" cy="2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945" name="Text Box 105"/>
            <p:cNvSpPr txBox="1">
              <a:spLocks noChangeArrowheads="1"/>
            </p:cNvSpPr>
            <p:nvPr/>
          </p:nvSpPr>
          <p:spPr bwMode="auto">
            <a:xfrm>
              <a:off x="748" y="256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str3</a:t>
              </a:r>
            </a:p>
          </p:txBody>
        </p:sp>
      </p:grpSp>
      <p:graphicFrame>
        <p:nvGraphicFramePr>
          <p:cNvPr id="1060046" name="Group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21166"/>
              </p:ext>
            </p:extLst>
          </p:nvPr>
        </p:nvGraphicFramePr>
        <p:xfrm>
          <a:off x="2460503" y="4213248"/>
          <a:ext cx="7931150" cy="49530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7254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7254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7254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7254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7254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7254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99FF"/>
                        </a:gs>
                        <a:gs pos="100000">
                          <a:srgbClr val="FF99FF">
                            <a:gamma/>
                            <a:shade val="7882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0037" name="Group 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992986"/>
              </p:ext>
            </p:extLst>
          </p:nvPr>
        </p:nvGraphicFramePr>
        <p:xfrm>
          <a:off x="2458915" y="2593999"/>
          <a:ext cx="3816350" cy="504825"/>
        </p:xfrm>
        <a:graphic>
          <a:graphicData uri="http://schemas.openxmlformats.org/drawingml/2006/table">
            <a:tbl>
              <a:tblPr/>
              <a:tblGrid>
                <a:gridCol w="54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'H'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'e'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'l'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'l'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'o'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 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'\0'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CFFFF"/>
                        </a:gs>
                        <a:gs pos="100000">
                          <a:srgbClr val="CCFFFF">
                            <a:gamma/>
                            <a:shade val="63529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0043" name="Group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167925"/>
              </p:ext>
            </p:extLst>
          </p:nvPr>
        </p:nvGraphicFramePr>
        <p:xfrm>
          <a:off x="6862641" y="2600348"/>
          <a:ext cx="3527425" cy="482600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'c'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078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'h'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078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'i'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078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'n'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078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'a'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078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'!'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078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'\0'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rgbClr val="FFFF99">
                            <a:gamma/>
                            <a:shade val="60784"/>
                            <a:invGamma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60049" name="Group 209"/>
          <p:cNvGrpSpPr>
            <a:grpSpLocks/>
          </p:cNvGrpSpPr>
          <p:nvPr/>
        </p:nvGrpSpPr>
        <p:grpSpPr bwMode="auto">
          <a:xfrm>
            <a:off x="1938216" y="1917723"/>
            <a:ext cx="519113" cy="617538"/>
            <a:chOff x="249" y="573"/>
            <a:chExt cx="327" cy="389"/>
          </a:xfrm>
        </p:grpSpPr>
        <p:sp>
          <p:nvSpPr>
            <p:cNvPr id="1060047" name="Line 207"/>
            <p:cNvSpPr>
              <a:spLocks noChangeShapeType="1"/>
            </p:cNvSpPr>
            <p:nvPr/>
          </p:nvSpPr>
          <p:spPr bwMode="auto">
            <a:xfrm>
              <a:off x="394" y="781"/>
              <a:ext cx="182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48" name="Text Box 208"/>
            <p:cNvSpPr txBox="1">
              <a:spLocks noChangeArrowheads="1"/>
            </p:cNvSpPr>
            <p:nvPr/>
          </p:nvSpPr>
          <p:spPr bwMode="auto">
            <a:xfrm>
              <a:off x="249" y="5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s1</a:t>
              </a:r>
            </a:p>
          </p:txBody>
        </p:sp>
      </p:grpSp>
      <p:grpSp>
        <p:nvGrpSpPr>
          <p:cNvPr id="1060050" name="Group 210"/>
          <p:cNvGrpSpPr>
            <a:grpSpLocks/>
          </p:cNvGrpSpPr>
          <p:nvPr/>
        </p:nvGrpSpPr>
        <p:grpSpPr bwMode="auto">
          <a:xfrm>
            <a:off x="6300666" y="1944712"/>
            <a:ext cx="519113" cy="617537"/>
            <a:chOff x="249" y="573"/>
            <a:chExt cx="327" cy="389"/>
          </a:xfrm>
        </p:grpSpPr>
        <p:sp>
          <p:nvSpPr>
            <p:cNvPr id="1060051" name="Line 211"/>
            <p:cNvSpPr>
              <a:spLocks noChangeShapeType="1"/>
            </p:cNvSpPr>
            <p:nvPr/>
          </p:nvSpPr>
          <p:spPr bwMode="auto">
            <a:xfrm>
              <a:off x="394" y="781"/>
              <a:ext cx="182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52" name="Text Box 212"/>
            <p:cNvSpPr txBox="1">
              <a:spLocks noChangeArrowheads="1"/>
            </p:cNvSpPr>
            <p:nvPr/>
          </p:nvSpPr>
          <p:spPr bwMode="auto">
            <a:xfrm>
              <a:off x="249" y="5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s2</a:t>
              </a:r>
            </a:p>
          </p:txBody>
        </p:sp>
      </p:grpSp>
      <p:grpSp>
        <p:nvGrpSpPr>
          <p:cNvPr id="1060060" name="Group 220"/>
          <p:cNvGrpSpPr>
            <a:grpSpLocks/>
          </p:cNvGrpSpPr>
          <p:nvPr/>
        </p:nvGrpSpPr>
        <p:grpSpPr bwMode="auto">
          <a:xfrm>
            <a:off x="1968379" y="4752999"/>
            <a:ext cx="460375" cy="669925"/>
            <a:chOff x="268" y="2323"/>
            <a:chExt cx="290" cy="422"/>
          </a:xfrm>
        </p:grpSpPr>
        <p:sp>
          <p:nvSpPr>
            <p:cNvPr id="1060053" name="Line 213"/>
            <p:cNvSpPr>
              <a:spLocks noChangeShapeType="1"/>
            </p:cNvSpPr>
            <p:nvPr/>
          </p:nvSpPr>
          <p:spPr bwMode="auto">
            <a:xfrm flipV="1">
              <a:off x="385" y="2323"/>
              <a:ext cx="173" cy="2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56" name="Text Box 216"/>
            <p:cNvSpPr txBox="1">
              <a:spLocks noChangeArrowheads="1"/>
            </p:cNvSpPr>
            <p:nvPr/>
          </p:nvSpPr>
          <p:spPr bwMode="auto">
            <a:xfrm>
              <a:off x="268" y="251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s3</a:t>
              </a:r>
            </a:p>
          </p:txBody>
        </p:sp>
      </p:grpSp>
      <p:sp>
        <p:nvSpPr>
          <p:cNvPr id="1060061" name="Text Box 221"/>
          <p:cNvSpPr txBox="1">
            <a:spLocks noChangeArrowheads="1"/>
          </p:cNvSpPr>
          <p:nvPr/>
        </p:nvSpPr>
        <p:spPr bwMode="auto">
          <a:xfrm>
            <a:off x="2290641" y="1039836"/>
            <a:ext cx="1368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调用前</a:t>
            </a:r>
          </a:p>
        </p:txBody>
      </p:sp>
      <p:sp>
        <p:nvSpPr>
          <p:cNvPr id="1060062" name="Line 222"/>
          <p:cNvSpPr>
            <a:spLocks noChangeShapeType="1"/>
          </p:cNvSpPr>
          <p:nvPr/>
        </p:nvSpPr>
        <p:spPr bwMode="auto">
          <a:xfrm>
            <a:off x="3586040" y="1343048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63" name="Text Box 223"/>
          <p:cNvSpPr txBox="1">
            <a:spLocks noChangeArrowheads="1"/>
          </p:cNvSpPr>
          <p:nvPr/>
        </p:nvSpPr>
        <p:spPr bwMode="auto">
          <a:xfrm>
            <a:off x="4192466" y="1041424"/>
            <a:ext cx="10080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调用</a:t>
            </a:r>
          </a:p>
        </p:txBody>
      </p:sp>
      <p:sp>
        <p:nvSpPr>
          <p:cNvPr id="1060064" name="Line 224"/>
          <p:cNvSpPr>
            <a:spLocks noChangeShapeType="1"/>
          </p:cNvSpPr>
          <p:nvPr/>
        </p:nvSpPr>
        <p:spPr bwMode="auto">
          <a:xfrm>
            <a:off x="5098928" y="1357336"/>
            <a:ext cx="6477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65" name="Text Box 225"/>
          <p:cNvSpPr txBox="1">
            <a:spLocks noChangeArrowheads="1"/>
          </p:cNvSpPr>
          <p:nvPr/>
        </p:nvSpPr>
        <p:spPr bwMode="auto">
          <a:xfrm>
            <a:off x="5718053" y="1041424"/>
            <a:ext cx="1008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连接</a:t>
            </a:r>
          </a:p>
        </p:txBody>
      </p:sp>
      <p:sp>
        <p:nvSpPr>
          <p:cNvPr id="1060066" name="AutoShape 226"/>
          <p:cNvSpPr>
            <a:spLocks/>
          </p:cNvSpPr>
          <p:nvPr/>
        </p:nvSpPr>
        <p:spPr bwMode="auto">
          <a:xfrm rot="-5400000">
            <a:off x="3868615" y="1833586"/>
            <a:ext cx="287338" cy="2881312"/>
          </a:xfrm>
          <a:prstGeom prst="leftBrace">
            <a:avLst>
              <a:gd name="adj1" fmla="val 83563"/>
              <a:gd name="adj2" fmla="val 50000"/>
            </a:avLst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67" name="AutoShape 227"/>
          <p:cNvSpPr>
            <a:spLocks noChangeArrowheads="1"/>
          </p:cNvSpPr>
          <p:nvPr/>
        </p:nvSpPr>
        <p:spPr bwMode="auto">
          <a:xfrm rot="5400000">
            <a:off x="3688434" y="3598092"/>
            <a:ext cx="649288" cy="431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68" name="Rectangle 228"/>
          <p:cNvSpPr>
            <a:spLocks noChangeArrowheads="1"/>
          </p:cNvSpPr>
          <p:nvPr/>
        </p:nvSpPr>
        <p:spPr bwMode="auto">
          <a:xfrm>
            <a:off x="2471615" y="4252937"/>
            <a:ext cx="520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'H'</a:t>
            </a:r>
          </a:p>
        </p:txBody>
      </p:sp>
      <p:sp>
        <p:nvSpPr>
          <p:cNvPr id="1060069" name="Rectangle 229"/>
          <p:cNvSpPr>
            <a:spLocks noChangeArrowheads="1"/>
          </p:cNvSpPr>
          <p:nvPr/>
        </p:nvSpPr>
        <p:spPr bwMode="auto">
          <a:xfrm>
            <a:off x="3062166" y="4252937"/>
            <a:ext cx="436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'e'</a:t>
            </a:r>
          </a:p>
        </p:txBody>
      </p:sp>
      <p:sp>
        <p:nvSpPr>
          <p:cNvPr id="1060070" name="Rectangle 230"/>
          <p:cNvSpPr>
            <a:spLocks noChangeArrowheads="1"/>
          </p:cNvSpPr>
          <p:nvPr/>
        </p:nvSpPr>
        <p:spPr bwMode="auto">
          <a:xfrm>
            <a:off x="3608265" y="4252937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'l'</a:t>
            </a:r>
          </a:p>
        </p:txBody>
      </p:sp>
      <p:sp>
        <p:nvSpPr>
          <p:cNvPr id="1060071" name="Rectangle 231"/>
          <p:cNvSpPr>
            <a:spLocks noChangeArrowheads="1"/>
          </p:cNvSpPr>
          <p:nvPr/>
        </p:nvSpPr>
        <p:spPr bwMode="auto">
          <a:xfrm>
            <a:off x="4138490" y="4240237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'l'</a:t>
            </a:r>
          </a:p>
        </p:txBody>
      </p:sp>
      <p:sp>
        <p:nvSpPr>
          <p:cNvPr id="1060072" name="Rectangle 232"/>
          <p:cNvSpPr>
            <a:spLocks noChangeArrowheads="1"/>
          </p:cNvSpPr>
          <p:nvPr/>
        </p:nvSpPr>
        <p:spPr bwMode="auto">
          <a:xfrm>
            <a:off x="4632203" y="4240237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'o'</a:t>
            </a:r>
          </a:p>
        </p:txBody>
      </p:sp>
      <p:sp>
        <p:nvSpPr>
          <p:cNvPr id="1060073" name="Rectangle 233"/>
          <p:cNvSpPr>
            <a:spLocks noChangeArrowheads="1"/>
          </p:cNvSpPr>
          <p:nvPr/>
        </p:nvSpPr>
        <p:spPr bwMode="auto">
          <a:xfrm>
            <a:off x="5206878" y="4252937"/>
            <a:ext cx="387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 '</a:t>
            </a:r>
          </a:p>
        </p:txBody>
      </p:sp>
      <p:grpSp>
        <p:nvGrpSpPr>
          <p:cNvPr id="1060076" name="Group 236"/>
          <p:cNvGrpSpPr>
            <a:grpSpLocks/>
          </p:cNvGrpSpPr>
          <p:nvPr/>
        </p:nvGrpSpPr>
        <p:grpSpPr bwMode="auto">
          <a:xfrm>
            <a:off x="2500191" y="4714899"/>
            <a:ext cx="3743325" cy="1508125"/>
            <a:chOff x="612" y="2614"/>
            <a:chExt cx="2358" cy="950"/>
          </a:xfrm>
        </p:grpSpPr>
        <p:sp>
          <p:nvSpPr>
            <p:cNvPr id="1060074" name="Rectangle 234"/>
            <p:cNvSpPr>
              <a:spLocks noChangeArrowheads="1"/>
            </p:cNvSpPr>
            <p:nvPr/>
          </p:nvSpPr>
          <p:spPr bwMode="auto">
            <a:xfrm>
              <a:off x="612" y="3022"/>
              <a:ext cx="2358" cy="542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8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for (i = 0; s1[i] != '\0'; i++) </a:t>
              </a:r>
            </a:p>
            <a:p>
              <a:r>
                <a:rPr lang="en-US" altLang="zh-CN" b="1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s3[i] = s1[i];</a:t>
              </a:r>
            </a:p>
          </p:txBody>
        </p:sp>
        <p:sp>
          <p:nvSpPr>
            <p:cNvPr id="1060075" name="Line 235"/>
            <p:cNvSpPr>
              <a:spLocks noChangeShapeType="1"/>
            </p:cNvSpPr>
            <p:nvPr/>
          </p:nvSpPr>
          <p:spPr bwMode="auto">
            <a:xfrm>
              <a:off x="1383" y="2614"/>
              <a:ext cx="272" cy="40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77" name="AutoShape 237"/>
          <p:cNvSpPr>
            <a:spLocks/>
          </p:cNvSpPr>
          <p:nvPr/>
        </p:nvSpPr>
        <p:spPr bwMode="auto">
          <a:xfrm rot="-5400000">
            <a:off x="8189790" y="1805011"/>
            <a:ext cx="287338" cy="2881312"/>
          </a:xfrm>
          <a:prstGeom prst="leftBrace">
            <a:avLst>
              <a:gd name="adj1" fmla="val 83563"/>
              <a:gd name="adj2" fmla="val 50000"/>
            </a:avLst>
          </a:prstGeom>
          <a:noFill/>
          <a:ln w="25400">
            <a:solidFill>
              <a:srgbClr val="FFCC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78" name="AutoShape 238"/>
          <p:cNvSpPr>
            <a:spLocks noChangeArrowheads="1"/>
          </p:cNvSpPr>
          <p:nvPr/>
        </p:nvSpPr>
        <p:spPr bwMode="auto">
          <a:xfrm rot="8220912">
            <a:off x="6970590" y="3567136"/>
            <a:ext cx="1176338" cy="404812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79" name="Rectangle 239"/>
          <p:cNvSpPr>
            <a:spLocks noChangeArrowheads="1"/>
          </p:cNvSpPr>
          <p:nvPr/>
        </p:nvSpPr>
        <p:spPr bwMode="auto">
          <a:xfrm>
            <a:off x="5740278" y="4238649"/>
            <a:ext cx="436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'c'</a:t>
            </a:r>
          </a:p>
        </p:txBody>
      </p:sp>
      <p:sp>
        <p:nvSpPr>
          <p:cNvPr id="1060080" name="Rectangle 240"/>
          <p:cNvSpPr>
            <a:spLocks noChangeArrowheads="1"/>
          </p:cNvSpPr>
          <p:nvPr/>
        </p:nvSpPr>
        <p:spPr bwMode="auto">
          <a:xfrm>
            <a:off x="6287965" y="4238649"/>
            <a:ext cx="465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'h'</a:t>
            </a:r>
          </a:p>
        </p:txBody>
      </p:sp>
      <p:sp>
        <p:nvSpPr>
          <p:cNvPr id="1060081" name="Rectangle 241"/>
          <p:cNvSpPr>
            <a:spLocks noChangeArrowheads="1"/>
          </p:cNvSpPr>
          <p:nvPr/>
        </p:nvSpPr>
        <p:spPr bwMode="auto">
          <a:xfrm>
            <a:off x="6821365" y="4238649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'i'</a:t>
            </a:r>
          </a:p>
        </p:txBody>
      </p:sp>
      <p:sp>
        <p:nvSpPr>
          <p:cNvPr id="1060082" name="Rectangle 242"/>
          <p:cNvSpPr>
            <a:spLocks noChangeArrowheads="1"/>
          </p:cNvSpPr>
          <p:nvPr/>
        </p:nvSpPr>
        <p:spPr bwMode="auto">
          <a:xfrm>
            <a:off x="7324604" y="4238649"/>
            <a:ext cx="465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'n'</a:t>
            </a:r>
          </a:p>
        </p:txBody>
      </p:sp>
      <p:sp>
        <p:nvSpPr>
          <p:cNvPr id="1060083" name="Rectangle 243"/>
          <p:cNvSpPr>
            <a:spLocks noChangeArrowheads="1"/>
          </p:cNvSpPr>
          <p:nvPr/>
        </p:nvSpPr>
        <p:spPr bwMode="auto">
          <a:xfrm>
            <a:off x="7886578" y="4238649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'a'</a:t>
            </a:r>
          </a:p>
        </p:txBody>
      </p:sp>
      <p:sp>
        <p:nvSpPr>
          <p:cNvPr id="1060084" name="Rectangle 244"/>
          <p:cNvSpPr>
            <a:spLocks noChangeArrowheads="1"/>
          </p:cNvSpPr>
          <p:nvPr/>
        </p:nvSpPr>
        <p:spPr bwMode="auto">
          <a:xfrm>
            <a:off x="8434265" y="4238649"/>
            <a:ext cx="407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'!'</a:t>
            </a:r>
          </a:p>
        </p:txBody>
      </p:sp>
      <p:grpSp>
        <p:nvGrpSpPr>
          <p:cNvPr id="1060085" name="Group 245"/>
          <p:cNvGrpSpPr>
            <a:grpSpLocks/>
          </p:cNvGrpSpPr>
          <p:nvPr/>
        </p:nvGrpSpPr>
        <p:grpSpPr bwMode="auto">
          <a:xfrm>
            <a:off x="6532441" y="4729187"/>
            <a:ext cx="3743325" cy="1508125"/>
            <a:chOff x="612" y="2614"/>
            <a:chExt cx="2358" cy="950"/>
          </a:xfrm>
        </p:grpSpPr>
        <p:sp>
          <p:nvSpPr>
            <p:cNvPr id="1060086" name="Rectangle 246"/>
            <p:cNvSpPr>
              <a:spLocks noChangeArrowheads="1"/>
            </p:cNvSpPr>
            <p:nvPr/>
          </p:nvSpPr>
          <p:spPr bwMode="auto">
            <a:xfrm>
              <a:off x="612" y="3022"/>
              <a:ext cx="2358" cy="542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for (j = 0; s2[j] != '\0'; j++)</a:t>
              </a:r>
            </a:p>
            <a:p>
              <a:r>
                <a:rPr lang="en-US" altLang="zh-CN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s3[i+j] = s2[j];</a:t>
              </a:r>
            </a:p>
          </p:txBody>
        </p:sp>
        <p:sp>
          <p:nvSpPr>
            <p:cNvPr id="1060087" name="Line 247"/>
            <p:cNvSpPr>
              <a:spLocks noChangeShapeType="1"/>
            </p:cNvSpPr>
            <p:nvPr/>
          </p:nvSpPr>
          <p:spPr bwMode="auto">
            <a:xfrm>
              <a:off x="1383" y="2614"/>
              <a:ext cx="272" cy="4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88" name="Rectangle 248"/>
          <p:cNvSpPr>
            <a:spLocks noChangeArrowheads="1"/>
          </p:cNvSpPr>
          <p:nvPr/>
        </p:nvSpPr>
        <p:spPr bwMode="auto">
          <a:xfrm>
            <a:off x="8923215" y="4238649"/>
            <a:ext cx="520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'\0'</a:t>
            </a:r>
          </a:p>
        </p:txBody>
      </p:sp>
      <p:sp>
        <p:nvSpPr>
          <p:cNvPr id="1060089" name="Line 249"/>
          <p:cNvSpPr>
            <a:spLocks noChangeShapeType="1"/>
          </p:cNvSpPr>
          <p:nvPr/>
        </p:nvSpPr>
        <p:spPr bwMode="auto">
          <a:xfrm>
            <a:off x="6611815" y="1343048"/>
            <a:ext cx="647700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90" name="Text Box 250"/>
          <p:cNvSpPr txBox="1">
            <a:spLocks noChangeArrowheads="1"/>
          </p:cNvSpPr>
          <p:nvPr/>
        </p:nvSpPr>
        <p:spPr bwMode="auto">
          <a:xfrm>
            <a:off x="7229353" y="1069999"/>
            <a:ext cx="1008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补</a:t>
            </a:r>
            <a:r>
              <a:rPr lang="en-US" altLang="zh-CN" sz="2800" b="1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\0</a:t>
            </a:r>
          </a:p>
        </p:txBody>
      </p:sp>
      <p:grpSp>
        <p:nvGrpSpPr>
          <p:cNvPr id="1060093" name="Group 253"/>
          <p:cNvGrpSpPr>
            <a:grpSpLocks/>
          </p:cNvGrpSpPr>
          <p:nvPr/>
        </p:nvGrpSpPr>
        <p:grpSpPr bwMode="auto">
          <a:xfrm>
            <a:off x="8621588" y="3417911"/>
            <a:ext cx="1866900" cy="792162"/>
            <a:chOff x="4468" y="1797"/>
            <a:chExt cx="1176" cy="499"/>
          </a:xfrm>
        </p:grpSpPr>
        <p:sp>
          <p:nvSpPr>
            <p:cNvPr id="1060091" name="Rectangle 251"/>
            <p:cNvSpPr>
              <a:spLocks noChangeArrowheads="1"/>
            </p:cNvSpPr>
            <p:nvPr/>
          </p:nvSpPr>
          <p:spPr bwMode="auto">
            <a:xfrm>
              <a:off x="4468" y="1797"/>
              <a:ext cx="1176" cy="291"/>
            </a:xfrm>
            <a:prstGeom prst="rect">
              <a:avLst/>
            </a:prstGeom>
            <a:gradFill rotWithShape="1">
              <a:gsLst>
                <a:gs pos="0">
                  <a:srgbClr val="FF99CC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80008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s3[i+j] = '\0';</a:t>
              </a:r>
            </a:p>
          </p:txBody>
        </p:sp>
        <p:sp>
          <p:nvSpPr>
            <p:cNvPr id="1060092" name="Line 252"/>
            <p:cNvSpPr>
              <a:spLocks noChangeShapeType="1"/>
            </p:cNvSpPr>
            <p:nvPr/>
          </p:nvSpPr>
          <p:spPr bwMode="auto">
            <a:xfrm>
              <a:off x="4649" y="2115"/>
              <a:ext cx="136" cy="181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94" name="Line 254"/>
          <p:cNvSpPr>
            <a:spLocks noChangeShapeType="1"/>
          </p:cNvSpPr>
          <p:nvPr/>
        </p:nvSpPr>
        <p:spPr bwMode="auto">
          <a:xfrm>
            <a:off x="8050090" y="1328761"/>
            <a:ext cx="647700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95" name="Text Box 255"/>
          <p:cNvSpPr txBox="1">
            <a:spLocks noChangeArrowheads="1"/>
          </p:cNvSpPr>
          <p:nvPr/>
        </p:nvSpPr>
        <p:spPr bwMode="auto">
          <a:xfrm>
            <a:off x="8656515" y="1027136"/>
            <a:ext cx="1701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33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调用结束</a:t>
            </a:r>
          </a:p>
        </p:txBody>
      </p:sp>
      <p:sp useBgFill="1">
        <p:nvSpPr>
          <p:cNvPr id="1060096" name="Rectangle 256"/>
          <p:cNvSpPr>
            <a:spLocks noChangeArrowheads="1"/>
          </p:cNvSpPr>
          <p:nvPr/>
        </p:nvSpPr>
        <p:spPr bwMode="auto">
          <a:xfrm>
            <a:off x="1996954" y="1978049"/>
            <a:ext cx="503237" cy="5762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60097" name="Rectangle 257"/>
          <p:cNvSpPr>
            <a:spLocks noChangeArrowheads="1"/>
          </p:cNvSpPr>
          <p:nvPr/>
        </p:nvSpPr>
        <p:spPr bwMode="auto">
          <a:xfrm>
            <a:off x="6402265" y="2006624"/>
            <a:ext cx="503238" cy="5762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60098" name="Rectangle 258"/>
          <p:cNvSpPr>
            <a:spLocks noChangeArrowheads="1"/>
          </p:cNvSpPr>
          <p:nvPr/>
        </p:nvSpPr>
        <p:spPr bwMode="auto">
          <a:xfrm>
            <a:off x="2025528" y="4743474"/>
            <a:ext cx="431800" cy="6905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0099" name="Group 259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60100" name="Text Box 26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60101" name="Text Box 26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60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60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060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060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060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60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60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600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0600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0600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60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600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060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060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060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060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60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060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1060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060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1060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0600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060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060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1060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1060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1060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10600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1" dur="500"/>
                                        <p:tgtEl>
                                          <p:spTgt spid="1060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6" dur="500"/>
                                        <p:tgtEl>
                                          <p:spTgt spid="1060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1060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1060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1060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1060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062" grpId="0" animBg="1"/>
      <p:bldP spid="1060063" grpId="0"/>
      <p:bldP spid="1060064" grpId="0" animBg="1"/>
      <p:bldP spid="1060065" grpId="0"/>
      <p:bldP spid="1060066" grpId="0" animBg="1"/>
      <p:bldP spid="1060067" grpId="0" animBg="1"/>
      <p:bldP spid="1060068" grpId="0"/>
      <p:bldP spid="1060069" grpId="0"/>
      <p:bldP spid="1060070" grpId="0"/>
      <p:bldP spid="1060071" grpId="0"/>
      <p:bldP spid="1060072" grpId="0"/>
      <p:bldP spid="1060073" grpId="0"/>
      <p:bldP spid="1060077" grpId="0" animBg="1"/>
      <p:bldP spid="1060078" grpId="0" animBg="1"/>
      <p:bldP spid="1060079" grpId="0"/>
      <p:bldP spid="1060080" grpId="0"/>
      <p:bldP spid="1060081" grpId="0"/>
      <p:bldP spid="1060082" grpId="0"/>
      <p:bldP spid="1060083" grpId="0"/>
      <p:bldP spid="1060084" grpId="0"/>
      <p:bldP spid="1060088" grpId="0"/>
      <p:bldP spid="1060089" grpId="0" animBg="1"/>
      <p:bldP spid="1060090" grpId="0"/>
      <p:bldP spid="1060094" grpId="0" animBg="1"/>
      <p:bldP spid="1060095" grpId="0"/>
      <p:bldP spid="1060096" grpId="0" animBg="1"/>
      <p:bldP spid="1060097" grpId="0" animBg="1"/>
      <p:bldP spid="106009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42887" y="101600"/>
            <a:ext cx="560863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8.4  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变量的作用域和生存期</a:t>
            </a:r>
            <a:r>
              <a:rPr lang="zh-CN" altLang="en-US"/>
              <a:t> </a:t>
            </a:r>
          </a:p>
        </p:txBody>
      </p:sp>
      <p:sp>
        <p:nvSpPr>
          <p:cNvPr id="1060867" name="Rectangle 3"/>
          <p:cNvSpPr>
            <a:spLocks noChangeArrowheads="1"/>
          </p:cNvSpPr>
          <p:nvPr/>
        </p:nvSpPr>
        <p:spPr bwMode="auto">
          <a:xfrm>
            <a:off x="766724" y="692150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、作用域和生存期的基本概念</a:t>
            </a:r>
          </a:p>
        </p:txBody>
      </p:sp>
      <p:sp>
        <p:nvSpPr>
          <p:cNvPr id="1060872" name="Rectangle 8"/>
          <p:cNvSpPr>
            <a:spLocks noChangeArrowheads="1"/>
          </p:cNvSpPr>
          <p:nvPr/>
        </p:nvSpPr>
        <p:spPr bwMode="auto">
          <a:xfrm>
            <a:off x="495232" y="1196975"/>
            <a:ext cx="1120153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变量的作用域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即变量的作用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范围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（或有效范围）。表现为变量有的可以在整个程序或其它程序中进行引用，有的则只能在局部范围内引用。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按其作用域范围可分为两种：即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局部变量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0873" name="Rectangle 9"/>
          <p:cNvSpPr>
            <a:spLocks noChangeArrowheads="1"/>
          </p:cNvSpPr>
          <p:nvPr/>
        </p:nvSpPr>
        <p:spPr bwMode="auto">
          <a:xfrm>
            <a:off x="495232" y="3070225"/>
            <a:ext cx="1100136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变量的生存期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变量从被生成到被撤消的这段时间。实际上就是变量占用内存的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时间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按其生存期可分为两种：即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动态变量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</a:t>
            </a:r>
          </a:p>
        </p:txBody>
      </p:sp>
      <p:sp>
        <p:nvSpPr>
          <p:cNvPr id="1060874" name="Rectangle 10"/>
          <p:cNvSpPr>
            <a:spLocks noChangeArrowheads="1"/>
          </p:cNvSpPr>
          <p:nvPr/>
        </p:nvSpPr>
        <p:spPr bwMode="auto">
          <a:xfrm>
            <a:off x="1198389" y="4756150"/>
            <a:ext cx="10370219" cy="1411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变量只能在其生存期内被引用，变量的作用域直接影响变量的生存期。</a:t>
            </a:r>
            <a:r>
              <a:rPr lang="zh-CN" altLang="en-US" sz="2800" b="1" dirty="0">
                <a:ln w="1905"/>
                <a:solidFill>
                  <a:srgbClr val="CC00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作用域和生存期是从空间和时间的角度来体现变量的特性。</a:t>
            </a:r>
            <a:r>
              <a:rPr lang="zh-CN" alt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grpSp>
        <p:nvGrpSpPr>
          <p:cNvPr id="1060875" name="Group 11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60876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60877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60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60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60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60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608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7" grpId="0"/>
      <p:bldP spid="106087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5" name="Rectangle 3"/>
          <p:cNvSpPr>
            <a:spLocks noChangeArrowheads="1"/>
          </p:cNvSpPr>
          <p:nvPr/>
        </p:nvSpPr>
        <p:spPr bwMode="auto">
          <a:xfrm>
            <a:off x="766724" y="163513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  <p:sp>
        <p:nvSpPr>
          <p:cNvPr id="1062919" name="Rectangle 7"/>
          <p:cNvSpPr>
            <a:spLocks noChangeArrowheads="1"/>
          </p:cNvSpPr>
          <p:nvPr/>
        </p:nvSpPr>
        <p:spPr bwMode="auto">
          <a:xfrm>
            <a:off x="1182648" y="696913"/>
            <a:ext cx="1045796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在函数内作定义说明的变量，也称为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内部变量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仅限于函数内，离开函数后不可再引用。</a:t>
            </a:r>
          </a:p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生存期</a:t>
            </a:r>
          </a:p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从函数被调用的时刻到函数返回调用处的时刻</a:t>
            </a:r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（静态局部变量除外）。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62922" name="Rectangle 10" descr="信纸"/>
          <p:cNvSpPr>
            <a:spLocks noChangeArrowheads="1"/>
          </p:cNvSpPr>
          <p:nvPr/>
        </p:nvSpPr>
        <p:spPr bwMode="auto">
          <a:xfrm>
            <a:off x="2712293" y="2594818"/>
            <a:ext cx="6696075" cy="4146550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 f1 (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 x, int y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 z;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z = x &gt; y ? x : y;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(z);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b="1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void f2 ( 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printf ("%d\n", </a:t>
            </a:r>
            <a:r>
              <a:rPr lang="en-US" altLang="zh-CN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z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);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62923" name="Oval 11"/>
          <p:cNvSpPr>
            <a:spLocks noChangeArrowheads="1"/>
          </p:cNvSpPr>
          <p:nvPr/>
        </p:nvSpPr>
        <p:spPr bwMode="auto">
          <a:xfrm>
            <a:off x="3667232" y="2639269"/>
            <a:ext cx="1482725" cy="4603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2924" name="Oval 12"/>
          <p:cNvSpPr>
            <a:spLocks noChangeArrowheads="1"/>
          </p:cNvSpPr>
          <p:nvPr/>
        </p:nvSpPr>
        <p:spPr bwMode="auto">
          <a:xfrm>
            <a:off x="2826593" y="3386981"/>
            <a:ext cx="936625" cy="431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2934" name="Group 22"/>
          <p:cNvGrpSpPr>
            <a:grpSpLocks/>
          </p:cNvGrpSpPr>
          <p:nvPr/>
        </p:nvGrpSpPr>
        <p:grpSpPr bwMode="auto">
          <a:xfrm>
            <a:off x="3720355" y="2739281"/>
            <a:ext cx="4464050" cy="792162"/>
            <a:chOff x="1383" y="1661"/>
            <a:chExt cx="2812" cy="499"/>
          </a:xfrm>
        </p:grpSpPr>
        <p:sp>
          <p:nvSpPr>
            <p:cNvPr id="1062926" name="AutoShape 14"/>
            <p:cNvSpPr>
              <a:spLocks/>
            </p:cNvSpPr>
            <p:nvPr/>
          </p:nvSpPr>
          <p:spPr bwMode="auto">
            <a:xfrm>
              <a:off x="3198" y="1661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55565"/>
                <a:gd name="adj5" fmla="val 85023"/>
                <a:gd name="adj6" fmla="val -107824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algn="ctr"/>
              <a:r>
                <a:rPr lang="zh-CN" altLang="en-US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局部变量</a:t>
              </a:r>
              <a:r>
                <a:rPr lang="zh-CN" altLang="en-US" sz="1800">
                  <a:latin typeface="+mn-lt"/>
                  <a:ea typeface="楷体" pitchFamily="49" charset="-122"/>
                </a:rPr>
                <a:t> </a:t>
              </a:r>
            </a:p>
          </p:txBody>
        </p:sp>
        <p:sp>
          <p:nvSpPr>
            <p:cNvPr id="1062927" name="Line 15"/>
            <p:cNvSpPr>
              <a:spLocks noChangeShapeType="1"/>
            </p:cNvSpPr>
            <p:nvPr/>
          </p:nvSpPr>
          <p:spPr bwMode="auto">
            <a:xfrm flipV="1">
              <a:off x="1383" y="1842"/>
              <a:ext cx="1815" cy="3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62935" name="Group 23"/>
          <p:cNvGrpSpPr>
            <a:grpSpLocks/>
          </p:cNvGrpSpPr>
          <p:nvPr/>
        </p:nvGrpSpPr>
        <p:grpSpPr bwMode="auto">
          <a:xfrm>
            <a:off x="5449143" y="2739282"/>
            <a:ext cx="1858963" cy="2016125"/>
            <a:chOff x="2472" y="1661"/>
            <a:chExt cx="1171" cy="1270"/>
          </a:xfrm>
        </p:grpSpPr>
        <p:sp>
          <p:nvSpPr>
            <p:cNvPr id="1062928" name="AutoShape 16"/>
            <p:cNvSpPr>
              <a:spLocks/>
            </p:cNvSpPr>
            <p:nvPr/>
          </p:nvSpPr>
          <p:spPr bwMode="auto">
            <a:xfrm>
              <a:off x="2472" y="1661"/>
              <a:ext cx="136" cy="1270"/>
            </a:xfrm>
            <a:prstGeom prst="rightBrace">
              <a:avLst>
                <a:gd name="adj1" fmla="val 77819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62929" name="Text Box 17"/>
            <p:cNvSpPr txBox="1">
              <a:spLocks noChangeArrowheads="1"/>
            </p:cNvSpPr>
            <p:nvPr/>
          </p:nvSpPr>
          <p:spPr bwMode="auto">
            <a:xfrm>
              <a:off x="2600" y="2097"/>
              <a:ext cx="1043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x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y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z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2930" name="Oval 18"/>
          <p:cNvSpPr>
            <a:spLocks noChangeArrowheads="1"/>
          </p:cNvSpPr>
          <p:nvPr/>
        </p:nvSpPr>
        <p:spPr bwMode="auto">
          <a:xfrm>
            <a:off x="5045917" y="5979369"/>
            <a:ext cx="287338" cy="3603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2933" name="Group 21"/>
          <p:cNvGrpSpPr>
            <a:grpSpLocks/>
          </p:cNvGrpSpPr>
          <p:nvPr/>
        </p:nvGrpSpPr>
        <p:grpSpPr bwMode="auto">
          <a:xfrm>
            <a:off x="5233243" y="4683969"/>
            <a:ext cx="3457575" cy="1368425"/>
            <a:chOff x="2336" y="2886"/>
            <a:chExt cx="2178" cy="862"/>
          </a:xfrm>
        </p:grpSpPr>
        <p:sp>
          <p:nvSpPr>
            <p:cNvPr id="1062931" name="AutoShape 19"/>
            <p:cNvSpPr>
              <a:spLocks noChangeArrowheads="1"/>
            </p:cNvSpPr>
            <p:nvPr/>
          </p:nvSpPr>
          <p:spPr bwMode="auto">
            <a:xfrm>
              <a:off x="2699" y="2886"/>
              <a:ext cx="1815" cy="862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引用错误！</a:t>
              </a:r>
            </a:p>
          </p:txBody>
        </p:sp>
        <p:sp>
          <p:nvSpPr>
            <p:cNvPr id="1062932" name="Line 20"/>
            <p:cNvSpPr>
              <a:spLocks noChangeShapeType="1"/>
            </p:cNvSpPr>
            <p:nvPr/>
          </p:nvSpPr>
          <p:spPr bwMode="auto">
            <a:xfrm flipV="1">
              <a:off x="2336" y="3475"/>
              <a:ext cx="408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62936" name="Group 24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62937" name="Text Box 2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62938" name="Text Box 2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62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62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2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62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62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629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62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062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62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062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1062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062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062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5" grpId="0"/>
      <p:bldP spid="1062922" grpId="0" animBg="1"/>
      <p:bldP spid="1062923" grpId="0" animBg="1"/>
      <p:bldP spid="1062924" grpId="0" animBg="1"/>
      <p:bldP spid="10629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3" name="Rectangle 23"/>
          <p:cNvSpPr>
            <a:spLocks noChangeArrowheads="1"/>
          </p:cNvSpPr>
          <p:nvPr/>
        </p:nvSpPr>
        <p:spPr bwMode="auto">
          <a:xfrm>
            <a:off x="822287" y="98426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64984" name="Rectangle 24"/>
          <p:cNvSpPr>
            <a:spLocks noChangeArrowheads="1"/>
          </p:cNvSpPr>
          <p:nvPr/>
        </p:nvSpPr>
        <p:spPr bwMode="auto">
          <a:xfrm>
            <a:off x="566698" y="675205"/>
            <a:ext cx="110739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(1) 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主函数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main( )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中定义的变量也是局部变量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，它只能在主函数中使用，其它函数不能使用。同时，主函数中也不能使用其它函数中定义的局部变量。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4985" name="Rectangle 25" descr="信纸"/>
          <p:cNvSpPr>
            <a:spLocks noChangeArrowheads="1"/>
          </p:cNvSpPr>
          <p:nvPr/>
        </p:nvSpPr>
        <p:spPr bwMode="auto">
          <a:xfrm>
            <a:off x="2856309" y="1501263"/>
            <a:ext cx="6696075" cy="5262979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f3 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x);</a:t>
            </a:r>
          </a:p>
          <a:p>
            <a:pPr marL="457200" indent="-457200"/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2,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b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b = a + y ;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("%d\n", b);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b="1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f3 ( </a:t>
            </a:r>
            <a:r>
              <a:rPr lang="en-US" altLang="zh-CN" b="1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x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y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y = a + 5;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( y 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64987" name="Rectangle 27"/>
          <p:cNvSpPr>
            <a:spLocks noChangeArrowheads="1"/>
          </p:cNvSpPr>
          <p:nvPr/>
        </p:nvSpPr>
        <p:spPr bwMode="auto">
          <a:xfrm>
            <a:off x="3072209" y="2693475"/>
            <a:ext cx="1584325" cy="3460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4989" name="AutoShape 29"/>
          <p:cNvSpPr>
            <a:spLocks/>
          </p:cNvSpPr>
          <p:nvPr/>
        </p:nvSpPr>
        <p:spPr bwMode="auto">
          <a:xfrm>
            <a:off x="6529784" y="1801300"/>
            <a:ext cx="1582737" cy="360363"/>
          </a:xfrm>
          <a:prstGeom prst="borderCallout2">
            <a:avLst>
              <a:gd name="adj1" fmla="val 31718"/>
              <a:gd name="adj2" fmla="val -4815"/>
              <a:gd name="adj3" fmla="val 31718"/>
              <a:gd name="adj4" fmla="val -79741"/>
              <a:gd name="adj5" fmla="val 246255"/>
              <a:gd name="adj6" fmla="val -15697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局部变量</a:t>
            </a:r>
            <a:r>
              <a:rPr lang="zh-CN" altLang="en-US" sz="1800" dirty="0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65002" name="Group 42"/>
          <p:cNvGrpSpPr>
            <a:grpSpLocks/>
          </p:cNvGrpSpPr>
          <p:nvPr/>
        </p:nvGrpSpPr>
        <p:grpSpPr bwMode="auto">
          <a:xfrm>
            <a:off x="6123383" y="2147375"/>
            <a:ext cx="1682750" cy="1857375"/>
            <a:chOff x="2336" y="1516"/>
            <a:chExt cx="1060" cy="1170"/>
          </a:xfrm>
        </p:grpSpPr>
        <p:sp>
          <p:nvSpPr>
            <p:cNvPr id="1065000" name="AutoShape 40"/>
            <p:cNvSpPr>
              <a:spLocks/>
            </p:cNvSpPr>
            <p:nvPr/>
          </p:nvSpPr>
          <p:spPr bwMode="auto">
            <a:xfrm>
              <a:off x="2336" y="1516"/>
              <a:ext cx="181" cy="1170"/>
            </a:xfrm>
            <a:prstGeom prst="rightBrace">
              <a:avLst>
                <a:gd name="adj1" fmla="val 53867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65001" name="Text Box 41"/>
            <p:cNvSpPr txBox="1">
              <a:spLocks noChangeArrowheads="1"/>
            </p:cNvSpPr>
            <p:nvPr/>
          </p:nvSpPr>
          <p:spPr bwMode="auto">
            <a:xfrm>
              <a:off x="2525" y="1871"/>
              <a:ext cx="87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a</a:t>
              </a:r>
              <a:r>
                <a:rPr lang="zh-CN" altLang="en-US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b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grpSp>
        <p:nvGrpSpPr>
          <p:cNvPr id="1065003" name="Group 43"/>
          <p:cNvGrpSpPr>
            <a:grpSpLocks/>
          </p:cNvGrpSpPr>
          <p:nvPr/>
        </p:nvGrpSpPr>
        <p:grpSpPr bwMode="auto">
          <a:xfrm>
            <a:off x="6107941" y="4688278"/>
            <a:ext cx="1682750" cy="1857375"/>
            <a:chOff x="2336" y="1516"/>
            <a:chExt cx="1060" cy="1170"/>
          </a:xfrm>
        </p:grpSpPr>
        <p:sp>
          <p:nvSpPr>
            <p:cNvPr id="1065004" name="AutoShape 44"/>
            <p:cNvSpPr>
              <a:spLocks/>
            </p:cNvSpPr>
            <p:nvPr/>
          </p:nvSpPr>
          <p:spPr bwMode="auto">
            <a:xfrm>
              <a:off x="2336" y="1516"/>
              <a:ext cx="181" cy="1170"/>
            </a:xfrm>
            <a:prstGeom prst="rightBrace">
              <a:avLst>
                <a:gd name="adj1" fmla="val 53867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65005" name="Text Box 45"/>
            <p:cNvSpPr txBox="1">
              <a:spLocks noChangeArrowheads="1"/>
            </p:cNvSpPr>
            <p:nvPr/>
          </p:nvSpPr>
          <p:spPr bwMode="auto">
            <a:xfrm>
              <a:off x="2525" y="1871"/>
              <a:ext cx="87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x</a:t>
              </a:r>
              <a:r>
                <a:rPr lang="zh-CN" altLang="en-US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y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5006" name="Oval 46"/>
          <p:cNvSpPr>
            <a:spLocks noChangeArrowheads="1"/>
          </p:cNvSpPr>
          <p:nvPr/>
        </p:nvSpPr>
        <p:spPr bwMode="auto">
          <a:xfrm>
            <a:off x="3821942" y="4502541"/>
            <a:ext cx="720725" cy="388937"/>
          </a:xfrm>
          <a:prstGeom prst="ellips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07" name="Oval 47"/>
          <p:cNvSpPr>
            <a:spLocks noChangeArrowheads="1"/>
          </p:cNvSpPr>
          <p:nvPr/>
        </p:nvSpPr>
        <p:spPr bwMode="auto">
          <a:xfrm>
            <a:off x="3001205" y="5207390"/>
            <a:ext cx="865187" cy="419100"/>
          </a:xfrm>
          <a:prstGeom prst="ellips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024" name="Group 64"/>
          <p:cNvGrpSpPr>
            <a:grpSpLocks/>
          </p:cNvGrpSpPr>
          <p:nvPr/>
        </p:nvGrpSpPr>
        <p:grpSpPr bwMode="auto">
          <a:xfrm>
            <a:off x="4355342" y="4288228"/>
            <a:ext cx="3700463" cy="360363"/>
            <a:chOff x="1474" y="2642"/>
            <a:chExt cx="2331" cy="227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065008" name="AutoShape 48"/>
            <p:cNvSpPr>
              <a:spLocks/>
            </p:cNvSpPr>
            <p:nvPr/>
          </p:nvSpPr>
          <p:spPr bwMode="auto">
            <a:xfrm>
              <a:off x="2808" y="2642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85356"/>
                <a:gd name="adj5" fmla="val 281500"/>
                <a:gd name="adj6" fmla="val -168204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pPr algn="ctr"/>
              <a:r>
                <a:rPr lang="zh-CN" altLang="en-US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局部变量</a:t>
              </a:r>
              <a:r>
                <a:rPr lang="zh-CN" altLang="en-US" sz="1800">
                  <a:latin typeface="+mn-lt"/>
                  <a:ea typeface="楷体" pitchFamily="49" charset="-122"/>
                </a:rPr>
                <a:t> </a:t>
              </a:r>
            </a:p>
          </p:txBody>
        </p:sp>
        <p:sp>
          <p:nvSpPr>
            <p:cNvPr id="1065009" name="Line 49"/>
            <p:cNvSpPr>
              <a:spLocks noChangeShapeType="1"/>
            </p:cNvSpPr>
            <p:nvPr/>
          </p:nvSpPr>
          <p:spPr bwMode="auto">
            <a:xfrm>
              <a:off x="1474" y="2795"/>
              <a:ext cx="1306" cy="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65011" name="Oval 51"/>
          <p:cNvSpPr>
            <a:spLocks noChangeArrowheads="1"/>
          </p:cNvSpPr>
          <p:nvPr/>
        </p:nvSpPr>
        <p:spPr bwMode="auto">
          <a:xfrm>
            <a:off x="3994545" y="3064950"/>
            <a:ext cx="317500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12" name="Oval 52"/>
          <p:cNvSpPr>
            <a:spLocks noChangeArrowheads="1"/>
          </p:cNvSpPr>
          <p:nvPr/>
        </p:nvSpPr>
        <p:spPr bwMode="auto">
          <a:xfrm>
            <a:off x="3505595" y="5589397"/>
            <a:ext cx="317500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022" name="Group 62"/>
          <p:cNvGrpSpPr>
            <a:grpSpLocks/>
          </p:cNvGrpSpPr>
          <p:nvPr/>
        </p:nvGrpSpPr>
        <p:grpSpPr bwMode="auto">
          <a:xfrm>
            <a:off x="4297758" y="2607750"/>
            <a:ext cx="1898650" cy="792163"/>
            <a:chOff x="1429" y="1806"/>
            <a:chExt cx="1196" cy="499"/>
          </a:xfrm>
        </p:grpSpPr>
        <p:sp>
          <p:nvSpPr>
            <p:cNvPr id="1065014" name="AutoShape 54"/>
            <p:cNvSpPr>
              <a:spLocks noChangeArrowheads="1"/>
            </p:cNvSpPr>
            <p:nvPr/>
          </p:nvSpPr>
          <p:spPr bwMode="auto">
            <a:xfrm>
              <a:off x="1718" y="1806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5017" name="Line 57"/>
            <p:cNvSpPr>
              <a:spLocks noChangeShapeType="1"/>
            </p:cNvSpPr>
            <p:nvPr/>
          </p:nvSpPr>
          <p:spPr bwMode="auto">
            <a:xfrm flipV="1">
              <a:off x="1429" y="2151"/>
              <a:ext cx="272" cy="9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65025" name="Group 65"/>
          <p:cNvGrpSpPr>
            <a:grpSpLocks/>
          </p:cNvGrpSpPr>
          <p:nvPr/>
        </p:nvGrpSpPr>
        <p:grpSpPr bwMode="auto">
          <a:xfrm>
            <a:off x="3779079" y="5035940"/>
            <a:ext cx="2330450" cy="792162"/>
            <a:chOff x="1111" y="3113"/>
            <a:chExt cx="1468" cy="499"/>
          </a:xfrm>
        </p:grpSpPr>
        <p:sp>
          <p:nvSpPr>
            <p:cNvPr id="1065020" name="AutoShape 60"/>
            <p:cNvSpPr>
              <a:spLocks noChangeArrowheads="1"/>
            </p:cNvSpPr>
            <p:nvPr/>
          </p:nvSpPr>
          <p:spPr bwMode="auto">
            <a:xfrm>
              <a:off x="1672" y="3113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5021" name="Line 61"/>
            <p:cNvSpPr>
              <a:spLocks noChangeShapeType="1"/>
            </p:cNvSpPr>
            <p:nvPr/>
          </p:nvSpPr>
          <p:spPr bwMode="auto">
            <a:xfrm flipV="1">
              <a:off x="1111" y="3339"/>
              <a:ext cx="590" cy="18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65026" name="Group 66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65027" name="Text Box 6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65028" name="Text Box 6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6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64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064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064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65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065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065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65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065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065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065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065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1065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3" grpId="0"/>
      <p:bldP spid="1064985" grpId="0" animBg="1"/>
      <p:bldP spid="1064987" grpId="0" animBg="1"/>
      <p:bldP spid="1064989" grpId="0" animBg="1"/>
      <p:bldP spid="1065006" grpId="0" animBg="1"/>
      <p:bldP spid="1065007" grpId="0" animBg="1"/>
      <p:bldP spid="1065011" grpId="0" animBg="1"/>
      <p:bldP spid="10650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3" name="Rectangle 5"/>
          <p:cNvSpPr>
            <a:spLocks noChangeArrowheads="1"/>
          </p:cNvSpPr>
          <p:nvPr/>
        </p:nvSpPr>
        <p:spPr bwMode="auto">
          <a:xfrm>
            <a:off x="828856" y="98426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67014" name="Rectangle 6"/>
          <p:cNvSpPr>
            <a:spLocks noChangeArrowheads="1"/>
          </p:cNvSpPr>
          <p:nvPr/>
        </p:nvSpPr>
        <p:spPr bwMode="auto">
          <a:xfrm>
            <a:off x="500242" y="560388"/>
            <a:ext cx="1135639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(2) 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形参变量属于被调用函数的局部变量；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实参变量则属于全局变量或调用函数的局部变量。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(3) 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允许在不同的函数中使用相同的变量名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，它们代表不同的对象，分配不同的单元，互不干扰，也不会发生混淆。 </a:t>
            </a:r>
          </a:p>
        </p:txBody>
      </p:sp>
      <p:sp>
        <p:nvSpPr>
          <p:cNvPr id="1067037" name="Rectangle 29" descr="信纸"/>
          <p:cNvSpPr>
            <a:spLocks noChangeArrowheads="1"/>
          </p:cNvSpPr>
          <p:nvPr/>
        </p:nvSpPr>
        <p:spPr bwMode="auto">
          <a:xfrm>
            <a:off x="1415480" y="2214803"/>
            <a:ext cx="5616575" cy="4154984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subf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 );</a:t>
            </a: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                                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a, b;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            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a=3, b=4;                          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("main: a = %d, b = %d\n", a, b); 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subf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 );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("main: a = %d, b = %d\n", a, b);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67038" name="Rectangle 30" descr="信纸"/>
          <p:cNvSpPr>
            <a:spLocks noChangeArrowheads="1"/>
          </p:cNvSpPr>
          <p:nvPr/>
        </p:nvSpPr>
        <p:spPr bwMode="auto">
          <a:xfrm>
            <a:off x="7392144" y="2205038"/>
            <a:ext cx="3960440" cy="2686050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subf (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int a, b;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a = 6, b = 7;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printf("subf: a = %d,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b = %d\n",a,b);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67039" name="Rectangle 31"/>
          <p:cNvSpPr>
            <a:spLocks noChangeArrowheads="1"/>
          </p:cNvSpPr>
          <p:nvPr/>
        </p:nvSpPr>
        <p:spPr bwMode="auto">
          <a:xfrm>
            <a:off x="7370024" y="5064195"/>
            <a:ext cx="3982559" cy="15906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main: a = 3, b = 4</a:t>
            </a:r>
          </a:p>
          <a:p>
            <a:r>
              <a:rPr lang="en-US" altLang="zh-CN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subf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 a = 6, b = 7</a:t>
            </a:r>
          </a:p>
          <a:p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main: a = 3, b = 4</a:t>
            </a:r>
          </a:p>
        </p:txBody>
      </p:sp>
      <p:grpSp>
        <p:nvGrpSpPr>
          <p:cNvPr id="1067042" name="Group 34"/>
          <p:cNvGrpSpPr>
            <a:grpSpLocks/>
          </p:cNvGrpSpPr>
          <p:nvPr/>
        </p:nvGrpSpPr>
        <p:grpSpPr bwMode="auto">
          <a:xfrm>
            <a:off x="4295204" y="2794715"/>
            <a:ext cx="3384781" cy="360362"/>
            <a:chOff x="2154" y="1933"/>
            <a:chExt cx="2140" cy="227"/>
          </a:xfrm>
        </p:grpSpPr>
        <p:sp>
          <p:nvSpPr>
            <p:cNvPr id="1067040" name="AutoShape 32"/>
            <p:cNvSpPr>
              <a:spLocks/>
            </p:cNvSpPr>
            <p:nvPr/>
          </p:nvSpPr>
          <p:spPr bwMode="auto">
            <a:xfrm>
              <a:off x="2154" y="1933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56069"/>
                <a:gd name="adj5" fmla="val 275091"/>
                <a:gd name="adj6" fmla="val -102702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algn="ctr"/>
              <a:r>
                <a:rPr kumimoji="0" lang="zh-CN" altLang="en-US" sz="18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变量名相同</a:t>
              </a:r>
              <a:r>
                <a:rPr kumimoji="0" lang="zh-CN" altLang="en-US" sz="1800" dirty="0">
                  <a:latin typeface="+mn-lt"/>
                  <a:ea typeface="楷体" pitchFamily="49" charset="-122"/>
                </a:rPr>
                <a:t> </a:t>
              </a:r>
              <a:endParaRPr lang="zh-CN" altLang="en-US" sz="1800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067041" name="Line 33"/>
            <p:cNvSpPr>
              <a:spLocks noChangeShapeType="1"/>
            </p:cNvSpPr>
            <p:nvPr/>
          </p:nvSpPr>
          <p:spPr bwMode="auto">
            <a:xfrm>
              <a:off x="3152" y="2024"/>
              <a:ext cx="114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067043" name="Oval 35"/>
          <p:cNvSpPr>
            <a:spLocks noChangeArrowheads="1"/>
          </p:cNvSpPr>
          <p:nvPr/>
        </p:nvSpPr>
        <p:spPr bwMode="auto">
          <a:xfrm>
            <a:off x="1567736" y="3712727"/>
            <a:ext cx="1223962" cy="431800"/>
          </a:xfrm>
          <a:prstGeom prst="ellips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7044" name="Oval 36"/>
          <p:cNvSpPr>
            <a:spLocks noChangeArrowheads="1"/>
          </p:cNvSpPr>
          <p:nvPr/>
        </p:nvSpPr>
        <p:spPr bwMode="auto">
          <a:xfrm>
            <a:off x="7640593" y="2975735"/>
            <a:ext cx="1223963" cy="431800"/>
          </a:xfrm>
          <a:prstGeom prst="ellips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7045" name="Group 37"/>
          <p:cNvGrpSpPr>
            <a:grpSpLocks/>
          </p:cNvGrpSpPr>
          <p:nvPr/>
        </p:nvGrpSpPr>
        <p:grpSpPr bwMode="auto">
          <a:xfrm>
            <a:off x="1767" y="0"/>
            <a:ext cx="446088" cy="6858000"/>
            <a:chOff x="0" y="0"/>
            <a:chExt cx="281" cy="4320"/>
          </a:xfrm>
        </p:grpSpPr>
        <p:sp>
          <p:nvSpPr>
            <p:cNvPr id="1067046" name="Text Box 3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67047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6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67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70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67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067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067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1067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67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37" grpId="0" animBg="1"/>
      <p:bldP spid="1067038" grpId="0" animBg="1"/>
      <p:bldP spid="1067039" grpId="0" animBg="1"/>
      <p:bldP spid="1067043" grpId="0" animBg="1"/>
      <p:bldP spid="106704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61" name="Rectangle 5"/>
          <p:cNvSpPr>
            <a:spLocks noChangeArrowheads="1"/>
          </p:cNvSpPr>
          <p:nvPr/>
        </p:nvSpPr>
        <p:spPr bwMode="auto">
          <a:xfrm>
            <a:off x="822287" y="98426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69062" name="Rectangle 6"/>
          <p:cNvSpPr>
            <a:spLocks noChangeArrowheads="1"/>
          </p:cNvSpPr>
          <p:nvPr/>
        </p:nvSpPr>
        <p:spPr bwMode="auto">
          <a:xfrm>
            <a:off x="493672" y="548680"/>
            <a:ext cx="1129095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(4) 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在复合语句中定义的变量也是局部变量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，其作用域只在复合语句范围内。其生存期是从复合语句被执行的时刻到复合语句执行完毕的时刻。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63" name="Rectangle 7" descr="信纸"/>
          <p:cNvSpPr>
            <a:spLocks noChangeArrowheads="1"/>
          </p:cNvSpPr>
          <p:nvPr/>
        </p:nvSpPr>
        <p:spPr bwMode="auto">
          <a:xfrm>
            <a:off x="1847579" y="1071547"/>
            <a:ext cx="8712917" cy="5632311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= 2, b = 4;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k, b;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k = a + 5;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b = a * 5;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printf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("k = %d\n", k);  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printf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("b = %d\n", b); 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}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("b = %d\n", b);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a = k + 2;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69071" name="Rectangle 15"/>
          <p:cNvSpPr>
            <a:spLocks noChangeArrowheads="1"/>
          </p:cNvSpPr>
          <p:nvPr/>
        </p:nvSpPr>
        <p:spPr bwMode="auto">
          <a:xfrm>
            <a:off x="2077766" y="2265347"/>
            <a:ext cx="2046288" cy="3460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9072" name="AutoShape 16"/>
          <p:cNvSpPr>
            <a:spLocks/>
          </p:cNvSpPr>
          <p:nvPr/>
        </p:nvSpPr>
        <p:spPr bwMode="auto">
          <a:xfrm>
            <a:off x="5535342" y="1373172"/>
            <a:ext cx="2333625" cy="360363"/>
          </a:xfrm>
          <a:prstGeom prst="borderCallout2">
            <a:avLst>
              <a:gd name="adj1" fmla="val 31718"/>
              <a:gd name="adj2" fmla="val -3264"/>
              <a:gd name="adj3" fmla="val 31718"/>
              <a:gd name="adj4" fmla="val -54083"/>
              <a:gd name="adj5" fmla="val 250222"/>
              <a:gd name="adj6" fmla="val -10646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main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中的局部变量</a:t>
            </a:r>
            <a:r>
              <a:rPr lang="zh-CN" altLang="en-US" sz="1800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73" name="Rectangle 17"/>
          <p:cNvSpPr>
            <a:spLocks noChangeArrowheads="1"/>
          </p:cNvSpPr>
          <p:nvPr/>
        </p:nvSpPr>
        <p:spPr bwMode="auto">
          <a:xfrm>
            <a:off x="2307954" y="2995597"/>
            <a:ext cx="1154112" cy="34607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9074" name="AutoShape 18"/>
          <p:cNvSpPr>
            <a:spLocks/>
          </p:cNvSpPr>
          <p:nvPr/>
        </p:nvSpPr>
        <p:spPr bwMode="auto">
          <a:xfrm>
            <a:off x="4700317" y="2565384"/>
            <a:ext cx="2663825" cy="417512"/>
          </a:xfrm>
          <a:prstGeom prst="borderCallout2">
            <a:avLst>
              <a:gd name="adj1" fmla="val 27375"/>
              <a:gd name="adj2" fmla="val -2861"/>
              <a:gd name="adj3" fmla="val 27375"/>
              <a:gd name="adj4" fmla="val -24671"/>
              <a:gd name="adj5" fmla="val 137644"/>
              <a:gd name="adj6" fmla="val -47139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复合语句中的局部变量</a:t>
            </a:r>
            <a:r>
              <a:rPr lang="zh-CN" altLang="en-US" sz="1800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69083" name="Group 27"/>
          <p:cNvGrpSpPr>
            <a:grpSpLocks/>
          </p:cNvGrpSpPr>
          <p:nvPr/>
        </p:nvGrpSpPr>
        <p:grpSpPr bwMode="auto">
          <a:xfrm>
            <a:off x="2107930" y="2406635"/>
            <a:ext cx="6842125" cy="4078287"/>
            <a:chOff x="703" y="1751"/>
            <a:chExt cx="4310" cy="2341"/>
          </a:xfrm>
        </p:grpSpPr>
        <p:grpSp>
          <p:nvGrpSpPr>
            <p:cNvPr id="1069080" name="Group 24"/>
            <p:cNvGrpSpPr>
              <a:grpSpLocks/>
            </p:cNvGrpSpPr>
            <p:nvPr/>
          </p:nvGrpSpPr>
          <p:grpSpPr bwMode="auto">
            <a:xfrm>
              <a:off x="703" y="1751"/>
              <a:ext cx="3501" cy="2341"/>
              <a:chOff x="703" y="1751"/>
              <a:chExt cx="3501" cy="2341"/>
            </a:xfrm>
          </p:grpSpPr>
          <p:sp>
            <p:nvSpPr>
              <p:cNvPr id="1069077" name="Line 21"/>
              <p:cNvSpPr>
                <a:spLocks noChangeShapeType="1"/>
              </p:cNvSpPr>
              <p:nvPr/>
            </p:nvSpPr>
            <p:spPr bwMode="auto">
              <a:xfrm>
                <a:off x="4200" y="1752"/>
                <a:ext cx="0" cy="2335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78" name="Line 22"/>
              <p:cNvSpPr>
                <a:spLocks noChangeShapeType="1"/>
              </p:cNvSpPr>
              <p:nvPr/>
            </p:nvSpPr>
            <p:spPr bwMode="auto">
              <a:xfrm flipH="1">
                <a:off x="703" y="4092"/>
                <a:ext cx="349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79" name="Line 23"/>
              <p:cNvSpPr>
                <a:spLocks noChangeShapeType="1"/>
              </p:cNvSpPr>
              <p:nvPr/>
            </p:nvSpPr>
            <p:spPr bwMode="auto">
              <a:xfrm>
                <a:off x="1982" y="1751"/>
                <a:ext cx="22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69081" name="Rectangle 25"/>
            <p:cNvSpPr>
              <a:spLocks noChangeArrowheads="1"/>
            </p:cNvSpPr>
            <p:nvPr/>
          </p:nvSpPr>
          <p:spPr bwMode="auto">
            <a:xfrm>
              <a:off x="4206" y="2472"/>
              <a:ext cx="807" cy="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mian</a:t>
              </a:r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中</a:t>
              </a:r>
            </a:p>
            <a:p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a</a:t>
              </a:r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b</a:t>
              </a:r>
            </a:p>
            <a:p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  <a:r>
                <a:rPr lang="zh-CN" altLang="en-US" sz="2000" b="1">
                  <a:latin typeface="+mn-lt"/>
                  <a:ea typeface="楷体" pitchFamily="49" charset="-122"/>
                </a:rPr>
                <a:t> </a:t>
              </a:r>
            </a:p>
          </p:txBody>
        </p:sp>
      </p:grpSp>
      <p:grpSp>
        <p:nvGrpSpPr>
          <p:cNvPr id="1069089" name="Group 33"/>
          <p:cNvGrpSpPr>
            <a:grpSpLocks/>
          </p:cNvGrpSpPr>
          <p:nvPr/>
        </p:nvGrpSpPr>
        <p:grpSpPr bwMode="auto">
          <a:xfrm>
            <a:off x="2323830" y="3186097"/>
            <a:ext cx="5322887" cy="1814513"/>
            <a:chOff x="839" y="2242"/>
            <a:chExt cx="3353" cy="1143"/>
          </a:xfrm>
        </p:grpSpPr>
        <p:grpSp>
          <p:nvGrpSpPr>
            <p:cNvPr id="1069087" name="Group 31"/>
            <p:cNvGrpSpPr>
              <a:grpSpLocks/>
            </p:cNvGrpSpPr>
            <p:nvPr/>
          </p:nvGrpSpPr>
          <p:grpSpPr bwMode="auto">
            <a:xfrm>
              <a:off x="839" y="2242"/>
              <a:ext cx="2449" cy="1143"/>
              <a:chOff x="839" y="2296"/>
              <a:chExt cx="2449" cy="1089"/>
            </a:xfrm>
          </p:grpSpPr>
          <p:sp>
            <p:nvSpPr>
              <p:cNvPr id="1069084" name="Line 28"/>
              <p:cNvSpPr>
                <a:spLocks noChangeShapeType="1"/>
              </p:cNvSpPr>
              <p:nvPr/>
            </p:nvSpPr>
            <p:spPr bwMode="auto">
              <a:xfrm>
                <a:off x="1565" y="2296"/>
                <a:ext cx="172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85" name="Line 29"/>
              <p:cNvSpPr>
                <a:spLocks noChangeShapeType="1"/>
              </p:cNvSpPr>
              <p:nvPr/>
            </p:nvSpPr>
            <p:spPr bwMode="auto">
              <a:xfrm>
                <a:off x="3288" y="2296"/>
                <a:ext cx="0" cy="1089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86" name="Line 30"/>
              <p:cNvSpPr>
                <a:spLocks noChangeShapeType="1"/>
              </p:cNvSpPr>
              <p:nvPr/>
            </p:nvSpPr>
            <p:spPr bwMode="auto">
              <a:xfrm flipH="1">
                <a:off x="839" y="3385"/>
                <a:ext cx="2449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69088" name="Rectangle 32"/>
            <p:cNvSpPr>
              <a:spLocks noChangeArrowheads="1"/>
            </p:cNvSpPr>
            <p:nvPr/>
          </p:nvSpPr>
          <p:spPr bwMode="auto">
            <a:xfrm>
              <a:off x="3271" y="2444"/>
              <a:ext cx="921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复合语句中</a:t>
              </a:r>
            </a:p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k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b</a:t>
              </a:r>
            </a:p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9091" name="AutoShape 35"/>
          <p:cNvSpPr>
            <a:spLocks/>
          </p:cNvSpPr>
          <p:nvPr/>
        </p:nvSpPr>
        <p:spPr bwMode="auto">
          <a:xfrm>
            <a:off x="8227742" y="4640247"/>
            <a:ext cx="1223963" cy="360363"/>
          </a:xfrm>
          <a:prstGeom prst="borderCallout2">
            <a:avLst>
              <a:gd name="adj1" fmla="val 31718"/>
              <a:gd name="adj2" fmla="val -6227"/>
              <a:gd name="adj3" fmla="val 31718"/>
              <a:gd name="adj4" fmla="val -117769"/>
              <a:gd name="adj5" fmla="val -96477"/>
              <a:gd name="adj6" fmla="val -232944"/>
            </a:avLst>
          </a:prstGeom>
          <a:gradFill rotWithShape="1">
            <a:gsLst>
              <a:gs pos="0">
                <a:srgbClr val="FF99CC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k = 7</a:t>
            </a:r>
            <a:r>
              <a:rPr lang="en-US" altLang="zh-CN" sz="18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3" name="AutoShape 37"/>
          <p:cNvSpPr>
            <a:spLocks/>
          </p:cNvSpPr>
          <p:nvPr/>
        </p:nvSpPr>
        <p:spPr bwMode="auto">
          <a:xfrm>
            <a:off x="8229330" y="5170472"/>
            <a:ext cx="1366837" cy="360363"/>
          </a:xfrm>
          <a:prstGeom prst="borderCallout2">
            <a:avLst>
              <a:gd name="adj1" fmla="val 31718"/>
              <a:gd name="adj2" fmla="val -5574"/>
              <a:gd name="adj3" fmla="val 31718"/>
              <a:gd name="adj4" fmla="val -106968"/>
              <a:gd name="adj5" fmla="val -134801"/>
              <a:gd name="adj6" fmla="val -211616"/>
            </a:avLst>
          </a:prstGeom>
          <a:gradFill rotWithShape="1">
            <a:gsLst>
              <a:gs pos="0">
                <a:srgbClr val="FF99CC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 = 10</a:t>
            </a:r>
            <a:r>
              <a:rPr lang="en-US" altLang="zh-CN" sz="18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4" name="AutoShape 38"/>
          <p:cNvSpPr>
            <a:spLocks/>
          </p:cNvSpPr>
          <p:nvPr/>
        </p:nvSpPr>
        <p:spPr bwMode="auto">
          <a:xfrm>
            <a:off x="8230916" y="5700697"/>
            <a:ext cx="1366838" cy="360363"/>
          </a:xfrm>
          <a:prstGeom prst="borderCallout2">
            <a:avLst>
              <a:gd name="adj1" fmla="val 31718"/>
              <a:gd name="adj2" fmla="val -5574"/>
              <a:gd name="adj3" fmla="val 31718"/>
              <a:gd name="adj4" fmla="val -114403"/>
              <a:gd name="adj5" fmla="val -96477"/>
              <a:gd name="adj6" fmla="val -226829"/>
            </a:avLst>
          </a:prstGeom>
          <a:gradFill rotWithShape="1">
            <a:gsLst>
              <a:gs pos="0">
                <a:srgbClr val="FF99CC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 = 4</a:t>
            </a:r>
            <a:r>
              <a:rPr lang="en-US" altLang="zh-CN" sz="18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5" name="Oval 39"/>
          <p:cNvSpPr>
            <a:spLocks noChangeArrowheads="1"/>
          </p:cNvSpPr>
          <p:nvPr/>
        </p:nvSpPr>
        <p:spPr bwMode="auto">
          <a:xfrm>
            <a:off x="2511154" y="5557822"/>
            <a:ext cx="317500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9099" name="Group 43"/>
          <p:cNvGrpSpPr>
            <a:grpSpLocks/>
          </p:cNvGrpSpPr>
          <p:nvPr/>
        </p:nvGrpSpPr>
        <p:grpSpPr bwMode="auto">
          <a:xfrm>
            <a:off x="2827067" y="5621322"/>
            <a:ext cx="2259013" cy="792163"/>
            <a:chOff x="1156" y="3776"/>
            <a:chExt cx="1423" cy="499"/>
          </a:xfrm>
        </p:grpSpPr>
        <p:sp>
          <p:nvSpPr>
            <p:cNvPr id="1069097" name="AutoShape 41"/>
            <p:cNvSpPr>
              <a:spLocks noChangeArrowheads="1"/>
            </p:cNvSpPr>
            <p:nvPr/>
          </p:nvSpPr>
          <p:spPr bwMode="auto">
            <a:xfrm>
              <a:off x="1672" y="3776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9098" name="Line 42"/>
            <p:cNvSpPr>
              <a:spLocks noChangeShapeType="1"/>
            </p:cNvSpPr>
            <p:nvPr/>
          </p:nvSpPr>
          <p:spPr bwMode="auto">
            <a:xfrm>
              <a:off x="1156" y="3929"/>
              <a:ext cx="499" cy="19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69100" name="Group 44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69101" name="Text Box 4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69102" name="Text Box 4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69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69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069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069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" dur="500"/>
                                        <p:tgtEl>
                                          <p:spTgt spid="1069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069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1069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0" dur="500"/>
                                        <p:tgtEl>
                                          <p:spTgt spid="1069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069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069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1069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069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1069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63" grpId="0" animBg="1"/>
      <p:bldP spid="1069071" grpId="0" animBg="1"/>
      <p:bldP spid="1069072" grpId="0" animBg="1"/>
      <p:bldP spid="1069073" grpId="0" animBg="1"/>
      <p:bldP spid="1069074" grpId="0" animBg="1"/>
      <p:bldP spid="1069091" grpId="0" animBg="1"/>
      <p:bldP spid="1069093" grpId="0" animBg="1"/>
      <p:bldP spid="1069094" grpId="0" animBg="1"/>
      <p:bldP spid="106909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106" name="Rectangle 2"/>
          <p:cNvSpPr>
            <a:spLocks noChangeArrowheads="1"/>
          </p:cNvSpPr>
          <p:nvPr/>
        </p:nvSpPr>
        <p:spPr bwMode="auto">
          <a:xfrm>
            <a:off x="766724" y="163513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1071110" name="Rectangle 6"/>
          <p:cNvSpPr>
            <a:spLocks noChangeArrowheads="1"/>
          </p:cNvSpPr>
          <p:nvPr/>
        </p:nvSpPr>
        <p:spPr bwMode="auto">
          <a:xfrm>
            <a:off x="566670" y="642918"/>
            <a:ext cx="11073946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在函数外部作定义说明的变量，也称为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。它不属于哪一个函数，而属于一个源程序文件。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lvl="1">
              <a:buClr>
                <a:srgbClr val="006600"/>
              </a:buClr>
              <a:buFont typeface="Wingdings" pitchFamily="2" charset="2"/>
              <a:buChar char="Ø"/>
            </a:pP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从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定义变量的位置开始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到本源文件结束，及有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extern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的其它源文件。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lvl="1">
              <a:buClr>
                <a:srgbClr val="006600"/>
              </a:buClr>
              <a:buFont typeface="Wingdings" pitchFamily="2" charset="2"/>
              <a:buChar char="Ø"/>
            </a:pP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生存期</a:t>
            </a:r>
          </a:p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与程序相同。即从程序开始执行到程序终止的这段时间内，全局变量都有效。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1124" name="Rectangle 20" descr="信纸"/>
          <p:cNvSpPr>
            <a:spLocks noChangeArrowheads="1"/>
          </p:cNvSpPr>
          <p:nvPr/>
        </p:nvSpPr>
        <p:spPr bwMode="auto">
          <a:xfrm>
            <a:off x="1848274" y="2533283"/>
            <a:ext cx="2879725" cy="3787775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math.h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sign ( );</a:t>
            </a:r>
          </a:p>
          <a:p>
            <a:pPr marL="457200" indent="-45720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计算数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的平方根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float </a:t>
            </a:r>
            <a:r>
              <a:rPr lang="en-US" altLang="zh-CN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sqr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if ( n &gt; 0 )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return (</a:t>
            </a:r>
            <a:r>
              <a:rPr lang="en-US" altLang="zh-CN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sqrt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(n));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else    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return (-1);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71125" name="Rectangle 21" descr="信纸"/>
          <p:cNvSpPr>
            <a:spLocks noChangeArrowheads="1"/>
          </p:cNvSpPr>
          <p:nvPr/>
        </p:nvSpPr>
        <p:spPr bwMode="auto">
          <a:xfrm>
            <a:off x="4901035" y="172670"/>
            <a:ext cx="5329238" cy="6555641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float n = 0;</a:t>
            </a:r>
          </a:p>
          <a:p>
            <a:pPr marL="457200" indent="-457200"/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s;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float t;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("%f", &amp;n);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s = sign ( );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取符号</a:t>
            </a:r>
          </a:p>
          <a:p>
            <a:pPr marL="457200" indent="-45720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t =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sqr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);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取平方根</a:t>
            </a:r>
          </a:p>
          <a:p>
            <a:pPr marL="457200" indent="-45720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("s = %d  t = %f ", s, t);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取数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的符号</a:t>
            </a:r>
          </a:p>
          <a:p>
            <a:pPr marL="457200" indent="-457200"/>
            <a:r>
              <a:rPr lang="en-US" altLang="zh-CN" sz="2000" b="1" dirty="0" err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sign ( )</a:t>
            </a:r>
          </a:p>
          <a:p>
            <a:pPr marL="457200" indent="-457200"/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r = 0;</a:t>
            </a:r>
          </a:p>
          <a:p>
            <a:pPr marL="457200" indent="-457200"/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if (n &gt; 0)  r = 1;</a:t>
            </a:r>
          </a:p>
          <a:p>
            <a:pPr marL="457200" indent="-457200"/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if (n &lt; 0)  r = -1;</a:t>
            </a:r>
          </a:p>
          <a:p>
            <a:pPr marL="457200" indent="-457200"/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return ( r );</a:t>
            </a:r>
          </a:p>
          <a:p>
            <a:pPr marL="457200" indent="-457200"/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71126" name="Rectangle 22"/>
          <p:cNvSpPr>
            <a:spLocks noChangeArrowheads="1"/>
          </p:cNvSpPr>
          <p:nvPr/>
        </p:nvSpPr>
        <p:spPr bwMode="auto">
          <a:xfrm>
            <a:off x="4959773" y="229820"/>
            <a:ext cx="1382712" cy="3460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27" name="AutoShape 23"/>
          <p:cNvSpPr>
            <a:spLocks/>
          </p:cNvSpPr>
          <p:nvPr/>
        </p:nvSpPr>
        <p:spPr bwMode="auto">
          <a:xfrm>
            <a:off x="7148935" y="472708"/>
            <a:ext cx="2089150" cy="720725"/>
          </a:xfrm>
          <a:prstGeom prst="borderCallout2">
            <a:avLst>
              <a:gd name="adj1" fmla="val 15861"/>
              <a:gd name="adj2" fmla="val -3648"/>
              <a:gd name="adj3" fmla="val 15861"/>
              <a:gd name="adj4" fmla="val -21278"/>
              <a:gd name="adj5" fmla="val -3523"/>
              <a:gd name="adj6" fmla="val -3936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，并赋初值</a:t>
            </a:r>
          </a:p>
        </p:txBody>
      </p:sp>
      <p:sp>
        <p:nvSpPr>
          <p:cNvPr id="1071128" name="Rectangle 24"/>
          <p:cNvSpPr>
            <a:spLocks noChangeArrowheads="1"/>
          </p:cNvSpPr>
          <p:nvPr/>
        </p:nvSpPr>
        <p:spPr bwMode="auto">
          <a:xfrm>
            <a:off x="5089949" y="1517283"/>
            <a:ext cx="892175" cy="54133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29" name="AutoShape 25"/>
          <p:cNvSpPr>
            <a:spLocks/>
          </p:cNvSpPr>
          <p:nvPr/>
        </p:nvSpPr>
        <p:spPr bwMode="auto">
          <a:xfrm>
            <a:off x="7782348" y="1310908"/>
            <a:ext cx="1295400" cy="433387"/>
          </a:xfrm>
          <a:prstGeom prst="borderCallout2">
            <a:avLst>
              <a:gd name="adj1" fmla="val 26375"/>
              <a:gd name="adj2" fmla="val -5884"/>
              <a:gd name="adj3" fmla="val 26375"/>
              <a:gd name="adj4" fmla="val -72426"/>
              <a:gd name="adj5" fmla="val 107694"/>
              <a:gd name="adj6" fmla="val -14093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局部变量</a:t>
            </a:r>
          </a:p>
        </p:txBody>
      </p:sp>
      <p:grpSp>
        <p:nvGrpSpPr>
          <p:cNvPr id="1071137" name="Group 33"/>
          <p:cNvGrpSpPr>
            <a:grpSpLocks/>
          </p:cNvGrpSpPr>
          <p:nvPr/>
        </p:nvGrpSpPr>
        <p:grpSpPr bwMode="auto">
          <a:xfrm>
            <a:off x="5189961" y="398094"/>
            <a:ext cx="4873683" cy="6143626"/>
            <a:chOff x="2472" y="434"/>
            <a:chExt cx="2962" cy="3693"/>
          </a:xfrm>
        </p:grpSpPr>
        <p:grpSp>
          <p:nvGrpSpPr>
            <p:cNvPr id="1071136" name="Group 32"/>
            <p:cNvGrpSpPr>
              <a:grpSpLocks/>
            </p:cNvGrpSpPr>
            <p:nvPr/>
          </p:nvGrpSpPr>
          <p:grpSpPr bwMode="auto">
            <a:xfrm>
              <a:off x="2472" y="434"/>
              <a:ext cx="2628" cy="3693"/>
              <a:chOff x="2472" y="434"/>
              <a:chExt cx="2628" cy="3693"/>
            </a:xfrm>
          </p:grpSpPr>
          <p:sp>
            <p:nvSpPr>
              <p:cNvPr id="1071132" name="Line 28"/>
              <p:cNvSpPr>
                <a:spLocks noChangeShapeType="1"/>
              </p:cNvSpPr>
              <p:nvPr/>
            </p:nvSpPr>
            <p:spPr bwMode="auto">
              <a:xfrm>
                <a:off x="5100" y="436"/>
                <a:ext cx="0" cy="36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33" name="Line 29"/>
              <p:cNvSpPr>
                <a:spLocks noChangeShapeType="1"/>
              </p:cNvSpPr>
              <p:nvPr/>
            </p:nvSpPr>
            <p:spPr bwMode="auto">
              <a:xfrm flipH="1">
                <a:off x="2472" y="4110"/>
                <a:ext cx="262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34" name="Line 30"/>
              <p:cNvSpPr>
                <a:spLocks noChangeShapeType="1"/>
              </p:cNvSpPr>
              <p:nvPr/>
            </p:nvSpPr>
            <p:spPr bwMode="auto">
              <a:xfrm>
                <a:off x="3199" y="434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35" name="Rectangle 31"/>
            <p:cNvSpPr>
              <a:spLocks noChangeArrowheads="1"/>
            </p:cNvSpPr>
            <p:nvPr/>
          </p:nvSpPr>
          <p:spPr bwMode="auto">
            <a:xfrm>
              <a:off x="5071" y="1296"/>
              <a:ext cx="363" cy="1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全局变量</a:t>
              </a:r>
              <a:endPara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endParaRPr>
            </a:p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n</a:t>
              </a: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 </a:t>
              </a:r>
            </a:p>
          </p:txBody>
        </p:sp>
      </p:grpSp>
      <p:grpSp>
        <p:nvGrpSpPr>
          <p:cNvPr id="1071145" name="Group 41"/>
          <p:cNvGrpSpPr>
            <a:grpSpLocks/>
          </p:cNvGrpSpPr>
          <p:nvPr/>
        </p:nvGrpSpPr>
        <p:grpSpPr bwMode="auto">
          <a:xfrm>
            <a:off x="5129635" y="1857008"/>
            <a:ext cx="4395788" cy="1898631"/>
            <a:chOff x="2434" y="1353"/>
            <a:chExt cx="2769" cy="1034"/>
          </a:xfrm>
        </p:grpSpPr>
        <p:grpSp>
          <p:nvGrpSpPr>
            <p:cNvPr id="1071144" name="Group 40"/>
            <p:cNvGrpSpPr>
              <a:grpSpLocks/>
            </p:cNvGrpSpPr>
            <p:nvPr/>
          </p:nvGrpSpPr>
          <p:grpSpPr bwMode="auto">
            <a:xfrm>
              <a:off x="2434" y="1362"/>
              <a:ext cx="2184" cy="1025"/>
              <a:chOff x="2434" y="1362"/>
              <a:chExt cx="2184" cy="1025"/>
            </a:xfrm>
          </p:grpSpPr>
          <p:sp>
            <p:nvSpPr>
              <p:cNvPr id="1071140" name="Line 36"/>
              <p:cNvSpPr>
                <a:spLocks noChangeShapeType="1"/>
              </p:cNvSpPr>
              <p:nvPr/>
            </p:nvSpPr>
            <p:spPr bwMode="auto">
              <a:xfrm>
                <a:off x="2972" y="1362"/>
                <a:ext cx="164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41" name="Line 37"/>
              <p:cNvSpPr>
                <a:spLocks noChangeShapeType="1"/>
              </p:cNvSpPr>
              <p:nvPr/>
            </p:nvSpPr>
            <p:spPr bwMode="auto">
              <a:xfrm>
                <a:off x="4613" y="1362"/>
                <a:ext cx="0" cy="1025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42" name="Line 38"/>
              <p:cNvSpPr>
                <a:spLocks noChangeShapeType="1"/>
              </p:cNvSpPr>
              <p:nvPr/>
            </p:nvSpPr>
            <p:spPr bwMode="auto">
              <a:xfrm flipH="1">
                <a:off x="2434" y="2387"/>
                <a:ext cx="2179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43" name="Rectangle 39"/>
            <p:cNvSpPr>
              <a:spLocks noChangeArrowheads="1"/>
            </p:cNvSpPr>
            <p:nvPr/>
          </p:nvSpPr>
          <p:spPr bwMode="auto">
            <a:xfrm>
              <a:off x="4613" y="1353"/>
              <a:ext cx="590" cy="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局部变量</a:t>
              </a:r>
              <a:endPara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endParaRPr>
            </a:p>
            <a:p>
              <a:r>
                <a:rPr lang="en-US" altLang="zh-CN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 s</a:t>
              </a:r>
              <a:r>
                <a:rPr lang="zh-CN" alt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t</a:t>
              </a:r>
            </a:p>
            <a:p>
              <a:r>
                <a:rPr lang="zh-CN" alt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1146" name="Rectangle 42"/>
          <p:cNvSpPr>
            <a:spLocks noChangeArrowheads="1"/>
          </p:cNvSpPr>
          <p:nvPr/>
        </p:nvSpPr>
        <p:spPr bwMode="auto">
          <a:xfrm>
            <a:off x="5118524" y="5100863"/>
            <a:ext cx="1006475" cy="325437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47" name="AutoShape 43"/>
          <p:cNvSpPr>
            <a:spLocks/>
          </p:cNvSpPr>
          <p:nvPr/>
        </p:nvSpPr>
        <p:spPr bwMode="auto">
          <a:xfrm>
            <a:off x="7782348" y="4475371"/>
            <a:ext cx="1295400" cy="433388"/>
          </a:xfrm>
          <a:prstGeom prst="borderCallout2">
            <a:avLst>
              <a:gd name="adj1" fmla="val 26375"/>
              <a:gd name="adj2" fmla="val -5884"/>
              <a:gd name="adj3" fmla="val 26375"/>
              <a:gd name="adj4" fmla="val -67769"/>
              <a:gd name="adj5" fmla="val 130037"/>
              <a:gd name="adj6" fmla="val -131370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局部变量</a:t>
            </a:r>
          </a:p>
        </p:txBody>
      </p:sp>
      <p:grpSp>
        <p:nvGrpSpPr>
          <p:cNvPr id="1071154" name="Group 50"/>
          <p:cNvGrpSpPr>
            <a:grpSpLocks/>
          </p:cNvGrpSpPr>
          <p:nvPr/>
        </p:nvGrpSpPr>
        <p:grpSpPr bwMode="auto">
          <a:xfrm>
            <a:off x="5516985" y="5181809"/>
            <a:ext cx="3906838" cy="1223962"/>
            <a:chOff x="2678" y="3285"/>
            <a:chExt cx="2461" cy="771"/>
          </a:xfrm>
        </p:grpSpPr>
        <p:grpSp>
          <p:nvGrpSpPr>
            <p:cNvPr id="1071149" name="Group 45"/>
            <p:cNvGrpSpPr>
              <a:grpSpLocks/>
            </p:cNvGrpSpPr>
            <p:nvPr/>
          </p:nvGrpSpPr>
          <p:grpSpPr bwMode="auto">
            <a:xfrm>
              <a:off x="2678" y="3285"/>
              <a:ext cx="1580" cy="771"/>
              <a:chOff x="2434" y="1362"/>
              <a:chExt cx="2184" cy="1025"/>
            </a:xfrm>
          </p:grpSpPr>
          <p:sp>
            <p:nvSpPr>
              <p:cNvPr id="1071150" name="Line 46"/>
              <p:cNvSpPr>
                <a:spLocks noChangeShapeType="1"/>
              </p:cNvSpPr>
              <p:nvPr/>
            </p:nvSpPr>
            <p:spPr bwMode="auto">
              <a:xfrm>
                <a:off x="2972" y="1362"/>
                <a:ext cx="164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51" name="Line 47"/>
              <p:cNvSpPr>
                <a:spLocks noChangeShapeType="1"/>
              </p:cNvSpPr>
              <p:nvPr/>
            </p:nvSpPr>
            <p:spPr bwMode="auto">
              <a:xfrm>
                <a:off x="4613" y="1362"/>
                <a:ext cx="0" cy="1025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52" name="Line 48"/>
              <p:cNvSpPr>
                <a:spLocks noChangeShapeType="1"/>
              </p:cNvSpPr>
              <p:nvPr/>
            </p:nvSpPr>
            <p:spPr bwMode="auto">
              <a:xfrm flipH="1">
                <a:off x="2434" y="2387"/>
                <a:ext cx="2179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53" name="Rectangle 49"/>
            <p:cNvSpPr>
              <a:spLocks noChangeArrowheads="1"/>
            </p:cNvSpPr>
            <p:nvPr/>
          </p:nvSpPr>
          <p:spPr bwMode="auto">
            <a:xfrm>
              <a:off x="4232" y="3439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局部变量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r</a:t>
              </a:r>
            </a:p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1155" name="Oval 51"/>
          <p:cNvSpPr>
            <a:spLocks noChangeArrowheads="1"/>
          </p:cNvSpPr>
          <p:nvPr/>
        </p:nvSpPr>
        <p:spPr bwMode="auto">
          <a:xfrm>
            <a:off x="2413857" y="4698346"/>
            <a:ext cx="212725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1159" name="Group 55"/>
          <p:cNvGrpSpPr>
            <a:grpSpLocks/>
          </p:cNvGrpSpPr>
          <p:nvPr/>
        </p:nvGrpSpPr>
        <p:grpSpPr bwMode="auto">
          <a:xfrm>
            <a:off x="2582131" y="4104620"/>
            <a:ext cx="2116138" cy="792162"/>
            <a:chOff x="838" y="2795"/>
            <a:chExt cx="1333" cy="499"/>
          </a:xfrm>
        </p:grpSpPr>
        <p:sp>
          <p:nvSpPr>
            <p:cNvPr id="1071157" name="AutoShape 53"/>
            <p:cNvSpPr>
              <a:spLocks noChangeArrowheads="1"/>
            </p:cNvSpPr>
            <p:nvPr/>
          </p:nvSpPr>
          <p:spPr bwMode="auto">
            <a:xfrm>
              <a:off x="1264" y="2795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71158" name="Line 54"/>
            <p:cNvSpPr>
              <a:spLocks noChangeShapeType="1"/>
            </p:cNvSpPr>
            <p:nvPr/>
          </p:nvSpPr>
          <p:spPr bwMode="auto">
            <a:xfrm flipV="1">
              <a:off x="838" y="3031"/>
              <a:ext cx="454" cy="13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71160" name="Group 56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71161" name="Text Box 5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71162" name="Text Box 5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1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1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7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7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71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1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71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71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71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071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71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1071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0" dur="500"/>
                                        <p:tgtEl>
                                          <p:spTgt spid="1071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1071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1071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4" dur="500"/>
                                        <p:tgtEl>
                                          <p:spTgt spid="1071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8" dur="500"/>
                                        <p:tgtEl>
                                          <p:spTgt spid="1071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1071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8" dur="500"/>
                                        <p:tgtEl>
                                          <p:spTgt spid="1071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2" dur="500"/>
                                        <p:tgtEl>
                                          <p:spTgt spid="1071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6" grpId="0"/>
      <p:bldP spid="1071124" grpId="0" animBg="1"/>
      <p:bldP spid="1071125" grpId="0" animBg="1"/>
      <p:bldP spid="1071126" grpId="0" animBg="1"/>
      <p:bldP spid="1071127" grpId="0" animBg="1"/>
      <p:bldP spid="1071128" grpId="0" animBg="1"/>
      <p:bldP spid="1071129" grpId="0" animBg="1"/>
      <p:bldP spid="1071146" grpId="0" animBg="1"/>
      <p:bldP spid="1071147" grpId="0" animBg="1"/>
      <p:bldP spid="107115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157" name="Rectangle 5"/>
          <p:cNvSpPr>
            <a:spLocks noChangeArrowheads="1"/>
          </p:cNvSpPr>
          <p:nvPr/>
        </p:nvSpPr>
        <p:spPr bwMode="auto">
          <a:xfrm>
            <a:off x="822287" y="98426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3158" name="Rectangle 6"/>
          <p:cNvSpPr>
            <a:spLocks noChangeArrowheads="1"/>
          </p:cNvSpPr>
          <p:nvPr/>
        </p:nvSpPr>
        <p:spPr bwMode="auto">
          <a:xfrm>
            <a:off x="488305" y="577850"/>
            <a:ext cx="631826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(1)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应尽量少使用全局变量。              </a:t>
            </a:r>
          </a:p>
        </p:txBody>
      </p:sp>
      <p:sp>
        <p:nvSpPr>
          <p:cNvPr id="1073181" name="Rectangle 29"/>
          <p:cNvSpPr>
            <a:spLocks noChangeArrowheads="1"/>
          </p:cNvSpPr>
          <p:nvPr/>
        </p:nvSpPr>
        <p:spPr bwMode="auto">
          <a:xfrm>
            <a:off x="1495365" y="941389"/>
            <a:ext cx="72723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 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全局变量在程序全部执行过程中始终占用存储单元</a:t>
            </a: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 降低了函数的独立性、通用性、可靠性及可移植性</a:t>
            </a: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 降低程序清晰性，容易出错</a:t>
            </a:r>
          </a:p>
        </p:txBody>
      </p:sp>
      <p:sp>
        <p:nvSpPr>
          <p:cNvPr id="1073182" name="Rectangle 30"/>
          <p:cNvSpPr>
            <a:spLocks noChangeArrowheads="1"/>
          </p:cNvSpPr>
          <p:nvPr/>
        </p:nvSpPr>
        <p:spPr bwMode="auto">
          <a:xfrm>
            <a:off x="495232" y="2076451"/>
            <a:ext cx="11289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(2)  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若外部变量与局部变量同名，则外部变量被屏蔽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。要引用全局变量，则必须在变量名前家上两个冒号“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::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”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3183" name="Rectangle 31" descr="信纸"/>
          <p:cNvSpPr>
            <a:spLocks noChangeArrowheads="1"/>
          </p:cNvSpPr>
          <p:nvPr/>
        </p:nvSpPr>
        <p:spPr bwMode="auto">
          <a:xfrm>
            <a:off x="1559496" y="2929496"/>
            <a:ext cx="5314962" cy="3785652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a = 10;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</a:t>
            </a:r>
          </a:p>
          <a:p>
            <a:pPr marL="457200" indent="-457200"/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a = 100;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局部变量（与全局变量同名）</a:t>
            </a:r>
          </a:p>
          <a:p>
            <a:pPr marL="457200" indent="-457200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("local a = %d\n", a);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("global a = %d\n",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::a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73184" name="Rectangle 32"/>
          <p:cNvSpPr>
            <a:spLocks noChangeArrowheads="1"/>
          </p:cNvSpPr>
          <p:nvPr/>
        </p:nvSpPr>
        <p:spPr bwMode="auto">
          <a:xfrm>
            <a:off x="7160208" y="5436191"/>
            <a:ext cx="2392175" cy="12255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local a = 100</a:t>
            </a:r>
          </a:p>
          <a:p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global a = 10</a:t>
            </a:r>
          </a:p>
        </p:txBody>
      </p:sp>
      <p:sp>
        <p:nvSpPr>
          <p:cNvPr id="1073186" name="Rectangle 34"/>
          <p:cNvSpPr>
            <a:spLocks noChangeArrowheads="1"/>
          </p:cNvSpPr>
          <p:nvPr/>
        </p:nvSpPr>
        <p:spPr bwMode="auto">
          <a:xfrm>
            <a:off x="2063552" y="3857629"/>
            <a:ext cx="7920880" cy="8604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38100">
            <a:noFill/>
            <a:miter lim="800000"/>
            <a:headEnd/>
            <a:tailEnd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注意：</a:t>
            </a:r>
            <a:r>
              <a:rPr lang="zh-CN" altLang="en-US" b="1" dirty="0">
                <a:ln w="1905"/>
                <a:solidFill>
                  <a:srgbClr val="FF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局部变量与全局变量同名极易导致程序员犯逻辑错误。</a:t>
            </a:r>
            <a:endParaRPr lang="zh-CN" altLang="en-US" b="1" dirty="0">
              <a:solidFill>
                <a:srgbClr val="FF33CC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ea typeface="隶书" pitchFamily="49" charset="-122"/>
            </a:endParaRPr>
          </a:p>
        </p:txBody>
      </p:sp>
      <p:grpSp>
        <p:nvGrpSpPr>
          <p:cNvPr id="1073187" name="Group 35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73188" name="Text Box 3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73189" name="Text Box 3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7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731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73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73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73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7" grpId="0"/>
      <p:bldP spid="1073182" grpId="0"/>
      <p:bldP spid="1073183" grpId="0" animBg="1"/>
      <p:bldP spid="1073184" grpId="0" animBg="1"/>
      <p:bldP spid="107318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822287" y="98426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5206" name="Rectangle 6"/>
          <p:cNvSpPr>
            <a:spLocks noChangeArrowheads="1"/>
          </p:cNvSpPr>
          <p:nvPr/>
        </p:nvSpPr>
        <p:spPr bwMode="auto">
          <a:xfrm>
            <a:off x="534949" y="563564"/>
            <a:ext cx="109616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(3)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全局变量定义必须在所有的函数之外，且只能定义一次，并可赋初始值。全局变量定义的一般形式为：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5212" name="Text Box 12"/>
          <p:cNvSpPr txBox="1">
            <a:spLocks noChangeArrowheads="1"/>
          </p:cNvSpPr>
          <p:nvPr/>
        </p:nvSpPr>
        <p:spPr bwMode="auto">
          <a:xfrm>
            <a:off x="768250" y="1500188"/>
            <a:ext cx="11232406" cy="592228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[extern]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类型说明符  全局变量名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1[ =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初始值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1],  ……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，全局变量名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n[ =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初始值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n]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75213" name="AutoShape 13"/>
          <p:cNvSpPr>
            <a:spLocks noChangeArrowheads="1"/>
          </p:cNvSpPr>
          <p:nvPr/>
        </p:nvSpPr>
        <p:spPr bwMode="auto">
          <a:xfrm>
            <a:off x="1687473" y="2522538"/>
            <a:ext cx="1441450" cy="431800"/>
          </a:xfrm>
          <a:prstGeom prst="wedgeRoundRectCallout">
            <a:avLst>
              <a:gd name="adj1" fmla="val -75551"/>
              <a:gd name="adj2" fmla="val -187500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可缺省！</a:t>
            </a:r>
          </a:p>
        </p:txBody>
      </p:sp>
      <p:sp>
        <p:nvSpPr>
          <p:cNvPr id="1075214" name="Rectangle 14" descr="信纸"/>
          <p:cNvSpPr>
            <a:spLocks noChangeArrowheads="1"/>
          </p:cNvSpPr>
          <p:nvPr/>
        </p:nvSpPr>
        <p:spPr bwMode="auto">
          <a:xfrm>
            <a:off x="5025703" y="2743919"/>
            <a:ext cx="5256213" cy="3781425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char ch = 'Y';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main (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……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char ch;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func (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……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75215" name="Rectangle 15"/>
          <p:cNvSpPr>
            <a:spLocks noChangeArrowheads="1"/>
          </p:cNvSpPr>
          <p:nvPr/>
        </p:nvSpPr>
        <p:spPr bwMode="auto">
          <a:xfrm>
            <a:off x="5082852" y="2815356"/>
            <a:ext cx="1944688" cy="3603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16" name="AutoShape 16"/>
          <p:cNvSpPr>
            <a:spLocks/>
          </p:cNvSpPr>
          <p:nvPr/>
        </p:nvSpPr>
        <p:spPr bwMode="auto">
          <a:xfrm>
            <a:off x="7778427" y="3177307"/>
            <a:ext cx="2159000" cy="433387"/>
          </a:xfrm>
          <a:prstGeom prst="borderCallout2">
            <a:avLst>
              <a:gd name="adj1" fmla="val 26375"/>
              <a:gd name="adj2" fmla="val -3528"/>
              <a:gd name="adj3" fmla="val 26375"/>
              <a:gd name="adj4" fmla="val -18454"/>
              <a:gd name="adj5" fmla="val -14287"/>
              <a:gd name="adj6" fmla="val -33898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定义全局变量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ch</a:t>
            </a:r>
            <a:endParaRPr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75217" name="Oval 17"/>
          <p:cNvSpPr>
            <a:spLocks noChangeArrowheads="1"/>
          </p:cNvSpPr>
          <p:nvPr/>
        </p:nvSpPr>
        <p:spPr bwMode="auto">
          <a:xfrm>
            <a:off x="5054277" y="4672731"/>
            <a:ext cx="1295400" cy="360362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endParaRPr lang="zh-CN" altLang="zh-CN">
              <a:solidFill>
                <a:srgbClr val="CC0000"/>
              </a:solidFill>
            </a:endParaRPr>
          </a:p>
        </p:txBody>
      </p:sp>
      <p:grpSp>
        <p:nvGrpSpPr>
          <p:cNvPr id="1075221" name="Group 21"/>
          <p:cNvGrpSpPr>
            <a:grpSpLocks/>
          </p:cNvGrpSpPr>
          <p:nvPr/>
        </p:nvGrpSpPr>
        <p:grpSpPr bwMode="auto">
          <a:xfrm>
            <a:off x="6321102" y="4183781"/>
            <a:ext cx="4044950" cy="1871662"/>
            <a:chOff x="3016" y="2523"/>
            <a:chExt cx="2548" cy="1179"/>
          </a:xfrm>
        </p:grpSpPr>
        <p:sp>
          <p:nvSpPr>
            <p:cNvPr id="1075219" name="AutoShape 19"/>
            <p:cNvSpPr>
              <a:spLocks noChangeArrowheads="1"/>
            </p:cNvSpPr>
            <p:nvPr/>
          </p:nvSpPr>
          <p:spPr bwMode="auto">
            <a:xfrm>
              <a:off x="3315" y="2523"/>
              <a:ext cx="2249" cy="117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  <a:p>
              <a:pPr algn="ctr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ch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只能定义一次</a:t>
              </a:r>
            </a:p>
          </p:txBody>
        </p:sp>
        <p:sp>
          <p:nvSpPr>
            <p:cNvPr id="1075220" name="Line 20"/>
            <p:cNvSpPr>
              <a:spLocks noChangeShapeType="1"/>
            </p:cNvSpPr>
            <p:nvPr/>
          </p:nvSpPr>
          <p:spPr bwMode="auto">
            <a:xfrm flipV="1">
              <a:off x="3016" y="2759"/>
              <a:ext cx="454" cy="13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75222" name="Rectangle 22"/>
          <p:cNvSpPr>
            <a:spLocks noChangeArrowheads="1"/>
          </p:cNvSpPr>
          <p:nvPr/>
        </p:nvSpPr>
        <p:spPr bwMode="auto">
          <a:xfrm>
            <a:off x="2188840" y="3496394"/>
            <a:ext cx="2171700" cy="860425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例：</a:t>
            </a:r>
          </a:p>
          <a:p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int a = 2, b = 4; </a:t>
            </a:r>
          </a:p>
        </p:txBody>
      </p:sp>
      <p:sp>
        <p:nvSpPr>
          <p:cNvPr id="1075223" name="Rectangle 23"/>
          <p:cNvSpPr>
            <a:spLocks noChangeArrowheads="1"/>
          </p:cNvSpPr>
          <p:nvPr/>
        </p:nvSpPr>
        <p:spPr bwMode="auto">
          <a:xfrm>
            <a:off x="1847528" y="5054674"/>
            <a:ext cx="3006725" cy="461665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en-US" altLang="zh-CN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extern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int a = 2, b = 4; </a:t>
            </a:r>
          </a:p>
        </p:txBody>
      </p:sp>
      <p:sp>
        <p:nvSpPr>
          <p:cNvPr id="1075224" name="AutoShape 24"/>
          <p:cNvSpPr>
            <a:spLocks noChangeArrowheads="1"/>
          </p:cNvSpPr>
          <p:nvPr/>
        </p:nvSpPr>
        <p:spPr bwMode="auto">
          <a:xfrm>
            <a:off x="3066728" y="4440957"/>
            <a:ext cx="288925" cy="504825"/>
          </a:xfrm>
          <a:prstGeom prst="upDownArrow">
            <a:avLst>
              <a:gd name="adj1" fmla="val 50000"/>
              <a:gd name="adj2" fmla="val 34945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5225" name="Group 25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75226" name="Text Box 2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75227" name="Text Box 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5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075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75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75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075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75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075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075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75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075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1075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12" grpId="0" animBg="1"/>
      <p:bldP spid="1075213" grpId="0" animBg="1"/>
      <p:bldP spid="1075214" grpId="0" animBg="1"/>
      <p:bldP spid="1075215" grpId="0" animBg="1"/>
      <p:bldP spid="1075216" grpId="0" animBg="1"/>
      <p:bldP spid="1075217" grpId="0" animBg="1"/>
      <p:bldP spid="1075222" grpId="0" animBg="1"/>
      <p:bldP spid="1075223" grpId="0" animBg="1"/>
      <p:bldP spid="10752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253" name="Rectangle 5"/>
          <p:cNvSpPr>
            <a:spLocks noChangeArrowheads="1"/>
          </p:cNvSpPr>
          <p:nvPr/>
        </p:nvSpPr>
        <p:spPr bwMode="auto">
          <a:xfrm>
            <a:off x="822287" y="98426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7254" name="Rectangle 6"/>
          <p:cNvSpPr>
            <a:spLocks noChangeArrowheads="1"/>
          </p:cNvSpPr>
          <p:nvPr/>
        </p:nvSpPr>
        <p:spPr bwMode="auto">
          <a:xfrm>
            <a:off x="506374" y="563564"/>
            <a:ext cx="110622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(4)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对全局变量进行说明，可扩展全局变量的作用域。全局变量说明的一般形式为： </a:t>
            </a:r>
          </a:p>
        </p:txBody>
      </p:sp>
      <p:sp>
        <p:nvSpPr>
          <p:cNvPr id="1077267" name="Text Box 19"/>
          <p:cNvSpPr txBox="1">
            <a:spLocks noChangeArrowheads="1"/>
          </p:cNvSpPr>
          <p:nvPr/>
        </p:nvSpPr>
        <p:spPr bwMode="auto">
          <a:xfrm>
            <a:off x="1272306" y="1500188"/>
            <a:ext cx="9648230" cy="48895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extern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类型说明符  全局变量名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1, …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，全局变量名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77268" name="AutoShape 20"/>
          <p:cNvSpPr>
            <a:spLocks noChangeArrowheads="1"/>
          </p:cNvSpPr>
          <p:nvPr/>
        </p:nvSpPr>
        <p:spPr bwMode="auto">
          <a:xfrm>
            <a:off x="2566936" y="2332309"/>
            <a:ext cx="1728788" cy="431800"/>
          </a:xfrm>
          <a:prstGeom prst="wedgeRoundRectCallout">
            <a:avLst>
              <a:gd name="adj1" fmla="val -84069"/>
              <a:gd name="adj2" fmla="val -113602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不可缺省！</a:t>
            </a:r>
          </a:p>
        </p:txBody>
      </p:sp>
      <p:sp>
        <p:nvSpPr>
          <p:cNvPr id="1077269" name="AutoShape 21"/>
          <p:cNvSpPr>
            <a:spLocks noChangeArrowheads="1"/>
          </p:cNvSpPr>
          <p:nvPr/>
        </p:nvSpPr>
        <p:spPr bwMode="auto">
          <a:xfrm>
            <a:off x="5646686" y="2391046"/>
            <a:ext cx="1944688" cy="431800"/>
          </a:xfrm>
          <a:prstGeom prst="wedgeRoundRectCallout">
            <a:avLst>
              <a:gd name="adj1" fmla="val -73185"/>
              <a:gd name="adj2" fmla="val -129778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不可赋初值！</a:t>
            </a:r>
          </a:p>
        </p:txBody>
      </p:sp>
      <p:sp>
        <p:nvSpPr>
          <p:cNvPr id="1077270" name="Rectangle 22" descr="信纸"/>
          <p:cNvSpPr>
            <a:spLocks noChangeArrowheads="1"/>
          </p:cNvSpPr>
          <p:nvPr/>
        </p:nvSpPr>
        <p:spPr bwMode="auto">
          <a:xfrm>
            <a:off x="1847799" y="747985"/>
            <a:ext cx="7731138" cy="5921375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gx ( ), gy ( );</a:t>
            </a:r>
          </a:p>
          <a:p>
            <a:pPr marL="457200" indent="-457200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main ( )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 </a:t>
            </a:r>
          </a:p>
          <a:p>
            <a:pPr marL="457200" indent="-457200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extern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int x, y;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printf ("1: x = %d\ty = %d\n", x, y);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y = 246;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gx ( );  gy ( 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r>
              <a:rPr lang="en-US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extern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int x, y;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gx ( )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 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x = 135;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printf ("2: x = %d\ty = %d\n", x, y);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r>
              <a:rPr lang="en-US" altLang="zh-CN" sz="2000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 x = 0, y = 0;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gy ( )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printf ("3: x=%d\ty=%d\n", x, y);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77271" name="Rectangle 23"/>
          <p:cNvSpPr>
            <a:spLocks noChangeArrowheads="1"/>
          </p:cNvSpPr>
          <p:nvPr/>
        </p:nvSpPr>
        <p:spPr bwMode="auto">
          <a:xfrm>
            <a:off x="1919236" y="5102246"/>
            <a:ext cx="1728788" cy="28733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7272" name="AutoShape 24"/>
          <p:cNvSpPr>
            <a:spLocks/>
          </p:cNvSpPr>
          <p:nvPr/>
        </p:nvSpPr>
        <p:spPr bwMode="auto">
          <a:xfrm>
            <a:off x="4798962" y="4851671"/>
            <a:ext cx="1800225" cy="433388"/>
          </a:xfrm>
          <a:prstGeom prst="borderCallout2">
            <a:avLst>
              <a:gd name="adj1" fmla="val 26375"/>
              <a:gd name="adj2" fmla="val -4231"/>
              <a:gd name="adj3" fmla="val 26375"/>
              <a:gd name="adj4" fmla="val -30245"/>
              <a:gd name="adj5" fmla="val 79120"/>
              <a:gd name="adj6" fmla="val -6278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全局变量定义</a:t>
            </a:r>
          </a:p>
        </p:txBody>
      </p:sp>
      <p:grpSp>
        <p:nvGrpSpPr>
          <p:cNvPr id="1077280" name="Group 32"/>
          <p:cNvGrpSpPr>
            <a:grpSpLocks/>
          </p:cNvGrpSpPr>
          <p:nvPr/>
        </p:nvGrpSpPr>
        <p:grpSpPr bwMode="auto">
          <a:xfrm>
            <a:off x="2082749" y="5342210"/>
            <a:ext cx="5224462" cy="1150937"/>
            <a:chOff x="851" y="3285"/>
            <a:chExt cx="3291" cy="725"/>
          </a:xfrm>
        </p:grpSpPr>
        <p:grpSp>
          <p:nvGrpSpPr>
            <p:cNvPr id="1077279" name="Group 31"/>
            <p:cNvGrpSpPr>
              <a:grpSpLocks/>
            </p:cNvGrpSpPr>
            <p:nvPr/>
          </p:nvGrpSpPr>
          <p:grpSpPr bwMode="auto">
            <a:xfrm>
              <a:off x="851" y="3285"/>
              <a:ext cx="2403" cy="725"/>
              <a:chOff x="851" y="3285"/>
              <a:chExt cx="2403" cy="725"/>
            </a:xfrm>
          </p:grpSpPr>
          <p:sp>
            <p:nvSpPr>
              <p:cNvPr id="1077275" name="Line 27"/>
              <p:cNvSpPr>
                <a:spLocks noChangeShapeType="1"/>
              </p:cNvSpPr>
              <p:nvPr/>
            </p:nvSpPr>
            <p:spPr bwMode="auto">
              <a:xfrm>
                <a:off x="1850" y="3285"/>
                <a:ext cx="140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76" name="Line 28"/>
              <p:cNvSpPr>
                <a:spLocks noChangeShapeType="1"/>
              </p:cNvSpPr>
              <p:nvPr/>
            </p:nvSpPr>
            <p:spPr bwMode="auto">
              <a:xfrm>
                <a:off x="3249" y="3285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77" name="Line 29"/>
              <p:cNvSpPr>
                <a:spLocks noChangeShapeType="1"/>
              </p:cNvSpPr>
              <p:nvPr/>
            </p:nvSpPr>
            <p:spPr bwMode="auto">
              <a:xfrm flipH="1">
                <a:off x="851" y="3993"/>
                <a:ext cx="240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78" name="Rectangle 30"/>
            <p:cNvSpPr>
              <a:spLocks noChangeArrowheads="1"/>
            </p:cNvSpPr>
            <p:nvPr/>
          </p:nvSpPr>
          <p:spPr bwMode="auto">
            <a:xfrm>
              <a:off x="3235" y="3412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未说明前</a:t>
              </a:r>
            </a:p>
            <a:p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281" name="Rectangle 33"/>
          <p:cNvSpPr>
            <a:spLocks noChangeArrowheads="1"/>
          </p:cNvSpPr>
          <p:nvPr/>
        </p:nvSpPr>
        <p:spPr bwMode="auto">
          <a:xfrm>
            <a:off x="1919236" y="3275700"/>
            <a:ext cx="1728788" cy="287338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7282" name="AutoShape 34"/>
          <p:cNvSpPr>
            <a:spLocks/>
          </p:cNvSpPr>
          <p:nvPr/>
        </p:nvSpPr>
        <p:spPr bwMode="auto">
          <a:xfrm>
            <a:off x="4495750" y="3165746"/>
            <a:ext cx="1743075" cy="433388"/>
          </a:xfrm>
          <a:prstGeom prst="borderCallout2">
            <a:avLst>
              <a:gd name="adj1" fmla="val 26375"/>
              <a:gd name="adj2" fmla="val -4370"/>
              <a:gd name="adj3" fmla="val 26375"/>
              <a:gd name="adj4" fmla="val -23769"/>
              <a:gd name="adj5" fmla="val 53481"/>
              <a:gd name="adj6" fmla="val -48088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全局变量说明</a:t>
            </a:r>
          </a:p>
        </p:txBody>
      </p:sp>
      <p:grpSp>
        <p:nvGrpSpPr>
          <p:cNvPr id="1077290" name="Group 42"/>
          <p:cNvGrpSpPr>
            <a:grpSpLocks/>
          </p:cNvGrpSpPr>
          <p:nvPr/>
        </p:nvGrpSpPr>
        <p:grpSpPr bwMode="auto">
          <a:xfrm>
            <a:off x="2081162" y="3484834"/>
            <a:ext cx="6143625" cy="3109912"/>
            <a:chOff x="850" y="2115"/>
            <a:chExt cx="3870" cy="1959"/>
          </a:xfrm>
        </p:grpSpPr>
        <p:grpSp>
          <p:nvGrpSpPr>
            <p:cNvPr id="1077289" name="Group 41"/>
            <p:cNvGrpSpPr>
              <a:grpSpLocks/>
            </p:cNvGrpSpPr>
            <p:nvPr/>
          </p:nvGrpSpPr>
          <p:grpSpPr bwMode="auto">
            <a:xfrm>
              <a:off x="850" y="2115"/>
              <a:ext cx="3130" cy="1959"/>
              <a:chOff x="850" y="2115"/>
              <a:chExt cx="3130" cy="1959"/>
            </a:xfrm>
          </p:grpSpPr>
          <p:sp>
            <p:nvSpPr>
              <p:cNvPr id="1077285" name="Line 37"/>
              <p:cNvSpPr>
                <a:spLocks noChangeShapeType="1"/>
              </p:cNvSpPr>
              <p:nvPr/>
            </p:nvSpPr>
            <p:spPr bwMode="auto">
              <a:xfrm>
                <a:off x="1832" y="2115"/>
                <a:ext cx="2145" cy="671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86" name="Line 38"/>
              <p:cNvSpPr>
                <a:spLocks noChangeShapeType="1"/>
              </p:cNvSpPr>
              <p:nvPr/>
            </p:nvSpPr>
            <p:spPr bwMode="auto">
              <a:xfrm>
                <a:off x="3980" y="2790"/>
                <a:ext cx="0" cy="127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87" name="Line 39"/>
              <p:cNvSpPr>
                <a:spLocks noChangeShapeType="1"/>
              </p:cNvSpPr>
              <p:nvPr/>
            </p:nvSpPr>
            <p:spPr bwMode="auto">
              <a:xfrm flipH="1">
                <a:off x="850" y="4074"/>
                <a:ext cx="313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88" name="Rectangle 40"/>
            <p:cNvSpPr>
              <a:spLocks noChangeArrowheads="1"/>
            </p:cNvSpPr>
            <p:nvPr/>
          </p:nvSpPr>
          <p:spPr bwMode="auto">
            <a:xfrm>
              <a:off x="3960" y="2878"/>
              <a:ext cx="76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说明后</a:t>
              </a:r>
            </a:p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291" name="Rectangle 43"/>
          <p:cNvSpPr>
            <a:spLocks noChangeArrowheads="1"/>
          </p:cNvSpPr>
          <p:nvPr/>
        </p:nvSpPr>
        <p:spPr bwMode="auto">
          <a:xfrm>
            <a:off x="2063700" y="1748525"/>
            <a:ext cx="1728787" cy="287338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7292" name="AutoShape 44"/>
          <p:cNvSpPr>
            <a:spLocks/>
          </p:cNvSpPr>
          <p:nvPr/>
        </p:nvSpPr>
        <p:spPr bwMode="auto">
          <a:xfrm>
            <a:off x="4483050" y="1238521"/>
            <a:ext cx="1743075" cy="433388"/>
          </a:xfrm>
          <a:prstGeom prst="borderCallout2">
            <a:avLst>
              <a:gd name="adj1" fmla="val 26375"/>
              <a:gd name="adj2" fmla="val -4370"/>
              <a:gd name="adj3" fmla="val 26375"/>
              <a:gd name="adj4" fmla="val -25593"/>
              <a:gd name="adj5" fmla="val 124176"/>
              <a:gd name="adj6" fmla="val -5209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全局变量说明</a:t>
            </a:r>
          </a:p>
        </p:txBody>
      </p:sp>
      <p:grpSp>
        <p:nvGrpSpPr>
          <p:cNvPr id="1077300" name="Group 52"/>
          <p:cNvGrpSpPr>
            <a:grpSpLocks/>
          </p:cNvGrpSpPr>
          <p:nvPr/>
        </p:nvGrpSpPr>
        <p:grpSpPr bwMode="auto">
          <a:xfrm>
            <a:off x="2130375" y="1943371"/>
            <a:ext cx="5938837" cy="1150938"/>
            <a:chOff x="881" y="1144"/>
            <a:chExt cx="3741" cy="725"/>
          </a:xfrm>
        </p:grpSpPr>
        <p:grpSp>
          <p:nvGrpSpPr>
            <p:cNvPr id="1077299" name="Group 51"/>
            <p:cNvGrpSpPr>
              <a:grpSpLocks/>
            </p:cNvGrpSpPr>
            <p:nvPr/>
          </p:nvGrpSpPr>
          <p:grpSpPr bwMode="auto">
            <a:xfrm>
              <a:off x="881" y="1144"/>
              <a:ext cx="2834" cy="725"/>
              <a:chOff x="881" y="1144"/>
              <a:chExt cx="2834" cy="725"/>
            </a:xfrm>
          </p:grpSpPr>
          <p:sp>
            <p:nvSpPr>
              <p:cNvPr id="1077295" name="Line 47"/>
              <p:cNvSpPr>
                <a:spLocks noChangeShapeType="1"/>
              </p:cNvSpPr>
              <p:nvPr/>
            </p:nvSpPr>
            <p:spPr bwMode="auto">
              <a:xfrm>
                <a:off x="1930" y="1144"/>
                <a:ext cx="1777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96" name="Line 48"/>
              <p:cNvSpPr>
                <a:spLocks noChangeShapeType="1"/>
              </p:cNvSpPr>
              <p:nvPr/>
            </p:nvSpPr>
            <p:spPr bwMode="auto">
              <a:xfrm>
                <a:off x="3702" y="1144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97" name="Line 49"/>
              <p:cNvSpPr>
                <a:spLocks noChangeShapeType="1"/>
              </p:cNvSpPr>
              <p:nvPr/>
            </p:nvSpPr>
            <p:spPr bwMode="auto">
              <a:xfrm flipH="1">
                <a:off x="881" y="1869"/>
                <a:ext cx="283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98" name="Rectangle 50"/>
            <p:cNvSpPr>
              <a:spLocks noChangeArrowheads="1"/>
            </p:cNvSpPr>
            <p:nvPr/>
          </p:nvSpPr>
          <p:spPr bwMode="auto">
            <a:xfrm>
              <a:off x="3715" y="1262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说明后</a:t>
              </a:r>
            </a:p>
            <a:p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301" name="Rectangle 53"/>
          <p:cNvSpPr>
            <a:spLocks noChangeArrowheads="1"/>
          </p:cNvSpPr>
          <p:nvPr/>
        </p:nvSpPr>
        <p:spPr bwMode="auto">
          <a:xfrm>
            <a:off x="8481974" y="5046933"/>
            <a:ext cx="2663825" cy="1470025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1: x = 0           y = 0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2: x = 135       y = 246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3: x = 135       y = 246</a:t>
            </a:r>
          </a:p>
        </p:txBody>
      </p:sp>
      <p:grpSp>
        <p:nvGrpSpPr>
          <p:cNvPr id="1077302" name="Group 54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77303" name="Text Box 5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77304" name="Text Box 5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0772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77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077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077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077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1077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077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77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1077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1077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077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1077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10773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10773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267" grpId="0" animBg="1"/>
      <p:bldP spid="1077268" grpId="0" animBg="1"/>
      <p:bldP spid="1077269" grpId="0" animBg="1"/>
      <p:bldP spid="1077270" grpId="0" animBg="1"/>
      <p:bldP spid="1077271" grpId="0" animBg="1"/>
      <p:bldP spid="1077272" grpId="0" animBg="1"/>
      <p:bldP spid="1077281" grpId="0" animBg="1"/>
      <p:bldP spid="1077282" grpId="0" animBg="1"/>
      <p:bldP spid="1077291" grpId="0" animBg="1"/>
      <p:bldP spid="1077292" grpId="0" animBg="1"/>
      <p:bldP spid="107730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301" name="Rectangle 5"/>
          <p:cNvSpPr>
            <a:spLocks noChangeArrowheads="1"/>
          </p:cNvSpPr>
          <p:nvPr/>
        </p:nvSpPr>
        <p:spPr bwMode="auto">
          <a:xfrm>
            <a:off x="822287" y="98426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9302" name="Rectangle 6"/>
          <p:cNvSpPr>
            <a:spLocks noChangeArrowheads="1"/>
          </p:cNvSpPr>
          <p:nvPr/>
        </p:nvSpPr>
        <p:spPr bwMode="auto">
          <a:xfrm>
            <a:off x="892138" y="531813"/>
            <a:ext cx="667545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(5)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全局变量定义与全局变量的说明的区分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9315" name="Rectangle 19" descr="信纸"/>
          <p:cNvSpPr>
            <a:spLocks noChangeArrowheads="1"/>
          </p:cNvSpPr>
          <p:nvPr/>
        </p:nvSpPr>
        <p:spPr bwMode="auto">
          <a:xfrm>
            <a:off x="1847675" y="1341438"/>
            <a:ext cx="7488686" cy="4876800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extern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/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void func1 (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……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引用变量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extern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= 2;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void func2 (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……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引用变量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79316" name="AutoShape 20"/>
          <p:cNvSpPr>
            <a:spLocks noChangeArrowheads="1"/>
          </p:cNvSpPr>
          <p:nvPr/>
        </p:nvSpPr>
        <p:spPr bwMode="auto">
          <a:xfrm>
            <a:off x="5678121" y="2133600"/>
            <a:ext cx="3240088" cy="1584325"/>
          </a:xfrm>
          <a:prstGeom prst="cloudCallout">
            <a:avLst>
              <a:gd name="adj1" fmla="val -98019"/>
              <a:gd name="adj2" fmla="val 61855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谁是定义？</a:t>
            </a: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谁是说明？</a:t>
            </a:r>
          </a:p>
        </p:txBody>
      </p:sp>
      <p:sp>
        <p:nvSpPr>
          <p:cNvPr id="1079317" name="Rectangle 21"/>
          <p:cNvSpPr>
            <a:spLocks noChangeArrowheads="1"/>
          </p:cNvSpPr>
          <p:nvPr/>
        </p:nvSpPr>
        <p:spPr bwMode="auto">
          <a:xfrm>
            <a:off x="1920701" y="4005263"/>
            <a:ext cx="2232025" cy="3603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9318" name="AutoShape 22"/>
          <p:cNvSpPr>
            <a:spLocks/>
          </p:cNvSpPr>
          <p:nvPr/>
        </p:nvSpPr>
        <p:spPr bwMode="auto">
          <a:xfrm>
            <a:off x="5305250" y="4797426"/>
            <a:ext cx="1871662" cy="792163"/>
          </a:xfrm>
          <a:prstGeom prst="borderCallout2">
            <a:avLst>
              <a:gd name="adj1" fmla="val 14431"/>
              <a:gd name="adj2" fmla="val -4069"/>
              <a:gd name="adj3" fmla="val 14431"/>
              <a:gd name="adj4" fmla="val -30111"/>
              <a:gd name="adj5" fmla="val -72944"/>
              <a:gd name="adj6" fmla="val -6285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全局变量定义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因为赋了初值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)</a:t>
            </a:r>
          </a:p>
        </p:txBody>
      </p:sp>
      <p:sp>
        <p:nvSpPr>
          <p:cNvPr id="1079319" name="Rectangle 23"/>
          <p:cNvSpPr>
            <a:spLocks noChangeArrowheads="1"/>
          </p:cNvSpPr>
          <p:nvPr/>
        </p:nvSpPr>
        <p:spPr bwMode="auto">
          <a:xfrm>
            <a:off x="1904826" y="1441451"/>
            <a:ext cx="2232025" cy="360363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9320" name="AutoShape 24"/>
          <p:cNvSpPr>
            <a:spLocks/>
          </p:cNvSpPr>
          <p:nvPr/>
        </p:nvSpPr>
        <p:spPr bwMode="auto">
          <a:xfrm>
            <a:off x="5305250" y="2133600"/>
            <a:ext cx="1871662" cy="431800"/>
          </a:xfrm>
          <a:prstGeom prst="borderCallout2">
            <a:avLst>
              <a:gd name="adj1" fmla="val 26472"/>
              <a:gd name="adj2" fmla="val -4069"/>
              <a:gd name="adj3" fmla="val 26472"/>
              <a:gd name="adj4" fmla="val -30111"/>
              <a:gd name="adj5" fmla="val -133824"/>
              <a:gd name="adj6" fmla="val -6285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全局变量说明</a:t>
            </a:r>
          </a:p>
        </p:txBody>
      </p:sp>
      <p:sp>
        <p:nvSpPr>
          <p:cNvPr id="1079321" name="Rectangle 25"/>
          <p:cNvSpPr>
            <a:spLocks noChangeArrowheads="1"/>
          </p:cNvSpPr>
          <p:nvPr/>
        </p:nvSpPr>
        <p:spPr bwMode="auto">
          <a:xfrm>
            <a:off x="7680176" y="4381703"/>
            <a:ext cx="4126427" cy="156966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75686"/>
                  <a:invGamma/>
                </a:srgbClr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dirty="0"/>
              <a:t>    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注意：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两者中有且只能有一个对变量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赋初始值，不能都对变量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赋初始值或都不赋值，否则编译错！</a:t>
            </a:r>
            <a:r>
              <a:rPr lang="zh-CN" altLang="en-US" dirty="0"/>
              <a:t> </a:t>
            </a:r>
          </a:p>
        </p:txBody>
      </p:sp>
      <p:grpSp>
        <p:nvGrpSpPr>
          <p:cNvPr id="1079322" name="Group 26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79323" name="Text Box 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79324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9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79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0793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79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1079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079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1079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793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9315" grpId="0" animBg="1"/>
      <p:bldP spid="1079316" grpId="0" animBg="1"/>
      <p:bldP spid="1079317" grpId="0" animBg="1"/>
      <p:bldP spid="1079318" grpId="0" animBg="1"/>
      <p:bldP spid="1079319" grpId="0" animBg="1"/>
      <p:bldP spid="1079320" grpId="0" animBg="1"/>
      <p:bldP spid="10793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4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42887" y="101600"/>
            <a:ext cx="5608637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8.5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变量的存储类型</a:t>
            </a:r>
            <a:r>
              <a:rPr lang="zh-CN" altLang="en-US" dirty="0"/>
              <a:t> </a:t>
            </a:r>
          </a:p>
        </p:txBody>
      </p:sp>
      <p:sp>
        <p:nvSpPr>
          <p:cNvPr id="1081347" name="Rectangle 3"/>
          <p:cNvSpPr>
            <a:spLocks noChangeArrowheads="1"/>
          </p:cNvSpPr>
          <p:nvPr/>
        </p:nvSpPr>
        <p:spPr bwMode="auto">
          <a:xfrm>
            <a:off x="766724" y="692150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D600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概述</a:t>
            </a:r>
          </a:p>
        </p:txBody>
      </p:sp>
      <p:sp>
        <p:nvSpPr>
          <p:cNvPr id="1081354" name="Rectangle 10"/>
          <p:cNvSpPr>
            <a:spLocks noChangeArrowheads="1"/>
          </p:cNvSpPr>
          <p:nvPr/>
        </p:nvSpPr>
        <p:spPr bwMode="auto">
          <a:xfrm>
            <a:off x="822286" y="1196976"/>
            <a:ext cx="10890338" cy="415498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变量是对程序中数据的存储空间的抽象</a:t>
            </a:r>
          </a:p>
          <a:p>
            <a:pP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变量的属性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　　①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数据类型：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变量所持有的数据的性质（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操作属性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）。规定了它们的取值范围和可参与的运算</a:t>
            </a:r>
            <a:r>
              <a:rPr lang="zh-CN" altLang="en-US" dirty="0">
                <a:latin typeface="+mn-lt"/>
                <a:ea typeface="楷体" pitchFamily="49" charset="-122"/>
              </a:rPr>
              <a:t> 。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　　②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存储类型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: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规定了变量占用内存空间的方式，也称为存储方式。分为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静态存储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动态存储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两种</a:t>
            </a:r>
            <a:r>
              <a:rPr lang="zh-CN" altLang="en-US" dirty="0">
                <a:latin typeface="+mn-lt"/>
                <a:ea typeface="楷体" pitchFamily="49" charset="-122"/>
              </a:rPr>
              <a:t> 。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静态存储类型的变量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是指在程序运行期间由系统分配固定的内存单元，并一直保持不变，直至整个程序结束，内存空间才被释放。前面所介绍的全局变量即属于此类存储方式。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　　</a:t>
            </a:r>
            <a:r>
              <a:rPr lang="zh-CN" altLang="en-US" b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动态存储类型的变量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是在程序运行期间根据需要进行动态分配内存单元，使用完毕立即释放。典型的例子是函数的形式参数即属于此类存储方式。</a:t>
            </a:r>
          </a:p>
        </p:txBody>
      </p:sp>
      <p:grpSp>
        <p:nvGrpSpPr>
          <p:cNvPr id="1081364" name="Group 20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81365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81366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1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1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1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4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8" name="Rectangle 4"/>
          <p:cNvSpPr>
            <a:spLocks noChangeArrowheads="1"/>
          </p:cNvSpPr>
          <p:nvPr/>
        </p:nvSpPr>
        <p:spPr bwMode="auto">
          <a:xfrm>
            <a:off x="606386" y="188914"/>
            <a:ext cx="111062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　　一个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语言程序在执行时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内存被分为两大块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：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一块是系统区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，用于存放操作系统等内容，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另一块是用户区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，用来存放被执行的用户程序及数据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127429" name="Group 5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127430" name="Text Box 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7431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1127452" name="Group 28"/>
          <p:cNvGrpSpPr>
            <a:grpSpLocks/>
          </p:cNvGrpSpPr>
          <p:nvPr/>
        </p:nvGrpSpPr>
        <p:grpSpPr bwMode="auto">
          <a:xfrm>
            <a:off x="4763070" y="2060575"/>
            <a:ext cx="3184525" cy="3024188"/>
            <a:chOff x="657" y="981"/>
            <a:chExt cx="2006" cy="1905"/>
          </a:xfrm>
        </p:grpSpPr>
        <p:grpSp>
          <p:nvGrpSpPr>
            <p:cNvPr id="1127436" name="Group 12"/>
            <p:cNvGrpSpPr>
              <a:grpSpLocks/>
            </p:cNvGrpSpPr>
            <p:nvPr/>
          </p:nvGrpSpPr>
          <p:grpSpPr bwMode="auto">
            <a:xfrm>
              <a:off x="657" y="981"/>
              <a:ext cx="1155" cy="1905"/>
              <a:chOff x="5577" y="10488"/>
              <a:chExt cx="1800" cy="2496"/>
            </a:xfrm>
          </p:grpSpPr>
          <p:sp>
            <p:nvSpPr>
              <p:cNvPr id="1127437" name="AutoShape 13"/>
              <p:cNvSpPr>
                <a:spLocks noChangeArrowheads="1"/>
              </p:cNvSpPr>
              <p:nvPr/>
            </p:nvSpPr>
            <p:spPr bwMode="auto">
              <a:xfrm>
                <a:off x="5577" y="10488"/>
                <a:ext cx="1800" cy="2496"/>
              </a:xfrm>
              <a:prstGeom prst="foldedCorner">
                <a:avLst>
                  <a:gd name="adj" fmla="val 13745"/>
                </a:avLst>
              </a:prstGeom>
              <a:gradFill rotWithShape="1">
                <a:gsLst>
                  <a:gs pos="0">
                    <a:srgbClr val="FFFF99"/>
                  </a:gs>
                  <a:gs pos="100000">
                    <a:srgbClr val="FFFFFF"/>
                  </a:gs>
                </a:gsLst>
                <a:lin ang="5400000" scaled="1"/>
              </a:gradFill>
              <a:ln w="38100">
                <a:solidFill>
                  <a:srgbClr val="008000"/>
                </a:solidFill>
                <a:round/>
                <a:headEnd type="none" w="lg" len="lg"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lIns="90000" tIns="46800" rIns="90000" bIns="46800" anchor="ctr"/>
              <a:lstStyle/>
              <a:p>
                <a:pPr algn="ctr"/>
                <a:endParaRPr lang="zh-CN" altLang="zh-CN" dirty="0">
                  <a:latin typeface="楷体" pitchFamily="49" charset="-122"/>
                  <a:ea typeface="楷体" pitchFamily="49" charset="-122"/>
                </a:endParaRPr>
              </a:p>
            </p:txBody>
          </p:sp>
          <p:sp>
            <p:nvSpPr>
              <p:cNvPr id="1127438" name="Line 14"/>
              <p:cNvSpPr>
                <a:spLocks noChangeShapeType="1"/>
              </p:cNvSpPr>
              <p:nvPr/>
            </p:nvSpPr>
            <p:spPr bwMode="auto">
              <a:xfrm>
                <a:off x="5577" y="11343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39" name="Line 15"/>
              <p:cNvSpPr>
                <a:spLocks noChangeShapeType="1"/>
              </p:cNvSpPr>
              <p:nvPr/>
            </p:nvSpPr>
            <p:spPr bwMode="auto">
              <a:xfrm>
                <a:off x="5577" y="11688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prstDash val="dash"/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0" name="Line 16"/>
              <p:cNvSpPr>
                <a:spLocks noChangeShapeType="1"/>
              </p:cNvSpPr>
              <p:nvPr/>
            </p:nvSpPr>
            <p:spPr bwMode="auto">
              <a:xfrm>
                <a:off x="5577" y="12405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1" name="Line 17"/>
              <p:cNvSpPr>
                <a:spLocks noChangeShapeType="1"/>
              </p:cNvSpPr>
              <p:nvPr/>
            </p:nvSpPr>
            <p:spPr bwMode="auto">
              <a:xfrm>
                <a:off x="5577" y="12048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prstDash val="dash"/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443" name="Text Box 19"/>
            <p:cNvSpPr txBox="1">
              <a:spLocks noChangeArrowheads="1"/>
            </p:cNvSpPr>
            <p:nvPr/>
          </p:nvSpPr>
          <p:spPr bwMode="auto">
            <a:xfrm>
              <a:off x="814" y="1617"/>
              <a:ext cx="1003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程 序 区</a:t>
              </a:r>
            </a:p>
          </p:txBody>
        </p:sp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793" y="1897"/>
              <a:ext cx="997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>
                  <a:solidFill>
                    <a:srgbClr val="CC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静态存储区</a:t>
              </a:r>
            </a:p>
          </p:txBody>
        </p:sp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793" y="2169"/>
              <a:ext cx="944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>
                  <a:solidFill>
                    <a:srgbClr val="FF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动态存储区</a:t>
              </a:r>
            </a:p>
          </p:txBody>
        </p:sp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757" y="1132"/>
              <a:ext cx="951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操作系统等</a:t>
              </a:r>
            </a:p>
          </p:txBody>
        </p:sp>
        <p:sp>
          <p:nvSpPr>
            <p:cNvPr id="1127448" name="AutoShape 24"/>
            <p:cNvSpPr>
              <a:spLocks/>
            </p:cNvSpPr>
            <p:nvPr/>
          </p:nvSpPr>
          <p:spPr bwMode="auto">
            <a:xfrm>
              <a:off x="1866" y="1018"/>
              <a:ext cx="115" cy="593"/>
            </a:xfrm>
            <a:prstGeom prst="rightBrace">
              <a:avLst>
                <a:gd name="adj1" fmla="val 42971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49" name="Text Box 25"/>
            <p:cNvSpPr txBox="1">
              <a:spLocks noChangeArrowheads="1"/>
            </p:cNvSpPr>
            <p:nvPr/>
          </p:nvSpPr>
          <p:spPr bwMode="auto">
            <a:xfrm>
              <a:off x="1897" y="1146"/>
              <a:ext cx="766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系统区</a:t>
              </a:r>
            </a:p>
          </p:txBody>
        </p:sp>
        <p:sp>
          <p:nvSpPr>
            <p:cNvPr id="1127450" name="AutoShape 26"/>
            <p:cNvSpPr>
              <a:spLocks/>
            </p:cNvSpPr>
            <p:nvPr/>
          </p:nvSpPr>
          <p:spPr bwMode="auto">
            <a:xfrm>
              <a:off x="1866" y="1682"/>
              <a:ext cx="115" cy="739"/>
            </a:xfrm>
            <a:prstGeom prst="rightBrace">
              <a:avLst>
                <a:gd name="adj1" fmla="val 53551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51" name="Text Box 27"/>
            <p:cNvSpPr txBox="1">
              <a:spLocks noChangeArrowheads="1"/>
            </p:cNvSpPr>
            <p:nvPr/>
          </p:nvSpPr>
          <p:spPr bwMode="auto">
            <a:xfrm>
              <a:off x="1933" y="1895"/>
              <a:ext cx="72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隶书" pitchFamily="49" charset="-122"/>
                  <a:ea typeface="隶书" pitchFamily="49" charset="-122"/>
                </a:rPr>
                <a:t>用户区</a:t>
              </a:r>
            </a:p>
          </p:txBody>
        </p:sp>
      </p:grpSp>
      <p:grpSp>
        <p:nvGrpSpPr>
          <p:cNvPr id="1127459" name="Group 35"/>
          <p:cNvGrpSpPr>
            <a:grpSpLocks/>
          </p:cNvGrpSpPr>
          <p:nvPr/>
        </p:nvGrpSpPr>
        <p:grpSpPr bwMode="auto">
          <a:xfrm>
            <a:off x="4980557" y="1484313"/>
            <a:ext cx="5688013" cy="1987550"/>
            <a:chOff x="2064" y="935"/>
            <a:chExt cx="3583" cy="1252"/>
          </a:xfrm>
        </p:grpSpPr>
        <p:sp>
          <p:nvSpPr>
            <p:cNvPr id="1127453" name="Oval 29"/>
            <p:cNvSpPr>
              <a:spLocks noChangeArrowheads="1"/>
            </p:cNvSpPr>
            <p:nvPr/>
          </p:nvSpPr>
          <p:spPr bwMode="auto">
            <a:xfrm>
              <a:off x="2064" y="1961"/>
              <a:ext cx="861" cy="22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54" name="AutoShape 30"/>
            <p:cNvSpPr>
              <a:spLocks/>
            </p:cNvSpPr>
            <p:nvPr/>
          </p:nvSpPr>
          <p:spPr bwMode="auto">
            <a:xfrm>
              <a:off x="4150" y="935"/>
              <a:ext cx="1497" cy="499"/>
            </a:xfrm>
            <a:prstGeom prst="borderCallout2">
              <a:avLst>
                <a:gd name="adj1" fmla="val 14431"/>
                <a:gd name="adj2" fmla="val -3208"/>
                <a:gd name="adj3" fmla="val 14431"/>
                <a:gd name="adj4" fmla="val -43819"/>
                <a:gd name="adj5" fmla="val 216032"/>
                <a:gd name="adj6" fmla="val -85838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用来存放</a:t>
              </a: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C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语言程序运行代码</a:t>
              </a:r>
              <a:r>
                <a:rPr lang="zh-CN" altLang="en-US">
                  <a:latin typeface="+mn-lt"/>
                  <a:ea typeface="楷体" pitchFamily="49" charset="-122"/>
                </a:rPr>
                <a:t>。</a:t>
              </a:r>
            </a:p>
          </p:txBody>
        </p:sp>
      </p:grpSp>
      <p:grpSp>
        <p:nvGrpSpPr>
          <p:cNvPr id="1127460" name="Group 36"/>
          <p:cNvGrpSpPr>
            <a:grpSpLocks/>
          </p:cNvGrpSpPr>
          <p:nvPr/>
        </p:nvGrpSpPr>
        <p:grpSpPr bwMode="auto">
          <a:xfrm>
            <a:off x="4924995" y="3543301"/>
            <a:ext cx="5851525" cy="3197225"/>
            <a:chOff x="2029" y="2232"/>
            <a:chExt cx="3686" cy="2014"/>
          </a:xfrm>
        </p:grpSpPr>
        <p:sp>
          <p:nvSpPr>
            <p:cNvPr id="1127455" name="Oval 31"/>
            <p:cNvSpPr>
              <a:spLocks noChangeArrowheads="1"/>
            </p:cNvSpPr>
            <p:nvPr/>
          </p:nvSpPr>
          <p:spPr bwMode="auto">
            <a:xfrm>
              <a:off x="2029" y="2232"/>
              <a:ext cx="978" cy="226"/>
            </a:xfrm>
            <a:prstGeom prst="ellips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56" name="AutoShape 32"/>
            <p:cNvSpPr>
              <a:spLocks/>
            </p:cNvSpPr>
            <p:nvPr/>
          </p:nvSpPr>
          <p:spPr bwMode="auto">
            <a:xfrm>
              <a:off x="3198" y="2840"/>
              <a:ext cx="2517" cy="1406"/>
            </a:xfrm>
            <a:prstGeom prst="borderCallout2">
              <a:avLst>
                <a:gd name="adj1" fmla="val 5120"/>
                <a:gd name="adj2" fmla="val -1907"/>
                <a:gd name="adj3" fmla="val 5120"/>
                <a:gd name="adj4" fmla="val -6278"/>
                <a:gd name="adj5" fmla="val -31435"/>
                <a:gd name="adj6" fmla="val -10847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C0099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用来存放变量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，在这个区域中存储的变量被称作</a:t>
              </a:r>
              <a:r>
                <a:rPr lang="zh-CN" altLang="en-US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静态变量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。在程序开始执行时</a:t>
              </a:r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全局变量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全部放在静态存储区中，程序执行完毕就释放。在程序执行过程中它们占据固定的存储单元，而不是动态地进行分配和释放。</a:t>
              </a:r>
            </a:p>
          </p:txBody>
        </p:sp>
      </p:grpSp>
      <p:grpSp>
        <p:nvGrpSpPr>
          <p:cNvPr id="1127461" name="Group 37"/>
          <p:cNvGrpSpPr>
            <a:grpSpLocks/>
          </p:cNvGrpSpPr>
          <p:nvPr/>
        </p:nvGrpSpPr>
        <p:grpSpPr bwMode="auto">
          <a:xfrm>
            <a:off x="1523430" y="1484315"/>
            <a:ext cx="5010612" cy="3888902"/>
            <a:chOff x="340" y="935"/>
            <a:chExt cx="2698" cy="2949"/>
          </a:xfrm>
        </p:grpSpPr>
        <p:sp>
          <p:nvSpPr>
            <p:cNvPr id="1127457" name="Oval 33"/>
            <p:cNvSpPr>
              <a:spLocks noChangeArrowheads="1"/>
            </p:cNvSpPr>
            <p:nvPr/>
          </p:nvSpPr>
          <p:spPr bwMode="auto">
            <a:xfrm>
              <a:off x="2131" y="2863"/>
              <a:ext cx="907" cy="212"/>
            </a:xfrm>
            <a:prstGeom prst="ellipse">
              <a:avLst/>
            </a:prstGeom>
            <a:noFill/>
            <a:ln w="28575">
              <a:solidFill>
                <a:srgbClr val="FF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58" name="AutoShape 34"/>
            <p:cNvSpPr>
              <a:spLocks/>
            </p:cNvSpPr>
            <p:nvPr/>
          </p:nvSpPr>
          <p:spPr bwMode="auto">
            <a:xfrm>
              <a:off x="340" y="935"/>
              <a:ext cx="1497" cy="2949"/>
            </a:xfrm>
            <a:prstGeom prst="borderCallout2">
              <a:avLst>
                <a:gd name="adj1" fmla="val 2440"/>
                <a:gd name="adj2" fmla="val 103208"/>
                <a:gd name="adj3" fmla="val 2440"/>
                <a:gd name="adj4" fmla="val 120843"/>
                <a:gd name="adj5" fmla="val 65285"/>
                <a:gd name="adj6" fmla="val 141557"/>
              </a:avLst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C0099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用来存放变量以及进行函数调用时的现场信息和函数返回地址等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，在这个区域存储的变量称之为</a:t>
              </a:r>
              <a:r>
                <a:rPr lang="zh-CN" alt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动态变量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，如形参变量、函数体内部定义的动态局部变量。对于存放于动态存储区的变量，是在函数调用开始时才分配动态存储空间，函数运行结束时释放这些空间。</a:t>
              </a:r>
              <a:r>
                <a:rPr lang="zh-CN" altLang="en-US" sz="2000" dirty="0">
                  <a:latin typeface="+mn-lt"/>
                  <a:ea typeface="楷体" pitchFamily="49" charset="-122"/>
                </a:rPr>
                <a:t> 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27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" dur="500"/>
                                        <p:tgtEl>
                                          <p:spTgt spid="1127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127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127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9" name="Rectangle 3"/>
          <p:cNvSpPr>
            <a:spLocks noChangeArrowheads="1"/>
          </p:cNvSpPr>
          <p:nvPr/>
        </p:nvSpPr>
        <p:spPr bwMode="auto">
          <a:xfrm>
            <a:off x="679411" y="333375"/>
            <a:ext cx="7256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在Ｃ语言中，对变量的存储类型说明有以下四种：</a:t>
            </a:r>
          </a:p>
        </p:txBody>
      </p:sp>
      <p:sp>
        <p:nvSpPr>
          <p:cNvPr id="1125380" name="Rectangle 4"/>
          <p:cNvSpPr>
            <a:spLocks noChangeArrowheads="1"/>
          </p:cNvSpPr>
          <p:nvPr/>
        </p:nvSpPr>
        <p:spPr bwMode="auto">
          <a:xfrm>
            <a:off x="822286" y="836613"/>
            <a:ext cx="72009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auto---------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自动型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register-----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寄存器型</a:t>
            </a:r>
          </a:p>
          <a:p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static  -------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静态型</a:t>
            </a:r>
          </a:p>
          <a:p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extern-------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外部型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25387" name="Text Box 11"/>
          <p:cNvSpPr txBox="1">
            <a:spLocks noChangeArrowheads="1"/>
          </p:cNvSpPr>
          <p:nvPr/>
        </p:nvSpPr>
        <p:spPr bwMode="auto">
          <a:xfrm>
            <a:off x="1833126" y="5589240"/>
            <a:ext cx="8439338" cy="488950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存储类型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]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数据类型   变量名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，变量名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…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，变量名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125388" name="Text Box 12"/>
          <p:cNvSpPr txBox="1">
            <a:spLocks noChangeArrowheads="1"/>
          </p:cNvSpPr>
          <p:nvPr/>
        </p:nvSpPr>
        <p:spPr bwMode="auto">
          <a:xfrm>
            <a:off x="895312" y="4941888"/>
            <a:ext cx="3887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变量定义的完整形式应为：</a:t>
            </a:r>
            <a:r>
              <a:rPr lang="zh-CN" altLang="en-US" dirty="0"/>
              <a:t> </a:t>
            </a:r>
          </a:p>
        </p:txBody>
      </p:sp>
      <p:sp>
        <p:nvSpPr>
          <p:cNvPr id="1125389" name="Rectangle 13" descr="信纸"/>
          <p:cNvSpPr>
            <a:spLocks noChangeArrowheads="1"/>
          </p:cNvSpPr>
          <p:nvPr/>
        </p:nvSpPr>
        <p:spPr bwMode="auto">
          <a:xfrm>
            <a:off x="3791744" y="2452311"/>
            <a:ext cx="7200900" cy="1955800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例如：</a:t>
            </a:r>
          </a:p>
          <a:p>
            <a:pPr marL="457200" indent="-457200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auto char c1, c2;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//c1, c2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为自动字符变量</a:t>
            </a:r>
          </a:p>
          <a:p>
            <a:pPr marL="457200" indent="-457200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register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          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为寄存器型变量</a:t>
            </a:r>
          </a:p>
          <a:p>
            <a:pPr marL="457200" indent="-457200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static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a, b;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  //a, b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为静态整型变量</a:t>
            </a:r>
          </a:p>
          <a:p>
            <a:pPr marL="457200" indent="-457200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extern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x, y;  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//x, y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为外部整型变量</a:t>
            </a:r>
          </a:p>
        </p:txBody>
      </p:sp>
      <p:grpSp>
        <p:nvGrpSpPr>
          <p:cNvPr id="1125390" name="Group 14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125391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5392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25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25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1253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/>
      <p:bldP spid="1125387" grpId="0" animBg="1"/>
      <p:bldP spid="1125388" grpId="0"/>
      <p:bldP spid="112538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5" name="Rectangle 3"/>
          <p:cNvSpPr>
            <a:spLocks noChangeArrowheads="1"/>
          </p:cNvSpPr>
          <p:nvPr/>
        </p:nvSpPr>
        <p:spPr bwMode="auto">
          <a:xfrm>
            <a:off x="750849" y="188913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、自动变量（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auto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83406" name="Text Box 14"/>
          <p:cNvSpPr txBox="1">
            <a:spLocks noChangeArrowheads="1"/>
          </p:cNvSpPr>
          <p:nvPr/>
        </p:nvSpPr>
        <p:spPr bwMode="auto">
          <a:xfrm>
            <a:off x="1683395" y="1227138"/>
            <a:ext cx="8301037" cy="48895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[auto]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数据类型说明符   变量名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，变量名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，变量名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83409" name="Text Box 17"/>
          <p:cNvSpPr txBox="1">
            <a:spLocks noChangeArrowheads="1"/>
          </p:cNvSpPr>
          <p:nvPr/>
        </p:nvSpPr>
        <p:spPr bwMode="auto">
          <a:xfrm>
            <a:off x="1182648" y="693739"/>
            <a:ext cx="1728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定义格式</a:t>
            </a:r>
          </a:p>
        </p:txBody>
      </p:sp>
      <p:sp>
        <p:nvSpPr>
          <p:cNvPr id="1083410" name="Text Box 18"/>
          <p:cNvSpPr txBox="1">
            <a:spLocks noChangeArrowheads="1"/>
          </p:cNvSpPr>
          <p:nvPr/>
        </p:nvSpPr>
        <p:spPr bwMode="auto">
          <a:xfrm>
            <a:off x="1182648" y="1844675"/>
            <a:ext cx="172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83411" name="Rectangle 19"/>
          <p:cNvSpPr>
            <a:spLocks noChangeArrowheads="1"/>
          </p:cNvSpPr>
          <p:nvPr/>
        </p:nvSpPr>
        <p:spPr bwMode="auto">
          <a:xfrm>
            <a:off x="1327110" y="2443591"/>
            <a:ext cx="103855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存储类型说明符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auto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可以省略。</a:t>
            </a:r>
          </a:p>
          <a:p>
            <a:pPr>
              <a:buClr>
                <a:srgbClr val="CC0000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自动变量只能在</a:t>
            </a:r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函数内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或</a:t>
            </a:r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复合语句中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定义，它属于局部变量。 </a:t>
            </a:r>
          </a:p>
        </p:txBody>
      </p:sp>
      <p:sp>
        <p:nvSpPr>
          <p:cNvPr id="1083412" name="Rectangle 20" descr="信纸"/>
          <p:cNvSpPr>
            <a:spLocks noChangeArrowheads="1"/>
          </p:cNvSpPr>
          <p:nvPr/>
        </p:nvSpPr>
        <p:spPr bwMode="auto">
          <a:xfrm>
            <a:off x="2779142" y="3961085"/>
            <a:ext cx="3167062" cy="1955800"/>
          </a:xfrm>
          <a:prstGeom prst="rect">
            <a:avLst/>
          </a:prstGeom>
          <a:blipFill dpi="0" rotWithShape="1">
            <a:blip r:embed="rId8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func (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{ 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 i, j, k;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……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83413" name="AutoShape 21"/>
          <p:cNvSpPr>
            <a:spLocks noChangeArrowheads="1"/>
          </p:cNvSpPr>
          <p:nvPr/>
        </p:nvSpPr>
        <p:spPr bwMode="auto">
          <a:xfrm>
            <a:off x="3080768" y="6237560"/>
            <a:ext cx="2879725" cy="431800"/>
          </a:xfrm>
          <a:prstGeom prst="wedgeRoundRectCallout">
            <a:avLst>
              <a:gd name="adj1" fmla="val -20894"/>
              <a:gd name="adj2" fmla="val -299634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等价于 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auto int i, j, k;</a:t>
            </a:r>
          </a:p>
        </p:txBody>
      </p:sp>
      <p:sp>
        <p:nvSpPr>
          <p:cNvPr id="1083418" name="Rectangle 26" descr="信纸"/>
          <p:cNvSpPr>
            <a:spLocks noChangeArrowheads="1"/>
          </p:cNvSpPr>
          <p:nvPr/>
        </p:nvSpPr>
        <p:spPr bwMode="auto">
          <a:xfrm>
            <a:off x="7081267" y="3928244"/>
            <a:ext cx="3167062" cy="1955800"/>
          </a:xfrm>
          <a:prstGeom prst="rect">
            <a:avLst/>
          </a:prstGeom>
          <a:blipFill dpi="0" rotWithShape="1">
            <a:blip r:embed="rId8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auto int k;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void func (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……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1083422" name="Group 30"/>
          <p:cNvGrpSpPr>
            <a:grpSpLocks/>
          </p:cNvGrpSpPr>
          <p:nvPr/>
        </p:nvGrpSpPr>
        <p:grpSpPr bwMode="auto">
          <a:xfrm>
            <a:off x="8594154" y="4187007"/>
            <a:ext cx="2038350" cy="792163"/>
            <a:chOff x="3969" y="2504"/>
            <a:chExt cx="1284" cy="499"/>
          </a:xfrm>
        </p:grpSpPr>
        <p:sp>
          <p:nvSpPr>
            <p:cNvPr id="1083420" name="AutoShape 28"/>
            <p:cNvSpPr>
              <a:spLocks noChangeArrowheads="1"/>
            </p:cNvSpPr>
            <p:nvPr/>
          </p:nvSpPr>
          <p:spPr bwMode="auto">
            <a:xfrm>
              <a:off x="4377" y="2504"/>
              <a:ext cx="876" cy="49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83421" name="Line 29"/>
            <p:cNvSpPr>
              <a:spLocks noChangeShapeType="1"/>
            </p:cNvSpPr>
            <p:nvPr/>
          </p:nvSpPr>
          <p:spPr bwMode="auto">
            <a:xfrm>
              <a:off x="3969" y="2568"/>
              <a:ext cx="408" cy="13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83423" name="AutoShape 31"/>
          <p:cNvSpPr>
            <a:spLocks noChangeArrowheads="1"/>
          </p:cNvSpPr>
          <p:nvPr/>
        </p:nvSpPr>
        <p:spPr bwMode="auto">
          <a:xfrm>
            <a:off x="7221346" y="6172624"/>
            <a:ext cx="3401219" cy="481509"/>
          </a:xfrm>
          <a:prstGeom prst="wedgeRoundRectCallout">
            <a:avLst>
              <a:gd name="adj1" fmla="val -44236"/>
              <a:gd name="adj2" fmla="val -429550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自动变量不可定义在函数外</a:t>
            </a:r>
            <a:r>
              <a:rPr lang="zh-CN" altLang="en-US" sz="20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83425" name="Rectangle 33"/>
          <p:cNvSpPr>
            <a:spLocks noChangeArrowheads="1"/>
          </p:cNvSpPr>
          <p:nvPr/>
        </p:nvSpPr>
        <p:spPr bwMode="auto">
          <a:xfrm>
            <a:off x="1523411" y="3609085"/>
            <a:ext cx="9416195" cy="268605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2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        </a:t>
            </a:r>
            <a:r>
              <a:rPr lang="zh-CN" altLang="en-US" b="1" dirty="0">
                <a:ln w="1905"/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注意：</a:t>
            </a:r>
            <a:r>
              <a:rPr lang="zh-CN" altLang="en-US" b="1" dirty="0">
                <a:ln w="1905"/>
                <a:solidFill>
                  <a:srgbClr val="7030A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在函数外部定义的没有带存储类型说明符的全局变量是外部变量，属于静态存储类型。</a:t>
            </a:r>
          </a:p>
          <a:p>
            <a:r>
              <a:rPr lang="zh-CN" altLang="en-US" b="1" dirty="0">
                <a:ln w="1905"/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如：</a:t>
            </a:r>
            <a:r>
              <a:rPr lang="en-US" altLang="zh-CN" b="1" dirty="0" err="1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int</a:t>
            </a:r>
            <a:r>
              <a:rPr lang="en-US" altLang="zh-CN" b="1" dirty="0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k;           </a:t>
            </a:r>
            <a:r>
              <a:rPr lang="en-US" altLang="zh-CN" sz="2000" b="1" dirty="0">
                <a:ln w="1905"/>
                <a:solidFill>
                  <a:srgbClr val="0000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楷体" pitchFamily="49" charset="-122"/>
              </a:rPr>
              <a:t>//k</a:t>
            </a:r>
            <a:r>
              <a:rPr lang="zh-CN" altLang="en-US" sz="2000" b="1" dirty="0">
                <a:ln w="1905"/>
                <a:solidFill>
                  <a:srgbClr val="0000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楷体" pitchFamily="49" charset="-122"/>
              </a:rPr>
              <a:t>为外部变量，属静态存储类型</a:t>
            </a:r>
          </a:p>
          <a:p>
            <a:r>
              <a:rPr lang="zh-CN" altLang="en-US" b="1" dirty="0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        </a:t>
            </a:r>
            <a:r>
              <a:rPr lang="en-US" altLang="zh-CN" b="1" dirty="0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void </a:t>
            </a:r>
            <a:r>
              <a:rPr lang="en-US" altLang="zh-CN" b="1" dirty="0" err="1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func</a:t>
            </a:r>
            <a:r>
              <a:rPr lang="en-US" altLang="zh-CN" b="1" dirty="0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( )</a:t>
            </a:r>
          </a:p>
          <a:p>
            <a:r>
              <a:rPr lang="en-US" altLang="zh-CN" b="1" dirty="0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        {</a:t>
            </a:r>
          </a:p>
          <a:p>
            <a:r>
              <a:rPr lang="en-US" altLang="zh-CN" b="1" dirty="0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           ……</a:t>
            </a:r>
          </a:p>
          <a:p>
            <a:r>
              <a:rPr lang="en-US" altLang="zh-CN" b="1" dirty="0">
                <a:ln w="1905"/>
                <a:solidFill>
                  <a:srgbClr val="CC0099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        }</a:t>
            </a:r>
          </a:p>
        </p:txBody>
      </p:sp>
      <p:grpSp>
        <p:nvGrpSpPr>
          <p:cNvPr id="1083426" name="Group 34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83427" name="Text Box 3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83428" name="Text Box 3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83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83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083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83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83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1083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083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5" grpId="0"/>
      <p:bldP spid="1083406" grpId="0" animBg="1"/>
      <p:bldP spid="1083409" grpId="0"/>
      <p:bldP spid="1083410" grpId="0"/>
      <p:bldP spid="1083412" grpId="0" animBg="1"/>
      <p:bldP spid="1083413" grpId="0" animBg="1"/>
      <p:bldP spid="1083418" grpId="0" animBg="1"/>
      <p:bldP spid="1083423" grpId="0" animBg="1"/>
      <p:bldP spid="10834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42" name="Rectangle 2"/>
          <p:cNvSpPr>
            <a:spLocks noChangeArrowheads="1"/>
          </p:cNvSpPr>
          <p:nvPr/>
        </p:nvSpPr>
        <p:spPr bwMode="auto">
          <a:xfrm>
            <a:off x="750849" y="91480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、外部变量（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extern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85458" name="Rectangle 18"/>
          <p:cNvSpPr>
            <a:spLocks noChangeArrowheads="1"/>
          </p:cNvSpPr>
          <p:nvPr/>
        </p:nvSpPr>
        <p:spPr bwMode="auto">
          <a:xfrm>
            <a:off x="462742" y="528356"/>
            <a:ext cx="1124988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</a:t>
            </a: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是对同一类变量的两种不同角度的提法。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全局变是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从它的作用域提出的，外部变量从它的存储方式提出的，表示了它的生存期。它属于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静态存储类型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085459" name="Text Box 19"/>
          <p:cNvSpPr txBox="1">
            <a:spLocks noChangeArrowheads="1"/>
          </p:cNvSpPr>
          <p:nvPr/>
        </p:nvSpPr>
        <p:spPr bwMode="auto">
          <a:xfrm>
            <a:off x="985720" y="1628801"/>
            <a:ext cx="45175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:  </a:t>
            </a:r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引用其它文件中的外部变量</a:t>
            </a:r>
          </a:p>
        </p:txBody>
      </p:sp>
      <p:sp>
        <p:nvSpPr>
          <p:cNvPr id="1085460" name="Rectangle 20" descr="信纸"/>
          <p:cNvSpPr>
            <a:spLocks noChangeArrowheads="1"/>
          </p:cNvSpPr>
          <p:nvPr/>
        </p:nvSpPr>
        <p:spPr bwMode="auto">
          <a:xfrm>
            <a:off x="1630884" y="2132857"/>
            <a:ext cx="4198936" cy="4524315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zh-CN" altLang="en-US" b="1" u="sng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原文件</a:t>
            </a:r>
            <a:r>
              <a:rPr lang="en-US" altLang="zh-CN" b="1" u="sng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prg1.cpp</a:t>
            </a:r>
          </a:p>
          <a:p>
            <a:pPr marL="457200" indent="-457200"/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a, b;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外部变量定义</a:t>
            </a:r>
          </a:p>
          <a:p>
            <a:pPr marL="457200" indent="-457200"/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max ( );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外部函数声明</a:t>
            </a:r>
          </a:p>
          <a:p>
            <a:pPr marL="457200" indent="-457200"/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c;  </a:t>
            </a:r>
          </a:p>
          <a:p>
            <a:pPr marL="457200" indent="-457200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a = 4, b = 5;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c = max ( 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("max = %d\n", c);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return 0;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85461" name="Rectangle 21" descr="信纸"/>
          <p:cNvSpPr>
            <a:spLocks noChangeArrowheads="1"/>
          </p:cNvSpPr>
          <p:nvPr/>
        </p:nvSpPr>
        <p:spPr bwMode="auto">
          <a:xfrm>
            <a:off x="6600056" y="2132856"/>
            <a:ext cx="4608512" cy="2686050"/>
          </a:xfrm>
          <a:prstGeom prst="rect">
            <a:avLst/>
          </a:prstGeom>
          <a:blipFill dpi="0" rotWithShape="1">
            <a:blip r:embed="rId6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zh-CN" altLang="en-US" b="1" u="sng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原文件</a:t>
            </a:r>
            <a:r>
              <a:rPr lang="en-US" altLang="zh-CN" b="1" u="sng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prg2.cpp</a:t>
            </a:r>
          </a:p>
          <a:p>
            <a:pPr marL="457200" indent="-457200"/>
            <a:r>
              <a:rPr kumimoji="0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extern </a:t>
            </a:r>
            <a:r>
              <a:rPr kumimoji="0"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a, b;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外部变量说明</a:t>
            </a:r>
          </a:p>
          <a:p>
            <a:pPr marL="457200" indent="-457200"/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max (  )</a:t>
            </a:r>
          </a:p>
          <a:p>
            <a:pPr marL="457200" indent="-457200"/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  </a:t>
            </a:r>
          </a:p>
          <a:p>
            <a:pPr marL="457200" indent="-457200"/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return (a &gt; b ? a : b); </a:t>
            </a:r>
          </a:p>
          <a:p>
            <a:pPr marL="457200" indent="-457200"/>
            <a:r>
              <a:rPr lang="en-US" altLang="zh-C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85462" name="Text Box 22"/>
          <p:cNvSpPr txBox="1">
            <a:spLocks noChangeArrowheads="1"/>
          </p:cNvSpPr>
          <p:nvPr/>
        </p:nvSpPr>
        <p:spPr bwMode="auto">
          <a:xfrm>
            <a:off x="6144220" y="6063679"/>
            <a:ext cx="2832100" cy="461665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编译、链接、运行</a:t>
            </a:r>
          </a:p>
        </p:txBody>
      </p:sp>
      <p:sp>
        <p:nvSpPr>
          <p:cNvPr id="1085463" name="AutoShape 23"/>
          <p:cNvSpPr>
            <a:spLocks noChangeArrowheads="1"/>
          </p:cNvSpPr>
          <p:nvPr/>
        </p:nvSpPr>
        <p:spPr bwMode="auto">
          <a:xfrm rot="1963348">
            <a:off x="4762525" y="5119754"/>
            <a:ext cx="2506182" cy="3587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57647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64" name="AutoShape 24"/>
          <p:cNvSpPr>
            <a:spLocks noChangeArrowheads="1"/>
          </p:cNvSpPr>
          <p:nvPr/>
        </p:nvSpPr>
        <p:spPr bwMode="auto">
          <a:xfrm rot="7551307">
            <a:off x="6808795" y="5101244"/>
            <a:ext cx="1739026" cy="3587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FFFF"/>
              </a:gs>
              <a:gs pos="100000">
                <a:srgbClr val="00FFFF">
                  <a:gamma/>
                  <a:shade val="60784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66" name="Rectangle 26"/>
          <p:cNvSpPr>
            <a:spLocks noChangeArrowheads="1"/>
          </p:cNvSpPr>
          <p:nvPr/>
        </p:nvSpPr>
        <p:spPr bwMode="auto">
          <a:xfrm>
            <a:off x="9336360" y="5149180"/>
            <a:ext cx="1871663" cy="8001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max = 5</a:t>
            </a:r>
          </a:p>
        </p:txBody>
      </p:sp>
      <p:grpSp>
        <p:nvGrpSpPr>
          <p:cNvPr id="1085467" name="Group 27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85468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85469" name="Text Box 2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85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8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85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85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85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854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85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" presetClass="entr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85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42" grpId="0"/>
      <p:bldP spid="1085458" grpId="0"/>
      <p:bldP spid="1085459" grpId="0" build="p" autoUpdateAnimBg="0"/>
      <p:bldP spid="1085460" grpId="0" animBg="1"/>
      <p:bldP spid="1085461" grpId="0" animBg="1"/>
      <p:bldP spid="1085462" grpId="0" animBg="1"/>
      <p:bldP spid="1085463" grpId="0" animBg="1"/>
      <p:bldP spid="1085464" grpId="0" animBg="1"/>
      <p:bldP spid="108546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490" name="Rectangle 2"/>
          <p:cNvSpPr>
            <a:spLocks noChangeArrowheads="1"/>
          </p:cNvSpPr>
          <p:nvPr/>
        </p:nvSpPr>
        <p:spPr bwMode="auto">
          <a:xfrm>
            <a:off x="750849" y="188913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、静态变量（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87502" name="Text Box 14"/>
          <p:cNvSpPr txBox="1">
            <a:spLocks noChangeArrowheads="1"/>
          </p:cNvSpPr>
          <p:nvPr/>
        </p:nvSpPr>
        <p:spPr bwMode="auto">
          <a:xfrm>
            <a:off x="1182574" y="692150"/>
            <a:ext cx="417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静态变量与静态存储类型</a:t>
            </a:r>
          </a:p>
        </p:txBody>
      </p:sp>
      <p:sp>
        <p:nvSpPr>
          <p:cNvPr id="1087503" name="Rectangle 15"/>
          <p:cNvSpPr>
            <a:spLocks noChangeArrowheads="1"/>
          </p:cNvSpPr>
          <p:nvPr/>
        </p:nvSpPr>
        <p:spPr bwMode="auto">
          <a:xfrm>
            <a:off x="1516078" y="1125431"/>
            <a:ext cx="10268554" cy="2930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lvl="1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静态变量的类型说明符是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静态变量属于静态存储类型。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静态存储类型的变量不一定就是静态变量。例如外 部变量虽属于静态存储类型但不一定是静态变量，必须由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加以定义后才能成为</a:t>
            </a:r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静态外部变量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，或称</a:t>
            </a:r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静态全局变量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自动变量可以用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定义它为静态自动变量，或称</a:t>
            </a:r>
            <a:r>
              <a:rPr lang="zh-CN" altLang="en-US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静态局部变量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，从而成为静态存储方式。  </a:t>
            </a:r>
          </a:p>
        </p:txBody>
      </p:sp>
      <p:sp>
        <p:nvSpPr>
          <p:cNvPr id="1087504" name="Text Box 16"/>
          <p:cNvSpPr txBox="1">
            <a:spLocks noChangeArrowheads="1"/>
          </p:cNvSpPr>
          <p:nvPr/>
        </p:nvSpPr>
        <p:spPr bwMode="auto">
          <a:xfrm>
            <a:off x="1182574" y="4209885"/>
            <a:ext cx="417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静态局部变量</a:t>
            </a:r>
          </a:p>
        </p:txBody>
      </p:sp>
      <p:sp>
        <p:nvSpPr>
          <p:cNvPr id="1087505" name="Rectangle 17"/>
          <p:cNvSpPr>
            <a:spLocks noChangeArrowheads="1"/>
          </p:cNvSpPr>
          <p:nvPr/>
        </p:nvSpPr>
        <p:spPr bwMode="auto">
          <a:xfrm>
            <a:off x="1185626" y="4649788"/>
            <a:ext cx="7558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在局部变量的说明前加上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就构成静态局部变量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87506" name="Rectangle 18" descr="信纸"/>
          <p:cNvSpPr>
            <a:spLocks noChangeArrowheads="1"/>
          </p:cNvSpPr>
          <p:nvPr/>
        </p:nvSpPr>
        <p:spPr bwMode="auto">
          <a:xfrm>
            <a:off x="1685960" y="5229200"/>
            <a:ext cx="9522608" cy="1225550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例如：</a:t>
            </a:r>
          </a:p>
          <a:p>
            <a:pPr marL="457200" indent="-457200"/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static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a, b;</a:t>
            </a:r>
          </a:p>
          <a:p>
            <a:pPr marL="457200" indent="-457200"/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static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float array[5] = {1, 2, 3, 4, 5}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；</a:t>
            </a:r>
          </a:p>
        </p:txBody>
      </p:sp>
      <p:grpSp>
        <p:nvGrpSpPr>
          <p:cNvPr id="1087507" name="Group 19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87508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87509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7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7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0875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0875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490" grpId="0"/>
      <p:bldP spid="1087502" grpId="0"/>
      <p:bldP spid="1087504" grpId="0"/>
      <p:bldP spid="1087505" grpId="0"/>
      <p:bldP spid="108750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44" name="Text Box 8"/>
          <p:cNvSpPr txBox="1">
            <a:spLocks noChangeArrowheads="1"/>
          </p:cNvSpPr>
          <p:nvPr/>
        </p:nvSpPr>
        <p:spPr bwMode="auto">
          <a:xfrm>
            <a:off x="722274" y="203200"/>
            <a:ext cx="5903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静态局部变量与自动变量之比较</a:t>
            </a:r>
          </a:p>
        </p:txBody>
      </p:sp>
      <p:sp>
        <p:nvSpPr>
          <p:cNvPr id="1089548" name="Rectangle 12"/>
          <p:cNvSpPr>
            <a:spLocks noChangeArrowheads="1"/>
          </p:cNvSpPr>
          <p:nvPr/>
        </p:nvSpPr>
        <p:spPr bwMode="auto">
          <a:xfrm>
            <a:off x="1049298" y="692696"/>
            <a:ext cx="10663326" cy="128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ts val="3200"/>
              </a:lnSpc>
              <a:buClr>
                <a:srgbClr val="0000FF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静态局部变量与自动变量均属于局部变量</a:t>
            </a:r>
          </a:p>
          <a:p>
            <a:pPr marL="265113" indent="-265113">
              <a:lnSpc>
                <a:spcPts val="3200"/>
              </a:lnSpc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静态局部变量生存期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长，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为整个源程序。自动变量生存期短。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265113" indent="-265113">
              <a:lnSpc>
                <a:spcPts val="3200"/>
              </a:lnSpc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静态局部变量的生存期虽然为整个源程序，但是其作用域仍与自动变量相同 </a:t>
            </a:r>
          </a:p>
        </p:txBody>
      </p:sp>
      <p:sp>
        <p:nvSpPr>
          <p:cNvPr id="1089549" name="Rectangle 13" descr="信纸"/>
          <p:cNvSpPr>
            <a:spLocks noChangeArrowheads="1"/>
          </p:cNvSpPr>
          <p:nvPr/>
        </p:nvSpPr>
        <p:spPr bwMode="auto">
          <a:xfrm>
            <a:off x="1960102" y="2348880"/>
            <a:ext cx="6440154" cy="4092575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func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 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a;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a = s + 5;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……                                  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2000" b="1" dirty="0" err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func</a:t>
            </a:r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static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s;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……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89550" name="Rectangle 14"/>
          <p:cNvSpPr>
            <a:spLocks noChangeArrowheads="1"/>
          </p:cNvSpPr>
          <p:nvPr/>
        </p:nvSpPr>
        <p:spPr bwMode="auto">
          <a:xfrm>
            <a:off x="2190288" y="5446092"/>
            <a:ext cx="1512888" cy="3603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9551" name="AutoShape 15"/>
          <p:cNvSpPr>
            <a:spLocks/>
          </p:cNvSpPr>
          <p:nvPr/>
        </p:nvSpPr>
        <p:spPr bwMode="auto">
          <a:xfrm>
            <a:off x="4782677" y="4420567"/>
            <a:ext cx="1368425" cy="792163"/>
          </a:xfrm>
          <a:prstGeom prst="borderCallout2">
            <a:avLst>
              <a:gd name="adj1" fmla="val 14431"/>
              <a:gd name="adj2" fmla="val -5569"/>
              <a:gd name="adj3" fmla="val 14431"/>
              <a:gd name="adj4" fmla="val -54060"/>
              <a:gd name="adj5" fmla="val 126454"/>
              <a:gd name="adj6" fmla="val -115315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定义静态局部变量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</a:t>
            </a:r>
            <a:endParaRPr lang="en-US" altLang="zh-CN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89552" name="Oval 16"/>
          <p:cNvSpPr>
            <a:spLocks noChangeArrowheads="1"/>
          </p:cNvSpPr>
          <p:nvPr/>
        </p:nvSpPr>
        <p:spPr bwMode="auto">
          <a:xfrm>
            <a:off x="2522077" y="3647455"/>
            <a:ext cx="244475" cy="35877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89553" name="Group 17"/>
          <p:cNvGrpSpPr>
            <a:grpSpLocks/>
          </p:cNvGrpSpPr>
          <p:nvPr/>
        </p:nvGrpSpPr>
        <p:grpSpPr bwMode="auto">
          <a:xfrm>
            <a:off x="2737977" y="3098179"/>
            <a:ext cx="2116137" cy="792162"/>
            <a:chOff x="838" y="2795"/>
            <a:chExt cx="1333" cy="499"/>
          </a:xfrm>
        </p:grpSpPr>
        <p:sp>
          <p:nvSpPr>
            <p:cNvPr id="1089554" name="AutoShape 18"/>
            <p:cNvSpPr>
              <a:spLocks noChangeArrowheads="1"/>
            </p:cNvSpPr>
            <p:nvPr/>
          </p:nvSpPr>
          <p:spPr bwMode="auto">
            <a:xfrm>
              <a:off x="1264" y="2795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89555" name="Line 19"/>
            <p:cNvSpPr>
              <a:spLocks noChangeShapeType="1"/>
            </p:cNvSpPr>
            <p:nvPr/>
          </p:nvSpPr>
          <p:spPr bwMode="auto">
            <a:xfrm flipV="1">
              <a:off x="838" y="3031"/>
              <a:ext cx="454" cy="13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89562" name="Group 26"/>
          <p:cNvGrpSpPr>
            <a:grpSpLocks/>
          </p:cNvGrpSpPr>
          <p:nvPr/>
        </p:nvGrpSpPr>
        <p:grpSpPr bwMode="auto">
          <a:xfrm>
            <a:off x="2152189" y="5590555"/>
            <a:ext cx="5224463" cy="731837"/>
            <a:chOff x="860" y="3657"/>
            <a:chExt cx="3291" cy="461"/>
          </a:xfrm>
        </p:grpSpPr>
        <p:grpSp>
          <p:nvGrpSpPr>
            <p:cNvPr id="1089557" name="Group 21"/>
            <p:cNvGrpSpPr>
              <a:grpSpLocks/>
            </p:cNvGrpSpPr>
            <p:nvPr/>
          </p:nvGrpSpPr>
          <p:grpSpPr bwMode="auto">
            <a:xfrm>
              <a:off x="860" y="3657"/>
              <a:ext cx="2403" cy="461"/>
              <a:chOff x="851" y="3285"/>
              <a:chExt cx="2403" cy="725"/>
            </a:xfrm>
          </p:grpSpPr>
          <p:sp>
            <p:nvSpPr>
              <p:cNvPr id="1089558" name="Line 22"/>
              <p:cNvSpPr>
                <a:spLocks noChangeShapeType="1"/>
              </p:cNvSpPr>
              <p:nvPr/>
            </p:nvSpPr>
            <p:spPr bwMode="auto">
              <a:xfrm>
                <a:off x="1850" y="3285"/>
                <a:ext cx="140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9559" name="Line 23"/>
              <p:cNvSpPr>
                <a:spLocks noChangeShapeType="1"/>
              </p:cNvSpPr>
              <p:nvPr/>
            </p:nvSpPr>
            <p:spPr bwMode="auto">
              <a:xfrm>
                <a:off x="3249" y="3285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9560" name="Line 24"/>
              <p:cNvSpPr>
                <a:spLocks noChangeShapeType="1"/>
              </p:cNvSpPr>
              <p:nvPr/>
            </p:nvSpPr>
            <p:spPr bwMode="auto">
              <a:xfrm flipH="1">
                <a:off x="851" y="3993"/>
                <a:ext cx="240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89561" name="Rectangle 25"/>
            <p:cNvSpPr>
              <a:spLocks noChangeArrowheads="1"/>
            </p:cNvSpPr>
            <p:nvPr/>
          </p:nvSpPr>
          <p:spPr bwMode="auto">
            <a:xfrm>
              <a:off x="3244" y="3729"/>
              <a:ext cx="9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s</a:t>
              </a:r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grpSp>
        <p:nvGrpSpPr>
          <p:cNvPr id="1089563" name="Group 27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89564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89565" name="Text Box 2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9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9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9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9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89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10895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1089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10895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089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10895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544" grpId="0"/>
      <p:bldP spid="1089549" grpId="0" animBg="1"/>
      <p:bldP spid="1089550" grpId="0" animBg="1"/>
      <p:bldP spid="1089551" grpId="0" animBg="1"/>
      <p:bldP spid="108955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589" name="Text Box 5"/>
          <p:cNvSpPr txBox="1">
            <a:spLocks noChangeArrowheads="1"/>
          </p:cNvSpPr>
          <p:nvPr/>
        </p:nvSpPr>
        <p:spPr bwMode="auto">
          <a:xfrm>
            <a:off x="722274" y="203200"/>
            <a:ext cx="5903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静态局部变量与自动变量之比较</a:t>
            </a:r>
          </a:p>
        </p:txBody>
      </p:sp>
      <p:sp>
        <p:nvSpPr>
          <p:cNvPr id="1091590" name="Rectangle 6"/>
          <p:cNvSpPr>
            <a:spLocks noChangeArrowheads="1"/>
          </p:cNvSpPr>
          <p:nvPr/>
        </p:nvSpPr>
        <p:spPr bwMode="auto">
          <a:xfrm>
            <a:off x="882611" y="632253"/>
            <a:ext cx="83185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静态局部变量若在定义时未赋初值，则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系统自动赋初值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</a:t>
            </a:r>
          </a:p>
          <a:p>
            <a:pPr>
              <a:buClr>
                <a:srgbClr val="0000FF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静态局部变量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赋初值只一次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，而自动变量赋初值可能多次</a:t>
            </a:r>
          </a:p>
        </p:txBody>
      </p:sp>
      <p:sp>
        <p:nvSpPr>
          <p:cNvPr id="1091604" name="Rectangle 20" descr="信纸"/>
          <p:cNvSpPr>
            <a:spLocks noChangeArrowheads="1"/>
          </p:cNvSpPr>
          <p:nvPr/>
        </p:nvSpPr>
        <p:spPr bwMode="auto">
          <a:xfrm>
            <a:off x="1415108" y="1514475"/>
            <a:ext cx="4608884" cy="5016758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void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func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);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函数说明</a:t>
            </a:r>
          </a:p>
          <a:p>
            <a:pPr marL="457200" indent="-45720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for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&lt;= 5;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++)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func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);   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函数调用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void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func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函数定义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auto 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j =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++j;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 ", j);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91605" name="Rectangle 21" descr="信纸"/>
          <p:cNvSpPr>
            <a:spLocks noChangeArrowheads="1"/>
          </p:cNvSpPr>
          <p:nvPr/>
        </p:nvSpPr>
        <p:spPr bwMode="auto">
          <a:xfrm>
            <a:off x="6643812" y="1500188"/>
            <a:ext cx="4608000" cy="5016758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void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func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);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函数说明</a:t>
            </a:r>
          </a:p>
          <a:p>
            <a:pPr marL="457200" indent="-45720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for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&lt;= 5;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++)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func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);      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函数调用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void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func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    </a:t>
            </a:r>
            <a:r>
              <a:rPr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函数定义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static 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j =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++j;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 ", j);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091606" name="Rectangle 22"/>
          <p:cNvSpPr>
            <a:spLocks noChangeArrowheads="1"/>
          </p:cNvSpPr>
          <p:nvPr/>
        </p:nvSpPr>
        <p:spPr bwMode="auto">
          <a:xfrm>
            <a:off x="1692920" y="5216846"/>
            <a:ext cx="1512888" cy="360362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607" name="AutoShape 23"/>
          <p:cNvSpPr>
            <a:spLocks/>
          </p:cNvSpPr>
          <p:nvPr/>
        </p:nvSpPr>
        <p:spPr bwMode="auto">
          <a:xfrm>
            <a:off x="3864621" y="5008883"/>
            <a:ext cx="1368425" cy="433388"/>
          </a:xfrm>
          <a:prstGeom prst="borderCallout2">
            <a:avLst>
              <a:gd name="adj1" fmla="val 26375"/>
              <a:gd name="adj2" fmla="val -5569"/>
              <a:gd name="adj3" fmla="val 26375"/>
              <a:gd name="adj4" fmla="val -24593"/>
              <a:gd name="adj5" fmla="val 93773"/>
              <a:gd name="adj6" fmla="val -4849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自动变量</a:t>
            </a:r>
            <a:endParaRPr lang="zh-CN" altLang="en-US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91608" name="Rectangle 24"/>
          <p:cNvSpPr>
            <a:spLocks noChangeArrowheads="1"/>
          </p:cNvSpPr>
          <p:nvPr/>
        </p:nvSpPr>
        <p:spPr bwMode="auto">
          <a:xfrm>
            <a:off x="6945438" y="5180934"/>
            <a:ext cx="1584325" cy="360363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609" name="AutoShape 25"/>
          <p:cNvSpPr>
            <a:spLocks/>
          </p:cNvSpPr>
          <p:nvPr/>
        </p:nvSpPr>
        <p:spPr bwMode="auto">
          <a:xfrm>
            <a:off x="9059988" y="5021940"/>
            <a:ext cx="1368425" cy="433387"/>
          </a:xfrm>
          <a:prstGeom prst="borderCallout2">
            <a:avLst>
              <a:gd name="adj1" fmla="val 26375"/>
              <a:gd name="adj2" fmla="val -5569"/>
              <a:gd name="adj3" fmla="val 26375"/>
              <a:gd name="adj4" fmla="val -20069"/>
              <a:gd name="adj5" fmla="val 77657"/>
              <a:gd name="adj6" fmla="val -38398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静态变量</a:t>
            </a:r>
            <a:endParaRPr lang="zh-CN" altLang="en-US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91610" name="Rectangle 26"/>
          <p:cNvSpPr>
            <a:spLocks noChangeArrowheads="1"/>
          </p:cNvSpPr>
          <p:nvPr/>
        </p:nvSpPr>
        <p:spPr bwMode="auto">
          <a:xfrm>
            <a:off x="3936306" y="5869260"/>
            <a:ext cx="1871662" cy="8001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1 1 1 1 1</a:t>
            </a:r>
            <a:r>
              <a:rPr lang="en-US" altLang="zh-CN" dirty="0"/>
              <a:t> </a:t>
            </a:r>
          </a:p>
        </p:txBody>
      </p:sp>
      <p:sp>
        <p:nvSpPr>
          <p:cNvPr id="1091611" name="Rectangle 27"/>
          <p:cNvSpPr>
            <a:spLocks noChangeArrowheads="1"/>
          </p:cNvSpPr>
          <p:nvPr/>
        </p:nvSpPr>
        <p:spPr bwMode="auto">
          <a:xfrm>
            <a:off x="9170577" y="5829328"/>
            <a:ext cx="1871662" cy="8001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1 2 3 4 5</a:t>
            </a:r>
            <a:r>
              <a:rPr lang="en-US" altLang="zh-CN" dirty="0"/>
              <a:t> </a:t>
            </a:r>
          </a:p>
        </p:txBody>
      </p:sp>
      <p:grpSp>
        <p:nvGrpSpPr>
          <p:cNvPr id="1091612" name="Group 28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91613" name="Text Box 2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91614" name="Text Box 3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1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1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1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1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91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91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1091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091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091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0916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91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916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589" grpId="0"/>
      <p:bldP spid="1091604" grpId="0" animBg="1"/>
      <p:bldP spid="1091605" grpId="0" animBg="1"/>
      <p:bldP spid="1091606" grpId="0" animBg="1"/>
      <p:bldP spid="1091607" grpId="0" animBg="1"/>
      <p:bldP spid="1091608" grpId="0" animBg="1"/>
      <p:bldP spid="1091609" grpId="0" animBg="1"/>
      <p:bldP spid="1091610" grpId="0" animBg="1"/>
      <p:bldP spid="10916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637" name="Text Box 5"/>
          <p:cNvSpPr txBox="1">
            <a:spLocks noChangeArrowheads="1"/>
          </p:cNvSpPr>
          <p:nvPr/>
        </p:nvSpPr>
        <p:spPr bwMode="auto">
          <a:xfrm>
            <a:off x="722274" y="203200"/>
            <a:ext cx="3197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静态全局变量</a:t>
            </a:r>
          </a:p>
        </p:txBody>
      </p:sp>
      <p:sp>
        <p:nvSpPr>
          <p:cNvPr id="1093638" name="Rectangle 6"/>
          <p:cNvSpPr>
            <a:spLocks noChangeArrowheads="1"/>
          </p:cNvSpPr>
          <p:nvPr/>
        </p:nvSpPr>
        <p:spPr bwMode="auto">
          <a:xfrm>
            <a:off x="520661" y="692696"/>
            <a:ext cx="1133597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外部变量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的说明之前再冠以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就构成了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静态全局变量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全局变量改变为静态变量后是改变了它的作用域，限制了它的使用范围。当一个源程序由多个源文件组成时，非静态的全局变量可通过外部变量说明使其在整个源程序中都有效。而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静态全局变量只在定义该变量的源文件内有效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，在同一源程序的其它源文件中不能通过外部变量说明来使用它。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7" name="Rectangle 15" descr="信纸"/>
          <p:cNvSpPr>
            <a:spLocks noChangeArrowheads="1"/>
          </p:cNvSpPr>
          <p:nvPr/>
        </p:nvSpPr>
        <p:spPr bwMode="auto">
          <a:xfrm>
            <a:off x="1775968" y="3093025"/>
            <a:ext cx="4032000" cy="3051175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 algn="ctr"/>
            <a:r>
              <a:rPr lang="en-US" altLang="zh-CN" b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prg1.cpp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</a:t>
            </a:r>
          </a:p>
          <a:p>
            <a:pPr marL="457200" indent="-457200" algn="ctr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             </a:t>
            </a:r>
          </a:p>
          <a:p>
            <a:pPr marL="457200" indent="-457200"/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a, b;      </a:t>
            </a:r>
          </a:p>
          <a:p>
            <a:pPr marL="457200" indent="-457200"/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static char </a:t>
            </a:r>
            <a:r>
              <a:rPr lang="en-US" altLang="zh-CN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;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</a:p>
          <a:p>
            <a:pPr marL="457200" indent="-457200"/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{                                 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……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}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8" name="Rectangle 16" descr="信纸"/>
          <p:cNvSpPr>
            <a:spLocks noChangeArrowheads="1"/>
          </p:cNvSpPr>
          <p:nvPr/>
        </p:nvSpPr>
        <p:spPr bwMode="auto">
          <a:xfrm>
            <a:off x="6672138" y="3118316"/>
            <a:ext cx="4032374" cy="3046988"/>
          </a:xfrm>
          <a:prstGeom prst="rect">
            <a:avLst/>
          </a:prstGeom>
          <a:blipFill dpi="0" rotWithShape="1">
            <a:blip r:embed="rId7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en-US" altLang="zh-CN" b="1" u="sng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prg2.cpp</a:t>
            </a:r>
            <a:r>
              <a:rPr lang="en-US" altLang="zh-CN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</a:t>
            </a:r>
          </a:p>
          <a:p>
            <a:pPr marL="457200" indent="-457200" algn="ctr"/>
            <a:r>
              <a:rPr lang="en-US" altLang="zh-CN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            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extern int a, b;      </a:t>
            </a:r>
          </a:p>
          <a:p>
            <a:pPr marL="457200" indent="-457200"/>
            <a:r>
              <a:rPr lang="en-US" altLang="zh-CN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extern char ch;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 func (int x, int y 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{                                  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……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}</a:t>
            </a:r>
            <a:r>
              <a:rPr lang="en-US" altLang="zh-CN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9" name="Rectangle 17"/>
          <p:cNvSpPr>
            <a:spLocks noChangeArrowheads="1"/>
          </p:cNvSpPr>
          <p:nvPr/>
        </p:nvSpPr>
        <p:spPr bwMode="auto">
          <a:xfrm>
            <a:off x="1823594" y="3885188"/>
            <a:ext cx="1512887" cy="3571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3650" name="AutoShape 18"/>
          <p:cNvSpPr>
            <a:spLocks/>
          </p:cNvSpPr>
          <p:nvPr/>
        </p:nvSpPr>
        <p:spPr bwMode="auto">
          <a:xfrm>
            <a:off x="4081019" y="3562432"/>
            <a:ext cx="1368425" cy="720725"/>
          </a:xfrm>
          <a:prstGeom prst="borderCallout2">
            <a:avLst>
              <a:gd name="adj1" fmla="val 15861"/>
              <a:gd name="adj2" fmla="val -5569"/>
              <a:gd name="adj3" fmla="val 15861"/>
              <a:gd name="adj4" fmla="val -37472"/>
              <a:gd name="adj5" fmla="val 55709"/>
              <a:gd name="adj6" fmla="val -5326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全局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)</a:t>
            </a:r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变量定义</a:t>
            </a:r>
            <a:endParaRPr lang="zh-CN" altLang="en-US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93651" name="Rectangle 19"/>
          <p:cNvSpPr>
            <a:spLocks noChangeArrowheads="1"/>
          </p:cNvSpPr>
          <p:nvPr/>
        </p:nvSpPr>
        <p:spPr bwMode="auto">
          <a:xfrm>
            <a:off x="1839469" y="4301113"/>
            <a:ext cx="1881187" cy="3571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3652" name="AutoShape 20"/>
          <p:cNvSpPr>
            <a:spLocks/>
          </p:cNvSpPr>
          <p:nvPr/>
        </p:nvSpPr>
        <p:spPr bwMode="auto">
          <a:xfrm>
            <a:off x="4082606" y="5053588"/>
            <a:ext cx="1368425" cy="720725"/>
          </a:xfrm>
          <a:prstGeom prst="borderCallout2">
            <a:avLst>
              <a:gd name="adj1" fmla="val 15861"/>
              <a:gd name="adj2" fmla="val -5569"/>
              <a:gd name="adj3" fmla="val 15861"/>
              <a:gd name="adj4" fmla="val -19606"/>
              <a:gd name="adj5" fmla="val -54407"/>
              <a:gd name="adj6" fmla="val -3747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静态全局变量定义</a:t>
            </a:r>
            <a:endParaRPr lang="zh-CN" altLang="en-US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93653" name="Rectangle 21"/>
          <p:cNvSpPr>
            <a:spLocks noChangeArrowheads="1"/>
          </p:cNvSpPr>
          <p:nvPr/>
        </p:nvSpPr>
        <p:spPr bwMode="auto">
          <a:xfrm>
            <a:off x="6745162" y="4297828"/>
            <a:ext cx="2087562" cy="35718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93657" name="Group 25"/>
          <p:cNvGrpSpPr>
            <a:grpSpLocks/>
          </p:cNvGrpSpPr>
          <p:nvPr/>
        </p:nvGrpSpPr>
        <p:grpSpPr bwMode="auto">
          <a:xfrm>
            <a:off x="8832304" y="3573065"/>
            <a:ext cx="1655763" cy="1008063"/>
            <a:chOff x="4422" y="2296"/>
            <a:chExt cx="1043" cy="635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093655" name="AutoShape 23"/>
            <p:cNvSpPr>
              <a:spLocks noChangeArrowheads="1"/>
            </p:cNvSpPr>
            <p:nvPr/>
          </p:nvSpPr>
          <p:spPr bwMode="auto">
            <a:xfrm>
              <a:off x="4558" y="2296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93656" name="Line 24"/>
            <p:cNvSpPr>
              <a:spLocks noChangeShapeType="1"/>
            </p:cNvSpPr>
            <p:nvPr/>
          </p:nvSpPr>
          <p:spPr bwMode="auto">
            <a:xfrm flipV="1">
              <a:off x="4422" y="2659"/>
              <a:ext cx="363" cy="27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93658" name="Group 26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93659" name="Text Box 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93660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3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3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3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3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936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93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10936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0936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0936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0936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10936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093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3637" grpId="0"/>
      <p:bldP spid="1093647" grpId="0" animBg="1"/>
      <p:bldP spid="1093648" grpId="0" animBg="1"/>
      <p:bldP spid="1093649" grpId="0" animBg="1"/>
      <p:bldP spid="1093650" grpId="0" animBg="1"/>
      <p:bldP spid="1093651" grpId="0" animBg="1"/>
      <p:bldP spid="1093652" grpId="0" animBg="1"/>
      <p:bldP spid="109365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0" name="Rectangle 2"/>
          <p:cNvSpPr>
            <a:spLocks noChangeArrowheads="1"/>
          </p:cNvSpPr>
          <p:nvPr/>
        </p:nvSpPr>
        <p:spPr bwMode="auto">
          <a:xfrm>
            <a:off x="750849" y="188913"/>
            <a:ext cx="540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、寄存器变量（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register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97735" name="Rectangle 7"/>
          <p:cNvSpPr>
            <a:spLocks noChangeArrowheads="1"/>
          </p:cNvSpPr>
          <p:nvPr/>
        </p:nvSpPr>
        <p:spPr bwMode="auto">
          <a:xfrm>
            <a:off x="534949" y="758736"/>
            <a:ext cx="111776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这种变量存放在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CPU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的寄存器中，使用时，不需要访问内存，而直接从寄存器中读写，这样可提高效率。</a:t>
            </a: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寄存器变量的说明符是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register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，属于动态存储类型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7739" name="Rectangle 11" descr="信纸"/>
          <p:cNvSpPr>
            <a:spLocks noChangeArrowheads="1"/>
          </p:cNvSpPr>
          <p:nvPr/>
        </p:nvSpPr>
        <p:spPr bwMode="auto">
          <a:xfrm>
            <a:off x="1308671" y="2254220"/>
            <a:ext cx="4859337" cy="3046988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register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 = 0;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for 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1;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&lt;= 100;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s = s +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("s = %d\n", s);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return 0;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097740" name="Rectangle 12"/>
          <p:cNvSpPr>
            <a:spLocks noChangeArrowheads="1"/>
          </p:cNvSpPr>
          <p:nvPr/>
        </p:nvSpPr>
        <p:spPr bwMode="auto">
          <a:xfrm>
            <a:off x="4765054" y="5004784"/>
            <a:ext cx="6947570" cy="156966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zh-CN" alt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几点说明：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  <a:p>
            <a:pPr marL="360363" indent="-360363">
              <a:buClr>
                <a:srgbClr val="FF0000"/>
              </a:buClr>
              <a:buFont typeface="Wingdings" pitchFamily="2" charset="2"/>
              <a:buChar char="u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只有局部自动变量和形式参数才可以定义为寄存器变量。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>
              <a:buClr>
                <a:srgbClr val="FF0000"/>
              </a:buClr>
              <a:buFont typeface="Wingdings" pitchFamily="2" charset="2"/>
              <a:buChar char="u"/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register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修饰符是过时的修饰。</a:t>
            </a:r>
          </a:p>
        </p:txBody>
      </p:sp>
      <p:grpSp>
        <p:nvGrpSpPr>
          <p:cNvPr id="1097741" name="Group 13"/>
          <p:cNvGrpSpPr>
            <a:grpSpLocks/>
          </p:cNvGrpSpPr>
          <p:nvPr/>
        </p:nvGrpSpPr>
        <p:grpSpPr bwMode="auto">
          <a:xfrm>
            <a:off x="-4802" y="0"/>
            <a:ext cx="446088" cy="6858000"/>
            <a:chOff x="0" y="0"/>
            <a:chExt cx="281" cy="4320"/>
          </a:xfrm>
        </p:grpSpPr>
        <p:sp>
          <p:nvSpPr>
            <p:cNvPr id="1097742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97743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7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7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7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7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97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97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0" grpId="0"/>
      <p:bldP spid="1097739" grpId="0" animBg="1"/>
      <p:bldP spid="109774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134" y="146050"/>
            <a:ext cx="5976938" cy="647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8.6 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函数的嵌套与递归调用</a:t>
            </a:r>
          </a:p>
        </p:txBody>
      </p:sp>
      <p:sp>
        <p:nvSpPr>
          <p:cNvPr id="1099807" name="Rectangle 31"/>
          <p:cNvSpPr>
            <a:spLocks noChangeArrowheads="1"/>
          </p:cNvSpPr>
          <p:nvPr/>
        </p:nvSpPr>
        <p:spPr bwMode="auto">
          <a:xfrm>
            <a:off x="1402734" y="1196975"/>
            <a:ext cx="424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规定：</a:t>
            </a:r>
            <a:r>
              <a:rPr lang="zh-CN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函数定义不可嵌套，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</a:t>
            </a:r>
          </a:p>
        </p:txBody>
      </p:sp>
      <p:sp>
        <p:nvSpPr>
          <p:cNvPr id="1099808" name="Rectangle 32"/>
          <p:cNvSpPr>
            <a:spLocks noChangeArrowheads="1"/>
          </p:cNvSpPr>
          <p:nvPr/>
        </p:nvSpPr>
        <p:spPr bwMode="auto">
          <a:xfrm>
            <a:off x="899497" y="722313"/>
            <a:ext cx="4824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、函数的嵌套调用</a:t>
            </a:r>
          </a:p>
        </p:txBody>
      </p:sp>
      <p:sp>
        <p:nvSpPr>
          <p:cNvPr id="1099809" name="Rectangle 33"/>
          <p:cNvSpPr>
            <a:spLocks noChangeArrowheads="1"/>
          </p:cNvSpPr>
          <p:nvPr/>
        </p:nvSpPr>
        <p:spPr bwMode="auto">
          <a:xfrm>
            <a:off x="5219084" y="1196975"/>
            <a:ext cx="294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但</a:t>
            </a:r>
            <a:r>
              <a:rPr lang="zh-CN" altLang="zh-CN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可以嵌套调用</a:t>
            </a:r>
            <a:r>
              <a:rPr lang="zh-CN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b="1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099813" name="Group 37"/>
          <p:cNvGrpSpPr>
            <a:grpSpLocks/>
          </p:cNvGrpSpPr>
          <p:nvPr/>
        </p:nvGrpSpPr>
        <p:grpSpPr bwMode="auto">
          <a:xfrm>
            <a:off x="2423492" y="1988840"/>
            <a:ext cx="7200900" cy="4346575"/>
            <a:chOff x="730" y="1362"/>
            <a:chExt cx="4536" cy="2738"/>
          </a:xfrm>
        </p:grpSpPr>
        <p:grpSp>
          <p:nvGrpSpPr>
            <p:cNvPr id="1099811" name="Group 35"/>
            <p:cNvGrpSpPr>
              <a:grpSpLocks/>
            </p:cNvGrpSpPr>
            <p:nvPr/>
          </p:nvGrpSpPr>
          <p:grpSpPr bwMode="auto">
            <a:xfrm>
              <a:off x="730" y="1362"/>
              <a:ext cx="4536" cy="2359"/>
              <a:chOff x="748" y="1389"/>
              <a:chExt cx="4536" cy="2359"/>
            </a:xfrm>
          </p:grpSpPr>
          <p:sp>
            <p:nvSpPr>
              <p:cNvPr id="1099810" name="Rectangle 34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4536" cy="2359"/>
              </a:xfrm>
              <a:prstGeom prst="rect">
                <a:avLst/>
              </a:prstGeom>
              <a:gradFill rotWithShape="1">
                <a:gsLst>
                  <a:gs pos="0">
                    <a:srgbClr val="00FFFF"/>
                  </a:gs>
                  <a:gs pos="100000">
                    <a:schemeClr val="bg1"/>
                  </a:gs>
                </a:gsLst>
                <a:lin ang="5400000" scaled="1"/>
              </a:gradFill>
              <a:ln w="38100">
                <a:solidFill>
                  <a:srgbClr val="FF00FF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99779" name="Group 3"/>
              <p:cNvGrpSpPr>
                <a:grpSpLocks/>
              </p:cNvGrpSpPr>
              <p:nvPr/>
            </p:nvGrpSpPr>
            <p:grpSpPr bwMode="auto">
              <a:xfrm>
                <a:off x="1145" y="1616"/>
                <a:ext cx="3627" cy="1900"/>
                <a:chOff x="1085" y="1528"/>
                <a:chExt cx="3041" cy="1580"/>
              </a:xfrm>
            </p:grpSpPr>
            <p:sp>
              <p:nvSpPr>
                <p:cNvPr id="1099780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139" y="1528"/>
                  <a:ext cx="510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main( )</a:t>
                  </a:r>
                </a:p>
              </p:txBody>
            </p:sp>
            <p:sp>
              <p:nvSpPr>
                <p:cNvPr id="109978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085" y="2180"/>
                  <a:ext cx="711" cy="2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zh-CN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调用函数</a:t>
                  </a:r>
                  <a:r>
                    <a:rPr lang="en-US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a</a:t>
                  </a:r>
                </a:p>
              </p:txBody>
            </p:sp>
            <p:sp>
              <p:nvSpPr>
                <p:cNvPr id="109978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139" y="2900"/>
                  <a:ext cx="368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结束</a:t>
                  </a:r>
                  <a:endPara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109978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483" y="1556"/>
                  <a:ext cx="439" cy="2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FF3399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+mn-lt"/>
                      <a:ea typeface="楷体" pitchFamily="49" charset="-122"/>
                    </a:rPr>
                    <a:t>a</a:t>
                  </a:r>
                  <a:r>
                    <a:rPr lang="zh-CN" altLang="zh-CN" sz="2000" b="1">
                      <a:solidFill>
                        <a:srgbClr val="FF3399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+mn-lt"/>
                      <a:ea typeface="楷体" pitchFamily="49" charset="-122"/>
                    </a:rPr>
                    <a:t>函数</a:t>
                  </a:r>
                  <a:endParaRPr lang="zh-CN" altLang="en-US" sz="2000" b="1">
                    <a:solidFill>
                      <a:srgbClr val="FF33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109978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637" y="1557"/>
                  <a:ext cx="442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FF3399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+mn-lt"/>
                      <a:ea typeface="楷体" pitchFamily="49" charset="-122"/>
                    </a:rPr>
                    <a:t>b</a:t>
                  </a:r>
                  <a:r>
                    <a:rPr lang="zh-CN" altLang="zh-CN" sz="2000" b="1">
                      <a:solidFill>
                        <a:srgbClr val="FF3399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+mn-lt"/>
                      <a:ea typeface="楷体" pitchFamily="49" charset="-122"/>
                    </a:rPr>
                    <a:t>函数</a:t>
                  </a:r>
                  <a:endParaRPr lang="zh-CN" altLang="en-US" sz="2000" b="1">
                    <a:solidFill>
                      <a:srgbClr val="FF33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109978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18" y="2229"/>
                  <a:ext cx="712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调用函数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b</a:t>
                  </a:r>
                </a:p>
              </p:txBody>
            </p:sp>
            <p:sp>
              <p:nvSpPr>
                <p:cNvPr id="1099786" name="Line 10"/>
                <p:cNvSpPr>
                  <a:spLocks noChangeShapeType="1"/>
                </p:cNvSpPr>
                <p:nvPr/>
              </p:nvSpPr>
              <p:spPr bwMode="auto">
                <a:xfrm>
                  <a:off x="1344" y="1728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87" name="Line 11"/>
                <p:cNvSpPr>
                  <a:spLocks noChangeShapeType="1"/>
                </p:cNvSpPr>
                <p:nvPr/>
              </p:nvSpPr>
              <p:spPr bwMode="auto">
                <a:xfrm>
                  <a:off x="1344" y="2400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8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872" y="1776"/>
                  <a:ext cx="720" cy="52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89" name="Line 13"/>
                <p:cNvSpPr>
                  <a:spLocks noChangeShapeType="1"/>
                </p:cNvSpPr>
                <p:nvPr/>
              </p:nvSpPr>
              <p:spPr bwMode="auto">
                <a:xfrm>
                  <a:off x="2592" y="1872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0" name="Line 14"/>
                <p:cNvSpPr>
                  <a:spLocks noChangeShapeType="1"/>
                </p:cNvSpPr>
                <p:nvPr/>
              </p:nvSpPr>
              <p:spPr bwMode="auto">
                <a:xfrm>
                  <a:off x="2592" y="2448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1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1824" y="2400"/>
                  <a:ext cx="720" cy="57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072" y="1776"/>
                  <a:ext cx="768" cy="57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3" name="Line 17"/>
                <p:cNvSpPr>
                  <a:spLocks noChangeShapeType="1"/>
                </p:cNvSpPr>
                <p:nvPr/>
              </p:nvSpPr>
              <p:spPr bwMode="auto">
                <a:xfrm>
                  <a:off x="3840" y="1872"/>
                  <a:ext cx="0" cy="115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4" name="Line 18"/>
                <p:cNvSpPr>
                  <a:spLocks noChangeShapeType="1"/>
                </p:cNvSpPr>
                <p:nvPr/>
              </p:nvSpPr>
              <p:spPr bwMode="auto">
                <a:xfrm flipH="1" flipV="1">
                  <a:off x="3024" y="2400"/>
                  <a:ext cx="768" cy="57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89" y="1893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</a:t>
                  </a:r>
                </a:p>
              </p:txBody>
            </p:sp>
            <p:sp>
              <p:nvSpPr>
                <p:cNvPr id="109979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125" y="1845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</a:t>
                  </a:r>
                </a:p>
              </p:txBody>
            </p:sp>
            <p:sp>
              <p:nvSpPr>
                <p:cNvPr id="109979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613" y="1940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</a:t>
                  </a:r>
                </a:p>
              </p:txBody>
            </p:sp>
            <p:sp>
              <p:nvSpPr>
                <p:cNvPr id="109979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237" y="1940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</a:t>
                  </a:r>
                </a:p>
              </p:txBody>
            </p:sp>
            <p:sp>
              <p:nvSpPr>
                <p:cNvPr id="109979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909" y="2181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</a:t>
                  </a:r>
                </a:p>
              </p:txBody>
            </p:sp>
            <p:sp>
              <p:nvSpPr>
                <p:cNvPr id="109980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333" y="2709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</a:t>
                  </a:r>
                </a:p>
              </p:txBody>
            </p:sp>
            <p:sp>
              <p:nvSpPr>
                <p:cNvPr id="109980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613" y="2565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</a:t>
                  </a:r>
                </a:p>
              </p:txBody>
            </p:sp>
            <p:sp>
              <p:nvSpPr>
                <p:cNvPr id="109980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989" y="2613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</a:t>
                  </a:r>
                </a:p>
              </p:txBody>
            </p:sp>
            <p:sp>
              <p:nvSpPr>
                <p:cNvPr id="1099803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25" y="2517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sym typeface="Wingdings" pitchFamily="2" charset="2"/>
                    </a:rPr>
                    <a:t></a:t>
                  </a:r>
                </a:p>
              </p:txBody>
            </p:sp>
          </p:grpSp>
        </p:grpSp>
        <p:sp>
          <p:nvSpPr>
            <p:cNvPr id="1099812" name="Text Box 36"/>
            <p:cNvSpPr txBox="1">
              <a:spLocks noChangeArrowheads="1"/>
            </p:cNvSpPr>
            <p:nvPr/>
          </p:nvSpPr>
          <p:spPr bwMode="auto">
            <a:xfrm>
              <a:off x="1601" y="3812"/>
              <a:ext cx="30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——</a:t>
              </a:r>
              <a:r>
                <a:rPr lang="zh-CN" altLang="en-US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itchFamily="49" charset="-122"/>
                </a:rPr>
                <a:t>函数嵌套调用的示意图</a:t>
              </a:r>
              <a:r>
                <a:rPr lang="zh-CN" altLang="en-US"/>
                <a:t> </a:t>
              </a:r>
            </a:p>
          </p:txBody>
        </p:sp>
      </p:grpSp>
      <p:grpSp>
        <p:nvGrpSpPr>
          <p:cNvPr id="1099814" name="Group 38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099815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099816" name="Text Box 4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9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9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99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99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099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9778" grpId="0" build="p" bldLvl="5" autoUpdateAnimBg="0"/>
      <p:bldP spid="1099807" grpId="0"/>
      <p:bldP spid="1099808" grpId="0"/>
      <p:bldP spid="109980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59" name="Rectangle 59"/>
          <p:cNvSpPr>
            <a:spLocks noChangeArrowheads="1"/>
          </p:cNvSpPr>
          <p:nvPr/>
        </p:nvSpPr>
        <p:spPr bwMode="auto">
          <a:xfrm>
            <a:off x="2136973" y="980729"/>
            <a:ext cx="7991475" cy="5400675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0802" name="Rectangle 2"/>
          <p:cNvSpPr>
            <a:spLocks noChangeArrowheads="1"/>
          </p:cNvSpPr>
          <p:nvPr/>
        </p:nvSpPr>
        <p:spPr bwMode="auto">
          <a:xfrm>
            <a:off x="610572" y="260351"/>
            <a:ext cx="3167062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zh-CN" altLang="en-US" sz="32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过程的嵌套调用</a:t>
            </a:r>
          </a:p>
        </p:txBody>
      </p:sp>
      <p:grpSp>
        <p:nvGrpSpPr>
          <p:cNvPr id="1100803" name="Group 3"/>
          <p:cNvGrpSpPr>
            <a:grpSpLocks/>
          </p:cNvGrpSpPr>
          <p:nvPr/>
        </p:nvGrpSpPr>
        <p:grpSpPr bwMode="auto">
          <a:xfrm>
            <a:off x="3214884" y="2565053"/>
            <a:ext cx="1905000" cy="762000"/>
            <a:chOff x="912" y="1632"/>
            <a:chExt cx="1200" cy="480"/>
          </a:xfrm>
        </p:grpSpPr>
        <p:sp>
          <p:nvSpPr>
            <p:cNvPr id="1100804" name="Line 4"/>
            <p:cNvSpPr>
              <a:spLocks noChangeShapeType="1"/>
            </p:cNvSpPr>
            <p:nvPr/>
          </p:nvSpPr>
          <p:spPr bwMode="auto">
            <a:xfrm>
              <a:off x="2112" y="1632"/>
              <a:ext cx="0" cy="48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05" name="AutoShape 5"/>
            <p:cNvCxnSpPr>
              <a:cxnSpLocks noChangeShapeType="1"/>
              <a:stCxn id="1100819" idx="1"/>
              <a:endCxn id="1100804" idx="0"/>
            </p:cNvCxnSpPr>
            <p:nvPr/>
          </p:nvCxnSpPr>
          <p:spPr bwMode="auto">
            <a:xfrm flipV="1">
              <a:off x="912" y="1632"/>
              <a:ext cx="1200" cy="48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06" name="Group 6"/>
          <p:cNvGrpSpPr>
            <a:grpSpLocks/>
          </p:cNvGrpSpPr>
          <p:nvPr/>
        </p:nvGrpSpPr>
        <p:grpSpPr bwMode="auto">
          <a:xfrm>
            <a:off x="5191322" y="2565053"/>
            <a:ext cx="1909763" cy="762000"/>
            <a:chOff x="2157" y="1632"/>
            <a:chExt cx="1203" cy="480"/>
          </a:xfrm>
        </p:grpSpPr>
        <p:sp>
          <p:nvSpPr>
            <p:cNvPr id="1100807" name="Line 7"/>
            <p:cNvSpPr>
              <a:spLocks noChangeShapeType="1"/>
            </p:cNvSpPr>
            <p:nvPr/>
          </p:nvSpPr>
          <p:spPr bwMode="auto">
            <a:xfrm>
              <a:off x="3360" y="1632"/>
              <a:ext cx="0" cy="48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08" name="AutoShape 8"/>
            <p:cNvCxnSpPr>
              <a:cxnSpLocks noChangeShapeType="1"/>
              <a:stCxn id="1100804" idx="1"/>
              <a:endCxn id="1100807" idx="0"/>
            </p:cNvCxnSpPr>
            <p:nvPr/>
          </p:nvCxnSpPr>
          <p:spPr bwMode="auto">
            <a:xfrm flipV="1">
              <a:off x="2157" y="1632"/>
              <a:ext cx="1203" cy="48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09" name="Group 9"/>
          <p:cNvGrpSpPr>
            <a:grpSpLocks/>
          </p:cNvGrpSpPr>
          <p:nvPr/>
        </p:nvGrpSpPr>
        <p:grpSpPr bwMode="auto">
          <a:xfrm>
            <a:off x="7101084" y="2793653"/>
            <a:ext cx="2057400" cy="1752600"/>
            <a:chOff x="3360" y="1776"/>
            <a:chExt cx="1296" cy="1104"/>
          </a:xfrm>
        </p:grpSpPr>
        <p:sp>
          <p:nvSpPr>
            <p:cNvPr id="1100810" name="Line 10"/>
            <p:cNvSpPr>
              <a:spLocks noChangeShapeType="1"/>
            </p:cNvSpPr>
            <p:nvPr/>
          </p:nvSpPr>
          <p:spPr bwMode="auto">
            <a:xfrm>
              <a:off x="4656" y="1776"/>
              <a:ext cx="0" cy="11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11" name="AutoShape 11"/>
            <p:cNvCxnSpPr>
              <a:cxnSpLocks noChangeShapeType="1"/>
              <a:stCxn id="1100807" idx="1"/>
              <a:endCxn id="1100810" idx="0"/>
            </p:cNvCxnSpPr>
            <p:nvPr/>
          </p:nvCxnSpPr>
          <p:spPr bwMode="auto">
            <a:xfrm flipV="1">
              <a:off x="3405" y="1776"/>
              <a:ext cx="1251" cy="336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</p:cxnSp>
        <p:cxnSp>
          <p:nvCxnSpPr>
            <p:cNvPr id="1100812" name="AutoShape 12"/>
            <p:cNvCxnSpPr>
              <a:cxnSpLocks noChangeShapeType="1"/>
              <a:stCxn id="1100810" idx="1"/>
              <a:endCxn id="1100814" idx="0"/>
            </p:cNvCxnSpPr>
            <p:nvPr/>
          </p:nvCxnSpPr>
          <p:spPr bwMode="auto">
            <a:xfrm flipH="1" flipV="1">
              <a:off x="3360" y="2544"/>
              <a:ext cx="1296" cy="336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13" name="Group 13"/>
          <p:cNvGrpSpPr>
            <a:grpSpLocks/>
          </p:cNvGrpSpPr>
          <p:nvPr/>
        </p:nvGrpSpPr>
        <p:grpSpPr bwMode="auto">
          <a:xfrm>
            <a:off x="5119884" y="4012853"/>
            <a:ext cx="1981200" cy="762000"/>
            <a:chOff x="2112" y="2544"/>
            <a:chExt cx="1248" cy="480"/>
          </a:xfrm>
        </p:grpSpPr>
        <p:sp>
          <p:nvSpPr>
            <p:cNvPr id="1100814" name="Line 14"/>
            <p:cNvSpPr>
              <a:spLocks noChangeShapeType="1"/>
            </p:cNvSpPr>
            <p:nvPr/>
          </p:nvSpPr>
          <p:spPr bwMode="auto">
            <a:xfrm>
              <a:off x="3360" y="2544"/>
              <a:ext cx="0" cy="48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15" name="AutoShape 15"/>
            <p:cNvCxnSpPr>
              <a:cxnSpLocks noChangeShapeType="1"/>
              <a:stCxn id="1100814" idx="1"/>
              <a:endCxn id="1100817" idx="0"/>
            </p:cNvCxnSpPr>
            <p:nvPr/>
          </p:nvCxnSpPr>
          <p:spPr bwMode="auto">
            <a:xfrm flipH="1" flipV="1">
              <a:off x="2112" y="2544"/>
              <a:ext cx="1248" cy="48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16" name="Group 16"/>
          <p:cNvGrpSpPr>
            <a:grpSpLocks/>
          </p:cNvGrpSpPr>
          <p:nvPr/>
        </p:nvGrpSpPr>
        <p:grpSpPr bwMode="auto">
          <a:xfrm>
            <a:off x="3214884" y="4012853"/>
            <a:ext cx="1905000" cy="762000"/>
            <a:chOff x="912" y="2544"/>
            <a:chExt cx="1200" cy="480"/>
          </a:xfrm>
        </p:grpSpPr>
        <p:sp>
          <p:nvSpPr>
            <p:cNvPr id="1100817" name="Line 17"/>
            <p:cNvSpPr>
              <a:spLocks noChangeShapeType="1"/>
            </p:cNvSpPr>
            <p:nvPr/>
          </p:nvSpPr>
          <p:spPr bwMode="auto">
            <a:xfrm>
              <a:off x="2112" y="2544"/>
              <a:ext cx="0" cy="48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18" name="AutoShape 18"/>
            <p:cNvCxnSpPr>
              <a:cxnSpLocks noChangeShapeType="1"/>
              <a:stCxn id="1100817" idx="1"/>
              <a:endCxn id="1100833" idx="0"/>
            </p:cNvCxnSpPr>
            <p:nvPr/>
          </p:nvCxnSpPr>
          <p:spPr bwMode="auto">
            <a:xfrm flipH="1" flipV="1">
              <a:off x="912" y="2544"/>
              <a:ext cx="1200" cy="48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</p:cxnSp>
      </p:grpSp>
      <p:sp>
        <p:nvSpPr>
          <p:cNvPr id="1100819" name="Line 19"/>
          <p:cNvSpPr>
            <a:spLocks noChangeShapeType="1"/>
          </p:cNvSpPr>
          <p:nvPr/>
        </p:nvSpPr>
        <p:spPr bwMode="auto">
          <a:xfrm>
            <a:off x="3214884" y="2565053"/>
            <a:ext cx="0" cy="7620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100820" name="Group 20"/>
          <p:cNvGrpSpPr>
            <a:grpSpLocks/>
          </p:cNvGrpSpPr>
          <p:nvPr/>
        </p:nvGrpSpPr>
        <p:grpSpPr bwMode="auto">
          <a:xfrm>
            <a:off x="2778323" y="2064990"/>
            <a:ext cx="930275" cy="1219200"/>
            <a:chOff x="1152" y="1488"/>
            <a:chExt cx="586" cy="768"/>
          </a:xfrm>
        </p:grpSpPr>
        <p:sp>
          <p:nvSpPr>
            <p:cNvPr id="1100821" name="Text Box 21"/>
            <p:cNvSpPr txBox="1">
              <a:spLocks noChangeArrowheads="1"/>
            </p:cNvSpPr>
            <p:nvPr/>
          </p:nvSpPr>
          <p:spPr bwMode="auto">
            <a:xfrm>
              <a:off x="1152" y="1968"/>
              <a:ext cx="1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/>
                <a:t>r</a:t>
              </a:r>
            </a:p>
          </p:txBody>
        </p:sp>
        <p:sp>
          <p:nvSpPr>
            <p:cNvPr id="1100822" name="Text Box 22"/>
            <p:cNvSpPr txBox="1">
              <a:spLocks noChangeArrowheads="1"/>
            </p:cNvSpPr>
            <p:nvPr/>
          </p:nvSpPr>
          <p:spPr bwMode="auto">
            <a:xfrm>
              <a:off x="1389" y="1488"/>
              <a:ext cx="349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主程序</a:t>
              </a:r>
            </a:p>
          </p:txBody>
        </p:sp>
      </p:grpSp>
      <p:grpSp>
        <p:nvGrpSpPr>
          <p:cNvPr id="1100823" name="Group 23"/>
          <p:cNvGrpSpPr>
            <a:grpSpLocks/>
          </p:cNvGrpSpPr>
          <p:nvPr/>
        </p:nvGrpSpPr>
        <p:grpSpPr bwMode="auto">
          <a:xfrm>
            <a:off x="6567684" y="4927253"/>
            <a:ext cx="457200" cy="1143000"/>
            <a:chOff x="3504" y="3216"/>
            <a:chExt cx="288" cy="720"/>
          </a:xfrm>
        </p:grpSpPr>
        <p:sp>
          <p:nvSpPr>
            <p:cNvPr id="1100824" name="Rectangle 24"/>
            <p:cNvSpPr>
              <a:spLocks noChangeArrowheads="1"/>
            </p:cNvSpPr>
            <p:nvPr/>
          </p:nvSpPr>
          <p:spPr bwMode="auto">
            <a:xfrm>
              <a:off x="3504" y="3552"/>
              <a:ext cx="288" cy="192"/>
            </a:xfrm>
            <a:prstGeom prst="rect">
              <a:avLst/>
            </a:prstGeom>
            <a:solidFill>
              <a:srgbClr val="FF9933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b="1"/>
                <a:t>s</a:t>
              </a:r>
            </a:p>
          </p:txBody>
        </p:sp>
        <p:sp>
          <p:nvSpPr>
            <p:cNvPr id="1100825" name="Line 25"/>
            <p:cNvSpPr>
              <a:spLocks noChangeShapeType="1"/>
            </p:cNvSpPr>
            <p:nvPr/>
          </p:nvSpPr>
          <p:spPr bwMode="auto">
            <a:xfrm flipV="1">
              <a:off x="3792" y="3216"/>
              <a:ext cx="0" cy="72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26" name="Line 26"/>
            <p:cNvSpPr>
              <a:spLocks noChangeShapeType="1"/>
            </p:cNvSpPr>
            <p:nvPr/>
          </p:nvSpPr>
          <p:spPr bwMode="auto">
            <a:xfrm flipV="1">
              <a:off x="3504" y="3216"/>
              <a:ext cx="0" cy="72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27" name="Rectangle 27"/>
            <p:cNvSpPr>
              <a:spLocks noChangeArrowheads="1"/>
            </p:cNvSpPr>
            <p:nvPr/>
          </p:nvSpPr>
          <p:spPr bwMode="auto">
            <a:xfrm>
              <a:off x="3504" y="3744"/>
              <a:ext cx="288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b="1"/>
                <a:t>r</a:t>
              </a:r>
            </a:p>
          </p:txBody>
        </p:sp>
      </p:grpSp>
      <p:grpSp>
        <p:nvGrpSpPr>
          <p:cNvPr id="1100828" name="Group 28"/>
          <p:cNvGrpSpPr>
            <a:grpSpLocks/>
          </p:cNvGrpSpPr>
          <p:nvPr/>
        </p:nvGrpSpPr>
        <p:grpSpPr bwMode="auto">
          <a:xfrm>
            <a:off x="4510284" y="4851053"/>
            <a:ext cx="457200" cy="1143000"/>
            <a:chOff x="3744" y="2544"/>
            <a:chExt cx="288" cy="720"/>
          </a:xfrm>
        </p:grpSpPr>
        <p:sp>
          <p:nvSpPr>
            <p:cNvPr id="1100829" name="Line 29"/>
            <p:cNvSpPr>
              <a:spLocks noChangeShapeType="1"/>
            </p:cNvSpPr>
            <p:nvPr/>
          </p:nvSpPr>
          <p:spPr bwMode="auto">
            <a:xfrm flipV="1">
              <a:off x="3744" y="2544"/>
              <a:ext cx="0" cy="72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30" name="Line 30"/>
            <p:cNvSpPr>
              <a:spLocks noChangeShapeType="1"/>
            </p:cNvSpPr>
            <p:nvPr/>
          </p:nvSpPr>
          <p:spPr bwMode="auto">
            <a:xfrm flipV="1">
              <a:off x="4032" y="2544"/>
              <a:ext cx="0" cy="72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31" name="Rectangle 31"/>
            <p:cNvSpPr>
              <a:spLocks noChangeArrowheads="1"/>
            </p:cNvSpPr>
            <p:nvPr/>
          </p:nvSpPr>
          <p:spPr bwMode="auto">
            <a:xfrm>
              <a:off x="3744" y="3072"/>
              <a:ext cx="288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b="1"/>
                <a:t>r</a:t>
              </a:r>
            </a:p>
          </p:txBody>
        </p:sp>
      </p:grpSp>
      <p:grpSp>
        <p:nvGrpSpPr>
          <p:cNvPr id="1100832" name="Group 32"/>
          <p:cNvGrpSpPr>
            <a:grpSpLocks/>
          </p:cNvGrpSpPr>
          <p:nvPr/>
        </p:nvGrpSpPr>
        <p:grpSpPr bwMode="auto">
          <a:xfrm>
            <a:off x="2529084" y="4012853"/>
            <a:ext cx="685800" cy="1143000"/>
            <a:chOff x="960" y="2640"/>
            <a:chExt cx="432" cy="720"/>
          </a:xfrm>
        </p:grpSpPr>
        <p:sp>
          <p:nvSpPr>
            <p:cNvPr id="1100833" name="Line 33"/>
            <p:cNvSpPr>
              <a:spLocks noChangeShapeType="1"/>
            </p:cNvSpPr>
            <p:nvPr/>
          </p:nvSpPr>
          <p:spPr bwMode="auto">
            <a:xfrm>
              <a:off x="1392" y="2640"/>
              <a:ext cx="0" cy="48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0834" name="Group 34"/>
            <p:cNvGrpSpPr>
              <a:grpSpLocks/>
            </p:cNvGrpSpPr>
            <p:nvPr/>
          </p:nvGrpSpPr>
          <p:grpSpPr bwMode="auto">
            <a:xfrm>
              <a:off x="960" y="2640"/>
              <a:ext cx="288" cy="720"/>
              <a:chOff x="2784" y="3408"/>
              <a:chExt cx="288" cy="720"/>
            </a:xfrm>
          </p:grpSpPr>
          <p:sp>
            <p:nvSpPr>
              <p:cNvPr id="1100835" name="Line 35"/>
              <p:cNvSpPr>
                <a:spLocks noChangeShapeType="1"/>
              </p:cNvSpPr>
              <p:nvPr/>
            </p:nvSpPr>
            <p:spPr bwMode="auto">
              <a:xfrm flipV="1">
                <a:off x="2784" y="3408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0836" name="Line 36"/>
              <p:cNvSpPr>
                <a:spLocks noChangeShapeType="1"/>
              </p:cNvSpPr>
              <p:nvPr/>
            </p:nvSpPr>
            <p:spPr bwMode="auto">
              <a:xfrm flipV="1">
                <a:off x="3072" y="3408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100837" name="AutoShape 37"/>
              <p:cNvCxnSpPr>
                <a:cxnSpLocks noChangeShapeType="1"/>
                <a:stCxn id="1100835" idx="0"/>
                <a:endCxn id="1100836" idx="0"/>
              </p:cNvCxnSpPr>
              <p:nvPr/>
            </p:nvCxnSpPr>
            <p:spPr bwMode="auto">
              <a:xfrm>
                <a:off x="2784" y="4128"/>
                <a:ext cx="288" cy="0"/>
              </a:xfrm>
              <a:prstGeom prst="straightConnector1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</p:cxnSp>
        </p:grpSp>
      </p:grpSp>
      <p:grpSp>
        <p:nvGrpSpPr>
          <p:cNvPr id="1100838" name="Group 38"/>
          <p:cNvGrpSpPr>
            <a:grpSpLocks/>
          </p:cNvGrpSpPr>
          <p:nvPr/>
        </p:nvGrpSpPr>
        <p:grpSpPr bwMode="auto">
          <a:xfrm>
            <a:off x="4510284" y="1345853"/>
            <a:ext cx="1098550" cy="2133600"/>
            <a:chOff x="2208" y="960"/>
            <a:chExt cx="692" cy="1344"/>
          </a:xfrm>
        </p:grpSpPr>
        <p:grpSp>
          <p:nvGrpSpPr>
            <p:cNvPr id="1100839" name="Group 39"/>
            <p:cNvGrpSpPr>
              <a:grpSpLocks/>
            </p:cNvGrpSpPr>
            <p:nvPr/>
          </p:nvGrpSpPr>
          <p:grpSpPr bwMode="auto">
            <a:xfrm>
              <a:off x="2256" y="960"/>
              <a:ext cx="288" cy="720"/>
              <a:chOff x="912" y="2976"/>
              <a:chExt cx="288" cy="720"/>
            </a:xfrm>
          </p:grpSpPr>
          <p:sp>
            <p:nvSpPr>
              <p:cNvPr id="1100840" name="Rectangle 40"/>
              <p:cNvSpPr>
                <a:spLocks noChangeArrowheads="1"/>
              </p:cNvSpPr>
              <p:nvPr/>
            </p:nvSpPr>
            <p:spPr bwMode="auto">
              <a:xfrm>
                <a:off x="912" y="3504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rgbClr val="FF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/>
                  <a:t>r</a:t>
                </a:r>
              </a:p>
            </p:txBody>
          </p:sp>
          <p:sp>
            <p:nvSpPr>
              <p:cNvPr id="1100841" name="Line 41"/>
              <p:cNvSpPr>
                <a:spLocks noChangeShapeType="1"/>
              </p:cNvSpPr>
              <p:nvPr/>
            </p:nvSpPr>
            <p:spPr bwMode="auto">
              <a:xfrm flipV="1">
                <a:off x="1200" y="2976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0842" name="Line 42"/>
              <p:cNvSpPr>
                <a:spLocks noChangeShapeType="1"/>
              </p:cNvSpPr>
              <p:nvPr/>
            </p:nvSpPr>
            <p:spPr bwMode="auto">
              <a:xfrm flipV="1">
                <a:off x="912" y="2976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00843" name="Text Box 43" descr="花岗岩"/>
            <p:cNvSpPr txBox="1">
              <a:spLocks noChangeArrowheads="1"/>
            </p:cNvSpPr>
            <p:nvPr/>
          </p:nvSpPr>
          <p:spPr bwMode="auto">
            <a:xfrm>
              <a:off x="2208" y="2016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/>
                <a:t>s</a:t>
              </a:r>
            </a:p>
          </p:txBody>
        </p:sp>
        <p:sp>
          <p:nvSpPr>
            <p:cNvPr id="1100844" name="Text Box 44" descr="花岗岩"/>
            <p:cNvSpPr txBox="1">
              <a:spLocks noChangeArrowheads="1"/>
            </p:cNvSpPr>
            <p:nvPr/>
          </p:nvSpPr>
          <p:spPr bwMode="auto">
            <a:xfrm>
              <a:off x="2551" y="960"/>
              <a:ext cx="349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子过程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1</a:t>
              </a:r>
            </a:p>
          </p:txBody>
        </p:sp>
      </p:grpSp>
      <p:grpSp>
        <p:nvGrpSpPr>
          <p:cNvPr id="1100845" name="Group 45"/>
          <p:cNvGrpSpPr>
            <a:grpSpLocks/>
          </p:cNvGrpSpPr>
          <p:nvPr/>
        </p:nvGrpSpPr>
        <p:grpSpPr bwMode="auto">
          <a:xfrm>
            <a:off x="6567684" y="1269653"/>
            <a:ext cx="1098550" cy="2209800"/>
            <a:chOff x="3504" y="912"/>
            <a:chExt cx="692" cy="1392"/>
          </a:xfrm>
        </p:grpSpPr>
        <p:sp>
          <p:nvSpPr>
            <p:cNvPr id="1100846" name="Rectangle 46"/>
            <p:cNvSpPr>
              <a:spLocks noChangeArrowheads="1"/>
            </p:cNvSpPr>
            <p:nvPr/>
          </p:nvSpPr>
          <p:spPr bwMode="auto">
            <a:xfrm>
              <a:off x="3504" y="1488"/>
              <a:ext cx="288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r</a:t>
              </a:r>
            </a:p>
          </p:txBody>
        </p:sp>
        <p:sp>
          <p:nvSpPr>
            <p:cNvPr id="1100847" name="Rectangle 47"/>
            <p:cNvSpPr>
              <a:spLocks noChangeArrowheads="1"/>
            </p:cNvSpPr>
            <p:nvPr/>
          </p:nvSpPr>
          <p:spPr bwMode="auto">
            <a:xfrm>
              <a:off x="3504" y="1296"/>
              <a:ext cx="288" cy="192"/>
            </a:xfrm>
            <a:prstGeom prst="rect">
              <a:avLst/>
            </a:prstGeom>
            <a:solidFill>
              <a:srgbClr val="FF9933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s</a:t>
              </a:r>
            </a:p>
          </p:txBody>
        </p:sp>
        <p:sp>
          <p:nvSpPr>
            <p:cNvPr id="1100848" name="Line 48"/>
            <p:cNvSpPr>
              <a:spLocks noChangeShapeType="1"/>
            </p:cNvSpPr>
            <p:nvPr/>
          </p:nvSpPr>
          <p:spPr bwMode="auto">
            <a:xfrm flipV="1">
              <a:off x="3504" y="960"/>
              <a:ext cx="0" cy="336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49" name="Line 49"/>
            <p:cNvSpPr>
              <a:spLocks noChangeShapeType="1"/>
            </p:cNvSpPr>
            <p:nvPr/>
          </p:nvSpPr>
          <p:spPr bwMode="auto">
            <a:xfrm flipV="1">
              <a:off x="3792" y="960"/>
              <a:ext cx="0" cy="336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50" name="Text Box 50" descr="花岗岩"/>
            <p:cNvSpPr txBox="1">
              <a:spLocks noChangeArrowheads="1"/>
            </p:cNvSpPr>
            <p:nvPr/>
          </p:nvSpPr>
          <p:spPr bwMode="auto">
            <a:xfrm>
              <a:off x="3504" y="201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/>
                <a:t>t</a:t>
              </a:r>
            </a:p>
          </p:txBody>
        </p:sp>
        <p:sp>
          <p:nvSpPr>
            <p:cNvPr id="1100851" name="Text Box 51" descr="花岗岩"/>
            <p:cNvSpPr txBox="1">
              <a:spLocks noChangeArrowheads="1"/>
            </p:cNvSpPr>
            <p:nvPr/>
          </p:nvSpPr>
          <p:spPr bwMode="auto">
            <a:xfrm>
              <a:off x="3847" y="912"/>
              <a:ext cx="349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子过程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2</a:t>
              </a:r>
            </a:p>
          </p:txBody>
        </p:sp>
      </p:grpSp>
      <p:grpSp>
        <p:nvGrpSpPr>
          <p:cNvPr id="1100852" name="Group 52"/>
          <p:cNvGrpSpPr>
            <a:grpSpLocks/>
          </p:cNvGrpSpPr>
          <p:nvPr/>
        </p:nvGrpSpPr>
        <p:grpSpPr bwMode="auto">
          <a:xfrm>
            <a:off x="8625084" y="1498253"/>
            <a:ext cx="1098550" cy="1371600"/>
            <a:chOff x="4800" y="1056"/>
            <a:chExt cx="692" cy="864"/>
          </a:xfrm>
        </p:grpSpPr>
        <p:sp>
          <p:nvSpPr>
            <p:cNvPr id="1100853" name="Line 53"/>
            <p:cNvSpPr>
              <a:spLocks noChangeShapeType="1"/>
            </p:cNvSpPr>
            <p:nvPr/>
          </p:nvSpPr>
          <p:spPr bwMode="auto">
            <a:xfrm flipV="1">
              <a:off x="4800" y="1104"/>
              <a:ext cx="0" cy="72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54" name="Line 54"/>
            <p:cNvSpPr>
              <a:spLocks noChangeShapeType="1"/>
            </p:cNvSpPr>
            <p:nvPr/>
          </p:nvSpPr>
          <p:spPr bwMode="auto">
            <a:xfrm flipV="1">
              <a:off x="5088" y="1104"/>
              <a:ext cx="0" cy="72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55" name="Rectangle 55"/>
            <p:cNvSpPr>
              <a:spLocks noChangeArrowheads="1"/>
            </p:cNvSpPr>
            <p:nvPr/>
          </p:nvSpPr>
          <p:spPr bwMode="auto">
            <a:xfrm>
              <a:off x="4800" y="1632"/>
              <a:ext cx="288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r</a:t>
              </a:r>
            </a:p>
          </p:txBody>
        </p:sp>
        <p:sp>
          <p:nvSpPr>
            <p:cNvPr id="1100856" name="Rectangle 56"/>
            <p:cNvSpPr>
              <a:spLocks noChangeArrowheads="1"/>
            </p:cNvSpPr>
            <p:nvPr/>
          </p:nvSpPr>
          <p:spPr bwMode="auto">
            <a:xfrm>
              <a:off x="4800" y="1440"/>
              <a:ext cx="288" cy="192"/>
            </a:xfrm>
            <a:prstGeom prst="rect">
              <a:avLst/>
            </a:prstGeom>
            <a:solidFill>
              <a:srgbClr val="FF9933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s</a:t>
              </a:r>
            </a:p>
          </p:txBody>
        </p:sp>
        <p:sp>
          <p:nvSpPr>
            <p:cNvPr id="1100857" name="Rectangle 57"/>
            <p:cNvSpPr>
              <a:spLocks noChangeArrowheads="1"/>
            </p:cNvSpPr>
            <p:nvPr/>
          </p:nvSpPr>
          <p:spPr bwMode="auto">
            <a:xfrm>
              <a:off x="4800" y="1248"/>
              <a:ext cx="288" cy="192"/>
            </a:xfrm>
            <a:prstGeom prst="rect">
              <a:avLst/>
            </a:prstGeom>
            <a:solidFill>
              <a:srgbClr val="FF6699"/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t</a:t>
              </a:r>
            </a:p>
          </p:txBody>
        </p:sp>
        <p:sp>
          <p:nvSpPr>
            <p:cNvPr id="1100858" name="Text Box 58" descr="花岗岩"/>
            <p:cNvSpPr txBox="1">
              <a:spLocks noChangeArrowheads="1"/>
            </p:cNvSpPr>
            <p:nvPr/>
          </p:nvSpPr>
          <p:spPr bwMode="auto">
            <a:xfrm>
              <a:off x="5143" y="1056"/>
              <a:ext cx="349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子过程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3</a:t>
              </a:r>
            </a:p>
          </p:txBody>
        </p:sp>
      </p:grpSp>
      <p:grpSp>
        <p:nvGrpSpPr>
          <p:cNvPr id="1100863" name="Group 63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0864" name="Text Box 6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0865" name="Text Box 6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100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1100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1100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1008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00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100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913" name="Rectangle 89"/>
          <p:cNvSpPr>
            <a:spLocks noChangeArrowheads="1"/>
          </p:cNvSpPr>
          <p:nvPr/>
        </p:nvSpPr>
        <p:spPr bwMode="auto">
          <a:xfrm>
            <a:off x="1571512" y="4377136"/>
            <a:ext cx="4895850" cy="2376264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27" name="Rectangle 3"/>
          <p:cNvSpPr>
            <a:spLocks noChangeArrowheads="1"/>
          </p:cNvSpPr>
          <p:nvPr/>
        </p:nvSpPr>
        <p:spPr bwMode="auto">
          <a:xfrm>
            <a:off x="278785" y="-11113"/>
            <a:ext cx="7489825" cy="635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】</a:t>
            </a:r>
            <a:r>
              <a:rPr lang="zh-CN" altLang="en-US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计算三个数中最大数与最小数的差。</a:t>
            </a:r>
          </a:p>
        </p:txBody>
      </p:sp>
      <p:sp>
        <p:nvSpPr>
          <p:cNvPr id="1101887" name="Rectangle 63" descr="信纸"/>
          <p:cNvSpPr>
            <a:spLocks noChangeArrowheads="1"/>
          </p:cNvSpPr>
          <p:nvPr/>
        </p:nvSpPr>
        <p:spPr bwMode="auto">
          <a:xfrm>
            <a:off x="1559818" y="476672"/>
            <a:ext cx="4896222" cy="3785652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x,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y,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z);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max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x,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y,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z);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min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x,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y,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z);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a, b, c, d;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d%d%d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", &amp;a, &amp;b, &amp;c);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d = dif (a, b, c);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("Max - Min = %d\n", d);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return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01888" name="Rectangle 64" descr="信纸"/>
          <p:cNvSpPr>
            <a:spLocks noChangeArrowheads="1"/>
          </p:cNvSpPr>
          <p:nvPr/>
        </p:nvSpPr>
        <p:spPr bwMode="auto">
          <a:xfrm>
            <a:off x="7090921" y="675977"/>
            <a:ext cx="3757607" cy="5921375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 dif (int x, int y, int z)</a:t>
            </a:r>
            <a:r>
              <a:rPr lang="en-US" altLang="zh-CN" sz="2000" b="1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return (max(x, y, z) –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 min(x, y, z));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}</a:t>
            </a:r>
          </a:p>
          <a:p>
            <a:pPr marL="457200" indent="-457200"/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 max (int x, int y, int z)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  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int r;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r = x &gt; y ? x : y;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return (r &gt; z ? r : z);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  <a:p>
            <a:pPr marL="457200" indent="-457200"/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sz="20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 min (int x, int y, int z)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int r;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r = x &lt; y ? x : y;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return (r &lt; z ? r : z);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</p:txBody>
      </p:sp>
      <p:sp>
        <p:nvSpPr>
          <p:cNvPr id="1101890" name="Text Box 66"/>
          <p:cNvSpPr txBox="1">
            <a:spLocks noChangeArrowheads="1"/>
          </p:cNvSpPr>
          <p:nvPr/>
        </p:nvSpPr>
        <p:spPr bwMode="auto">
          <a:xfrm>
            <a:off x="1832438" y="4339179"/>
            <a:ext cx="9733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main( )</a:t>
            </a:r>
          </a:p>
        </p:txBody>
      </p:sp>
      <p:sp>
        <p:nvSpPr>
          <p:cNvPr id="1101891" name="Text Box 67"/>
          <p:cNvSpPr txBox="1">
            <a:spLocks noChangeArrowheads="1"/>
          </p:cNvSpPr>
          <p:nvPr/>
        </p:nvSpPr>
        <p:spPr bwMode="auto">
          <a:xfrm>
            <a:off x="1547832" y="4996404"/>
            <a:ext cx="15151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dif</a:t>
            </a:r>
          </a:p>
        </p:txBody>
      </p:sp>
      <p:sp>
        <p:nvSpPr>
          <p:cNvPr id="1101892" name="Text Box 68"/>
          <p:cNvSpPr txBox="1">
            <a:spLocks noChangeArrowheads="1"/>
          </p:cNvSpPr>
          <p:nvPr/>
        </p:nvSpPr>
        <p:spPr bwMode="auto">
          <a:xfrm>
            <a:off x="1878204" y="5693416"/>
            <a:ext cx="70083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输出</a:t>
            </a:r>
            <a:endParaRPr lang="zh-CN" altLang="en-US" sz="20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  <a:p>
            <a:pPr algn="ctr" eaLnBrk="0" hangingPunct="0"/>
            <a:r>
              <a:rPr lang="zh-CN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结束</a:t>
            </a:r>
            <a:endParaRPr lang="zh-CN" altLang="en-US" sz="20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1893" name="Text Box 69"/>
          <p:cNvSpPr txBox="1">
            <a:spLocks noChangeArrowheads="1"/>
          </p:cNvSpPr>
          <p:nvPr/>
        </p:nvSpPr>
        <p:spPr bwMode="auto">
          <a:xfrm>
            <a:off x="3529352" y="4367754"/>
            <a:ext cx="998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dif</a:t>
            </a:r>
            <a:r>
              <a:rPr lang="zh-CN" altLang="zh-CN" sz="2000" b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2000" b="1">
              <a:solidFill>
                <a:srgbClr val="CC00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1894" name="Text Box 70"/>
          <p:cNvSpPr txBox="1">
            <a:spLocks noChangeArrowheads="1"/>
          </p:cNvSpPr>
          <p:nvPr/>
        </p:nvSpPr>
        <p:spPr bwMode="auto">
          <a:xfrm>
            <a:off x="5120784" y="4448716"/>
            <a:ext cx="11705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max</a:t>
            </a:r>
            <a:r>
              <a:rPr lang="zh-CN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2000" b="1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1895" name="Text Box 71"/>
          <p:cNvSpPr txBox="1">
            <a:spLocks noChangeArrowheads="1"/>
          </p:cNvSpPr>
          <p:nvPr/>
        </p:nvSpPr>
        <p:spPr bwMode="auto">
          <a:xfrm>
            <a:off x="3163659" y="5085334"/>
            <a:ext cx="1762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max</a:t>
            </a:r>
          </a:p>
        </p:txBody>
      </p:sp>
      <p:sp>
        <p:nvSpPr>
          <p:cNvPr id="1101896" name="Line 72"/>
          <p:cNvSpPr>
            <a:spLocks noChangeShapeType="1"/>
          </p:cNvSpPr>
          <p:nvPr/>
        </p:nvSpPr>
        <p:spPr bwMode="auto">
          <a:xfrm>
            <a:off x="2249258" y="4701159"/>
            <a:ext cx="0" cy="4048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7" name="Line 73"/>
          <p:cNvSpPr>
            <a:spLocks noChangeShapeType="1"/>
          </p:cNvSpPr>
          <p:nvPr/>
        </p:nvSpPr>
        <p:spPr bwMode="auto">
          <a:xfrm>
            <a:off x="2249258" y="5332983"/>
            <a:ext cx="0" cy="450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8" name="Line 74"/>
          <p:cNvSpPr>
            <a:spLocks noChangeShapeType="1"/>
          </p:cNvSpPr>
          <p:nvPr/>
        </p:nvSpPr>
        <p:spPr bwMode="auto">
          <a:xfrm flipV="1">
            <a:off x="2996972" y="4745608"/>
            <a:ext cx="1019175" cy="4968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9" name="Line 75"/>
          <p:cNvSpPr>
            <a:spLocks noChangeShapeType="1"/>
          </p:cNvSpPr>
          <p:nvPr/>
        </p:nvSpPr>
        <p:spPr bwMode="auto">
          <a:xfrm>
            <a:off x="4016146" y="4836096"/>
            <a:ext cx="0" cy="3159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1" name="Line 77"/>
          <p:cNvSpPr>
            <a:spLocks noChangeShapeType="1"/>
          </p:cNvSpPr>
          <p:nvPr/>
        </p:nvSpPr>
        <p:spPr bwMode="auto">
          <a:xfrm flipH="1" flipV="1">
            <a:off x="2417533" y="5372672"/>
            <a:ext cx="1512888" cy="13096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2" name="Text Box 78"/>
          <p:cNvSpPr txBox="1">
            <a:spLocks noChangeArrowheads="1"/>
          </p:cNvSpPr>
          <p:nvPr/>
        </p:nvSpPr>
        <p:spPr bwMode="auto">
          <a:xfrm>
            <a:off x="3285897" y="5815584"/>
            <a:ext cx="1628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min</a:t>
            </a:r>
          </a:p>
        </p:txBody>
      </p:sp>
      <p:sp>
        <p:nvSpPr>
          <p:cNvPr id="1101903" name="Line 79"/>
          <p:cNvSpPr>
            <a:spLocks noChangeShapeType="1"/>
          </p:cNvSpPr>
          <p:nvPr/>
        </p:nvSpPr>
        <p:spPr bwMode="auto">
          <a:xfrm flipV="1">
            <a:off x="4822596" y="4796409"/>
            <a:ext cx="660400" cy="4175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4" name="Line 80"/>
          <p:cNvSpPr>
            <a:spLocks noChangeShapeType="1"/>
          </p:cNvSpPr>
          <p:nvPr/>
        </p:nvSpPr>
        <p:spPr bwMode="auto">
          <a:xfrm>
            <a:off x="5484583" y="4891659"/>
            <a:ext cx="0" cy="530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5" name="Line 81"/>
          <p:cNvSpPr>
            <a:spLocks noChangeShapeType="1"/>
          </p:cNvSpPr>
          <p:nvPr/>
        </p:nvSpPr>
        <p:spPr bwMode="auto">
          <a:xfrm flipH="1" flipV="1">
            <a:off x="4811483" y="5350447"/>
            <a:ext cx="692150" cy="1285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6" name="Line 82"/>
          <p:cNvSpPr>
            <a:spLocks noChangeShapeType="1"/>
          </p:cNvSpPr>
          <p:nvPr/>
        </p:nvSpPr>
        <p:spPr bwMode="auto">
          <a:xfrm flipV="1">
            <a:off x="4851172" y="5806058"/>
            <a:ext cx="547687" cy="2428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7" name="Line 83"/>
          <p:cNvSpPr>
            <a:spLocks noChangeShapeType="1"/>
          </p:cNvSpPr>
          <p:nvPr/>
        </p:nvSpPr>
        <p:spPr bwMode="auto">
          <a:xfrm>
            <a:off x="5470296" y="5850508"/>
            <a:ext cx="0" cy="647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8" name="Line 84"/>
          <p:cNvSpPr>
            <a:spLocks noChangeShapeType="1"/>
          </p:cNvSpPr>
          <p:nvPr/>
        </p:nvSpPr>
        <p:spPr bwMode="auto">
          <a:xfrm flipH="1" flipV="1">
            <a:off x="4751158" y="6164833"/>
            <a:ext cx="712788" cy="393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9" name="Text Box 85"/>
          <p:cNvSpPr txBox="1">
            <a:spLocks noChangeArrowheads="1"/>
          </p:cNvSpPr>
          <p:nvPr/>
        </p:nvSpPr>
        <p:spPr bwMode="auto">
          <a:xfrm>
            <a:off x="5097233" y="5459984"/>
            <a:ext cx="111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min</a:t>
            </a:r>
            <a:r>
              <a:rPr lang="zh-CN" altLang="zh-CN" sz="20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2000" b="1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1910" name="Line 86"/>
          <p:cNvSpPr>
            <a:spLocks noChangeShapeType="1"/>
          </p:cNvSpPr>
          <p:nvPr/>
        </p:nvSpPr>
        <p:spPr bwMode="auto">
          <a:xfrm>
            <a:off x="4017733" y="5423472"/>
            <a:ext cx="0" cy="4603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12" name="Line 88"/>
          <p:cNvSpPr>
            <a:spLocks noChangeShapeType="1"/>
          </p:cNvSpPr>
          <p:nvPr/>
        </p:nvSpPr>
        <p:spPr bwMode="auto">
          <a:xfrm>
            <a:off x="4001858" y="6134671"/>
            <a:ext cx="0" cy="5572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01914" name="Group 9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1915" name="Text Box 9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1916" name="Text Box 9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1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1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1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01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101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01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101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01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10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1018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1101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101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1019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101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11019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10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101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101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101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1101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500"/>
                                        <p:tgtEl>
                                          <p:spTgt spid="11019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3" dur="500"/>
                                        <p:tgtEl>
                                          <p:spTgt spid="1101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1101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1101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913" grpId="0" animBg="1"/>
      <p:bldP spid="1101887" grpId="0" animBg="1"/>
      <p:bldP spid="1101888" grpId="0" animBg="1"/>
      <p:bldP spid="1101890" grpId="0"/>
      <p:bldP spid="1101891" grpId="0"/>
      <p:bldP spid="1101892" grpId="0"/>
      <p:bldP spid="1101893" grpId="0"/>
      <p:bldP spid="1101894" grpId="0"/>
      <p:bldP spid="1101895" grpId="0"/>
      <p:bldP spid="1101896" grpId="0" animBg="1"/>
      <p:bldP spid="1101897" grpId="0" animBg="1"/>
      <p:bldP spid="1101898" grpId="0" animBg="1"/>
      <p:bldP spid="1101899" grpId="0" animBg="1"/>
      <p:bldP spid="1101901" grpId="0" animBg="1"/>
      <p:bldP spid="1101903" grpId="0" animBg="1"/>
      <p:bldP spid="1101904" grpId="0" animBg="1"/>
      <p:bldP spid="1101905" grpId="0" animBg="1"/>
      <p:bldP spid="1101906" grpId="0" animBg="1"/>
      <p:bldP spid="1101907" grpId="0" animBg="1"/>
      <p:bldP spid="1101908" grpId="0" animBg="1"/>
      <p:bldP spid="1101909" grpId="0"/>
      <p:bldP spid="1101910" grpId="0" animBg="1"/>
      <p:bldP spid="11019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0" name="Rectangle 2"/>
          <p:cNvSpPr>
            <a:spLocks noChangeArrowheads="1"/>
          </p:cNvSpPr>
          <p:nvPr/>
        </p:nvSpPr>
        <p:spPr bwMode="auto">
          <a:xfrm>
            <a:off x="16847" y="348010"/>
            <a:ext cx="8534400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</a:pP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、函数递归调用</a:t>
            </a:r>
          </a:p>
          <a:p>
            <a:pPr marL="1143000" lvl="2" indent="-2286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定义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：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函数直接或间接的调用自身叫函数的递归调用</a:t>
            </a:r>
          </a:p>
        </p:txBody>
      </p:sp>
      <p:grpSp>
        <p:nvGrpSpPr>
          <p:cNvPr id="1102882" name="Group 34"/>
          <p:cNvGrpSpPr>
            <a:grpSpLocks/>
          </p:cNvGrpSpPr>
          <p:nvPr/>
        </p:nvGrpSpPr>
        <p:grpSpPr bwMode="auto">
          <a:xfrm>
            <a:off x="2063552" y="4500015"/>
            <a:ext cx="1284288" cy="1581149"/>
            <a:chOff x="948" y="2289"/>
            <a:chExt cx="809" cy="996"/>
          </a:xfrm>
        </p:grpSpPr>
        <p:sp>
          <p:nvSpPr>
            <p:cNvPr id="1102852" name="Text Box 4"/>
            <p:cNvSpPr txBox="1">
              <a:spLocks noChangeArrowheads="1"/>
            </p:cNvSpPr>
            <p:nvPr/>
          </p:nvSpPr>
          <p:spPr bwMode="auto">
            <a:xfrm>
              <a:off x="1402" y="2289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 ( )</a:t>
              </a:r>
            </a:p>
          </p:txBody>
        </p:sp>
        <p:sp>
          <p:nvSpPr>
            <p:cNvPr id="1102853" name="Text Box 5"/>
            <p:cNvSpPr txBox="1">
              <a:spLocks noChangeArrowheads="1"/>
            </p:cNvSpPr>
            <p:nvPr/>
          </p:nvSpPr>
          <p:spPr bwMode="auto">
            <a:xfrm>
              <a:off x="1369" y="3033"/>
              <a:ext cx="33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f</a:t>
              </a:r>
            </a:p>
          </p:txBody>
        </p:sp>
        <p:sp>
          <p:nvSpPr>
            <p:cNvPr id="1102854" name="Line 6"/>
            <p:cNvSpPr>
              <a:spLocks noChangeShapeType="1"/>
            </p:cNvSpPr>
            <p:nvPr/>
          </p:nvSpPr>
          <p:spPr bwMode="auto">
            <a:xfrm>
              <a:off x="1552" y="2528"/>
              <a:ext cx="0" cy="5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02881" name="Group 33"/>
            <p:cNvGrpSpPr>
              <a:grpSpLocks/>
            </p:cNvGrpSpPr>
            <p:nvPr/>
          </p:nvGrpSpPr>
          <p:grpSpPr bwMode="auto">
            <a:xfrm>
              <a:off x="948" y="2441"/>
              <a:ext cx="472" cy="722"/>
              <a:chOff x="975" y="2414"/>
              <a:chExt cx="472" cy="722"/>
            </a:xfrm>
          </p:grpSpPr>
          <p:sp>
            <p:nvSpPr>
              <p:cNvPr id="1102855" name="Line 7"/>
              <p:cNvSpPr>
                <a:spLocks noChangeShapeType="1"/>
              </p:cNvSpPr>
              <p:nvPr/>
            </p:nvSpPr>
            <p:spPr bwMode="auto">
              <a:xfrm flipH="1">
                <a:off x="975" y="3136"/>
                <a:ext cx="40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56" name="Line 8"/>
              <p:cNvSpPr>
                <a:spLocks noChangeShapeType="1"/>
              </p:cNvSpPr>
              <p:nvPr/>
            </p:nvSpPr>
            <p:spPr bwMode="auto">
              <a:xfrm flipV="1">
                <a:off x="975" y="2414"/>
                <a:ext cx="0" cy="72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57" name="Line 9"/>
              <p:cNvSpPr>
                <a:spLocks noChangeShapeType="1"/>
              </p:cNvSpPr>
              <p:nvPr/>
            </p:nvSpPr>
            <p:spPr bwMode="auto">
              <a:xfrm>
                <a:off x="975" y="2414"/>
                <a:ext cx="47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02887" name="Group 39"/>
          <p:cNvGrpSpPr>
            <a:grpSpLocks/>
          </p:cNvGrpSpPr>
          <p:nvPr/>
        </p:nvGrpSpPr>
        <p:grpSpPr bwMode="auto">
          <a:xfrm>
            <a:off x="5674096" y="4682578"/>
            <a:ext cx="2052638" cy="1482726"/>
            <a:chOff x="2767" y="2395"/>
            <a:chExt cx="1293" cy="934"/>
          </a:xfrm>
        </p:grpSpPr>
        <p:sp>
          <p:nvSpPr>
            <p:cNvPr id="1102859" name="Text Box 11"/>
            <p:cNvSpPr txBox="1">
              <a:spLocks noChangeArrowheads="1"/>
            </p:cNvSpPr>
            <p:nvPr/>
          </p:nvSpPr>
          <p:spPr bwMode="auto">
            <a:xfrm>
              <a:off x="2767" y="3077"/>
              <a:ext cx="41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f2</a:t>
              </a:r>
            </a:p>
          </p:txBody>
        </p:sp>
        <p:sp>
          <p:nvSpPr>
            <p:cNvPr id="1102860" name="Text Box 12"/>
            <p:cNvSpPr txBox="1">
              <a:spLocks noChangeArrowheads="1"/>
            </p:cNvSpPr>
            <p:nvPr/>
          </p:nvSpPr>
          <p:spPr bwMode="auto">
            <a:xfrm>
              <a:off x="3378" y="3072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f1</a:t>
              </a:r>
            </a:p>
          </p:txBody>
        </p:sp>
        <p:sp>
          <p:nvSpPr>
            <p:cNvPr id="1102861" name="Text Box 13"/>
            <p:cNvSpPr txBox="1">
              <a:spLocks noChangeArrowheads="1"/>
            </p:cNvSpPr>
            <p:nvPr/>
          </p:nvSpPr>
          <p:spPr bwMode="auto">
            <a:xfrm>
              <a:off x="2811" y="2462"/>
              <a:ext cx="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f1( )</a:t>
              </a:r>
            </a:p>
          </p:txBody>
        </p:sp>
        <p:sp>
          <p:nvSpPr>
            <p:cNvPr id="1102862" name="Text Box 14"/>
            <p:cNvSpPr txBox="1">
              <a:spLocks noChangeArrowheads="1"/>
            </p:cNvSpPr>
            <p:nvPr/>
          </p:nvSpPr>
          <p:spPr bwMode="auto">
            <a:xfrm>
              <a:off x="3453" y="2426"/>
              <a:ext cx="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f2( )</a:t>
              </a:r>
            </a:p>
          </p:txBody>
        </p:sp>
        <p:sp>
          <p:nvSpPr>
            <p:cNvPr id="1102863" name="Line 15"/>
            <p:cNvSpPr>
              <a:spLocks noChangeShapeType="1"/>
            </p:cNvSpPr>
            <p:nvPr/>
          </p:nvSpPr>
          <p:spPr bwMode="auto">
            <a:xfrm>
              <a:off x="2964" y="2669"/>
              <a:ext cx="0" cy="4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64" name="Line 16"/>
            <p:cNvSpPr>
              <a:spLocks noChangeShapeType="1"/>
            </p:cNvSpPr>
            <p:nvPr/>
          </p:nvSpPr>
          <p:spPr bwMode="auto">
            <a:xfrm flipV="1">
              <a:off x="3035" y="2634"/>
              <a:ext cx="500" cy="4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65" name="Line 17"/>
            <p:cNvSpPr>
              <a:spLocks noChangeShapeType="1"/>
            </p:cNvSpPr>
            <p:nvPr/>
          </p:nvSpPr>
          <p:spPr bwMode="auto">
            <a:xfrm>
              <a:off x="3598" y="2676"/>
              <a:ext cx="0" cy="4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02886" name="Group 38"/>
            <p:cNvGrpSpPr>
              <a:grpSpLocks/>
            </p:cNvGrpSpPr>
            <p:nvPr/>
          </p:nvGrpSpPr>
          <p:grpSpPr bwMode="auto">
            <a:xfrm>
              <a:off x="2964" y="2395"/>
              <a:ext cx="1096" cy="821"/>
              <a:chOff x="2964" y="2395"/>
              <a:chExt cx="1096" cy="821"/>
            </a:xfrm>
          </p:grpSpPr>
          <p:sp>
            <p:nvSpPr>
              <p:cNvPr id="1102866" name="Line 18"/>
              <p:cNvSpPr>
                <a:spLocks noChangeShapeType="1"/>
              </p:cNvSpPr>
              <p:nvPr/>
            </p:nvSpPr>
            <p:spPr bwMode="auto">
              <a:xfrm>
                <a:off x="3845" y="3216"/>
                <a:ext cx="21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7" name="Line 19"/>
              <p:cNvSpPr>
                <a:spLocks noChangeShapeType="1"/>
              </p:cNvSpPr>
              <p:nvPr/>
            </p:nvSpPr>
            <p:spPr bwMode="auto">
              <a:xfrm flipV="1">
                <a:off x="4059" y="2395"/>
                <a:ext cx="0" cy="82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8" name="Line 20"/>
              <p:cNvSpPr>
                <a:spLocks noChangeShapeType="1"/>
              </p:cNvSpPr>
              <p:nvPr/>
            </p:nvSpPr>
            <p:spPr bwMode="auto">
              <a:xfrm flipH="1">
                <a:off x="2964" y="2395"/>
                <a:ext cx="109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9" name="Line 21"/>
              <p:cNvSpPr>
                <a:spLocks noChangeShapeType="1"/>
              </p:cNvSpPr>
              <p:nvPr/>
            </p:nvSpPr>
            <p:spPr bwMode="auto">
              <a:xfrm>
                <a:off x="2964" y="2395"/>
                <a:ext cx="0" cy="103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02871" name="Text Box 23" descr="信纸"/>
          <p:cNvSpPr txBox="1">
            <a:spLocks noChangeArrowheads="1"/>
          </p:cNvSpPr>
          <p:nvPr/>
        </p:nvSpPr>
        <p:spPr bwMode="auto">
          <a:xfrm>
            <a:off x="1775520" y="1703885"/>
            <a:ext cx="2088232" cy="2568575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int  </a:t>
            </a: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 (int x)</a:t>
            </a:r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    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int y, z;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……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 = f (y);</a:t>
            </a:r>
            <a:endParaRPr lang="en-US" altLang="zh-CN" sz="20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…….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return (2*z);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1102884" name="Group 36"/>
          <p:cNvGrpSpPr>
            <a:grpSpLocks/>
          </p:cNvGrpSpPr>
          <p:nvPr/>
        </p:nvGrpSpPr>
        <p:grpSpPr bwMode="auto">
          <a:xfrm>
            <a:off x="4402510" y="1688010"/>
            <a:ext cx="4752975" cy="2605087"/>
            <a:chOff x="2245" y="627"/>
            <a:chExt cx="2994" cy="1641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02883" name="Rectangle 35" descr="信纸"/>
            <p:cNvSpPr>
              <a:spLocks noChangeArrowheads="1"/>
            </p:cNvSpPr>
            <p:nvPr/>
          </p:nvSpPr>
          <p:spPr bwMode="auto">
            <a:xfrm>
              <a:off x="2245" y="627"/>
              <a:ext cx="2994" cy="1633"/>
            </a:xfrm>
            <a:prstGeom prst="rect">
              <a:avLst/>
            </a:prstGeom>
            <a:blipFill dpi="0" rotWithShape="1">
              <a:blip r:embed="rId5" cstate="print"/>
              <a:srcRect/>
              <a:tile tx="0" ty="0" sx="100000" sy="100000" flip="none" algn="tl"/>
            </a:blipFill>
            <a:ln w="38100">
              <a:solidFill>
                <a:srgbClr val="008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73" name="Text Box 25"/>
            <p:cNvSpPr txBox="1">
              <a:spLocks noChangeArrowheads="1"/>
            </p:cNvSpPr>
            <p:nvPr/>
          </p:nvSpPr>
          <p:spPr bwMode="auto">
            <a:xfrm>
              <a:off x="2327" y="674"/>
              <a:ext cx="1110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int  </a:t>
              </a:r>
              <a:r>
                <a:rPr lang="en-US" altLang="zh-CN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f1 (int x)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{    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int y,z;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……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z = f2 (y);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…….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return (2*z);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}</a:t>
              </a:r>
            </a:p>
          </p:txBody>
        </p:sp>
        <p:sp>
          <p:nvSpPr>
            <p:cNvPr id="1102874" name="Text Box 26"/>
            <p:cNvSpPr txBox="1">
              <a:spLocks noChangeArrowheads="1"/>
            </p:cNvSpPr>
            <p:nvPr/>
          </p:nvSpPr>
          <p:spPr bwMode="auto">
            <a:xfrm>
              <a:off x="3916" y="663"/>
              <a:ext cx="1121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int  </a:t>
              </a:r>
              <a:r>
                <a:rPr lang="en-US" altLang="zh-CN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f2 (int t)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{    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int a,c;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 ……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</a:t>
              </a:r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 = f1 (a);</a:t>
              </a:r>
              <a:endPara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…….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return (3+c);</a:t>
              </a:r>
            </a:p>
            <a:p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}</a:t>
              </a:r>
            </a:p>
          </p:txBody>
        </p:sp>
        <p:sp>
          <p:nvSpPr>
            <p:cNvPr id="1102875" name="Line 27"/>
            <p:cNvSpPr>
              <a:spLocks noChangeShapeType="1"/>
            </p:cNvSpPr>
            <p:nvPr/>
          </p:nvSpPr>
          <p:spPr bwMode="auto">
            <a:xfrm flipV="1">
              <a:off x="3061" y="826"/>
              <a:ext cx="906" cy="65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2876" name="Line 28"/>
            <p:cNvSpPr>
              <a:spLocks noChangeShapeType="1"/>
            </p:cNvSpPr>
            <p:nvPr/>
          </p:nvSpPr>
          <p:spPr bwMode="auto">
            <a:xfrm flipH="1" flipV="1">
              <a:off x="3086" y="921"/>
              <a:ext cx="992" cy="64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02888" name="AutoShape 40"/>
          <p:cNvSpPr>
            <a:spLocks noChangeArrowheads="1"/>
          </p:cNvSpPr>
          <p:nvPr/>
        </p:nvSpPr>
        <p:spPr bwMode="auto">
          <a:xfrm>
            <a:off x="3460553" y="5303290"/>
            <a:ext cx="1368425" cy="431800"/>
          </a:xfrm>
          <a:prstGeom prst="wedgeRoundRectCallout">
            <a:avLst>
              <a:gd name="adj1" fmla="val -77495"/>
              <a:gd name="adj2" fmla="val -142648"/>
              <a:gd name="adj3" fmla="val 1666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直接递归</a:t>
            </a:r>
          </a:p>
        </p:txBody>
      </p:sp>
      <p:sp>
        <p:nvSpPr>
          <p:cNvPr id="1102889" name="AutoShape 41"/>
          <p:cNvSpPr>
            <a:spLocks noChangeArrowheads="1"/>
          </p:cNvSpPr>
          <p:nvPr/>
        </p:nvSpPr>
        <p:spPr bwMode="auto">
          <a:xfrm>
            <a:off x="8218860" y="5333452"/>
            <a:ext cx="1368425" cy="431800"/>
          </a:xfrm>
          <a:prstGeom prst="wedgeRoundRectCallout">
            <a:avLst>
              <a:gd name="adj1" fmla="val -101394"/>
              <a:gd name="adj2" fmla="val -161398"/>
              <a:gd name="adj3" fmla="val 1666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间接递归</a:t>
            </a:r>
          </a:p>
        </p:txBody>
      </p:sp>
      <p:grpSp>
        <p:nvGrpSpPr>
          <p:cNvPr id="1102891" name="Group 43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2892" name="Text Box 4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2893" name="Text Box 4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2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2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102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028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102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02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102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102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0" grpId="0" build="p" bldLvl="3" autoUpdateAnimBg="0"/>
      <p:bldP spid="1102871" grpId="0" animBg="1" autoUpdateAnimBg="0"/>
      <p:bldP spid="1102888" grpId="0" animBg="1"/>
      <p:bldP spid="110288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70" name="Rectangle 22"/>
          <p:cNvSpPr>
            <a:spLocks noChangeArrowheads="1"/>
          </p:cNvSpPr>
          <p:nvPr/>
        </p:nvSpPr>
        <p:spPr bwMode="auto">
          <a:xfrm>
            <a:off x="610945" y="294804"/>
            <a:ext cx="194468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说明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2892" name="Text Box 4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2893" name="Text Box 4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81281" name="Rectangle 1"/>
          <p:cNvSpPr>
            <a:spLocks noChangeArrowheads="1"/>
          </p:cNvSpPr>
          <p:nvPr/>
        </p:nvSpPr>
        <p:spPr bwMode="auto">
          <a:xfrm>
            <a:off x="970984" y="671205"/>
            <a:ext cx="10669632" cy="353943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363" indent="-360363">
              <a:buClr>
                <a:srgbClr val="0000FF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递归函数主要用于解决具有递归性质的问题，即无论问题规模的大小，所处理的方法和步骤都是一样的。</a:t>
            </a:r>
          </a:p>
          <a:p>
            <a:pPr eaLnBrk="0" hangingPunct="0">
              <a:buClr>
                <a:srgbClr val="0000FF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C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语言编译系统对递归函数的自调用次数没有限制。</a:t>
            </a:r>
          </a:p>
          <a:p>
            <a:pPr marL="265113" indent="-265113" eaLnBrk="0" hangingPunct="0">
              <a:buClr>
                <a:srgbClr val="0000FF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编写递归函数时不应出现无终止的递归调用，而应当在递归次数或递归调用条件上加以限制，这就是递归结束条件的问题。</a:t>
            </a:r>
          </a:p>
          <a:p>
            <a:pPr marL="265113" indent="-265113" eaLnBrk="0" hangingPunct="0">
              <a:buClr>
                <a:srgbClr val="0000FF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每调用函数一次，在内存堆栈区都要分配空间，用于存放函数变量、返回值等信息，所以应避免递归次数过多，以防止可能引起的堆栈溢出问题。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Text Box 2"/>
          <p:cNvSpPr txBox="1">
            <a:spLocks noChangeArrowheads="1"/>
          </p:cNvSpPr>
          <p:nvPr/>
        </p:nvSpPr>
        <p:spPr bwMode="auto">
          <a:xfrm>
            <a:off x="1127448" y="1469727"/>
            <a:ext cx="4279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1】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递归的执行情况分析</a:t>
            </a:r>
            <a:r>
              <a:rPr lang="zh-CN" altLang="en-US" sz="28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1103875" name="Rectangle 3"/>
          <p:cNvSpPr>
            <a:spLocks noChangeArrowheads="1"/>
          </p:cNvSpPr>
          <p:nvPr/>
        </p:nvSpPr>
        <p:spPr bwMode="auto">
          <a:xfrm>
            <a:off x="456584" y="61034"/>
            <a:ext cx="7283450" cy="137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递归过程及其实现</a:t>
            </a:r>
          </a:p>
          <a:p>
            <a:pPr marL="742950" lvl="1" indent="-285750"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递归：函数直接或间接的调用自身叫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递归</a:t>
            </a:r>
          </a:p>
          <a:p>
            <a:pPr marL="742950" lvl="1" indent="-285750"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实现：</a:t>
            </a:r>
            <a:r>
              <a:rPr lang="zh-CN" altLang="en-US" b="1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建立递归工作栈</a:t>
            </a:r>
          </a:p>
        </p:txBody>
      </p:sp>
      <p:sp>
        <p:nvSpPr>
          <p:cNvPr id="1103877" name="Text Box 5"/>
          <p:cNvSpPr txBox="1">
            <a:spLocks noChangeArrowheads="1"/>
          </p:cNvSpPr>
          <p:nvPr/>
        </p:nvSpPr>
        <p:spPr bwMode="auto">
          <a:xfrm>
            <a:off x="3215680" y="5057889"/>
            <a:ext cx="1944216" cy="1323439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</a:p>
          <a:p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</a:p>
          <a:p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</a:p>
        </p:txBody>
      </p:sp>
      <p:sp>
        <p:nvSpPr>
          <p:cNvPr id="1103881" name="Text Box 9" descr="信纸"/>
          <p:cNvSpPr txBox="1">
            <a:spLocks noChangeArrowheads="1"/>
          </p:cNvSpPr>
          <p:nvPr/>
        </p:nvSpPr>
        <p:spPr bwMode="auto">
          <a:xfrm>
            <a:off x="5837436" y="1412776"/>
            <a:ext cx="5083100" cy="5016758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void print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w);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print ( 3 );  }</a:t>
            </a:r>
          </a:p>
          <a:p>
            <a:pPr marL="457200" indent="-457200"/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print (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w)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递归函数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  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if ( w != 0)     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递归结束条件</a:t>
            </a:r>
          </a:p>
          <a:p>
            <a:pPr marL="457200" indent="-45720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     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print (w-1);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for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&lt;= w; ++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("%d ", w);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("\n");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103882" name="Group 1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3883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3884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103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1038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103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4" grpId="0" build="p" autoUpdateAnimBg="0"/>
      <p:bldP spid="1103875" grpId="0" build="p" bldLvl="5" autoUpdateAnimBg="0"/>
      <p:bldP spid="1103877" grpId="0" animBg="1" autoUpdateAnimBg="0"/>
      <p:bldP spid="1103881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Box 2"/>
          <p:cNvSpPr txBox="1">
            <a:spLocks noChangeArrowheads="1"/>
          </p:cNvSpPr>
          <p:nvPr/>
        </p:nvSpPr>
        <p:spPr bwMode="auto">
          <a:xfrm>
            <a:off x="539750" y="346075"/>
            <a:ext cx="3672210" cy="457200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递归调用执行情况如下：</a:t>
            </a:r>
          </a:p>
        </p:txBody>
      </p:sp>
      <p:grpSp>
        <p:nvGrpSpPr>
          <p:cNvPr id="165" name="Group 3"/>
          <p:cNvGrpSpPr>
            <a:grpSpLocks/>
          </p:cNvGrpSpPr>
          <p:nvPr/>
        </p:nvGrpSpPr>
        <p:grpSpPr bwMode="auto">
          <a:xfrm>
            <a:off x="2326704" y="1858094"/>
            <a:ext cx="1219200" cy="914400"/>
            <a:chOff x="528" y="1008"/>
            <a:chExt cx="768" cy="576"/>
          </a:xfrm>
        </p:grpSpPr>
        <p:sp>
          <p:nvSpPr>
            <p:cNvPr id="166" name="Text Box 4"/>
            <p:cNvSpPr txBox="1">
              <a:spLocks noChangeArrowheads="1"/>
            </p:cNvSpPr>
            <p:nvPr/>
          </p:nvSpPr>
          <p:spPr bwMode="auto">
            <a:xfrm>
              <a:off x="528" y="100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主程序</a:t>
              </a:r>
            </a:p>
          </p:txBody>
        </p:sp>
        <p:sp>
          <p:nvSpPr>
            <p:cNvPr id="167" name="Line 5"/>
            <p:cNvSpPr>
              <a:spLocks noChangeShapeType="1"/>
            </p:cNvSpPr>
            <p:nvPr/>
          </p:nvSpPr>
          <p:spPr bwMode="auto">
            <a:xfrm>
              <a:off x="816" y="129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68" name="Group 6"/>
          <p:cNvGrpSpPr>
            <a:grpSpLocks/>
          </p:cNvGrpSpPr>
          <p:nvPr/>
        </p:nvGrpSpPr>
        <p:grpSpPr bwMode="auto">
          <a:xfrm>
            <a:off x="3622104" y="2315294"/>
            <a:ext cx="457200" cy="990600"/>
            <a:chOff x="1008" y="1536"/>
            <a:chExt cx="288" cy="624"/>
          </a:xfrm>
        </p:grpSpPr>
        <p:sp>
          <p:nvSpPr>
            <p:cNvPr id="169" name="Line 7"/>
            <p:cNvSpPr>
              <a:spLocks noChangeShapeType="1"/>
            </p:cNvSpPr>
            <p:nvPr/>
          </p:nvSpPr>
          <p:spPr bwMode="auto">
            <a:xfrm>
              <a:off x="1008" y="2160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8"/>
            <p:cNvSpPr>
              <a:spLocks noChangeShapeType="1"/>
            </p:cNvSpPr>
            <p:nvPr/>
          </p:nvSpPr>
          <p:spPr bwMode="auto">
            <a:xfrm>
              <a:off x="1152" y="1536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9"/>
            <p:cNvSpPr>
              <a:spLocks noChangeShapeType="1"/>
            </p:cNvSpPr>
            <p:nvPr/>
          </p:nvSpPr>
          <p:spPr bwMode="auto">
            <a:xfrm flipV="1">
              <a:off x="1152" y="1536"/>
              <a:ext cx="0" cy="62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2" name="Group 10"/>
          <p:cNvGrpSpPr>
            <a:grpSpLocks/>
          </p:cNvGrpSpPr>
          <p:nvPr/>
        </p:nvGrpSpPr>
        <p:grpSpPr bwMode="auto">
          <a:xfrm>
            <a:off x="7355904" y="1172294"/>
            <a:ext cx="457200" cy="990600"/>
            <a:chOff x="1008" y="1536"/>
            <a:chExt cx="288" cy="624"/>
          </a:xfrm>
        </p:grpSpPr>
        <p:sp>
          <p:nvSpPr>
            <p:cNvPr id="173" name="Line 11"/>
            <p:cNvSpPr>
              <a:spLocks noChangeShapeType="1"/>
            </p:cNvSpPr>
            <p:nvPr/>
          </p:nvSpPr>
          <p:spPr bwMode="auto">
            <a:xfrm>
              <a:off x="1008" y="2160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2"/>
            <p:cNvSpPr>
              <a:spLocks noChangeShapeType="1"/>
            </p:cNvSpPr>
            <p:nvPr/>
          </p:nvSpPr>
          <p:spPr bwMode="auto">
            <a:xfrm>
              <a:off x="1152" y="1536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13"/>
            <p:cNvSpPr>
              <a:spLocks noChangeShapeType="1"/>
            </p:cNvSpPr>
            <p:nvPr/>
          </p:nvSpPr>
          <p:spPr bwMode="auto">
            <a:xfrm flipV="1">
              <a:off x="1152" y="1536"/>
              <a:ext cx="0" cy="62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" name="Group 14"/>
          <p:cNvGrpSpPr>
            <a:grpSpLocks/>
          </p:cNvGrpSpPr>
          <p:nvPr/>
        </p:nvGrpSpPr>
        <p:grpSpPr bwMode="auto">
          <a:xfrm>
            <a:off x="5603304" y="1629494"/>
            <a:ext cx="533400" cy="1143000"/>
            <a:chOff x="2592" y="864"/>
            <a:chExt cx="336" cy="720"/>
          </a:xfrm>
        </p:grpSpPr>
        <p:sp>
          <p:nvSpPr>
            <p:cNvPr id="177" name="Line 15"/>
            <p:cNvSpPr>
              <a:spLocks noChangeShapeType="1"/>
            </p:cNvSpPr>
            <p:nvPr/>
          </p:nvSpPr>
          <p:spPr bwMode="auto">
            <a:xfrm>
              <a:off x="2592" y="1584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6"/>
            <p:cNvSpPr>
              <a:spLocks noChangeShapeType="1"/>
            </p:cNvSpPr>
            <p:nvPr/>
          </p:nvSpPr>
          <p:spPr bwMode="auto">
            <a:xfrm flipV="1">
              <a:off x="2736" y="864"/>
              <a:ext cx="0" cy="72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17"/>
            <p:cNvSpPr>
              <a:spLocks noChangeShapeType="1"/>
            </p:cNvSpPr>
            <p:nvPr/>
          </p:nvSpPr>
          <p:spPr bwMode="auto">
            <a:xfrm>
              <a:off x="2736" y="864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0" name="Group 18"/>
          <p:cNvGrpSpPr>
            <a:grpSpLocks/>
          </p:cNvGrpSpPr>
          <p:nvPr/>
        </p:nvGrpSpPr>
        <p:grpSpPr bwMode="auto">
          <a:xfrm>
            <a:off x="2045717" y="2772494"/>
            <a:ext cx="1676400" cy="3581400"/>
            <a:chOff x="288" y="1584"/>
            <a:chExt cx="1056" cy="2256"/>
          </a:xfrm>
        </p:grpSpPr>
        <p:sp>
          <p:nvSpPr>
            <p:cNvPr id="181" name="Text Box 19"/>
            <p:cNvSpPr txBox="1">
              <a:spLocks noChangeArrowheads="1"/>
            </p:cNvSpPr>
            <p:nvPr/>
          </p:nvSpPr>
          <p:spPr bwMode="auto">
            <a:xfrm>
              <a:off x="288" y="2016"/>
              <a:ext cx="864" cy="250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rgbClr val="00FFFF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(1)</a:t>
              </a:r>
            </a:p>
          </p:txBody>
        </p:sp>
        <p:grpSp>
          <p:nvGrpSpPr>
            <p:cNvPr id="182" name="Group 20"/>
            <p:cNvGrpSpPr>
              <a:grpSpLocks/>
            </p:cNvGrpSpPr>
            <p:nvPr/>
          </p:nvGrpSpPr>
          <p:grpSpPr bwMode="auto">
            <a:xfrm>
              <a:off x="288" y="1584"/>
              <a:ext cx="1056" cy="2256"/>
              <a:chOff x="288" y="1584"/>
              <a:chExt cx="1056" cy="2256"/>
            </a:xfrm>
          </p:grpSpPr>
          <p:sp>
            <p:nvSpPr>
              <p:cNvPr id="183" name="Text Box 21"/>
              <p:cNvSpPr txBox="1">
                <a:spLocks noChangeArrowheads="1"/>
              </p:cNvSpPr>
              <p:nvPr/>
            </p:nvSpPr>
            <p:spPr bwMode="auto">
              <a:xfrm>
                <a:off x="480" y="1776"/>
                <a:ext cx="72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print(w)</a:t>
                </a:r>
              </a:p>
            </p:txBody>
          </p:sp>
          <p:sp>
            <p:nvSpPr>
              <p:cNvPr id="184" name="Text Box 22"/>
              <p:cNvSpPr txBox="1">
                <a:spLocks noChangeArrowheads="1"/>
              </p:cNvSpPr>
              <p:nvPr/>
            </p:nvSpPr>
            <p:spPr bwMode="auto">
              <a:xfrm>
                <a:off x="432" y="1584"/>
                <a:ext cx="91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 w=3; </a:t>
                </a:r>
              </a:p>
            </p:txBody>
          </p:sp>
          <p:grpSp>
            <p:nvGrpSpPr>
              <p:cNvPr id="185" name="Group 23"/>
              <p:cNvGrpSpPr>
                <a:grpSpLocks/>
              </p:cNvGrpSpPr>
              <p:nvPr/>
            </p:nvGrpSpPr>
            <p:grpSpPr bwMode="auto">
              <a:xfrm>
                <a:off x="288" y="2976"/>
                <a:ext cx="672" cy="864"/>
                <a:chOff x="3168" y="3216"/>
                <a:chExt cx="672" cy="864"/>
              </a:xfrm>
            </p:grpSpPr>
            <p:grpSp>
              <p:nvGrpSpPr>
                <p:cNvPr id="186" name="Group 24"/>
                <p:cNvGrpSpPr>
                  <a:grpSpLocks/>
                </p:cNvGrpSpPr>
                <p:nvPr/>
              </p:nvGrpSpPr>
              <p:grpSpPr bwMode="auto">
                <a:xfrm>
                  <a:off x="3168" y="3216"/>
                  <a:ext cx="672" cy="864"/>
                  <a:chOff x="3168" y="3216"/>
                  <a:chExt cx="672" cy="864"/>
                </a:xfrm>
              </p:grpSpPr>
              <p:sp>
                <p:nvSpPr>
                  <p:cNvPr id="188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8" y="3216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9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40" y="3216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0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4080"/>
                    <a:ext cx="67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87" name="Line 28"/>
                <p:cNvSpPr>
                  <a:spLocks noChangeShapeType="1"/>
                </p:cNvSpPr>
                <p:nvPr/>
              </p:nvSpPr>
              <p:spPr bwMode="auto">
                <a:xfrm>
                  <a:off x="3168" y="3888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91" name="Group 29"/>
          <p:cNvGrpSpPr>
            <a:grpSpLocks/>
          </p:cNvGrpSpPr>
          <p:nvPr/>
        </p:nvGrpSpPr>
        <p:grpSpPr bwMode="auto">
          <a:xfrm>
            <a:off x="3164904" y="1781894"/>
            <a:ext cx="2819400" cy="4572000"/>
            <a:chOff x="1056" y="960"/>
            <a:chExt cx="1776" cy="2880"/>
          </a:xfrm>
        </p:grpSpPr>
        <p:grpSp>
          <p:nvGrpSpPr>
            <p:cNvPr id="192" name="Group 30"/>
            <p:cNvGrpSpPr>
              <a:grpSpLocks/>
            </p:cNvGrpSpPr>
            <p:nvPr/>
          </p:nvGrpSpPr>
          <p:grpSpPr bwMode="auto">
            <a:xfrm>
              <a:off x="1056" y="1200"/>
              <a:ext cx="1776" cy="2640"/>
              <a:chOff x="1056" y="1200"/>
              <a:chExt cx="1776" cy="2640"/>
            </a:xfrm>
          </p:grpSpPr>
          <p:grpSp>
            <p:nvGrpSpPr>
              <p:cNvPr id="194" name="Group 31"/>
              <p:cNvGrpSpPr>
                <a:grpSpLocks/>
              </p:cNvGrpSpPr>
              <p:nvPr/>
            </p:nvGrpSpPr>
            <p:grpSpPr bwMode="auto">
              <a:xfrm>
                <a:off x="1056" y="1200"/>
                <a:ext cx="1776" cy="2640"/>
                <a:chOff x="1056" y="1200"/>
                <a:chExt cx="1776" cy="2640"/>
              </a:xfrm>
            </p:grpSpPr>
            <p:grpSp>
              <p:nvGrpSpPr>
                <p:cNvPr id="196" name="Group 32"/>
                <p:cNvGrpSpPr>
                  <a:grpSpLocks/>
                </p:cNvGrpSpPr>
                <p:nvPr/>
              </p:nvGrpSpPr>
              <p:grpSpPr bwMode="auto">
                <a:xfrm>
                  <a:off x="1056" y="1200"/>
                  <a:ext cx="1344" cy="2640"/>
                  <a:chOff x="1056" y="1200"/>
                  <a:chExt cx="1344" cy="2640"/>
                </a:xfrm>
              </p:grpSpPr>
              <p:grpSp>
                <p:nvGrpSpPr>
                  <p:cNvPr id="198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1056" y="1200"/>
                    <a:ext cx="1344" cy="2640"/>
                    <a:chOff x="1056" y="1200"/>
                    <a:chExt cx="1344" cy="2640"/>
                  </a:xfrm>
                </p:grpSpPr>
                <p:grpSp>
                  <p:nvGrpSpPr>
                    <p:cNvPr id="200" name="Group 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40" y="1200"/>
                      <a:ext cx="960" cy="2640"/>
                      <a:chOff x="1440" y="1200"/>
                      <a:chExt cx="960" cy="2640"/>
                    </a:xfrm>
                  </p:grpSpPr>
                  <p:sp>
                    <p:nvSpPr>
                      <p:cNvPr id="202" name="Rectangle 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4" y="1200"/>
                        <a:ext cx="192" cy="14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en-US" altLang="zh-CN" sz="2000" b="1"/>
                          <a:t>3</a:t>
                        </a:r>
                      </a:p>
                    </p:txBody>
                  </p:sp>
                  <p:sp>
                    <p:nvSpPr>
                      <p:cNvPr id="203" name="Text Box 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24" y="1285"/>
                        <a:ext cx="116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eaLnBrk="0" hangingPunct="0"/>
                        <a:endParaRPr lang="zh-CN" altLang="zh-CN" sz="2000" b="1"/>
                      </a:p>
                    </p:txBody>
                  </p:sp>
                  <p:sp>
                    <p:nvSpPr>
                      <p:cNvPr id="204" name="Text Box 3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680" y="1440"/>
                        <a:ext cx="720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>
                        <a:spAutoFit/>
                      </a:bodyPr>
                      <a:lstStyle/>
                      <a:p>
                        <a:pPr eaLnBrk="0" hangingPunct="0">
                          <a:spcBef>
                            <a:spcPct val="50000"/>
                          </a:spcBef>
                        </a:pPr>
                        <a:r>
                          <a:rPr lang="en-US" altLang="zh-CN" sz="2000" b="1">
                            <a:effectLst>
                              <a:outerShdw blurRad="38100" dist="38100" dir="2700000" algn="tl">
                                <a:srgbClr val="FFFFFF"/>
                              </a:outerShdw>
                            </a:effectLst>
                          </a:rPr>
                          <a:t>print(2);</a:t>
                        </a:r>
                      </a:p>
                    </p:txBody>
                  </p:sp>
                  <p:grpSp>
                    <p:nvGrpSpPr>
                      <p:cNvPr id="205" name="Group 3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440" y="2976"/>
                        <a:ext cx="672" cy="864"/>
                        <a:chOff x="1200" y="3024"/>
                        <a:chExt cx="672" cy="864"/>
                      </a:xfrm>
                    </p:grpSpPr>
                    <p:sp>
                      <p:nvSpPr>
                        <p:cNvPr id="206" name="Rectangle 3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3696"/>
                          <a:ext cx="672" cy="192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pPr algn="ctr" eaLnBrk="0" hangingPunct="0"/>
                          <a:r>
                            <a:rPr lang="zh-CN" altLang="en-US" sz="2000" b="1"/>
                            <a:t>（</a:t>
                          </a:r>
                          <a:r>
                            <a:rPr lang="en-US" altLang="zh-CN" sz="2000" b="1"/>
                            <a:t>1</a:t>
                          </a:r>
                          <a:r>
                            <a:rPr lang="zh-CN" altLang="en-US" sz="2000" b="1"/>
                            <a:t>）</a:t>
                          </a:r>
                          <a:r>
                            <a:rPr lang="en-US" altLang="zh-CN" sz="2000" b="1"/>
                            <a:t>w=3  </a:t>
                          </a:r>
                        </a:p>
                      </p:txBody>
                    </p:sp>
                    <p:sp>
                      <p:nvSpPr>
                        <p:cNvPr id="207" name="Line 4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00" y="3024"/>
                          <a:ext cx="0" cy="86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08" name="Line 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872" y="3024"/>
                          <a:ext cx="0" cy="86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sp>
                  <p:nvSpPr>
                    <p:cNvPr id="201" name="AutoShape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56" y="3696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99" name="Text Box 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6" y="3408"/>
                    <a:ext cx="3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1800" b="1"/>
                      <a:t>top</a:t>
                    </a:r>
                  </a:p>
                </p:txBody>
              </p:sp>
            </p:grpSp>
            <p:sp>
              <p:nvSpPr>
                <p:cNvPr id="197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536" y="1680"/>
                  <a:ext cx="1296" cy="25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FFFF"/>
                    </a:gs>
                    <a:gs pos="100000">
                      <a:srgbClr val="00FFFF">
                        <a:gamma/>
                        <a:shade val="72549"/>
                        <a:invGamma/>
                      </a:srgb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(2) </a:t>
                  </a:r>
                  <a:r>
                    <a:rPr lang="zh-CN" altLang="en-US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输出：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3, 3, 3</a:t>
                  </a:r>
                </a:p>
              </p:txBody>
            </p:sp>
          </p:grpSp>
          <p:sp>
            <p:nvSpPr>
              <p:cNvPr id="195" name="Line 45"/>
              <p:cNvSpPr>
                <a:spLocks noChangeShapeType="1"/>
              </p:cNvSpPr>
              <p:nvPr/>
            </p:nvSpPr>
            <p:spPr bwMode="auto">
              <a:xfrm>
                <a:off x="1488" y="1920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3" name="Text Box 46" descr="花岗岩"/>
            <p:cNvSpPr txBox="1">
              <a:spLocks noChangeArrowheads="1"/>
            </p:cNvSpPr>
            <p:nvPr/>
          </p:nvSpPr>
          <p:spPr bwMode="auto">
            <a:xfrm>
              <a:off x="1776" y="96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209" name="Group 47"/>
          <p:cNvGrpSpPr>
            <a:grpSpLocks/>
          </p:cNvGrpSpPr>
          <p:nvPr/>
        </p:nvGrpSpPr>
        <p:grpSpPr bwMode="auto">
          <a:xfrm>
            <a:off x="4996879" y="1086569"/>
            <a:ext cx="2667000" cy="5257800"/>
            <a:chOff x="2208" y="528"/>
            <a:chExt cx="1680" cy="3312"/>
          </a:xfrm>
        </p:grpSpPr>
        <p:grpSp>
          <p:nvGrpSpPr>
            <p:cNvPr id="210" name="Group 48"/>
            <p:cNvGrpSpPr>
              <a:grpSpLocks/>
            </p:cNvGrpSpPr>
            <p:nvPr/>
          </p:nvGrpSpPr>
          <p:grpSpPr bwMode="auto">
            <a:xfrm>
              <a:off x="2208" y="768"/>
              <a:ext cx="1680" cy="3072"/>
              <a:chOff x="2208" y="768"/>
              <a:chExt cx="1680" cy="3072"/>
            </a:xfrm>
          </p:grpSpPr>
          <p:grpSp>
            <p:nvGrpSpPr>
              <p:cNvPr id="212" name="Group 49"/>
              <p:cNvGrpSpPr>
                <a:grpSpLocks/>
              </p:cNvGrpSpPr>
              <p:nvPr/>
            </p:nvGrpSpPr>
            <p:grpSpPr bwMode="auto">
              <a:xfrm>
                <a:off x="2208" y="768"/>
                <a:ext cx="1680" cy="3072"/>
                <a:chOff x="2208" y="768"/>
                <a:chExt cx="1680" cy="3072"/>
              </a:xfrm>
            </p:grpSpPr>
            <p:grpSp>
              <p:nvGrpSpPr>
                <p:cNvPr id="214" name="Group 50"/>
                <p:cNvGrpSpPr>
                  <a:grpSpLocks/>
                </p:cNvGrpSpPr>
                <p:nvPr/>
              </p:nvGrpSpPr>
              <p:grpSpPr bwMode="auto">
                <a:xfrm>
                  <a:off x="2208" y="768"/>
                  <a:ext cx="1392" cy="3072"/>
                  <a:chOff x="2208" y="768"/>
                  <a:chExt cx="1392" cy="3072"/>
                </a:xfrm>
              </p:grpSpPr>
              <p:grpSp>
                <p:nvGrpSpPr>
                  <p:cNvPr id="216" name="Group 51"/>
                  <p:cNvGrpSpPr>
                    <a:grpSpLocks/>
                  </p:cNvGrpSpPr>
                  <p:nvPr/>
                </p:nvGrpSpPr>
                <p:grpSpPr bwMode="auto">
                  <a:xfrm>
                    <a:off x="2208" y="768"/>
                    <a:ext cx="1392" cy="3072"/>
                    <a:chOff x="2208" y="768"/>
                    <a:chExt cx="1392" cy="3072"/>
                  </a:xfrm>
                </p:grpSpPr>
                <p:sp>
                  <p:nvSpPr>
                    <p:cNvPr id="218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2" y="768"/>
                      <a:ext cx="192" cy="144"/>
                    </a:xfrm>
                    <a:prstGeom prst="rect">
                      <a:avLst/>
                    </a:prstGeom>
                    <a:solidFill>
                      <a:srgbClr val="CCEC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0" hangingPunct="0"/>
                      <a:r>
                        <a:rPr lang="en-US" altLang="zh-CN" sz="2000" b="1"/>
                        <a:t>2</a:t>
                      </a:r>
                    </a:p>
                  </p:txBody>
                </p:sp>
                <p:sp>
                  <p:nvSpPr>
                    <p:cNvPr id="219" name="Text Box 5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72" y="912"/>
                      <a:ext cx="288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endParaRPr lang="zh-CN" altLang="zh-CN" sz="2000" b="1"/>
                    </a:p>
                  </p:txBody>
                </p:sp>
                <p:sp>
                  <p:nvSpPr>
                    <p:cNvPr id="220" name="Text Box 5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28" y="1056"/>
                      <a:ext cx="672" cy="44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r>
                        <a:rPr lang="en-US" altLang="zh-CN" sz="2000" b="1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print(1);</a:t>
                      </a:r>
                    </a:p>
                  </p:txBody>
                </p:sp>
                <p:grpSp>
                  <p:nvGrpSpPr>
                    <p:cNvPr id="221" name="Group 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40" y="2976"/>
                      <a:ext cx="672" cy="864"/>
                      <a:chOff x="2736" y="2976"/>
                      <a:chExt cx="672" cy="864"/>
                    </a:xfrm>
                  </p:grpSpPr>
                  <p:sp>
                    <p:nvSpPr>
                      <p:cNvPr id="223" name="Rectangle 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6" y="3456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2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w=2  </a:t>
                        </a:r>
                      </a:p>
                    </p:txBody>
                  </p:sp>
                  <p:sp>
                    <p:nvSpPr>
                      <p:cNvPr id="224" name="Rectangle 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6" y="3648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1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w=3  </a:t>
                        </a:r>
                      </a:p>
                    </p:txBody>
                  </p:sp>
                  <p:sp>
                    <p:nvSpPr>
                      <p:cNvPr id="225" name="Line 58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736" y="2976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6" name="Line 5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08" y="2976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222" name="AutoShape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8" y="3504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17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08" y="3264"/>
                    <a:ext cx="3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1800" b="1"/>
                      <a:t>top</a:t>
                    </a:r>
                  </a:p>
                </p:txBody>
              </p:sp>
            </p:grpSp>
            <p:sp>
              <p:nvSpPr>
                <p:cNvPr id="215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784" y="1344"/>
                  <a:ext cx="1104" cy="25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FFFF"/>
                    </a:gs>
                    <a:gs pos="100000">
                      <a:srgbClr val="00FFFF">
                        <a:gamma/>
                        <a:shade val="66667"/>
                        <a:invGamma/>
                      </a:srgb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(3) </a:t>
                  </a:r>
                  <a:r>
                    <a:rPr lang="zh-CN" altLang="en-US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输出：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2, 2</a:t>
                  </a:r>
                </a:p>
              </p:txBody>
            </p:sp>
          </p:grpSp>
          <p:sp>
            <p:nvSpPr>
              <p:cNvPr id="213" name="Line 63"/>
              <p:cNvSpPr>
                <a:spLocks noChangeShapeType="1"/>
              </p:cNvSpPr>
              <p:nvPr/>
            </p:nvSpPr>
            <p:spPr bwMode="auto">
              <a:xfrm>
                <a:off x="2736" y="158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1" name="Text Box 64" descr="花岗岩"/>
            <p:cNvSpPr txBox="1">
              <a:spLocks noChangeArrowheads="1"/>
            </p:cNvSpPr>
            <p:nvPr/>
          </p:nvSpPr>
          <p:spPr bwMode="auto">
            <a:xfrm>
              <a:off x="3024" y="528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227" name="Group 65"/>
          <p:cNvGrpSpPr>
            <a:grpSpLocks/>
          </p:cNvGrpSpPr>
          <p:nvPr/>
        </p:nvGrpSpPr>
        <p:grpSpPr bwMode="auto">
          <a:xfrm>
            <a:off x="6746304" y="638894"/>
            <a:ext cx="2286000" cy="5715000"/>
            <a:chOff x="3360" y="240"/>
            <a:chExt cx="1392" cy="3600"/>
          </a:xfrm>
        </p:grpSpPr>
        <p:grpSp>
          <p:nvGrpSpPr>
            <p:cNvPr id="228" name="Group 66"/>
            <p:cNvGrpSpPr>
              <a:grpSpLocks/>
            </p:cNvGrpSpPr>
            <p:nvPr/>
          </p:nvGrpSpPr>
          <p:grpSpPr bwMode="auto">
            <a:xfrm>
              <a:off x="3360" y="480"/>
              <a:ext cx="1392" cy="3360"/>
              <a:chOff x="3360" y="480"/>
              <a:chExt cx="1392" cy="3360"/>
            </a:xfrm>
          </p:grpSpPr>
          <p:grpSp>
            <p:nvGrpSpPr>
              <p:cNvPr id="230" name="Group 67"/>
              <p:cNvGrpSpPr>
                <a:grpSpLocks/>
              </p:cNvGrpSpPr>
              <p:nvPr/>
            </p:nvGrpSpPr>
            <p:grpSpPr bwMode="auto">
              <a:xfrm>
                <a:off x="3360" y="480"/>
                <a:ext cx="1392" cy="3360"/>
                <a:chOff x="3360" y="480"/>
                <a:chExt cx="1392" cy="3360"/>
              </a:xfrm>
            </p:grpSpPr>
            <p:grpSp>
              <p:nvGrpSpPr>
                <p:cNvPr id="232" name="Group 68"/>
                <p:cNvGrpSpPr>
                  <a:grpSpLocks/>
                </p:cNvGrpSpPr>
                <p:nvPr/>
              </p:nvGrpSpPr>
              <p:grpSpPr bwMode="auto">
                <a:xfrm>
                  <a:off x="3360" y="480"/>
                  <a:ext cx="1392" cy="3360"/>
                  <a:chOff x="3360" y="480"/>
                  <a:chExt cx="1392" cy="3360"/>
                </a:xfrm>
              </p:grpSpPr>
              <p:grpSp>
                <p:nvGrpSpPr>
                  <p:cNvPr id="236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3360" y="480"/>
                    <a:ext cx="1392" cy="3360"/>
                    <a:chOff x="3360" y="480"/>
                    <a:chExt cx="1392" cy="3360"/>
                  </a:xfrm>
                </p:grpSpPr>
                <p:sp>
                  <p:nvSpPr>
                    <p:cNvPr id="238" name="Rectangle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6" y="480"/>
                      <a:ext cx="192" cy="144"/>
                    </a:xfrm>
                    <a:prstGeom prst="rect">
                      <a:avLst/>
                    </a:prstGeom>
                    <a:solidFill>
                      <a:srgbClr val="FFCC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0" hangingPunct="0"/>
                      <a:r>
                        <a:rPr lang="en-US" altLang="zh-CN" sz="2000" b="1"/>
                        <a:t>1</a:t>
                      </a:r>
                    </a:p>
                  </p:txBody>
                </p:sp>
                <p:sp>
                  <p:nvSpPr>
                    <p:cNvPr id="239" name="Text Box 7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32" y="720"/>
                      <a:ext cx="720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r>
                        <a:rPr lang="en-US" altLang="zh-CN" sz="2000" b="1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print(0);</a:t>
                      </a:r>
                    </a:p>
                  </p:txBody>
                </p:sp>
                <p:grpSp>
                  <p:nvGrpSpPr>
                    <p:cNvPr id="240" name="Group 7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44" y="2976"/>
                      <a:ext cx="672" cy="864"/>
                      <a:chOff x="2976" y="2112"/>
                      <a:chExt cx="672" cy="864"/>
                    </a:xfrm>
                  </p:grpSpPr>
                  <p:sp>
                    <p:nvSpPr>
                      <p:cNvPr id="243" name="Rectangle 7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400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3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w=1  </a:t>
                        </a:r>
                      </a:p>
                    </p:txBody>
                  </p:sp>
                  <p:sp>
                    <p:nvSpPr>
                      <p:cNvPr id="244" name="Rectangle 7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592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2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w=2  </a:t>
                        </a:r>
                      </a:p>
                    </p:txBody>
                  </p:sp>
                  <p:sp>
                    <p:nvSpPr>
                      <p:cNvPr id="245" name="Rectangle 7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784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1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w=3  </a:t>
                        </a:r>
                      </a:p>
                    </p:txBody>
                  </p:sp>
                  <p:sp>
                    <p:nvSpPr>
                      <p:cNvPr id="246" name="Line 76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976" y="2112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47" name="Line 77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648" y="2112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241" name="AutoShape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0" y="3312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2" name="Text Box 7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76" y="576"/>
                      <a:ext cx="192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endParaRPr lang="zh-CN" altLang="zh-CN" sz="2000" b="1"/>
                    </a:p>
                  </p:txBody>
                </p:sp>
              </p:grpSp>
              <p:sp>
                <p:nvSpPr>
                  <p:cNvPr id="237" name="Text Box 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0" y="3072"/>
                    <a:ext cx="336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/>
                      <a:t>top</a:t>
                    </a:r>
                  </a:p>
                </p:txBody>
              </p:sp>
            </p:grpSp>
            <p:grpSp>
              <p:nvGrpSpPr>
                <p:cNvPr id="233" name="Group 81"/>
                <p:cNvGrpSpPr>
                  <a:grpSpLocks/>
                </p:cNvGrpSpPr>
                <p:nvPr/>
              </p:nvGrpSpPr>
              <p:grpSpPr bwMode="auto">
                <a:xfrm>
                  <a:off x="3888" y="960"/>
                  <a:ext cx="864" cy="250"/>
                  <a:chOff x="3840" y="960"/>
                  <a:chExt cx="864" cy="250"/>
                </a:xfrm>
              </p:grpSpPr>
              <p:sp>
                <p:nvSpPr>
                  <p:cNvPr id="234" name="Text Box 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0" y="960"/>
                    <a:ext cx="864" cy="25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FFFF"/>
                      </a:gs>
                      <a:gs pos="100000">
                        <a:srgbClr val="00FFFF">
                          <a:gamma/>
                          <a:shade val="75686"/>
                          <a:invGamma/>
                        </a:srgbClr>
                      </a:gs>
                    </a:gsLst>
                    <a:lin ang="5400000" scaled="1"/>
                  </a:gra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(4)</a:t>
                    </a:r>
                    <a:r>
                      <a:rPr lang="zh-CN" altLang="en-US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输出：</a:t>
                    </a:r>
                    <a:r>
                      <a:rPr lang="en-US" altLang="zh-CN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235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3840" y="120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31" name="Line 84"/>
              <p:cNvSpPr>
                <a:spLocks noChangeShapeType="1"/>
              </p:cNvSpPr>
              <p:nvPr/>
            </p:nvSpPr>
            <p:spPr bwMode="auto">
              <a:xfrm>
                <a:off x="3696" y="12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9" name="Text Box 85" descr="花岗岩"/>
            <p:cNvSpPr txBox="1">
              <a:spLocks noChangeArrowheads="1"/>
            </p:cNvSpPr>
            <p:nvPr/>
          </p:nvSpPr>
          <p:spPr bwMode="auto">
            <a:xfrm>
              <a:off x="4128" y="24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248" name="Group 86"/>
          <p:cNvGrpSpPr>
            <a:grpSpLocks/>
          </p:cNvGrpSpPr>
          <p:nvPr/>
        </p:nvGrpSpPr>
        <p:grpSpPr bwMode="auto">
          <a:xfrm>
            <a:off x="8575104" y="638894"/>
            <a:ext cx="1676400" cy="5715000"/>
            <a:chOff x="4464" y="240"/>
            <a:chExt cx="1056" cy="3600"/>
          </a:xfrm>
        </p:grpSpPr>
        <p:grpSp>
          <p:nvGrpSpPr>
            <p:cNvPr id="249" name="Group 87"/>
            <p:cNvGrpSpPr>
              <a:grpSpLocks/>
            </p:cNvGrpSpPr>
            <p:nvPr/>
          </p:nvGrpSpPr>
          <p:grpSpPr bwMode="auto">
            <a:xfrm>
              <a:off x="4464" y="480"/>
              <a:ext cx="1056" cy="3360"/>
              <a:chOff x="4464" y="480"/>
              <a:chExt cx="1056" cy="3360"/>
            </a:xfrm>
          </p:grpSpPr>
          <p:grpSp>
            <p:nvGrpSpPr>
              <p:cNvPr id="251" name="Group 88"/>
              <p:cNvGrpSpPr>
                <a:grpSpLocks/>
              </p:cNvGrpSpPr>
              <p:nvPr/>
            </p:nvGrpSpPr>
            <p:grpSpPr bwMode="auto">
              <a:xfrm>
                <a:off x="4464" y="480"/>
                <a:ext cx="1056" cy="3360"/>
                <a:chOff x="4464" y="480"/>
                <a:chExt cx="1056" cy="3360"/>
              </a:xfrm>
            </p:grpSpPr>
            <p:sp>
              <p:nvSpPr>
                <p:cNvPr id="253" name="Rectangle 89"/>
                <p:cNvSpPr>
                  <a:spLocks noChangeArrowheads="1"/>
                </p:cNvSpPr>
                <p:nvPr/>
              </p:nvSpPr>
              <p:spPr bwMode="auto">
                <a:xfrm>
                  <a:off x="5280" y="480"/>
                  <a:ext cx="192" cy="144"/>
                </a:xfrm>
                <a:prstGeom prst="rect">
                  <a:avLst/>
                </a:prstGeom>
                <a:solidFill>
                  <a:srgbClr val="CC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zh-CN" sz="2000" b="1"/>
                    <a:t>0</a:t>
                  </a:r>
                </a:p>
              </p:txBody>
            </p:sp>
            <p:sp>
              <p:nvSpPr>
                <p:cNvPr id="254" name="Line 90"/>
                <p:cNvSpPr>
                  <a:spLocks noChangeShapeType="1"/>
                </p:cNvSpPr>
                <p:nvPr/>
              </p:nvSpPr>
              <p:spPr bwMode="auto">
                <a:xfrm flipV="1">
                  <a:off x="4944" y="57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4800" y="86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" name="Line 92"/>
                <p:cNvSpPr>
                  <a:spLocks noChangeShapeType="1"/>
                </p:cNvSpPr>
                <p:nvPr/>
              </p:nvSpPr>
              <p:spPr bwMode="auto">
                <a:xfrm>
                  <a:off x="4944" y="5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280" y="576"/>
                  <a:ext cx="192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zh-CN" sz="2000" b="1"/>
                </a:p>
              </p:txBody>
            </p:sp>
            <p:grpSp>
              <p:nvGrpSpPr>
                <p:cNvPr id="258" name="Group 94"/>
                <p:cNvGrpSpPr>
                  <a:grpSpLocks/>
                </p:cNvGrpSpPr>
                <p:nvPr/>
              </p:nvGrpSpPr>
              <p:grpSpPr bwMode="auto">
                <a:xfrm>
                  <a:off x="4848" y="2976"/>
                  <a:ext cx="672" cy="864"/>
                  <a:chOff x="3792" y="2352"/>
                  <a:chExt cx="672" cy="864"/>
                </a:xfrm>
              </p:grpSpPr>
              <p:sp>
                <p:nvSpPr>
                  <p:cNvPr id="260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448"/>
                    <a:ext cx="672" cy="192"/>
                  </a:xfrm>
                  <a:prstGeom prst="rect">
                    <a:avLst/>
                  </a:prstGeom>
                  <a:solidFill>
                    <a:srgbClr val="CC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4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w=0  </a:t>
                    </a:r>
                  </a:p>
                </p:txBody>
              </p:sp>
              <p:sp>
                <p:nvSpPr>
                  <p:cNvPr id="261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640"/>
                    <a:ext cx="672" cy="192"/>
                  </a:xfrm>
                  <a:prstGeom prst="rect">
                    <a:avLst/>
                  </a:prstGeom>
                  <a:solidFill>
                    <a:srgbClr val="FFCC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3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w=1  </a:t>
                    </a:r>
                  </a:p>
                </p:txBody>
              </p:sp>
              <p:sp>
                <p:nvSpPr>
                  <p:cNvPr id="262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832"/>
                    <a:ext cx="672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2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w=2  </a:t>
                    </a:r>
                  </a:p>
                </p:txBody>
              </p:sp>
              <p:sp>
                <p:nvSpPr>
                  <p:cNvPr id="263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3024"/>
                    <a:ext cx="672" cy="192"/>
                  </a:xfrm>
                  <a:prstGeom prst="rect">
                    <a:avLst/>
                  </a:prstGeom>
                  <a:solidFill>
                    <a:srgbClr val="CCFFCC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1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w=3  </a:t>
                    </a:r>
                  </a:p>
                </p:txBody>
              </p:sp>
              <p:sp>
                <p:nvSpPr>
                  <p:cNvPr id="264" name="Line 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92" y="2352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5" name="Line 10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64" y="2352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59" name="AutoShape 101"/>
                <p:cNvSpPr>
                  <a:spLocks noChangeArrowheads="1"/>
                </p:cNvSpPr>
                <p:nvPr/>
              </p:nvSpPr>
              <p:spPr bwMode="auto">
                <a:xfrm>
                  <a:off x="4464" y="3120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2" name="Text Box 102"/>
              <p:cNvSpPr txBox="1">
                <a:spLocks noChangeArrowheads="1"/>
              </p:cNvSpPr>
              <p:nvPr/>
            </p:nvSpPr>
            <p:spPr bwMode="auto">
              <a:xfrm>
                <a:off x="4464" y="2880"/>
                <a:ext cx="3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800" b="1"/>
                  <a:t>top</a:t>
                </a:r>
              </a:p>
            </p:txBody>
          </p:sp>
        </p:grpSp>
        <p:sp>
          <p:nvSpPr>
            <p:cNvPr id="250" name="Text Box 103" descr="花岗岩"/>
            <p:cNvSpPr txBox="1">
              <a:spLocks noChangeArrowheads="1"/>
            </p:cNvSpPr>
            <p:nvPr/>
          </p:nvSpPr>
          <p:spPr bwMode="auto">
            <a:xfrm>
              <a:off x="5232" y="24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sp>
        <p:nvSpPr>
          <p:cNvPr id="266" name="Rectangle 104"/>
          <p:cNvSpPr>
            <a:spLocks noChangeArrowheads="1"/>
          </p:cNvSpPr>
          <p:nvPr/>
        </p:nvSpPr>
        <p:spPr bwMode="auto">
          <a:xfrm>
            <a:off x="1900932" y="4696544"/>
            <a:ext cx="8572500" cy="182880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67" name="Group 105"/>
          <p:cNvGrpSpPr>
            <a:grpSpLocks/>
          </p:cNvGrpSpPr>
          <p:nvPr/>
        </p:nvGrpSpPr>
        <p:grpSpPr bwMode="auto">
          <a:xfrm>
            <a:off x="4993704" y="2377207"/>
            <a:ext cx="2667000" cy="3962400"/>
            <a:chOff x="2208" y="1344"/>
            <a:chExt cx="1680" cy="2496"/>
          </a:xfrm>
        </p:grpSpPr>
        <p:sp>
          <p:nvSpPr>
            <p:cNvPr id="268" name="Text Box 106"/>
            <p:cNvSpPr txBox="1">
              <a:spLocks noChangeArrowheads="1"/>
            </p:cNvSpPr>
            <p:nvPr/>
          </p:nvSpPr>
          <p:spPr bwMode="auto">
            <a:xfrm>
              <a:off x="2784" y="1344"/>
              <a:ext cx="1104" cy="252"/>
            </a:xfrm>
            <a:prstGeom prst="rect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FF99FF">
                    <a:gamma/>
                    <a:shade val="7882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(3) 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2, 2</a:t>
              </a:r>
            </a:p>
          </p:txBody>
        </p:sp>
        <p:grpSp>
          <p:nvGrpSpPr>
            <p:cNvPr id="269" name="Group 107"/>
            <p:cNvGrpSpPr>
              <a:grpSpLocks/>
            </p:cNvGrpSpPr>
            <p:nvPr/>
          </p:nvGrpSpPr>
          <p:grpSpPr bwMode="auto">
            <a:xfrm>
              <a:off x="2208" y="2976"/>
              <a:ext cx="1104" cy="864"/>
              <a:chOff x="2208" y="2208"/>
              <a:chExt cx="1104" cy="864"/>
            </a:xfrm>
          </p:grpSpPr>
          <p:sp>
            <p:nvSpPr>
              <p:cNvPr id="270" name="Rectangle 108"/>
              <p:cNvSpPr>
                <a:spLocks noChangeArrowheads="1"/>
              </p:cNvSpPr>
              <p:nvPr/>
            </p:nvSpPr>
            <p:spPr bwMode="auto">
              <a:xfrm>
                <a:off x="2640" y="2688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2</a:t>
                </a:r>
              </a:p>
            </p:txBody>
          </p:sp>
          <p:sp>
            <p:nvSpPr>
              <p:cNvPr id="271" name="Rectangle 109"/>
              <p:cNvSpPr>
                <a:spLocks noChangeArrowheads="1"/>
              </p:cNvSpPr>
              <p:nvPr/>
            </p:nvSpPr>
            <p:spPr bwMode="auto">
              <a:xfrm>
                <a:off x="2640" y="2880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3</a:t>
                </a:r>
              </a:p>
            </p:txBody>
          </p:sp>
          <p:sp>
            <p:nvSpPr>
              <p:cNvPr id="272" name="Line 110"/>
              <p:cNvSpPr>
                <a:spLocks noChangeShapeType="1"/>
              </p:cNvSpPr>
              <p:nvPr/>
            </p:nvSpPr>
            <p:spPr bwMode="auto">
              <a:xfrm flipV="1">
                <a:off x="2640" y="220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273" name="Line 111"/>
              <p:cNvSpPr>
                <a:spLocks noChangeShapeType="1"/>
              </p:cNvSpPr>
              <p:nvPr/>
            </p:nvSpPr>
            <p:spPr bwMode="auto">
              <a:xfrm flipV="1">
                <a:off x="3312" y="220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274" name="Group 112"/>
              <p:cNvGrpSpPr>
                <a:grpSpLocks/>
              </p:cNvGrpSpPr>
              <p:nvPr/>
            </p:nvGrpSpPr>
            <p:grpSpPr bwMode="auto">
              <a:xfrm>
                <a:off x="2208" y="2496"/>
                <a:ext cx="384" cy="288"/>
                <a:chOff x="1440" y="3888"/>
                <a:chExt cx="384" cy="288"/>
              </a:xfrm>
            </p:grpSpPr>
            <p:sp>
              <p:nvSpPr>
                <p:cNvPr id="275" name="AutoShape 113"/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276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277" name="Group 115"/>
          <p:cNvGrpSpPr>
            <a:grpSpLocks/>
          </p:cNvGrpSpPr>
          <p:nvPr/>
        </p:nvGrpSpPr>
        <p:grpSpPr bwMode="auto">
          <a:xfrm>
            <a:off x="6746304" y="1781894"/>
            <a:ext cx="2286000" cy="4572000"/>
            <a:chOff x="3360" y="960"/>
            <a:chExt cx="1392" cy="2880"/>
          </a:xfrm>
        </p:grpSpPr>
        <p:sp>
          <p:nvSpPr>
            <p:cNvPr id="278" name="Text Box 116"/>
            <p:cNvSpPr txBox="1">
              <a:spLocks noChangeArrowheads="1"/>
            </p:cNvSpPr>
            <p:nvPr/>
          </p:nvSpPr>
          <p:spPr bwMode="auto">
            <a:xfrm>
              <a:off x="3888" y="960"/>
              <a:ext cx="864" cy="252"/>
            </a:xfrm>
            <a:prstGeom prst="rect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FF99FF">
                    <a:gamma/>
                    <a:shade val="72549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(4)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1</a:t>
              </a:r>
            </a:p>
          </p:txBody>
        </p:sp>
        <p:grpSp>
          <p:nvGrpSpPr>
            <p:cNvPr id="279" name="Group 117"/>
            <p:cNvGrpSpPr>
              <a:grpSpLocks/>
            </p:cNvGrpSpPr>
            <p:nvPr/>
          </p:nvGrpSpPr>
          <p:grpSpPr bwMode="auto">
            <a:xfrm>
              <a:off x="3360" y="2976"/>
              <a:ext cx="1056" cy="864"/>
              <a:chOff x="3456" y="2976"/>
              <a:chExt cx="1056" cy="864"/>
            </a:xfrm>
          </p:grpSpPr>
          <p:sp>
            <p:nvSpPr>
              <p:cNvPr id="280" name="Rectangle 118"/>
              <p:cNvSpPr>
                <a:spLocks noChangeArrowheads="1"/>
              </p:cNvSpPr>
              <p:nvPr/>
            </p:nvSpPr>
            <p:spPr bwMode="auto">
              <a:xfrm>
                <a:off x="3840" y="3264"/>
                <a:ext cx="672" cy="19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(3)       1</a:t>
                </a:r>
              </a:p>
            </p:txBody>
          </p:sp>
          <p:sp>
            <p:nvSpPr>
              <p:cNvPr id="281" name="Rectangle 119"/>
              <p:cNvSpPr>
                <a:spLocks noChangeArrowheads="1"/>
              </p:cNvSpPr>
              <p:nvPr/>
            </p:nvSpPr>
            <p:spPr bwMode="auto">
              <a:xfrm>
                <a:off x="3840" y="3456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   2</a:t>
                </a:r>
              </a:p>
            </p:txBody>
          </p:sp>
          <p:sp>
            <p:nvSpPr>
              <p:cNvPr id="282" name="Rectangle 120"/>
              <p:cNvSpPr>
                <a:spLocks noChangeArrowheads="1"/>
              </p:cNvSpPr>
              <p:nvPr/>
            </p:nvSpPr>
            <p:spPr bwMode="auto">
              <a:xfrm>
                <a:off x="3840" y="36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  3</a:t>
                </a:r>
              </a:p>
            </p:txBody>
          </p:sp>
          <p:sp>
            <p:nvSpPr>
              <p:cNvPr id="283" name="Line 121"/>
              <p:cNvSpPr>
                <a:spLocks noChangeShapeType="1"/>
              </p:cNvSpPr>
              <p:nvPr/>
            </p:nvSpPr>
            <p:spPr bwMode="auto">
              <a:xfrm flipV="1">
                <a:off x="4512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284" name="Line 122"/>
              <p:cNvSpPr>
                <a:spLocks noChangeShapeType="1"/>
              </p:cNvSpPr>
              <p:nvPr/>
            </p:nvSpPr>
            <p:spPr bwMode="auto">
              <a:xfrm flipV="1">
                <a:off x="3840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285" name="Group 123"/>
              <p:cNvGrpSpPr>
                <a:grpSpLocks/>
              </p:cNvGrpSpPr>
              <p:nvPr/>
            </p:nvGrpSpPr>
            <p:grpSpPr bwMode="auto">
              <a:xfrm>
                <a:off x="3456" y="3072"/>
                <a:ext cx="384" cy="288"/>
                <a:chOff x="1440" y="3888"/>
                <a:chExt cx="384" cy="288"/>
              </a:xfrm>
            </p:grpSpPr>
            <p:sp>
              <p:nvSpPr>
                <p:cNvPr id="286" name="AutoShape 124"/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287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288" name="Group 126"/>
          <p:cNvGrpSpPr>
            <a:grpSpLocks/>
          </p:cNvGrpSpPr>
          <p:nvPr/>
        </p:nvGrpSpPr>
        <p:grpSpPr bwMode="auto">
          <a:xfrm>
            <a:off x="3164904" y="2924894"/>
            <a:ext cx="2819400" cy="3429000"/>
            <a:chOff x="1056" y="1680"/>
            <a:chExt cx="1776" cy="2160"/>
          </a:xfrm>
        </p:grpSpPr>
        <p:sp>
          <p:nvSpPr>
            <p:cNvPr id="289" name="Text Box 127"/>
            <p:cNvSpPr txBox="1">
              <a:spLocks noChangeArrowheads="1"/>
            </p:cNvSpPr>
            <p:nvPr/>
          </p:nvSpPr>
          <p:spPr bwMode="auto">
            <a:xfrm>
              <a:off x="1536" y="1680"/>
              <a:ext cx="1296" cy="252"/>
            </a:xfrm>
            <a:prstGeom prst="rect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FF99FF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(2)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3, 3, 3  </a:t>
              </a:r>
            </a:p>
          </p:txBody>
        </p:sp>
        <p:grpSp>
          <p:nvGrpSpPr>
            <p:cNvPr id="290" name="Group 128"/>
            <p:cNvGrpSpPr>
              <a:grpSpLocks/>
            </p:cNvGrpSpPr>
            <p:nvPr/>
          </p:nvGrpSpPr>
          <p:grpSpPr bwMode="auto">
            <a:xfrm>
              <a:off x="1056" y="2976"/>
              <a:ext cx="1056" cy="864"/>
              <a:chOff x="2160" y="1776"/>
              <a:chExt cx="1056" cy="864"/>
            </a:xfrm>
          </p:grpSpPr>
          <p:sp>
            <p:nvSpPr>
              <p:cNvPr id="291" name="Rectangle 129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(1 )    3</a:t>
                </a:r>
              </a:p>
            </p:txBody>
          </p:sp>
          <p:sp>
            <p:nvSpPr>
              <p:cNvPr id="292" name="Line 130"/>
              <p:cNvSpPr>
                <a:spLocks noChangeShapeType="1"/>
              </p:cNvSpPr>
              <p:nvPr/>
            </p:nvSpPr>
            <p:spPr bwMode="auto">
              <a:xfrm flipV="1">
                <a:off x="2544" y="17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293" name="Line 131"/>
              <p:cNvSpPr>
                <a:spLocks noChangeShapeType="1"/>
              </p:cNvSpPr>
              <p:nvPr/>
            </p:nvSpPr>
            <p:spPr bwMode="auto">
              <a:xfrm flipV="1">
                <a:off x="3216" y="17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294" name="Group 132"/>
              <p:cNvGrpSpPr>
                <a:grpSpLocks/>
              </p:cNvGrpSpPr>
              <p:nvPr/>
            </p:nvGrpSpPr>
            <p:grpSpPr bwMode="auto">
              <a:xfrm>
                <a:off x="2160" y="2208"/>
                <a:ext cx="384" cy="336"/>
                <a:chOff x="1872" y="2160"/>
                <a:chExt cx="384" cy="336"/>
              </a:xfrm>
            </p:grpSpPr>
            <p:sp>
              <p:nvSpPr>
                <p:cNvPr id="295" name="AutoShape 133"/>
                <p:cNvSpPr>
                  <a:spLocks noChangeArrowheads="1"/>
                </p:cNvSpPr>
                <p:nvPr/>
              </p:nvSpPr>
              <p:spPr bwMode="auto">
                <a:xfrm>
                  <a:off x="1872" y="244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296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1872" y="2160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297" name="Group 135"/>
          <p:cNvGrpSpPr>
            <a:grpSpLocks/>
          </p:cNvGrpSpPr>
          <p:nvPr/>
        </p:nvGrpSpPr>
        <p:grpSpPr bwMode="auto">
          <a:xfrm>
            <a:off x="8651304" y="1724744"/>
            <a:ext cx="1981200" cy="4648200"/>
            <a:chOff x="4512" y="912"/>
            <a:chExt cx="1248" cy="2928"/>
          </a:xfrm>
        </p:grpSpPr>
        <p:grpSp>
          <p:nvGrpSpPr>
            <p:cNvPr id="298" name="Group 136"/>
            <p:cNvGrpSpPr>
              <a:grpSpLocks/>
            </p:cNvGrpSpPr>
            <p:nvPr/>
          </p:nvGrpSpPr>
          <p:grpSpPr bwMode="auto">
            <a:xfrm>
              <a:off x="4944" y="912"/>
              <a:ext cx="816" cy="250"/>
              <a:chOff x="4944" y="912"/>
              <a:chExt cx="816" cy="250"/>
            </a:xfrm>
          </p:grpSpPr>
          <p:sp>
            <p:nvSpPr>
              <p:cNvPr id="309" name="Line 137"/>
              <p:cNvSpPr>
                <a:spLocks noChangeShapeType="1"/>
              </p:cNvSpPr>
              <p:nvPr/>
            </p:nvSpPr>
            <p:spPr bwMode="auto">
              <a:xfrm>
                <a:off x="4944" y="100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310" name="Text Box 138"/>
              <p:cNvSpPr txBox="1">
                <a:spLocks noChangeArrowheads="1"/>
              </p:cNvSpPr>
              <p:nvPr/>
            </p:nvSpPr>
            <p:spPr bwMode="auto">
              <a:xfrm>
                <a:off x="5184" y="912"/>
                <a:ext cx="576" cy="250"/>
              </a:xfrm>
              <a:prstGeom prst="rect">
                <a:avLst/>
              </a:prstGeom>
              <a:gradFill rotWithShape="1">
                <a:gsLst>
                  <a:gs pos="0">
                    <a:srgbClr val="FF99FF"/>
                  </a:gs>
                  <a:gs pos="100000">
                    <a:srgbClr val="FF99FF">
                      <a:gamma/>
                      <a:shade val="75686"/>
                      <a:invGamma/>
                    </a:srgb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返回</a:t>
                </a:r>
              </a:p>
            </p:txBody>
          </p:sp>
        </p:grpSp>
        <p:grpSp>
          <p:nvGrpSpPr>
            <p:cNvPr id="299" name="Group 139"/>
            <p:cNvGrpSpPr>
              <a:grpSpLocks/>
            </p:cNvGrpSpPr>
            <p:nvPr/>
          </p:nvGrpSpPr>
          <p:grpSpPr bwMode="auto">
            <a:xfrm>
              <a:off x="4512" y="2928"/>
              <a:ext cx="1056" cy="912"/>
              <a:chOff x="4464" y="2928"/>
              <a:chExt cx="1056" cy="912"/>
            </a:xfrm>
          </p:grpSpPr>
          <p:sp>
            <p:nvSpPr>
              <p:cNvPr id="300" name="Rectangle 140"/>
              <p:cNvSpPr>
                <a:spLocks noChangeArrowheads="1"/>
              </p:cNvSpPr>
              <p:nvPr/>
            </p:nvSpPr>
            <p:spPr bwMode="auto">
              <a:xfrm>
                <a:off x="4848" y="3264"/>
                <a:ext cx="672" cy="19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(3)      1</a:t>
                </a:r>
              </a:p>
            </p:txBody>
          </p:sp>
          <p:sp>
            <p:nvSpPr>
              <p:cNvPr id="301" name="Rectangle 141"/>
              <p:cNvSpPr>
                <a:spLocks noChangeArrowheads="1"/>
              </p:cNvSpPr>
              <p:nvPr/>
            </p:nvSpPr>
            <p:spPr bwMode="auto">
              <a:xfrm>
                <a:off x="4848" y="3456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  2</a:t>
                </a:r>
              </a:p>
            </p:txBody>
          </p:sp>
          <p:sp>
            <p:nvSpPr>
              <p:cNvPr id="302" name="Rectangle 142"/>
              <p:cNvSpPr>
                <a:spLocks noChangeArrowheads="1"/>
              </p:cNvSpPr>
              <p:nvPr/>
            </p:nvSpPr>
            <p:spPr bwMode="auto">
              <a:xfrm>
                <a:off x="4848" y="36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 3</a:t>
                </a:r>
              </a:p>
            </p:txBody>
          </p:sp>
          <p:sp>
            <p:nvSpPr>
              <p:cNvPr id="303" name="Line 143"/>
              <p:cNvSpPr>
                <a:spLocks noChangeShapeType="1"/>
              </p:cNvSpPr>
              <p:nvPr/>
            </p:nvSpPr>
            <p:spPr bwMode="auto">
              <a:xfrm flipV="1">
                <a:off x="5520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304" name="Line 144"/>
              <p:cNvSpPr>
                <a:spLocks noChangeShapeType="1"/>
              </p:cNvSpPr>
              <p:nvPr/>
            </p:nvSpPr>
            <p:spPr bwMode="auto">
              <a:xfrm flipV="1">
                <a:off x="4848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305" name="Group 145"/>
              <p:cNvGrpSpPr>
                <a:grpSpLocks/>
              </p:cNvGrpSpPr>
              <p:nvPr/>
            </p:nvGrpSpPr>
            <p:grpSpPr bwMode="auto">
              <a:xfrm>
                <a:off x="4464" y="2928"/>
                <a:ext cx="384" cy="288"/>
                <a:chOff x="1440" y="3888"/>
                <a:chExt cx="384" cy="288"/>
              </a:xfrm>
            </p:grpSpPr>
            <p:sp>
              <p:nvSpPr>
                <p:cNvPr id="307" name="AutoShape 146"/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308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  <p:sp>
            <p:nvSpPr>
              <p:cNvPr id="306" name="Rectangle 148"/>
              <p:cNvSpPr>
                <a:spLocks noChangeArrowheads="1"/>
              </p:cNvSpPr>
              <p:nvPr/>
            </p:nvSpPr>
            <p:spPr bwMode="auto">
              <a:xfrm>
                <a:off x="4848" y="3072"/>
                <a:ext cx="672" cy="19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(4)      0</a:t>
                </a:r>
              </a:p>
            </p:txBody>
          </p:sp>
        </p:grpSp>
      </p:grpSp>
      <p:grpSp>
        <p:nvGrpSpPr>
          <p:cNvPr id="311" name="Group 149"/>
          <p:cNvGrpSpPr>
            <a:grpSpLocks/>
          </p:cNvGrpSpPr>
          <p:nvPr/>
        </p:nvGrpSpPr>
        <p:grpSpPr bwMode="auto">
          <a:xfrm>
            <a:off x="1969517" y="3458294"/>
            <a:ext cx="1447800" cy="2895600"/>
            <a:chOff x="240" y="2016"/>
            <a:chExt cx="912" cy="1824"/>
          </a:xfrm>
        </p:grpSpPr>
        <p:grpSp>
          <p:nvGrpSpPr>
            <p:cNvPr id="312" name="Group 150"/>
            <p:cNvGrpSpPr>
              <a:grpSpLocks/>
            </p:cNvGrpSpPr>
            <p:nvPr/>
          </p:nvGrpSpPr>
          <p:grpSpPr bwMode="auto">
            <a:xfrm>
              <a:off x="240" y="2352"/>
              <a:ext cx="912" cy="442"/>
              <a:chOff x="288" y="3744"/>
              <a:chExt cx="912" cy="442"/>
            </a:xfrm>
          </p:grpSpPr>
          <p:sp>
            <p:nvSpPr>
              <p:cNvPr id="319" name="Line 151"/>
              <p:cNvSpPr>
                <a:spLocks noChangeShapeType="1"/>
              </p:cNvSpPr>
              <p:nvPr/>
            </p:nvSpPr>
            <p:spPr bwMode="auto">
              <a:xfrm>
                <a:off x="288" y="374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0" name="Text Box 152"/>
              <p:cNvSpPr txBox="1">
                <a:spLocks noChangeArrowheads="1"/>
              </p:cNvSpPr>
              <p:nvPr/>
            </p:nvSpPr>
            <p:spPr bwMode="auto">
              <a:xfrm>
                <a:off x="528" y="3936"/>
                <a:ext cx="52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结束</a:t>
                </a:r>
              </a:p>
            </p:txBody>
          </p:sp>
          <p:sp>
            <p:nvSpPr>
              <p:cNvPr id="321" name="Line 153"/>
              <p:cNvSpPr>
                <a:spLocks noChangeShapeType="1"/>
              </p:cNvSpPr>
              <p:nvPr/>
            </p:nvSpPr>
            <p:spPr bwMode="auto">
              <a:xfrm>
                <a:off x="768" y="37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" name="Line 154"/>
              <p:cNvSpPr>
                <a:spLocks noChangeShapeType="1"/>
              </p:cNvSpPr>
              <p:nvPr/>
            </p:nvSpPr>
            <p:spPr bwMode="auto">
              <a:xfrm>
                <a:off x="1008" y="37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3" name="Text Box 155"/>
            <p:cNvSpPr txBox="1">
              <a:spLocks noChangeArrowheads="1"/>
            </p:cNvSpPr>
            <p:nvPr/>
          </p:nvSpPr>
          <p:spPr bwMode="auto">
            <a:xfrm>
              <a:off x="288" y="2016"/>
              <a:ext cx="864" cy="250"/>
            </a:xfrm>
            <a:prstGeom prst="rect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FF99FF">
                    <a:gamma/>
                    <a:shade val="6078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(1)</a:t>
              </a:r>
            </a:p>
          </p:txBody>
        </p:sp>
        <p:grpSp>
          <p:nvGrpSpPr>
            <p:cNvPr id="314" name="Group 156"/>
            <p:cNvGrpSpPr>
              <a:grpSpLocks/>
            </p:cNvGrpSpPr>
            <p:nvPr/>
          </p:nvGrpSpPr>
          <p:grpSpPr bwMode="auto">
            <a:xfrm>
              <a:off x="288" y="2976"/>
              <a:ext cx="672" cy="864"/>
              <a:chOff x="2688" y="1728"/>
              <a:chExt cx="672" cy="864"/>
            </a:xfrm>
          </p:grpSpPr>
          <p:sp>
            <p:nvSpPr>
              <p:cNvPr id="315" name="Line 157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" name="Line 158"/>
              <p:cNvSpPr>
                <a:spLocks noChangeShapeType="1"/>
              </p:cNvSpPr>
              <p:nvPr/>
            </p:nvSpPr>
            <p:spPr bwMode="auto">
              <a:xfrm flipV="1">
                <a:off x="3360" y="172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" name="Line 159"/>
              <p:cNvSpPr>
                <a:spLocks noChangeShapeType="1"/>
              </p:cNvSpPr>
              <p:nvPr/>
            </p:nvSpPr>
            <p:spPr bwMode="auto">
              <a:xfrm>
                <a:off x="2688" y="2592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" name="Line 160"/>
              <p:cNvSpPr>
                <a:spLocks noChangeShapeType="1"/>
              </p:cNvSpPr>
              <p:nvPr/>
            </p:nvSpPr>
            <p:spPr bwMode="auto">
              <a:xfrm>
                <a:off x="2688" y="2400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23" name="Group 164"/>
          <p:cNvGrpSpPr>
            <a:grpSpLocks/>
          </p:cNvGrpSpPr>
          <p:nvPr/>
        </p:nvGrpSpPr>
        <p:grpSpPr bwMode="auto">
          <a:xfrm>
            <a:off x="0" y="0"/>
            <a:ext cx="446088" cy="6858000"/>
            <a:chOff x="0" y="0"/>
            <a:chExt cx="281" cy="4320"/>
          </a:xfrm>
        </p:grpSpPr>
        <p:sp>
          <p:nvSpPr>
            <p:cNvPr id="324" name="Text Box 16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325" name="Text Box 16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Text Box 2"/>
          <p:cNvSpPr txBox="1">
            <a:spLocks noChangeArrowheads="1"/>
          </p:cNvSpPr>
          <p:nvPr/>
        </p:nvSpPr>
        <p:spPr bwMode="auto">
          <a:xfrm>
            <a:off x="567709" y="-11113"/>
            <a:ext cx="4279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【</a:t>
            </a: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</a:t>
            </a: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2】</a:t>
            </a: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求</a:t>
            </a: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n</a:t>
            </a: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的阶乘</a:t>
            </a: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n!</a:t>
            </a:r>
            <a:r>
              <a:rPr lang="en-US" altLang="zh-CN" sz="2800" b="1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1105928" name="Text Box 8" descr="信纸"/>
          <p:cNvSpPr txBox="1">
            <a:spLocks noChangeArrowheads="1"/>
          </p:cNvSpPr>
          <p:nvPr/>
        </p:nvSpPr>
        <p:spPr bwMode="auto">
          <a:xfrm>
            <a:off x="1127448" y="2852936"/>
            <a:ext cx="4608512" cy="3051175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long factn (int n)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long L = 1;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int i;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for (i = 1; i &lt;= n; i++)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   L *= i;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  return ( L );</a:t>
            </a:r>
          </a:p>
          <a:p>
            <a:pPr marL="457200" indent="-457200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05929" name="Rectangle 9"/>
          <p:cNvSpPr>
            <a:spLocks noChangeArrowheads="1"/>
          </p:cNvSpPr>
          <p:nvPr/>
        </p:nvSpPr>
        <p:spPr bwMode="auto">
          <a:xfrm>
            <a:off x="1101270" y="697920"/>
            <a:ext cx="4644000" cy="1796400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zh-CN" b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 </a:t>
            </a:r>
            <a:r>
              <a:rPr lang="zh-CN" altLang="en-US" b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itchFamily="49" charset="-122"/>
              </a:rPr>
              <a:t>方法一：利用循环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    因为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n! = n * (n-1) * (n-2) *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</a:rPr>
              <a:t>…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* 2 * 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，我们完全可以用循环语句来编写这个非递归函数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factn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：</a:t>
            </a:r>
          </a:p>
        </p:txBody>
      </p:sp>
      <p:grpSp>
        <p:nvGrpSpPr>
          <p:cNvPr id="1105937" name="Group 17"/>
          <p:cNvGrpSpPr>
            <a:grpSpLocks/>
          </p:cNvGrpSpPr>
          <p:nvPr/>
        </p:nvGrpSpPr>
        <p:grpSpPr bwMode="auto">
          <a:xfrm>
            <a:off x="6277099" y="695373"/>
            <a:ext cx="4643437" cy="1797050"/>
            <a:chOff x="2742" y="1806"/>
            <a:chExt cx="2925" cy="1132"/>
          </a:xfrm>
        </p:grpSpPr>
        <p:sp>
          <p:nvSpPr>
            <p:cNvPr id="1105936" name="Rectangle 16"/>
            <p:cNvSpPr>
              <a:spLocks noChangeArrowheads="1"/>
            </p:cNvSpPr>
            <p:nvPr/>
          </p:nvSpPr>
          <p:spPr bwMode="auto">
            <a:xfrm>
              <a:off x="2742" y="1806"/>
              <a:ext cx="2925" cy="1132"/>
            </a:xfrm>
            <a:prstGeom prst="rect">
              <a:avLst/>
            </a:prstGeom>
            <a:ln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930" name="Text Box 10"/>
            <p:cNvSpPr txBox="1">
              <a:spLocks noChangeArrowheads="1"/>
            </p:cNvSpPr>
            <p:nvPr/>
          </p:nvSpPr>
          <p:spPr bwMode="auto">
            <a:xfrm>
              <a:off x="2764" y="1814"/>
              <a:ext cx="17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u="sng" dirty="0">
                  <a:solidFill>
                    <a:srgbClr val="FF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方法二：利用递归</a:t>
              </a:r>
            </a:p>
          </p:txBody>
        </p:sp>
        <p:grpSp>
          <p:nvGrpSpPr>
            <p:cNvPr id="1105935" name="Group 15"/>
            <p:cNvGrpSpPr>
              <a:grpSpLocks/>
            </p:cNvGrpSpPr>
            <p:nvPr/>
          </p:nvGrpSpPr>
          <p:grpSpPr bwMode="auto">
            <a:xfrm>
              <a:off x="2925" y="2124"/>
              <a:ext cx="2722" cy="661"/>
              <a:chOff x="2925" y="2124"/>
              <a:chExt cx="2722" cy="661"/>
            </a:xfrm>
          </p:grpSpPr>
          <p:sp>
            <p:nvSpPr>
              <p:cNvPr id="1105931" name="Text Box 11"/>
              <p:cNvSpPr txBox="1">
                <a:spLocks noChangeArrowheads="1"/>
              </p:cNvSpPr>
              <p:nvPr/>
            </p:nvSpPr>
            <p:spPr bwMode="auto">
              <a:xfrm>
                <a:off x="2925" y="2296"/>
                <a:ext cx="59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楷体_GB2312" pitchFamily="49" charset="-122"/>
                  </a:rPr>
                  <a:t>n! = </a:t>
                </a:r>
              </a:p>
            </p:txBody>
          </p:sp>
          <p:sp>
            <p:nvSpPr>
              <p:cNvPr id="1105932" name="Text Box 12"/>
              <p:cNvSpPr txBox="1">
                <a:spLocks noChangeArrowheads="1"/>
              </p:cNvSpPr>
              <p:nvPr/>
            </p:nvSpPr>
            <p:spPr bwMode="auto">
              <a:xfrm>
                <a:off x="3498" y="2124"/>
                <a:ext cx="214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                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当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n = 1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时 </a:t>
                </a:r>
              </a:p>
            </p:txBody>
          </p:sp>
          <p:sp>
            <p:nvSpPr>
              <p:cNvPr id="1105933" name="Text Box 13"/>
              <p:cNvSpPr txBox="1">
                <a:spLocks noChangeArrowheads="1"/>
              </p:cNvSpPr>
              <p:nvPr/>
            </p:nvSpPr>
            <p:spPr bwMode="auto">
              <a:xfrm>
                <a:off x="3515" y="2494"/>
                <a:ext cx="213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n * (n - 1)!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当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n &gt; 1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时 </a:t>
                </a:r>
              </a:p>
            </p:txBody>
          </p:sp>
          <p:sp>
            <p:nvSpPr>
              <p:cNvPr id="1105934" name="AutoShape 14"/>
              <p:cNvSpPr>
                <a:spLocks/>
              </p:cNvSpPr>
              <p:nvPr/>
            </p:nvSpPr>
            <p:spPr bwMode="auto">
              <a:xfrm>
                <a:off x="3379" y="2233"/>
                <a:ext cx="91" cy="453"/>
              </a:xfrm>
              <a:prstGeom prst="leftBrace">
                <a:avLst>
                  <a:gd name="adj1" fmla="val 41484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05938" name="Text Box 18" descr="信纸"/>
          <p:cNvSpPr txBox="1">
            <a:spLocks noChangeArrowheads="1"/>
          </p:cNvSpPr>
          <p:nvPr/>
        </p:nvSpPr>
        <p:spPr bwMode="auto">
          <a:xfrm>
            <a:off x="6311850" y="2841088"/>
            <a:ext cx="4608686" cy="3051175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long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factn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long L;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(n == 1)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return (1);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L = n * fact (n-1);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return (L);</a:t>
            </a:r>
          </a:p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</p:txBody>
      </p:sp>
      <p:grpSp>
        <p:nvGrpSpPr>
          <p:cNvPr id="1105939" name="Group 19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5940" name="Text Box 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5941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5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5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5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05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05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22" grpId="0" build="p" autoUpdateAnimBg="0"/>
      <p:bldP spid="1105928" grpId="0" animBg="1" autoUpdateAnimBg="0"/>
      <p:bldP spid="1105929" grpId="0" animBg="1"/>
      <p:bldP spid="1105938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960" name="Text Box 16" descr="信纸"/>
          <p:cNvSpPr txBox="1">
            <a:spLocks noChangeArrowheads="1"/>
          </p:cNvSpPr>
          <p:nvPr/>
        </p:nvSpPr>
        <p:spPr bwMode="auto">
          <a:xfrm>
            <a:off x="5159896" y="620688"/>
            <a:ext cx="2016125" cy="19589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…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L = 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factn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(4);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…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06961" name="Text Box 17"/>
          <p:cNvSpPr txBox="1">
            <a:spLocks noChangeArrowheads="1"/>
          </p:cNvSpPr>
          <p:nvPr/>
        </p:nvSpPr>
        <p:spPr bwMode="auto">
          <a:xfrm>
            <a:off x="767408" y="188912"/>
            <a:ext cx="3672210" cy="461665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递归调用执行情况如下：</a:t>
            </a:r>
          </a:p>
        </p:txBody>
      </p:sp>
      <p:sp>
        <p:nvSpPr>
          <p:cNvPr id="1106962" name="Text Box 18" descr="信纸"/>
          <p:cNvSpPr txBox="1">
            <a:spLocks noChangeArrowheads="1"/>
          </p:cNvSpPr>
          <p:nvPr/>
        </p:nvSpPr>
        <p:spPr bwMode="auto">
          <a:xfrm>
            <a:off x="1127448" y="3028951"/>
            <a:ext cx="1914525" cy="22637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long factn(4)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long L;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…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L = 4*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factn(3)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return (L);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06963" name="Text Box 19" descr="信纸"/>
          <p:cNvSpPr txBox="1">
            <a:spLocks noChangeArrowheads="1"/>
          </p:cNvSpPr>
          <p:nvPr/>
        </p:nvSpPr>
        <p:spPr bwMode="auto">
          <a:xfrm>
            <a:off x="4040956" y="3486151"/>
            <a:ext cx="1912937" cy="22637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long factn(3)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long L;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…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L = 3*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factn(2)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return (L);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06964" name="Text Box 20" descr="信纸"/>
          <p:cNvSpPr txBox="1">
            <a:spLocks noChangeArrowheads="1"/>
          </p:cNvSpPr>
          <p:nvPr/>
        </p:nvSpPr>
        <p:spPr bwMode="auto">
          <a:xfrm>
            <a:off x="6775351" y="3971926"/>
            <a:ext cx="1912937" cy="22637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long factn(2)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long L;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 …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L = 2*</a:t>
            </a:r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factn(1)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return (L);</a:t>
            </a:r>
          </a:p>
          <a:p>
            <a:pPr marL="457200" indent="-457200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06965" name="Text Box 21" descr="信纸"/>
          <p:cNvSpPr txBox="1">
            <a:spLocks noChangeArrowheads="1"/>
          </p:cNvSpPr>
          <p:nvPr/>
        </p:nvSpPr>
        <p:spPr bwMode="auto">
          <a:xfrm>
            <a:off x="9660309" y="4443414"/>
            <a:ext cx="1692275" cy="22637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long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factn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long L;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…</a:t>
            </a:r>
          </a:p>
          <a:p>
            <a:pPr marL="457200" indent="-45720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(1);</a:t>
            </a:r>
          </a:p>
          <a:p>
            <a:pPr marL="457200" indent="-45720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06966" name="Line 22"/>
          <p:cNvSpPr>
            <a:spLocks noChangeShapeType="1"/>
          </p:cNvSpPr>
          <p:nvPr/>
        </p:nvSpPr>
        <p:spPr bwMode="auto">
          <a:xfrm flipV="1">
            <a:off x="2699593" y="3645024"/>
            <a:ext cx="1380184" cy="69601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3" name="Line 29"/>
          <p:cNvSpPr>
            <a:spLocks noChangeShapeType="1"/>
          </p:cNvSpPr>
          <p:nvPr/>
        </p:nvSpPr>
        <p:spPr bwMode="auto">
          <a:xfrm flipV="1">
            <a:off x="5320480" y="4221088"/>
            <a:ext cx="1495600" cy="619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4" name="Line 30"/>
          <p:cNvSpPr>
            <a:spLocks noChangeShapeType="1"/>
          </p:cNvSpPr>
          <p:nvPr/>
        </p:nvSpPr>
        <p:spPr bwMode="auto">
          <a:xfrm flipV="1">
            <a:off x="8040216" y="4725144"/>
            <a:ext cx="1656184" cy="57569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8" name="Line 34"/>
          <p:cNvSpPr>
            <a:spLocks noChangeShapeType="1"/>
          </p:cNvSpPr>
          <p:nvPr/>
        </p:nvSpPr>
        <p:spPr bwMode="auto">
          <a:xfrm flipH="1">
            <a:off x="2567607" y="1844824"/>
            <a:ext cx="3312367" cy="136815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106984" name="Group 40"/>
          <p:cNvGrpSpPr>
            <a:grpSpLocks/>
          </p:cNvGrpSpPr>
          <p:nvPr/>
        </p:nvGrpSpPr>
        <p:grpSpPr bwMode="auto">
          <a:xfrm>
            <a:off x="8147816" y="5516564"/>
            <a:ext cx="1692274" cy="730250"/>
            <a:chOff x="4344" y="3475"/>
            <a:chExt cx="1066" cy="460"/>
          </a:xfrm>
        </p:grpSpPr>
        <p:sp>
          <p:nvSpPr>
            <p:cNvPr id="1106975" name="Line 31"/>
            <p:cNvSpPr>
              <a:spLocks noChangeShapeType="1"/>
            </p:cNvSpPr>
            <p:nvPr/>
          </p:nvSpPr>
          <p:spPr bwMode="auto">
            <a:xfrm flipH="1" flipV="1">
              <a:off x="4412" y="3475"/>
              <a:ext cx="998" cy="45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6980" name="Text Box 36"/>
            <p:cNvSpPr txBox="1">
              <a:spLocks noChangeArrowheads="1"/>
            </p:cNvSpPr>
            <p:nvPr/>
          </p:nvSpPr>
          <p:spPr bwMode="auto">
            <a:xfrm>
              <a:off x="4344" y="3702"/>
              <a:ext cx="525" cy="233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1</a:t>
              </a:r>
            </a:p>
          </p:txBody>
        </p:sp>
      </p:grpSp>
      <p:grpSp>
        <p:nvGrpSpPr>
          <p:cNvPr id="1106985" name="Group 41"/>
          <p:cNvGrpSpPr>
            <a:grpSpLocks/>
          </p:cNvGrpSpPr>
          <p:nvPr/>
        </p:nvGrpSpPr>
        <p:grpSpPr bwMode="auto">
          <a:xfrm>
            <a:off x="5363344" y="5070476"/>
            <a:ext cx="1597025" cy="773113"/>
            <a:chOff x="2590" y="3194"/>
            <a:chExt cx="1006" cy="487"/>
          </a:xfrm>
        </p:grpSpPr>
        <p:sp>
          <p:nvSpPr>
            <p:cNvPr id="1106976" name="Line 32"/>
            <p:cNvSpPr>
              <a:spLocks noChangeShapeType="1"/>
            </p:cNvSpPr>
            <p:nvPr/>
          </p:nvSpPr>
          <p:spPr bwMode="auto">
            <a:xfrm flipH="1" flipV="1">
              <a:off x="2590" y="3194"/>
              <a:ext cx="1006" cy="4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6981" name="Text Box 37"/>
            <p:cNvSpPr txBox="1">
              <a:spLocks noChangeArrowheads="1"/>
            </p:cNvSpPr>
            <p:nvPr/>
          </p:nvSpPr>
          <p:spPr bwMode="auto">
            <a:xfrm>
              <a:off x="2610" y="3448"/>
              <a:ext cx="525" cy="233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2</a:t>
              </a:r>
            </a:p>
          </p:txBody>
        </p:sp>
      </p:grpSp>
      <p:grpSp>
        <p:nvGrpSpPr>
          <p:cNvPr id="1106986" name="Group 42"/>
          <p:cNvGrpSpPr>
            <a:grpSpLocks/>
          </p:cNvGrpSpPr>
          <p:nvPr/>
        </p:nvGrpSpPr>
        <p:grpSpPr bwMode="auto">
          <a:xfrm>
            <a:off x="2567755" y="4581523"/>
            <a:ext cx="1655763" cy="787399"/>
            <a:chOff x="829" y="2886"/>
            <a:chExt cx="1043" cy="496"/>
          </a:xfrm>
        </p:grpSpPr>
        <p:sp>
          <p:nvSpPr>
            <p:cNvPr id="1106977" name="Line 33"/>
            <p:cNvSpPr>
              <a:spLocks noChangeShapeType="1"/>
            </p:cNvSpPr>
            <p:nvPr/>
          </p:nvSpPr>
          <p:spPr bwMode="auto">
            <a:xfrm flipH="1" flipV="1">
              <a:off x="829" y="2886"/>
              <a:ext cx="1043" cy="4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6982" name="Text Box 38"/>
            <p:cNvSpPr txBox="1">
              <a:spLocks noChangeArrowheads="1"/>
            </p:cNvSpPr>
            <p:nvPr/>
          </p:nvSpPr>
          <p:spPr bwMode="auto">
            <a:xfrm>
              <a:off x="881" y="3149"/>
              <a:ext cx="525" cy="233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6</a:t>
              </a:r>
            </a:p>
          </p:txBody>
        </p:sp>
      </p:grpSp>
      <p:grpSp>
        <p:nvGrpSpPr>
          <p:cNvPr id="1106987" name="Group 43"/>
          <p:cNvGrpSpPr>
            <a:grpSpLocks/>
          </p:cNvGrpSpPr>
          <p:nvPr/>
        </p:nvGrpSpPr>
        <p:grpSpPr bwMode="auto">
          <a:xfrm>
            <a:off x="1847031" y="1916113"/>
            <a:ext cx="4321175" cy="2808288"/>
            <a:chOff x="375" y="1207"/>
            <a:chExt cx="2722" cy="1769"/>
          </a:xfrm>
        </p:grpSpPr>
        <p:sp>
          <p:nvSpPr>
            <p:cNvPr id="1106979" name="Line 35"/>
            <p:cNvSpPr>
              <a:spLocks noChangeShapeType="1"/>
            </p:cNvSpPr>
            <p:nvPr/>
          </p:nvSpPr>
          <p:spPr bwMode="auto">
            <a:xfrm flipV="1">
              <a:off x="375" y="1207"/>
              <a:ext cx="2722" cy="176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6983" name="Text Box 39"/>
            <p:cNvSpPr txBox="1">
              <a:spLocks noChangeArrowheads="1"/>
            </p:cNvSpPr>
            <p:nvPr/>
          </p:nvSpPr>
          <p:spPr bwMode="auto">
            <a:xfrm>
              <a:off x="2200" y="1842"/>
              <a:ext cx="589" cy="233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24</a:t>
              </a:r>
            </a:p>
          </p:txBody>
        </p:sp>
      </p:grpSp>
      <p:grpSp>
        <p:nvGrpSpPr>
          <p:cNvPr id="1106988" name="Group 4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6989" name="Text Box 4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6990" name="Text Box 4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69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06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1069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106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06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106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06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1069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06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106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106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106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1106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60" grpId="0" animBg="1"/>
      <p:bldP spid="1106962" grpId="0" animBg="1"/>
      <p:bldP spid="1106963" grpId="0" animBg="1"/>
      <p:bldP spid="1106964" grpId="0" animBg="1"/>
      <p:bldP spid="1106965" grpId="0" animBg="1"/>
      <p:bldP spid="1106966" grpId="0" animBg="1"/>
      <p:bldP spid="1106973" grpId="0" animBg="1"/>
      <p:bldP spid="1106974" grpId="0" animBg="1"/>
      <p:bldP spid="110697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2752" y="176214"/>
            <a:ext cx="9417664" cy="289559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【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</a:t>
            </a:r>
            <a:r>
              <a:rPr lang="en-US" altLang="zh-CN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3】Tower of Hanoi</a:t>
            </a:r>
            <a:r>
              <a:rPr lang="zh-CN" altLang="zh-CN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问题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3399"/>
                </a:solidFill>
                <a:ea typeface="楷体" pitchFamily="49" charset="-122"/>
              </a:rPr>
              <a:t>问题描述：</a:t>
            </a:r>
            <a:r>
              <a:rPr lang="zh-CN" altLang="en-US" sz="2000" dirty="0">
                <a:ea typeface="楷体" pitchFamily="49" charset="-122"/>
              </a:rPr>
              <a:t>有</a:t>
            </a:r>
            <a:r>
              <a:rPr lang="en-US" altLang="zh-CN" sz="2000" dirty="0">
                <a:ea typeface="楷体" pitchFamily="49" charset="-122"/>
              </a:rPr>
              <a:t>A</a:t>
            </a:r>
            <a:r>
              <a:rPr lang="zh-CN" altLang="en-US" sz="2000" dirty="0">
                <a:ea typeface="楷体" pitchFamily="49" charset="-122"/>
              </a:rPr>
              <a:t>、</a:t>
            </a:r>
            <a:r>
              <a:rPr lang="en-US" altLang="zh-CN" sz="2000" dirty="0">
                <a:ea typeface="楷体" pitchFamily="49" charset="-122"/>
              </a:rPr>
              <a:t>B</a:t>
            </a:r>
            <a:r>
              <a:rPr lang="zh-CN" altLang="en-US" sz="2000" dirty="0">
                <a:ea typeface="楷体" pitchFamily="49" charset="-122"/>
              </a:rPr>
              <a:t>、</a:t>
            </a:r>
            <a:r>
              <a:rPr lang="en-US" altLang="zh-CN" sz="2000" dirty="0">
                <a:ea typeface="楷体" pitchFamily="49" charset="-122"/>
              </a:rPr>
              <a:t>C</a:t>
            </a:r>
            <a:r>
              <a:rPr lang="zh-CN" altLang="zh-CN" sz="2000" dirty="0">
                <a:ea typeface="楷体" pitchFamily="49" charset="-122"/>
              </a:rPr>
              <a:t>三个塔座，</a:t>
            </a:r>
            <a:r>
              <a:rPr lang="en-US" altLang="zh-CN" sz="2000" dirty="0">
                <a:ea typeface="楷体" pitchFamily="49" charset="-122"/>
              </a:rPr>
              <a:t>A</a:t>
            </a:r>
            <a:r>
              <a:rPr lang="zh-CN" altLang="zh-CN" sz="2000" dirty="0">
                <a:ea typeface="楷体" pitchFamily="49" charset="-122"/>
              </a:rPr>
              <a:t>上套有</a:t>
            </a:r>
            <a:r>
              <a:rPr lang="en-US" altLang="zh-CN" sz="2000" dirty="0">
                <a:ea typeface="楷体" pitchFamily="49" charset="-122"/>
              </a:rPr>
              <a:t>n</a:t>
            </a:r>
            <a:r>
              <a:rPr lang="zh-CN" altLang="zh-CN" sz="2000" dirty="0">
                <a:ea typeface="楷体" pitchFamily="49" charset="-122"/>
              </a:rPr>
              <a:t>个直径不同的圆盘，按直径从小到大叠放，形如宝塔</a:t>
            </a:r>
            <a:r>
              <a:rPr lang="zh-CN" altLang="en-US" sz="2000" dirty="0">
                <a:ea typeface="楷体" pitchFamily="49" charset="-122"/>
              </a:rPr>
              <a:t>，</a:t>
            </a:r>
            <a:r>
              <a:rPr lang="zh-CN" altLang="zh-CN" sz="2000" dirty="0">
                <a:ea typeface="楷体" pitchFamily="49" charset="-122"/>
              </a:rPr>
              <a:t>编号1</a:t>
            </a:r>
            <a:r>
              <a:rPr lang="zh-CN" altLang="en-US" sz="2000" dirty="0">
                <a:ea typeface="楷体" pitchFamily="49" charset="-122"/>
              </a:rPr>
              <a:t>、</a:t>
            </a:r>
            <a:r>
              <a:rPr lang="zh-CN" altLang="zh-CN" sz="2000" dirty="0">
                <a:ea typeface="楷体" pitchFamily="49" charset="-122"/>
              </a:rPr>
              <a:t>2</a:t>
            </a:r>
            <a:r>
              <a:rPr lang="zh-CN" altLang="en-US" sz="2000" dirty="0">
                <a:ea typeface="楷体" pitchFamily="49" charset="-122"/>
              </a:rPr>
              <a:t>、</a:t>
            </a:r>
            <a:r>
              <a:rPr lang="zh-CN" altLang="zh-CN" sz="2000" dirty="0">
                <a:ea typeface="楷体" pitchFamily="49" charset="-122"/>
              </a:rPr>
              <a:t>3</a:t>
            </a:r>
            <a:r>
              <a:rPr lang="zh-CN" altLang="en-US" sz="2000" dirty="0">
                <a:ea typeface="楷体" pitchFamily="49" charset="-122"/>
              </a:rPr>
              <a:t>、</a:t>
            </a:r>
            <a:r>
              <a:rPr lang="zh-CN" altLang="zh-CN" sz="2000" dirty="0">
                <a:ea typeface="楷体" pitchFamily="49" charset="-122"/>
              </a:rPr>
              <a:t>…</a:t>
            </a:r>
            <a:r>
              <a:rPr lang="zh-CN" altLang="en-US" sz="2000" dirty="0">
                <a:ea typeface="楷体" pitchFamily="49" charset="-122"/>
              </a:rPr>
              <a:t>、</a:t>
            </a:r>
            <a:r>
              <a:rPr lang="en-US" altLang="zh-CN" sz="2000" dirty="0">
                <a:ea typeface="楷体" pitchFamily="49" charset="-122"/>
              </a:rPr>
              <a:t>n</a:t>
            </a:r>
            <a:r>
              <a:rPr lang="zh-CN" altLang="en-US" sz="2000" dirty="0">
                <a:ea typeface="楷体" pitchFamily="49" charset="-122"/>
              </a:rPr>
              <a:t>。</a:t>
            </a:r>
            <a:r>
              <a:rPr lang="zh-CN" altLang="zh-CN" sz="2000" dirty="0">
                <a:ea typeface="楷体" pitchFamily="49" charset="-122"/>
              </a:rPr>
              <a:t>要求将</a:t>
            </a:r>
            <a:r>
              <a:rPr lang="en-US" altLang="zh-CN" sz="2000" dirty="0">
                <a:ea typeface="楷体" pitchFamily="49" charset="-122"/>
              </a:rPr>
              <a:t>n</a:t>
            </a:r>
            <a:r>
              <a:rPr lang="zh-CN" altLang="zh-CN" sz="2000" dirty="0">
                <a:ea typeface="楷体" pitchFamily="49" charset="-122"/>
              </a:rPr>
              <a:t>个圆盘从</a:t>
            </a:r>
            <a:r>
              <a:rPr lang="en-US" altLang="zh-CN" sz="2000" dirty="0">
                <a:ea typeface="楷体" pitchFamily="49" charset="-122"/>
              </a:rPr>
              <a:t>A</a:t>
            </a:r>
            <a:r>
              <a:rPr lang="zh-CN" altLang="zh-CN" sz="2000" dirty="0">
                <a:ea typeface="楷体" pitchFamily="49" charset="-122"/>
              </a:rPr>
              <a:t>移到</a:t>
            </a:r>
            <a:r>
              <a:rPr lang="en-US" altLang="zh-CN" sz="2000" dirty="0">
                <a:ea typeface="楷体" pitchFamily="49" charset="-122"/>
              </a:rPr>
              <a:t>C</a:t>
            </a:r>
            <a:r>
              <a:rPr lang="zh-CN" altLang="en-US" sz="2000" dirty="0">
                <a:ea typeface="楷体" pitchFamily="49" charset="-122"/>
              </a:rPr>
              <a:t>，</a:t>
            </a:r>
            <a:r>
              <a:rPr lang="zh-CN" altLang="zh-CN" sz="2000" dirty="0">
                <a:ea typeface="楷体" pitchFamily="49" charset="-122"/>
              </a:rPr>
              <a:t>叠放顺序不变，移动过程中遵循下列原则：</a:t>
            </a:r>
          </a:p>
          <a:p>
            <a:pPr lvl="2">
              <a:buClr>
                <a:srgbClr val="CC0099"/>
              </a:buClr>
              <a:buFont typeface="Wingdings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ea typeface="楷体" pitchFamily="49" charset="-122"/>
              </a:rPr>
              <a:t>每次只能移一个圆盘</a:t>
            </a:r>
          </a:p>
          <a:p>
            <a:pPr lvl="2">
              <a:buClr>
                <a:srgbClr val="CC0099"/>
              </a:buClr>
              <a:buFont typeface="Wingdings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ea typeface="楷体" pitchFamily="49" charset="-122"/>
              </a:rPr>
              <a:t>圆盘可在三个塔座上任意移动</a:t>
            </a:r>
          </a:p>
          <a:p>
            <a:pPr lvl="2">
              <a:buClr>
                <a:srgbClr val="CC0099"/>
              </a:buClr>
              <a:buFont typeface="Wingdings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ea typeface="楷体" pitchFamily="49" charset="-122"/>
              </a:rPr>
              <a:t>任何时刻，每个塔座上不能将大盘压到小盘上</a:t>
            </a:r>
          </a:p>
        </p:txBody>
      </p:sp>
      <p:sp>
        <p:nvSpPr>
          <p:cNvPr id="1107971" name="Rectangle 3"/>
          <p:cNvSpPr>
            <a:spLocks noChangeArrowheads="1"/>
          </p:cNvSpPr>
          <p:nvPr/>
        </p:nvSpPr>
        <p:spPr bwMode="auto">
          <a:xfrm>
            <a:off x="888844" y="2780928"/>
            <a:ext cx="9023580" cy="2085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解决方法：</a:t>
            </a:r>
          </a:p>
          <a:p>
            <a:pPr marL="742950" lvl="1" indent="-285750">
              <a:spcBef>
                <a:spcPct val="20000"/>
              </a:spcBef>
              <a:buClr>
                <a:srgbClr val="CC0099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n=1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时，直接把圆盘从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</a:p>
          <a:p>
            <a:pPr marL="742950" lvl="1" indent="-285750">
              <a:spcBef>
                <a:spcPct val="20000"/>
              </a:spcBef>
              <a:buClr>
                <a:srgbClr val="CC0099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n&gt;1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时，先把上面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n-1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个圆盘从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然后将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号盘从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再将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n-1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即把求解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个圆盘的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Hanoi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问题转化为求解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n-1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个圆盘的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Hanoi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问题，依次类推，直至转化成只有一个圆盘的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Hanoi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问题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算法：</a:t>
            </a:r>
          </a:p>
        </p:txBody>
      </p:sp>
      <p:grpSp>
        <p:nvGrpSpPr>
          <p:cNvPr id="1107973" name="Group 5"/>
          <p:cNvGrpSpPr>
            <a:grpSpLocks/>
          </p:cNvGrpSpPr>
          <p:nvPr/>
        </p:nvGrpSpPr>
        <p:grpSpPr bwMode="auto">
          <a:xfrm>
            <a:off x="3347422" y="6187779"/>
            <a:ext cx="2959100" cy="409575"/>
            <a:chOff x="1761" y="2900"/>
            <a:chExt cx="1864" cy="258"/>
          </a:xfrm>
        </p:grpSpPr>
        <p:sp>
          <p:nvSpPr>
            <p:cNvPr id="1107974" name="Rectangle 6"/>
            <p:cNvSpPr>
              <a:spLocks noChangeArrowheads="1"/>
            </p:cNvSpPr>
            <p:nvPr/>
          </p:nvSpPr>
          <p:spPr bwMode="auto">
            <a:xfrm>
              <a:off x="1761" y="2906"/>
              <a:ext cx="1864" cy="252"/>
            </a:xfrm>
            <a:prstGeom prst="rect">
              <a:avLst/>
            </a:prstGeom>
            <a:gradFill flip="none" rotWithShape="1">
              <a:gsLst>
                <a:gs pos="0">
                  <a:srgbClr val="66FFFF">
                    <a:shade val="30000"/>
                    <a:satMod val="115000"/>
                  </a:srgbClr>
                </a:gs>
                <a:gs pos="50000">
                  <a:srgbClr val="66FFFF">
                    <a:shade val="67500"/>
                    <a:satMod val="115000"/>
                  </a:srgbClr>
                </a:gs>
                <a:gs pos="100000">
                  <a:srgbClr val="66FFFF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pAutoFit/>
            </a:bodyPr>
            <a:lstStyle/>
            <a:p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n    A    B    C     </a:t>
              </a:r>
              <a:r>
                <a:rPr lang="zh-CN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返回地址</a:t>
              </a:r>
              <a:r>
                <a:rPr lang="zh-CN" altLang="zh-CN" sz="2000" dirty="0">
                  <a:latin typeface="+mn-lt"/>
                  <a:ea typeface="楷体" pitchFamily="49" charset="-122"/>
                </a:rPr>
                <a:t>   </a:t>
              </a:r>
              <a:endParaRPr lang="zh-CN" altLang="en-US" sz="2000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107975" name="Line 7"/>
            <p:cNvSpPr>
              <a:spLocks noChangeShapeType="1"/>
            </p:cNvSpPr>
            <p:nvPr/>
          </p:nvSpPr>
          <p:spPr bwMode="auto">
            <a:xfrm flipH="1">
              <a:off x="2000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7976" name="Line 8"/>
            <p:cNvSpPr>
              <a:spLocks noChangeShapeType="1"/>
            </p:cNvSpPr>
            <p:nvPr/>
          </p:nvSpPr>
          <p:spPr bwMode="auto">
            <a:xfrm>
              <a:off x="2234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7977" name="Line 9"/>
            <p:cNvSpPr>
              <a:spLocks noChangeShapeType="1"/>
            </p:cNvSpPr>
            <p:nvPr/>
          </p:nvSpPr>
          <p:spPr bwMode="auto">
            <a:xfrm>
              <a:off x="2489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7978" name="Line 10"/>
            <p:cNvSpPr>
              <a:spLocks noChangeShapeType="1"/>
            </p:cNvSpPr>
            <p:nvPr/>
          </p:nvSpPr>
          <p:spPr bwMode="auto">
            <a:xfrm>
              <a:off x="2767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107972" name="Rectangle 4"/>
          <p:cNvSpPr>
            <a:spLocks noChangeArrowheads="1"/>
          </p:cNvSpPr>
          <p:nvPr/>
        </p:nvSpPr>
        <p:spPr bwMode="auto">
          <a:xfrm>
            <a:off x="890266" y="5025828"/>
            <a:ext cx="7666038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执行情况：</a:t>
            </a:r>
          </a:p>
          <a:p>
            <a:pPr marL="742950" lvl="1" indent="-285750">
              <a:spcBef>
                <a:spcPct val="20000"/>
              </a:spcBef>
              <a:buClr>
                <a:srgbClr val="CC0099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递归工作栈保存内容：形参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和返回地址</a:t>
            </a:r>
          </a:p>
          <a:p>
            <a:pPr marL="742950" lvl="1" indent="-285750">
              <a:spcBef>
                <a:spcPct val="20000"/>
              </a:spcBef>
              <a:buClr>
                <a:srgbClr val="CC0099"/>
              </a:buClr>
              <a:buFont typeface="Wingdings" pitchFamily="2" charset="2"/>
              <a:buChar char="l"/>
            </a:pP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返回地址用行编号表示</a:t>
            </a:r>
            <a:endParaRPr lang="zh-CN" alt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107991" name="Group 23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7992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7993" name="Text Box 2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21" name="Group 29"/>
          <p:cNvGrpSpPr>
            <a:grpSpLocks/>
          </p:cNvGrpSpPr>
          <p:nvPr/>
        </p:nvGrpSpPr>
        <p:grpSpPr bwMode="auto">
          <a:xfrm>
            <a:off x="10128870" y="720056"/>
            <a:ext cx="1655762" cy="3429024"/>
            <a:chOff x="412" y="709"/>
            <a:chExt cx="1043" cy="2631"/>
          </a:xfrm>
        </p:grpSpPr>
        <p:sp>
          <p:nvSpPr>
            <p:cNvPr id="22" name="Rectangle 24"/>
            <p:cNvSpPr>
              <a:spLocks noChangeArrowheads="1"/>
            </p:cNvSpPr>
            <p:nvPr/>
          </p:nvSpPr>
          <p:spPr bwMode="auto">
            <a:xfrm>
              <a:off x="412" y="709"/>
              <a:ext cx="1043" cy="2631"/>
            </a:xfrm>
            <a:prstGeom prst="rect">
              <a:avLst/>
            </a:prstGeom>
            <a:gradFill flip="none" rotWithShape="1">
              <a:gsLst>
                <a:gs pos="0">
                  <a:srgbClr val="33CCFF">
                    <a:tint val="66000"/>
                    <a:satMod val="160000"/>
                  </a:srgbClr>
                </a:gs>
                <a:gs pos="50000">
                  <a:srgbClr val="33CCFF">
                    <a:tint val="44500"/>
                    <a:satMod val="160000"/>
                  </a:srgbClr>
                </a:gs>
                <a:gs pos="100000">
                  <a:srgbClr val="33CCFF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38100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" name="Group 10"/>
            <p:cNvGrpSpPr>
              <a:grpSpLocks/>
            </p:cNvGrpSpPr>
            <p:nvPr/>
          </p:nvGrpSpPr>
          <p:grpSpPr bwMode="auto">
            <a:xfrm>
              <a:off x="514" y="1652"/>
              <a:ext cx="824" cy="643"/>
              <a:chOff x="2112" y="0"/>
              <a:chExt cx="1248" cy="1679"/>
            </a:xfrm>
          </p:grpSpPr>
          <p:grpSp>
            <p:nvGrpSpPr>
              <p:cNvPr id="38" name="Group 1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40" name="Line 1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1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9" name="Text Box 14"/>
              <p:cNvSpPr txBox="1">
                <a:spLocks noChangeArrowheads="1"/>
              </p:cNvSpPr>
              <p:nvPr/>
            </p:nvSpPr>
            <p:spPr bwMode="auto">
              <a:xfrm>
                <a:off x="2538" y="878"/>
                <a:ext cx="340" cy="8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24" name="Group 15"/>
            <p:cNvGrpSpPr>
              <a:grpSpLocks/>
            </p:cNvGrpSpPr>
            <p:nvPr/>
          </p:nvGrpSpPr>
          <p:grpSpPr bwMode="auto">
            <a:xfrm>
              <a:off x="487" y="2468"/>
              <a:ext cx="878" cy="643"/>
              <a:chOff x="3456" y="0"/>
              <a:chExt cx="1248" cy="1679"/>
            </a:xfrm>
          </p:grpSpPr>
          <p:grpSp>
            <p:nvGrpSpPr>
              <p:cNvPr id="34" name="Group 1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36" name="Line 1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Text Box 19"/>
              <p:cNvSpPr txBox="1">
                <a:spLocks noChangeArrowheads="1"/>
              </p:cNvSpPr>
              <p:nvPr/>
            </p:nvSpPr>
            <p:spPr bwMode="auto">
              <a:xfrm>
                <a:off x="3886" y="878"/>
                <a:ext cx="332" cy="8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grpSp>
          <p:nvGrpSpPr>
            <p:cNvPr id="25" name="Group 23"/>
            <p:cNvGrpSpPr>
              <a:grpSpLocks/>
            </p:cNvGrpSpPr>
            <p:nvPr/>
          </p:nvGrpSpPr>
          <p:grpSpPr bwMode="auto">
            <a:xfrm>
              <a:off x="476" y="878"/>
              <a:ext cx="953" cy="731"/>
              <a:chOff x="153" y="1305"/>
              <a:chExt cx="534" cy="620"/>
            </a:xfrm>
          </p:grpSpPr>
          <p:grpSp>
            <p:nvGrpSpPr>
              <p:cNvPr id="26" name="Group 5"/>
              <p:cNvGrpSpPr>
                <a:grpSpLocks/>
              </p:cNvGrpSpPr>
              <p:nvPr/>
            </p:nvGrpSpPr>
            <p:grpSpPr bwMode="auto">
              <a:xfrm>
                <a:off x="153" y="1305"/>
                <a:ext cx="534" cy="620"/>
                <a:chOff x="720" y="0"/>
                <a:chExt cx="1248" cy="1617"/>
              </a:xfrm>
            </p:grpSpPr>
            <p:grpSp>
              <p:nvGrpSpPr>
                <p:cNvPr id="30" name="Group 6"/>
                <p:cNvGrpSpPr>
                  <a:grpSpLocks/>
                </p:cNvGrpSpPr>
                <p:nvPr/>
              </p:nvGrpSpPr>
              <p:grpSpPr bwMode="auto">
                <a:xfrm>
                  <a:off x="720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32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63" y="938"/>
                  <a:ext cx="306" cy="67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A</a:t>
                  </a:r>
                </a:p>
              </p:txBody>
            </p:sp>
          </p:grpSp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235" y="1673"/>
                <a:ext cx="329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Rectangle 21"/>
              <p:cNvSpPr>
                <a:spLocks noChangeArrowheads="1"/>
              </p:cNvSpPr>
              <p:nvPr/>
            </p:nvSpPr>
            <p:spPr bwMode="auto">
              <a:xfrm>
                <a:off x="297" y="1618"/>
                <a:ext cx="205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Rectangle 22"/>
              <p:cNvSpPr>
                <a:spLocks noChangeArrowheads="1"/>
              </p:cNvSpPr>
              <p:nvPr/>
            </p:nvSpPr>
            <p:spPr bwMode="auto">
              <a:xfrm>
                <a:off x="338" y="1562"/>
                <a:ext cx="123" cy="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2567608" y="2924721"/>
            <a:ext cx="6769100" cy="2376487"/>
            <a:chOff x="884" y="1389"/>
            <a:chExt cx="4264" cy="1497"/>
          </a:xfrm>
        </p:grpSpPr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884" y="1389"/>
              <a:ext cx="4264" cy="1497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6"/>
            <p:cNvSpPr txBox="1">
              <a:spLocks noChangeArrowheads="1"/>
            </p:cNvSpPr>
            <p:nvPr/>
          </p:nvSpPr>
          <p:spPr bwMode="auto">
            <a:xfrm>
              <a:off x="930" y="1979"/>
              <a:ext cx="1406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hanio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(n, A, B, C) =</a:t>
              </a:r>
              <a:r>
                <a:rPr lang="en-US" altLang="zh-CN" sz="2000" dirty="0"/>
                <a:t> </a:t>
              </a:r>
            </a:p>
          </p:txBody>
        </p:sp>
        <p:sp>
          <p:nvSpPr>
            <p:cNvPr id="45" name="AutoShape 17"/>
            <p:cNvSpPr>
              <a:spLocks/>
            </p:cNvSpPr>
            <p:nvPr/>
          </p:nvSpPr>
          <p:spPr bwMode="auto">
            <a:xfrm>
              <a:off x="2331" y="1701"/>
              <a:ext cx="88" cy="847"/>
            </a:xfrm>
            <a:prstGeom prst="leftBrace">
              <a:avLst>
                <a:gd name="adj1" fmla="val 80208"/>
                <a:gd name="adj2" fmla="val 50000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2419" y="1580"/>
              <a:ext cx="2547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move(A, C)                       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当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n = 1</a:t>
              </a:r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2698" y="2002"/>
              <a:ext cx="2139" cy="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hanio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(n-1, A, C, B)   </a:t>
              </a:r>
            </a:p>
            <a:p>
              <a:pPr algn="just"/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move(A, C)                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当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n &gt; 1</a:t>
              </a:r>
            </a:p>
            <a:p>
              <a:pPr algn="just"/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hanio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(n-1, B, A, C)</a:t>
              </a:r>
            </a:p>
          </p:txBody>
        </p:sp>
        <p:sp>
          <p:nvSpPr>
            <p:cNvPr id="48" name="AutoShape 20"/>
            <p:cNvSpPr>
              <a:spLocks/>
            </p:cNvSpPr>
            <p:nvPr/>
          </p:nvSpPr>
          <p:spPr bwMode="auto">
            <a:xfrm>
              <a:off x="2522" y="2036"/>
              <a:ext cx="88" cy="605"/>
            </a:xfrm>
            <a:prstGeom prst="leftBrace">
              <a:avLst>
                <a:gd name="adj1" fmla="val 57292"/>
                <a:gd name="adj2" fmla="val 50000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0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0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07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07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07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07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0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0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0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0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0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0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0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0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0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0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7970" grpId="0" uiExpand="1" build="p" bldLvl="5" autoUpdateAnimBg="0"/>
      <p:bldP spid="1107971" grpId="0" uiExpand="1" build="p" bldLvl="5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Text Box 2"/>
          <p:cNvSpPr txBox="1">
            <a:spLocks noChangeArrowheads="1"/>
          </p:cNvSpPr>
          <p:nvPr/>
        </p:nvSpPr>
        <p:spPr bwMode="auto">
          <a:xfrm>
            <a:off x="1520007" y="293688"/>
            <a:ext cx="1592262" cy="457200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Hanoi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问题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108995" name="Rectangle 3" descr="信纸"/>
          <p:cNvSpPr>
            <a:spLocks noChangeArrowheads="1"/>
          </p:cNvSpPr>
          <p:nvPr/>
        </p:nvSpPr>
        <p:spPr bwMode="auto">
          <a:xfrm>
            <a:off x="3960789" y="128665"/>
            <a:ext cx="6671715" cy="6555641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move(char  </a:t>
            </a:r>
            <a:r>
              <a:rPr lang="en-US" altLang="zh-CN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getone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, char  </a:t>
            </a:r>
            <a:r>
              <a:rPr lang="en-US" altLang="zh-CN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putone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("%c---&gt;%c\n",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getone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putone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 }</a:t>
            </a:r>
          </a:p>
          <a:p>
            <a:pPr eaLnBrk="0" hangingPunct="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0" hangingPunct="0"/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n,char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one,char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two,char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three)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if(n==1)  move(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one,three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else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{    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(n-1, one, three, two);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move(one, three);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</a:t>
            </a:r>
            <a:r>
              <a:rPr lang="en-US" altLang="zh-CN" sz="20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(n-1,two,one,three);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eaLnBrk="0" hangingPunct="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0" hangingPunct="0"/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main( )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("Input the number of disks:");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d",&amp;m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("The steps to moving %3d disks:\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n",m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m,'A','B','C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');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return 0;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1109021" name="Group 29"/>
          <p:cNvGrpSpPr>
            <a:grpSpLocks/>
          </p:cNvGrpSpPr>
          <p:nvPr/>
        </p:nvGrpSpPr>
        <p:grpSpPr bwMode="auto">
          <a:xfrm>
            <a:off x="1426356" y="1139826"/>
            <a:ext cx="1921123" cy="4176713"/>
            <a:chOff x="412" y="709"/>
            <a:chExt cx="1043" cy="2631"/>
          </a:xfrm>
        </p:grpSpPr>
        <p:sp>
          <p:nvSpPr>
            <p:cNvPr id="1109016" name="Rectangle 24"/>
            <p:cNvSpPr>
              <a:spLocks noChangeArrowheads="1"/>
            </p:cNvSpPr>
            <p:nvPr/>
          </p:nvSpPr>
          <p:spPr bwMode="auto">
            <a:xfrm>
              <a:off x="412" y="709"/>
              <a:ext cx="1043" cy="2631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09002" name="Group 10"/>
            <p:cNvGrpSpPr>
              <a:grpSpLocks/>
            </p:cNvGrpSpPr>
            <p:nvPr/>
          </p:nvGrpSpPr>
          <p:grpSpPr bwMode="auto">
            <a:xfrm>
              <a:off x="514" y="1652"/>
              <a:ext cx="824" cy="615"/>
              <a:chOff x="2112" y="0"/>
              <a:chExt cx="1248" cy="1605"/>
            </a:xfrm>
          </p:grpSpPr>
          <p:grpSp>
            <p:nvGrpSpPr>
              <p:cNvPr id="1109003" name="Group 1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09004" name="Line 1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9005" name="Line 1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09006" name="Text Box 14"/>
              <p:cNvSpPr txBox="1">
                <a:spLocks noChangeArrowheads="1"/>
              </p:cNvSpPr>
              <p:nvPr/>
            </p:nvSpPr>
            <p:spPr bwMode="auto">
              <a:xfrm>
                <a:off x="2539" y="953"/>
                <a:ext cx="338" cy="6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09007" name="Group 15"/>
            <p:cNvGrpSpPr>
              <a:grpSpLocks/>
            </p:cNvGrpSpPr>
            <p:nvPr/>
          </p:nvGrpSpPr>
          <p:grpSpPr bwMode="auto">
            <a:xfrm>
              <a:off x="487" y="2468"/>
              <a:ext cx="878" cy="615"/>
              <a:chOff x="3456" y="0"/>
              <a:chExt cx="1248" cy="1605"/>
            </a:xfrm>
          </p:grpSpPr>
          <p:grpSp>
            <p:nvGrpSpPr>
              <p:cNvPr id="1109008" name="Group 1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09009" name="Line 1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9010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09011" name="Text Box 19"/>
              <p:cNvSpPr txBox="1">
                <a:spLocks noChangeArrowheads="1"/>
              </p:cNvSpPr>
              <p:nvPr/>
            </p:nvSpPr>
            <p:spPr bwMode="auto">
              <a:xfrm>
                <a:off x="3887" y="953"/>
                <a:ext cx="329" cy="6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grpSp>
          <p:nvGrpSpPr>
            <p:cNvPr id="1109015" name="Group 23"/>
            <p:cNvGrpSpPr>
              <a:grpSpLocks/>
            </p:cNvGrpSpPr>
            <p:nvPr/>
          </p:nvGrpSpPr>
          <p:grpSpPr bwMode="auto">
            <a:xfrm>
              <a:off x="476" y="881"/>
              <a:ext cx="953" cy="702"/>
              <a:chOff x="153" y="1305"/>
              <a:chExt cx="534" cy="595"/>
            </a:xfrm>
          </p:grpSpPr>
          <p:grpSp>
            <p:nvGrpSpPr>
              <p:cNvPr id="1108997" name="Group 5"/>
              <p:cNvGrpSpPr>
                <a:grpSpLocks/>
              </p:cNvGrpSpPr>
              <p:nvPr/>
            </p:nvGrpSpPr>
            <p:grpSpPr bwMode="auto">
              <a:xfrm>
                <a:off x="153" y="1305"/>
                <a:ext cx="534" cy="595"/>
                <a:chOff x="720" y="0"/>
                <a:chExt cx="1248" cy="1554"/>
              </a:xfrm>
            </p:grpSpPr>
            <p:grpSp>
              <p:nvGrpSpPr>
                <p:cNvPr id="1108998" name="Group 6"/>
                <p:cNvGrpSpPr>
                  <a:grpSpLocks/>
                </p:cNvGrpSpPr>
                <p:nvPr/>
              </p:nvGrpSpPr>
              <p:grpSpPr bwMode="auto">
                <a:xfrm>
                  <a:off x="720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08999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9000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0900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64" y="1001"/>
                  <a:ext cx="304" cy="5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A</a:t>
                  </a:r>
                </a:p>
              </p:txBody>
            </p:sp>
          </p:grpSp>
          <p:sp>
            <p:nvSpPr>
              <p:cNvPr id="1109012" name="Rectangle 20"/>
              <p:cNvSpPr>
                <a:spLocks noChangeArrowheads="1"/>
              </p:cNvSpPr>
              <p:nvPr/>
            </p:nvSpPr>
            <p:spPr bwMode="auto">
              <a:xfrm>
                <a:off x="235" y="1673"/>
                <a:ext cx="329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9013" name="Rectangle 21"/>
              <p:cNvSpPr>
                <a:spLocks noChangeArrowheads="1"/>
              </p:cNvSpPr>
              <p:nvPr/>
            </p:nvSpPr>
            <p:spPr bwMode="auto">
              <a:xfrm>
                <a:off x="297" y="1618"/>
                <a:ext cx="205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9014" name="Rectangle 22"/>
              <p:cNvSpPr>
                <a:spLocks noChangeArrowheads="1"/>
              </p:cNvSpPr>
              <p:nvPr/>
            </p:nvSpPr>
            <p:spPr bwMode="auto">
              <a:xfrm>
                <a:off x="338" y="1562"/>
                <a:ext cx="123" cy="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09022" name="Group 3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9023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9024" name="Text Box 3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8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018" name="Rectangle 2"/>
          <p:cNvSpPr>
            <a:spLocks noChangeArrowheads="1"/>
          </p:cNvSpPr>
          <p:nvPr/>
        </p:nvSpPr>
        <p:spPr bwMode="auto">
          <a:xfrm>
            <a:off x="1419746" y="3879851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19" name="Rectangle 3"/>
          <p:cNvSpPr>
            <a:spLocks noChangeArrowheads="1"/>
          </p:cNvSpPr>
          <p:nvPr/>
        </p:nvSpPr>
        <p:spPr bwMode="auto">
          <a:xfrm>
            <a:off x="1419746" y="3544888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0" name="Rectangle 4"/>
          <p:cNvSpPr>
            <a:spLocks noChangeArrowheads="1"/>
          </p:cNvSpPr>
          <p:nvPr/>
        </p:nvSpPr>
        <p:spPr bwMode="auto">
          <a:xfrm>
            <a:off x="1419746" y="319087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1" name="Rectangle 5"/>
          <p:cNvSpPr>
            <a:spLocks noChangeArrowheads="1"/>
          </p:cNvSpPr>
          <p:nvPr/>
        </p:nvSpPr>
        <p:spPr bwMode="auto">
          <a:xfrm>
            <a:off x="1437208" y="2816225"/>
            <a:ext cx="4708525" cy="369888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2" name="Rectangle 6"/>
          <p:cNvSpPr>
            <a:spLocks noChangeArrowheads="1"/>
          </p:cNvSpPr>
          <p:nvPr/>
        </p:nvSpPr>
        <p:spPr bwMode="auto">
          <a:xfrm>
            <a:off x="1419746" y="319087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3" name="Rectangle 7"/>
          <p:cNvSpPr>
            <a:spLocks noChangeArrowheads="1"/>
          </p:cNvSpPr>
          <p:nvPr/>
        </p:nvSpPr>
        <p:spPr bwMode="auto">
          <a:xfrm>
            <a:off x="1419746" y="357187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4" name="Rectangle 8"/>
          <p:cNvSpPr>
            <a:spLocks noChangeArrowheads="1"/>
          </p:cNvSpPr>
          <p:nvPr/>
        </p:nvSpPr>
        <p:spPr bwMode="auto">
          <a:xfrm>
            <a:off x="1419746" y="4278313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5" name="Rectangle 9"/>
          <p:cNvSpPr>
            <a:spLocks noChangeArrowheads="1"/>
          </p:cNvSpPr>
          <p:nvPr/>
        </p:nvSpPr>
        <p:spPr bwMode="auto">
          <a:xfrm>
            <a:off x="1419746" y="468312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6" name="Rectangle 10"/>
          <p:cNvSpPr>
            <a:spLocks noChangeArrowheads="1"/>
          </p:cNvSpPr>
          <p:nvPr/>
        </p:nvSpPr>
        <p:spPr bwMode="auto">
          <a:xfrm>
            <a:off x="1419746" y="2840039"/>
            <a:ext cx="4725987" cy="369887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7" name="Rectangle 11"/>
          <p:cNvSpPr>
            <a:spLocks noChangeArrowheads="1"/>
          </p:cNvSpPr>
          <p:nvPr/>
        </p:nvSpPr>
        <p:spPr bwMode="auto">
          <a:xfrm>
            <a:off x="1419746" y="282892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8" name="Rectangle 12"/>
          <p:cNvSpPr>
            <a:spLocks noChangeArrowheads="1"/>
          </p:cNvSpPr>
          <p:nvPr/>
        </p:nvSpPr>
        <p:spPr bwMode="auto">
          <a:xfrm>
            <a:off x="1419746" y="3179763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9" name="Rectangle 13"/>
          <p:cNvSpPr>
            <a:spLocks noChangeArrowheads="1"/>
          </p:cNvSpPr>
          <p:nvPr/>
        </p:nvSpPr>
        <p:spPr bwMode="auto">
          <a:xfrm>
            <a:off x="1419746" y="353377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0" name="Rectangle 14"/>
          <p:cNvSpPr>
            <a:spLocks noChangeArrowheads="1"/>
          </p:cNvSpPr>
          <p:nvPr/>
        </p:nvSpPr>
        <p:spPr bwMode="auto">
          <a:xfrm>
            <a:off x="1419746" y="4273551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1" name="Rectangle 15"/>
          <p:cNvSpPr>
            <a:spLocks noChangeArrowheads="1"/>
          </p:cNvSpPr>
          <p:nvPr/>
        </p:nvSpPr>
        <p:spPr bwMode="auto">
          <a:xfrm>
            <a:off x="1419746" y="464502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2" name="Rectangle 16"/>
          <p:cNvSpPr>
            <a:spLocks noChangeArrowheads="1"/>
          </p:cNvSpPr>
          <p:nvPr/>
        </p:nvSpPr>
        <p:spPr bwMode="auto">
          <a:xfrm>
            <a:off x="1419746" y="614363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3" name="Rectangle 17"/>
          <p:cNvSpPr>
            <a:spLocks noChangeArrowheads="1"/>
          </p:cNvSpPr>
          <p:nvPr/>
        </p:nvSpPr>
        <p:spPr bwMode="auto">
          <a:xfrm>
            <a:off x="1419746" y="249238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4" name="Rectangle 18"/>
          <p:cNvSpPr>
            <a:spLocks noChangeArrowheads="1"/>
          </p:cNvSpPr>
          <p:nvPr/>
        </p:nvSpPr>
        <p:spPr bwMode="auto">
          <a:xfrm>
            <a:off x="1419746" y="100012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5" name="Rectangle 19"/>
          <p:cNvSpPr>
            <a:spLocks noChangeArrowheads="1"/>
          </p:cNvSpPr>
          <p:nvPr/>
        </p:nvSpPr>
        <p:spPr bwMode="auto">
          <a:xfrm>
            <a:off x="1419746" y="133667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6" name="Rectangle 20"/>
          <p:cNvSpPr>
            <a:spLocks noChangeArrowheads="1"/>
          </p:cNvSpPr>
          <p:nvPr/>
        </p:nvSpPr>
        <p:spPr bwMode="auto">
          <a:xfrm>
            <a:off x="1419746" y="172402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7" name="Rectangle 21"/>
          <p:cNvSpPr>
            <a:spLocks noChangeArrowheads="1"/>
          </p:cNvSpPr>
          <p:nvPr/>
        </p:nvSpPr>
        <p:spPr bwMode="auto">
          <a:xfrm>
            <a:off x="1419746" y="2076451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8" name="Text Box 22"/>
          <p:cNvSpPr txBox="1">
            <a:spLocks noChangeArrowheads="1"/>
          </p:cNvSpPr>
          <p:nvPr/>
        </p:nvSpPr>
        <p:spPr bwMode="auto">
          <a:xfrm>
            <a:off x="1415480" y="193676"/>
            <a:ext cx="4723601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00FF"/>
                </a:solidFill>
              </a:rPr>
              <a:t> void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main ( )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{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("Input number of disks”);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d",&amp;m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(”Steps : %3d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disks”,m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m,'A','B','C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(0)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}</a:t>
            </a:r>
          </a:p>
          <a:p>
            <a:pPr eaLnBrk="0" hangingPunct="0"/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y,char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(3)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(4)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(5)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(6)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move(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n,x,z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(7)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(8)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(9)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</p:txBody>
      </p:sp>
      <p:grpSp>
        <p:nvGrpSpPr>
          <p:cNvPr id="1110039" name="Group 23"/>
          <p:cNvGrpSpPr>
            <a:grpSpLocks/>
          </p:cNvGrpSpPr>
          <p:nvPr/>
        </p:nvGrpSpPr>
        <p:grpSpPr bwMode="auto">
          <a:xfrm>
            <a:off x="7384157" y="244476"/>
            <a:ext cx="3608387" cy="1274763"/>
            <a:chOff x="287" y="0"/>
            <a:chExt cx="3984" cy="1513"/>
          </a:xfrm>
        </p:grpSpPr>
        <p:grpSp>
          <p:nvGrpSpPr>
            <p:cNvPr id="1110040" name="Group 24"/>
            <p:cNvGrpSpPr>
              <a:grpSpLocks/>
            </p:cNvGrpSpPr>
            <p:nvPr/>
          </p:nvGrpSpPr>
          <p:grpSpPr bwMode="auto">
            <a:xfrm>
              <a:off x="287" y="0"/>
              <a:ext cx="3984" cy="1513"/>
              <a:chOff x="720" y="0"/>
              <a:chExt cx="3984" cy="1513"/>
            </a:xfrm>
          </p:grpSpPr>
          <p:grpSp>
            <p:nvGrpSpPr>
              <p:cNvPr id="1110041" name="Group 2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513"/>
                <a:chOff x="720" y="0"/>
                <a:chExt cx="1248" cy="1513"/>
              </a:xfrm>
            </p:grpSpPr>
            <p:grpSp>
              <p:nvGrpSpPr>
                <p:cNvPr id="1110042" name="Group 26"/>
                <p:cNvGrpSpPr>
                  <a:grpSpLocks/>
                </p:cNvGrpSpPr>
                <p:nvPr/>
              </p:nvGrpSpPr>
              <p:grpSpPr bwMode="auto">
                <a:xfrm>
                  <a:off x="720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10043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0044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1004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116" y="1042"/>
                  <a:ext cx="407" cy="4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A</a:t>
                  </a:r>
                </a:p>
              </p:txBody>
            </p:sp>
          </p:grpSp>
          <p:grpSp>
            <p:nvGrpSpPr>
              <p:cNvPr id="1110046" name="Group 3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513"/>
                <a:chOff x="2112" y="0"/>
                <a:chExt cx="1248" cy="1513"/>
              </a:xfrm>
            </p:grpSpPr>
            <p:grpSp>
              <p:nvGrpSpPr>
                <p:cNvPr id="1110047" name="Group 31"/>
                <p:cNvGrpSpPr>
                  <a:grpSpLocks/>
                </p:cNvGrpSpPr>
                <p:nvPr/>
              </p:nvGrpSpPr>
              <p:grpSpPr bwMode="auto">
                <a:xfrm>
                  <a:off x="2112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10048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0049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1005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511" y="1042"/>
                  <a:ext cx="391" cy="4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B</a:t>
                  </a:r>
                </a:p>
              </p:txBody>
            </p:sp>
          </p:grpSp>
          <p:grpSp>
            <p:nvGrpSpPr>
              <p:cNvPr id="1110051" name="Group 3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513"/>
                <a:chOff x="3456" y="0"/>
                <a:chExt cx="1248" cy="1513"/>
              </a:xfrm>
            </p:grpSpPr>
            <p:grpSp>
              <p:nvGrpSpPr>
                <p:cNvPr id="1110052" name="Group 36"/>
                <p:cNvGrpSpPr>
                  <a:grpSpLocks/>
                </p:cNvGrpSpPr>
                <p:nvPr/>
              </p:nvGrpSpPr>
              <p:grpSpPr bwMode="auto">
                <a:xfrm>
                  <a:off x="3456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10053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0054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10055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843" y="1042"/>
                  <a:ext cx="407" cy="4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C</a:t>
                  </a:r>
                </a:p>
              </p:txBody>
            </p:sp>
          </p:grpSp>
          <p:sp>
            <p:nvSpPr>
              <p:cNvPr id="1110056" name="Rectangle 40"/>
              <p:cNvSpPr>
                <a:spLocks noChangeArrowheads="1"/>
              </p:cNvSpPr>
              <p:nvPr/>
            </p:nvSpPr>
            <p:spPr bwMode="auto">
              <a:xfrm>
                <a:off x="912" y="960"/>
                <a:ext cx="76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0057" name="Rectangle 41"/>
              <p:cNvSpPr>
                <a:spLocks noChangeArrowheads="1"/>
              </p:cNvSpPr>
              <p:nvPr/>
            </p:nvSpPr>
            <p:spPr bwMode="auto">
              <a:xfrm>
                <a:off x="1056" y="816"/>
                <a:ext cx="48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0058" name="Rectangle 42"/>
              <p:cNvSpPr>
                <a:spLocks noChangeArrowheads="1"/>
              </p:cNvSpPr>
              <p:nvPr/>
            </p:nvSpPr>
            <p:spPr bwMode="auto">
              <a:xfrm>
                <a:off x="1152" y="672"/>
                <a:ext cx="28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10059" name="Text Box 43"/>
            <p:cNvSpPr txBox="1">
              <a:spLocks noChangeArrowheads="1"/>
            </p:cNvSpPr>
            <p:nvPr/>
          </p:nvSpPr>
          <p:spPr bwMode="auto">
            <a:xfrm>
              <a:off x="618" y="509"/>
              <a:ext cx="344" cy="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/>
                <a:t>1</a:t>
              </a:r>
            </a:p>
          </p:txBody>
        </p:sp>
        <p:sp>
          <p:nvSpPr>
            <p:cNvPr id="1110060" name="Text Box 44"/>
            <p:cNvSpPr txBox="1">
              <a:spLocks noChangeArrowheads="1"/>
            </p:cNvSpPr>
            <p:nvPr/>
          </p:nvSpPr>
          <p:spPr bwMode="auto">
            <a:xfrm>
              <a:off x="618" y="656"/>
              <a:ext cx="344" cy="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/>
                <a:t>2</a:t>
              </a:r>
            </a:p>
          </p:txBody>
        </p:sp>
        <p:sp>
          <p:nvSpPr>
            <p:cNvPr id="1110061" name="Text Box 45"/>
            <p:cNvSpPr txBox="1">
              <a:spLocks noChangeArrowheads="1"/>
            </p:cNvSpPr>
            <p:nvPr/>
          </p:nvSpPr>
          <p:spPr bwMode="auto">
            <a:xfrm>
              <a:off x="618" y="808"/>
              <a:ext cx="344" cy="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/>
                <a:t>3</a:t>
              </a:r>
            </a:p>
          </p:txBody>
        </p:sp>
      </p:grpSp>
      <p:grpSp>
        <p:nvGrpSpPr>
          <p:cNvPr id="1110062" name="Group 46"/>
          <p:cNvGrpSpPr>
            <a:grpSpLocks/>
          </p:cNvGrpSpPr>
          <p:nvPr/>
        </p:nvGrpSpPr>
        <p:grpSpPr bwMode="auto">
          <a:xfrm>
            <a:off x="7781032" y="1409700"/>
            <a:ext cx="2130425" cy="660400"/>
            <a:chOff x="4174" y="622"/>
            <a:chExt cx="1342" cy="416"/>
          </a:xfrm>
        </p:grpSpPr>
        <p:grpSp>
          <p:nvGrpSpPr>
            <p:cNvPr id="1110063" name="Group 47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0064" name="Rectangle 48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065" name="Line 49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66" name="Line 50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67" name="Line 51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68" name="Line 52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0069" name="Line 53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0070" name="Line 54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0071" name="Group 55"/>
          <p:cNvGrpSpPr>
            <a:grpSpLocks/>
          </p:cNvGrpSpPr>
          <p:nvPr/>
        </p:nvGrpSpPr>
        <p:grpSpPr bwMode="auto">
          <a:xfrm>
            <a:off x="7769919" y="2024063"/>
            <a:ext cx="2138363" cy="1066800"/>
            <a:chOff x="4236" y="608"/>
            <a:chExt cx="1347" cy="672"/>
          </a:xfrm>
        </p:grpSpPr>
        <p:grpSp>
          <p:nvGrpSpPr>
            <p:cNvPr id="1110072" name="Group 56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0073" name="Rectangle 57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074" name="Line 58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75" name="Line 59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76" name="Line 60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77" name="Line 61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078" name="Group 62"/>
            <p:cNvGrpSpPr>
              <a:grpSpLocks/>
            </p:cNvGrpSpPr>
            <p:nvPr/>
          </p:nvGrpSpPr>
          <p:grpSpPr bwMode="auto">
            <a:xfrm>
              <a:off x="4237" y="608"/>
              <a:ext cx="1346" cy="416"/>
              <a:chOff x="4174" y="622"/>
              <a:chExt cx="1346" cy="416"/>
            </a:xfrm>
          </p:grpSpPr>
          <p:grpSp>
            <p:nvGrpSpPr>
              <p:cNvPr id="1110079" name="Group 63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0080" name="Rectangle 64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0081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082" name="Line 66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083" name="Line 67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084" name="Line 68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0085" name="Line 69"/>
              <p:cNvSpPr>
                <a:spLocks noChangeShapeType="1"/>
              </p:cNvSpPr>
              <p:nvPr/>
            </p:nvSpPr>
            <p:spPr bwMode="auto">
              <a:xfrm flipV="1">
                <a:off x="4186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86" name="Line 70"/>
              <p:cNvSpPr>
                <a:spLocks noChangeShapeType="1"/>
              </p:cNvSpPr>
              <p:nvPr/>
            </p:nvSpPr>
            <p:spPr bwMode="auto">
              <a:xfrm flipV="1">
                <a:off x="5520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0087" name="Group 71"/>
          <p:cNvGrpSpPr>
            <a:grpSpLocks/>
          </p:cNvGrpSpPr>
          <p:nvPr/>
        </p:nvGrpSpPr>
        <p:grpSpPr bwMode="auto">
          <a:xfrm>
            <a:off x="7781034" y="3097213"/>
            <a:ext cx="2136775" cy="1466850"/>
            <a:chOff x="4263" y="1385"/>
            <a:chExt cx="1346" cy="924"/>
          </a:xfrm>
        </p:grpSpPr>
        <p:grpSp>
          <p:nvGrpSpPr>
            <p:cNvPr id="1110088" name="Group 72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0089" name="Rectangle 73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090" name="Line 74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1" name="Line 75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2" name="Line 76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3" name="Line 77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094" name="Group 78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0095" name="Rectangle 79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C    B     6</a:t>
                </a:r>
              </a:p>
            </p:txBody>
          </p:sp>
          <p:sp>
            <p:nvSpPr>
              <p:cNvPr id="1110096" name="Line 80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7" name="Line 81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8" name="Line 82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9" name="Line 83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100" name="Group 84"/>
            <p:cNvGrpSpPr>
              <a:grpSpLocks/>
            </p:cNvGrpSpPr>
            <p:nvPr/>
          </p:nvGrpSpPr>
          <p:grpSpPr bwMode="auto">
            <a:xfrm>
              <a:off x="4263" y="1385"/>
              <a:ext cx="1346" cy="416"/>
              <a:chOff x="4178" y="622"/>
              <a:chExt cx="1346" cy="416"/>
            </a:xfrm>
          </p:grpSpPr>
          <p:grpSp>
            <p:nvGrpSpPr>
              <p:cNvPr id="1110101" name="Group 85"/>
              <p:cNvGrpSpPr>
                <a:grpSpLocks/>
              </p:cNvGrpSpPr>
              <p:nvPr/>
            </p:nvGrpSpPr>
            <p:grpSpPr bwMode="auto">
              <a:xfrm>
                <a:off x="4182" y="778"/>
                <a:ext cx="1342" cy="260"/>
                <a:chOff x="3636" y="1745"/>
                <a:chExt cx="1342" cy="260"/>
              </a:xfrm>
            </p:grpSpPr>
            <p:sp>
              <p:nvSpPr>
                <p:cNvPr id="1110102" name="Rectangle 86"/>
                <p:cNvSpPr>
                  <a:spLocks noChangeArrowheads="1"/>
                </p:cNvSpPr>
                <p:nvPr/>
              </p:nvSpPr>
              <p:spPr bwMode="auto">
                <a:xfrm>
                  <a:off x="3636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B    C    6</a:t>
                  </a:r>
                </a:p>
              </p:txBody>
            </p:sp>
            <p:sp>
              <p:nvSpPr>
                <p:cNvPr id="1110103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04" name="Line 88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05" name="Line 89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06" name="Line 90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0107" name="Line 91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08" name="Line 92"/>
              <p:cNvSpPr>
                <a:spLocks noChangeShapeType="1"/>
              </p:cNvSpPr>
              <p:nvPr/>
            </p:nvSpPr>
            <p:spPr bwMode="auto">
              <a:xfrm flipV="1">
                <a:off x="5512" y="636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0109" name="Group 93"/>
          <p:cNvGrpSpPr>
            <a:grpSpLocks/>
          </p:cNvGrpSpPr>
          <p:nvPr/>
        </p:nvGrpSpPr>
        <p:grpSpPr bwMode="auto">
          <a:xfrm>
            <a:off x="7368281" y="4578350"/>
            <a:ext cx="3078162" cy="1150938"/>
            <a:chOff x="720" y="1440"/>
            <a:chExt cx="3984" cy="1545"/>
          </a:xfrm>
        </p:grpSpPr>
        <p:grpSp>
          <p:nvGrpSpPr>
            <p:cNvPr id="1110110" name="Group 94"/>
            <p:cNvGrpSpPr>
              <a:grpSpLocks/>
            </p:cNvGrpSpPr>
            <p:nvPr/>
          </p:nvGrpSpPr>
          <p:grpSpPr bwMode="auto">
            <a:xfrm>
              <a:off x="720" y="1440"/>
              <a:ext cx="1248" cy="1545"/>
              <a:chOff x="720" y="0"/>
              <a:chExt cx="1248" cy="1545"/>
            </a:xfrm>
          </p:grpSpPr>
          <p:grpSp>
            <p:nvGrpSpPr>
              <p:cNvPr id="1110111" name="Group 9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0112" name="Line 9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0113" name="Line 9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0114" name="Text Box 98"/>
              <p:cNvSpPr txBox="1">
                <a:spLocks noChangeArrowheads="1"/>
              </p:cNvSpPr>
              <p:nvPr/>
            </p:nvSpPr>
            <p:spPr bwMode="auto">
              <a:xfrm>
                <a:off x="1075" y="1012"/>
                <a:ext cx="477" cy="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110115" name="Group 99"/>
            <p:cNvGrpSpPr>
              <a:grpSpLocks/>
            </p:cNvGrpSpPr>
            <p:nvPr/>
          </p:nvGrpSpPr>
          <p:grpSpPr bwMode="auto">
            <a:xfrm>
              <a:off x="2112" y="1440"/>
              <a:ext cx="1248" cy="1545"/>
              <a:chOff x="2112" y="0"/>
              <a:chExt cx="1248" cy="1545"/>
            </a:xfrm>
          </p:grpSpPr>
          <p:grpSp>
            <p:nvGrpSpPr>
              <p:cNvPr id="1110116" name="Group 10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0117" name="Line 101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0118" name="Line 102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0119" name="Text Box 103"/>
              <p:cNvSpPr txBox="1">
                <a:spLocks noChangeArrowheads="1"/>
              </p:cNvSpPr>
              <p:nvPr/>
            </p:nvSpPr>
            <p:spPr bwMode="auto">
              <a:xfrm>
                <a:off x="2479" y="1012"/>
                <a:ext cx="458" cy="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10120" name="Group 104"/>
            <p:cNvGrpSpPr>
              <a:grpSpLocks/>
            </p:cNvGrpSpPr>
            <p:nvPr/>
          </p:nvGrpSpPr>
          <p:grpSpPr bwMode="auto">
            <a:xfrm>
              <a:off x="3456" y="1440"/>
              <a:ext cx="1248" cy="1545"/>
              <a:chOff x="3456" y="0"/>
              <a:chExt cx="1248" cy="1545"/>
            </a:xfrm>
          </p:grpSpPr>
          <p:grpSp>
            <p:nvGrpSpPr>
              <p:cNvPr id="1110121" name="Group 10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0122" name="Line 10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0123" name="Line 10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0124" name="Text Box 108"/>
              <p:cNvSpPr txBox="1">
                <a:spLocks noChangeArrowheads="1"/>
              </p:cNvSpPr>
              <p:nvPr/>
            </p:nvSpPr>
            <p:spPr bwMode="auto">
              <a:xfrm>
                <a:off x="3810" y="1012"/>
                <a:ext cx="477" cy="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sp>
          <p:nvSpPr>
            <p:cNvPr id="1110125" name="Rectangle 109"/>
            <p:cNvSpPr>
              <a:spLocks noChangeArrowheads="1"/>
            </p:cNvSpPr>
            <p:nvPr/>
          </p:nvSpPr>
          <p:spPr bwMode="auto">
            <a:xfrm>
              <a:off x="912" y="2400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126" name="Rectangle 110"/>
            <p:cNvSpPr>
              <a:spLocks noChangeArrowheads="1"/>
            </p:cNvSpPr>
            <p:nvPr/>
          </p:nvSpPr>
          <p:spPr bwMode="auto">
            <a:xfrm>
              <a:off x="1056" y="2256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127" name="Rectangle 111"/>
            <p:cNvSpPr>
              <a:spLocks noChangeArrowheads="1"/>
            </p:cNvSpPr>
            <p:nvPr/>
          </p:nvSpPr>
          <p:spPr bwMode="auto">
            <a:xfrm>
              <a:off x="3888" y="2400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0128" name="Group 112"/>
          <p:cNvGrpSpPr>
            <a:grpSpLocks/>
          </p:cNvGrpSpPr>
          <p:nvPr/>
        </p:nvGrpSpPr>
        <p:grpSpPr bwMode="auto">
          <a:xfrm>
            <a:off x="7773094" y="5543550"/>
            <a:ext cx="2132013" cy="1066800"/>
            <a:chOff x="4236" y="608"/>
            <a:chExt cx="1343" cy="672"/>
          </a:xfrm>
        </p:grpSpPr>
        <p:grpSp>
          <p:nvGrpSpPr>
            <p:cNvPr id="1110129" name="Group 113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0130" name="Rectangle 114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131" name="Line 115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32" name="Line 116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33" name="Line 117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34" name="Line 118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135" name="Group 119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0136" name="Group 120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0137" name="Rectangle 121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0138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39" name="Line 123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40" name="Line 124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41" name="Line 125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0142" name="Line 126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43" name="Line 127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0148" name="Group 132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0149" name="Text Box 133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0150" name="Text Box 13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110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110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1110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1100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1110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1110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018" grpId="0" animBg="1"/>
      <p:bldP spid="1110019" grpId="0" animBg="1"/>
      <p:bldP spid="1110020" grpId="0" animBg="1"/>
      <p:bldP spid="1110021" grpId="0" animBg="1"/>
      <p:bldP spid="1110022" grpId="0" animBg="1"/>
      <p:bldP spid="1110023" grpId="0" animBg="1"/>
      <p:bldP spid="1110024" grpId="0" animBg="1"/>
      <p:bldP spid="1110025" grpId="0" animBg="1"/>
      <p:bldP spid="1110026" grpId="0" animBg="1"/>
      <p:bldP spid="1110027" grpId="0" animBg="1"/>
      <p:bldP spid="1110028" grpId="0" animBg="1"/>
      <p:bldP spid="1110029" grpId="0" animBg="1"/>
      <p:bldP spid="1110030" grpId="0" animBg="1"/>
      <p:bldP spid="1110031" grpId="0" animBg="1"/>
      <p:bldP spid="1110032" grpId="0" animBg="1"/>
      <p:bldP spid="1110033" grpId="0" animBg="1"/>
      <p:bldP spid="1110034" grpId="0" animBg="1"/>
      <p:bldP spid="1110035" grpId="0" animBg="1"/>
      <p:bldP spid="1110036" grpId="0" animBg="1"/>
      <p:bldP spid="111003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2" name="Rectangle 2"/>
          <p:cNvSpPr>
            <a:spLocks noChangeArrowheads="1"/>
          </p:cNvSpPr>
          <p:nvPr/>
        </p:nvSpPr>
        <p:spPr bwMode="auto">
          <a:xfrm>
            <a:off x="911424" y="2809876"/>
            <a:ext cx="4725988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3" name="Rectangle 3"/>
          <p:cNvSpPr>
            <a:spLocks noChangeArrowheads="1"/>
          </p:cNvSpPr>
          <p:nvPr/>
        </p:nvSpPr>
        <p:spPr bwMode="auto">
          <a:xfrm>
            <a:off x="911424" y="3198813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4" name="Rectangle 4"/>
          <p:cNvSpPr>
            <a:spLocks noChangeArrowheads="1"/>
          </p:cNvSpPr>
          <p:nvPr/>
        </p:nvSpPr>
        <p:spPr bwMode="auto">
          <a:xfrm>
            <a:off x="911424" y="3551238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5" name="Rectangle 5"/>
          <p:cNvSpPr>
            <a:spLocks noChangeArrowheads="1"/>
          </p:cNvSpPr>
          <p:nvPr/>
        </p:nvSpPr>
        <p:spPr bwMode="auto">
          <a:xfrm>
            <a:off x="911424" y="3884613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6" name="Rectangle 6"/>
          <p:cNvSpPr>
            <a:spLocks noChangeArrowheads="1"/>
          </p:cNvSpPr>
          <p:nvPr/>
        </p:nvSpPr>
        <p:spPr bwMode="auto">
          <a:xfrm>
            <a:off x="911424" y="4997451"/>
            <a:ext cx="4725988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7" name="Rectangle 7"/>
          <p:cNvSpPr>
            <a:spLocks noChangeArrowheads="1"/>
          </p:cNvSpPr>
          <p:nvPr/>
        </p:nvSpPr>
        <p:spPr bwMode="auto">
          <a:xfrm>
            <a:off x="911424" y="4997451"/>
            <a:ext cx="4725988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8" name="Rectangle 8"/>
          <p:cNvSpPr>
            <a:spLocks noChangeArrowheads="1"/>
          </p:cNvSpPr>
          <p:nvPr/>
        </p:nvSpPr>
        <p:spPr bwMode="auto">
          <a:xfrm>
            <a:off x="911424" y="5383213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9" name="Rectangle 9"/>
          <p:cNvSpPr>
            <a:spLocks noChangeArrowheads="1"/>
          </p:cNvSpPr>
          <p:nvPr/>
        </p:nvSpPr>
        <p:spPr bwMode="auto">
          <a:xfrm>
            <a:off x="911424" y="5754688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50" name="Rectangle 10"/>
          <p:cNvSpPr>
            <a:spLocks noChangeArrowheads="1"/>
          </p:cNvSpPr>
          <p:nvPr/>
        </p:nvSpPr>
        <p:spPr bwMode="auto">
          <a:xfrm>
            <a:off x="911424" y="6116638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51" name="Text Box 11"/>
          <p:cNvSpPr txBox="1">
            <a:spLocks noChangeArrowheads="1"/>
          </p:cNvSpPr>
          <p:nvPr/>
        </p:nvSpPr>
        <p:spPr bwMode="auto">
          <a:xfrm>
            <a:off x="946349" y="193676"/>
            <a:ext cx="4794902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00FF"/>
                </a:solidFill>
              </a:rPr>
              <a:t> void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main ( )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{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("Input the number of disks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d",&amp;m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("The steps to moving %3d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m,'A','B','C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(0)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}</a:t>
            </a:r>
          </a:p>
          <a:p>
            <a:pPr eaLnBrk="0" hangingPunct="0"/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y,char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(3)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(4)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(5)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(6)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move(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n,x,z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(7)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(8)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(9)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</p:txBody>
      </p:sp>
      <p:grpSp>
        <p:nvGrpSpPr>
          <p:cNvPr id="1111052" name="Group 12"/>
          <p:cNvGrpSpPr>
            <a:grpSpLocks/>
          </p:cNvGrpSpPr>
          <p:nvPr/>
        </p:nvGrpSpPr>
        <p:grpSpPr bwMode="auto">
          <a:xfrm>
            <a:off x="8498459" y="456778"/>
            <a:ext cx="3108325" cy="1090612"/>
            <a:chOff x="720" y="2918"/>
            <a:chExt cx="3984" cy="1564"/>
          </a:xfrm>
        </p:grpSpPr>
        <p:grpSp>
          <p:nvGrpSpPr>
            <p:cNvPr id="1111053" name="Group 13"/>
            <p:cNvGrpSpPr>
              <a:grpSpLocks/>
            </p:cNvGrpSpPr>
            <p:nvPr/>
          </p:nvGrpSpPr>
          <p:grpSpPr bwMode="auto">
            <a:xfrm>
              <a:off x="720" y="2918"/>
              <a:ext cx="1248" cy="1564"/>
              <a:chOff x="720" y="0"/>
              <a:chExt cx="1248" cy="1564"/>
            </a:xfrm>
          </p:grpSpPr>
          <p:grpSp>
            <p:nvGrpSpPr>
              <p:cNvPr id="1111054" name="Group 14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1055" name="Line 15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56" name="Line 16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57" name="Text Box 17"/>
              <p:cNvSpPr txBox="1">
                <a:spLocks noChangeArrowheads="1"/>
              </p:cNvSpPr>
              <p:nvPr/>
            </p:nvSpPr>
            <p:spPr bwMode="auto">
              <a:xfrm>
                <a:off x="1080" y="995"/>
                <a:ext cx="472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111058" name="Group 18"/>
            <p:cNvGrpSpPr>
              <a:grpSpLocks/>
            </p:cNvGrpSpPr>
            <p:nvPr/>
          </p:nvGrpSpPr>
          <p:grpSpPr bwMode="auto">
            <a:xfrm>
              <a:off x="2112" y="2918"/>
              <a:ext cx="1248" cy="1564"/>
              <a:chOff x="2112" y="0"/>
              <a:chExt cx="1248" cy="1564"/>
            </a:xfrm>
          </p:grpSpPr>
          <p:grpSp>
            <p:nvGrpSpPr>
              <p:cNvPr id="1111059" name="Group 19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1060" name="Line 20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61" name="Line 21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62" name="Text Box 22"/>
              <p:cNvSpPr txBox="1">
                <a:spLocks noChangeArrowheads="1"/>
              </p:cNvSpPr>
              <p:nvPr/>
            </p:nvSpPr>
            <p:spPr bwMode="auto">
              <a:xfrm>
                <a:off x="2480" y="995"/>
                <a:ext cx="454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11063" name="Group 23"/>
            <p:cNvGrpSpPr>
              <a:grpSpLocks/>
            </p:cNvGrpSpPr>
            <p:nvPr/>
          </p:nvGrpSpPr>
          <p:grpSpPr bwMode="auto">
            <a:xfrm>
              <a:off x="3456" y="2918"/>
              <a:ext cx="1248" cy="1564"/>
              <a:chOff x="3456" y="0"/>
              <a:chExt cx="1248" cy="1564"/>
            </a:xfrm>
          </p:grpSpPr>
          <p:grpSp>
            <p:nvGrpSpPr>
              <p:cNvPr id="1111064" name="Group 24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1065" name="Line 25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66" name="Line 26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67" name="Text Box 27"/>
              <p:cNvSpPr txBox="1">
                <a:spLocks noChangeArrowheads="1"/>
              </p:cNvSpPr>
              <p:nvPr/>
            </p:nvSpPr>
            <p:spPr bwMode="auto">
              <a:xfrm>
                <a:off x="3814" y="995"/>
                <a:ext cx="473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sp>
          <p:nvSpPr>
            <p:cNvPr id="1111068" name="Rectangle 28"/>
            <p:cNvSpPr>
              <a:spLocks noChangeArrowheads="1"/>
            </p:cNvSpPr>
            <p:nvPr/>
          </p:nvSpPr>
          <p:spPr bwMode="auto">
            <a:xfrm>
              <a:off x="912" y="3878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069" name="Rectangle 29"/>
            <p:cNvSpPr>
              <a:spLocks noChangeArrowheads="1"/>
            </p:cNvSpPr>
            <p:nvPr/>
          </p:nvSpPr>
          <p:spPr bwMode="auto">
            <a:xfrm>
              <a:off x="3888" y="3878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070" name="Rectangle 30"/>
            <p:cNvSpPr>
              <a:spLocks noChangeArrowheads="1"/>
            </p:cNvSpPr>
            <p:nvPr/>
          </p:nvSpPr>
          <p:spPr bwMode="auto">
            <a:xfrm>
              <a:off x="2459" y="3877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1071" name="Group 31"/>
          <p:cNvGrpSpPr>
            <a:grpSpLocks/>
          </p:cNvGrpSpPr>
          <p:nvPr/>
        </p:nvGrpSpPr>
        <p:grpSpPr bwMode="auto">
          <a:xfrm>
            <a:off x="8841359" y="1537865"/>
            <a:ext cx="2141537" cy="1466850"/>
            <a:chOff x="4259" y="1385"/>
            <a:chExt cx="1349" cy="924"/>
          </a:xfrm>
        </p:grpSpPr>
        <p:grpSp>
          <p:nvGrpSpPr>
            <p:cNvPr id="1111072" name="Group 32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1073" name="Rectangle 33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074" name="Line 34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75" name="Line 35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76" name="Line 36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77" name="Line 37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078" name="Group 38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1079" name="Rectangle 39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C    B     6</a:t>
                </a:r>
              </a:p>
            </p:txBody>
          </p:sp>
          <p:sp>
            <p:nvSpPr>
              <p:cNvPr id="1111080" name="Line 40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81" name="Line 41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82" name="Line 42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83" name="Line 43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084" name="Group 44"/>
            <p:cNvGrpSpPr>
              <a:grpSpLocks/>
            </p:cNvGrpSpPr>
            <p:nvPr/>
          </p:nvGrpSpPr>
          <p:grpSpPr bwMode="auto">
            <a:xfrm>
              <a:off x="4259" y="1385"/>
              <a:ext cx="1342" cy="416"/>
              <a:chOff x="4174" y="622"/>
              <a:chExt cx="1342" cy="416"/>
            </a:xfrm>
          </p:grpSpPr>
          <p:grpSp>
            <p:nvGrpSpPr>
              <p:cNvPr id="1111085" name="Group 45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1086" name="Rectangle 46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C    A    B    8</a:t>
                  </a:r>
                </a:p>
              </p:txBody>
            </p:sp>
            <p:sp>
              <p:nvSpPr>
                <p:cNvPr id="1111087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088" name="Line 48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089" name="Line 49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090" name="Line 50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1091" name="Line 51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92" name="Line 52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1093" name="Group 53"/>
          <p:cNvGrpSpPr>
            <a:grpSpLocks/>
          </p:cNvGrpSpPr>
          <p:nvPr/>
        </p:nvGrpSpPr>
        <p:grpSpPr bwMode="auto">
          <a:xfrm>
            <a:off x="8498458" y="3179341"/>
            <a:ext cx="3008312" cy="1198563"/>
            <a:chOff x="698" y="0"/>
            <a:chExt cx="3984" cy="1532"/>
          </a:xfrm>
        </p:grpSpPr>
        <p:grpSp>
          <p:nvGrpSpPr>
            <p:cNvPr id="1111094" name="Group 54"/>
            <p:cNvGrpSpPr>
              <a:grpSpLocks/>
            </p:cNvGrpSpPr>
            <p:nvPr/>
          </p:nvGrpSpPr>
          <p:grpSpPr bwMode="auto">
            <a:xfrm>
              <a:off x="698" y="0"/>
              <a:ext cx="1248" cy="1532"/>
              <a:chOff x="720" y="0"/>
              <a:chExt cx="1248" cy="1532"/>
            </a:xfrm>
          </p:grpSpPr>
          <p:grpSp>
            <p:nvGrpSpPr>
              <p:cNvPr id="1111095" name="Group 5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1096" name="Line 5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97" name="Line 5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98" name="Text Box 58"/>
              <p:cNvSpPr txBox="1">
                <a:spLocks noChangeArrowheads="1"/>
              </p:cNvSpPr>
              <p:nvPr/>
            </p:nvSpPr>
            <p:spPr bwMode="auto">
              <a:xfrm>
                <a:off x="1071" y="1025"/>
                <a:ext cx="488" cy="5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111099" name="Group 59"/>
            <p:cNvGrpSpPr>
              <a:grpSpLocks/>
            </p:cNvGrpSpPr>
            <p:nvPr/>
          </p:nvGrpSpPr>
          <p:grpSpPr bwMode="auto">
            <a:xfrm>
              <a:off x="2090" y="0"/>
              <a:ext cx="1248" cy="1532"/>
              <a:chOff x="2112" y="0"/>
              <a:chExt cx="1248" cy="1532"/>
            </a:xfrm>
          </p:grpSpPr>
          <p:grpSp>
            <p:nvGrpSpPr>
              <p:cNvPr id="1111100" name="Group 6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1101" name="Line 61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102" name="Line 62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103" name="Text Box 63"/>
              <p:cNvSpPr txBox="1">
                <a:spLocks noChangeArrowheads="1"/>
              </p:cNvSpPr>
              <p:nvPr/>
            </p:nvSpPr>
            <p:spPr bwMode="auto">
              <a:xfrm>
                <a:off x="2473" y="1025"/>
                <a:ext cx="469" cy="5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11104" name="Group 64"/>
            <p:cNvGrpSpPr>
              <a:grpSpLocks/>
            </p:cNvGrpSpPr>
            <p:nvPr/>
          </p:nvGrpSpPr>
          <p:grpSpPr bwMode="auto">
            <a:xfrm>
              <a:off x="3434" y="0"/>
              <a:ext cx="1248" cy="1532"/>
              <a:chOff x="3456" y="0"/>
              <a:chExt cx="1248" cy="1532"/>
            </a:xfrm>
          </p:grpSpPr>
          <p:grpSp>
            <p:nvGrpSpPr>
              <p:cNvPr id="1111105" name="Group 6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1106" name="Line 6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107" name="Line 6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108" name="Text Box 68"/>
              <p:cNvSpPr txBox="1">
                <a:spLocks noChangeArrowheads="1"/>
              </p:cNvSpPr>
              <p:nvPr/>
            </p:nvSpPr>
            <p:spPr bwMode="auto">
              <a:xfrm>
                <a:off x="3805" y="1025"/>
                <a:ext cx="487" cy="5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sp>
          <p:nvSpPr>
            <p:cNvPr id="1111109" name="Rectangle 69"/>
            <p:cNvSpPr>
              <a:spLocks noChangeArrowheads="1"/>
            </p:cNvSpPr>
            <p:nvPr/>
          </p:nvSpPr>
          <p:spPr bwMode="auto">
            <a:xfrm>
              <a:off x="890" y="960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110" name="Rectangle 70"/>
            <p:cNvSpPr>
              <a:spLocks noChangeArrowheads="1"/>
            </p:cNvSpPr>
            <p:nvPr/>
          </p:nvSpPr>
          <p:spPr bwMode="auto">
            <a:xfrm>
              <a:off x="2437" y="959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111" name="Rectangle 71"/>
            <p:cNvSpPr>
              <a:spLocks noChangeArrowheads="1"/>
            </p:cNvSpPr>
            <p:nvPr/>
          </p:nvSpPr>
          <p:spPr bwMode="auto">
            <a:xfrm>
              <a:off x="2524" y="815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1112" name="Group 72"/>
          <p:cNvGrpSpPr>
            <a:grpSpLocks/>
          </p:cNvGrpSpPr>
          <p:nvPr/>
        </p:nvGrpSpPr>
        <p:grpSpPr bwMode="auto">
          <a:xfrm>
            <a:off x="8885808" y="4366790"/>
            <a:ext cx="2132012" cy="1066800"/>
            <a:chOff x="4236" y="608"/>
            <a:chExt cx="1343" cy="672"/>
          </a:xfrm>
        </p:grpSpPr>
        <p:grpSp>
          <p:nvGrpSpPr>
            <p:cNvPr id="1111113" name="Group 73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1114" name="Rectangle 74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115" name="Line 75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16" name="Line 76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17" name="Line 77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18" name="Line 78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119" name="Group 79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1120" name="Group 80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1121" name="Rectangle 81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1122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23" name="Line 83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24" name="Line 84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25" name="Line 85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1126" name="Line 86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27" name="Line 87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1128" name="Group 88"/>
          <p:cNvGrpSpPr>
            <a:grpSpLocks/>
          </p:cNvGrpSpPr>
          <p:nvPr/>
        </p:nvGrpSpPr>
        <p:grpSpPr bwMode="auto">
          <a:xfrm>
            <a:off x="8884221" y="5720928"/>
            <a:ext cx="2130425" cy="660400"/>
            <a:chOff x="4174" y="622"/>
            <a:chExt cx="1342" cy="416"/>
          </a:xfrm>
        </p:grpSpPr>
        <p:grpSp>
          <p:nvGrpSpPr>
            <p:cNvPr id="1111129" name="Group 89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1130" name="Rectangle 90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131" name="Line 91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32" name="Line 92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33" name="Line 93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34" name="Line 94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1135" name="Line 95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1136" name="Line 96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1139" name="Group 99"/>
          <p:cNvGrpSpPr>
            <a:grpSpLocks/>
          </p:cNvGrpSpPr>
          <p:nvPr/>
        </p:nvGrpSpPr>
        <p:grpSpPr bwMode="auto">
          <a:xfrm>
            <a:off x="6168008" y="128165"/>
            <a:ext cx="2132012" cy="1066800"/>
            <a:chOff x="4236" y="608"/>
            <a:chExt cx="1343" cy="672"/>
          </a:xfrm>
        </p:grpSpPr>
        <p:grpSp>
          <p:nvGrpSpPr>
            <p:cNvPr id="1111140" name="Group 100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1141" name="Rectangle 101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142" name="Line 102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43" name="Line 103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44" name="Line 104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45" name="Line 105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146" name="Group 106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1147" name="Group 107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1148" name="Rectangle 108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1149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50" name="Line 110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51" name="Line 111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52" name="Line 112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1153" name="Line 113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54" name="Line 114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1158" name="Group 118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1159" name="Text Box 11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1160" name="Text Box 12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111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111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111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111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111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1042" grpId="0" animBg="1"/>
      <p:bldP spid="1111043" grpId="0" animBg="1"/>
      <p:bldP spid="1111044" grpId="0" animBg="1"/>
      <p:bldP spid="1111045" grpId="0" animBg="1"/>
      <p:bldP spid="1111046" grpId="0" animBg="1"/>
      <p:bldP spid="1111047" grpId="0" animBg="1"/>
      <p:bldP spid="1111048" grpId="0" animBg="1"/>
      <p:bldP spid="1111049" grpId="0" animBg="1"/>
      <p:bldP spid="111105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066" name="Rectangle 2"/>
          <p:cNvSpPr>
            <a:spLocks noChangeArrowheads="1"/>
          </p:cNvSpPr>
          <p:nvPr/>
        </p:nvSpPr>
        <p:spPr bwMode="auto">
          <a:xfrm>
            <a:off x="773009" y="5024438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67" name="Rectangle 3"/>
          <p:cNvSpPr>
            <a:spLocks noChangeArrowheads="1"/>
          </p:cNvSpPr>
          <p:nvPr/>
        </p:nvSpPr>
        <p:spPr bwMode="auto">
          <a:xfrm>
            <a:off x="773009" y="2851151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68" name="Rectangle 4"/>
          <p:cNvSpPr>
            <a:spLocks noChangeArrowheads="1"/>
          </p:cNvSpPr>
          <p:nvPr/>
        </p:nvSpPr>
        <p:spPr bwMode="auto">
          <a:xfrm>
            <a:off x="773009" y="3214688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69" name="Rectangle 5"/>
          <p:cNvSpPr>
            <a:spLocks noChangeArrowheads="1"/>
          </p:cNvSpPr>
          <p:nvPr/>
        </p:nvSpPr>
        <p:spPr bwMode="auto">
          <a:xfrm>
            <a:off x="773009" y="358457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0" name="Rectangle 6"/>
          <p:cNvSpPr>
            <a:spLocks noChangeArrowheads="1"/>
          </p:cNvSpPr>
          <p:nvPr/>
        </p:nvSpPr>
        <p:spPr bwMode="auto">
          <a:xfrm>
            <a:off x="773009" y="3937001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1" name="Rectangle 7"/>
          <p:cNvSpPr>
            <a:spLocks noChangeArrowheads="1"/>
          </p:cNvSpPr>
          <p:nvPr/>
        </p:nvSpPr>
        <p:spPr bwMode="auto">
          <a:xfrm>
            <a:off x="773009" y="2840038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2" name="Rectangle 8"/>
          <p:cNvSpPr>
            <a:spLocks noChangeArrowheads="1"/>
          </p:cNvSpPr>
          <p:nvPr/>
        </p:nvSpPr>
        <p:spPr bwMode="auto">
          <a:xfrm>
            <a:off x="773009" y="3186113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3" name="Rectangle 9"/>
          <p:cNvSpPr>
            <a:spLocks noChangeArrowheads="1"/>
          </p:cNvSpPr>
          <p:nvPr/>
        </p:nvSpPr>
        <p:spPr bwMode="auto">
          <a:xfrm>
            <a:off x="773009" y="3573463"/>
            <a:ext cx="4725987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4" name="Rectangle 10"/>
          <p:cNvSpPr>
            <a:spLocks noChangeArrowheads="1"/>
          </p:cNvSpPr>
          <p:nvPr/>
        </p:nvSpPr>
        <p:spPr bwMode="auto">
          <a:xfrm>
            <a:off x="773009" y="4279901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5" name="Rectangle 11"/>
          <p:cNvSpPr>
            <a:spLocks noChangeArrowheads="1"/>
          </p:cNvSpPr>
          <p:nvPr/>
        </p:nvSpPr>
        <p:spPr bwMode="auto">
          <a:xfrm>
            <a:off x="773009" y="4632326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6" name="Rectangle 12"/>
          <p:cNvSpPr>
            <a:spLocks noChangeArrowheads="1"/>
          </p:cNvSpPr>
          <p:nvPr/>
        </p:nvSpPr>
        <p:spPr bwMode="auto">
          <a:xfrm>
            <a:off x="773009" y="5365751"/>
            <a:ext cx="4725987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7" name="Text Box 13"/>
          <p:cNvSpPr txBox="1">
            <a:spLocks noChangeArrowheads="1"/>
          </p:cNvSpPr>
          <p:nvPr/>
        </p:nvSpPr>
        <p:spPr bwMode="auto">
          <a:xfrm>
            <a:off x="803170" y="193676"/>
            <a:ext cx="4794902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00FF"/>
                </a:solidFill>
              </a:rPr>
              <a:t> void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main( )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{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("Input the number of disks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d",&amp;m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("The steps to moving %3d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m,'A','B','C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(0)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}</a:t>
            </a:r>
          </a:p>
          <a:p>
            <a:pPr eaLnBrk="0" hangingPunct="0"/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y,char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(3)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(4)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(5)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(6)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move(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n,x,z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(7)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(8)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(9)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</p:txBody>
      </p:sp>
      <p:grpSp>
        <p:nvGrpSpPr>
          <p:cNvPr id="1112078" name="Group 14"/>
          <p:cNvGrpSpPr>
            <a:grpSpLocks/>
          </p:cNvGrpSpPr>
          <p:nvPr/>
        </p:nvGrpSpPr>
        <p:grpSpPr bwMode="auto">
          <a:xfrm>
            <a:off x="7979841" y="328614"/>
            <a:ext cx="3660775" cy="1374775"/>
            <a:chOff x="694" y="1385"/>
            <a:chExt cx="3984" cy="1493"/>
          </a:xfrm>
        </p:grpSpPr>
        <p:grpSp>
          <p:nvGrpSpPr>
            <p:cNvPr id="1112079" name="Group 15"/>
            <p:cNvGrpSpPr>
              <a:grpSpLocks/>
            </p:cNvGrpSpPr>
            <p:nvPr/>
          </p:nvGrpSpPr>
          <p:grpSpPr bwMode="auto">
            <a:xfrm>
              <a:off x="694" y="1385"/>
              <a:ext cx="1248" cy="1493"/>
              <a:chOff x="720" y="0"/>
              <a:chExt cx="1248" cy="1493"/>
            </a:xfrm>
          </p:grpSpPr>
          <p:grpSp>
            <p:nvGrpSpPr>
              <p:cNvPr id="1112080" name="Group 16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2081" name="Line 1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082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083" name="Text Box 19"/>
              <p:cNvSpPr txBox="1">
                <a:spLocks noChangeArrowheads="1"/>
              </p:cNvSpPr>
              <p:nvPr/>
            </p:nvSpPr>
            <p:spPr bwMode="auto">
              <a:xfrm>
                <a:off x="1116" y="1062"/>
                <a:ext cx="400" cy="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112084" name="Group 20"/>
            <p:cNvGrpSpPr>
              <a:grpSpLocks/>
            </p:cNvGrpSpPr>
            <p:nvPr/>
          </p:nvGrpSpPr>
          <p:grpSpPr bwMode="auto">
            <a:xfrm>
              <a:off x="2086" y="1385"/>
              <a:ext cx="1248" cy="1493"/>
              <a:chOff x="2112" y="0"/>
              <a:chExt cx="1248" cy="1493"/>
            </a:xfrm>
          </p:grpSpPr>
          <p:grpSp>
            <p:nvGrpSpPr>
              <p:cNvPr id="1112085" name="Group 2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2086" name="Line 2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087" name="Line 2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088" name="Text Box 24"/>
              <p:cNvSpPr txBox="1">
                <a:spLocks noChangeArrowheads="1"/>
              </p:cNvSpPr>
              <p:nvPr/>
            </p:nvSpPr>
            <p:spPr bwMode="auto">
              <a:xfrm>
                <a:off x="2515" y="1062"/>
                <a:ext cx="385" cy="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12089" name="Group 25"/>
            <p:cNvGrpSpPr>
              <a:grpSpLocks/>
            </p:cNvGrpSpPr>
            <p:nvPr/>
          </p:nvGrpSpPr>
          <p:grpSpPr bwMode="auto">
            <a:xfrm>
              <a:off x="3430" y="1385"/>
              <a:ext cx="1248" cy="1493"/>
              <a:chOff x="3456" y="0"/>
              <a:chExt cx="1248" cy="1493"/>
            </a:xfrm>
          </p:grpSpPr>
          <p:grpSp>
            <p:nvGrpSpPr>
              <p:cNvPr id="1112090" name="Group 2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2091" name="Line 2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092" name="Line 2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093" name="Text Box 29"/>
              <p:cNvSpPr txBox="1">
                <a:spLocks noChangeArrowheads="1"/>
              </p:cNvSpPr>
              <p:nvPr/>
            </p:nvSpPr>
            <p:spPr bwMode="auto">
              <a:xfrm>
                <a:off x="3848" y="1062"/>
                <a:ext cx="401" cy="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sp>
          <p:nvSpPr>
            <p:cNvPr id="1112094" name="Rectangle 30"/>
            <p:cNvSpPr>
              <a:spLocks noChangeArrowheads="1"/>
            </p:cNvSpPr>
            <p:nvPr/>
          </p:nvSpPr>
          <p:spPr bwMode="auto">
            <a:xfrm>
              <a:off x="2433" y="2343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095" name="Rectangle 31"/>
            <p:cNvSpPr>
              <a:spLocks noChangeArrowheads="1"/>
            </p:cNvSpPr>
            <p:nvPr/>
          </p:nvSpPr>
          <p:spPr bwMode="auto">
            <a:xfrm>
              <a:off x="2520" y="2199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096" name="Rectangle 32"/>
            <p:cNvSpPr>
              <a:spLocks noChangeArrowheads="1"/>
            </p:cNvSpPr>
            <p:nvPr/>
          </p:nvSpPr>
          <p:spPr bwMode="auto">
            <a:xfrm>
              <a:off x="3623" y="2349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2097" name="Group 33"/>
          <p:cNvGrpSpPr>
            <a:grpSpLocks/>
          </p:cNvGrpSpPr>
          <p:nvPr/>
        </p:nvGrpSpPr>
        <p:grpSpPr bwMode="auto">
          <a:xfrm>
            <a:off x="8430691" y="1622425"/>
            <a:ext cx="2132013" cy="1066800"/>
            <a:chOff x="4236" y="608"/>
            <a:chExt cx="1343" cy="672"/>
          </a:xfrm>
        </p:grpSpPr>
        <p:grpSp>
          <p:nvGrpSpPr>
            <p:cNvPr id="1112098" name="Group 34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2099" name="Rectangle 35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00" name="Line 36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01" name="Line 37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02" name="Line 38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03" name="Line 39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04" name="Group 40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2105" name="Group 41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2106" name="Rectangle 42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2107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08" name="Line 44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09" name="Line 45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10" name="Line 46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2111" name="Line 47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2" name="Line 48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2113" name="Group 49"/>
          <p:cNvGrpSpPr>
            <a:grpSpLocks/>
          </p:cNvGrpSpPr>
          <p:nvPr/>
        </p:nvGrpSpPr>
        <p:grpSpPr bwMode="auto">
          <a:xfrm>
            <a:off x="8421165" y="2708275"/>
            <a:ext cx="2141538" cy="1466850"/>
            <a:chOff x="4259" y="1385"/>
            <a:chExt cx="1349" cy="924"/>
          </a:xfrm>
        </p:grpSpPr>
        <p:grpSp>
          <p:nvGrpSpPr>
            <p:cNvPr id="1112114" name="Group 50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2115" name="Rectangle 51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16" name="Line 52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7" name="Line 53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8" name="Line 54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9" name="Line 55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20" name="Group 56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2121" name="Rectangle 57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B    A    C     8</a:t>
                </a:r>
              </a:p>
            </p:txBody>
          </p:sp>
          <p:sp>
            <p:nvSpPr>
              <p:cNvPr id="1112122" name="Line 58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23" name="Line 59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24" name="Line 60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25" name="Line 61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26" name="Group 62"/>
            <p:cNvGrpSpPr>
              <a:grpSpLocks/>
            </p:cNvGrpSpPr>
            <p:nvPr/>
          </p:nvGrpSpPr>
          <p:grpSpPr bwMode="auto">
            <a:xfrm>
              <a:off x="4259" y="1385"/>
              <a:ext cx="1342" cy="416"/>
              <a:chOff x="4174" y="622"/>
              <a:chExt cx="1342" cy="416"/>
            </a:xfrm>
          </p:grpSpPr>
          <p:grpSp>
            <p:nvGrpSpPr>
              <p:cNvPr id="1112127" name="Group 63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2128" name="Rectangle 64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C    A    6</a:t>
                  </a:r>
                </a:p>
              </p:txBody>
            </p:sp>
            <p:sp>
              <p:nvSpPr>
                <p:cNvPr id="1112129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30" name="Line 66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31" name="Line 67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32" name="Line 68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2133" name="Line 69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34" name="Line 70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2135" name="Group 71"/>
          <p:cNvGrpSpPr>
            <a:grpSpLocks/>
          </p:cNvGrpSpPr>
          <p:nvPr/>
        </p:nvGrpSpPr>
        <p:grpSpPr bwMode="auto">
          <a:xfrm>
            <a:off x="7967141" y="4314826"/>
            <a:ext cx="3395663" cy="1228725"/>
            <a:chOff x="690" y="2918"/>
            <a:chExt cx="3984" cy="1525"/>
          </a:xfrm>
        </p:grpSpPr>
        <p:grpSp>
          <p:nvGrpSpPr>
            <p:cNvPr id="1112136" name="Group 72"/>
            <p:cNvGrpSpPr>
              <a:grpSpLocks/>
            </p:cNvGrpSpPr>
            <p:nvPr/>
          </p:nvGrpSpPr>
          <p:grpSpPr bwMode="auto">
            <a:xfrm>
              <a:off x="690" y="2918"/>
              <a:ext cx="1248" cy="1525"/>
              <a:chOff x="720" y="0"/>
              <a:chExt cx="1248" cy="1525"/>
            </a:xfrm>
          </p:grpSpPr>
          <p:grpSp>
            <p:nvGrpSpPr>
              <p:cNvPr id="1112137" name="Group 73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2138" name="Line 74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139" name="Line 75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140" name="Text Box 76"/>
              <p:cNvSpPr txBox="1">
                <a:spLocks noChangeArrowheads="1"/>
              </p:cNvSpPr>
              <p:nvPr/>
            </p:nvSpPr>
            <p:spPr bwMode="auto">
              <a:xfrm>
                <a:off x="1100" y="1032"/>
                <a:ext cx="432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112141" name="Group 77"/>
            <p:cNvGrpSpPr>
              <a:grpSpLocks/>
            </p:cNvGrpSpPr>
            <p:nvPr/>
          </p:nvGrpSpPr>
          <p:grpSpPr bwMode="auto">
            <a:xfrm>
              <a:off x="2082" y="2918"/>
              <a:ext cx="1248" cy="1525"/>
              <a:chOff x="2112" y="0"/>
              <a:chExt cx="1248" cy="1525"/>
            </a:xfrm>
          </p:grpSpPr>
          <p:grpSp>
            <p:nvGrpSpPr>
              <p:cNvPr id="1112142" name="Group 78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2143" name="Line 79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144" name="Line 80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145" name="Text Box 81"/>
              <p:cNvSpPr txBox="1">
                <a:spLocks noChangeArrowheads="1"/>
              </p:cNvSpPr>
              <p:nvPr/>
            </p:nvSpPr>
            <p:spPr bwMode="auto">
              <a:xfrm>
                <a:off x="2501" y="1032"/>
                <a:ext cx="415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12146" name="Group 82"/>
            <p:cNvGrpSpPr>
              <a:grpSpLocks/>
            </p:cNvGrpSpPr>
            <p:nvPr/>
          </p:nvGrpSpPr>
          <p:grpSpPr bwMode="auto">
            <a:xfrm>
              <a:off x="3426" y="2918"/>
              <a:ext cx="1248" cy="1525"/>
              <a:chOff x="3456" y="0"/>
              <a:chExt cx="1248" cy="1525"/>
            </a:xfrm>
          </p:grpSpPr>
          <p:grpSp>
            <p:nvGrpSpPr>
              <p:cNvPr id="1112147" name="Group 83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2148" name="Line 84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149" name="Line 85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150" name="Text Box 86"/>
              <p:cNvSpPr txBox="1">
                <a:spLocks noChangeArrowheads="1"/>
              </p:cNvSpPr>
              <p:nvPr/>
            </p:nvSpPr>
            <p:spPr bwMode="auto">
              <a:xfrm>
                <a:off x="3832" y="1032"/>
                <a:ext cx="432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sp>
          <p:nvSpPr>
            <p:cNvPr id="1112151" name="Rectangle 87"/>
            <p:cNvSpPr>
              <a:spLocks noChangeArrowheads="1"/>
            </p:cNvSpPr>
            <p:nvPr/>
          </p:nvSpPr>
          <p:spPr bwMode="auto">
            <a:xfrm>
              <a:off x="2429" y="3876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152" name="Rectangle 88"/>
            <p:cNvSpPr>
              <a:spLocks noChangeArrowheads="1"/>
            </p:cNvSpPr>
            <p:nvPr/>
          </p:nvSpPr>
          <p:spPr bwMode="auto">
            <a:xfrm>
              <a:off x="3619" y="3882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153" name="Rectangle 89"/>
            <p:cNvSpPr>
              <a:spLocks noChangeArrowheads="1"/>
            </p:cNvSpPr>
            <p:nvPr/>
          </p:nvSpPr>
          <p:spPr bwMode="auto">
            <a:xfrm>
              <a:off x="1135" y="3882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2154" name="Group 90"/>
          <p:cNvGrpSpPr>
            <a:grpSpLocks/>
          </p:cNvGrpSpPr>
          <p:nvPr/>
        </p:nvGrpSpPr>
        <p:grpSpPr bwMode="auto">
          <a:xfrm>
            <a:off x="8413228" y="5451475"/>
            <a:ext cx="2132012" cy="1066800"/>
            <a:chOff x="4236" y="608"/>
            <a:chExt cx="1343" cy="672"/>
          </a:xfrm>
        </p:grpSpPr>
        <p:grpSp>
          <p:nvGrpSpPr>
            <p:cNvPr id="1112155" name="Group 91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2156" name="Rectangle 92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57" name="Line 93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58" name="Line 94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59" name="Line 95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60" name="Line 96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61" name="Group 97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2162" name="Group 98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2163" name="Rectangle 99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2164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65" name="Line 101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66" name="Line 102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67" name="Line 103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2168" name="Line 104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69" name="Line 105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2172" name="Group 108"/>
          <p:cNvGrpSpPr>
            <a:grpSpLocks/>
          </p:cNvGrpSpPr>
          <p:nvPr/>
        </p:nvGrpSpPr>
        <p:grpSpPr bwMode="auto">
          <a:xfrm>
            <a:off x="5984354" y="249238"/>
            <a:ext cx="2130425" cy="660400"/>
            <a:chOff x="4174" y="622"/>
            <a:chExt cx="1342" cy="416"/>
          </a:xfrm>
        </p:grpSpPr>
        <p:grpSp>
          <p:nvGrpSpPr>
            <p:cNvPr id="1112173" name="Group 109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2174" name="Rectangle 110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75" name="Line 111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76" name="Line 112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77" name="Line 113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78" name="Line 114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2179" name="Line 115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2180" name="Line 116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2184" name="Group 12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2185" name="Text Box 1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2186" name="Text Box 1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2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112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112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112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112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2066" grpId="0" animBg="1"/>
      <p:bldP spid="1112067" grpId="0" animBg="1"/>
      <p:bldP spid="1112068" grpId="0" animBg="1"/>
      <p:bldP spid="1112069" grpId="0" animBg="1"/>
      <p:bldP spid="1112070" grpId="0" animBg="1"/>
      <p:bldP spid="1112071" grpId="0" animBg="1"/>
      <p:bldP spid="1112072" grpId="0" animBg="1"/>
      <p:bldP spid="1112073" grpId="0" animBg="1"/>
      <p:bldP spid="1112074" grpId="0" animBg="1"/>
      <p:bldP spid="1112075" grpId="0" animBg="1"/>
      <p:bldP spid="111207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90" name="Rectangle 2"/>
          <p:cNvSpPr>
            <a:spLocks noChangeArrowheads="1"/>
          </p:cNvSpPr>
          <p:nvPr/>
        </p:nvSpPr>
        <p:spPr bwMode="auto">
          <a:xfrm>
            <a:off x="897333" y="5732464"/>
            <a:ext cx="4743450" cy="369887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1" name="Rectangle 3"/>
          <p:cNvSpPr>
            <a:spLocks noChangeArrowheads="1"/>
          </p:cNvSpPr>
          <p:nvPr/>
        </p:nvSpPr>
        <p:spPr bwMode="auto">
          <a:xfrm>
            <a:off x="897333" y="6078538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2" name="Rectangle 4"/>
          <p:cNvSpPr>
            <a:spLocks noChangeArrowheads="1"/>
          </p:cNvSpPr>
          <p:nvPr/>
        </p:nvSpPr>
        <p:spPr bwMode="auto">
          <a:xfrm>
            <a:off x="897333" y="5738814"/>
            <a:ext cx="4743450" cy="369887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3" name="Rectangle 5"/>
          <p:cNvSpPr>
            <a:spLocks noChangeArrowheads="1"/>
          </p:cNvSpPr>
          <p:nvPr/>
        </p:nvSpPr>
        <p:spPr bwMode="auto">
          <a:xfrm>
            <a:off x="897333" y="6100763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4" name="Rectangle 6"/>
          <p:cNvSpPr>
            <a:spLocks noChangeArrowheads="1"/>
          </p:cNvSpPr>
          <p:nvPr/>
        </p:nvSpPr>
        <p:spPr bwMode="auto">
          <a:xfrm>
            <a:off x="897334" y="2414588"/>
            <a:ext cx="4689475" cy="387350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5" name="Rectangle 7"/>
          <p:cNvSpPr>
            <a:spLocks noChangeArrowheads="1"/>
          </p:cNvSpPr>
          <p:nvPr/>
        </p:nvSpPr>
        <p:spPr bwMode="auto">
          <a:xfrm>
            <a:off x="897333" y="2803526"/>
            <a:ext cx="4725988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6" name="Rectangle 8"/>
          <p:cNvSpPr>
            <a:spLocks noChangeArrowheads="1"/>
          </p:cNvSpPr>
          <p:nvPr/>
        </p:nvSpPr>
        <p:spPr bwMode="auto">
          <a:xfrm>
            <a:off x="897333" y="3167063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7" name="Rectangle 9"/>
          <p:cNvSpPr>
            <a:spLocks noChangeArrowheads="1"/>
          </p:cNvSpPr>
          <p:nvPr/>
        </p:nvSpPr>
        <p:spPr bwMode="auto">
          <a:xfrm>
            <a:off x="897333" y="3513138"/>
            <a:ext cx="4725988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8" name="Rectangle 10"/>
          <p:cNvSpPr>
            <a:spLocks noChangeArrowheads="1"/>
          </p:cNvSpPr>
          <p:nvPr/>
        </p:nvSpPr>
        <p:spPr bwMode="auto">
          <a:xfrm>
            <a:off x="897333" y="3883026"/>
            <a:ext cx="4725988" cy="334963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9" name="Rectangle 11"/>
          <p:cNvSpPr>
            <a:spLocks noChangeArrowheads="1"/>
          </p:cNvSpPr>
          <p:nvPr/>
        </p:nvSpPr>
        <p:spPr bwMode="auto">
          <a:xfrm>
            <a:off x="897334" y="5383213"/>
            <a:ext cx="4741863" cy="334962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100" name="Text Box 12"/>
          <p:cNvSpPr txBox="1">
            <a:spLocks noChangeArrowheads="1"/>
          </p:cNvSpPr>
          <p:nvPr/>
        </p:nvSpPr>
        <p:spPr bwMode="auto">
          <a:xfrm>
            <a:off x="935433" y="193676"/>
            <a:ext cx="4794902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00FF"/>
                </a:solidFill>
              </a:rPr>
              <a:t> void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main ( )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{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m;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("Input the number of disks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d",&amp;m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("The steps to moving %3d</a:t>
            </a:r>
          </a:p>
          <a:p>
            <a:pPr eaLnBrk="0" hangingPunct="0"/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m,'A','B','C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(0)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}</a:t>
            </a:r>
          </a:p>
          <a:p>
            <a:pPr eaLnBrk="0" hangingPunct="0"/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y,char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(3)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(4)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(5)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(6)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move(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n,x,z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(7)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</a:t>
            </a:r>
            <a:r>
              <a:rPr lang="en-US" altLang="zh-CN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hanoi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(8)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(9)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</p:txBody>
      </p:sp>
      <p:grpSp>
        <p:nvGrpSpPr>
          <p:cNvPr id="1113101" name="Group 13"/>
          <p:cNvGrpSpPr>
            <a:grpSpLocks/>
          </p:cNvGrpSpPr>
          <p:nvPr/>
        </p:nvGrpSpPr>
        <p:grpSpPr bwMode="auto">
          <a:xfrm>
            <a:off x="8054281" y="1"/>
            <a:ext cx="3697287" cy="1274763"/>
            <a:chOff x="790" y="0"/>
            <a:chExt cx="3984" cy="1514"/>
          </a:xfrm>
        </p:grpSpPr>
        <p:grpSp>
          <p:nvGrpSpPr>
            <p:cNvPr id="1113102" name="Group 14"/>
            <p:cNvGrpSpPr>
              <a:grpSpLocks/>
            </p:cNvGrpSpPr>
            <p:nvPr/>
          </p:nvGrpSpPr>
          <p:grpSpPr bwMode="auto">
            <a:xfrm>
              <a:off x="790" y="0"/>
              <a:ext cx="1248" cy="1514"/>
              <a:chOff x="720" y="0"/>
              <a:chExt cx="1248" cy="1514"/>
            </a:xfrm>
          </p:grpSpPr>
          <p:grpSp>
            <p:nvGrpSpPr>
              <p:cNvPr id="1113103" name="Group 1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3104" name="Line 1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05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06" name="Text Box 18"/>
              <p:cNvSpPr txBox="1">
                <a:spLocks noChangeArrowheads="1"/>
              </p:cNvSpPr>
              <p:nvPr/>
            </p:nvSpPr>
            <p:spPr bwMode="auto">
              <a:xfrm>
                <a:off x="1119" y="1043"/>
                <a:ext cx="396" cy="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113107" name="Group 19"/>
            <p:cNvGrpSpPr>
              <a:grpSpLocks/>
            </p:cNvGrpSpPr>
            <p:nvPr/>
          </p:nvGrpSpPr>
          <p:grpSpPr bwMode="auto">
            <a:xfrm>
              <a:off x="2182" y="0"/>
              <a:ext cx="1248" cy="1514"/>
              <a:chOff x="2112" y="0"/>
              <a:chExt cx="1248" cy="1514"/>
            </a:xfrm>
          </p:grpSpPr>
          <p:grpSp>
            <p:nvGrpSpPr>
              <p:cNvPr id="1113108" name="Group 2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3109" name="Line 21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10" name="Line 22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11" name="Text Box 23"/>
              <p:cNvSpPr txBox="1">
                <a:spLocks noChangeArrowheads="1"/>
              </p:cNvSpPr>
              <p:nvPr/>
            </p:nvSpPr>
            <p:spPr bwMode="auto">
              <a:xfrm>
                <a:off x="2518" y="1043"/>
                <a:ext cx="381" cy="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13112" name="Group 24"/>
            <p:cNvGrpSpPr>
              <a:grpSpLocks/>
            </p:cNvGrpSpPr>
            <p:nvPr/>
          </p:nvGrpSpPr>
          <p:grpSpPr bwMode="auto">
            <a:xfrm>
              <a:off x="3526" y="0"/>
              <a:ext cx="1248" cy="1514"/>
              <a:chOff x="3456" y="0"/>
              <a:chExt cx="1248" cy="1514"/>
            </a:xfrm>
          </p:grpSpPr>
          <p:grpSp>
            <p:nvGrpSpPr>
              <p:cNvPr id="1113113" name="Group 2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3114" name="Line 2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15" name="Line 2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16" name="Text Box 28"/>
              <p:cNvSpPr txBox="1">
                <a:spLocks noChangeArrowheads="1"/>
              </p:cNvSpPr>
              <p:nvPr/>
            </p:nvSpPr>
            <p:spPr bwMode="auto">
              <a:xfrm>
                <a:off x="3849" y="1043"/>
                <a:ext cx="397" cy="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sp>
          <p:nvSpPr>
            <p:cNvPr id="1113117" name="Rectangle 29"/>
            <p:cNvSpPr>
              <a:spLocks noChangeArrowheads="1"/>
            </p:cNvSpPr>
            <p:nvPr/>
          </p:nvSpPr>
          <p:spPr bwMode="auto">
            <a:xfrm>
              <a:off x="3730" y="953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18" name="Rectangle 30"/>
            <p:cNvSpPr>
              <a:spLocks noChangeArrowheads="1"/>
            </p:cNvSpPr>
            <p:nvPr/>
          </p:nvSpPr>
          <p:spPr bwMode="auto">
            <a:xfrm>
              <a:off x="1234" y="953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19" name="Rectangle 31"/>
            <p:cNvSpPr>
              <a:spLocks noChangeArrowheads="1"/>
            </p:cNvSpPr>
            <p:nvPr/>
          </p:nvSpPr>
          <p:spPr bwMode="auto">
            <a:xfrm>
              <a:off x="3870" y="808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3120" name="Group 32"/>
          <p:cNvGrpSpPr>
            <a:grpSpLocks/>
          </p:cNvGrpSpPr>
          <p:nvPr/>
        </p:nvGrpSpPr>
        <p:grpSpPr bwMode="auto">
          <a:xfrm>
            <a:off x="8497192" y="1173163"/>
            <a:ext cx="2141538" cy="1466850"/>
            <a:chOff x="4259" y="1385"/>
            <a:chExt cx="1349" cy="924"/>
          </a:xfrm>
        </p:grpSpPr>
        <p:grpSp>
          <p:nvGrpSpPr>
            <p:cNvPr id="1113121" name="Group 33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3122" name="Rectangle 34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23" name="Line 35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24" name="Line 36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25" name="Line 37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26" name="Line 38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127" name="Group 39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3128" name="Rectangle 40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B    A    C     8</a:t>
                </a:r>
              </a:p>
            </p:txBody>
          </p:sp>
          <p:sp>
            <p:nvSpPr>
              <p:cNvPr id="1113129" name="Line 41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30" name="Line 42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31" name="Line 43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32" name="Line 44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133" name="Group 45"/>
            <p:cNvGrpSpPr>
              <a:grpSpLocks/>
            </p:cNvGrpSpPr>
            <p:nvPr/>
          </p:nvGrpSpPr>
          <p:grpSpPr bwMode="auto">
            <a:xfrm>
              <a:off x="4259" y="1385"/>
              <a:ext cx="1342" cy="416"/>
              <a:chOff x="4174" y="622"/>
              <a:chExt cx="1342" cy="416"/>
            </a:xfrm>
          </p:grpSpPr>
          <p:grpSp>
            <p:nvGrpSpPr>
              <p:cNvPr id="1113134" name="Group 46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3135" name="Rectangle 47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B    C    8</a:t>
                  </a:r>
                </a:p>
              </p:txBody>
            </p:sp>
            <p:sp>
              <p:nvSpPr>
                <p:cNvPr id="1113136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37" name="Line 49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38" name="Line 50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39" name="Line 51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3140" name="Line 52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41" name="Line 53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3142" name="Group 54"/>
          <p:cNvGrpSpPr>
            <a:grpSpLocks/>
          </p:cNvGrpSpPr>
          <p:nvPr/>
        </p:nvGrpSpPr>
        <p:grpSpPr bwMode="auto">
          <a:xfrm>
            <a:off x="8144767" y="2746376"/>
            <a:ext cx="3606800" cy="1135063"/>
            <a:chOff x="786" y="1474"/>
            <a:chExt cx="3984" cy="1549"/>
          </a:xfrm>
        </p:grpSpPr>
        <p:grpSp>
          <p:nvGrpSpPr>
            <p:cNvPr id="1113143" name="Group 55"/>
            <p:cNvGrpSpPr>
              <a:grpSpLocks/>
            </p:cNvGrpSpPr>
            <p:nvPr/>
          </p:nvGrpSpPr>
          <p:grpSpPr bwMode="auto">
            <a:xfrm>
              <a:off x="786" y="1474"/>
              <a:ext cx="1248" cy="1549"/>
              <a:chOff x="720" y="0"/>
              <a:chExt cx="1248" cy="1549"/>
            </a:xfrm>
          </p:grpSpPr>
          <p:grpSp>
            <p:nvGrpSpPr>
              <p:cNvPr id="1113144" name="Group 56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3145" name="Line 5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46" name="Line 5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47" name="Text Box 59"/>
              <p:cNvSpPr txBox="1">
                <a:spLocks noChangeArrowheads="1"/>
              </p:cNvSpPr>
              <p:nvPr/>
            </p:nvSpPr>
            <p:spPr bwMode="auto">
              <a:xfrm>
                <a:off x="1113" y="1007"/>
                <a:ext cx="407" cy="5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113148" name="Group 60"/>
            <p:cNvGrpSpPr>
              <a:grpSpLocks/>
            </p:cNvGrpSpPr>
            <p:nvPr/>
          </p:nvGrpSpPr>
          <p:grpSpPr bwMode="auto">
            <a:xfrm>
              <a:off x="2178" y="1474"/>
              <a:ext cx="1248" cy="1549"/>
              <a:chOff x="2112" y="0"/>
              <a:chExt cx="1248" cy="1549"/>
            </a:xfrm>
          </p:grpSpPr>
          <p:grpSp>
            <p:nvGrpSpPr>
              <p:cNvPr id="1113149" name="Group 6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3150" name="Line 6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51" name="Line 6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52" name="Text Box 64"/>
              <p:cNvSpPr txBox="1">
                <a:spLocks noChangeArrowheads="1"/>
              </p:cNvSpPr>
              <p:nvPr/>
            </p:nvSpPr>
            <p:spPr bwMode="auto">
              <a:xfrm>
                <a:off x="2514" y="1007"/>
                <a:ext cx="391" cy="5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13153" name="Group 65"/>
            <p:cNvGrpSpPr>
              <a:grpSpLocks/>
            </p:cNvGrpSpPr>
            <p:nvPr/>
          </p:nvGrpSpPr>
          <p:grpSpPr bwMode="auto">
            <a:xfrm>
              <a:off x="3522" y="1474"/>
              <a:ext cx="1248" cy="1549"/>
              <a:chOff x="3456" y="0"/>
              <a:chExt cx="1248" cy="1549"/>
            </a:xfrm>
          </p:grpSpPr>
          <p:grpSp>
            <p:nvGrpSpPr>
              <p:cNvPr id="1113154" name="Group 6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3155" name="Line 6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56" name="Line 6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57" name="Text Box 69"/>
              <p:cNvSpPr txBox="1">
                <a:spLocks noChangeArrowheads="1"/>
              </p:cNvSpPr>
              <p:nvPr/>
            </p:nvSpPr>
            <p:spPr bwMode="auto">
              <a:xfrm>
                <a:off x="3847" y="1007"/>
                <a:ext cx="407" cy="5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sp>
          <p:nvSpPr>
            <p:cNvPr id="1113158" name="Rectangle 70"/>
            <p:cNvSpPr>
              <a:spLocks noChangeArrowheads="1"/>
            </p:cNvSpPr>
            <p:nvPr/>
          </p:nvSpPr>
          <p:spPr bwMode="auto">
            <a:xfrm>
              <a:off x="3726" y="2438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59" name="Rectangle 71"/>
            <p:cNvSpPr>
              <a:spLocks noChangeArrowheads="1"/>
            </p:cNvSpPr>
            <p:nvPr/>
          </p:nvSpPr>
          <p:spPr bwMode="auto">
            <a:xfrm>
              <a:off x="3866" y="2293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60" name="Rectangle 72"/>
            <p:cNvSpPr>
              <a:spLocks noChangeArrowheads="1"/>
            </p:cNvSpPr>
            <p:nvPr/>
          </p:nvSpPr>
          <p:spPr bwMode="auto">
            <a:xfrm>
              <a:off x="3969" y="2148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3161" name="Group 73"/>
          <p:cNvGrpSpPr>
            <a:grpSpLocks/>
          </p:cNvGrpSpPr>
          <p:nvPr/>
        </p:nvGrpSpPr>
        <p:grpSpPr bwMode="auto">
          <a:xfrm>
            <a:off x="8571805" y="3752850"/>
            <a:ext cx="2132012" cy="1066800"/>
            <a:chOff x="4236" y="608"/>
            <a:chExt cx="1343" cy="672"/>
          </a:xfrm>
        </p:grpSpPr>
        <p:grpSp>
          <p:nvGrpSpPr>
            <p:cNvPr id="1113162" name="Group 74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3163" name="Rectangle 75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64" name="Line 76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65" name="Line 77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66" name="Line 78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67" name="Line 79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168" name="Group 80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3169" name="Group 81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3170" name="Rectangle 82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317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72" name="Line 84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73" name="Line 85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74" name="Line 86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3175" name="Line 87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76" name="Line 88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3177" name="Group 89"/>
          <p:cNvGrpSpPr>
            <a:grpSpLocks/>
          </p:cNvGrpSpPr>
          <p:nvPr/>
        </p:nvGrpSpPr>
        <p:grpSpPr bwMode="auto">
          <a:xfrm>
            <a:off x="8582918" y="4922838"/>
            <a:ext cx="2130425" cy="660400"/>
            <a:chOff x="4174" y="622"/>
            <a:chExt cx="1342" cy="416"/>
          </a:xfrm>
        </p:grpSpPr>
        <p:grpSp>
          <p:nvGrpSpPr>
            <p:cNvPr id="1113178" name="Group 90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3179" name="Rectangle 91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80" name="Line 92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1" name="Line 93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2" name="Line 94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3" name="Line 95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3184" name="Line 96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3185" name="Line 97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3186" name="Group 98"/>
          <p:cNvGrpSpPr>
            <a:grpSpLocks/>
          </p:cNvGrpSpPr>
          <p:nvPr/>
        </p:nvGrpSpPr>
        <p:grpSpPr bwMode="auto">
          <a:xfrm>
            <a:off x="8570217" y="5643564"/>
            <a:ext cx="2063750" cy="966787"/>
            <a:chOff x="4245" y="3711"/>
            <a:chExt cx="1300" cy="609"/>
          </a:xfrm>
        </p:grpSpPr>
        <p:grpSp>
          <p:nvGrpSpPr>
            <p:cNvPr id="1113187" name="Group 99"/>
            <p:cNvGrpSpPr>
              <a:grpSpLocks/>
            </p:cNvGrpSpPr>
            <p:nvPr/>
          </p:nvGrpSpPr>
          <p:grpSpPr bwMode="auto">
            <a:xfrm>
              <a:off x="4245" y="3711"/>
              <a:ext cx="1300" cy="311"/>
              <a:chOff x="4223" y="3744"/>
              <a:chExt cx="1300" cy="311"/>
            </a:xfrm>
          </p:grpSpPr>
          <p:sp>
            <p:nvSpPr>
              <p:cNvPr id="1113188" name="Line 100"/>
              <p:cNvSpPr>
                <a:spLocks noChangeShapeType="1"/>
              </p:cNvSpPr>
              <p:nvPr/>
            </p:nvSpPr>
            <p:spPr bwMode="auto">
              <a:xfrm>
                <a:off x="4223" y="3744"/>
                <a:ext cx="0" cy="3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9" name="Line 101"/>
              <p:cNvSpPr>
                <a:spLocks noChangeShapeType="1"/>
              </p:cNvSpPr>
              <p:nvPr/>
            </p:nvSpPr>
            <p:spPr bwMode="auto">
              <a:xfrm>
                <a:off x="4223" y="4055"/>
                <a:ext cx="1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90" name="Line 102"/>
              <p:cNvSpPr>
                <a:spLocks noChangeShapeType="1"/>
              </p:cNvSpPr>
              <p:nvPr/>
            </p:nvSpPr>
            <p:spPr bwMode="auto">
              <a:xfrm flipV="1">
                <a:off x="5512" y="3766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3191" name="Text Box 103"/>
            <p:cNvSpPr txBox="1">
              <a:spLocks noChangeArrowheads="1"/>
            </p:cNvSpPr>
            <p:nvPr/>
          </p:nvSpPr>
          <p:spPr bwMode="auto">
            <a:xfrm>
              <a:off x="4615" y="4070"/>
              <a:ext cx="4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栈空</a:t>
              </a:r>
            </a:p>
          </p:txBody>
        </p:sp>
      </p:grpSp>
      <p:grpSp>
        <p:nvGrpSpPr>
          <p:cNvPr id="1113194" name="Group 106"/>
          <p:cNvGrpSpPr>
            <a:grpSpLocks/>
          </p:cNvGrpSpPr>
          <p:nvPr/>
        </p:nvGrpSpPr>
        <p:grpSpPr bwMode="auto">
          <a:xfrm>
            <a:off x="5807968" y="0"/>
            <a:ext cx="2132013" cy="1066800"/>
            <a:chOff x="4236" y="608"/>
            <a:chExt cx="1343" cy="672"/>
          </a:xfrm>
        </p:grpSpPr>
        <p:grpSp>
          <p:nvGrpSpPr>
            <p:cNvPr id="1113195" name="Group 107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3196" name="Rectangle 108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97" name="Line 109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98" name="Line 110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99" name="Line 111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200" name="Line 112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201" name="Group 113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3202" name="Group 114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3203" name="Rectangle 115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3204" name="Line 116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205" name="Line 117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206" name="Line 118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207" name="Line 119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3208" name="Line 120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209" name="Line 121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3213" name="Group 125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3214" name="Text Box 12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3215" name="Text Box 1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3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113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13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13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113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113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090" grpId="0" animBg="1"/>
      <p:bldP spid="1113091" grpId="0" animBg="1"/>
      <p:bldP spid="1113092" grpId="0" animBg="1"/>
      <p:bldP spid="1113093" grpId="0" animBg="1"/>
      <p:bldP spid="1113094" grpId="0" animBg="1"/>
      <p:bldP spid="1113095" grpId="0" animBg="1"/>
      <p:bldP spid="1113096" grpId="0" animBg="1"/>
      <p:bldP spid="1113097" grpId="0" animBg="1"/>
      <p:bldP spid="1113098" grpId="0" animBg="1"/>
      <p:bldP spid="111309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66556" y="301297"/>
            <a:ext cx="1139008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304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4】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分书问题</a:t>
            </a:r>
          </a:p>
          <a:p>
            <a:pPr indent="304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有编号分别为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0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的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本书，准备分给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个人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B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D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E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，每个人阅读兴趣用一个二维数组加以描述，公式如下：  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63552" y="1476896"/>
            <a:ext cx="4784725" cy="1016000"/>
            <a:chOff x="1045" y="1752"/>
            <a:chExt cx="3014" cy="640"/>
          </a:xfrm>
        </p:grpSpPr>
        <p:sp>
          <p:nvSpPr>
            <p:cNvPr id="3129" name="Text Box 3"/>
            <p:cNvSpPr txBox="1">
              <a:spLocks noChangeArrowheads="1"/>
            </p:cNvSpPr>
            <p:nvPr/>
          </p:nvSpPr>
          <p:spPr bwMode="auto">
            <a:xfrm>
              <a:off x="1045" y="1917"/>
              <a:ext cx="107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</a:rPr>
                <a:t>Like[</a:t>
              </a:r>
              <a:r>
                <a:rPr lang="en-US" altLang="zh-CN" b="1" dirty="0" err="1">
                  <a:solidFill>
                    <a:srgbClr val="0000FF"/>
                  </a:solidFill>
                </a:rPr>
                <a:t>i</a:t>
              </a:r>
              <a:r>
                <a:rPr lang="en-US" altLang="zh-CN" b="1" dirty="0">
                  <a:solidFill>
                    <a:srgbClr val="0000FF"/>
                  </a:solidFill>
                </a:rPr>
                <a:t>][j] =</a:t>
              </a:r>
              <a:r>
                <a:rPr lang="en-US" altLang="zh-CN" dirty="0">
                  <a:solidFill>
                    <a:srgbClr val="0000FF"/>
                  </a:solidFill>
                  <a:latin typeface="Calibri" pitchFamily="34" charset="0"/>
                </a:rPr>
                <a:t> </a:t>
              </a:r>
            </a:p>
          </p:txBody>
        </p:sp>
        <p:sp>
          <p:nvSpPr>
            <p:cNvPr id="3130" name="AutoShape 4"/>
            <p:cNvSpPr>
              <a:spLocks/>
            </p:cNvSpPr>
            <p:nvPr/>
          </p:nvSpPr>
          <p:spPr bwMode="auto">
            <a:xfrm>
              <a:off x="2109" y="1888"/>
              <a:ext cx="181" cy="363"/>
            </a:xfrm>
            <a:prstGeom prst="leftBrace">
              <a:avLst>
                <a:gd name="adj1" fmla="val 16713"/>
                <a:gd name="adj2" fmla="val 50000"/>
              </a:avLst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131" name="Text Box 5"/>
            <p:cNvSpPr txBox="1">
              <a:spLocks noChangeArrowheads="1"/>
            </p:cNvSpPr>
            <p:nvPr/>
          </p:nvSpPr>
          <p:spPr bwMode="auto">
            <a:xfrm>
              <a:off x="2381" y="1752"/>
              <a:ext cx="122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1   </a:t>
              </a:r>
              <a:r>
                <a:rPr lang="en-US" altLang="zh-CN" b="1" dirty="0" err="1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i</a:t>
              </a:r>
              <a:r>
                <a:rPr lang="zh-CN" altLang="en-US" b="1" dirty="0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喜欢</a:t>
              </a:r>
              <a:r>
                <a:rPr lang="en-US" altLang="zh-CN" b="1" dirty="0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j</a:t>
              </a:r>
              <a:r>
                <a:rPr lang="zh-CN" altLang="en-US" b="1" dirty="0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书</a:t>
              </a:r>
            </a:p>
          </p:txBody>
        </p:sp>
        <p:sp>
          <p:nvSpPr>
            <p:cNvPr id="3132" name="Text Box 6"/>
            <p:cNvSpPr txBox="1">
              <a:spLocks noChangeArrowheads="1"/>
            </p:cNvSpPr>
            <p:nvPr/>
          </p:nvSpPr>
          <p:spPr bwMode="auto">
            <a:xfrm>
              <a:off x="2373" y="2104"/>
              <a:ext cx="168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0   i</a:t>
              </a:r>
              <a:r>
                <a:rPr lang="zh-CN" altLang="en-US" b="1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不喜欢</a:t>
              </a:r>
              <a:r>
                <a:rPr lang="en-US" altLang="zh-CN" b="1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j</a:t>
              </a:r>
              <a:r>
                <a:rPr lang="zh-CN" altLang="en-US" b="1">
                  <a:solidFill>
                    <a:srgbClr val="0000FF"/>
                  </a:solidFill>
                  <a:latin typeface="+mn-lt"/>
                  <a:ea typeface="隶书" pitchFamily="49" charset="-122"/>
                </a:rPr>
                <a:t>书</a:t>
              </a:r>
            </a:p>
          </p:txBody>
        </p:sp>
      </p:grp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466928" y="2453987"/>
            <a:ext cx="1146172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    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写一个程序，输出所有分书方案，让人人皆大欢喜。假定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个人对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本书的阅读兴趣如下图所示。</a:t>
            </a:r>
          </a:p>
        </p:txBody>
      </p:sp>
      <p:graphicFrame>
        <p:nvGraphicFramePr>
          <p:cNvPr id="12357" name="Group 69"/>
          <p:cNvGraphicFramePr>
            <a:graphicFrameLocks noGrp="1"/>
          </p:cNvGraphicFramePr>
          <p:nvPr/>
        </p:nvGraphicFramePr>
        <p:xfrm>
          <a:off x="3024336" y="3766140"/>
          <a:ext cx="6096000" cy="25431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43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       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  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60000"/>
                            <a:lumOff val="4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60000"/>
                            <a:lumOff val="4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60000"/>
                            <a:lumOff val="4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60000"/>
                            <a:lumOff val="4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60000"/>
                            <a:lumOff val="4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60000"/>
                            <a:lumOff val="4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60000"/>
                            <a:lumOff val="4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60000"/>
                            <a:lumOff val="4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60000"/>
                            <a:lumOff val="4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60000"/>
                            <a:lumOff val="4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lumMod val="60000"/>
                            <a:lumOff val="4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60000"/>
                            <a:lumOff val="4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28" name="Line 68"/>
          <p:cNvSpPr>
            <a:spLocks noChangeShapeType="1"/>
          </p:cNvSpPr>
          <p:nvPr/>
        </p:nvSpPr>
        <p:spPr bwMode="auto">
          <a:xfrm>
            <a:off x="3035752" y="3764976"/>
            <a:ext cx="1000132" cy="71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25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2" name="Text Box 12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3" name="Text Box 1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25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2" name="Text Box 12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3" name="Text Box 1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682580" y="605002"/>
            <a:ext cx="1117406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解题思路：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(1)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定义一个整型的二维数组，将表中的阅读喜好用初始化方法赋给这个二维数组。可定义：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like[5][5] = { {0,0,1,1,0}, {1,1,0,0,1}, {0,1,1,0,1}, {0,0,0,1,0}, {0,1,0,0,1} };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(2)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定义一个整型一维数组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book[5]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，用来记录书是否已被选用。用下标作为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本书的编号，被选过元素值为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，未被选过元素值为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，初始化皆为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book[5] = {0,0,0,0,0};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(3) 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画出思路图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① 定义试着给第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人分书的函数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Try(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= 0,1,2,3,4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② 试着给第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个人分书，先试分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号书，再分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号书，分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号书，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……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，因此有一个与结点，让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j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表示书，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j=0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③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LP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为循环结构的循环体，如下图所示。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2657550" y="141238"/>
            <a:ext cx="2646362" cy="2279650"/>
            <a:chOff x="441" y="482"/>
            <a:chExt cx="1667" cy="1436"/>
          </a:xfrm>
        </p:grpSpPr>
        <p:sp>
          <p:nvSpPr>
            <p:cNvPr id="5157" name="Oval 3"/>
            <p:cNvSpPr>
              <a:spLocks noChangeArrowheads="1"/>
            </p:cNvSpPr>
            <p:nvPr/>
          </p:nvSpPr>
          <p:spPr bwMode="auto">
            <a:xfrm>
              <a:off x="1111" y="482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58" name="Line 4"/>
            <p:cNvSpPr>
              <a:spLocks noChangeShapeType="1"/>
            </p:cNvSpPr>
            <p:nvPr/>
          </p:nvSpPr>
          <p:spPr bwMode="auto">
            <a:xfrm>
              <a:off x="1202" y="66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Oval 5"/>
            <p:cNvSpPr>
              <a:spLocks noChangeArrowheads="1"/>
            </p:cNvSpPr>
            <p:nvPr/>
          </p:nvSpPr>
          <p:spPr bwMode="auto">
            <a:xfrm>
              <a:off x="1111" y="935"/>
              <a:ext cx="181" cy="18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rgbClr val="CC0000"/>
                </a:solidFill>
                <a:latin typeface="Calibri" pitchFamily="34" charset="0"/>
              </a:endParaRPr>
            </a:p>
          </p:txBody>
        </p:sp>
        <p:sp>
          <p:nvSpPr>
            <p:cNvPr id="5160" name="Oval 6"/>
            <p:cNvSpPr>
              <a:spLocks noChangeArrowheads="1"/>
            </p:cNvSpPr>
            <p:nvPr/>
          </p:nvSpPr>
          <p:spPr bwMode="auto">
            <a:xfrm>
              <a:off x="505" y="1509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1" name="Oval 7"/>
            <p:cNvSpPr>
              <a:spLocks noChangeArrowheads="1"/>
            </p:cNvSpPr>
            <p:nvPr/>
          </p:nvSpPr>
          <p:spPr bwMode="auto">
            <a:xfrm>
              <a:off x="817" y="1509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2" name="Oval 8"/>
            <p:cNvSpPr>
              <a:spLocks noChangeArrowheads="1"/>
            </p:cNvSpPr>
            <p:nvPr/>
          </p:nvSpPr>
          <p:spPr bwMode="auto">
            <a:xfrm>
              <a:off x="1121" y="1509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3" name="Oval 9"/>
            <p:cNvSpPr>
              <a:spLocks noChangeArrowheads="1"/>
            </p:cNvSpPr>
            <p:nvPr/>
          </p:nvSpPr>
          <p:spPr bwMode="auto">
            <a:xfrm>
              <a:off x="1449" y="1501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4" name="Oval 10"/>
            <p:cNvSpPr>
              <a:spLocks noChangeArrowheads="1"/>
            </p:cNvSpPr>
            <p:nvPr/>
          </p:nvSpPr>
          <p:spPr bwMode="auto">
            <a:xfrm>
              <a:off x="1776" y="1509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5" name="Line 11"/>
            <p:cNvSpPr>
              <a:spLocks noChangeShapeType="1"/>
            </p:cNvSpPr>
            <p:nvPr/>
          </p:nvSpPr>
          <p:spPr bwMode="auto">
            <a:xfrm flipH="1">
              <a:off x="612" y="1117"/>
              <a:ext cx="544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6" name="Line 12"/>
            <p:cNvSpPr>
              <a:spLocks noChangeShapeType="1"/>
            </p:cNvSpPr>
            <p:nvPr/>
          </p:nvSpPr>
          <p:spPr bwMode="auto">
            <a:xfrm flipH="1">
              <a:off x="930" y="1117"/>
              <a:ext cx="272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7" name="Line 13"/>
            <p:cNvSpPr>
              <a:spLocks noChangeShapeType="1"/>
            </p:cNvSpPr>
            <p:nvPr/>
          </p:nvSpPr>
          <p:spPr bwMode="auto">
            <a:xfrm flipH="1">
              <a:off x="1202" y="1111"/>
              <a:ext cx="21" cy="3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8" name="Line 14"/>
            <p:cNvSpPr>
              <a:spLocks noChangeShapeType="1"/>
            </p:cNvSpPr>
            <p:nvPr/>
          </p:nvSpPr>
          <p:spPr bwMode="auto">
            <a:xfrm>
              <a:off x="1247" y="1117"/>
              <a:ext cx="272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9" name="Line 15"/>
            <p:cNvSpPr>
              <a:spLocks noChangeShapeType="1"/>
            </p:cNvSpPr>
            <p:nvPr/>
          </p:nvSpPr>
          <p:spPr bwMode="auto">
            <a:xfrm>
              <a:off x="1268" y="1095"/>
              <a:ext cx="569" cy="4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0" name="Text Box 16"/>
            <p:cNvSpPr txBox="1">
              <a:spLocks noChangeArrowheads="1"/>
            </p:cNvSpPr>
            <p:nvPr/>
          </p:nvSpPr>
          <p:spPr bwMode="auto">
            <a:xfrm>
              <a:off x="1292" y="482"/>
              <a:ext cx="77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+mn-lt"/>
                </a:rPr>
                <a:t>Try(</a:t>
              </a:r>
              <a:r>
                <a:rPr lang="en-US" altLang="zh-CN" sz="2000" b="1" dirty="0" err="1">
                  <a:latin typeface="+mn-lt"/>
                </a:rPr>
                <a:t>i</a:t>
              </a:r>
              <a:r>
                <a:rPr lang="en-US" altLang="zh-CN" sz="2000" b="1" dirty="0">
                  <a:latin typeface="+mn-lt"/>
                </a:rPr>
                <a:t>)</a:t>
              </a:r>
            </a:p>
          </p:txBody>
        </p:sp>
        <p:sp>
          <p:nvSpPr>
            <p:cNvPr id="5171" name="Text Box 17"/>
            <p:cNvSpPr txBox="1">
              <a:spLocks noChangeArrowheads="1"/>
            </p:cNvSpPr>
            <p:nvPr/>
          </p:nvSpPr>
          <p:spPr bwMode="auto">
            <a:xfrm>
              <a:off x="567" y="1207"/>
              <a:ext cx="36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j=0</a:t>
              </a:r>
            </a:p>
          </p:txBody>
        </p:sp>
        <p:sp>
          <p:nvSpPr>
            <p:cNvPr id="5172" name="Text Box 18"/>
            <p:cNvSpPr txBox="1">
              <a:spLocks noChangeArrowheads="1"/>
            </p:cNvSpPr>
            <p:nvPr/>
          </p:nvSpPr>
          <p:spPr bwMode="auto">
            <a:xfrm>
              <a:off x="874" y="1261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1</a:t>
              </a:r>
            </a:p>
          </p:txBody>
        </p:sp>
        <p:sp>
          <p:nvSpPr>
            <p:cNvPr id="5173" name="Text Box 19"/>
            <p:cNvSpPr txBox="1">
              <a:spLocks noChangeArrowheads="1"/>
            </p:cNvSpPr>
            <p:nvPr/>
          </p:nvSpPr>
          <p:spPr bwMode="auto">
            <a:xfrm>
              <a:off x="1074" y="1269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2</a:t>
              </a:r>
            </a:p>
          </p:txBody>
        </p:sp>
        <p:sp>
          <p:nvSpPr>
            <p:cNvPr id="5174" name="Text Box 20"/>
            <p:cNvSpPr txBox="1">
              <a:spLocks noChangeArrowheads="1"/>
            </p:cNvSpPr>
            <p:nvPr/>
          </p:nvSpPr>
          <p:spPr bwMode="auto">
            <a:xfrm>
              <a:off x="1266" y="1269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3</a:t>
              </a:r>
            </a:p>
          </p:txBody>
        </p:sp>
        <p:sp>
          <p:nvSpPr>
            <p:cNvPr id="5175" name="Text Box 21"/>
            <p:cNvSpPr txBox="1">
              <a:spLocks noChangeArrowheads="1"/>
            </p:cNvSpPr>
            <p:nvPr/>
          </p:nvSpPr>
          <p:spPr bwMode="auto">
            <a:xfrm>
              <a:off x="1485" y="1261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4</a:t>
              </a:r>
            </a:p>
          </p:txBody>
        </p:sp>
        <p:sp>
          <p:nvSpPr>
            <p:cNvPr id="5176" name="Text Box 22"/>
            <p:cNvSpPr txBox="1">
              <a:spLocks noChangeArrowheads="1"/>
            </p:cNvSpPr>
            <p:nvPr/>
          </p:nvSpPr>
          <p:spPr bwMode="auto">
            <a:xfrm>
              <a:off x="441" y="1685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77" name="Text Box 23"/>
            <p:cNvSpPr txBox="1">
              <a:spLocks noChangeArrowheads="1"/>
            </p:cNvSpPr>
            <p:nvPr/>
          </p:nvSpPr>
          <p:spPr bwMode="auto">
            <a:xfrm>
              <a:off x="769" y="1677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78" name="Text Box 24"/>
            <p:cNvSpPr txBox="1">
              <a:spLocks noChangeArrowheads="1"/>
            </p:cNvSpPr>
            <p:nvPr/>
          </p:nvSpPr>
          <p:spPr bwMode="auto">
            <a:xfrm>
              <a:off x="1065" y="1677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79" name="Text Box 25"/>
            <p:cNvSpPr txBox="1">
              <a:spLocks noChangeArrowheads="1"/>
            </p:cNvSpPr>
            <p:nvPr/>
          </p:nvSpPr>
          <p:spPr bwMode="auto">
            <a:xfrm>
              <a:off x="1401" y="1677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80" name="Text Box 26"/>
            <p:cNvSpPr txBox="1">
              <a:spLocks noChangeArrowheads="1"/>
            </p:cNvSpPr>
            <p:nvPr/>
          </p:nvSpPr>
          <p:spPr bwMode="auto">
            <a:xfrm>
              <a:off x="1745" y="1664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</p:grpSp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8003901" y="322436"/>
            <a:ext cx="4068763" cy="4330701"/>
            <a:chOff x="2540" y="189"/>
            <a:chExt cx="2563" cy="2728"/>
          </a:xfrm>
        </p:grpSpPr>
        <p:sp>
          <p:nvSpPr>
            <p:cNvPr id="5126" name="Oval 28"/>
            <p:cNvSpPr>
              <a:spLocks noChangeArrowheads="1"/>
            </p:cNvSpPr>
            <p:nvPr/>
          </p:nvSpPr>
          <p:spPr bwMode="auto">
            <a:xfrm>
              <a:off x="3598" y="594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27" name="Oval 29"/>
            <p:cNvSpPr>
              <a:spLocks noChangeArrowheads="1"/>
            </p:cNvSpPr>
            <p:nvPr/>
          </p:nvSpPr>
          <p:spPr bwMode="auto">
            <a:xfrm>
              <a:off x="3008" y="1047"/>
              <a:ext cx="181" cy="181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28" name="Oval 30"/>
            <p:cNvSpPr>
              <a:spLocks noChangeArrowheads="1"/>
            </p:cNvSpPr>
            <p:nvPr/>
          </p:nvSpPr>
          <p:spPr bwMode="auto">
            <a:xfrm>
              <a:off x="3603" y="1055"/>
              <a:ext cx="181" cy="18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29" name="Oval 31"/>
            <p:cNvSpPr>
              <a:spLocks noChangeArrowheads="1"/>
            </p:cNvSpPr>
            <p:nvPr/>
          </p:nvSpPr>
          <p:spPr bwMode="auto">
            <a:xfrm>
              <a:off x="3093" y="1682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0" name="Oval 32"/>
            <p:cNvSpPr>
              <a:spLocks noChangeArrowheads="1"/>
            </p:cNvSpPr>
            <p:nvPr/>
          </p:nvSpPr>
          <p:spPr bwMode="auto">
            <a:xfrm>
              <a:off x="3600" y="1682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1" name="Oval 33"/>
            <p:cNvSpPr>
              <a:spLocks noChangeArrowheads="1"/>
            </p:cNvSpPr>
            <p:nvPr/>
          </p:nvSpPr>
          <p:spPr bwMode="auto">
            <a:xfrm>
              <a:off x="4150" y="1661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2" name="Oval 34"/>
            <p:cNvSpPr>
              <a:spLocks noChangeArrowheads="1"/>
            </p:cNvSpPr>
            <p:nvPr/>
          </p:nvSpPr>
          <p:spPr bwMode="auto">
            <a:xfrm>
              <a:off x="3368" y="2363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3" name="Oval 35"/>
            <p:cNvSpPr>
              <a:spLocks noChangeArrowheads="1"/>
            </p:cNvSpPr>
            <p:nvPr/>
          </p:nvSpPr>
          <p:spPr bwMode="auto">
            <a:xfrm>
              <a:off x="4006" y="2363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4" name="Line 36"/>
            <p:cNvSpPr>
              <a:spLocks noChangeShapeType="1"/>
            </p:cNvSpPr>
            <p:nvPr/>
          </p:nvSpPr>
          <p:spPr bwMode="auto">
            <a:xfrm flipH="1">
              <a:off x="3144" y="684"/>
              <a:ext cx="454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5" name="Line 37"/>
            <p:cNvSpPr>
              <a:spLocks noChangeShapeType="1"/>
            </p:cNvSpPr>
            <p:nvPr/>
          </p:nvSpPr>
          <p:spPr bwMode="auto">
            <a:xfrm>
              <a:off x="3688" y="77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6" name="Line 38"/>
            <p:cNvSpPr>
              <a:spLocks noChangeShapeType="1"/>
            </p:cNvSpPr>
            <p:nvPr/>
          </p:nvSpPr>
          <p:spPr bwMode="auto">
            <a:xfrm>
              <a:off x="3688" y="122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7" name="Line 39"/>
            <p:cNvSpPr>
              <a:spLocks noChangeShapeType="1"/>
            </p:cNvSpPr>
            <p:nvPr/>
          </p:nvSpPr>
          <p:spPr bwMode="auto">
            <a:xfrm flipH="1">
              <a:off x="3189" y="1229"/>
              <a:ext cx="454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8" name="Line 40"/>
            <p:cNvSpPr>
              <a:spLocks noChangeShapeType="1"/>
            </p:cNvSpPr>
            <p:nvPr/>
          </p:nvSpPr>
          <p:spPr bwMode="auto">
            <a:xfrm>
              <a:off x="3755" y="1229"/>
              <a:ext cx="408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9" name="Line 41"/>
            <p:cNvSpPr>
              <a:spLocks noChangeShapeType="1"/>
            </p:cNvSpPr>
            <p:nvPr/>
          </p:nvSpPr>
          <p:spPr bwMode="auto">
            <a:xfrm flipH="1">
              <a:off x="3462" y="1864"/>
              <a:ext cx="181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40" name="Line 42"/>
            <p:cNvSpPr>
              <a:spLocks noChangeShapeType="1"/>
            </p:cNvSpPr>
            <p:nvPr/>
          </p:nvSpPr>
          <p:spPr bwMode="auto">
            <a:xfrm>
              <a:off x="3734" y="1864"/>
              <a:ext cx="317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41" name="Text Box 43"/>
            <p:cNvSpPr txBox="1">
              <a:spLocks noChangeArrowheads="1"/>
            </p:cNvSpPr>
            <p:nvPr/>
          </p:nvSpPr>
          <p:spPr bwMode="auto">
            <a:xfrm>
              <a:off x="2608" y="189"/>
              <a:ext cx="2495" cy="233"/>
            </a:xfrm>
            <a:prstGeom prst="rect">
              <a:avLst/>
            </a:prstGeom>
            <a:ln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楷体" pitchFamily="49" charset="-122"/>
                </a:rPr>
                <a:t>条件：</a:t>
              </a:r>
              <a:r>
                <a:rPr lang="en-US" altLang="zh-CN" sz="1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楷体" pitchFamily="49" charset="-122"/>
                </a:rPr>
                <a:t>c = (like[</a:t>
              </a:r>
              <a:r>
                <a:rPr lang="en-US" altLang="zh-CN" sz="1800" b="1" dirty="0" err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楷体" pitchFamily="49" charset="-122"/>
                </a:rPr>
                <a:t>i</a:t>
              </a:r>
              <a:r>
                <a:rPr lang="en-US" altLang="zh-CN" sz="1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楷体" pitchFamily="49" charset="-122"/>
                </a:rPr>
                <a:t>][j]&gt;0 &amp;&amp; book[j]=0)</a:t>
              </a:r>
            </a:p>
          </p:txBody>
        </p:sp>
        <p:sp>
          <p:nvSpPr>
            <p:cNvPr id="5142" name="Text Box 44"/>
            <p:cNvSpPr txBox="1">
              <a:spLocks noChangeArrowheads="1"/>
            </p:cNvSpPr>
            <p:nvPr/>
          </p:nvSpPr>
          <p:spPr bwMode="auto">
            <a:xfrm>
              <a:off x="3339" y="519"/>
              <a:ext cx="4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LP</a:t>
              </a:r>
            </a:p>
          </p:txBody>
        </p:sp>
        <p:sp>
          <p:nvSpPr>
            <p:cNvPr id="5143" name="Text Box 45"/>
            <p:cNvSpPr txBox="1">
              <a:spLocks noChangeArrowheads="1"/>
            </p:cNvSpPr>
            <p:nvPr/>
          </p:nvSpPr>
          <p:spPr bwMode="auto">
            <a:xfrm>
              <a:off x="2944" y="735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c != 1</a:t>
              </a:r>
            </a:p>
          </p:txBody>
        </p:sp>
        <p:sp>
          <p:nvSpPr>
            <p:cNvPr id="5144" name="Text Box 46"/>
            <p:cNvSpPr txBox="1">
              <a:spLocks noChangeArrowheads="1"/>
            </p:cNvSpPr>
            <p:nvPr/>
          </p:nvSpPr>
          <p:spPr bwMode="auto">
            <a:xfrm>
              <a:off x="3664" y="775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c == 1</a:t>
              </a:r>
            </a:p>
          </p:txBody>
        </p:sp>
        <p:sp>
          <p:nvSpPr>
            <p:cNvPr id="5145" name="Text Box 47"/>
            <p:cNvSpPr txBox="1">
              <a:spLocks noChangeArrowheads="1"/>
            </p:cNvSpPr>
            <p:nvPr/>
          </p:nvSpPr>
          <p:spPr bwMode="auto">
            <a:xfrm>
              <a:off x="2736" y="1183"/>
              <a:ext cx="59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什么也不做</a:t>
              </a:r>
            </a:p>
          </p:txBody>
        </p:sp>
        <p:sp>
          <p:nvSpPr>
            <p:cNvPr id="5146" name="Text Box 48"/>
            <p:cNvSpPr txBox="1">
              <a:spLocks noChangeArrowheads="1"/>
            </p:cNvSpPr>
            <p:nvPr/>
          </p:nvSpPr>
          <p:spPr bwMode="auto">
            <a:xfrm>
              <a:off x="2763" y="1634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sh1</a:t>
              </a:r>
            </a:p>
          </p:txBody>
        </p:sp>
        <p:sp>
          <p:nvSpPr>
            <p:cNvPr id="5147" name="Text Box 49"/>
            <p:cNvSpPr txBox="1">
              <a:spLocks noChangeArrowheads="1"/>
            </p:cNvSpPr>
            <p:nvPr/>
          </p:nvSpPr>
          <p:spPr bwMode="auto">
            <a:xfrm>
              <a:off x="2554" y="1875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take[i] = j;</a:t>
              </a:r>
            </a:p>
          </p:txBody>
        </p:sp>
        <p:sp>
          <p:nvSpPr>
            <p:cNvPr id="5148" name="Text Box 50"/>
            <p:cNvSpPr txBox="1">
              <a:spLocks noChangeArrowheads="1"/>
            </p:cNvSpPr>
            <p:nvPr/>
          </p:nvSpPr>
          <p:spPr bwMode="auto">
            <a:xfrm>
              <a:off x="3315" y="1642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sh2</a:t>
              </a:r>
            </a:p>
          </p:txBody>
        </p:sp>
        <p:sp>
          <p:nvSpPr>
            <p:cNvPr id="5149" name="Text Box 51"/>
            <p:cNvSpPr txBox="1">
              <a:spLocks noChangeArrowheads="1"/>
            </p:cNvSpPr>
            <p:nvPr/>
          </p:nvSpPr>
          <p:spPr bwMode="auto">
            <a:xfrm>
              <a:off x="3867" y="1634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sh3</a:t>
              </a:r>
            </a:p>
          </p:txBody>
        </p:sp>
        <p:sp>
          <p:nvSpPr>
            <p:cNvPr id="5150" name="Rectangle 52"/>
            <p:cNvSpPr>
              <a:spLocks noChangeArrowheads="1"/>
            </p:cNvSpPr>
            <p:nvPr/>
          </p:nvSpPr>
          <p:spPr bwMode="auto">
            <a:xfrm>
              <a:off x="2540" y="2021"/>
              <a:ext cx="76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book[j] = 1;</a:t>
              </a:r>
            </a:p>
          </p:txBody>
        </p:sp>
        <p:sp>
          <p:nvSpPr>
            <p:cNvPr id="5151" name="Text Box 53"/>
            <p:cNvSpPr txBox="1">
              <a:spLocks noChangeArrowheads="1"/>
            </p:cNvSpPr>
            <p:nvPr/>
          </p:nvSpPr>
          <p:spPr bwMode="auto">
            <a:xfrm>
              <a:off x="3288" y="2024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i == 4</a:t>
              </a:r>
            </a:p>
          </p:txBody>
        </p:sp>
        <p:sp>
          <p:nvSpPr>
            <p:cNvPr id="5152" name="Text Box 54"/>
            <p:cNvSpPr txBox="1">
              <a:spLocks noChangeArrowheads="1"/>
            </p:cNvSpPr>
            <p:nvPr/>
          </p:nvSpPr>
          <p:spPr bwMode="auto">
            <a:xfrm>
              <a:off x="3904" y="2016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i != 4</a:t>
              </a:r>
            </a:p>
          </p:txBody>
        </p:sp>
        <p:sp>
          <p:nvSpPr>
            <p:cNvPr id="5153" name="Text Box 55"/>
            <p:cNvSpPr txBox="1">
              <a:spLocks noChangeArrowheads="1"/>
            </p:cNvSpPr>
            <p:nvPr/>
          </p:nvSpPr>
          <p:spPr bwMode="auto">
            <a:xfrm>
              <a:off x="3016" y="2568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n = n + 1;</a:t>
              </a:r>
            </a:p>
          </p:txBody>
        </p:sp>
        <p:sp>
          <p:nvSpPr>
            <p:cNvPr id="5154" name="Text Box 56"/>
            <p:cNvSpPr txBox="1">
              <a:spLocks noChangeArrowheads="1"/>
            </p:cNvSpPr>
            <p:nvPr/>
          </p:nvSpPr>
          <p:spPr bwMode="auto">
            <a:xfrm>
              <a:off x="3016" y="2704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输出方案</a:t>
              </a:r>
              <a:r>
                <a:rPr lang="en-US" altLang="zh-CN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n</a:t>
              </a:r>
            </a:p>
          </p:txBody>
        </p:sp>
        <p:sp>
          <p:nvSpPr>
            <p:cNvPr id="5155" name="Text Box 57"/>
            <p:cNvSpPr txBox="1">
              <a:spLocks noChangeArrowheads="1"/>
            </p:cNvSpPr>
            <p:nvPr/>
          </p:nvSpPr>
          <p:spPr bwMode="auto">
            <a:xfrm>
              <a:off x="3816" y="2552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Try(i+1)</a:t>
              </a:r>
            </a:p>
          </p:txBody>
        </p:sp>
        <p:sp>
          <p:nvSpPr>
            <p:cNvPr id="5156" name="Text Box 58"/>
            <p:cNvSpPr txBox="1">
              <a:spLocks noChangeArrowheads="1"/>
            </p:cNvSpPr>
            <p:nvPr/>
          </p:nvSpPr>
          <p:spPr bwMode="auto">
            <a:xfrm>
              <a:off x="4105" y="1797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book[j]=0;</a:t>
              </a:r>
            </a:p>
          </p:txBody>
        </p:sp>
      </p:grpSp>
      <p:sp>
        <p:nvSpPr>
          <p:cNvPr id="5124" name="Text Box 60"/>
          <p:cNvSpPr txBox="1">
            <a:spLocks noChangeArrowheads="1"/>
          </p:cNvSpPr>
          <p:nvPr/>
        </p:nvSpPr>
        <p:spPr bwMode="auto">
          <a:xfrm>
            <a:off x="538936" y="2492896"/>
            <a:ext cx="742927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latin typeface="+mn-lt"/>
                <a:ea typeface="楷体" pitchFamily="49" charset="-122"/>
              </a:rPr>
              <a:t>④ 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条件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c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是由两部分“与”起来的，“第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个人喜欢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书，且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书尚未被分走”。满足这个条件是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人能够得到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书的条件。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+mn-lt"/>
                <a:ea typeface="楷体" pitchFamily="49" charset="-122"/>
              </a:rPr>
              <a:t>⑤ 如果不满足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c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条件，则什么也不做，这是直接可解结点。</a:t>
            </a:r>
          </a:p>
        </p:txBody>
      </p:sp>
      <p:sp>
        <p:nvSpPr>
          <p:cNvPr id="5125" name="Text Box 61"/>
          <p:cNvSpPr txBox="1">
            <a:spLocks noChangeArrowheads="1"/>
          </p:cNvSpPr>
          <p:nvPr/>
        </p:nvSpPr>
        <p:spPr bwMode="auto">
          <a:xfrm>
            <a:off x="538936" y="3657504"/>
            <a:ext cx="7429272" cy="3000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latin typeface="+mn-lt"/>
                <a:ea typeface="楷体" pitchFamily="49" charset="-122"/>
              </a:rPr>
              <a:t>⑥ 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满足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c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条件，做三件事：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第一件事：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书分给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，用一个数组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take[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]=j,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记住书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给了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，同时记录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书已被选用，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book[j]=1.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第二件事：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查看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是否为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4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，如果不为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4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，表示尚未将所有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5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个人所要的书分完，这时应递归再试下一个人，即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Try(i+1)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。若果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==4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，则应先使方案数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n=n+1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，然后输出第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个方案下的每个人所得之书。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第三件事：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回溯。让第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人退回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书，恢复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书尚未被选的标志，即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book[j]=0.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这是在已输出第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个方案之后，去寻找下一个分书方案所必需的。</a:t>
            </a:r>
          </a:p>
        </p:txBody>
      </p:sp>
      <p:grpSp>
        <p:nvGrpSpPr>
          <p:cNvPr id="61" name="Group 125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62" name="Text Box 12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63" name="Text Box 12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2855640" y="1844824"/>
            <a:ext cx="7056784" cy="4680520"/>
            <a:chOff x="1259632" y="1772816"/>
            <a:chExt cx="7056784" cy="4680520"/>
          </a:xfrm>
        </p:grpSpPr>
        <p:sp>
          <p:nvSpPr>
            <p:cNvPr id="64" name="矩形 63"/>
            <p:cNvSpPr/>
            <p:nvPr/>
          </p:nvSpPr>
          <p:spPr bwMode="auto">
            <a:xfrm>
              <a:off x="1259632" y="1772816"/>
              <a:ext cx="7056784" cy="468052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381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Text Box 9"/>
            <p:cNvSpPr txBox="1">
              <a:spLocks noChangeArrowheads="1"/>
            </p:cNvSpPr>
            <p:nvPr/>
          </p:nvSpPr>
          <p:spPr bwMode="auto">
            <a:xfrm>
              <a:off x="1403648" y="1904984"/>
              <a:ext cx="3312368" cy="504056"/>
            </a:xfrm>
            <a:prstGeom prst="rect">
              <a:avLst/>
            </a:prstGeom>
            <a:ln>
              <a:noFill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itchFamily="49" charset="-122"/>
                  <a:cs typeface="宋体" pitchFamily="2" charset="-122"/>
                </a:rPr>
                <a:t>函数</a:t>
              </a:r>
              <a:r>
                <a:rPr kumimoji="0"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itchFamily="49" charset="-122"/>
                  <a:cs typeface="宋体" pitchFamily="2" charset="-122"/>
                </a:rPr>
                <a:t>Try(</a:t>
              </a:r>
              <a:r>
                <a:rPr kumimoji="0" lang="en-US" altLang="zh-CN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itchFamily="49" charset="-122"/>
                  <a:cs typeface="宋体" pitchFamily="2" charset="-122"/>
                </a:rPr>
                <a:t>i</a:t>
              </a:r>
              <a:r>
                <a:rPr kumimoji="0"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itchFamily="49" charset="-122"/>
                  <a:cs typeface="宋体" pitchFamily="2" charset="-122"/>
                </a:rPr>
                <a:t>)</a:t>
              </a:r>
              <a:r>
                <a:rPr kumimoji="0"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itchFamily="49" charset="-122"/>
                  <a:cs typeface="宋体" pitchFamily="2" charset="-122"/>
                </a:rPr>
                <a:t>的</a:t>
              </a:r>
              <a:r>
                <a:rPr kumimoji="0"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itchFamily="49" charset="-122"/>
                  <a:cs typeface="宋体" pitchFamily="2" charset="-122"/>
                </a:rPr>
                <a:t>N-S</a:t>
              </a:r>
              <a:r>
                <a:rPr kumimoji="0"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itchFamily="49" charset="-122"/>
                  <a:cs typeface="宋体" pitchFamily="2" charset="-122"/>
                </a:rPr>
                <a:t>流程图</a:t>
              </a:r>
            </a:p>
          </p:txBody>
        </p:sp>
        <p:grpSp>
          <p:nvGrpSpPr>
            <p:cNvPr id="112" name="组合 111"/>
            <p:cNvGrpSpPr/>
            <p:nvPr/>
          </p:nvGrpSpPr>
          <p:grpSpPr>
            <a:xfrm>
              <a:off x="2987824" y="2528902"/>
              <a:ext cx="3816368" cy="3636402"/>
              <a:chOff x="2987824" y="2528902"/>
              <a:chExt cx="3816368" cy="3636402"/>
            </a:xfrm>
          </p:grpSpPr>
          <p:grpSp>
            <p:nvGrpSpPr>
              <p:cNvPr id="612354" name="组合 1095"/>
              <p:cNvGrpSpPr>
                <a:grpSpLocks/>
              </p:cNvGrpSpPr>
              <p:nvPr/>
            </p:nvGrpSpPr>
            <p:grpSpPr bwMode="auto">
              <a:xfrm>
                <a:off x="2987824" y="2528902"/>
                <a:ext cx="3816368" cy="3636402"/>
                <a:chOff x="2204" y="551"/>
                <a:chExt cx="21381" cy="18550"/>
              </a:xfrm>
            </p:grpSpPr>
            <p:grpSp>
              <p:nvGrpSpPr>
                <p:cNvPr id="1092" name="组合 1092"/>
                <p:cNvGrpSpPr>
                  <a:grpSpLocks/>
                </p:cNvGrpSpPr>
                <p:nvPr/>
              </p:nvGrpSpPr>
              <p:grpSpPr bwMode="auto">
                <a:xfrm>
                  <a:off x="2204" y="551"/>
                  <a:ext cx="21364" cy="18550"/>
                  <a:chOff x="2204" y="551"/>
                  <a:chExt cx="21364" cy="18550"/>
                </a:xfrm>
              </p:grpSpPr>
              <p:grpSp>
                <p:nvGrpSpPr>
                  <p:cNvPr id="1090" name="组合 1090"/>
                  <p:cNvGrpSpPr>
                    <a:grpSpLocks/>
                  </p:cNvGrpSpPr>
                  <p:nvPr/>
                </p:nvGrpSpPr>
                <p:grpSpPr bwMode="auto">
                  <a:xfrm>
                    <a:off x="3011" y="2351"/>
                    <a:ext cx="20557" cy="16750"/>
                    <a:chOff x="3011" y="192"/>
                    <a:chExt cx="20556" cy="16750"/>
                  </a:xfrm>
                </p:grpSpPr>
                <p:sp>
                  <p:nvSpPr>
                    <p:cNvPr id="1087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961" y="11531"/>
                      <a:ext cx="7911" cy="167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kumimoji="0" lang="en-US" altLang="zh-CN" sz="16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楷体" pitchFamily="49" charset="-122"/>
                          <a:cs typeface="宋体" pitchFamily="2" charset="-122"/>
                        </a:rPr>
                        <a:t>//</a:t>
                      </a:r>
                      <a:r>
                        <a:rPr kumimoji="0" lang="zh-CN" altLang="en-US" sz="16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楷体" pitchFamily="49" charset="-122"/>
                          <a:cs typeface="宋体" pitchFamily="2" charset="-122"/>
                        </a:rPr>
                        <a:t>试分下一人</a:t>
                      </a:r>
                      <a:endParaRPr kumimoji="0" lang="zh-CN" altLang="en-US" sz="1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楷体" pitchFamily="49" charset="-122"/>
                        <a:cs typeface="宋体" pitchFamily="2" charset="-122"/>
                      </a:endParaRPr>
                    </a:p>
                  </p:txBody>
                </p:sp>
                <p:grpSp>
                  <p:nvGrpSpPr>
                    <p:cNvPr id="1089" name="组合 10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11" y="192"/>
                      <a:ext cx="20556" cy="16750"/>
                      <a:chOff x="3011" y="192"/>
                      <a:chExt cx="20555" cy="16750"/>
                    </a:xfrm>
                  </p:grpSpPr>
                  <p:grpSp>
                    <p:nvGrpSpPr>
                      <p:cNvPr id="1088" name="组合 108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11" y="192"/>
                        <a:ext cx="20555" cy="16750"/>
                        <a:chOff x="3011" y="192"/>
                        <a:chExt cx="20554" cy="16750"/>
                      </a:xfrm>
                    </p:grpSpPr>
                    <p:grpSp>
                      <p:nvGrpSpPr>
                        <p:cNvPr id="304" name="组合 30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011" y="192"/>
                          <a:ext cx="20554" cy="16750"/>
                          <a:chOff x="3011" y="192"/>
                          <a:chExt cx="20553" cy="16750"/>
                        </a:xfrm>
                      </p:grpSpPr>
                      <p:grpSp>
                        <p:nvGrpSpPr>
                          <p:cNvPr id="1017" name="组合 101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011" y="192"/>
                            <a:ext cx="20553" cy="16750"/>
                            <a:chOff x="1354" y="276"/>
                            <a:chExt cx="20552" cy="16753"/>
                          </a:xfrm>
                        </p:grpSpPr>
                        <p:grpSp>
                          <p:nvGrpSpPr>
                            <p:cNvPr id="1020" name="组合 1020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1354" y="276"/>
                              <a:ext cx="20552" cy="16753"/>
                              <a:chOff x="-118" y="276"/>
                              <a:chExt cx="20551" cy="16756"/>
                            </a:xfrm>
                          </p:grpSpPr>
                          <p:grpSp>
                            <p:nvGrpSpPr>
                              <p:cNvPr id="1021" name="组合 1021"/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0" y="276"/>
                                <a:ext cx="20433" cy="16756"/>
                                <a:chOff x="0" y="0"/>
                                <a:chExt cx="20434" cy="16756"/>
                              </a:xfrm>
                            </p:grpSpPr>
                            <p:sp>
                              <p:nvSpPr>
                                <p:cNvPr id="1029" name="Text Box 1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174" y="8304"/>
                                  <a:ext cx="1807" cy="164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just"/>
                                  <a:r>
                                    <a:rPr kumimoji="0" lang="en-US" altLang="zh-CN" sz="1600" b="1" dirty="0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T</a:t>
                                  </a:r>
                                  <a:endParaRPr kumimoji="0" lang="zh-CN" altLang="zh-CN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30" name="Text Box 1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5112" y="8248"/>
                                  <a:ext cx="1372" cy="1588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just"/>
                                  <a:r>
                                    <a:rPr kumimoji="0" lang="en-US" altLang="zh-CN" sz="1600" b="1" dirty="0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F</a:t>
                                  </a:r>
                                  <a:endParaRPr kumimoji="0" lang="zh-CN" altLang="zh-CN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grpSp>
                              <p:nvGrpSpPr>
                                <p:cNvPr id="1031" name="组合 1031"/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0" y="0"/>
                                  <a:ext cx="20434" cy="16756"/>
                                  <a:chOff x="0" y="0"/>
                                  <a:chExt cx="20435" cy="16756"/>
                                </a:xfrm>
                              </p:grpSpPr>
                              <p:sp>
                                <p:nvSpPr>
                                  <p:cNvPr id="1033" name="矩形 103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0" y="0"/>
                                    <a:ext cx="20433" cy="16756"/>
                                  </a:xfrm>
                                  <a:prstGeom prst="rect">
                                    <a:avLst/>
                                  </a:prstGeom>
                                  <a:gradFill flip="none" rotWithShape="1">
                                    <a:gsLst>
                                      <a:gs pos="0">
                                        <a:srgbClr val="FFFFCC">
                                          <a:shade val="30000"/>
                                          <a:satMod val="115000"/>
                                        </a:srgbClr>
                                      </a:gs>
                                      <a:gs pos="50000">
                                        <a:srgbClr val="FFFFCC">
                                          <a:shade val="67500"/>
                                          <a:satMod val="115000"/>
                                        </a:srgbClr>
                                      </a:gs>
                                      <a:gs pos="100000">
                                        <a:srgbClr val="FFFFCC">
                                          <a:shade val="100000"/>
                                          <a:satMod val="115000"/>
                                        </a:srgbClr>
                                      </a:gs>
                                    </a:gsLst>
                                    <a:lin ang="13500000" scaled="1"/>
                                    <a:tileRect/>
                                  </a:gradFill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</p:spPr>
                                <p:txBody>
                                  <a:bodyPr vert="horz" wrap="square" lIns="91440" tIns="45720" rIns="91440" bIns="45720" numCol="1" anchor="ctr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4" name="直接连接符 1034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63" y="2424"/>
                                    <a:ext cx="18467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5" name="直接连接符 1035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33" y="4756"/>
                                    <a:ext cx="18501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6" name="直接连接符 1036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60" y="7880"/>
                                    <a:ext cx="8101" cy="2113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8" name="直接连接符 1038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 flipH="1">
                                    <a:off x="10062" y="7879"/>
                                    <a:ext cx="7096" cy="2116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9" name="直接连接符 1039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0066" y="10066"/>
                                    <a:ext cx="0" cy="3091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41" name="直接连接符 1041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94" y="7819"/>
                                    <a:ext cx="15196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54" name="直接连接符 1054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01" y="13131"/>
                                    <a:ext cx="15257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2" name="直接连接符 1032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62" y="2423"/>
                                    <a:ext cx="0" cy="14333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</p:grpSp>
                          </p:grpSp>
                          <p:grpSp>
                            <p:nvGrpSpPr>
                              <p:cNvPr id="1058" name="组合 1058"/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-118" y="496"/>
                                <a:ext cx="18889" cy="15641"/>
                                <a:chOff x="-1805" y="496"/>
                                <a:chExt cx="18889" cy="15641"/>
                              </a:xfrm>
                            </p:grpSpPr>
                            <p:sp>
                              <p:nvSpPr>
                                <p:cNvPr id="1060" name="Text Box 25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-1805" y="496"/>
                                  <a:ext cx="10458" cy="188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CC0099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for( j=0;j&lt;=4;j++)</a:t>
                                  </a:r>
                                </a:p>
                                <a:p>
                                  <a:pPr algn="ctr"/>
                                  <a:endParaRPr kumimoji="0" lang="en-US" altLang="zh-CN" sz="1600" b="1" dirty="0">
                                    <a:solidFill>
                                      <a:srgbClr val="CC0099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  <a:p>
                                  <a:endParaRPr kumimoji="0" lang="zh-CN" altLang="zh-CN" sz="1600" b="1" dirty="0">
                                    <a:solidFill>
                                      <a:srgbClr val="CC0099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68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727" y="4844"/>
                                  <a:ext cx="12331" cy="147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take[</a:t>
                                  </a:r>
                                  <a:r>
                                    <a:rPr kumimoji="0" lang="en-US" altLang="zh-CN" sz="1600" b="1" dirty="0" err="1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]=j;   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//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将书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j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给</a:t>
                                  </a:r>
                                  <a:r>
                                    <a:rPr kumimoji="0" lang="en-US" altLang="zh-CN" sz="1600" b="1" dirty="0" err="1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endParaRPr kumimoji="0" lang="en-US" altLang="zh-CN" sz="1600" b="1" dirty="0">
                                    <a:solidFill>
                                      <a:srgbClr val="0070C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  <a:p>
                                  <a:endParaRPr kumimoji="0" lang="zh-CN" altLang="zh-CN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0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129" y="2701"/>
                                  <a:ext cx="13955" cy="149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FF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like[</a:t>
                                  </a:r>
                                  <a:r>
                                    <a:rPr kumimoji="0" lang="en-US" altLang="zh-CN" sz="1600" b="1" dirty="0" err="1">
                                      <a:solidFill>
                                        <a:srgbClr val="0000FF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00FF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][j]&gt;0&amp;&amp;book[j]==0</a:t>
                                  </a:r>
                                  <a:endParaRPr kumimoji="0" lang="zh-CN" altLang="zh-CN" sz="1600" b="1" dirty="0">
                                    <a:solidFill>
                                      <a:srgbClr val="0000FF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2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070" y="8244"/>
                                  <a:ext cx="4426" cy="1808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 err="1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==4</a:t>
                                  </a:r>
                                  <a:endParaRPr kumimoji="0" lang="zh-CN" altLang="zh-CN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3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471" y="10312"/>
                                  <a:ext cx="5397" cy="1391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n=n+1</a:t>
                                  </a:r>
                                </a:p>
                                <a:p>
                                  <a:endParaRPr kumimoji="0" lang="zh-CN" altLang="zh-CN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4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33" y="11606"/>
                                  <a:ext cx="7241" cy="175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zh-CN" altLang="en-US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输出方案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n</a:t>
                                  </a:r>
                                </a:p>
                                <a:p>
                                  <a:endParaRPr kumimoji="0" lang="zh-CN" altLang="zh-CN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5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096" y="6192"/>
                                  <a:ext cx="11424" cy="1687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book[j]=1   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//j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书已分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076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8784" y="10347"/>
                                  <a:ext cx="5947" cy="166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Try(i+1) </a:t>
                                  </a:r>
                                </a:p>
                                <a:p>
                                  <a:endParaRPr kumimoji="0" lang="zh-CN" altLang="zh-CN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7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241" y="14277"/>
                                  <a:ext cx="12019" cy="186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book[j]=0   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//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书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j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rgbClr val="0070C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待选</a:t>
                                  </a:r>
                                </a:p>
                                <a:p>
                                  <a:endParaRPr kumimoji="0" lang="zh-CN" altLang="en-US" sz="1600" b="1" dirty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</p:grpSp>
                        </p:grpSp>
                        <p:sp>
                          <p:nvSpPr>
                            <p:cNvPr id="1082" name="直接连接符 108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423" y="10303"/>
                              <a:ext cx="15240" cy="0"/>
                            </a:xfrm>
                            <a:prstGeom prst="line">
                              <a:avLst/>
                            </a:prstGeom>
                            <a:noFill/>
                            <a:ln w="19050">
                              <a:solidFill>
                                <a:srgbClr val="0070C0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600" b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+mn-lt"/>
                                <a:ea typeface="楷体" pitchFamily="49" charset="-122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084" name="直接连接符 108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016" y="2603"/>
                            <a:ext cx="5080" cy="2307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70C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600" b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+mn-lt"/>
                              <a:ea typeface="楷体" pitchFamily="49" charset="-122"/>
                            </a:endParaRPr>
                          </a:p>
                        </p:txBody>
                      </p:sp>
                      <p:sp>
                        <p:nvSpPr>
                          <p:cNvPr id="1085" name="直接连接符 108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0288" y="2603"/>
                            <a:ext cx="3258" cy="2342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70C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600" b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+mn-lt"/>
                              <a:ea typeface="楷体" pitchFamily="49" charset="-122"/>
                            </a:endParaRPr>
                          </a:p>
                        </p:txBody>
                      </p:sp>
                    </p:grpSp>
                    <p:sp>
                      <p:nvSpPr>
                        <p:cNvPr id="1086" name="直接连接符 108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0320" y="4984"/>
                          <a:ext cx="0" cy="1195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70C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600" b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+mn-lt"/>
                            <a:ea typeface="楷体" pitchFamily="49" charset="-122"/>
                          </a:endParaRPr>
                        </a:p>
                      </p:txBody>
                    </p:sp>
                  </p:grpSp>
                  <p:sp>
                    <p:nvSpPr>
                      <p:cNvPr id="258" name="文本框 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527" y="7501"/>
                        <a:ext cx="2720" cy="41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kumimoji="0" lang="zh-CN" altLang="en-US" sz="1600" b="1" dirty="0"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+mn-lt"/>
                            <a:ea typeface="楷体" pitchFamily="49" charset="-122"/>
                            <a:cs typeface="宋体" pitchFamily="2" charset="-122"/>
                          </a:rPr>
                          <a:t>什么也不做</a:t>
                        </a:r>
                        <a:endParaRPr kumimoji="0" lang="zh-CN" altLang="en-US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楷体" pitchFamily="49" charset="-122"/>
                          <a:cs typeface="宋体" pitchFamily="2" charset="-122"/>
                        </a:endParaRPr>
                      </a:p>
                    </p:txBody>
                  </p:sp>
                </p:grpSp>
              </p:grpSp>
              <p:sp>
                <p:nvSpPr>
                  <p:cNvPr id="1091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04" y="551"/>
                    <a:ext cx="8472" cy="14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r>
                      <a:rPr kumimoji="0" lang="en-US" altLang="zh-CN" sz="16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楷体" pitchFamily="49" charset="-122"/>
                        <a:cs typeface="宋体" pitchFamily="2" charset="-122"/>
                      </a:rPr>
                      <a:t>void Try(</a:t>
                    </a:r>
                    <a:r>
                      <a:rPr kumimoji="0" lang="en-US" altLang="zh-CN" sz="1600" b="1" dirty="0" err="1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楷体" pitchFamily="49" charset="-122"/>
                        <a:cs typeface="宋体" pitchFamily="2" charset="-122"/>
                      </a:rPr>
                      <a:t>int</a:t>
                    </a:r>
                    <a:r>
                      <a:rPr kumimoji="0" lang="en-US" altLang="zh-CN" sz="16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楷体" pitchFamily="49" charset="-122"/>
                        <a:cs typeface="宋体" pitchFamily="2" charset="-122"/>
                      </a:rPr>
                      <a:t> </a:t>
                    </a:r>
                    <a:r>
                      <a:rPr kumimoji="0" lang="en-US" altLang="zh-CN" sz="1600" b="1" dirty="0" err="1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楷体" pitchFamily="49" charset="-122"/>
                        <a:cs typeface="宋体" pitchFamily="2" charset="-122"/>
                      </a:rPr>
                      <a:t>i</a:t>
                    </a:r>
                    <a:r>
                      <a:rPr kumimoji="0" lang="en-US" altLang="zh-CN" sz="16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楷体" pitchFamily="49" charset="-122"/>
                        <a:cs typeface="宋体" pitchFamily="2" charset="-122"/>
                      </a:rPr>
                      <a:t>)</a:t>
                    </a:r>
                  </a:p>
                  <a:p>
                    <a:pPr algn="ctr"/>
                    <a:endParaRPr kumimoji="0" lang="en-US" altLang="zh-CN" sz="16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楷体" pitchFamily="49" charset="-122"/>
                      <a:cs typeface="宋体" pitchFamily="2" charset="-122"/>
                    </a:endParaRPr>
                  </a:p>
                  <a:p>
                    <a:endParaRPr kumimoji="0" lang="zh-CN" altLang="zh-CN" sz="16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楷体" pitchFamily="49" charset="-122"/>
                      <a:cs typeface="宋体" pitchFamily="2" charset="-122"/>
                    </a:endParaRPr>
                  </a:p>
                </p:txBody>
              </p:sp>
            </p:grpSp>
            <p:sp>
              <p:nvSpPr>
                <p:cNvPr id="109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5462" y="5388"/>
                  <a:ext cx="1784" cy="14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/>
                  <a:r>
                    <a:rPr kumimoji="0" lang="en-US" altLang="zh-CN" sz="16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楷体" pitchFamily="49" charset="-122"/>
                      <a:cs typeface="宋体" pitchFamily="2" charset="-122"/>
                    </a:rPr>
                    <a:t>T</a:t>
                  </a:r>
                  <a:endParaRPr kumimoji="0" lang="zh-CN" altLang="zh-C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楷体" pitchFamily="49" charset="-122"/>
                    <a:cs typeface="宋体" pitchFamily="2" charset="-122"/>
                  </a:endParaRPr>
                </a:p>
              </p:txBody>
            </p:sp>
            <p:sp>
              <p:nvSpPr>
                <p:cNvPr id="109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834" y="5510"/>
                  <a:ext cx="1751" cy="16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/>
                  <a:r>
                    <a:rPr kumimoji="0" lang="en-US" altLang="zh-CN" sz="16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楷体" pitchFamily="49" charset="-122"/>
                      <a:cs typeface="宋体" pitchFamily="2" charset="-122"/>
                    </a:rPr>
                    <a:t>F</a:t>
                  </a:r>
                  <a:endParaRPr kumimoji="0" lang="zh-CN" altLang="zh-C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楷体" pitchFamily="49" charset="-122"/>
                    <a:cs typeface="宋体" pitchFamily="2" charset="-122"/>
                  </a:endParaRPr>
                </a:p>
              </p:txBody>
            </p:sp>
          </p:grpSp>
          <p:sp>
            <p:nvSpPr>
              <p:cNvPr id="109" name="Text Box 19"/>
              <p:cNvSpPr txBox="1">
                <a:spLocks noChangeArrowheads="1"/>
              </p:cNvSpPr>
              <p:nvPr/>
            </p:nvSpPr>
            <p:spPr bwMode="auto">
              <a:xfrm>
                <a:off x="3574036" y="4509665"/>
                <a:ext cx="318432" cy="2907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just"/>
                <a:r>
                  <a:rPr kumimoji="0" lang="en-US" altLang="zh-C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楷体" pitchFamily="49" charset="-122"/>
                    <a:cs typeface="宋体" pitchFamily="2" charset="-122"/>
                  </a:rPr>
                  <a:t>T</a:t>
                </a:r>
                <a:endParaRPr kumimoji="0" lang="zh-CN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  <a:cs typeface="宋体" pitchFamily="2" charset="-122"/>
                </a:endParaRPr>
              </a:p>
            </p:txBody>
          </p:sp>
          <p:sp>
            <p:nvSpPr>
              <p:cNvPr id="110" name="Text Box 19"/>
              <p:cNvSpPr txBox="1">
                <a:spLocks noChangeArrowheads="1"/>
              </p:cNvSpPr>
              <p:nvPr/>
            </p:nvSpPr>
            <p:spPr bwMode="auto">
              <a:xfrm>
                <a:off x="5878665" y="4498402"/>
                <a:ext cx="312542" cy="325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just"/>
                <a:r>
                  <a:rPr kumimoji="0" lang="en-US" altLang="zh-C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楷体" pitchFamily="49" charset="-122"/>
                    <a:cs typeface="宋体" pitchFamily="2" charset="-122"/>
                  </a:rPr>
                  <a:t>F</a:t>
                </a:r>
                <a:endParaRPr kumimoji="0" lang="zh-CN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  <a:cs typeface="宋体" pitchFamily="2" charset="-122"/>
                </a:endParaRPr>
              </a:p>
            </p:txBody>
          </p:sp>
          <p:sp>
            <p:nvSpPr>
              <p:cNvPr id="111" name="文本框 2"/>
              <p:cNvSpPr txBox="1">
                <a:spLocks noChangeArrowheads="1"/>
              </p:cNvSpPr>
              <p:nvPr/>
            </p:nvSpPr>
            <p:spPr bwMode="auto">
              <a:xfrm>
                <a:off x="4871606" y="5106719"/>
                <a:ext cx="1428760" cy="343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kumimoji="0" lang="en-US" altLang="zh-CN" sz="1600" b="1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楷体" pitchFamily="49" charset="-122"/>
                    <a:cs typeface="宋体" pitchFamily="2" charset="-122"/>
                  </a:rPr>
                  <a:t>//</a:t>
                </a:r>
                <a:r>
                  <a:rPr kumimoji="0" lang="zh-CN" altLang="en-US" sz="1600" b="1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楷体" pitchFamily="49" charset="-122"/>
                    <a:cs typeface="宋体" pitchFamily="2" charset="-122"/>
                  </a:rPr>
                  <a:t>试分下一人</a:t>
                </a:r>
                <a:endParaRPr kumimoji="0" lang="en-US" altLang="zh-CN" sz="1600" b="1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  <a:cs typeface="宋体" pitchFamily="2" charset="-122"/>
                </a:endParaRPr>
              </a:p>
              <a:p>
                <a:endParaRPr kumimoji="0" lang="zh-CN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  <a:cs typeface="宋体" pitchFamily="2" charset="-122"/>
                </a:endParaRPr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Text Box 2"/>
          <p:cNvSpPr txBox="1">
            <a:spLocks noChangeArrowheads="1"/>
          </p:cNvSpPr>
          <p:nvPr/>
        </p:nvSpPr>
        <p:spPr bwMode="auto">
          <a:xfrm>
            <a:off x="610944" y="293689"/>
            <a:ext cx="1422184" cy="461665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分书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问题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</p:txBody>
      </p:sp>
      <p:sp>
        <p:nvSpPr>
          <p:cNvPr id="1108995" name="Rectangle 3" descr="信纸"/>
          <p:cNvSpPr>
            <a:spLocks noChangeArrowheads="1"/>
          </p:cNvSpPr>
          <p:nvPr/>
        </p:nvSpPr>
        <p:spPr bwMode="auto">
          <a:xfrm>
            <a:off x="682953" y="1052737"/>
            <a:ext cx="4536503" cy="440120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eaLnBrk="0" hangingPunct="0"/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take[5], n = 0;</a:t>
            </a:r>
          </a:p>
          <a:p>
            <a:pPr eaLnBrk="0" hangingPunct="0"/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like[5][5] = { {0,0,1,1,0}, {1,1,0,0,1}, 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            {0,1,1,0,1}, {0,0,0,1,0}, 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            {0,1,0,0,1} };</a:t>
            </a:r>
          </a:p>
          <a:p>
            <a:pPr eaLnBrk="0" hangingPunct="0"/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book[5] = {0,0,0,0,0};</a:t>
            </a:r>
          </a:p>
          <a:p>
            <a:pPr eaLnBrk="0" hangingPunct="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void Try(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0" hangingPunct="0"/>
            <a:r>
              <a:rPr lang="en-US" altLang="zh-CN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main(  )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Try(0);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09023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09024" name="Text Box 3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28" name="Rectangle 3" descr="信纸"/>
          <p:cNvSpPr>
            <a:spLocks noChangeArrowheads="1"/>
          </p:cNvSpPr>
          <p:nvPr/>
        </p:nvSpPr>
        <p:spPr bwMode="auto">
          <a:xfrm>
            <a:off x="2783632" y="144498"/>
            <a:ext cx="6552728" cy="6524863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Try(</a:t>
            </a:r>
            <a:r>
              <a:rPr lang="en-US" altLang="zh-CN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j, k;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for(j = 0; j &lt;=4; j++)   {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//j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代表书号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if (like[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][j] &gt; 0 &amp;&amp; book[j] == 0)   {  </a:t>
            </a:r>
          </a:p>
          <a:p>
            <a:pPr eaLnBrk="0" hangingPunct="0"/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                       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喜欢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书，且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书未被分走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take[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 = j;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//j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书分给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</a:p>
          <a:p>
            <a:pPr eaLnBrk="0" hangingPunct="0"/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book[j] = 1;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记录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书已分</a:t>
            </a:r>
          </a:p>
          <a:p>
            <a:pPr eaLnBrk="0" hangingPunct="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if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== 4)  {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如果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==4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，输出分书方案 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n++;   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方案数加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1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("===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第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%d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个方案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===\n", n);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输出方案号</a:t>
            </a:r>
          </a:p>
          <a:p>
            <a:pPr eaLnBrk="0" hangingPunct="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for(k = 0; k &lt;=4; k++)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输出分书方案</a:t>
            </a:r>
          </a:p>
          <a:p>
            <a:pPr eaLnBrk="0" hangingPunct="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("%d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%c\n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", take[k], '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A'+k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("\n");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换行</a:t>
            </a:r>
          </a:p>
          <a:p>
            <a:pPr eaLnBrk="0" hangingPunct="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else           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如果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!=4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，继续给下一人分书  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eaLnBrk="0" hangingPunct="0"/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    </a:t>
            </a:r>
            <a:r>
              <a:rPr lang="en-US" altLang="zh-CN" sz="2000" b="1" dirty="0">
                <a:solidFill>
                  <a:srgbClr val="FF33CC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Try(i+1);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递归调用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Try(i+1)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book[j] = 0;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记录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书待分</a:t>
            </a:r>
          </a:p>
          <a:p>
            <a:pPr eaLnBrk="0" hangingPunct="0"/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   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}</a:t>
            </a:r>
          </a:p>
          <a:p>
            <a:pPr eaLnBrk="0" hangingPunct="0"/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29" name="Rectangle 68"/>
          <p:cNvSpPr>
            <a:spLocks noChangeArrowheads="1"/>
          </p:cNvSpPr>
          <p:nvPr/>
        </p:nvSpPr>
        <p:spPr bwMode="auto">
          <a:xfrm>
            <a:off x="9552384" y="2170688"/>
            <a:ext cx="2376264" cy="446276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===</a:t>
            </a: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第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个方案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===</a:t>
            </a:r>
            <a:endParaRPr lang="zh-CN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D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E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 </a:t>
            </a:r>
            <a:endParaRPr lang="zh-CN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===</a:t>
            </a: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第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个方案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===</a:t>
            </a:r>
            <a:endParaRPr lang="zh-CN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D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E</a:t>
            </a:r>
            <a:endParaRPr lang="zh-CN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8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animBg="1" autoUpdateAnimBg="0"/>
      <p:bldP spid="28" grpId="0" animBg="1" autoUpdateAnimBg="0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134" y="146050"/>
            <a:ext cx="5976938" cy="647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8.7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函数的作用域</a:t>
            </a:r>
          </a:p>
        </p:txBody>
      </p:sp>
      <p:sp>
        <p:nvSpPr>
          <p:cNvPr id="1115143" name="Rectangle 7"/>
          <p:cNvSpPr>
            <a:spLocks noChangeArrowheads="1"/>
          </p:cNvSpPr>
          <p:nvPr/>
        </p:nvSpPr>
        <p:spPr bwMode="auto">
          <a:xfrm>
            <a:off x="899497" y="1830388"/>
            <a:ext cx="4824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、内部函数</a:t>
            </a:r>
          </a:p>
        </p:txBody>
      </p:sp>
      <p:sp>
        <p:nvSpPr>
          <p:cNvPr id="1115174" name="Rectangle 38"/>
          <p:cNvSpPr>
            <a:spLocks noChangeArrowheads="1"/>
          </p:cNvSpPr>
          <p:nvPr/>
        </p:nvSpPr>
        <p:spPr bwMode="auto">
          <a:xfrm>
            <a:off x="510560" y="704851"/>
            <a:ext cx="1134608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函数一旦定义后就可被其它函数调用。但当一个源程序由多个源文件组成时， 在一个源文件中定义的函数能否被其它源文件中的函数调用呢？为此，Ｃ语言又把函数分为两类：</a:t>
            </a:r>
          </a:p>
        </p:txBody>
      </p:sp>
      <p:sp>
        <p:nvSpPr>
          <p:cNvPr id="1115175" name="Rectangle 39"/>
          <p:cNvSpPr>
            <a:spLocks noChangeArrowheads="1"/>
          </p:cNvSpPr>
          <p:nvPr/>
        </p:nvSpPr>
        <p:spPr bwMode="auto">
          <a:xfrm>
            <a:off x="502622" y="2730171"/>
            <a:ext cx="112100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如果在一个源文件中定义的函数只能被本文件中的函数调用，而不能被同一源程序其它文件中的函数调用，这种函数称为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内部函数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zh-CN" altLang="en-US" dirty="0">
              <a:latin typeface="+mn-lt"/>
              <a:ea typeface="楷体" pitchFamily="49" charset="-122"/>
            </a:endParaRPr>
          </a:p>
        </p:txBody>
      </p:sp>
      <p:sp>
        <p:nvSpPr>
          <p:cNvPr id="1115176" name="Rectangle 40"/>
          <p:cNvSpPr>
            <a:spLocks noChangeArrowheads="1"/>
          </p:cNvSpPr>
          <p:nvPr/>
        </p:nvSpPr>
        <p:spPr bwMode="auto">
          <a:xfrm>
            <a:off x="1358285" y="2266785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定义</a:t>
            </a:r>
          </a:p>
        </p:txBody>
      </p:sp>
      <p:sp>
        <p:nvSpPr>
          <p:cNvPr id="1115177" name="Rectangle 41"/>
          <p:cNvSpPr>
            <a:spLocks noChangeArrowheads="1"/>
          </p:cNvSpPr>
          <p:nvPr/>
        </p:nvSpPr>
        <p:spPr bwMode="auto">
          <a:xfrm>
            <a:off x="1186835" y="3716338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一般形式</a:t>
            </a:r>
          </a:p>
        </p:txBody>
      </p:sp>
      <p:sp>
        <p:nvSpPr>
          <p:cNvPr id="1115178" name="Text Box 42"/>
          <p:cNvSpPr txBox="1">
            <a:spLocks noChangeArrowheads="1"/>
          </p:cNvSpPr>
          <p:nvPr/>
        </p:nvSpPr>
        <p:spPr bwMode="auto">
          <a:xfrm>
            <a:off x="1186834" y="4249738"/>
            <a:ext cx="9301654" cy="48895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static 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类型说明符   函数名（形参表）</a:t>
            </a:r>
          </a:p>
        </p:txBody>
      </p:sp>
      <p:sp>
        <p:nvSpPr>
          <p:cNvPr id="1115179" name="Rectangle 43" descr="信纸"/>
          <p:cNvSpPr>
            <a:spLocks noChangeArrowheads="1"/>
          </p:cNvSpPr>
          <p:nvPr/>
        </p:nvSpPr>
        <p:spPr bwMode="auto">
          <a:xfrm>
            <a:off x="1199456" y="4931952"/>
            <a:ext cx="4104456" cy="16541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例如：</a:t>
            </a:r>
          </a:p>
          <a:p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static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int func (int a, int b)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  return (a &gt; b ? a : b);</a:t>
            </a:r>
          </a:p>
          <a:p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15180" name="Rectangle 44"/>
          <p:cNvSpPr>
            <a:spLocks noChangeArrowheads="1"/>
          </p:cNvSpPr>
          <p:nvPr/>
        </p:nvSpPr>
        <p:spPr bwMode="auto">
          <a:xfrm>
            <a:off x="5663952" y="4934319"/>
            <a:ext cx="4824536" cy="1631216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内部函数也称为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静态函数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。但此处静态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static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的含义已不是指存储类型，而是指</a:t>
            </a: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对函数的作用域只局限于本文件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。因此在不同的源文件中定义同名的静态函数不会引起混淆。</a:t>
            </a:r>
          </a:p>
        </p:txBody>
      </p:sp>
      <p:grpSp>
        <p:nvGrpSpPr>
          <p:cNvPr id="1115181" name="Group 45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5182" name="Text Box 4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5183" name="Text Box 4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4" name="Rectangle 43" descr="信纸"/>
          <p:cNvSpPr>
            <a:spLocks noChangeArrowheads="1"/>
          </p:cNvSpPr>
          <p:nvPr/>
        </p:nvSpPr>
        <p:spPr bwMode="auto">
          <a:xfrm>
            <a:off x="1144070" y="3155484"/>
            <a:ext cx="10136506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注意：</a:t>
            </a:r>
            <a:r>
              <a:rPr lang="zh-CN" alt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使用内部函数的好处是</a:t>
            </a:r>
            <a:r>
              <a:rPr 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不同的开发者可以分别编写不同的函数</a:t>
            </a:r>
            <a:r>
              <a:rPr 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而不必担心所使用的函数是否会与其他源文件中的函数同名</a:t>
            </a:r>
            <a:r>
              <a:rPr 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因为内部函数只可以在所在的源文件中进行使用</a:t>
            </a:r>
            <a:r>
              <a:rPr 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所以即使不同源文件有相同的函数名字也没有关系。</a:t>
            </a:r>
            <a:endParaRPr lang="zh-CN" altLang="en-US" b="1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15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115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115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115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115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38" grpId="0" build="p" bldLvl="5" autoUpdateAnimBg="0"/>
      <p:bldP spid="1115143" grpId="0"/>
      <p:bldP spid="1115174" grpId="0"/>
      <p:bldP spid="1115175" grpId="0"/>
      <p:bldP spid="1115176" grpId="0"/>
      <p:bldP spid="1115177" grpId="0"/>
      <p:bldP spid="1115178" grpId="0" animBg="1"/>
      <p:bldP spid="1115179" grpId="0" animBg="1" autoUpdateAnimBg="0"/>
      <p:bldP spid="1115180" grpId="0" animBg="1"/>
      <p:bldP spid="14" grpId="0" animBg="1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6" name="Rectangle 6"/>
          <p:cNvSpPr>
            <a:spLocks noChangeArrowheads="1"/>
          </p:cNvSpPr>
          <p:nvPr/>
        </p:nvSpPr>
        <p:spPr bwMode="auto">
          <a:xfrm>
            <a:off x="467697" y="260350"/>
            <a:ext cx="4824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、外部函数</a:t>
            </a:r>
          </a:p>
        </p:txBody>
      </p:sp>
      <p:sp>
        <p:nvSpPr>
          <p:cNvPr id="1116168" name="Rectangle 8"/>
          <p:cNvSpPr>
            <a:spLocks noChangeArrowheads="1"/>
          </p:cNvSpPr>
          <p:nvPr/>
        </p:nvSpPr>
        <p:spPr bwMode="auto">
          <a:xfrm>
            <a:off x="970935" y="765175"/>
            <a:ext cx="7885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外部函数在整个源程序中都有效，其定义的一般形式为： </a:t>
            </a:r>
          </a:p>
        </p:txBody>
      </p:sp>
      <p:sp>
        <p:nvSpPr>
          <p:cNvPr id="1116171" name="Text Box 11"/>
          <p:cNvSpPr txBox="1">
            <a:spLocks noChangeArrowheads="1"/>
          </p:cNvSpPr>
          <p:nvPr/>
        </p:nvSpPr>
        <p:spPr bwMode="auto">
          <a:xfrm>
            <a:off x="2064023" y="1412875"/>
            <a:ext cx="7272337" cy="48895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extern 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类型说明符   函数名（形参表）</a:t>
            </a:r>
          </a:p>
        </p:txBody>
      </p:sp>
      <p:sp>
        <p:nvSpPr>
          <p:cNvPr id="1116175" name="AutoShape 15"/>
          <p:cNvSpPr>
            <a:spLocks noChangeArrowheads="1"/>
          </p:cNvSpPr>
          <p:nvPr/>
        </p:nvSpPr>
        <p:spPr bwMode="auto">
          <a:xfrm>
            <a:off x="4729434" y="260350"/>
            <a:ext cx="2952750" cy="431800"/>
          </a:xfrm>
          <a:prstGeom prst="wedgeRoundRectCallout">
            <a:avLst>
              <a:gd name="adj1" fmla="val -90106"/>
              <a:gd name="adj2" fmla="val 239704"/>
              <a:gd name="adj3" fmla="val 16667"/>
            </a:avLst>
          </a:prstGeom>
          <a:gradFill flip="none" rotWithShape="1">
            <a:gsLst>
              <a:gs pos="0">
                <a:srgbClr val="CCFFFF"/>
              </a:gs>
              <a:gs pos="100000">
                <a:srgbClr val="FFFFFF"/>
              </a:gs>
            </a:gsLst>
            <a:path path="circle">
              <a:fillToRect l="100000" b="100000"/>
            </a:path>
            <a:tileRect t="-100000" r="-100000"/>
          </a:gradFill>
          <a:ln w="22225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缺省时，隐含为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extern</a:t>
            </a:r>
          </a:p>
        </p:txBody>
      </p:sp>
      <p:sp>
        <p:nvSpPr>
          <p:cNvPr id="1116176" name="Rectangle 16" descr="信纸"/>
          <p:cNvSpPr>
            <a:spLocks noChangeArrowheads="1"/>
          </p:cNvSpPr>
          <p:nvPr/>
        </p:nvSpPr>
        <p:spPr bwMode="auto">
          <a:xfrm>
            <a:off x="1703512" y="2858058"/>
            <a:ext cx="3311525" cy="3785652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         prg1.cpp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extern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func2 ( );</a:t>
            </a:r>
          </a:p>
          <a:p>
            <a:r>
              <a:rPr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main ( )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func2 ( );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func1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a,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b)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return (a &gt; b ? a : b);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16177" name="Rectangle 17" descr="信纸"/>
          <p:cNvSpPr>
            <a:spLocks noChangeArrowheads="1"/>
          </p:cNvSpPr>
          <p:nvPr/>
        </p:nvSpPr>
        <p:spPr bwMode="auto">
          <a:xfrm>
            <a:off x="8011865" y="3068639"/>
            <a:ext cx="3370263" cy="2873375"/>
          </a:xfrm>
          <a:prstGeom prst="rect">
            <a:avLst/>
          </a:prstGeom>
          <a:blipFill dpi="0" rotWithShape="1">
            <a:blip r:embed="rId5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>
            <a:spAutoFit/>
          </a:bodyPr>
          <a:lstStyle/>
          <a:p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              prg2.cpp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extern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func1 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a,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b);</a:t>
            </a:r>
          </a:p>
          <a:p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static </a:t>
            </a:r>
            <a:r>
              <a:rPr lang="en-US" altLang="zh-CN" sz="2000" b="1" dirty="0" err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1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func2 ( )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x, y, z;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scanf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(“%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d%d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”, &amp;x, &amp;y);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z = func1 (x, y);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return (z);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116178" name="Rectangle 18"/>
          <p:cNvSpPr>
            <a:spLocks noChangeArrowheads="1"/>
          </p:cNvSpPr>
          <p:nvPr/>
        </p:nvSpPr>
        <p:spPr bwMode="auto">
          <a:xfrm>
            <a:off x="1774950" y="3242395"/>
            <a:ext cx="2160587" cy="28733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79" name="AutoShape 19"/>
          <p:cNvSpPr>
            <a:spLocks/>
          </p:cNvSpPr>
          <p:nvPr/>
        </p:nvSpPr>
        <p:spPr bwMode="auto">
          <a:xfrm>
            <a:off x="8083302" y="2133600"/>
            <a:ext cx="1835150" cy="719138"/>
          </a:xfrm>
          <a:prstGeom prst="borderCallout2">
            <a:avLst>
              <a:gd name="adj1" fmla="val 15894"/>
              <a:gd name="adj2" fmla="val 104153"/>
              <a:gd name="adj3" fmla="val 15894"/>
              <a:gd name="adj4" fmla="val 120588"/>
              <a:gd name="adj5" fmla="val 183222"/>
              <a:gd name="adj6" fmla="val 14152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外部函数说明</a:t>
            </a:r>
          </a:p>
          <a:p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 正确</a:t>
            </a:r>
            <a:endParaRPr lang="zh-CN" altLang="en-US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116183" name="Group 23"/>
          <p:cNvGrpSpPr>
            <a:grpSpLocks/>
          </p:cNvGrpSpPr>
          <p:nvPr/>
        </p:nvGrpSpPr>
        <p:grpSpPr bwMode="auto">
          <a:xfrm>
            <a:off x="3935587" y="1988840"/>
            <a:ext cx="3744914" cy="1584325"/>
            <a:chOff x="1138" y="1371"/>
            <a:chExt cx="2359" cy="998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6181" name="AutoShape 21"/>
            <p:cNvSpPr>
              <a:spLocks noChangeArrowheads="1"/>
            </p:cNvSpPr>
            <p:nvPr/>
          </p:nvSpPr>
          <p:spPr bwMode="auto">
            <a:xfrm>
              <a:off x="1800" y="1371"/>
              <a:ext cx="1697" cy="998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外部函数说明</a:t>
              </a:r>
            </a:p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116182" name="Line 22"/>
            <p:cNvSpPr>
              <a:spLocks noChangeShapeType="1"/>
            </p:cNvSpPr>
            <p:nvPr/>
          </p:nvSpPr>
          <p:spPr bwMode="auto">
            <a:xfrm flipV="1">
              <a:off x="1138" y="2033"/>
              <a:ext cx="926" cy="154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116184" name="Rectangle 24"/>
          <p:cNvSpPr>
            <a:spLocks noChangeArrowheads="1"/>
          </p:cNvSpPr>
          <p:nvPr/>
        </p:nvSpPr>
        <p:spPr bwMode="auto">
          <a:xfrm>
            <a:off x="1890837" y="4150284"/>
            <a:ext cx="1108075" cy="30797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16188" name="Group 28"/>
          <p:cNvGrpSpPr>
            <a:grpSpLocks/>
          </p:cNvGrpSpPr>
          <p:nvPr/>
        </p:nvGrpSpPr>
        <p:grpSpPr bwMode="auto">
          <a:xfrm>
            <a:off x="2998911" y="3583546"/>
            <a:ext cx="1873250" cy="874713"/>
            <a:chOff x="1292" y="2380"/>
            <a:chExt cx="1180" cy="551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6186" name="AutoShape 26"/>
            <p:cNvSpPr>
              <a:spLocks noChangeArrowheads="1"/>
            </p:cNvSpPr>
            <p:nvPr/>
          </p:nvSpPr>
          <p:spPr bwMode="auto">
            <a:xfrm>
              <a:off x="1559" y="2380"/>
              <a:ext cx="913" cy="551"/>
            </a:xfrm>
            <a:prstGeom prst="irregularSeal1">
              <a:avLst/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116187" name="Line 27"/>
            <p:cNvSpPr>
              <a:spLocks noChangeShapeType="1"/>
            </p:cNvSpPr>
            <p:nvPr/>
          </p:nvSpPr>
          <p:spPr bwMode="auto">
            <a:xfrm flipV="1">
              <a:off x="1292" y="2750"/>
              <a:ext cx="454" cy="1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116189" name="Rectangle 29"/>
          <p:cNvSpPr>
            <a:spLocks noChangeArrowheads="1"/>
          </p:cNvSpPr>
          <p:nvPr/>
        </p:nvSpPr>
        <p:spPr bwMode="auto">
          <a:xfrm>
            <a:off x="8083735" y="3458443"/>
            <a:ext cx="3168650" cy="2889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0" name="Rectangle 30"/>
          <p:cNvSpPr>
            <a:spLocks noChangeArrowheads="1"/>
          </p:cNvSpPr>
          <p:nvPr/>
        </p:nvSpPr>
        <p:spPr bwMode="auto">
          <a:xfrm>
            <a:off x="8083303" y="3789364"/>
            <a:ext cx="2016125" cy="30797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1" name="AutoShape 31"/>
          <p:cNvSpPr>
            <a:spLocks/>
          </p:cNvSpPr>
          <p:nvPr/>
        </p:nvSpPr>
        <p:spPr bwMode="auto">
          <a:xfrm>
            <a:off x="5663952" y="4652963"/>
            <a:ext cx="1835150" cy="431800"/>
          </a:xfrm>
          <a:prstGeom prst="borderCallout2">
            <a:avLst>
              <a:gd name="adj1" fmla="val 26472"/>
              <a:gd name="adj2" fmla="val 104153"/>
              <a:gd name="adj3" fmla="val 26472"/>
              <a:gd name="adj4" fmla="val 115139"/>
              <a:gd name="adj5" fmla="val -157722"/>
              <a:gd name="adj6" fmla="val 12958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内部函数定义</a:t>
            </a:r>
            <a:r>
              <a:rPr lang="zh-CN" altLang="en-US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</a:t>
            </a:r>
            <a:endParaRPr lang="zh-CN" altLang="en-US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16192" name="Rectangle 32"/>
          <p:cNvSpPr>
            <a:spLocks noChangeArrowheads="1"/>
          </p:cNvSpPr>
          <p:nvPr/>
        </p:nvSpPr>
        <p:spPr bwMode="auto">
          <a:xfrm>
            <a:off x="8213478" y="4991101"/>
            <a:ext cx="2016125" cy="30797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3" name="AutoShape 33"/>
          <p:cNvSpPr>
            <a:spLocks/>
          </p:cNvSpPr>
          <p:nvPr/>
        </p:nvSpPr>
        <p:spPr bwMode="auto">
          <a:xfrm>
            <a:off x="5894139" y="5983288"/>
            <a:ext cx="1835150" cy="431800"/>
          </a:xfrm>
          <a:prstGeom prst="borderCallout2">
            <a:avLst>
              <a:gd name="adj1" fmla="val 26472"/>
              <a:gd name="adj2" fmla="val 104153"/>
              <a:gd name="adj3" fmla="val 26472"/>
              <a:gd name="adj4" fmla="val 115139"/>
              <a:gd name="adj5" fmla="val -157722"/>
              <a:gd name="adj6" fmla="val 12958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引用外部函数</a:t>
            </a:r>
            <a:r>
              <a:rPr lang="zh-CN" altLang="en-US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</a:t>
            </a:r>
            <a:endParaRPr lang="zh-CN" altLang="en-US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1116194" name="Group 3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6195" name="Text Box 3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6196" name="Text Box 3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16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6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116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16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16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116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116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1116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116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116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1116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116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8" dur="500"/>
                                        <p:tgtEl>
                                          <p:spTgt spid="1116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116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1116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66" grpId="0"/>
      <p:bldP spid="1116168" grpId="0"/>
      <p:bldP spid="1116171" grpId="0" animBg="1"/>
      <p:bldP spid="1116175" grpId="0" animBg="1"/>
      <p:bldP spid="1116176" grpId="0" animBg="1" autoUpdateAnimBg="0"/>
      <p:bldP spid="1116177" grpId="0" animBg="1" autoUpdateAnimBg="0"/>
      <p:bldP spid="1116178" grpId="0" animBg="1"/>
      <p:bldP spid="1116179" grpId="0" animBg="1"/>
      <p:bldP spid="1116184" grpId="0" animBg="1"/>
      <p:bldP spid="1116189" grpId="0" animBg="1"/>
      <p:bldP spid="1116190" grpId="0" animBg="1"/>
      <p:bldP spid="1116191" grpId="0" animBg="1"/>
      <p:bldP spid="1116192" grpId="0" animBg="1"/>
      <p:bldP spid="111619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134" y="146050"/>
            <a:ext cx="3528194" cy="647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8.8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常用库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函数</a:t>
            </a:r>
            <a:endParaRPr lang="zh-CN" altLang="en-US" dirty="0"/>
          </a:p>
        </p:txBody>
      </p:sp>
      <p:grpSp>
        <p:nvGrpSpPr>
          <p:cNvPr id="1129486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682952" y="731694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itchFamily="49" charset="-122"/>
              <a:ea typeface="隶书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8908" y="1311152"/>
            <a:ext cx="52927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求浮点数的绝对值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fabs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61456" y="1844825"/>
            <a:ext cx="9463136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double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fabs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( double x );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math.h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计算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浮点数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的绝对值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返回浮点数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的绝对值</a:t>
            </a:r>
          </a:p>
        </p:txBody>
      </p:sp>
      <p:sp>
        <p:nvSpPr>
          <p:cNvPr id="37" name="矩形 36"/>
          <p:cNvSpPr/>
          <p:nvPr/>
        </p:nvSpPr>
        <p:spPr>
          <a:xfrm>
            <a:off x="1967480" y="3284985"/>
            <a:ext cx="9457112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double a = -3.14, b;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fabs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(a);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将浮点型变量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3.14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19112" y="4581129"/>
            <a:ext cx="7656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整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数的绝对值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abs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CB17.12</a:t>
            </a:r>
            <a:r>
              <a:rPr lang="zh-CN" altLang="zh-CN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下没有该函数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1960000" y="5157193"/>
            <a:ext cx="9464592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abs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    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计算整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的绝对值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返回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整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的绝对值</a:t>
            </a:r>
          </a:p>
        </p:txBody>
      </p:sp>
      <p:sp>
        <p:nvSpPr>
          <p:cNvPr id="41" name="矩形 40"/>
          <p:cNvSpPr/>
          <p:nvPr/>
        </p:nvSpPr>
        <p:spPr>
          <a:xfrm>
            <a:off x="1919536" y="5157192"/>
            <a:ext cx="9505056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 = -3, b;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abs(a);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将整型变量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  <p:bldP spid="39" grpId="0"/>
      <p:bldP spid="40" grpId="0" animBg="1"/>
      <p:bldP spid="4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730876" y="231032"/>
            <a:ext cx="7800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长整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数的绝对值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labs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（</a:t>
            </a:r>
            <a:r>
              <a:rPr lang="en-US" altLang="zh-CN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CB17.12</a:t>
            </a:r>
            <a:r>
              <a:rPr lang="zh-CN" altLang="zh-CN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下没有该函数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）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703512" y="2132857"/>
            <a:ext cx="9785608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long a = -123456789L, b;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b = labs(a);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将长整型变量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123456789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54960" y="3501009"/>
            <a:ext cx="4560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平方根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sqrt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FF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1719912" y="4005065"/>
            <a:ext cx="9776688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sqrt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double x );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计算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浮点数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的平方根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返值：返回浮点数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的平方根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710992" y="692697"/>
            <a:ext cx="9785608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long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labs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long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计算长整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的绝对值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返回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长整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的绝对值</a:t>
            </a:r>
          </a:p>
        </p:txBody>
      </p:sp>
      <p:sp>
        <p:nvSpPr>
          <p:cNvPr id="15" name="矩形 14"/>
          <p:cNvSpPr/>
          <p:nvPr/>
        </p:nvSpPr>
        <p:spPr>
          <a:xfrm>
            <a:off x="1712432" y="5457000"/>
            <a:ext cx="9776688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double a =1.44, b;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sqrt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(a);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将浮点型变量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的平方根赋给变量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1.200000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39" grpId="0"/>
      <p:bldP spid="40" grpId="0" animBg="1"/>
      <p:bldP spid="14" grpId="0" animBg="1"/>
      <p:bldP spid="1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754961" y="116633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上限整数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ceil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67600" y="1976551"/>
            <a:ext cx="982900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double a , b;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a = ceil(1.23);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b = ceil(-1.23);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-1.000000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671968" y="602105"/>
            <a:ext cx="9824632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ceil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double x );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求出不小于浮点数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的最小整数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返值：该整数的双精度实数</a:t>
            </a:r>
          </a:p>
        </p:txBody>
      </p:sp>
      <p:sp>
        <p:nvSpPr>
          <p:cNvPr id="12" name="矩形 11"/>
          <p:cNvSpPr/>
          <p:nvPr/>
        </p:nvSpPr>
        <p:spPr>
          <a:xfrm>
            <a:off x="754961" y="3645025"/>
            <a:ext cx="7800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下限整数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floor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1671968" y="4130497"/>
            <a:ext cx="9824632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floor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double x );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求出不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大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于浮点数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的最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大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整数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返值：该整数的双精度实数</a:t>
            </a:r>
          </a:p>
        </p:txBody>
      </p:sp>
      <p:sp>
        <p:nvSpPr>
          <p:cNvPr id="13" name="矩形 12"/>
          <p:cNvSpPr/>
          <p:nvPr/>
        </p:nvSpPr>
        <p:spPr>
          <a:xfrm>
            <a:off x="1655568" y="5099700"/>
            <a:ext cx="9865096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double a , b;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a = floor(1.23);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b = floor(-1.23);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-2.000000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14" grpId="0" animBg="1"/>
      <p:bldP spid="12" grpId="0"/>
      <p:bldP spid="16" grpId="0" animBg="1"/>
      <p:bldP spid="1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754961" y="116633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求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x</a:t>
            </a:r>
            <a:r>
              <a:rPr lang="en-US" altLang="zh-CN" baseline="30000" dirty="0" err="1">
                <a:latin typeface="+mn-lt"/>
                <a:ea typeface="楷体" pitchFamily="49" charset="-122"/>
              </a:rPr>
              <a:t>y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power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79448" y="2348880"/>
            <a:ext cx="9745144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double a , b;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pow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(2, 3);    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8.000000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b = power(2, 3.2);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8.189587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671968" y="850648"/>
            <a:ext cx="9752624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pow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double x, double y );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 //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求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y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次方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x</a:t>
            </a:r>
            <a:r>
              <a:rPr lang="en-US" altLang="zh-CN" b="1" baseline="300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y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的双精度实数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1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682952" y="116632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、常用字符处理函数</a:t>
            </a:r>
            <a:endParaRPr kumimoji="0" lang="zh-CN" altLang="en-US" sz="2800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itchFamily="49" charset="-122"/>
              <a:ea typeface="隶书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8908" y="663080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检查字符是否为字母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isalpha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1196753"/>
            <a:ext cx="9415192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isalpha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是否为字母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9720" y="2672824"/>
            <a:ext cx="9432864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'A', ch2 = 0x61, ch3 = 0x39; 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a, b, c;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//a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//b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//ch2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0x61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'a'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 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//ch3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0x39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'9'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码，不是字母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200008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大写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isupper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733681"/>
            <a:ext cx="9475168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：</a:t>
            </a:r>
            <a:r>
              <a:rPr lang="en-US" altLang="zh-CN" dirty="0">
                <a:solidFill>
                  <a:srgbClr val="CC0099"/>
                </a:solidFill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isupper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大写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字母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55448" y="2209752"/>
            <a:ext cx="9457112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'A', ch2 = 0x61, ch3 = 0x39;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0x61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码，不是大写字母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(ch3);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0x39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码，不是字母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200008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小写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islower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818799"/>
            <a:ext cx="9403160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islower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小写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字母</a:t>
            </a: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43416" y="2294870"/>
            <a:ext cx="940916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'A', ch2 = 0x61, ch3 = 0x39;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0x61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(ch3);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0x39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码，不是字母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200008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数字字符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isdigit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73304" y="733681"/>
            <a:ext cx="9523296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isdigit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数字字符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79512" y="2209752"/>
            <a:ext cx="951708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'0', ch2 = 0x61, ch3 = 0x39;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0x61</a:t>
            </a: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码，不是数字字符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0x39</a:t>
            </a: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是数字字符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800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724" y="200008"/>
            <a:ext cx="78387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）检查字符是否为字母或数字字符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isalnum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733681"/>
            <a:ext cx="9475168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isalnum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字母或数字字符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91544" y="2204864"/>
            <a:ext cx="940916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'0', ch2 = 0x61, ch3 = 0x20;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ch1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是数字字符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0x61</a:t>
            </a: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码，是字母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0x20</a:t>
            </a: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是空格字符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 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码，不是字母和数字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200008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）将字符转换为小写字母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tolower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73304" y="918345"/>
            <a:ext cx="9307272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tolower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将字符转换为小写字母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如果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是字母，则返回其对应的小写字母，否则返回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91544" y="2404050"/>
            <a:ext cx="9289032" cy="249299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'A', ch2 = 0x62, ch3 = '8', c1, c2, c3;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c1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//c1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小写字母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'a'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c2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小写字母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    //ch2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0x62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c3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(ch3);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数字字符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    //ch3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不是字母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200008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）将字符转换为大写字母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toupper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788511"/>
            <a:ext cx="9487200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toupper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将字符转换为大写字母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如果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是字母，则返回其对应的大写字母，否则返回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31752" y="2232154"/>
            <a:ext cx="9492840" cy="249299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'a', ch2 = 0x62, ch3 = '8', c1, c2, c3;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c1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//c1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大写字母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'A'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c2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大写字母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   //ch2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0x62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是小写字符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c3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(ch3);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//c3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数字字符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   //ch3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中存放字符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不是字母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200008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）检查字符是否为控制字符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iscntrl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733681"/>
            <a:ext cx="9343184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iscntrl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检查字符是否为控制字符（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ASCII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码在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0~31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之间）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55448" y="2214554"/>
            <a:ext cx="9325128" cy="1938992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ch1 = 0x0d, ch2 = 0x62;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a, b;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iscntrl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，是控制字符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	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iscntrl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(ch2);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，不是控制字符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81281" name="Rectangle 1"/>
          <p:cNvSpPr>
            <a:spLocks noChangeArrowheads="1"/>
          </p:cNvSpPr>
          <p:nvPr/>
        </p:nvSpPr>
        <p:spPr bwMode="auto">
          <a:xfrm>
            <a:off x="356542" y="188640"/>
            <a:ext cx="48033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/>
            <a:r>
              <a:rPr lang="zh-CN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】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字符处理函数的应用。</a:t>
            </a:r>
          </a:p>
        </p:txBody>
      </p:sp>
      <p:sp>
        <p:nvSpPr>
          <p:cNvPr id="9" name="矩形 8"/>
          <p:cNvSpPr/>
          <p:nvPr/>
        </p:nvSpPr>
        <p:spPr>
          <a:xfrm>
            <a:off x="859458" y="670044"/>
            <a:ext cx="4228430" cy="3046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下面的程序是充分利用字符处理函数判断输入字符的种类（种类包括：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控制字符、数字字符、大写字母、小写字母及其它字符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），如果字符是大写字母，则输出其小写字母，如果是小写字母，则输出其大写字母。 </a:t>
            </a:r>
          </a:p>
        </p:txBody>
      </p:sp>
      <p:sp>
        <p:nvSpPr>
          <p:cNvPr id="10" name="Rectangle 20" descr="信纸"/>
          <p:cNvSpPr>
            <a:spLocks noChangeArrowheads="1"/>
          </p:cNvSpPr>
          <p:nvPr/>
        </p:nvSpPr>
        <p:spPr bwMode="auto">
          <a:xfrm>
            <a:off x="5499228" y="142853"/>
            <a:ext cx="6429420" cy="6555641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stdio.h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conio.h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ctype.h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main( )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char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("Enter a character: 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getche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 );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("\n");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if (</a:t>
            </a:r>
            <a:r>
              <a:rPr kumimoji="0"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iscntrl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    </a:t>
            </a:r>
            <a:r>
              <a:rPr kumimoji="0"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控制字符</a:t>
            </a:r>
            <a:endParaRPr kumimoji="0"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	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character is a control character\n");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isdigit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     </a:t>
            </a:r>
            <a:r>
              <a:rPr kumimoji="0"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数字字符</a:t>
            </a:r>
            <a:endParaRPr kumimoji="0"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character is a digit\n");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isupper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 {   </a:t>
            </a:r>
            <a:r>
              <a:rPr kumimoji="0"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大写字母</a:t>
            </a:r>
            <a:endParaRPr kumimoji="0"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("The character is a capital letter\n");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("lower letter is %c\n", </a:t>
            </a:r>
            <a:r>
              <a:rPr kumimoji="0"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tolower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)); }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islower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 {    </a:t>
            </a:r>
            <a:r>
              <a:rPr kumimoji="0"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小写字母</a:t>
            </a:r>
            <a:endParaRPr kumimoji="0" lang="en-US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character is a lower letter\n");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("capital letter is %c\n", </a:t>
            </a:r>
            <a:r>
              <a:rPr kumimoji="0"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toupper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)); }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else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("The character is other character\n");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19536" y="4819930"/>
            <a:ext cx="9433048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strlwr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char *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);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中的大写字母换成小写字母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23904" y="4797152"/>
            <a:ext cx="942868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[] = "Ab123cD";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strlwr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中的大写字母换成小写字母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ab123cd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200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683368" y="116632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、常用字符串处理函数</a:t>
            </a:r>
            <a:endParaRPr kumimoji="0" lang="zh-CN" altLang="en-US" sz="2800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itchFamily="49" charset="-122"/>
              <a:ea typeface="隶书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9324" y="663080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）转换为大写字符串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strupr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61456" y="1196753"/>
            <a:ext cx="9391128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strupr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char *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);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中的小写字母换成大写字母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48606" y="2571744"/>
            <a:ext cx="9392896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[] = "ab123cd";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strupr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中的小写字母换成大写字母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AB123CD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6474" y="4286257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）转换为小写字符串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strlwr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490497" grpId="0"/>
      <p:bldP spid="35" grpId="0"/>
      <p:bldP spid="36" grpId="0" animBg="1"/>
      <p:bldP spid="37" grpId="0" animBg="1"/>
      <p:bldP spid="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25464" y="4391301"/>
            <a:ext cx="9499128" cy="1569660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strchr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c);  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string.h</a:t>
            </a:r>
            <a:endParaRPr lang="zh-CN" altLang="zh-CN" sz="18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在字符串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中从前往后查找第一次出现字符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位置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NULL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172777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）设置字符串中的字符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strset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13078" y="714357"/>
            <a:ext cx="9511514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strset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char *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c);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中的所有字符都置换为字符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23904" y="2143116"/>
            <a:ext cx="950068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[] = "ABCD";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strset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'0');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中的所有字符都设置为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'0'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0000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6058" y="3857629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）字符串中查找某字符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strchr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1" name="矩形 10"/>
          <p:cNvSpPr/>
          <p:nvPr/>
        </p:nvSpPr>
        <p:spPr>
          <a:xfrm>
            <a:off x="1907504" y="5072074"/>
            <a:ext cx="951708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[] = "ABCDC";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'C');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str+2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'c');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19536" y="4581128"/>
            <a:ext cx="9505056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利用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strchr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函数可以有效判定某字符</a:t>
            </a:r>
            <a:r>
              <a:rPr lang="en-US" altLang="en-US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是否在字符串</a:t>
            </a:r>
            <a:r>
              <a:rPr lang="en-US" altLang="en-US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中存在，其方法为：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if 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 != NULL)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字符串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中找到了字符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ch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{     …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  <p:bldP spid="36" grpId="0" animBg="1"/>
      <p:bldP spid="37" grpId="0" animBg="1"/>
      <p:bldP spid="9" grpId="0"/>
      <p:bldP spid="11" grpId="0" animBg="1"/>
      <p:bldP spid="1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13248" y="4766274"/>
            <a:ext cx="9439336" cy="1877437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strstr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const char *str1, const char *str2);   </a:t>
            </a:r>
          </a:p>
          <a:p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  <a:sym typeface="Wingdings" pitchFamily="2" charset="2"/>
              </a:rPr>
              <a:t>      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在主串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中查找子串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第一次出现的位置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NULL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。如果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为空串，则返回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首地址。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1018908" y="172777"/>
            <a:ext cx="769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）字符串中反向查找某字符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strrchr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13078" y="714356"/>
            <a:ext cx="9439506" cy="1569660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strrchr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c);           </a:t>
            </a:r>
            <a:r>
              <a:rPr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string.h</a:t>
            </a:r>
            <a:endParaRPr lang="zh-CN" altLang="zh-CN" sz="18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在字符串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中从末尾往前查找第一次出现字符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位置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  <a:p>
            <a:pPr marL="893763" indent="-893763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NULL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9536" y="2495355"/>
            <a:ext cx="943304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[] = "ABCDCE";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strrchr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'C');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str+4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'c');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6058" y="4232601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）字符串中查找子串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strstr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1" name="矩形 10"/>
          <p:cNvSpPr/>
          <p:nvPr/>
        </p:nvSpPr>
        <p:spPr>
          <a:xfrm>
            <a:off x="1907504" y="5157192"/>
            <a:ext cx="944508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[] = "abc123def123";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"123");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str+3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"1234");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07504" y="4965600"/>
            <a:ext cx="9445080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      利用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strstr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函数可以有效判定某字符串</a:t>
            </a:r>
            <a:r>
              <a:rPr lang="en-US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中是否包含子串</a:t>
            </a:r>
            <a:r>
              <a:rPr lang="en-US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，其方法为：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if 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(str1, str2) != NULL)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字符串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str1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包含子串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str2</a:t>
            </a:r>
            <a:endParaRPr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{     …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  <p:bldP spid="36" grpId="0" animBg="1"/>
      <p:bldP spid="37" grpId="0" animBg="1"/>
      <p:bldP spid="9" grpId="0"/>
      <p:bldP spid="11" grpId="0" animBg="1"/>
      <p:bldP spid="1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682952" y="116632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、常用数据类型转换函数</a:t>
            </a:r>
            <a:endParaRPr kumimoji="0" lang="zh-CN" altLang="en-US" sz="2800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itchFamily="49" charset="-122"/>
              <a:ea typeface="隶书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8908" y="663080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字符串转换为双精度浮点数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1211268"/>
            <a:ext cx="9331152" cy="1569660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atof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);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所对应的双精度浮点数</a:t>
            </a:r>
          </a:p>
          <a:p>
            <a:pPr marL="901700" indent="-90170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实际上是无法转换成双精度浮点数的，那么返回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36574" y="3136900"/>
            <a:ext cx="9332908" cy="2308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double a;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("123");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123.000000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("1.23");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1.230000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("1e2");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100.000000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("1.2a");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1.200000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");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0.000000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01480" y="1107901"/>
            <a:ext cx="9451104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long  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atol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);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所对应的长整型数</a:t>
            </a:r>
          </a:p>
          <a:p>
            <a:pPr marL="901700" indent="-90170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实际上是无法转换成长整型数的，那么返回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888809" y="2858160"/>
            <a:ext cx="9452883" cy="1938992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long a;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("123");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123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("12.3");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=12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 ");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1006058" y="332657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字符串转换为长整型数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atol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61456" y="1107901"/>
            <a:ext cx="9319120" cy="1200329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long  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atoi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);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所对应的整型数</a:t>
            </a:r>
          </a:p>
          <a:p>
            <a:pPr marL="901700" indent="-90170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实际上是无法转换成整型数的，那么返回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948786" y="2858160"/>
            <a:ext cx="9320874" cy="2308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  <a:r>
              <a:rPr lang="en-US" altLang="zh-CN" dirty="0"/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("123");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123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("12.3");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=12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 ");    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");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");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1006058" y="332657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字符串转换为整型数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atoi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673424" y="885489"/>
            <a:ext cx="9679160" cy="1877437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char  *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ultoa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( unsigned long value, char *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radix);</a:t>
            </a:r>
          </a:p>
          <a:p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pPr marL="985838" indent="-985838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将无符号长整型数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value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转换成用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radix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进制表示的字符串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。进制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radix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必须在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2~36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之间。</a:t>
            </a:r>
          </a:p>
          <a:p>
            <a:pPr marL="901700" indent="-90170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的首地址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。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60754" y="2974300"/>
            <a:ext cx="9680982" cy="3046988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[10];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16);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十六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"a0"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"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十六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进制字符串为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: 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a0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8);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八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"240"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"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八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进制字符串为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: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240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5); 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五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"1120"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itchFamily="49" charset="-122"/>
              </a:rPr>
              <a:t>"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五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进制字符串为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: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　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1120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754961" y="332657"/>
            <a:ext cx="813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无符号长整型数转换成任意进制的字符串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ultoa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673424" y="836712"/>
            <a:ext cx="9679160" cy="1877437"/>
          </a:xfrm>
          <a:prstGeom prst="rect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sprintf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(char *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, const char *format, 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args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, </a:t>
            </a:r>
            <a:r>
              <a:rPr lang="zh-CN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…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); </a:t>
            </a:r>
          </a:p>
          <a:p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隶书" pitchFamily="49" charset="-122"/>
              </a:rPr>
              <a:t>stdio.h</a:t>
            </a:r>
            <a:endParaRPr lang="zh-CN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隶书" pitchFamily="49" charset="-122"/>
            </a:endParaRPr>
          </a:p>
          <a:p>
            <a:pPr marL="985838" indent="-985838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功能：将输出表列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args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的值按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format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规定的格式输出到字符串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中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。</a:t>
            </a:r>
          </a:p>
          <a:p>
            <a:pPr marL="901700" indent="-901700"/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如果格式字符串转换成功，而且结果也成功保存到数组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str</a:t>
            </a:r>
            <a:r>
              <a:rPr lang="zh-CN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当中，则返回保存到数组当中的字符个数，否则，返回一个负整数。 </a:t>
            </a:r>
            <a:endParaRPr lang="zh-CN" altLang="zh-CN" b="1" dirty="0"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60754" y="3068960"/>
            <a:ext cx="9680982" cy="3046988"/>
          </a:xfrm>
          <a:prstGeom prst="rect">
            <a:avLst/>
          </a:prstGeom>
          <a:solidFill>
            <a:schemeClr val="bg1"/>
          </a:solidFill>
          <a:ln w="38100">
            <a:solidFill>
              <a:srgbClr val="00660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例如：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char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[10];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a = 123;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"%08d", a);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存放字符串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"00000123"</a:t>
            </a:r>
            <a:endParaRPr lang="zh-CN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  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00000123</a:t>
            </a:r>
            <a:endParaRPr lang="zh-CN" altLang="zh-CN" sz="1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, "%-8d", a);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存放字符串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"123</a:t>
            </a:r>
            <a:r>
              <a:rPr lang="zh-CN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□□□□□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" </a:t>
            </a:r>
          </a:p>
          <a:p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                                                              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（□：表示空格）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("%s\n",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);         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123</a:t>
            </a:r>
            <a:r>
              <a:rPr lang="zh-CN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□□□□□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754961" y="200673"/>
            <a:ext cx="813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格式化字符串转换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sprintf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rPr>
              <a:t>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134" y="146050"/>
            <a:ext cx="5976938" cy="647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8.9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函数的封装</a:t>
            </a:r>
            <a:r>
              <a:rPr lang="zh-CN" altLang="en-US" dirty="0"/>
              <a:t> 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9487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948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8352800" y="2760202"/>
            <a:ext cx="2519362" cy="574675"/>
            <a:chOff x="3107" y="1979"/>
            <a:chExt cx="1587" cy="362"/>
          </a:xfrm>
        </p:grpSpPr>
        <p:sp>
          <p:nvSpPr>
            <p:cNvPr id="1129506" name="Oval 34"/>
            <p:cNvSpPr>
              <a:spLocks noChangeArrowheads="1"/>
            </p:cNvSpPr>
            <p:nvPr/>
          </p:nvSpPr>
          <p:spPr bwMode="auto">
            <a:xfrm>
              <a:off x="3107" y="1979"/>
              <a:ext cx="635" cy="36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08" name="Line 36"/>
            <p:cNvSpPr>
              <a:spLocks noChangeShapeType="1"/>
            </p:cNvSpPr>
            <p:nvPr/>
          </p:nvSpPr>
          <p:spPr bwMode="auto">
            <a:xfrm>
              <a:off x="3742" y="2160"/>
              <a:ext cx="9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5587375" y="3334876"/>
            <a:ext cx="5357812" cy="2089150"/>
            <a:chOff x="1365" y="2341"/>
            <a:chExt cx="3375" cy="1316"/>
          </a:xfrm>
        </p:grpSpPr>
        <p:sp>
          <p:nvSpPr>
            <p:cNvPr id="1129504" name="Oval 32"/>
            <p:cNvSpPr>
              <a:spLocks noChangeArrowheads="1"/>
            </p:cNvSpPr>
            <p:nvPr/>
          </p:nvSpPr>
          <p:spPr bwMode="auto">
            <a:xfrm>
              <a:off x="1365" y="3339"/>
              <a:ext cx="1134" cy="31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09" name="Line 37"/>
            <p:cNvSpPr>
              <a:spLocks noChangeShapeType="1"/>
            </p:cNvSpPr>
            <p:nvPr/>
          </p:nvSpPr>
          <p:spPr bwMode="auto">
            <a:xfrm flipV="1">
              <a:off x="2517" y="2341"/>
              <a:ext cx="2223" cy="113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29510" name="Picture 38" descr="j030525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2998475">
            <a:off x="10872162" y="2110913"/>
            <a:ext cx="1138238" cy="1828800"/>
          </a:xfrm>
          <a:prstGeom prst="rect">
            <a:avLst/>
          </a:prstGeom>
          <a:noFill/>
        </p:spPr>
      </p:pic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4896812" y="829801"/>
            <a:ext cx="5975350" cy="1930400"/>
            <a:chOff x="930" y="763"/>
            <a:chExt cx="3764" cy="1216"/>
          </a:xfrm>
        </p:grpSpPr>
        <p:sp>
          <p:nvSpPr>
            <p:cNvPr id="1129503" name="Oval 31"/>
            <p:cNvSpPr>
              <a:spLocks noChangeArrowheads="1"/>
            </p:cNvSpPr>
            <p:nvPr/>
          </p:nvSpPr>
          <p:spPr bwMode="auto">
            <a:xfrm>
              <a:off x="930" y="763"/>
              <a:ext cx="2086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07" name="Line 35"/>
            <p:cNvSpPr>
              <a:spLocks noChangeShapeType="1"/>
            </p:cNvSpPr>
            <p:nvPr/>
          </p:nvSpPr>
          <p:spPr bwMode="auto">
            <a:xfrm>
              <a:off x="3016" y="981"/>
              <a:ext cx="1678" cy="9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4018925" y="959976"/>
            <a:ext cx="5486400" cy="4356100"/>
            <a:chOff x="377" y="845"/>
            <a:chExt cx="3456" cy="2744"/>
          </a:xfrm>
        </p:grpSpPr>
        <p:sp>
          <p:nvSpPr>
            <p:cNvPr id="1129490" name="AutoShape 18"/>
            <p:cNvSpPr>
              <a:spLocks noChangeArrowheads="1"/>
            </p:cNvSpPr>
            <p:nvPr/>
          </p:nvSpPr>
          <p:spPr bwMode="auto">
            <a:xfrm>
              <a:off x="839" y="1480"/>
              <a:ext cx="2268" cy="127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491" name="Text Box 19"/>
            <p:cNvSpPr txBox="1">
              <a:spLocks noChangeArrowheads="1"/>
            </p:cNvSpPr>
            <p:nvPr/>
          </p:nvSpPr>
          <p:spPr bwMode="auto">
            <a:xfrm>
              <a:off x="1292" y="1933"/>
              <a:ext cx="13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隶书" pitchFamily="49" charset="-122"/>
                </a:rPr>
                <a:t>Ｂ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隶书" pitchFamily="49" charset="-122"/>
                </a:rPr>
                <a:t>lack Box</a:t>
              </a:r>
            </a:p>
          </p:txBody>
        </p:sp>
        <p:sp>
          <p:nvSpPr>
            <p:cNvPr id="1129492" name="Line 20"/>
            <p:cNvSpPr>
              <a:spLocks noChangeShapeType="1"/>
            </p:cNvSpPr>
            <p:nvPr/>
          </p:nvSpPr>
          <p:spPr bwMode="auto">
            <a:xfrm>
              <a:off x="1338" y="1162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494" name="Line 22"/>
            <p:cNvSpPr>
              <a:spLocks noChangeShapeType="1"/>
            </p:cNvSpPr>
            <p:nvPr/>
          </p:nvSpPr>
          <p:spPr bwMode="auto">
            <a:xfrm>
              <a:off x="1791" y="1162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495" name="Line 23"/>
            <p:cNvSpPr>
              <a:spLocks noChangeShapeType="1"/>
            </p:cNvSpPr>
            <p:nvPr/>
          </p:nvSpPr>
          <p:spPr bwMode="auto">
            <a:xfrm>
              <a:off x="2517" y="1162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496" name="Text Box 24"/>
            <p:cNvSpPr txBox="1">
              <a:spLocks noChangeArrowheads="1"/>
            </p:cNvSpPr>
            <p:nvPr/>
          </p:nvSpPr>
          <p:spPr bwMode="auto">
            <a:xfrm>
              <a:off x="2018" y="1026"/>
              <a:ext cx="4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000">
                  <a:solidFill>
                    <a:srgbClr val="00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…</a:t>
              </a:r>
            </a:p>
          </p:txBody>
        </p:sp>
        <p:sp>
          <p:nvSpPr>
            <p:cNvPr id="1129497" name="Text Box 25"/>
            <p:cNvSpPr txBox="1">
              <a:spLocks noChangeArrowheads="1"/>
            </p:cNvSpPr>
            <p:nvPr/>
          </p:nvSpPr>
          <p:spPr bwMode="auto">
            <a:xfrm>
              <a:off x="1020" y="845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1</a:t>
              </a:r>
            </a:p>
          </p:txBody>
        </p:sp>
        <p:sp>
          <p:nvSpPr>
            <p:cNvPr id="1129498" name="Text Box 26"/>
            <p:cNvSpPr txBox="1">
              <a:spLocks noChangeArrowheads="1"/>
            </p:cNvSpPr>
            <p:nvPr/>
          </p:nvSpPr>
          <p:spPr bwMode="auto">
            <a:xfrm>
              <a:off x="1556" y="854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2</a:t>
              </a:r>
            </a:p>
          </p:txBody>
        </p:sp>
        <p:sp>
          <p:nvSpPr>
            <p:cNvPr id="1129499" name="Text Box 27"/>
            <p:cNvSpPr txBox="1">
              <a:spLocks noChangeArrowheads="1"/>
            </p:cNvSpPr>
            <p:nvPr/>
          </p:nvSpPr>
          <p:spPr bwMode="auto">
            <a:xfrm>
              <a:off x="2263" y="863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n</a:t>
              </a:r>
            </a:p>
          </p:txBody>
        </p:sp>
        <p:sp>
          <p:nvSpPr>
            <p:cNvPr id="1129501" name="Line 29"/>
            <p:cNvSpPr>
              <a:spLocks noChangeShapeType="1"/>
            </p:cNvSpPr>
            <p:nvPr/>
          </p:nvSpPr>
          <p:spPr bwMode="auto">
            <a:xfrm>
              <a:off x="1882" y="2750"/>
              <a:ext cx="0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502" name="Text Box 30"/>
            <p:cNvSpPr txBox="1">
              <a:spLocks noChangeArrowheads="1"/>
            </p:cNvSpPr>
            <p:nvPr/>
          </p:nvSpPr>
          <p:spPr bwMode="auto">
            <a:xfrm>
              <a:off x="1610" y="3339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返回值</a:t>
              </a:r>
            </a:p>
          </p:txBody>
        </p:sp>
        <p:sp>
          <p:nvSpPr>
            <p:cNvPr id="1129505" name="Text Box 33"/>
            <p:cNvSpPr txBox="1">
              <a:spLocks noChangeArrowheads="1"/>
            </p:cNvSpPr>
            <p:nvPr/>
          </p:nvSpPr>
          <p:spPr bwMode="auto">
            <a:xfrm>
              <a:off x="3198" y="2024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功能</a:t>
              </a:r>
            </a:p>
          </p:txBody>
        </p:sp>
        <p:sp>
          <p:nvSpPr>
            <p:cNvPr id="1129511" name="AutoShape 39"/>
            <p:cNvSpPr>
              <a:spLocks/>
            </p:cNvSpPr>
            <p:nvPr/>
          </p:nvSpPr>
          <p:spPr bwMode="auto">
            <a:xfrm>
              <a:off x="612" y="890"/>
              <a:ext cx="181" cy="2585"/>
            </a:xfrm>
            <a:prstGeom prst="leftBrace">
              <a:avLst>
                <a:gd name="adj1" fmla="val 119015"/>
                <a:gd name="adj2" fmla="val 50000"/>
              </a:avLst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512" name="Text Box 40"/>
            <p:cNvSpPr txBox="1">
              <a:spLocks noChangeArrowheads="1"/>
            </p:cNvSpPr>
            <p:nvPr/>
          </p:nvSpPr>
          <p:spPr bwMode="auto">
            <a:xfrm>
              <a:off x="377" y="1888"/>
              <a:ext cx="317" cy="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函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数</a:t>
              </a:r>
            </a:p>
          </p:txBody>
        </p:sp>
      </p:grpSp>
      <p:sp>
        <p:nvSpPr>
          <p:cNvPr id="1129513" name="Rectangle 41"/>
          <p:cNvSpPr>
            <a:spLocks noChangeArrowheads="1"/>
          </p:cNvSpPr>
          <p:nvPr/>
        </p:nvSpPr>
        <p:spPr bwMode="auto">
          <a:xfrm>
            <a:off x="695400" y="1083508"/>
            <a:ext cx="3168352" cy="3785652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　　函数的封装使外界对函数的影响仅限于几个参数。函数的设计者可以专心于参数的处理和函数的实现，完全不必关心调用者是什么。而函数对外界的影响也仅限于一个返回值和指针、数组类型的参数。 </a:t>
            </a:r>
          </a:p>
        </p:txBody>
      </p:sp>
      <p:sp>
        <p:nvSpPr>
          <p:cNvPr id="1129514" name="Rectangle 42"/>
          <p:cNvSpPr>
            <a:spLocks noChangeArrowheads="1"/>
          </p:cNvSpPr>
          <p:nvPr/>
        </p:nvSpPr>
        <p:spPr bwMode="auto">
          <a:xfrm>
            <a:off x="4655840" y="200488"/>
            <a:ext cx="6997843" cy="461665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函数的参数和返回值的设计是封装中的关键一步！</a:t>
            </a:r>
            <a:r>
              <a:rPr lang="zh-CN" altLang="en-US" dirty="0"/>
              <a:t> </a:t>
            </a:r>
          </a:p>
        </p:txBody>
      </p:sp>
      <p:sp>
        <p:nvSpPr>
          <p:cNvPr id="1129515" name="Rectangle 43"/>
          <p:cNvSpPr>
            <a:spLocks noChangeArrowheads="1"/>
          </p:cNvSpPr>
          <p:nvPr/>
        </p:nvSpPr>
        <p:spPr bwMode="auto">
          <a:xfrm>
            <a:off x="695400" y="5541112"/>
            <a:ext cx="11161240" cy="1200329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　　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尽可能少用全局变量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，除非一个变量的值经常被程序中多个模块和函数使用，而且它的类型固定（随着程序的升级不会改变），并只有很有限的几个地方需要修改它，才非常适合定义为全局变量。</a:t>
            </a:r>
            <a:r>
              <a:rPr lang="zh-CN" altLang="en-US">
                <a:latin typeface="+mn-lt"/>
                <a:ea typeface="楷体" pitchFamily="49" charset="-122"/>
              </a:rPr>
              <a:t>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9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29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29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29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513" grpId="0" animBg="1"/>
      <p:bldP spid="1129514" grpId="0" animBg="1"/>
      <p:bldP spid="112951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1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134" y="146050"/>
            <a:ext cx="5976938" cy="647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8.10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函数应用综合举例</a:t>
            </a:r>
            <a:r>
              <a:rPr lang="zh-CN" altLang="en-US" dirty="0"/>
              <a:t> </a:t>
            </a:r>
          </a:p>
        </p:txBody>
      </p:sp>
      <p:sp>
        <p:nvSpPr>
          <p:cNvPr id="1117192" name="Rectangle 8"/>
          <p:cNvSpPr>
            <a:spLocks noChangeArrowheads="1"/>
          </p:cNvSpPr>
          <p:nvPr/>
        </p:nvSpPr>
        <p:spPr bwMode="auto">
          <a:xfrm>
            <a:off x="826472" y="692151"/>
            <a:ext cx="55226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1】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对两个任意长度的大整数求和</a:t>
            </a:r>
            <a:r>
              <a:rPr lang="zh-CN" altLang="en-US" dirty="0"/>
              <a:t> </a:t>
            </a:r>
          </a:p>
        </p:txBody>
      </p:sp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1055440" y="1340768"/>
            <a:ext cx="10657184" cy="1938992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b="1" u="sng" dirty="0">
                <a:ln w="1905"/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设计思想：</a:t>
            </a:r>
          </a:p>
          <a:p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楷体" pitchFamily="49" charset="-122"/>
              </a:rPr>
              <a:t>        由于</a:t>
            </a:r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楷体" pitchFamily="49" charset="-122"/>
              </a:rPr>
              <a:t>C</a:t>
            </a:r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ea typeface="楷体" pitchFamily="49" charset="-122"/>
              </a:rPr>
              <a:t>语言中对于整型数据来说都有其数据表示范围，当某个整数超出整型数据表示范围时，将无法用一个整型变量来存储它的，更不用说对这样的两个数进行求和了，为了解决这个问题，我们可以用数字字符串的形式来表示它们，然后通过对数字字符串进行相加就可以实现任意长度的大整数求和。 </a:t>
            </a:r>
          </a:p>
        </p:txBody>
      </p:sp>
      <p:grpSp>
        <p:nvGrpSpPr>
          <p:cNvPr id="1117231" name="Group 47"/>
          <p:cNvGrpSpPr>
            <a:grpSpLocks/>
          </p:cNvGrpSpPr>
          <p:nvPr/>
        </p:nvGrpSpPr>
        <p:grpSpPr bwMode="auto">
          <a:xfrm>
            <a:off x="2999656" y="3789040"/>
            <a:ext cx="6984776" cy="1728787"/>
            <a:chOff x="703" y="2523"/>
            <a:chExt cx="3674" cy="1089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7230" name="Rectangle 46"/>
            <p:cNvSpPr>
              <a:spLocks noChangeArrowheads="1"/>
            </p:cNvSpPr>
            <p:nvPr/>
          </p:nvSpPr>
          <p:spPr bwMode="auto">
            <a:xfrm>
              <a:off x="703" y="2523"/>
              <a:ext cx="3674" cy="1089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FF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17229" name="Group 45"/>
            <p:cNvGrpSpPr>
              <a:grpSpLocks/>
            </p:cNvGrpSpPr>
            <p:nvPr/>
          </p:nvGrpSpPr>
          <p:grpSpPr bwMode="auto">
            <a:xfrm>
              <a:off x="1004" y="2544"/>
              <a:ext cx="3053" cy="979"/>
              <a:chOff x="820" y="2488"/>
              <a:chExt cx="3053" cy="979"/>
            </a:xfrm>
          </p:grpSpPr>
          <p:sp>
            <p:nvSpPr>
              <p:cNvPr id="1117223" name="Text Box 39"/>
              <p:cNvSpPr txBox="1">
                <a:spLocks noChangeArrowheads="1"/>
              </p:cNvSpPr>
              <p:nvPr/>
            </p:nvSpPr>
            <p:spPr bwMode="auto">
              <a:xfrm>
                <a:off x="1338" y="2523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“</a:t>
                </a:r>
                <a:r>
                  <a:rPr lang="en-US" altLang="zh-CN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22222222222222222222</a:t>
                </a: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”</a:t>
                </a:r>
              </a:p>
            </p:txBody>
          </p:sp>
          <p:sp>
            <p:nvSpPr>
              <p:cNvPr id="1117224" name="Text Box 40"/>
              <p:cNvSpPr txBox="1">
                <a:spLocks noChangeArrowheads="1"/>
              </p:cNvSpPr>
              <p:nvPr/>
            </p:nvSpPr>
            <p:spPr bwMode="auto">
              <a:xfrm>
                <a:off x="1330" y="2795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“</a:t>
                </a:r>
                <a:r>
                  <a:rPr lang="en-US" altLang="zh-CN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33333333333333333333</a:t>
                </a: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”</a:t>
                </a:r>
              </a:p>
            </p:txBody>
          </p:sp>
          <p:sp>
            <p:nvSpPr>
              <p:cNvPr id="1117225" name="Text Box 41"/>
              <p:cNvSpPr txBox="1">
                <a:spLocks noChangeArrowheads="1"/>
              </p:cNvSpPr>
              <p:nvPr/>
            </p:nvSpPr>
            <p:spPr bwMode="auto">
              <a:xfrm>
                <a:off x="975" y="2779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＋</a:t>
                </a:r>
              </a:p>
            </p:txBody>
          </p:sp>
          <p:sp>
            <p:nvSpPr>
              <p:cNvPr id="1117226" name="Line 42"/>
              <p:cNvSpPr>
                <a:spLocks noChangeShapeType="1"/>
              </p:cNvSpPr>
              <p:nvPr/>
            </p:nvSpPr>
            <p:spPr bwMode="auto">
              <a:xfrm>
                <a:off x="833" y="3142"/>
                <a:ext cx="30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7227" name="Text Box 43"/>
              <p:cNvSpPr txBox="1">
                <a:spLocks noChangeArrowheads="1"/>
              </p:cNvSpPr>
              <p:nvPr/>
            </p:nvSpPr>
            <p:spPr bwMode="auto">
              <a:xfrm>
                <a:off x="1338" y="3179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“</a:t>
                </a:r>
                <a:r>
                  <a:rPr lang="en-US" altLang="zh-CN" b="1">
                    <a:solidFill>
                      <a:srgbClr val="CC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55555555555555555555</a:t>
                </a:r>
                <a:r>
                  <a:rPr lang="en-US" altLang="zh-CN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”</a:t>
                </a:r>
              </a:p>
            </p:txBody>
          </p:sp>
          <p:sp>
            <p:nvSpPr>
              <p:cNvPr id="1117228" name="Text Box 44"/>
              <p:cNvSpPr txBox="1">
                <a:spLocks noChangeArrowheads="1"/>
              </p:cNvSpPr>
              <p:nvPr/>
            </p:nvSpPr>
            <p:spPr bwMode="auto">
              <a:xfrm>
                <a:off x="820" y="2488"/>
                <a:ext cx="59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CC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隶书" pitchFamily="49" charset="-122"/>
                  </a:rPr>
                  <a:t>如：</a:t>
                </a:r>
              </a:p>
            </p:txBody>
          </p:sp>
        </p:grpSp>
      </p:grpSp>
      <p:grpSp>
        <p:nvGrpSpPr>
          <p:cNvPr id="1117232" name="Group 48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7233" name="Text Box 4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7234" name="Text Box 5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17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17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117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186" grpId="0" build="p" bldLvl="5" autoUpdateAnimBg="0"/>
      <p:bldP spid="1117192" grpId="0"/>
      <p:bldP spid="111722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553423" y="344537"/>
            <a:ext cx="5832475" cy="4092575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conio.h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string.h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endParaRPr kumimoji="0"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#define N  20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数字字符的个数</a:t>
            </a:r>
          </a:p>
          <a:p>
            <a:pPr marL="457200" indent="-457200"/>
            <a:endParaRPr kumimoji="0" lang="zh-CN" altLang="en-US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beep ( 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kumimoji="0"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GetNumberStr</a:t>
            </a:r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(char s[ ]);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kumimoji="0"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AddNumberStr</a:t>
            </a:r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(char a[ ], char b[ ], char c[ ]);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char </a:t>
            </a:r>
            <a:r>
              <a:rPr kumimoji="0"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AddChar</a:t>
            </a:r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(char ch1, char ch2);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kumimoji="0"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LeftTrim</a:t>
            </a:r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(char </a:t>
            </a:r>
            <a:r>
              <a:rPr kumimoji="0" lang="en-US" altLang="zh-CN" sz="20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</a:t>
            </a:r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 ]);</a:t>
            </a:r>
          </a:p>
          <a:p>
            <a:pPr marL="457200" indent="-457200"/>
            <a:endParaRPr kumimoji="0" lang="en-US" altLang="zh-CN" sz="2000" b="1" dirty="0">
              <a:solidFill>
                <a:srgbClr val="CC00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/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tag = 0;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进位标志，全局变量</a:t>
            </a:r>
          </a:p>
        </p:txBody>
      </p:sp>
      <p:sp>
        <p:nvSpPr>
          <p:cNvPr id="1118227" name="Rectangle 19" descr="信纸"/>
          <p:cNvSpPr>
            <a:spLocks noChangeArrowheads="1"/>
          </p:cNvSpPr>
          <p:nvPr/>
        </p:nvSpPr>
        <p:spPr bwMode="auto">
          <a:xfrm>
            <a:off x="6528543" y="1888371"/>
            <a:ext cx="5472113" cy="4708981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char a[N+1] = {0}, b[N+1] = {0}, c[N+2];</a:t>
            </a:r>
          </a:p>
          <a:p>
            <a:pPr marL="457200" indent="-457200"/>
            <a:endParaRPr kumimoji="0"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("a = 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while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(a) == 0)          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输入被加数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(a);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("\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nb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while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(b) == 0)          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输入加数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b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(b);</a:t>
            </a:r>
          </a:p>
          <a:p>
            <a:pPr marL="457200" indent="-457200"/>
            <a:endParaRPr kumimoji="0"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AddNumberStr</a:t>
            </a:r>
            <a:r>
              <a:rPr kumimoji="0" lang="en-US" altLang="zh-CN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(a, b, c);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计算和数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("\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na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+ b = %s \n", c);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显示计算结果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118228" name="Group 2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8229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8230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8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1118227" grpId="0" animBg="1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237" name="Rectangle 5" descr="信纸"/>
          <p:cNvSpPr>
            <a:spLocks noChangeArrowheads="1"/>
          </p:cNvSpPr>
          <p:nvPr/>
        </p:nvSpPr>
        <p:spPr bwMode="auto">
          <a:xfrm>
            <a:off x="946875" y="161926"/>
            <a:ext cx="5329237" cy="65309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读取数字字符串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(char s[ ])</a:t>
            </a:r>
            <a:endParaRPr kumimoji="0" lang="en-US" altLang="zh-CN" sz="20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0;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char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while ( 1 )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getch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 );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读取输入的字符，不显示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== '\r')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回车符，退出  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break;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if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== '\b')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退格符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if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&gt; 0) 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("%c %c",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--;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}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else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   beep ( 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continue;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}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//if</a:t>
            </a:r>
          </a:p>
        </p:txBody>
      </p:sp>
      <p:sp>
        <p:nvSpPr>
          <p:cNvPr id="1119239" name="Rectangle 7" descr="信纸"/>
          <p:cNvSpPr>
            <a:spLocks noChangeArrowheads="1"/>
          </p:cNvSpPr>
          <p:nvPr/>
        </p:nvSpPr>
        <p:spPr bwMode="auto">
          <a:xfrm>
            <a:off x="6863453" y="1918892"/>
            <a:ext cx="4537075" cy="4762500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dirty="0"/>
              <a:t>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if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 '0' ||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&gt; '9')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非数字字符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beep ( 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continue;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}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if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&lt; N)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数字字符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("%c",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s[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++]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}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else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 beep ( 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}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//while (1)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s[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 = '\0';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  </a:t>
            </a:r>
          </a:p>
        </p:txBody>
      </p:sp>
      <p:grpSp>
        <p:nvGrpSpPr>
          <p:cNvPr id="1119240" name="Group 8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9241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9242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B98FA8-61CC-4555-881B-B26EDB50FDFE}"/>
              </a:ext>
            </a:extLst>
          </p:cNvPr>
          <p:cNvGrpSpPr/>
          <p:nvPr/>
        </p:nvGrpSpPr>
        <p:grpSpPr>
          <a:xfrm>
            <a:off x="7588290" y="1135900"/>
            <a:ext cx="2900198" cy="1250676"/>
            <a:chOff x="7588290" y="1135900"/>
            <a:chExt cx="2900198" cy="1250676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3277D138-52DA-4B0D-BBB0-7E517B6441EE}"/>
                </a:ext>
              </a:extLst>
            </p:cNvPr>
            <p:cNvSpPr/>
            <p:nvPr/>
          </p:nvSpPr>
          <p:spPr bwMode="auto">
            <a:xfrm>
              <a:off x="7588290" y="1966527"/>
              <a:ext cx="1911964" cy="420049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" name="标注: 线形 2">
              <a:extLst>
                <a:ext uri="{FF2B5EF4-FFF2-40B4-BE49-F238E27FC236}">
                  <a16:creationId xmlns:a16="http://schemas.microsoft.com/office/drawing/2014/main" id="{469F4ED5-B01B-4CC2-BE95-D07FFC69651C}"/>
                </a:ext>
              </a:extLst>
            </p:cNvPr>
            <p:cNvSpPr/>
            <p:nvPr/>
          </p:nvSpPr>
          <p:spPr bwMode="auto">
            <a:xfrm>
              <a:off x="8832304" y="1135900"/>
              <a:ext cx="1656184" cy="553751"/>
            </a:xfrm>
            <a:prstGeom prst="borderCallout1">
              <a:avLst>
                <a:gd name="adj1" fmla="val 18750"/>
                <a:gd name="adj2" fmla="val -8333"/>
                <a:gd name="adj3" fmla="val 141218"/>
                <a:gd name="adj4" fmla="val -34308"/>
              </a:avLst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!</a:t>
              </a:r>
              <a:r>
                <a:rPr lang="en-US" altLang="zh-CN" b="1" dirty="0" err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isdigit</a:t>
              </a:r>
              <a:r>
                <a:rPr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(</a:t>
              </a:r>
              <a:r>
                <a:rPr lang="en-US" altLang="zh-CN" b="1" dirty="0" err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ch</a:t>
              </a:r>
              <a:r>
                <a:rPr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)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215A40D-55F4-44A8-9D2B-C741501E534E}"/>
              </a:ext>
            </a:extLst>
          </p:cNvPr>
          <p:cNvSpPr txBox="1"/>
          <p:nvPr/>
        </p:nvSpPr>
        <p:spPr>
          <a:xfrm>
            <a:off x="2329271" y="5073124"/>
            <a:ext cx="71669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452_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7C96AB-1410-477B-AA71-0FC54E9135C9}"/>
              </a:ext>
            </a:extLst>
          </p:cNvPr>
          <p:cNvSpPr txBox="1"/>
          <p:nvPr/>
        </p:nvSpPr>
        <p:spPr>
          <a:xfrm>
            <a:off x="3307566" y="5073124"/>
            <a:ext cx="7164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45</a:t>
            </a:r>
            <a:r>
              <a:rPr lang="en-US" altLang="zh-CN" sz="2000" b="1" u="sng" dirty="0">
                <a:solidFill>
                  <a:srgbClr val="FF0000"/>
                </a:solidFill>
              </a:rPr>
              <a:t>2</a:t>
            </a:r>
            <a:endParaRPr lang="zh-CN" altLang="en-US" sz="2000" b="1" u="sng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AA7BE1-8F4C-4DAA-BC27-E681298655FF}"/>
              </a:ext>
            </a:extLst>
          </p:cNvPr>
          <p:cNvSpPr txBox="1"/>
          <p:nvPr/>
        </p:nvSpPr>
        <p:spPr>
          <a:xfrm>
            <a:off x="4307819" y="5075245"/>
            <a:ext cx="71669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45 _</a:t>
            </a:r>
            <a:r>
              <a:rPr lang="en-US" altLang="zh-CN" sz="2000" b="1" u="sng" dirty="0">
                <a:solidFill>
                  <a:srgbClr val="FF0000"/>
                </a:solidFill>
              </a:rPr>
              <a:t> </a:t>
            </a:r>
            <a:endParaRPr lang="zh-CN" altLang="en-US" sz="2000" b="1" u="sng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CC1CD6-9326-41C2-AD3B-C37D5A49C7D9}"/>
              </a:ext>
            </a:extLst>
          </p:cNvPr>
          <p:cNvSpPr txBox="1"/>
          <p:nvPr/>
        </p:nvSpPr>
        <p:spPr>
          <a:xfrm>
            <a:off x="5307298" y="5085184"/>
            <a:ext cx="71669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45_</a:t>
            </a:r>
            <a:r>
              <a:rPr lang="en-US" altLang="zh-CN" sz="2000" b="1" u="sng" dirty="0">
                <a:solidFill>
                  <a:srgbClr val="FF0000"/>
                </a:solidFill>
              </a:rPr>
              <a:t> </a:t>
            </a:r>
            <a:endParaRPr lang="zh-CN" altLang="en-US" sz="2000" b="1" u="sng" dirty="0">
              <a:solidFill>
                <a:srgbClr val="FF000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FEA05F0-96B4-4371-8729-7C9C49B413E1}"/>
              </a:ext>
            </a:extLst>
          </p:cNvPr>
          <p:cNvCxnSpPr>
            <a:stCxn id="5" idx="3"/>
            <a:endCxn id="11" idx="1"/>
          </p:cNvCxnSpPr>
          <p:nvPr/>
        </p:nvCxnSpPr>
        <p:spPr bwMode="auto">
          <a:xfrm>
            <a:off x="3045965" y="527317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D467DEF-8E84-41E9-B276-6C34E554E710}"/>
              </a:ext>
            </a:extLst>
          </p:cNvPr>
          <p:cNvCxnSpPr/>
          <p:nvPr/>
        </p:nvCxnSpPr>
        <p:spPr bwMode="auto">
          <a:xfrm>
            <a:off x="4044138" y="529126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9B9D88C-0D93-4626-8C80-598E14EC6805}"/>
              </a:ext>
            </a:extLst>
          </p:cNvPr>
          <p:cNvCxnSpPr/>
          <p:nvPr/>
        </p:nvCxnSpPr>
        <p:spPr bwMode="auto">
          <a:xfrm>
            <a:off x="5035758" y="529126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39B780A-A46C-4F67-9946-D2A8152A3BF4}"/>
              </a:ext>
            </a:extLst>
          </p:cNvPr>
          <p:cNvSpPr/>
          <p:nvPr/>
        </p:nvSpPr>
        <p:spPr bwMode="auto">
          <a:xfrm>
            <a:off x="1609191" y="4469364"/>
            <a:ext cx="2952328" cy="36391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9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9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9237" grpId="0" animBg="1" autoUpdateAnimBg="0"/>
      <p:bldP spid="1119239" grpId="0" animBg="1" autoUpdateAnimBg="0"/>
      <p:bldP spid="5" grpId="0" animBg="1"/>
      <p:bldP spid="11" grpId="0" animBg="1"/>
      <p:bldP spid="12" grpId="0" animBg="1"/>
      <p:bldP spid="13" grpId="0" animBg="1"/>
      <p:bldP spid="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261" name="Rectangle 5" descr="信纸"/>
          <p:cNvSpPr>
            <a:spLocks noChangeArrowheads="1"/>
          </p:cNvSpPr>
          <p:nvPr/>
        </p:nvSpPr>
        <p:spPr bwMode="auto">
          <a:xfrm>
            <a:off x="4583498" y="404814"/>
            <a:ext cx="6912918" cy="6226175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计算两个数字字符串之和，放在</a:t>
            </a:r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kumimoji="0"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AddNumberStr</a:t>
            </a:r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(char a[ ], char b[ ], char c[ ])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i,j,k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memset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(c, ' ', N+2);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全部清空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(a) - 1;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j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(b) - 1;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k = N;</a:t>
            </a:r>
          </a:p>
          <a:p>
            <a:pPr marL="457200" indent="-457200"/>
            <a:r>
              <a:rPr kumimoji="0"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将被加数与加数按照从右向左的顺序相加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while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&gt;= 0 &amp;&amp; j &gt;= 0)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c[k--]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(a[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--], b[j--]);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while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&gt;= 0)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被加数没有加完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c[k--]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(a[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--], '0');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while (j &gt;= 0)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加数没有加完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c[k--] =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(b[j--], '0');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if (tag == 1)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最后有进位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,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将其放在和数的最高位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c[k] = '1';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c[N+1] = '\0';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LeftTrim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(c);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去掉字符串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左边的空格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120263" name="Rectangle 7" descr="信纸"/>
          <p:cNvSpPr>
            <a:spLocks noChangeArrowheads="1"/>
          </p:cNvSpPr>
          <p:nvPr/>
        </p:nvSpPr>
        <p:spPr bwMode="auto">
          <a:xfrm>
            <a:off x="1055514" y="399548"/>
            <a:ext cx="2952254" cy="1654175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响铃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beep ( )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("\07");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grpSp>
        <p:nvGrpSpPr>
          <p:cNvPr id="1120264" name="Group 8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0265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0266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0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0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0261" grpId="0" animBg="1" autoUpdateAnimBg="0"/>
      <p:bldP spid="1120263" grpId="0" animBg="1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285" name="Rectangle 5" descr="信纸"/>
          <p:cNvSpPr>
            <a:spLocks noChangeArrowheads="1"/>
          </p:cNvSpPr>
          <p:nvPr/>
        </p:nvSpPr>
        <p:spPr bwMode="auto">
          <a:xfrm>
            <a:off x="767259" y="459953"/>
            <a:ext cx="6192837" cy="59213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计算两个数字字符之和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char </a:t>
            </a:r>
            <a:r>
              <a:rPr kumimoji="0"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(char ch1, char ch2)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char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两数字字符所对应的数字与进位相加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(ch1-0x30 + ch2-0x30) + tag;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if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&gt;= 10)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结果大于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10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tag = 1;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有进位</a:t>
            </a:r>
          </a:p>
          <a:p>
            <a:pPr marL="457200" indent="-457200"/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将个位数减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10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后加上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0x30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转换成其数字字符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return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- 10 + 0x30);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else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结果小于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10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tag = 0;       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没进位</a:t>
            </a:r>
          </a:p>
          <a:p>
            <a:pPr marL="457200" indent="-457200"/>
            <a:r>
              <a:rPr kumimoji="0" lang="zh-CN" alt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将和数加上</a:t>
            </a:r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0x30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转换成其数字字符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return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+ 0x30);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}</a:t>
            </a:r>
          </a:p>
        </p:txBody>
      </p:sp>
      <p:sp>
        <p:nvSpPr>
          <p:cNvPr id="1121287" name="Rectangle 7" descr="信纸"/>
          <p:cNvSpPr>
            <a:spLocks noChangeArrowheads="1"/>
          </p:cNvSpPr>
          <p:nvPr/>
        </p:nvSpPr>
        <p:spPr bwMode="auto">
          <a:xfrm>
            <a:off x="7464152" y="1868537"/>
            <a:ext cx="4176464" cy="2568575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去掉字符串左边的空格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LeftTrim</a:t>
            </a:r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(char </a:t>
            </a:r>
            <a:r>
              <a:rPr kumimoji="0" lang="en-US" altLang="zh-CN" sz="20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[ ])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//</a:t>
            </a:r>
            <a:r>
              <a:rPr kumimoji="0" lang="zh-CN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查找第一个非空格字符的位置</a:t>
            </a:r>
          </a:p>
          <a:p>
            <a:pPr marL="457200" indent="-457200"/>
            <a:r>
              <a:rPr kumimoji="0"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for(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= 0;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[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] = = ' ';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++) 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strcpy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(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, </a:t>
            </a:r>
            <a:r>
              <a:rPr kumimoji="0"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str+i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 }</a:t>
            </a:r>
          </a:p>
        </p:txBody>
      </p:sp>
      <p:sp>
        <p:nvSpPr>
          <p:cNvPr id="1121288" name="Text Box 8"/>
          <p:cNvSpPr txBox="1">
            <a:spLocks noChangeArrowheads="1"/>
          </p:cNvSpPr>
          <p:nvPr/>
        </p:nvSpPr>
        <p:spPr bwMode="auto">
          <a:xfrm>
            <a:off x="7462639" y="4869160"/>
            <a:ext cx="4177977" cy="140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 = 12345678901234567890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↙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 = 99999999992222222222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↙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 + b = 112345678893456790112</a:t>
            </a:r>
          </a:p>
        </p:txBody>
      </p:sp>
      <p:grpSp>
        <p:nvGrpSpPr>
          <p:cNvPr id="1121289" name="Group 9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1290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1291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1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1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1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285" grpId="0" animBg="1" autoUpdateAnimBg="0"/>
      <p:bldP spid="1121287" grpId="0" animBg="1" autoUpdateAnimBg="0"/>
      <p:bldP spid="1121288" grpId="0" animBg="1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192" name="Rectangle 8"/>
          <p:cNvSpPr>
            <a:spLocks noChangeArrowheads="1"/>
          </p:cNvSpPr>
          <p:nvPr/>
        </p:nvSpPr>
        <p:spPr bwMode="auto">
          <a:xfrm>
            <a:off x="499418" y="214290"/>
            <a:ext cx="1128521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2】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通过键盘输入一段英文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（包含空格、逗号、句号及英文字母）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，然后分离出单词，并以每个单词出现的次数从高到低输出单词及其次数，次数相同的单词以其对应字符串大小升序输出。</a:t>
            </a:r>
          </a:p>
        </p:txBody>
      </p:sp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695400" y="1628800"/>
            <a:ext cx="11089232" cy="3477875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000" b="1" u="sng" dirty="0">
                <a:ln w="1905"/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设计思想：</a:t>
            </a:r>
            <a:r>
              <a:rPr lang="zh-CN" altLang="en-US" sz="2000" b="1" dirty="0">
                <a:ln w="1905"/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隶书" pitchFamily="49" charset="-122"/>
                <a:ea typeface="隶书" pitchFamily="49" charset="-122"/>
              </a:rPr>
              <a:t>  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根据题目要求，主要完成三项功能：</a:t>
            </a:r>
          </a:p>
          <a:p>
            <a:r>
              <a:rPr lang="en-US" altLang="zh-CN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         </a:t>
            </a:r>
            <a:r>
              <a:rPr lang="en-US" altLang="zh-CN" sz="2000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、通过键盘输入一段英文。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因为输入的短文中只能包含空格、逗号、句号及英文字母，所以不能简单地用库函数</a:t>
            </a:r>
            <a:r>
              <a:rPr 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gets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或</a:t>
            </a:r>
            <a:r>
              <a:rPr lang="en-US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scanf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来完成。参照例</a:t>
            </a:r>
            <a:r>
              <a:rPr 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中用于读取数字字符串的自定义函数</a:t>
            </a:r>
            <a:r>
              <a:rPr lang="en-US" sz="2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GetNumberStr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的方法，可以自定义一个读取英文短文的函数</a:t>
            </a:r>
            <a:r>
              <a:rPr lang="en-US" sz="2000" b="1" dirty="0" err="1">
                <a:ln w="1905"/>
                <a:solidFill>
                  <a:srgbClr val="CC00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GetPassage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，读取的英文短文存储在事先定义的字符数组中。</a:t>
            </a:r>
            <a:r>
              <a:rPr 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  <a:p>
            <a:r>
              <a:rPr lang="en-US" altLang="en-US" sz="2000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         2</a:t>
            </a:r>
            <a:r>
              <a:rPr lang="zh-CN" altLang="en-US" sz="2000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、对输入的英文短文进行单词分离并计数。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这里面又有两个主要问题要解决：</a:t>
            </a:r>
          </a:p>
          <a:p>
            <a:r>
              <a:rPr lang="zh-CN" altLang="en-US" sz="2000" b="1" dirty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        </a:t>
            </a:r>
            <a:r>
              <a:rPr lang="en-US" altLang="zh-CN" sz="2000" b="1" dirty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(</a:t>
            </a:r>
            <a:r>
              <a:rPr lang="en-US" altLang="en-US" sz="2000" b="1" dirty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1)</a:t>
            </a:r>
            <a:r>
              <a:rPr lang="zh-CN" altLang="en-US" sz="2000" b="1" dirty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如何分离单词？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单词分解可以对短文字符串中的字符从头到尾进行逐一扫描，如果当前扫描到的字符不是字母，则继续往后扫描，直到扫描到第一个字母，则说明是一个新单词开始，此时可以边扫描边提取单词，直到扫描到的非字母字符，表示该单词提取完毕。提取的单词串可以用一个字符数组来存储。后面单词的提取方法均以此法进行，直到整个短文串扫描完为止。单词分离可以自定义一个函数</a:t>
            </a:r>
            <a:r>
              <a:rPr lang="en-US" altLang="en-US" sz="2000" b="1" dirty="0" err="1">
                <a:ln w="1905"/>
                <a:solidFill>
                  <a:srgbClr val="CC00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WordSepa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来完成。</a:t>
            </a:r>
          </a:p>
        </p:txBody>
      </p: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7233" name="Text Box 4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7234" name="Text Box 5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607658" y="232229"/>
            <a:ext cx="11320990" cy="1631216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         </a:t>
            </a:r>
            <a:r>
              <a:rPr lang="en-US" altLang="en-US" sz="2000" b="1" dirty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(2)</a:t>
            </a:r>
            <a:r>
              <a:rPr lang="zh-CN" altLang="en-US" sz="2000" b="1" dirty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分离的单词如何保存并计数？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可以定义一个字符串数组（即字符型二维数组），该数组的每一行的第</a:t>
            </a:r>
            <a:r>
              <a:rPr lang="en-US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列开始存放单词串，第</a:t>
            </a:r>
            <a:r>
              <a:rPr lang="en-US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0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列用于存放该单词出现的次数，其存储结构如下图所示。每次分离出单词，首先在字符串数组中进行单词查找，如果找到，则只将单词计数加</a:t>
            </a:r>
            <a:r>
              <a:rPr lang="en-US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即可，如果找不到，则将该单词添加到字符串数组中，其单词计数置为</a:t>
            </a:r>
            <a:r>
              <a:rPr lang="en-US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。单词保存及计数可以自定义一个函数</a:t>
            </a:r>
            <a:r>
              <a:rPr lang="en-US" altLang="en-US" sz="2000" b="1" dirty="0" err="1">
                <a:ln w="1905"/>
                <a:solidFill>
                  <a:srgbClr val="CC00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SaveWord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来完成。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7233" name="Text Box 49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7234" name="Text Box 50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3960440" y="2442722"/>
          <a:ext cx="6096000" cy="2225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19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1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'G'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'r'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'n'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4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'i'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's'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2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'o'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'n'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ea"/>
                          <a:ea typeface="+mj-ea"/>
                          <a:cs typeface="Times New Roman"/>
                        </a:rPr>
                        <a:t>︙</a:t>
                      </a:r>
                      <a:endParaRPr lang="zh-CN" sz="1800" b="1" kern="100" dirty="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2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'l'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'f'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't'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2198260" y="2813766"/>
          <a:ext cx="11430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word[0]</a:t>
                      </a:r>
                      <a:endParaRPr lang="zh-CN" altLang="en-US" b="1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word[1]</a:t>
                      </a:r>
                      <a:endParaRPr lang="zh-CN" altLang="en-US" b="1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word[2]</a:t>
                      </a:r>
                      <a:endParaRPr lang="zh-CN" altLang="en-US" b="1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Times New Roman"/>
                        </a:rPr>
                        <a:t>︙</a:t>
                      </a:r>
                      <a:endParaRPr lang="zh-CN" altLang="en-US" sz="1800" b="1" kern="1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word[49]</a:t>
                      </a:r>
                      <a:endParaRPr lang="zh-CN" altLang="en-US" b="1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3355122" y="3014226"/>
            <a:ext cx="585358" cy="1474078"/>
            <a:chOff x="2014086" y="3357562"/>
            <a:chExt cx="585358" cy="1474078"/>
          </a:xfrm>
        </p:grpSpPr>
        <p:cxnSp>
          <p:nvCxnSpPr>
            <p:cNvPr id="33" name="直接箭头连接符 32"/>
            <p:cNvCxnSpPr/>
            <p:nvPr/>
          </p:nvCxnSpPr>
          <p:spPr bwMode="auto">
            <a:xfrm>
              <a:off x="2027940" y="3357562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>
              <a:off x="2014086" y="3720091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>
              <a:off x="2014086" y="4085796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6" name="直接箭头连接符 35"/>
            <p:cNvCxnSpPr/>
            <p:nvPr/>
          </p:nvCxnSpPr>
          <p:spPr bwMode="auto">
            <a:xfrm>
              <a:off x="2014086" y="4830052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pSp>
        <p:nvGrpSpPr>
          <p:cNvPr id="45" name="组合 44"/>
          <p:cNvGrpSpPr/>
          <p:nvPr/>
        </p:nvGrpSpPr>
        <p:grpSpPr>
          <a:xfrm>
            <a:off x="4055648" y="2840454"/>
            <a:ext cx="3786214" cy="2470454"/>
            <a:chOff x="2714612" y="2840454"/>
            <a:chExt cx="3786214" cy="2470454"/>
          </a:xfrm>
        </p:grpSpPr>
        <p:sp>
          <p:nvSpPr>
            <p:cNvPr id="38" name="椭圆 37"/>
            <p:cNvSpPr/>
            <p:nvPr/>
          </p:nvSpPr>
          <p:spPr bwMode="auto">
            <a:xfrm>
              <a:off x="2714612" y="2840454"/>
              <a:ext cx="357190" cy="1857388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线形标注 2 39"/>
            <p:cNvSpPr/>
            <p:nvPr/>
          </p:nvSpPr>
          <p:spPr bwMode="auto">
            <a:xfrm>
              <a:off x="3643306" y="4882280"/>
              <a:ext cx="2857520" cy="42862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58582"/>
                <a:gd name="adj6" fmla="val -24070"/>
              </a:avLst>
            </a:prstGeom>
            <a:gradFill flip="none" rotWithShape="1">
              <a:gsLst>
                <a:gs pos="0">
                  <a:srgbClr val="FFFFCC">
                    <a:shade val="30000"/>
                    <a:satMod val="115000"/>
                  </a:srgbClr>
                </a:gs>
                <a:gs pos="50000">
                  <a:srgbClr val="FFFFCC">
                    <a:shade val="67500"/>
                    <a:satMod val="115000"/>
                  </a:srgbClr>
                </a:gs>
                <a:gs pos="100000">
                  <a:srgbClr val="FFFFCC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zh-CN" altLang="en-US" sz="1800" b="1" dirty="0">
                  <a:solidFill>
                    <a:srgbClr val="CC009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单词出现的次数</a:t>
              </a:r>
              <a:r>
                <a:rPr lang="en-US" sz="1800" b="1" dirty="0">
                  <a:solidFill>
                    <a:srgbClr val="CC009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word[</a:t>
              </a:r>
              <a:r>
                <a:rPr lang="en-US" sz="1800" b="1" dirty="0" err="1">
                  <a:solidFill>
                    <a:srgbClr val="CC009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i</a:t>
              </a:r>
              <a:r>
                <a:rPr lang="en-US" sz="1800" b="1" dirty="0">
                  <a:solidFill>
                    <a:srgbClr val="CC009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楷体" pitchFamily="49" charset="-122"/>
                </a:rPr>
                <a:t>][0]</a:t>
              </a:r>
              <a:endParaRPr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43" name="Rectangle 38"/>
          <p:cNvSpPr>
            <a:spLocks noChangeArrowheads="1"/>
          </p:cNvSpPr>
          <p:nvPr/>
        </p:nvSpPr>
        <p:spPr bwMode="auto">
          <a:xfrm>
            <a:off x="635366" y="5573306"/>
            <a:ext cx="11365289" cy="1015663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         </a:t>
            </a:r>
            <a:r>
              <a:rPr lang="en-US" altLang="en-US" sz="2000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3</a:t>
            </a:r>
            <a:r>
              <a:rPr lang="zh-CN" altLang="en-US" sz="2000" b="1" dirty="0">
                <a:ln w="1905"/>
                <a:solidFill>
                  <a:srgbClr val="FF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、对单词进行排序。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本排序是双关键字排序，单词出现的次数是第一关键字，降序排列；单词串是第二关键字，当单词出现次数相同时，按照单词串升序排列。排序算法可采用选择排序或冒泡排序来实现。单词排序可以自定义一个函数</a:t>
            </a:r>
            <a:r>
              <a:rPr lang="en-US" altLang="en-US" sz="2000" b="1" dirty="0" err="1">
                <a:ln w="1905"/>
                <a:solidFill>
                  <a:srgbClr val="CC00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SortWord</a:t>
            </a:r>
            <a:r>
              <a:rPr lang="zh-CN" alt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来完成。</a:t>
            </a:r>
          </a:p>
        </p:txBody>
      </p:sp>
      <p:sp>
        <p:nvSpPr>
          <p:cNvPr id="44" name="矩形 43"/>
          <p:cNvSpPr/>
          <p:nvPr/>
        </p:nvSpPr>
        <p:spPr>
          <a:xfrm>
            <a:off x="1983946" y="2078605"/>
            <a:ext cx="5000660" cy="40011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定义字符串数组：</a:t>
            </a:r>
            <a:r>
              <a:rPr lang="en-US" altLang="en-US" sz="20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楷体" pitchFamily="49" charset="-122"/>
              </a:rPr>
              <a:t>char word[50][20] = {0};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7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222" grpId="0" animBg="1"/>
      <p:bldP spid="43" grpId="0" animBg="1"/>
      <p:bldP spid="4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67736" y="142852"/>
            <a:ext cx="6336376" cy="6463308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conio.h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ctype.h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string.h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#define N  200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beep( 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]);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], char word[ ][20]);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], char word[ ][20]);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SortWord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 ][20]);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word[][20]);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main(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char text[N+1], word[50][20] = {0};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(text);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(text, 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SortWord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  <a:endParaRPr kumimoji="0" lang="zh-CN" altLang="en-US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18227" name="Rectangle 19" descr="信纸"/>
          <p:cNvSpPr>
            <a:spLocks noChangeArrowheads="1"/>
          </p:cNvSpPr>
          <p:nvPr/>
        </p:nvSpPr>
        <p:spPr bwMode="auto">
          <a:xfrm>
            <a:off x="7608168" y="5157192"/>
            <a:ext cx="2880320" cy="1477328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响铃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beep(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("\07");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8229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8230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8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1118227" grpId="0" animBg="1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88164" y="323333"/>
            <a:ext cx="4803780" cy="6186309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读取英文短文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[])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char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while ( 1 )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 );   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读取输入的字符，不显示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== '\r')   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回车符，退出  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break;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== '\b')  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退格符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&gt; 0)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{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("%c %c",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--;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else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beep 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  //if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8229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8230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5951984" y="1977360"/>
            <a:ext cx="5832475" cy="4524315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(!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','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'.'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 ') 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非字母、逗号、句号、空格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beep(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&lt; N) 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字母、逗号、句号、空格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("%c",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++] 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else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beep 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  //while (1)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 = '\0';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  <a:endParaRPr kumimoji="0" lang="zh-CN" altLang="en-US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7" grpId="0" animBg="1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88164" y="582772"/>
            <a:ext cx="5019804" cy="5632311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单词分解       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[], 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  <a:endParaRPr kumimoji="0" lang="en-US" altLang="zh-CN" sz="1800" b="1" dirty="0" err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  int i, j;</a:t>
            </a:r>
          </a:p>
          <a:p>
            <a:pPr marL="457200" indent="-457200"/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  char 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[20];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 != '\0';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(!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]))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j =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while(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]))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[j++] = str[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++];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[j] = '\0';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8229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8230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6399298" y="57561"/>
            <a:ext cx="5361270" cy="6740307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单词保存</a:t>
            </a:r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[], 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&gt;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stricmp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]+1) == 0)</a:t>
            </a:r>
            <a:endParaRPr kumimoji="0"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   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找到了单词</a:t>
            </a:r>
            <a:endParaRPr kumimoji="0" lang="en-US" altLang="zh-CN" sz="16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][0]++; 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return;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没有找到单词，加入到</a:t>
            </a:r>
            <a:r>
              <a:rPr kumimoji="0"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word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strcpy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= 1;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显示单词及出现的次数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sorting statistics</a:t>
            </a:r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：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");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&gt;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("%s(%d) ",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("\n");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7" grpId="0" animBg="1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18229" name="Text Box 21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18230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734730" y="365678"/>
            <a:ext cx="5289262" cy="6186309"/>
          </a:xfrm>
          <a:prstGeom prst="rect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单词排序（采用选择排序）。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SortWord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word[][20])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j, k;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char temp[20];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for(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= 0;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][0] &gt;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k 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for(j = i+1; word[j][0] &gt; 0; j++)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	if ((word[j][0] &gt; word[k][0]) ||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	     (word[j][0] == word[k][0] &amp;&amp;                                   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stricmp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(word[j]+1,word[k]+1) &lt; 0))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	      k = j;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if (k !=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	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(temp,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]);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	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], word[k]);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(word[k], temp);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}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80F7BE6E-B17E-4B29-B2D0-CFEFA2D15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024" y="4524796"/>
            <a:ext cx="5616624" cy="2000548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/>
              <a:t>Green is on the left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Red is on the Right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the right is afraid of water, the left is afraid of insects.</a:t>
            </a:r>
          </a:p>
          <a:p>
            <a:r>
              <a:rPr kumimoji="0" lang="en-US" altLang="zh-CN" sz="2000" b="1" dirty="0">
                <a:solidFill>
                  <a:srgbClr val="0000FF"/>
                </a:solidFill>
              </a:rPr>
              <a:t>Word sorting statistics</a:t>
            </a:r>
            <a:r>
              <a:rPr kumimoji="0" lang="zh-CN" altLang="en-US" sz="2000" b="1" dirty="0">
                <a:solidFill>
                  <a:srgbClr val="0000FF"/>
                </a:solidFill>
              </a:rPr>
              <a:t>： </a:t>
            </a:r>
            <a:r>
              <a:rPr lang="en-US" altLang="zh-CN" sz="2000" b="1" dirty="0">
                <a:solidFill>
                  <a:srgbClr val="FF3300"/>
                </a:solidFill>
              </a:rPr>
              <a:t>is(4)  the(4) afraid(2)  left(2)  of(2)  on(2)  right(2) Green(1)  insects(1)  Red(1)  water(1)</a:t>
            </a:r>
            <a:r>
              <a:rPr lang="en-US" altLang="zh-CN" sz="2000" b="1" dirty="0"/>
              <a:t>  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309" name="Rectangle 5"/>
          <p:cNvSpPr>
            <a:spLocks noChangeArrowheads="1"/>
          </p:cNvSpPr>
          <p:nvPr/>
        </p:nvSpPr>
        <p:spPr bwMode="auto">
          <a:xfrm>
            <a:off x="539135" y="116632"/>
            <a:ext cx="23542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本章小结</a:t>
            </a:r>
            <a:r>
              <a:rPr lang="zh-CN" altLang="en-US" dirty="0"/>
              <a:t> </a:t>
            </a:r>
          </a:p>
        </p:txBody>
      </p:sp>
      <p:sp>
        <p:nvSpPr>
          <p:cNvPr id="1122312" name="Rectangle 8"/>
          <p:cNvSpPr>
            <a:spLocks noChangeArrowheads="1"/>
          </p:cNvSpPr>
          <p:nvPr/>
        </p:nvSpPr>
        <p:spPr bwMode="auto">
          <a:xfrm>
            <a:off x="1415274" y="1173136"/>
            <a:ext cx="10225342" cy="2936188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标准库函数：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系统提供的函数；</a:t>
            </a:r>
          </a:p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用户自定义函数：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由用户自己定义的函数；</a:t>
            </a:r>
          </a:p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有返回值的函数：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向调用者返回函数值，应说明函数类型（即返回值的类型）；</a:t>
            </a:r>
          </a:p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无返回值的函数：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不返回函数值，说明为空（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void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）类型；</a:t>
            </a:r>
          </a:p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有参函数：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主调函数向被调函数传送数据；</a:t>
            </a:r>
          </a:p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无参函数：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主调函数与被调函数间无数据传送；</a:t>
            </a:r>
          </a:p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内部函数：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只能在本源文件中使用的函数；</a:t>
            </a:r>
          </a:p>
          <a:p>
            <a:pPr>
              <a:lnSpc>
                <a:spcPts val="2800"/>
              </a:lnSpc>
              <a:buClr>
                <a:srgbClr val="00660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外部函数：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可在整个源程序中使用的函数。</a:t>
            </a:r>
          </a:p>
        </p:txBody>
      </p:sp>
      <p:sp>
        <p:nvSpPr>
          <p:cNvPr id="1122313" name="Rectangle 9"/>
          <p:cNvSpPr>
            <a:spLocks noChangeArrowheads="1"/>
          </p:cNvSpPr>
          <p:nvPr/>
        </p:nvSpPr>
        <p:spPr bwMode="auto">
          <a:xfrm>
            <a:off x="856635" y="619280"/>
            <a:ext cx="2176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、函数的分类</a:t>
            </a:r>
          </a:p>
        </p:txBody>
      </p:sp>
      <p:sp>
        <p:nvSpPr>
          <p:cNvPr id="1122314" name="Rectangle 10"/>
          <p:cNvSpPr>
            <a:spLocks noChangeArrowheads="1"/>
          </p:cNvSpPr>
          <p:nvPr/>
        </p:nvSpPr>
        <p:spPr bwMode="auto">
          <a:xfrm>
            <a:off x="856635" y="4302339"/>
            <a:ext cx="34339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、函数定义的一般形式</a:t>
            </a:r>
          </a:p>
        </p:txBody>
      </p:sp>
      <p:sp>
        <p:nvSpPr>
          <p:cNvPr id="1122315" name="Text Box 11"/>
          <p:cNvSpPr txBox="1">
            <a:spLocks noChangeArrowheads="1"/>
          </p:cNvSpPr>
          <p:nvPr/>
        </p:nvSpPr>
        <p:spPr bwMode="auto">
          <a:xfrm>
            <a:off x="1400695" y="4809952"/>
            <a:ext cx="10239921" cy="503238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[extern/static] 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类型说明符  函数名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([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形参列表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])  { 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声明部分   执行部分 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}</a:t>
            </a:r>
          </a:p>
        </p:txBody>
      </p:sp>
      <p:grpSp>
        <p:nvGrpSpPr>
          <p:cNvPr id="1122317" name="Group 13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2318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2319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67397" y="5529398"/>
            <a:ext cx="5586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、函数说明的一般形式 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400676" y="6004260"/>
            <a:ext cx="5703436" cy="503237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[extern] 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类型说明符  函数名（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形参列表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]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）；</a:t>
            </a:r>
            <a:r>
              <a:rPr lang="zh-CN" altLang="en-US" dirty="0">
                <a:latin typeface="+mn-lt"/>
                <a:ea typeface="隶书" pitchFamily="49" charset="-122"/>
              </a:rPr>
              <a:t> 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隶书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104113" y="5527182"/>
            <a:ext cx="475252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b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、函数调用的一般形式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8040216" y="6002228"/>
            <a:ext cx="3600400" cy="503238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shade val="69804"/>
                  <a:invGamma/>
                </a:srgbClr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函数名（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[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实参列表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]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隶书" pitchFamily="49" charset="-122"/>
              </a:rPr>
              <a:t>）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22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122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2312" grpId="0" animBg="1"/>
      <p:bldP spid="1122313" grpId="0"/>
      <p:bldP spid="1122314" grpId="0"/>
      <p:bldP spid="1122315" grpId="0" animBg="1"/>
      <p:bldP spid="10" grpId="0"/>
      <p:bldP spid="11" grpId="0" animBg="1"/>
      <p:bldP spid="12" grpId="0"/>
      <p:bldP spid="1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33" name="Rectangle 5"/>
          <p:cNvSpPr>
            <a:spLocks noChangeArrowheads="1"/>
          </p:cNvSpPr>
          <p:nvPr/>
        </p:nvSpPr>
        <p:spPr bwMode="auto">
          <a:xfrm>
            <a:off x="539135" y="57150"/>
            <a:ext cx="23542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本章小结</a:t>
            </a:r>
            <a:r>
              <a:rPr lang="zh-CN" altLang="en-US"/>
              <a:t> </a:t>
            </a:r>
          </a:p>
        </p:txBody>
      </p:sp>
      <p:sp>
        <p:nvSpPr>
          <p:cNvPr id="1123341" name="Rectangle 13"/>
          <p:cNvSpPr>
            <a:spLocks noChangeArrowheads="1"/>
          </p:cNvSpPr>
          <p:nvPr/>
        </p:nvSpPr>
        <p:spPr bwMode="auto">
          <a:xfrm>
            <a:off x="578854" y="714640"/>
            <a:ext cx="11133770" cy="5090624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函数的参数分为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形参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实参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两种，形参出现在函数定义中，实参出现在函数调用中，发生函数调用时，将把实参的值传送给形参。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函数的值是指函数的返回值，它是在函数中由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return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语句返回的。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函数调用时参数的传递方式有两种：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传值调用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传址调用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450850" lvl="1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Ｃ语言中，不允许函数嵌套定义，但允许函数的嵌套调用和函数的递归调用。</a:t>
            </a:r>
            <a:endParaRPr lang="en-US" altLang="zh-CN" sz="2000" b="1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0850" lvl="1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可从三个方面对变量分类，即变量的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数据类型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，变量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作用域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和变量的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存储类型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变量的作用域是指变量在程序中的有效范围，分为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局部变量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全局变量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。局部变量和形参的作用域是函数内部，全局变量的作用域是整个文件。但可以通过声明一个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extern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的全局变量扩展全局变量的作用域，也可以通过定义一个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static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的全局变量限制这种扩展。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变量的存储类型是指变量在内存中的存储方式，分为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静态存储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动态存储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，表示了变量的生存期。动态存储类型的变量有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auto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型、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register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型，静态存储类型的变量有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extern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型、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static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型。静态的局部变量只能被赋一次初值，并且生存期与全局变量相同，但作用域仍是函数内部。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当小作用域内的变量名与大作用域内的变量名同名时，在小作用域内引用这个变量时，遵从最小作用域原则</a:t>
            </a:r>
          </a:p>
        </p:txBody>
      </p:sp>
      <p:grpSp>
        <p:nvGrpSpPr>
          <p:cNvPr id="1123343" name="Group 15"/>
          <p:cNvGrpSpPr>
            <a:grpSpLocks/>
          </p:cNvGrpSpPr>
          <p:nvPr/>
        </p:nvGrpSpPr>
        <p:grpSpPr bwMode="auto">
          <a:xfrm>
            <a:off x="-616" y="0"/>
            <a:ext cx="446088" cy="6858000"/>
            <a:chOff x="0" y="0"/>
            <a:chExt cx="281" cy="4320"/>
          </a:xfrm>
        </p:grpSpPr>
        <p:sp>
          <p:nvSpPr>
            <p:cNvPr id="1123344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60784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60784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en-US" altLang="zh-CN" sz="1800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语言程序设计教程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第三版      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第八章 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函</a:t>
              </a:r>
            </a:p>
            <a:p>
              <a:pPr eaLnBrk="0" hangingPunct="0">
                <a:spcBef>
                  <a:spcPct val="50000"/>
                </a:spcBef>
              </a:pPr>
              <a:endParaRPr lang="zh-CN" altLang="en-US" sz="1600" b="1" dirty="0">
                <a:solidFill>
                  <a:srgbClr val="3333CC"/>
                </a:solidFill>
                <a:latin typeface="Verdana" pitchFamily="34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CC"/>
                  </a:solidFill>
                  <a:latin typeface="Verdana" pitchFamily="34" charset="0"/>
                </a:rPr>
                <a:t>数</a:t>
              </a:r>
            </a:p>
          </p:txBody>
        </p:sp>
        <p:sp>
          <p:nvSpPr>
            <p:cNvPr id="1123345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81" cy="231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latin typeface="Arial" pitchFamily="34" charset="0"/>
                </a:rPr>
                <a:t>C</a:t>
              </a:r>
            </a:p>
          </p:txBody>
        </p:sp>
      </p:grp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87480" y="6135687"/>
            <a:ext cx="11125144" cy="461665"/>
          </a:xfrm>
          <a:prstGeom prst="rect">
            <a:avLst/>
          </a:prstGeom>
          <a:solidFill>
            <a:srgbClr val="FF0000"/>
          </a:solidFill>
          <a:ln w="28575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习题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1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4(2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12)</a:t>
            </a:r>
            <a:r>
              <a:rPr lang="en-US" altLang="zh-CN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12321</TotalTime>
  <Words>28167</Words>
  <Application>Microsoft Office PowerPoint</Application>
  <PresentationFormat>宽屏</PresentationFormat>
  <Paragraphs>5098</Paragraphs>
  <Slides>101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101</vt:i4>
      </vt:variant>
    </vt:vector>
  </HeadingPairs>
  <TitlesOfParts>
    <vt:vector size="116" baseType="lpstr">
      <vt:lpstr>ˎ̥</vt:lpstr>
      <vt:lpstr>华文琥珀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Verdana</vt:lpstr>
      <vt:lpstr>Wingdings</vt:lpstr>
      <vt:lpstr>默认设计模板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WIN10-20H2</cp:lastModifiedBy>
  <cp:revision>1432</cp:revision>
  <dcterms:created xsi:type="dcterms:W3CDTF">1999-05-31T10:27:02Z</dcterms:created>
  <dcterms:modified xsi:type="dcterms:W3CDTF">2022-03-04T08:47:39Z</dcterms:modified>
</cp:coreProperties>
</file>