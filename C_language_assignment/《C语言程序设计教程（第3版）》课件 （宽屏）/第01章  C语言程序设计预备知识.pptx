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av" ContentType="audio/wav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591" r:id="rId2"/>
    <p:sldId id="758" r:id="rId3"/>
    <p:sldId id="762" r:id="rId4"/>
    <p:sldId id="593" r:id="rId5"/>
    <p:sldId id="763" r:id="rId6"/>
    <p:sldId id="764" r:id="rId7"/>
    <p:sldId id="766" r:id="rId8"/>
    <p:sldId id="767" r:id="rId9"/>
    <p:sldId id="768" r:id="rId10"/>
    <p:sldId id="769" r:id="rId11"/>
    <p:sldId id="771" r:id="rId12"/>
    <p:sldId id="772" r:id="rId13"/>
    <p:sldId id="774" r:id="rId14"/>
    <p:sldId id="775" r:id="rId15"/>
    <p:sldId id="776" r:id="rId16"/>
    <p:sldId id="777" r:id="rId17"/>
    <p:sldId id="778" r:id="rId18"/>
    <p:sldId id="779" r:id="rId19"/>
    <p:sldId id="780" r:id="rId20"/>
    <p:sldId id="781" r:id="rId21"/>
    <p:sldId id="782" r:id="rId22"/>
    <p:sldId id="783" r:id="rId23"/>
    <p:sldId id="784" r:id="rId24"/>
    <p:sldId id="785" r:id="rId25"/>
    <p:sldId id="786" r:id="rId26"/>
    <p:sldId id="787" r:id="rId27"/>
    <p:sldId id="788" r:id="rId28"/>
    <p:sldId id="789" r:id="rId29"/>
    <p:sldId id="790" r:id="rId30"/>
    <p:sldId id="791" r:id="rId31"/>
    <p:sldId id="792" r:id="rId32"/>
    <p:sldId id="793" r:id="rId33"/>
    <p:sldId id="794" r:id="rId34"/>
    <p:sldId id="795" r:id="rId35"/>
    <p:sldId id="796" r:id="rId36"/>
    <p:sldId id="797" r:id="rId37"/>
    <p:sldId id="808" r:id="rId38"/>
    <p:sldId id="799" r:id="rId39"/>
    <p:sldId id="800" r:id="rId40"/>
    <p:sldId id="801" r:id="rId41"/>
    <p:sldId id="802" r:id="rId42"/>
    <p:sldId id="803" r:id="rId43"/>
    <p:sldId id="804" r:id="rId44"/>
    <p:sldId id="805" r:id="rId45"/>
    <p:sldId id="806" r:id="rId46"/>
    <p:sldId id="809" r:id="rId47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76" userDrawn="1">
          <p15:clr>
            <a:srgbClr val="A4A3A4"/>
          </p15:clr>
        </p15:guide>
        <p15:guide id="2" pos="24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C00CC"/>
    <a:srgbClr val="008000"/>
    <a:srgbClr val="FF00FF"/>
    <a:srgbClr val="F8F8F8"/>
    <a:srgbClr val="E4F6FF"/>
    <a:srgbClr val="006600"/>
    <a:srgbClr val="FFFFCC"/>
    <a:srgbClr val="0099FF"/>
    <a:srgbClr val="99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00" autoAdjust="0"/>
    <p:restoredTop sz="93971" autoAdjust="0"/>
  </p:normalViewPr>
  <p:slideViewPr>
    <p:cSldViewPr>
      <p:cViewPr varScale="1">
        <p:scale>
          <a:sx n="96" d="100"/>
          <a:sy n="96" d="100"/>
        </p:scale>
        <p:origin x="972" y="84"/>
      </p:cViewPr>
      <p:guideLst>
        <p:guide orient="horz" pos="1776"/>
        <p:guide pos="24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4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539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2539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539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539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539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C92483-0A9C-4A36-AEF0-B8241DF4130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C92483-0A9C-4A36-AEF0-B8241DF4130F}" type="slidenum">
              <a:rPr lang="en-US" altLang="zh-CN" smtClean="0"/>
              <a:pPr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59389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C92483-0A9C-4A36-AEF0-B8241DF4130F}" type="slidenum">
              <a:rPr lang="en-US" altLang="zh-CN" smtClean="0"/>
              <a:pPr/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7049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456C5A-CA7A-4E59-9391-6614CBC9E5C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73427B-D055-49BA-A165-5AA2E29BDD71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56FFAD-76A6-45E0-BFE9-0F108B8350D8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341438"/>
            <a:ext cx="5080000" cy="4754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341438"/>
            <a:ext cx="5080000" cy="4754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D5DFAD-B5FF-4C7C-A446-FE49DCECADEE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77220A-3966-4E8C-950C-6CC8172DC81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5DF84A-8BCC-407D-85A9-4E25C649D2D8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7843A7-EAE1-4722-AFF8-4A246BA96AD1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81F1DB-89B6-4FCA-B1BB-261AB8DE99B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6A0E32-E1DB-4E21-A1D0-0D4D253958F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6D6AC4-B7B8-4EF8-BBBE-A97C4F4EA82B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115888"/>
            <a:ext cx="2590800" cy="5980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115888"/>
            <a:ext cx="7569200" cy="5980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2EA17E-46C3-4350-B62F-F9A00C92651E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115888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341438"/>
            <a:ext cx="10363200" cy="4754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>
                <a:effectLst>
                  <a:outerShdw blurRad="38100" dist="38100" dir="2700000" algn="tl">
                    <a:srgbClr val="FFFFFF"/>
                  </a:outerShdw>
                </a:effectLst>
              </a:defRPr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1">
                <a:effectLst>
                  <a:outerShdw blurRad="38100" dist="38100" dir="2700000" algn="tl">
                    <a:srgbClr val="FFFFFF"/>
                  </a:outerShdw>
                </a:effectLst>
              </a:defRPr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>
                <a:effectLst>
                  <a:outerShdw blurRad="38100" dist="38100" dir="2700000" algn="tl">
                    <a:srgbClr val="FFFFFF"/>
                  </a:outerShdw>
                </a:effectLst>
              </a:defRPr>
            </a:lvl1pPr>
          </a:lstStyle>
          <a:p>
            <a:fld id="{7B541AC3-43A8-497C-A35D-EE175DA97DD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zoom/>
  </p:transition>
  <p:txStyles>
    <p:titleStyle>
      <a:lvl1pPr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wmf"/><Relationship Id="rId4" Type="http://schemas.openxmlformats.org/officeDocument/2006/relationships/image" Target="../media/image2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4.wav"/><Relationship Id="rId4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3.wav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5.wav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2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audio" Target="../media/audio5.wav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slide" Target="slide2.xml"/><Relationship Id="rId5" Type="http://schemas.openxmlformats.org/officeDocument/2006/relationships/audio" Target="../media/audio3.wav"/><Relationship Id="rId4" Type="http://schemas.openxmlformats.org/officeDocument/2006/relationships/audio" Target="../media/audio1.wav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5.bin"/><Relationship Id="rId12" Type="http://schemas.openxmlformats.org/officeDocument/2006/relationships/image" Target="../media/image15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4.bin"/><Relationship Id="rId10" Type="http://schemas.openxmlformats.org/officeDocument/2006/relationships/image" Target="../media/image14.wmf"/><Relationship Id="rId4" Type="http://schemas.openxmlformats.org/officeDocument/2006/relationships/audio" Target="../media/audio5.wav"/><Relationship Id="rId9" Type="http://schemas.openxmlformats.org/officeDocument/2006/relationships/oleObject" Target="../embeddings/oleObject6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5.wav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6.wmf"/><Relationship Id="rId4" Type="http://schemas.openxmlformats.org/officeDocument/2006/relationships/oleObject" Target="../embeddings/oleObject8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5.wav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7.wmf"/><Relationship Id="rId4" Type="http://schemas.openxmlformats.org/officeDocument/2006/relationships/oleObject" Target="../embeddings/oleObject9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6.wav"/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6.wav"/><Relationship Id="rId4" Type="http://schemas.openxmlformats.org/officeDocument/2006/relationships/audio" Target="../media/audio1.wav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3.wav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audio" Target="../media/audio5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audio" Target="../media/audio5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audio" Target="../media/audio5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audio" Target="../media/audio5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5.wav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3.wav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audio" Target="../media/audio5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3.wav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audio" Target="../media/audio5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3.wav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audio" Target="../media/audio5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audio" Target="../media/audio5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6946" name="Object 2"/>
          <p:cNvGraphicFramePr>
            <a:graphicFrameLocks noChangeAspect="1"/>
          </p:cNvGraphicFramePr>
          <p:nvPr/>
        </p:nvGraphicFramePr>
        <p:xfrm>
          <a:off x="2057400" y="4191001"/>
          <a:ext cx="1487488" cy="220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7019" name="剪辑" r:id="rId3" imgW="18926175" imgH="28251150" progId="">
                  <p:embed/>
                </p:oleObj>
              </mc:Choice>
              <mc:Fallback>
                <p:oleObj name="剪辑" r:id="rId3" imgW="18926175" imgH="28251150" progId="">
                  <p:embed/>
                  <p:pic>
                    <p:nvPicPr>
                      <p:cNvPr id="0" name="Picture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191001"/>
                        <a:ext cx="1487488" cy="2201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6947" name="Group 3"/>
          <p:cNvGrpSpPr>
            <a:grpSpLocks/>
          </p:cNvGrpSpPr>
          <p:nvPr/>
        </p:nvGrpSpPr>
        <p:grpSpPr bwMode="auto">
          <a:xfrm>
            <a:off x="2566988" y="692151"/>
            <a:ext cx="7434262" cy="5400675"/>
            <a:chOff x="480" y="816"/>
            <a:chExt cx="4752" cy="2865"/>
          </a:xfrm>
        </p:grpSpPr>
        <p:sp>
          <p:nvSpPr>
            <p:cNvPr id="466948" name="Oval 4"/>
            <p:cNvSpPr>
              <a:spLocks noChangeArrowheads="1"/>
            </p:cNvSpPr>
            <p:nvPr/>
          </p:nvSpPr>
          <p:spPr bwMode="auto">
            <a:xfrm>
              <a:off x="480" y="816"/>
              <a:ext cx="4752" cy="2112"/>
            </a:xfrm>
            <a:prstGeom prst="ellipse">
              <a:avLst/>
            </a:prstGeom>
            <a:gradFill rotWithShape="0">
              <a:gsLst>
                <a:gs pos="0">
                  <a:srgbClr val="CC00FF">
                    <a:gamma/>
                    <a:shade val="46275"/>
                    <a:invGamma/>
                  </a:srgbClr>
                </a:gs>
                <a:gs pos="50000">
                  <a:srgbClr val="CC00FF"/>
                </a:gs>
                <a:gs pos="100000">
                  <a:srgbClr val="CC00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>
              <a:glow rad="101600">
                <a:schemeClr val="accent1">
                  <a:satMod val="175000"/>
                  <a:alpha val="40000"/>
                </a:schemeClr>
              </a:glow>
              <a:outerShdw blurRad="76200" dist="12700" dir="8100000" sy="-23000" kx="800400" algn="br" rotWithShape="0">
                <a:prstClr val="black">
                  <a:alpha val="20000"/>
                </a:prst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hardEdge"/>
            </a:sp3d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6949" name="Rectangle 5"/>
            <p:cNvSpPr>
              <a:spLocks noChangeArrowheads="1"/>
            </p:cNvSpPr>
            <p:nvPr/>
          </p:nvSpPr>
          <p:spPr bwMode="auto">
            <a:xfrm>
              <a:off x="935" y="1295"/>
              <a:ext cx="3841" cy="111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48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隶书" pitchFamily="49" charset="-122"/>
                  <a:ea typeface="隶书" pitchFamily="49" charset="-122"/>
                </a:rPr>
                <a:t>第</a:t>
              </a:r>
              <a:r>
                <a:rPr lang="en-US" altLang="zh-CN" sz="48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隶书" pitchFamily="49" charset="-122"/>
                  <a:ea typeface="隶书" pitchFamily="49" charset="-122"/>
                </a:rPr>
                <a:t>1</a:t>
              </a:r>
              <a:r>
                <a:rPr lang="zh-CN" altLang="en-US" sz="48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隶书" pitchFamily="49" charset="-122"/>
                  <a:ea typeface="隶书" pitchFamily="49" charset="-122"/>
                </a:rPr>
                <a:t>章 </a:t>
              </a:r>
              <a:r>
                <a:rPr lang="en-US" altLang="zh-CN" sz="48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隶书" pitchFamily="49" charset="-122"/>
                  <a:ea typeface="隶书" pitchFamily="49" charset="-122"/>
                </a:rPr>
                <a:t>C</a:t>
              </a:r>
              <a:r>
                <a:rPr lang="zh-CN" altLang="en-US" sz="48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隶书" pitchFamily="49" charset="-122"/>
                  <a:ea typeface="隶书" pitchFamily="49" charset="-122"/>
                </a:rPr>
                <a:t>语言程序设计</a:t>
              </a:r>
            </a:p>
            <a:p>
              <a:pPr algn="ctr"/>
              <a:r>
                <a:rPr lang="zh-CN" altLang="en-US" sz="48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隶书" pitchFamily="49" charset="-122"/>
                  <a:ea typeface="隶书" pitchFamily="49" charset="-122"/>
                </a:rPr>
                <a:t>预备知识</a:t>
              </a:r>
            </a:p>
            <a:p>
              <a:pPr algn="ctr"/>
              <a:r>
                <a:rPr lang="zh-CN" altLang="en-US" sz="3600" b="1">
                  <a:solidFill>
                    <a:srgbClr val="66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隶书" pitchFamily="49" charset="-122"/>
                  <a:ea typeface="隶书" pitchFamily="49" charset="-122"/>
                </a:rPr>
                <a:t>制作人：王敬华</a:t>
              </a:r>
            </a:p>
          </p:txBody>
        </p:sp>
        <p:pic>
          <p:nvPicPr>
            <p:cNvPr id="466950" name="Picture 6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537" y="2496"/>
              <a:ext cx="2503" cy="11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</p:pic>
        <p:sp>
          <p:nvSpPr>
            <p:cNvPr id="466951" name="Line 7"/>
            <p:cNvSpPr>
              <a:spLocks noChangeShapeType="1"/>
            </p:cNvSpPr>
            <p:nvPr/>
          </p:nvSpPr>
          <p:spPr bwMode="auto">
            <a:xfrm>
              <a:off x="2304" y="3648"/>
              <a:ext cx="2784" cy="0"/>
            </a:xfrm>
            <a:prstGeom prst="line">
              <a:avLst/>
            </a:prstGeom>
            <a:noFill/>
            <a:ln w="38100">
              <a:pattFill prst="dkHorz">
                <a:fgClr>
                  <a:srgbClr val="00CCFF"/>
                </a:fgClr>
                <a:bgClr>
                  <a:srgbClr val="FFFFFF"/>
                </a:bgClr>
              </a:patt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6952" name="Line 8"/>
            <p:cNvSpPr>
              <a:spLocks noChangeShapeType="1"/>
            </p:cNvSpPr>
            <p:nvPr/>
          </p:nvSpPr>
          <p:spPr bwMode="auto">
            <a:xfrm>
              <a:off x="2160" y="3681"/>
              <a:ext cx="2784" cy="0"/>
            </a:xfrm>
            <a:prstGeom prst="line">
              <a:avLst/>
            </a:prstGeom>
            <a:noFill/>
            <a:ln w="38100">
              <a:pattFill prst="dkHorz">
                <a:fgClr>
                  <a:srgbClr val="00CCFF"/>
                </a:fgClr>
                <a:bgClr>
                  <a:srgbClr val="FFFFFF"/>
                </a:bgClr>
              </a:patt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669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69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669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669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2000"/>
                                        <p:tgtEl>
                                          <p:spTgt spid="466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08" name="Rectangle 8"/>
          <p:cNvSpPr>
            <a:spLocks noChangeArrowheads="1"/>
          </p:cNvSpPr>
          <p:nvPr/>
        </p:nvSpPr>
        <p:spPr bwMode="auto">
          <a:xfrm>
            <a:off x="767408" y="785794"/>
            <a:ext cx="10657184" cy="5857916"/>
          </a:xfrm>
          <a:prstGeom prst="rect">
            <a:avLst/>
          </a:prstGeom>
          <a:ln w="38100">
            <a:solidFill>
              <a:srgbClr val="CC00CC"/>
            </a:solidFill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3d extrusionH="57150">
              <a:bevelT w="38100" h="38100"/>
            </a:sp3d>
          </a:bodyPr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zh-CN" sz="3200" b="1" dirty="0">
                <a:solidFill>
                  <a:srgbClr val="FF000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隶书" pitchFamily="49" charset="-122"/>
                <a:ea typeface="隶书" pitchFamily="49" charset="-122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隶书" pitchFamily="49" charset="-122"/>
                <a:ea typeface="隶书" pitchFamily="49" charset="-122"/>
              </a:rPr>
              <a:t>教材</a:t>
            </a:r>
            <a:endParaRPr lang="en-US" altLang="zh-CN" sz="3200" b="1" dirty="0">
              <a:solidFill>
                <a:srgbClr val="FF0000"/>
              </a:solidFill>
              <a:effectLst>
                <a:innerShdw blurRad="63500" dist="50800">
                  <a:prstClr val="black">
                    <a:alpha val="50000"/>
                  </a:prstClr>
                </a:innerShdw>
              </a:effectLst>
              <a:latin typeface="隶书" pitchFamily="49" charset="-122"/>
              <a:ea typeface="隶书" pitchFamily="49" charset="-122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zh-CN" sz="2800" b="1" dirty="0">
                <a:solidFill>
                  <a:srgbClr val="00800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楷体" pitchFamily="49" charset="-122"/>
                <a:ea typeface="楷体" pitchFamily="49" charset="-122"/>
              </a:rPr>
              <a:t>   </a:t>
            </a:r>
            <a:r>
              <a:rPr lang="en-US" altLang="zh-CN" b="1" dirty="0">
                <a:solidFill>
                  <a:srgbClr val="0000FF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b="1" dirty="0">
                <a:solidFill>
                  <a:srgbClr val="0000FF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语言程序设计教程（第</a:t>
            </a:r>
            <a:r>
              <a:rPr lang="en-US" altLang="zh-CN" b="1" dirty="0">
                <a:solidFill>
                  <a:srgbClr val="0000FF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b="1" dirty="0">
                <a:solidFill>
                  <a:srgbClr val="0000FF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版） </a:t>
            </a:r>
            <a:r>
              <a:rPr lang="zh-CN" altLang="en-US" sz="2000" b="1" dirty="0"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王敬华编著 清华大学出版社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FF000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楷体" pitchFamily="49" charset="-122"/>
                <a:ea typeface="楷体" pitchFamily="49" charset="-122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隶书" pitchFamily="49" charset="-122"/>
                <a:ea typeface="隶书" pitchFamily="49" charset="-122"/>
              </a:rPr>
              <a:t>参考书</a:t>
            </a:r>
            <a:endParaRPr lang="en-US" altLang="zh-CN" sz="3200" b="1" dirty="0">
              <a:solidFill>
                <a:srgbClr val="FF0000"/>
              </a:solidFill>
              <a:effectLst>
                <a:innerShdw blurRad="63500" dist="50800">
                  <a:prstClr val="black">
                    <a:alpha val="50000"/>
                  </a:prstClr>
                </a:innerShdw>
              </a:effectLst>
              <a:latin typeface="隶书" pitchFamily="49" charset="-122"/>
              <a:ea typeface="隶书" pitchFamily="49" charset="-122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zh-CN" sz="2800" b="1" dirty="0">
                <a:solidFill>
                  <a:srgbClr val="00800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楷体" pitchFamily="49" charset="-122"/>
                <a:ea typeface="楷体" pitchFamily="49" charset="-122"/>
              </a:rPr>
              <a:t>   </a:t>
            </a:r>
            <a:r>
              <a:rPr lang="en-US" altLang="zh-CN" b="1" dirty="0">
                <a:solidFill>
                  <a:srgbClr val="0000FF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b="1" dirty="0">
                <a:solidFill>
                  <a:srgbClr val="0000FF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语言程序设计教程（第</a:t>
            </a:r>
            <a:r>
              <a:rPr lang="en-US" altLang="zh-CN" b="1" dirty="0">
                <a:solidFill>
                  <a:srgbClr val="0000FF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b="1" dirty="0">
                <a:solidFill>
                  <a:srgbClr val="0000FF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版）习题解答与实验指导</a:t>
            </a:r>
          </a:p>
          <a:p>
            <a:pPr marL="1143000" lvl="2" indent="-228600">
              <a:spcBef>
                <a:spcPct val="20000"/>
              </a:spcBef>
            </a:pPr>
            <a:r>
              <a:rPr lang="zh-CN" altLang="en-US" b="1" dirty="0"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                                           </a:t>
            </a:r>
            <a:r>
              <a:rPr lang="zh-CN" altLang="en-US" sz="2000" b="1" dirty="0"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王敬华编著 清华大学出版社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FF000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楷体" pitchFamily="49" charset="-122"/>
                <a:ea typeface="楷体" pitchFamily="49" charset="-122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隶书" pitchFamily="49" charset="-122"/>
                <a:ea typeface="隶书" pitchFamily="49" charset="-122"/>
              </a:rPr>
              <a:t>公共邮箱</a:t>
            </a:r>
            <a:endParaRPr lang="en-US" altLang="zh-CN" sz="3200" b="1" dirty="0">
              <a:solidFill>
                <a:srgbClr val="FF0000"/>
              </a:solidFill>
              <a:effectLst>
                <a:innerShdw blurRad="63500" dist="50800">
                  <a:prstClr val="black">
                    <a:alpha val="50000"/>
                  </a:prstClr>
                </a:innerShdw>
              </a:effectLst>
              <a:latin typeface="隶书" pitchFamily="49" charset="-122"/>
              <a:ea typeface="隶书" pitchFamily="49" charset="-122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zh-CN" sz="2800" b="1" dirty="0">
                <a:solidFill>
                  <a:srgbClr val="FF000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楷体" pitchFamily="49" charset="-122"/>
                <a:ea typeface="楷体" pitchFamily="49" charset="-122"/>
              </a:rPr>
              <a:t>   </a:t>
            </a:r>
            <a:r>
              <a:rPr lang="en-US" altLang="zh-CN" b="1" dirty="0"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+mj-lt"/>
                <a:ea typeface="楷体" pitchFamily="49" charset="-122"/>
              </a:rPr>
              <a:t>C_languagemsg@126.com</a:t>
            </a:r>
            <a:r>
              <a:rPr lang="en-US" altLang="zh-CN" b="1" dirty="0"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楷体" pitchFamily="49" charset="-122"/>
                <a:ea typeface="楷体" pitchFamily="49" charset="-122"/>
              </a:rPr>
              <a:t>   </a:t>
            </a:r>
            <a:r>
              <a:rPr lang="zh-CN" altLang="en-US" b="1" dirty="0"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楷体" pitchFamily="49" charset="-122"/>
                <a:ea typeface="楷体" pitchFamily="49" charset="-122"/>
              </a:rPr>
              <a:t>（</a:t>
            </a:r>
            <a:r>
              <a:rPr lang="zh-CN" altLang="en-US" b="1" dirty="0"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密码</a:t>
            </a:r>
            <a:r>
              <a:rPr lang="zh-CN" altLang="en-US" b="1" dirty="0"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楷体" pitchFamily="49" charset="-122"/>
                <a:ea typeface="楷体" pitchFamily="49" charset="-122"/>
              </a:rPr>
              <a:t>：）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sz="3200" b="1" dirty="0">
                <a:solidFill>
                  <a:srgbClr val="FF000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隶书" pitchFamily="49" charset="-122"/>
                <a:ea typeface="隶书" pitchFamily="49" charset="-122"/>
              </a:rPr>
              <a:t> 课时安排</a:t>
            </a:r>
          </a:p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zh-CN" altLang="en-US" b="1" dirty="0">
                <a:solidFill>
                  <a:srgbClr val="0070C0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课内  ：</a:t>
            </a:r>
            <a:r>
              <a:rPr lang="en-US" altLang="zh-CN" b="1" dirty="0">
                <a:solidFill>
                  <a:srgbClr val="0070C0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32</a:t>
            </a:r>
            <a:r>
              <a:rPr lang="zh-CN" altLang="en-US" b="1" dirty="0">
                <a:solidFill>
                  <a:srgbClr val="0070C0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学时</a:t>
            </a:r>
          </a:p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zh-CN" altLang="en-US" b="1" dirty="0">
                <a:solidFill>
                  <a:srgbClr val="0070C0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课外   </a:t>
            </a:r>
            <a:r>
              <a:rPr lang="en-US" altLang="zh-CN" b="1" dirty="0">
                <a:solidFill>
                  <a:srgbClr val="0070C0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: 16</a:t>
            </a:r>
            <a:r>
              <a:rPr lang="zh-CN" altLang="en-US" b="1" dirty="0">
                <a:solidFill>
                  <a:srgbClr val="0070C0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学时</a:t>
            </a:r>
          </a:p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zh-CN" altLang="en-US" b="1" dirty="0">
                <a:solidFill>
                  <a:srgbClr val="0070C0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实验  </a:t>
            </a:r>
            <a:r>
              <a:rPr lang="zh-CN" altLang="zh-CN" b="1" dirty="0">
                <a:solidFill>
                  <a:srgbClr val="0070C0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b="1" dirty="0">
                <a:solidFill>
                  <a:srgbClr val="0070C0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32</a:t>
            </a:r>
            <a:r>
              <a:rPr lang="zh-CN" altLang="en-US" b="1" dirty="0">
                <a:solidFill>
                  <a:srgbClr val="0070C0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学时 </a:t>
            </a:r>
            <a:r>
              <a:rPr lang="en-US" altLang="zh-CN" b="1" dirty="0">
                <a:solidFill>
                  <a:srgbClr val="0070C0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+ </a:t>
            </a:r>
            <a:r>
              <a:rPr lang="en-US" altLang="zh-CN" b="1" dirty="0">
                <a:solidFill>
                  <a:srgbClr val="CC0000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32</a:t>
            </a:r>
            <a:r>
              <a:rPr lang="zh-CN" altLang="en-US" b="1" dirty="0">
                <a:solidFill>
                  <a:srgbClr val="CC0000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学时（额外增加）</a:t>
            </a: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</a:pPr>
            <a:endParaRPr lang="en-US" altLang="zh-CN" sz="2800" b="1" dirty="0">
              <a:effectLst>
                <a:innerShdw blurRad="63500" dist="50800">
                  <a:prstClr val="black">
                    <a:alpha val="50000"/>
                  </a:prstClr>
                </a:innerShdw>
              </a:effectLst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665607" name="Rectangle 7"/>
          <p:cNvSpPr>
            <a:spLocks noChangeArrowheads="1"/>
          </p:cNvSpPr>
          <p:nvPr/>
        </p:nvSpPr>
        <p:spPr bwMode="auto">
          <a:xfrm>
            <a:off x="2595538" y="142852"/>
            <a:ext cx="7215238" cy="500066"/>
          </a:xfrm>
          <a:prstGeom prst="rect">
            <a:avLst/>
          </a:prstGeom>
          <a:ln>
            <a:headEnd/>
            <a:tailEnd/>
          </a:ln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教材、参考书与课时安排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7AD23D70-2853-4CC3-A84B-2130CA86CFB2}"/>
              </a:ext>
            </a:extLst>
          </p:cNvPr>
          <p:cNvGrpSpPr/>
          <p:nvPr/>
        </p:nvGrpSpPr>
        <p:grpSpPr>
          <a:xfrm>
            <a:off x="1834031" y="1199974"/>
            <a:ext cx="8272164" cy="5029553"/>
            <a:chOff x="1834031" y="1199974"/>
            <a:chExt cx="8272164" cy="5029553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36A6A9B0-2AF1-48AC-97AE-B7A58FB9CD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869068">
              <a:off x="1834031" y="1199974"/>
              <a:ext cx="3562627" cy="5029553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D808ED15-F4BA-409F-9C94-E6D8B95CA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803600">
              <a:off x="6673007" y="1243417"/>
              <a:ext cx="3433188" cy="4942668"/>
            </a:xfrm>
            <a:prstGeom prst="rect">
              <a:avLst/>
            </a:prstGeom>
          </p:spPr>
        </p:pic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6656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0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819" name="Rectangle 3"/>
          <p:cNvSpPr>
            <a:spLocks noChangeArrowheads="1"/>
          </p:cNvSpPr>
          <p:nvPr/>
        </p:nvSpPr>
        <p:spPr bwMode="auto">
          <a:xfrm>
            <a:off x="2952729" y="142852"/>
            <a:ext cx="6246827" cy="571504"/>
          </a:xfrm>
          <a:prstGeom prst="rect">
            <a:avLst/>
          </a:prstGeom>
          <a:ln>
            <a:headEnd/>
            <a:tailEnd/>
          </a:ln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学习要求及成绩构成</a:t>
            </a:r>
          </a:p>
        </p:txBody>
      </p:sp>
      <p:sp>
        <p:nvSpPr>
          <p:cNvPr id="674820" name="Rectangle 4"/>
          <p:cNvSpPr>
            <a:spLocks noChangeArrowheads="1"/>
          </p:cNvSpPr>
          <p:nvPr/>
        </p:nvSpPr>
        <p:spPr bwMode="auto">
          <a:xfrm>
            <a:off x="767408" y="1071546"/>
            <a:ext cx="10656000" cy="5357850"/>
          </a:xfrm>
          <a:prstGeom prst="rect">
            <a:avLst/>
          </a:prstGeom>
          <a:ln w="38100">
            <a:solidFill>
              <a:srgbClr val="CC00CC"/>
            </a:solidFill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3d extrusionH="57150">
              <a:bevelT w="50800" h="38100" prst="riblet"/>
            </a:sp3d>
          </a:bodyPr>
          <a:lstStyle/>
          <a:p>
            <a:pPr marL="742950" lvl="1" indent="-285750">
              <a:lnSpc>
                <a:spcPct val="13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sz="3200" b="1" dirty="0">
                <a:solidFill>
                  <a:srgbClr val="FF330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ea typeface="隶书" pitchFamily="49" charset="-122"/>
              </a:rPr>
              <a:t>学习要求</a:t>
            </a:r>
          </a:p>
          <a:p>
            <a:pPr marL="1200150" lvl="2" indent="-285750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ü"/>
            </a:pPr>
            <a:r>
              <a:rPr lang="zh-CN" altLang="en-US" b="1" dirty="0">
                <a:solidFill>
                  <a:srgbClr val="0070C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课前请做好预习，课后请做好复习</a:t>
            </a:r>
          </a:p>
          <a:p>
            <a:pPr marL="1200150" lvl="2" indent="-285750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ü"/>
            </a:pPr>
            <a:r>
              <a:rPr lang="zh-CN" altLang="en-US" b="1" dirty="0">
                <a:solidFill>
                  <a:srgbClr val="0070C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保持课堂安静，头脑清醒，思维活跃</a:t>
            </a:r>
          </a:p>
          <a:p>
            <a:pPr marL="1200150" lvl="2" indent="-285750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ü"/>
            </a:pPr>
            <a:r>
              <a:rPr lang="zh-CN" altLang="en-US" b="1" dirty="0">
                <a:solidFill>
                  <a:srgbClr val="0070C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认真、独立、按时完成并提交作业</a:t>
            </a:r>
          </a:p>
          <a:p>
            <a:pPr marL="1200150" lvl="2" indent="-285750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ü"/>
            </a:pPr>
            <a:r>
              <a:rPr lang="zh-CN" altLang="en-US" b="1" dirty="0">
                <a:solidFill>
                  <a:srgbClr val="0070C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重视上机实践，有效利用宝贵的上机时间</a:t>
            </a:r>
          </a:p>
          <a:p>
            <a:pPr marL="742950" lvl="1" indent="-285750">
              <a:lnSpc>
                <a:spcPct val="13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sz="3200" b="1" dirty="0">
                <a:solidFill>
                  <a:srgbClr val="FF330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ea typeface="隶书" pitchFamily="49" charset="-122"/>
              </a:rPr>
              <a:t>成绩构成</a:t>
            </a:r>
          </a:p>
          <a:p>
            <a:pPr marL="1200150" lvl="2" indent="-285750">
              <a:lnSpc>
                <a:spcPct val="130000"/>
              </a:lnSpc>
              <a:spcBef>
                <a:spcPct val="20000"/>
              </a:spcBef>
            </a:pPr>
            <a:r>
              <a:rPr lang="zh-CN" altLang="en-US" b="1" dirty="0">
                <a:solidFill>
                  <a:srgbClr val="00800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平时成绩：</a:t>
            </a:r>
            <a:r>
              <a:rPr lang="en-US" altLang="zh-CN" b="1" dirty="0">
                <a:solidFill>
                  <a:srgbClr val="CC000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60%</a:t>
            </a:r>
            <a:r>
              <a:rPr lang="en-US" altLang="zh-CN" b="1" dirty="0"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  </a:t>
            </a:r>
          </a:p>
          <a:p>
            <a:pPr marL="1200150" lvl="2" indent="-285750">
              <a:lnSpc>
                <a:spcPct val="130000"/>
              </a:lnSpc>
              <a:spcBef>
                <a:spcPct val="20000"/>
              </a:spcBef>
            </a:pPr>
            <a:r>
              <a:rPr lang="zh-CN" altLang="en-US" b="1" dirty="0">
                <a:solidFill>
                  <a:srgbClr val="9900FF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    （包括：考勤、作业、讨论、测验、回答问题等）</a:t>
            </a:r>
          </a:p>
          <a:p>
            <a:pPr marL="1200150" lvl="2" indent="-285750">
              <a:lnSpc>
                <a:spcPct val="130000"/>
              </a:lnSpc>
              <a:spcBef>
                <a:spcPct val="20000"/>
              </a:spcBef>
            </a:pPr>
            <a:r>
              <a:rPr lang="zh-CN" altLang="en-US" b="1" dirty="0">
                <a:solidFill>
                  <a:srgbClr val="00800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期末考试：</a:t>
            </a:r>
            <a:r>
              <a:rPr lang="en-US" altLang="zh-CN" b="1" dirty="0">
                <a:solidFill>
                  <a:srgbClr val="CC000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40%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748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48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96" name="Rectangle 4"/>
          <p:cNvSpPr>
            <a:spLocks noChangeArrowheads="1"/>
          </p:cNvSpPr>
          <p:nvPr/>
        </p:nvSpPr>
        <p:spPr bwMode="auto">
          <a:xfrm>
            <a:off x="697030" y="82765"/>
            <a:ext cx="6927869" cy="6096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9000">
                <a:schemeClr val="accent1">
                  <a:lumMod val="20000"/>
                  <a:lumOff val="80000"/>
                </a:schemeClr>
              </a:gs>
              <a:gs pos="65000">
                <a:schemeClr val="bg1">
                  <a:lumMod val="95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0"/>
            <a:tileRect/>
          </a:gradFill>
          <a:ln>
            <a:solidFill>
              <a:schemeClr val="accent1">
                <a:lumMod val="40000"/>
                <a:lumOff val="60000"/>
              </a:schemeClr>
            </a:solidFill>
            <a:headEnd/>
            <a:tailEnd/>
          </a:ln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zh-CN" altLang="en-US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琥珀" pitchFamily="2" charset="-122"/>
                <a:ea typeface="华文琥珀" pitchFamily="2" charset="-122"/>
                <a:cs typeface="ˎ̥"/>
              </a:rPr>
              <a:t>第</a:t>
            </a:r>
            <a:r>
              <a:rPr lang="en-US" altLang="zh-CN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琥珀" pitchFamily="2" charset="-122"/>
                <a:ea typeface="华文琥珀" pitchFamily="2" charset="-122"/>
                <a:cs typeface="ˎ̥"/>
              </a:rPr>
              <a:t>1</a:t>
            </a:r>
            <a:r>
              <a:rPr lang="zh-CN" altLang="en-US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琥珀" pitchFamily="2" charset="-122"/>
                <a:ea typeface="华文琥珀" pitchFamily="2" charset="-122"/>
                <a:cs typeface="ˎ̥"/>
              </a:rPr>
              <a:t>章：</a:t>
            </a:r>
            <a:r>
              <a:rPr lang="en-US" altLang="zh-CN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琥珀" pitchFamily="2" charset="-122"/>
                <a:ea typeface="华文琥珀" pitchFamily="2" charset="-122"/>
                <a:cs typeface="ˎ̥"/>
              </a:rPr>
              <a:t>C</a:t>
            </a:r>
            <a:r>
              <a:rPr lang="zh-CN" altLang="en-US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琥珀" pitchFamily="2" charset="-122"/>
                <a:ea typeface="华文琥珀" pitchFamily="2" charset="-122"/>
                <a:cs typeface="ˎ̥"/>
              </a:rPr>
              <a:t>语言程序设计预备知识</a:t>
            </a:r>
            <a:r>
              <a:rPr lang="zh-CN" altLang="en-US" sz="32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琥珀" pitchFamily="2" charset="-122"/>
                <a:ea typeface="华文琥珀" pitchFamily="2" charset="-122"/>
                <a:cs typeface="ˎ̥"/>
              </a:rPr>
              <a:t> </a:t>
            </a:r>
          </a:p>
        </p:txBody>
      </p:sp>
      <p:sp>
        <p:nvSpPr>
          <p:cNvPr id="468997" name="Text Box 5"/>
          <p:cNvSpPr txBox="1">
            <a:spLocks noChangeArrowheads="1"/>
          </p:cNvSpPr>
          <p:nvPr/>
        </p:nvSpPr>
        <p:spPr bwMode="auto">
          <a:xfrm>
            <a:off x="619941" y="642918"/>
            <a:ext cx="3892549" cy="579438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177800" indent="-177800">
              <a:spcBef>
                <a:spcPct val="50000"/>
              </a:spcBef>
              <a:buFont typeface="Wingdings" pitchFamily="2" charset="2"/>
              <a:buChar char="u"/>
              <a:tabLst>
                <a:tab pos="177800" algn="l"/>
              </a:tabLst>
            </a:pPr>
            <a:r>
              <a:rPr kumimoji="0" lang="zh-CN" altLang="en-US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隶书" pitchFamily="49" charset="-122"/>
              </a:rPr>
              <a:t>学习的意义</a:t>
            </a:r>
            <a:r>
              <a:rPr kumimoji="0"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</a:t>
            </a:r>
            <a:endParaRPr kumimoji="0" lang="zh-CN" altLang="en-US" dirty="0"/>
          </a:p>
        </p:txBody>
      </p:sp>
      <p:sp>
        <p:nvSpPr>
          <p:cNvPr id="469005" name="AutoShape 13"/>
          <p:cNvSpPr>
            <a:spLocks noChangeArrowheads="1"/>
          </p:cNvSpPr>
          <p:nvPr/>
        </p:nvSpPr>
        <p:spPr bwMode="auto">
          <a:xfrm>
            <a:off x="226268" y="1714489"/>
            <a:ext cx="11702379" cy="1982787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noFill/>
          <a:ln w="9525">
            <a:noFill/>
            <a:miter lim="800000"/>
            <a:headEnd/>
            <a:tailEnd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lvl="1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楷体" pitchFamily="49" charset="-122"/>
                <a:ea typeface="楷体" pitchFamily="49" charset="-122"/>
              </a:rPr>
              <a:t>    </a:t>
            </a:r>
            <a:r>
              <a:rPr lang="zh-CN" altLang="en-US" sz="28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计算机是以逻辑部件为物质基础，能够对信息进行自动处理的机器</a:t>
            </a:r>
            <a:r>
              <a:rPr lang="zh-CN" altLang="en-US" sz="2800" b="1" dirty="0">
                <a:latin typeface="楷体" pitchFamily="49" charset="-122"/>
                <a:ea typeface="楷体" pitchFamily="49" charset="-122"/>
              </a:rPr>
              <a:t>。逻辑部件其实就是指计算机的硬件系统，而对信息的自动处理则是由计算机的软件系统来实现的。</a:t>
            </a:r>
            <a:r>
              <a:rPr lang="zh-CN" altLang="en-US" sz="3200" b="1" dirty="0">
                <a:latin typeface="楷体" pitchFamily="49" charset="-122"/>
                <a:ea typeface="楷体" pitchFamily="49" charset="-122"/>
              </a:rPr>
              <a:t> </a:t>
            </a:r>
          </a:p>
        </p:txBody>
      </p:sp>
      <p:sp>
        <p:nvSpPr>
          <p:cNvPr id="469007" name="Rectangle 15"/>
          <p:cNvSpPr>
            <a:spLocks noChangeArrowheads="1"/>
          </p:cNvSpPr>
          <p:nvPr/>
        </p:nvSpPr>
        <p:spPr bwMode="auto">
          <a:xfrm>
            <a:off x="191344" y="4000505"/>
            <a:ext cx="11593288" cy="97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lvl="1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800" b="1" spc="150" dirty="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楷体" pitchFamily="49" charset="-122"/>
                <a:ea typeface="楷体" pitchFamily="49" charset="-122"/>
              </a:rPr>
              <a:t>  </a:t>
            </a:r>
            <a:r>
              <a:rPr lang="en-US" altLang="zh-CN" sz="2800" b="1" spc="150" dirty="0">
                <a:ln w="11430"/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楷体" pitchFamily="49" charset="-122"/>
                <a:ea typeface="楷体" pitchFamily="49" charset="-122"/>
              </a:rPr>
              <a:t>“</a:t>
            </a:r>
            <a:r>
              <a:rPr lang="zh-CN" altLang="en-US" sz="2800" b="1" spc="150" dirty="0">
                <a:ln w="11430"/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楷体" pitchFamily="49" charset="-122"/>
                <a:ea typeface="楷体" pitchFamily="49" charset="-122"/>
              </a:rPr>
              <a:t>信息”包括的范围很广，它可以是</a:t>
            </a:r>
            <a:r>
              <a:rPr lang="zh-CN" altLang="en-US" sz="2800" b="1" spc="150" dirty="0">
                <a:ln w="11430"/>
                <a:solidFill>
                  <a:srgbClr val="C00000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楷体" pitchFamily="49" charset="-122"/>
                <a:ea typeface="楷体" pitchFamily="49" charset="-122"/>
              </a:rPr>
              <a:t>数字、文字、图像、声音</a:t>
            </a:r>
            <a:r>
              <a:rPr lang="zh-CN" altLang="en-US" sz="2800" b="1" spc="150" dirty="0">
                <a:ln w="11430"/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楷体" pitchFamily="49" charset="-122"/>
                <a:ea typeface="楷体" pitchFamily="49" charset="-122"/>
              </a:rPr>
              <a:t>等。</a:t>
            </a:r>
            <a:r>
              <a:rPr lang="zh-CN" altLang="en-US" sz="3200" b="1" spc="150" dirty="0">
                <a:ln w="11430"/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楷体" pitchFamily="49" charset="-122"/>
                <a:ea typeface="楷体" pitchFamily="49" charset="-122"/>
              </a:rPr>
              <a:t> </a:t>
            </a:r>
          </a:p>
        </p:txBody>
      </p:sp>
      <p:sp>
        <p:nvSpPr>
          <p:cNvPr id="469009" name="Rectangle 17"/>
          <p:cNvSpPr>
            <a:spLocks noChangeArrowheads="1"/>
          </p:cNvSpPr>
          <p:nvPr/>
        </p:nvSpPr>
        <p:spPr bwMode="auto">
          <a:xfrm>
            <a:off x="251668" y="5576131"/>
            <a:ext cx="11532963" cy="97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lvl="1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800" b="1" spc="150" dirty="0">
                <a:ln w="11430"/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rPr>
              <a:t>   </a:t>
            </a:r>
            <a:r>
              <a:rPr lang="zh-CN" altLang="en-US" sz="2800" b="1" spc="150" dirty="0">
                <a:ln w="11430"/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楷体" pitchFamily="49" charset="-122"/>
                <a:ea typeface="楷体" pitchFamily="49" charset="-122"/>
              </a:rPr>
              <a:t>不管哪种类型的信息在计算机中最终都是以</a:t>
            </a:r>
            <a:r>
              <a:rPr lang="zh-CN" altLang="en-US" sz="2800" b="1" spc="150" dirty="0">
                <a:ln w="11430"/>
                <a:solidFill>
                  <a:srgbClr val="C00000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楷体" pitchFamily="49" charset="-122"/>
                <a:ea typeface="楷体" pitchFamily="49" charset="-122"/>
              </a:rPr>
              <a:t>二进制数据</a:t>
            </a:r>
            <a:r>
              <a:rPr lang="zh-CN" altLang="en-US" sz="2800" b="1" spc="150" dirty="0">
                <a:ln w="11430"/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楷体" pitchFamily="49" charset="-122"/>
                <a:ea typeface="楷体" pitchFamily="49" charset="-122"/>
              </a:rPr>
              <a:t>信息来表示和处理。</a:t>
            </a:r>
            <a:r>
              <a:rPr lang="zh-CN" altLang="en-US" sz="3200" b="1" spc="150" dirty="0">
                <a:ln w="11430"/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楷体" pitchFamily="49" charset="-122"/>
                <a:ea typeface="楷体" pitchFamily="49" charset="-122"/>
              </a:rPr>
              <a:t> </a:t>
            </a:r>
          </a:p>
        </p:txBody>
      </p:sp>
      <p:grpSp>
        <p:nvGrpSpPr>
          <p:cNvPr id="469011" name="Group 19"/>
          <p:cNvGrpSpPr>
            <a:grpSpLocks/>
          </p:cNvGrpSpPr>
          <p:nvPr/>
        </p:nvGrpSpPr>
        <p:grpSpPr bwMode="auto">
          <a:xfrm>
            <a:off x="-5016" y="0"/>
            <a:ext cx="446088" cy="6858000"/>
            <a:chOff x="0" y="0"/>
            <a:chExt cx="281" cy="4320"/>
          </a:xfrm>
        </p:grpSpPr>
        <p:sp>
          <p:nvSpPr>
            <p:cNvPr id="469012" name="Text Box 20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第三版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0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第一章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预备知识</a:t>
              </a:r>
            </a:p>
          </p:txBody>
        </p:sp>
        <p:sp>
          <p:nvSpPr>
            <p:cNvPr id="469013" name="Text Box 21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grpSp>
        <p:nvGrpSpPr>
          <p:cNvPr id="14" name="Group 3"/>
          <p:cNvGrpSpPr>
            <a:grpSpLocks/>
          </p:cNvGrpSpPr>
          <p:nvPr/>
        </p:nvGrpSpPr>
        <p:grpSpPr bwMode="auto">
          <a:xfrm>
            <a:off x="691378" y="1214422"/>
            <a:ext cx="4572032" cy="795338"/>
            <a:chOff x="192" y="768"/>
            <a:chExt cx="3168" cy="501"/>
          </a:xfrm>
        </p:grpSpPr>
        <p:sp>
          <p:nvSpPr>
            <p:cNvPr id="15" name="AutoShape 864"/>
            <p:cNvSpPr>
              <a:spLocks noChangeArrowheads="1"/>
            </p:cNvSpPr>
            <p:nvPr/>
          </p:nvSpPr>
          <p:spPr bwMode="auto">
            <a:xfrm>
              <a:off x="230" y="800"/>
              <a:ext cx="3017" cy="35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FC000"/>
                </a:gs>
                <a:gs pos="100000">
                  <a:srgbClr val="FE6900"/>
                </a:gs>
              </a:gsLst>
              <a:lin ang="5400000" scaled="1"/>
            </a:gradFill>
            <a:ln w="19050" algn="ctr">
              <a:noFill/>
              <a:round/>
              <a:headEnd/>
              <a:tailEnd/>
            </a:ln>
            <a:effectLst>
              <a:outerShdw blurRad="149987" dist="127000" dir="288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146050" h="139700"/>
            </a:sp3d>
          </p:spPr>
          <p:txBody>
            <a:bodyPr wrap="none" lIns="72000" tIns="0" rIns="72000" bIns="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altLang="ko-KR" sz="2000" b="1" kern="0" dirty="0">
                <a:solidFill>
                  <a:schemeClr val="bg1"/>
                </a:solidFill>
                <a:cs typeface="Times New Roman" pitchFamily="18" charset="0"/>
              </a:endParaRPr>
            </a:p>
          </p:txBody>
        </p:sp>
        <p:sp>
          <p:nvSpPr>
            <p:cNvPr id="16" name="AutoShape 50"/>
            <p:cNvSpPr>
              <a:spLocks noChangeArrowheads="1"/>
            </p:cNvSpPr>
            <p:nvPr/>
          </p:nvSpPr>
          <p:spPr bwMode="auto">
            <a:xfrm>
              <a:off x="624" y="848"/>
              <a:ext cx="2457" cy="25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bg1">
                    <a:lumMod val="65000"/>
                  </a:schemeClr>
                </a:gs>
                <a:gs pos="100000">
                  <a:srgbClr val="FFFFFF"/>
                </a:gs>
              </a:gsLst>
              <a:lin ang="5400000" scaled="1"/>
            </a:gradFill>
            <a:ln w="19050" algn="ctr">
              <a:solidFill>
                <a:srgbClr val="FFFFFF"/>
              </a:solidFill>
              <a:round/>
              <a:headEnd/>
              <a:tailEnd/>
            </a:ln>
          </p:spPr>
          <p:txBody>
            <a:bodyPr wrap="none" lIns="342000" tIns="36000" bIns="36000" anchor="ctr"/>
            <a:lstStyle/>
            <a:p>
              <a:pPr marL="457200" indent="-457200" latinLnBrk="1"/>
              <a:r>
                <a:rPr lang="zh-CN" altLang="en-US" sz="2800" b="1" dirty="0">
                  <a:solidFill>
                    <a:srgbClr val="FF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隶书" pitchFamily="49" charset="-122"/>
                </a:rPr>
                <a:t>什么是计算机？</a:t>
              </a:r>
              <a:endPara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17" name="TextBox 47"/>
            <p:cNvSpPr txBox="1">
              <a:spLocks noChangeArrowheads="1"/>
            </p:cNvSpPr>
            <p:nvPr/>
          </p:nvSpPr>
          <p:spPr bwMode="auto">
            <a:xfrm>
              <a:off x="301" y="810"/>
              <a:ext cx="27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 latinLnBrk="1"/>
              <a:r>
                <a:rPr lang="en-US" altLang="zh-CN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34" charset="-127"/>
                  <a:cs typeface="Times New Roman" pitchFamily="18" charset="0"/>
                </a:rPr>
                <a:t>1.</a:t>
              </a:r>
              <a:endParaRPr lang="en-US" altLang="ko-KR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34" charset="-127"/>
                <a:cs typeface="Times New Roman" pitchFamily="18" charset="0"/>
              </a:endParaRPr>
            </a:p>
          </p:txBody>
        </p:sp>
      </p:grpSp>
      <p:grpSp>
        <p:nvGrpSpPr>
          <p:cNvPr id="19" name="Group 3"/>
          <p:cNvGrpSpPr>
            <a:grpSpLocks/>
          </p:cNvGrpSpPr>
          <p:nvPr/>
        </p:nvGrpSpPr>
        <p:grpSpPr bwMode="auto">
          <a:xfrm>
            <a:off x="691378" y="3429000"/>
            <a:ext cx="4572032" cy="795338"/>
            <a:chOff x="192" y="768"/>
            <a:chExt cx="3168" cy="501"/>
          </a:xfrm>
        </p:grpSpPr>
        <p:sp>
          <p:nvSpPr>
            <p:cNvPr id="20" name="AutoShape 864"/>
            <p:cNvSpPr>
              <a:spLocks noChangeArrowheads="1"/>
            </p:cNvSpPr>
            <p:nvPr/>
          </p:nvSpPr>
          <p:spPr bwMode="auto">
            <a:xfrm>
              <a:off x="230" y="800"/>
              <a:ext cx="3017" cy="35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FC000"/>
                </a:gs>
                <a:gs pos="100000">
                  <a:srgbClr val="FE6900"/>
                </a:gs>
              </a:gsLst>
              <a:lin ang="5400000" scaled="1"/>
            </a:gradFill>
            <a:ln w="19050" algn="ctr">
              <a:noFill/>
              <a:round/>
              <a:headEnd/>
              <a:tailEnd/>
            </a:ln>
            <a:effectLst>
              <a:outerShdw blurRad="149987" dist="127000" dir="288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146050" h="139700"/>
            </a:sp3d>
          </p:spPr>
          <p:txBody>
            <a:bodyPr wrap="none" lIns="72000" tIns="0" rIns="72000" bIns="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altLang="ko-KR" sz="2000" b="1" kern="0" dirty="0">
                <a:solidFill>
                  <a:schemeClr val="bg1"/>
                </a:solidFill>
                <a:cs typeface="Times New Roman" pitchFamily="18" charset="0"/>
              </a:endParaRPr>
            </a:p>
          </p:txBody>
        </p:sp>
        <p:sp>
          <p:nvSpPr>
            <p:cNvPr id="21" name="AutoShape 50"/>
            <p:cNvSpPr>
              <a:spLocks noChangeArrowheads="1"/>
            </p:cNvSpPr>
            <p:nvPr/>
          </p:nvSpPr>
          <p:spPr bwMode="auto">
            <a:xfrm>
              <a:off x="624" y="848"/>
              <a:ext cx="2457" cy="25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bg1">
                    <a:lumMod val="65000"/>
                  </a:schemeClr>
                </a:gs>
                <a:gs pos="100000">
                  <a:srgbClr val="FFFFFF"/>
                </a:gs>
              </a:gsLst>
              <a:lin ang="5400000" scaled="1"/>
            </a:gradFill>
            <a:ln w="19050" algn="ctr">
              <a:solidFill>
                <a:srgbClr val="FFFFFF"/>
              </a:solidFill>
              <a:round/>
              <a:headEnd/>
              <a:tailEnd/>
            </a:ln>
          </p:spPr>
          <p:txBody>
            <a:bodyPr wrap="none" lIns="342000" tIns="36000" bIns="36000" anchor="ctr"/>
            <a:lstStyle/>
            <a:p>
              <a:pPr marL="457200" indent="-457200" latinLnBrk="1"/>
              <a:r>
                <a:rPr lang="zh-CN" altLang="en-US" sz="2800" b="1" dirty="0">
                  <a:solidFill>
                    <a:srgbClr val="FF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隶书" pitchFamily="49" charset="-122"/>
                  <a:ea typeface="隶书" pitchFamily="49" charset="-122"/>
                </a:rPr>
                <a:t>何为</a:t>
              </a:r>
              <a:r>
                <a:rPr lang="zh-CN" altLang="en-US" sz="2800" b="1" dirty="0">
                  <a:solidFill>
                    <a:srgbClr val="FF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/>
                  <a:ea typeface="隶书" pitchFamily="49" charset="-122"/>
                </a:rPr>
                <a:t>“</a:t>
              </a:r>
              <a:r>
                <a:rPr lang="zh-CN" altLang="en-US" sz="2800" b="1" dirty="0">
                  <a:solidFill>
                    <a:srgbClr val="FF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隶书" pitchFamily="49" charset="-122"/>
                  <a:ea typeface="隶书" pitchFamily="49" charset="-122"/>
                </a:rPr>
                <a:t>信息</a:t>
              </a:r>
              <a:r>
                <a:rPr lang="zh-CN" altLang="en-US" sz="2800" b="1" dirty="0">
                  <a:solidFill>
                    <a:srgbClr val="FF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/>
                  <a:ea typeface="隶书" pitchFamily="49" charset="-122"/>
                </a:rPr>
                <a:t>”</a:t>
              </a:r>
              <a:r>
                <a:rPr lang="zh-CN" altLang="en-US" sz="2800" b="1" dirty="0">
                  <a:solidFill>
                    <a:srgbClr val="FF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隶书" pitchFamily="49" charset="-122"/>
                  <a:ea typeface="隶书" pitchFamily="49" charset="-122"/>
                </a:rPr>
                <a:t>？</a:t>
              </a:r>
              <a:endPara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22" name="TextBox 47"/>
            <p:cNvSpPr txBox="1">
              <a:spLocks noChangeArrowheads="1"/>
            </p:cNvSpPr>
            <p:nvPr/>
          </p:nvSpPr>
          <p:spPr bwMode="auto">
            <a:xfrm>
              <a:off x="301" y="810"/>
              <a:ext cx="27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 latinLnBrk="1"/>
              <a:r>
                <a:rPr lang="en-US" altLang="zh-CN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34" charset="-127"/>
                  <a:cs typeface="Times New Roman" pitchFamily="18" charset="0"/>
                </a:rPr>
                <a:t>2.</a:t>
              </a:r>
              <a:endParaRPr lang="en-US" altLang="ko-KR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34" charset="-127"/>
                <a:cs typeface="Times New Roman" pitchFamily="18" charset="0"/>
              </a:endParaRPr>
            </a:p>
          </p:txBody>
        </p:sp>
      </p:grpSp>
      <p:grpSp>
        <p:nvGrpSpPr>
          <p:cNvPr id="23" name="Group 3"/>
          <p:cNvGrpSpPr>
            <a:grpSpLocks/>
          </p:cNvGrpSpPr>
          <p:nvPr/>
        </p:nvGrpSpPr>
        <p:grpSpPr bwMode="auto">
          <a:xfrm>
            <a:off x="726106" y="4990812"/>
            <a:ext cx="5966064" cy="561975"/>
            <a:chOff x="230" y="800"/>
            <a:chExt cx="3175" cy="354"/>
          </a:xfrm>
        </p:grpSpPr>
        <p:sp>
          <p:nvSpPr>
            <p:cNvPr id="24" name="AutoShape 864"/>
            <p:cNvSpPr>
              <a:spLocks noChangeArrowheads="1"/>
            </p:cNvSpPr>
            <p:nvPr/>
          </p:nvSpPr>
          <p:spPr bwMode="auto">
            <a:xfrm>
              <a:off x="230" y="800"/>
              <a:ext cx="3175" cy="35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FC000"/>
                </a:gs>
                <a:gs pos="100000">
                  <a:srgbClr val="FE6900"/>
                </a:gs>
              </a:gsLst>
              <a:lin ang="5400000" scaled="1"/>
            </a:gradFill>
            <a:ln w="19050" algn="ctr">
              <a:noFill/>
              <a:round/>
              <a:headEnd/>
              <a:tailEnd/>
            </a:ln>
            <a:effectLst>
              <a:outerShdw blurRad="149987" dist="127000" dir="288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146050" h="139700"/>
            </a:sp3d>
          </p:spPr>
          <p:txBody>
            <a:bodyPr wrap="none" lIns="72000" tIns="0" rIns="72000" bIns="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altLang="ko-KR" sz="2000" b="1" kern="0" dirty="0">
                <a:solidFill>
                  <a:schemeClr val="bg1"/>
                </a:solidFill>
                <a:cs typeface="Times New Roman" pitchFamily="18" charset="0"/>
              </a:endParaRPr>
            </a:p>
          </p:txBody>
        </p:sp>
        <p:sp>
          <p:nvSpPr>
            <p:cNvPr id="25" name="AutoShape 50"/>
            <p:cNvSpPr>
              <a:spLocks noChangeArrowheads="1"/>
            </p:cNvSpPr>
            <p:nvPr/>
          </p:nvSpPr>
          <p:spPr bwMode="auto">
            <a:xfrm>
              <a:off x="530" y="854"/>
              <a:ext cx="2761" cy="25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bg1">
                    <a:lumMod val="65000"/>
                  </a:schemeClr>
                </a:gs>
                <a:gs pos="100000">
                  <a:srgbClr val="FFFFFF"/>
                </a:gs>
              </a:gsLst>
              <a:lin ang="5400000" scaled="1"/>
            </a:gradFill>
            <a:ln w="19050" algn="ctr">
              <a:solidFill>
                <a:srgbClr val="FFFFFF"/>
              </a:solidFill>
              <a:round/>
              <a:headEnd/>
              <a:tailEnd/>
            </a:ln>
          </p:spPr>
          <p:txBody>
            <a:bodyPr wrap="none" lIns="342000" tIns="36000" bIns="36000" anchor="ctr"/>
            <a:lstStyle/>
            <a:p>
              <a:pPr marL="457200" indent="-457200" latinLnBrk="1"/>
              <a:r>
                <a:rPr lang="zh-CN" altLang="en-US" sz="2800" b="1" dirty="0">
                  <a:solidFill>
                    <a:srgbClr val="FF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隶书" pitchFamily="49" charset="-122"/>
                  <a:ea typeface="隶书" pitchFamily="49" charset="-122"/>
                </a:rPr>
                <a:t>计算机中如何表示</a:t>
              </a:r>
              <a:r>
                <a:rPr lang="zh-CN" altLang="en-US" sz="2800" b="1" dirty="0">
                  <a:solidFill>
                    <a:srgbClr val="FF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/>
                  <a:ea typeface="隶书" pitchFamily="49" charset="-122"/>
                </a:rPr>
                <a:t>“</a:t>
              </a:r>
              <a:r>
                <a:rPr lang="zh-CN" altLang="en-US" sz="2800" b="1" dirty="0">
                  <a:solidFill>
                    <a:srgbClr val="FF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隶书" pitchFamily="49" charset="-122"/>
                  <a:ea typeface="隶书" pitchFamily="49" charset="-122"/>
                </a:rPr>
                <a:t>信息</a:t>
              </a:r>
              <a:r>
                <a:rPr lang="zh-CN" altLang="en-US" sz="2800" b="1" dirty="0">
                  <a:solidFill>
                    <a:srgbClr val="FF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/>
                  <a:ea typeface="隶书" pitchFamily="49" charset="-122"/>
                </a:rPr>
                <a:t>”</a:t>
              </a:r>
              <a:r>
                <a:rPr lang="zh-CN" altLang="en-US" sz="2800" b="1" dirty="0">
                  <a:solidFill>
                    <a:srgbClr val="FF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隶书" pitchFamily="49" charset="-122"/>
                  <a:ea typeface="隶书" pitchFamily="49" charset="-122"/>
                </a:rPr>
                <a:t>？</a:t>
              </a:r>
              <a:endPara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26" name="TextBox 47"/>
            <p:cNvSpPr txBox="1">
              <a:spLocks noChangeArrowheads="1"/>
            </p:cNvSpPr>
            <p:nvPr/>
          </p:nvSpPr>
          <p:spPr bwMode="auto">
            <a:xfrm>
              <a:off x="250" y="809"/>
              <a:ext cx="27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 latinLnBrk="1"/>
              <a:r>
                <a:rPr lang="en-US" altLang="zh-CN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34" charset="-127"/>
                  <a:cs typeface="Times New Roman" pitchFamily="18" charset="0"/>
                </a:rPr>
                <a:t>3.</a:t>
              </a:r>
              <a:endParaRPr lang="en-US" altLang="ko-KR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34" charset="-127"/>
                <a:cs typeface="Times New Roman" pitchFamily="18" charset="0"/>
              </a:endParaRPr>
            </a:p>
          </p:txBody>
        </p:sp>
      </p:grpSp>
      <p:sp>
        <p:nvSpPr>
          <p:cNvPr id="469010" name="AutoShape 18"/>
          <p:cNvSpPr>
            <a:spLocks noChangeArrowheads="1"/>
          </p:cNvSpPr>
          <p:nvPr/>
        </p:nvSpPr>
        <p:spPr bwMode="auto">
          <a:xfrm>
            <a:off x="6383411" y="3861048"/>
            <a:ext cx="3529013" cy="863600"/>
          </a:xfrm>
          <a:prstGeom prst="wedgeRoundRectCallout">
            <a:avLst>
              <a:gd name="adj1" fmla="val 33592"/>
              <a:gd name="adj2" fmla="val 158169"/>
              <a:gd name="adj3" fmla="val 16667"/>
            </a:avLst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ctr"/>
            <a:r>
              <a:rPr lang="en-US" altLang="zh-CN" b="1" dirty="0">
                <a:solidFill>
                  <a:schemeClr val="accent2"/>
                </a:solidFill>
              </a:rPr>
              <a:t>101010111111…….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89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89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690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4690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690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690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69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69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8997" grpId="0"/>
      <p:bldP spid="469005" grpId="0"/>
      <p:bldP spid="469007" grpId="0"/>
      <p:bldP spid="469009" grpId="0"/>
      <p:bldP spid="4690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46" name="AutoShape 6"/>
          <p:cNvSpPr>
            <a:spLocks noChangeArrowheads="1"/>
          </p:cNvSpPr>
          <p:nvPr/>
        </p:nvSpPr>
        <p:spPr bwMode="auto">
          <a:xfrm>
            <a:off x="206648" y="1892301"/>
            <a:ext cx="5387975" cy="485775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sz="3200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结论：</a:t>
            </a:r>
          </a:p>
        </p:txBody>
      </p:sp>
      <p:sp>
        <p:nvSpPr>
          <p:cNvPr id="675847" name="Rectangle 7"/>
          <p:cNvSpPr>
            <a:spLocks noChangeArrowheads="1"/>
          </p:cNvSpPr>
          <p:nvPr/>
        </p:nvSpPr>
        <p:spPr bwMode="auto">
          <a:xfrm>
            <a:off x="432073" y="857233"/>
            <a:ext cx="11280551" cy="97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1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C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语言就是编制计算机软件的开发工具。具体就是对这些信息进行处理的软件工具。</a:t>
            </a:r>
          </a:p>
        </p:txBody>
      </p:sp>
      <p:sp>
        <p:nvSpPr>
          <p:cNvPr id="675851" name="Rectangle 11"/>
          <p:cNvSpPr>
            <a:spLocks noChangeArrowheads="1"/>
          </p:cNvSpPr>
          <p:nvPr/>
        </p:nvSpPr>
        <p:spPr bwMode="auto">
          <a:xfrm>
            <a:off x="1120126" y="2713062"/>
            <a:ext cx="10376474" cy="2588146"/>
          </a:xfrm>
          <a:prstGeom prst="rect">
            <a:avLst/>
          </a:prstGeom>
          <a:ln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0" lvl="1">
              <a:spcBef>
                <a:spcPct val="20000"/>
              </a:spcBef>
            </a:pPr>
            <a:r>
              <a:rPr lang="zh-CN" altLang="en-US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除了：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楷体" pitchFamily="49" charset="-122"/>
              <a:ea typeface="楷体" pitchFamily="49" charset="-122"/>
            </a:endParaRPr>
          </a:p>
          <a:p>
            <a:pPr marL="0" lvl="1">
              <a:spcBef>
                <a:spcPct val="20000"/>
              </a:spcBef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_GB2312" pitchFamily="49" charset="-122"/>
              </a:rPr>
              <a:t> 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了解计算机硬件系统的组成（因为硬件是软件的物质基础）。</a:t>
            </a:r>
          </a:p>
          <a:p>
            <a:pPr marL="0" lvl="1">
              <a:spcBef>
                <a:spcPct val="20000"/>
              </a:spcBef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   了解计算机软件系统的组成（因为软件是硬件的灵魂）。</a:t>
            </a:r>
          </a:p>
          <a:p>
            <a:pPr marL="0" lvl="1">
              <a:spcBef>
                <a:spcPct val="20000"/>
              </a:spcBef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   </a:t>
            </a:r>
            <a:r>
              <a:rPr lang="zh-CN" altLang="en-US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更重要的是：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了解二进制数在计算机中的表示形式、表示范围以及二进制数的算术运算和逻辑运算，另外就是数据在计算机中是如何存储的</a:t>
            </a:r>
            <a:r>
              <a:rPr lang="zh-CN" altLang="en-US" sz="32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。</a:t>
            </a:r>
            <a:endParaRPr lang="zh-CN" altLang="en-US" sz="2800" b="1" dirty="0">
              <a:effectLst>
                <a:outerShdw blurRad="38100" dist="38100" dir="2700000" algn="tl">
                  <a:srgbClr val="FFFFFF"/>
                </a:outerShdw>
              </a:effectLst>
              <a:latin typeface="楷体" pitchFamily="49" charset="-122"/>
              <a:ea typeface="楷体" pitchFamily="49" charset="-122"/>
            </a:endParaRPr>
          </a:p>
          <a:p>
            <a:pPr marL="0" lvl="1">
              <a:spcBef>
                <a:spcPct val="20000"/>
              </a:spcBef>
            </a:pPr>
            <a:r>
              <a:rPr lang="zh-CN" altLang="en-US" sz="2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        </a:t>
            </a:r>
          </a:p>
        </p:txBody>
      </p:sp>
      <p:sp>
        <p:nvSpPr>
          <p:cNvPr id="675853" name="Freeform 13"/>
          <p:cNvSpPr>
            <a:spLocks/>
          </p:cNvSpPr>
          <p:nvPr/>
        </p:nvSpPr>
        <p:spPr bwMode="auto">
          <a:xfrm>
            <a:off x="1120126" y="4005286"/>
            <a:ext cx="10304466" cy="1079898"/>
          </a:xfrm>
          <a:custGeom>
            <a:avLst/>
            <a:gdLst/>
            <a:ahLst/>
            <a:cxnLst>
              <a:cxn ang="0">
                <a:pos x="1436" y="103"/>
              </a:cxn>
              <a:cxn ang="0">
                <a:pos x="1685" y="69"/>
              </a:cxn>
              <a:cxn ang="0">
                <a:pos x="2734" y="52"/>
              </a:cxn>
              <a:cxn ang="0">
                <a:pos x="4436" y="26"/>
              </a:cxn>
              <a:cxn ang="0">
                <a:pos x="4668" y="0"/>
              </a:cxn>
              <a:cxn ang="0">
                <a:pos x="4771" y="9"/>
              </a:cxn>
              <a:cxn ang="0">
                <a:pos x="4952" y="69"/>
              </a:cxn>
              <a:cxn ang="0">
                <a:pos x="5055" y="77"/>
              </a:cxn>
              <a:cxn ang="0">
                <a:pos x="5210" y="103"/>
              </a:cxn>
              <a:cxn ang="0">
                <a:pos x="5270" y="249"/>
              </a:cxn>
              <a:cxn ang="0">
                <a:pos x="5210" y="482"/>
              </a:cxn>
              <a:cxn ang="0">
                <a:pos x="5175" y="559"/>
              </a:cxn>
              <a:cxn ang="0">
                <a:pos x="5072" y="679"/>
              </a:cxn>
              <a:cxn ang="0">
                <a:pos x="4341" y="834"/>
              </a:cxn>
              <a:cxn ang="0">
                <a:pos x="2906" y="843"/>
              </a:cxn>
              <a:cxn ang="0">
                <a:pos x="1332" y="894"/>
              </a:cxn>
              <a:cxn ang="0">
                <a:pos x="791" y="886"/>
              </a:cxn>
              <a:cxn ang="0">
                <a:pos x="163" y="851"/>
              </a:cxn>
              <a:cxn ang="0">
                <a:pos x="86" y="825"/>
              </a:cxn>
              <a:cxn ang="0">
                <a:pos x="51" y="782"/>
              </a:cxn>
              <a:cxn ang="0">
                <a:pos x="26" y="739"/>
              </a:cxn>
              <a:cxn ang="0">
                <a:pos x="0" y="662"/>
              </a:cxn>
              <a:cxn ang="0">
                <a:pos x="8" y="499"/>
              </a:cxn>
              <a:cxn ang="0">
                <a:pos x="370" y="327"/>
              </a:cxn>
              <a:cxn ang="0">
                <a:pos x="774" y="361"/>
              </a:cxn>
              <a:cxn ang="0">
                <a:pos x="1384" y="327"/>
              </a:cxn>
              <a:cxn ang="0">
                <a:pos x="1436" y="318"/>
              </a:cxn>
              <a:cxn ang="0">
                <a:pos x="1487" y="301"/>
              </a:cxn>
              <a:cxn ang="0">
                <a:pos x="1436" y="103"/>
              </a:cxn>
            </a:cxnLst>
            <a:rect l="0" t="0" r="r" b="b"/>
            <a:pathLst>
              <a:path w="5270" h="903">
                <a:moveTo>
                  <a:pt x="1436" y="103"/>
                </a:moveTo>
                <a:cubicBezTo>
                  <a:pt x="1522" y="74"/>
                  <a:pt x="1588" y="74"/>
                  <a:pt x="1685" y="69"/>
                </a:cubicBezTo>
                <a:cubicBezTo>
                  <a:pt x="2036" y="80"/>
                  <a:pt x="2384" y="62"/>
                  <a:pt x="2734" y="52"/>
                </a:cubicBezTo>
                <a:cubicBezTo>
                  <a:pt x="3322" y="8"/>
                  <a:pt x="3677" y="30"/>
                  <a:pt x="4436" y="26"/>
                </a:cubicBezTo>
                <a:cubicBezTo>
                  <a:pt x="4513" y="17"/>
                  <a:pt x="4590" y="7"/>
                  <a:pt x="4668" y="0"/>
                </a:cubicBezTo>
                <a:cubicBezTo>
                  <a:pt x="4702" y="3"/>
                  <a:pt x="4737" y="4"/>
                  <a:pt x="4771" y="9"/>
                </a:cubicBezTo>
                <a:cubicBezTo>
                  <a:pt x="4833" y="17"/>
                  <a:pt x="4890" y="61"/>
                  <a:pt x="4952" y="69"/>
                </a:cubicBezTo>
                <a:cubicBezTo>
                  <a:pt x="4986" y="73"/>
                  <a:pt x="5021" y="74"/>
                  <a:pt x="5055" y="77"/>
                </a:cubicBezTo>
                <a:cubicBezTo>
                  <a:pt x="5107" y="86"/>
                  <a:pt x="5158" y="93"/>
                  <a:pt x="5210" y="103"/>
                </a:cubicBezTo>
                <a:cubicBezTo>
                  <a:pt x="5243" y="153"/>
                  <a:pt x="5258" y="191"/>
                  <a:pt x="5270" y="249"/>
                </a:cubicBezTo>
                <a:cubicBezTo>
                  <a:pt x="5264" y="321"/>
                  <a:pt x="5265" y="424"/>
                  <a:pt x="5210" y="482"/>
                </a:cubicBezTo>
                <a:cubicBezTo>
                  <a:pt x="5189" y="543"/>
                  <a:pt x="5202" y="518"/>
                  <a:pt x="5175" y="559"/>
                </a:cubicBezTo>
                <a:cubicBezTo>
                  <a:pt x="5161" y="604"/>
                  <a:pt x="5117" y="665"/>
                  <a:pt x="5072" y="679"/>
                </a:cubicBezTo>
                <a:cubicBezTo>
                  <a:pt x="4854" y="822"/>
                  <a:pt x="4601" y="831"/>
                  <a:pt x="4341" y="834"/>
                </a:cubicBezTo>
                <a:cubicBezTo>
                  <a:pt x="3863" y="839"/>
                  <a:pt x="3384" y="840"/>
                  <a:pt x="2906" y="843"/>
                </a:cubicBezTo>
                <a:cubicBezTo>
                  <a:pt x="2360" y="894"/>
                  <a:pt x="1946" y="890"/>
                  <a:pt x="1332" y="894"/>
                </a:cubicBezTo>
                <a:cubicBezTo>
                  <a:pt x="1150" y="902"/>
                  <a:pt x="973" y="903"/>
                  <a:pt x="791" y="886"/>
                </a:cubicBezTo>
                <a:cubicBezTo>
                  <a:pt x="584" y="843"/>
                  <a:pt x="375" y="855"/>
                  <a:pt x="163" y="851"/>
                </a:cubicBezTo>
                <a:cubicBezTo>
                  <a:pt x="137" y="843"/>
                  <a:pt x="86" y="825"/>
                  <a:pt x="86" y="825"/>
                </a:cubicBezTo>
                <a:cubicBezTo>
                  <a:pt x="76" y="810"/>
                  <a:pt x="61" y="798"/>
                  <a:pt x="51" y="782"/>
                </a:cubicBezTo>
                <a:cubicBezTo>
                  <a:pt x="14" y="722"/>
                  <a:pt x="74" y="789"/>
                  <a:pt x="26" y="739"/>
                </a:cubicBezTo>
                <a:cubicBezTo>
                  <a:pt x="5" y="679"/>
                  <a:pt x="13" y="705"/>
                  <a:pt x="0" y="662"/>
                </a:cubicBezTo>
                <a:cubicBezTo>
                  <a:pt x="3" y="608"/>
                  <a:pt x="3" y="553"/>
                  <a:pt x="8" y="499"/>
                </a:cubicBezTo>
                <a:cubicBezTo>
                  <a:pt x="22" y="337"/>
                  <a:pt x="256" y="335"/>
                  <a:pt x="370" y="327"/>
                </a:cubicBezTo>
                <a:cubicBezTo>
                  <a:pt x="506" y="334"/>
                  <a:pt x="638" y="351"/>
                  <a:pt x="774" y="361"/>
                </a:cubicBezTo>
                <a:cubicBezTo>
                  <a:pt x="978" y="350"/>
                  <a:pt x="1179" y="333"/>
                  <a:pt x="1384" y="327"/>
                </a:cubicBezTo>
                <a:cubicBezTo>
                  <a:pt x="1401" y="324"/>
                  <a:pt x="1419" y="322"/>
                  <a:pt x="1436" y="318"/>
                </a:cubicBezTo>
                <a:cubicBezTo>
                  <a:pt x="1453" y="314"/>
                  <a:pt x="1487" y="301"/>
                  <a:pt x="1487" y="301"/>
                </a:cubicBezTo>
                <a:cubicBezTo>
                  <a:pt x="1512" y="228"/>
                  <a:pt x="1487" y="154"/>
                  <a:pt x="1436" y="103"/>
                </a:cubicBezTo>
                <a:close/>
              </a:path>
            </a:pathLst>
          </a:custGeom>
          <a:noFill/>
          <a:ln w="38100">
            <a:solidFill>
              <a:srgbClr val="0066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75854" name="AutoShape 14"/>
          <p:cNvSpPr>
            <a:spLocks noChangeArrowheads="1"/>
          </p:cNvSpPr>
          <p:nvPr/>
        </p:nvSpPr>
        <p:spPr bwMode="auto">
          <a:xfrm>
            <a:off x="6743625" y="1479812"/>
            <a:ext cx="4752975" cy="1527184"/>
          </a:xfrm>
          <a:prstGeom prst="cloudCallout">
            <a:avLst>
              <a:gd name="adj1" fmla="val -47785"/>
              <a:gd name="adj2" fmla="val 145090"/>
            </a:avLst>
          </a:prstGeom>
          <a:gradFill rotWithShape="1">
            <a:gsLst>
              <a:gs pos="0">
                <a:srgbClr val="FF99CC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/>
          <a:lstStyle/>
          <a:p>
            <a:pPr algn="ctr"/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学好</a:t>
            </a: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C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语言必须掌握的基础知识！！！</a:t>
            </a:r>
          </a:p>
        </p:txBody>
      </p:sp>
      <p:grpSp>
        <p:nvGrpSpPr>
          <p:cNvPr id="675858" name="Group 18"/>
          <p:cNvGrpSpPr>
            <a:grpSpLocks/>
          </p:cNvGrpSpPr>
          <p:nvPr/>
        </p:nvGrpSpPr>
        <p:grpSpPr bwMode="auto">
          <a:xfrm>
            <a:off x="-5016" y="0"/>
            <a:ext cx="446088" cy="6858000"/>
            <a:chOff x="0" y="0"/>
            <a:chExt cx="281" cy="4320"/>
          </a:xfrm>
        </p:grpSpPr>
        <p:sp>
          <p:nvSpPr>
            <p:cNvPr id="675859" name="Text Box 19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</a:rPr>
                <a:t>第三版</a:t>
              </a: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第一章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预备知识</a:t>
              </a:r>
            </a:p>
          </p:txBody>
        </p:sp>
        <p:sp>
          <p:nvSpPr>
            <p:cNvPr id="675860" name="Text Box 20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grpSp>
        <p:nvGrpSpPr>
          <p:cNvPr id="11" name="Group 3"/>
          <p:cNvGrpSpPr>
            <a:grpSpLocks/>
          </p:cNvGrpSpPr>
          <p:nvPr/>
        </p:nvGrpSpPr>
        <p:grpSpPr bwMode="auto">
          <a:xfrm>
            <a:off x="692393" y="214290"/>
            <a:ext cx="4572032" cy="795338"/>
            <a:chOff x="192" y="768"/>
            <a:chExt cx="3168" cy="501"/>
          </a:xfrm>
        </p:grpSpPr>
        <p:sp>
          <p:nvSpPr>
            <p:cNvPr id="12" name="AutoShape 864"/>
            <p:cNvSpPr>
              <a:spLocks noChangeArrowheads="1"/>
            </p:cNvSpPr>
            <p:nvPr/>
          </p:nvSpPr>
          <p:spPr bwMode="auto">
            <a:xfrm>
              <a:off x="230" y="800"/>
              <a:ext cx="3017" cy="35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FC000"/>
                </a:gs>
                <a:gs pos="100000">
                  <a:srgbClr val="FE6900"/>
                </a:gs>
              </a:gsLst>
              <a:lin ang="5400000" scaled="1"/>
            </a:gradFill>
            <a:ln w="19050" algn="ctr">
              <a:noFill/>
              <a:round/>
              <a:headEnd/>
              <a:tailEnd/>
            </a:ln>
            <a:effectLst>
              <a:outerShdw blurRad="149987" dist="127000" dir="288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146050" h="139700"/>
            </a:sp3d>
          </p:spPr>
          <p:txBody>
            <a:bodyPr wrap="none" lIns="72000" tIns="0" rIns="72000" bIns="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altLang="ko-KR" sz="2000" b="1" kern="0" dirty="0">
                <a:solidFill>
                  <a:schemeClr val="bg1"/>
                </a:solidFill>
                <a:cs typeface="Times New Roman" pitchFamily="18" charset="0"/>
              </a:endParaRPr>
            </a:p>
          </p:txBody>
        </p:sp>
        <p:sp>
          <p:nvSpPr>
            <p:cNvPr id="13" name="AutoShape 50"/>
            <p:cNvSpPr>
              <a:spLocks noChangeArrowheads="1"/>
            </p:cNvSpPr>
            <p:nvPr/>
          </p:nvSpPr>
          <p:spPr bwMode="auto">
            <a:xfrm>
              <a:off x="624" y="848"/>
              <a:ext cx="2457" cy="25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bg1">
                    <a:lumMod val="65000"/>
                  </a:schemeClr>
                </a:gs>
                <a:gs pos="100000">
                  <a:srgbClr val="FFFFFF"/>
                </a:gs>
              </a:gsLst>
              <a:lin ang="5400000" scaled="1"/>
            </a:gradFill>
            <a:ln w="19050" algn="ctr">
              <a:solidFill>
                <a:srgbClr val="FFFFFF"/>
              </a:solidFill>
              <a:round/>
              <a:headEnd/>
              <a:tailEnd/>
            </a:ln>
          </p:spPr>
          <p:txBody>
            <a:bodyPr wrap="none" lIns="342000" tIns="36000" bIns="36000" anchor="ctr"/>
            <a:lstStyle/>
            <a:p>
              <a:pPr marL="457200" indent="-457200" latinLnBrk="1"/>
              <a:r>
                <a:rPr lang="zh-CN" altLang="en-US" sz="2800" b="1" dirty="0">
                  <a:solidFill>
                    <a:srgbClr val="FF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隶书" pitchFamily="49" charset="-122"/>
                </a:rPr>
                <a:t>什么是</a:t>
              </a:r>
              <a:r>
                <a:rPr lang="en-US" altLang="zh-CN" sz="2800" b="1" dirty="0">
                  <a:solidFill>
                    <a:srgbClr val="FF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隶书" pitchFamily="49" charset="-122"/>
                </a:rPr>
                <a:t>C</a:t>
              </a:r>
              <a:r>
                <a:rPr lang="zh-CN" altLang="en-US" sz="2800" b="1" dirty="0">
                  <a:solidFill>
                    <a:srgbClr val="FF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隶书" pitchFamily="49" charset="-122"/>
                </a:rPr>
                <a:t>语言？</a:t>
              </a:r>
              <a:endPara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14" name="TextBox 47"/>
            <p:cNvSpPr txBox="1">
              <a:spLocks noChangeArrowheads="1"/>
            </p:cNvSpPr>
            <p:nvPr/>
          </p:nvSpPr>
          <p:spPr bwMode="auto">
            <a:xfrm>
              <a:off x="301" y="810"/>
              <a:ext cx="27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 latinLnBrk="1"/>
              <a:r>
                <a:rPr lang="en-US" altLang="zh-CN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34" charset="-127"/>
                  <a:cs typeface="Times New Roman" pitchFamily="18" charset="0"/>
                </a:rPr>
                <a:t>4.</a:t>
              </a:r>
              <a:endParaRPr lang="en-US" altLang="ko-KR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34" charset="-127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6758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758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758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2000"/>
                                        <p:tgtEl>
                                          <p:spTgt spid="6758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2000"/>
                                        <p:tgtEl>
                                          <p:spTgt spid="675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758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758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46" grpId="0"/>
      <p:bldP spid="675847" grpId="0"/>
      <p:bldP spid="675851" grpId="0" animBg="1"/>
      <p:bldP spid="675853" grpId="0" animBg="1"/>
      <p:bldP spid="67585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866" name="Text Box 2"/>
          <p:cNvSpPr txBox="1">
            <a:spLocks noChangeArrowheads="1"/>
          </p:cNvSpPr>
          <p:nvPr/>
        </p:nvSpPr>
        <p:spPr bwMode="auto">
          <a:xfrm>
            <a:off x="551384" y="141132"/>
            <a:ext cx="4105275" cy="579438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7800" indent="-177800">
              <a:spcBef>
                <a:spcPct val="50000"/>
              </a:spcBef>
              <a:buFont typeface="Wingdings" pitchFamily="2" charset="2"/>
              <a:buChar char="u"/>
              <a:tabLst>
                <a:tab pos="177800" algn="l"/>
              </a:tabLst>
            </a:pPr>
            <a:r>
              <a:rPr kumimoji="0" lang="zh-CN" altLang="en-US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学习目标</a:t>
            </a:r>
            <a:r>
              <a:rPr kumimoji="0"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   </a:t>
            </a:r>
            <a:endParaRPr kumimoji="0" lang="zh-CN" altLang="en-US" dirty="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76870" name="Rectangle 6"/>
          <p:cNvSpPr>
            <a:spLocks noChangeArrowheads="1"/>
          </p:cNvSpPr>
          <p:nvPr/>
        </p:nvSpPr>
        <p:spPr bwMode="auto">
          <a:xfrm>
            <a:off x="1086420" y="812428"/>
            <a:ext cx="10482188" cy="2376041"/>
          </a:xfrm>
          <a:prstGeom prst="rect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3500000" scaled="1"/>
            <a:tileRect/>
          </a:gra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lIns="18000"/>
          <a:lstStyle/>
          <a:p>
            <a:pPr marL="534988" lvl="1" indent="-357188">
              <a:spcBef>
                <a:spcPct val="20000"/>
              </a:spcBef>
              <a:buClr>
                <a:srgbClr val="CC0000"/>
              </a:buClr>
              <a:buFont typeface="Wingdings" pitchFamily="2" charset="2"/>
              <a:buChar char="ü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了解计算机的系统组成及工作原理；</a:t>
            </a:r>
          </a:p>
          <a:p>
            <a:pPr marL="534988" lvl="1" indent="-357188">
              <a:spcBef>
                <a:spcPct val="20000"/>
              </a:spcBef>
              <a:buClr>
                <a:srgbClr val="CC0000"/>
              </a:buClr>
              <a:buFont typeface="Wingdings" pitchFamily="2" charset="2"/>
              <a:buChar char="ü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掌握二进制数的表示及二进制数与其它进制数的转换方法；</a:t>
            </a:r>
          </a:p>
          <a:p>
            <a:pPr marL="534988" lvl="1" indent="-357188">
              <a:spcBef>
                <a:spcPct val="20000"/>
              </a:spcBef>
              <a:buClr>
                <a:srgbClr val="CC0000"/>
              </a:buClr>
              <a:buFont typeface="Wingdings" pitchFamily="2" charset="2"/>
              <a:buChar char="ü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掌握机器数的表示形式和表示范围，特别是补码表示形式；</a:t>
            </a:r>
          </a:p>
          <a:p>
            <a:pPr marL="534988" lvl="1" indent="-357188">
              <a:spcBef>
                <a:spcPct val="20000"/>
              </a:spcBef>
              <a:buClr>
                <a:srgbClr val="CC0000"/>
              </a:buClr>
              <a:buFont typeface="Wingdings" pitchFamily="2" charset="2"/>
              <a:buChar char="ü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掌握补码的加、减运算方法；</a:t>
            </a:r>
          </a:p>
          <a:p>
            <a:pPr marL="534988" lvl="1" indent="-357188">
              <a:spcBef>
                <a:spcPct val="20000"/>
              </a:spcBef>
              <a:buClr>
                <a:srgbClr val="CC0000"/>
              </a:buClr>
              <a:buFont typeface="Wingdings" pitchFamily="2" charset="2"/>
              <a:buChar char="ü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掌握二进制数的位运算方法；          </a:t>
            </a:r>
          </a:p>
        </p:txBody>
      </p:sp>
      <p:sp>
        <p:nvSpPr>
          <p:cNvPr id="676873" name="AutoShape 9"/>
          <p:cNvSpPr>
            <a:spLocks noChangeArrowheads="1"/>
          </p:cNvSpPr>
          <p:nvPr/>
        </p:nvSpPr>
        <p:spPr bwMode="auto">
          <a:xfrm>
            <a:off x="1734492" y="3285282"/>
            <a:ext cx="6769100" cy="1439862"/>
          </a:xfrm>
          <a:prstGeom prst="cloudCallout">
            <a:avLst>
              <a:gd name="adj1" fmla="val 15500"/>
              <a:gd name="adj2" fmla="val -167199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  <a:tileRect/>
          </a:gradFill>
          <a:ln w="25400">
            <a:solidFill>
              <a:srgbClr val="FF00FF"/>
            </a:solidFill>
            <a:round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ctr"/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这些是更好地理解和掌握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C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语言数据类型（第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3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章）的基础。</a:t>
            </a:r>
          </a:p>
        </p:txBody>
      </p:sp>
      <p:grpSp>
        <p:nvGrpSpPr>
          <p:cNvPr id="676877" name="Group 13"/>
          <p:cNvGrpSpPr>
            <a:grpSpLocks/>
          </p:cNvGrpSpPr>
          <p:nvPr/>
        </p:nvGrpSpPr>
        <p:grpSpPr bwMode="auto">
          <a:xfrm>
            <a:off x="-5016" y="0"/>
            <a:ext cx="446088" cy="6858000"/>
            <a:chOff x="0" y="0"/>
            <a:chExt cx="281" cy="4320"/>
          </a:xfrm>
        </p:grpSpPr>
        <p:sp>
          <p:nvSpPr>
            <p:cNvPr id="676878" name="Text Box 14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</a:rPr>
                <a:t>第三版</a:t>
              </a: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第一章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预备知识</a:t>
              </a:r>
            </a:p>
          </p:txBody>
        </p:sp>
        <p:sp>
          <p:nvSpPr>
            <p:cNvPr id="676879" name="Text Box 1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606115" y="3584891"/>
            <a:ext cx="3889375" cy="579438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7800" indent="-177800">
              <a:spcBef>
                <a:spcPct val="50000"/>
              </a:spcBef>
              <a:buFont typeface="Wingdings" pitchFamily="2" charset="2"/>
              <a:buChar char="u"/>
              <a:tabLst>
                <a:tab pos="177800" algn="l"/>
              </a:tabLst>
            </a:pPr>
            <a:r>
              <a:rPr kumimoji="0" lang="zh-CN" altLang="en-US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隶书" pitchFamily="49" charset="-122"/>
              </a:rPr>
              <a:t>学习内容</a:t>
            </a:r>
            <a:r>
              <a:rPr kumimoji="0"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endParaRPr kumimoji="0" lang="zh-CN" altLang="en-US" dirty="0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1055440" y="4269000"/>
            <a:ext cx="10482188" cy="2232595"/>
          </a:xfrm>
          <a:prstGeom prst="rect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3500000" scaled="1"/>
            <a:tileRect/>
          </a:gra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perspectiveFront"/>
            <a:lightRig rig="threePt" dir="t"/>
          </a:scene3d>
          <a:sp3d>
            <a:bevelT w="114300" prst="hardEdge"/>
          </a:sp3d>
        </p:spPr>
        <p:txBody>
          <a:bodyPr lIns="18000">
            <a:sp3d/>
          </a:bodyPr>
          <a:lstStyle/>
          <a:p>
            <a:pPr marL="609600" indent="-431800">
              <a:spcBef>
                <a:spcPct val="20000"/>
              </a:spcBef>
              <a:buClr>
                <a:srgbClr val="CC0000"/>
              </a:buClr>
              <a:buFont typeface="Wingdings" pitchFamily="2" charset="2"/>
              <a:buChar char="Ø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计算机系统组成及工作原理简介 </a:t>
            </a:r>
          </a:p>
          <a:p>
            <a:pPr marL="609600" indent="-431800">
              <a:spcBef>
                <a:spcPct val="20000"/>
              </a:spcBef>
              <a:buClr>
                <a:srgbClr val="CC0000"/>
              </a:buClr>
              <a:buFont typeface="Wingdings" pitchFamily="2" charset="2"/>
              <a:buChar char="Ø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进位计数制及其转换（二进制、八进制、十六进制） </a:t>
            </a:r>
          </a:p>
          <a:p>
            <a:pPr marL="609600" indent="-431800">
              <a:spcBef>
                <a:spcPct val="20000"/>
              </a:spcBef>
              <a:buClr>
                <a:srgbClr val="CC0000"/>
              </a:buClr>
              <a:buFont typeface="Wingdings" pitchFamily="2" charset="2"/>
              <a:buChar char="Ø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机器数的表示形式及其表示范围（原码、补码、反码） </a:t>
            </a:r>
          </a:p>
          <a:p>
            <a:pPr marL="609600" indent="-431800">
              <a:spcBef>
                <a:spcPct val="20000"/>
              </a:spcBef>
              <a:buClr>
                <a:srgbClr val="CC0000"/>
              </a:buClr>
              <a:buFont typeface="Wingdings" pitchFamily="2" charset="2"/>
              <a:buChar char="Ø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二进制数的位运算（与、或、非、异或） </a:t>
            </a:r>
          </a:p>
          <a:p>
            <a:pPr marL="609600" indent="-431800">
              <a:spcBef>
                <a:spcPct val="20000"/>
              </a:spcBef>
              <a:buClr>
                <a:srgbClr val="CC0000"/>
              </a:buClr>
              <a:buFont typeface="Wingdings" pitchFamily="2" charset="2"/>
              <a:buChar char="Ø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本章小结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76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76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6768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76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76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6866" grpId="0"/>
      <p:bldP spid="676870" grpId="0" animBg="1"/>
      <p:bldP spid="676873" grpId="1" animBg="1"/>
      <p:bldP spid="8" grpId="0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4" name="Text Box 2"/>
          <p:cNvSpPr txBox="1">
            <a:spLocks noChangeArrowheads="1"/>
          </p:cNvSpPr>
          <p:nvPr/>
        </p:nvSpPr>
        <p:spPr bwMode="auto">
          <a:xfrm>
            <a:off x="498530" y="173039"/>
            <a:ext cx="7273925" cy="579437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lang="en-US" altLang="zh-CN" sz="32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1.1  </a:t>
            </a:r>
            <a:r>
              <a:rPr lang="zh-CN" altLang="en-US" sz="32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计算机系统组成及工作原理简介</a:t>
            </a:r>
          </a:p>
        </p:txBody>
      </p:sp>
      <p:sp>
        <p:nvSpPr>
          <p:cNvPr id="678915" name="Rectangle 3"/>
          <p:cNvSpPr>
            <a:spLocks noChangeArrowheads="1"/>
          </p:cNvSpPr>
          <p:nvPr/>
        </p:nvSpPr>
        <p:spPr bwMode="auto">
          <a:xfrm>
            <a:off x="2063552" y="3702322"/>
            <a:ext cx="1944688" cy="576263"/>
          </a:xfrm>
          <a:prstGeom prst="rect">
            <a:avLst/>
          </a:prstGeom>
          <a:solidFill>
            <a:srgbClr val="00CCFF"/>
          </a:solidFill>
          <a:ln w="2857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CCFF"/>
            </a:extrusionClr>
          </a:sp3d>
        </p:spPr>
        <p:txBody>
          <a:bodyPr lIns="18000">
            <a:flatTx/>
          </a:bodyPr>
          <a:lstStyle/>
          <a:p>
            <a:pPr marL="609600" indent="-609600">
              <a:spcBef>
                <a:spcPct val="20000"/>
              </a:spcBef>
            </a:pPr>
            <a:r>
              <a:rPr lang="zh-CN" altLang="en-US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计算机系统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</a:t>
            </a:r>
          </a:p>
        </p:txBody>
      </p:sp>
      <p:sp>
        <p:nvSpPr>
          <p:cNvPr id="678916" name="Rectangle 4"/>
          <p:cNvSpPr>
            <a:spLocks noChangeArrowheads="1"/>
          </p:cNvSpPr>
          <p:nvPr/>
        </p:nvSpPr>
        <p:spPr bwMode="auto">
          <a:xfrm>
            <a:off x="4666109" y="2554559"/>
            <a:ext cx="1800225" cy="576262"/>
          </a:xfrm>
          <a:prstGeom prst="rect">
            <a:avLst/>
          </a:prstGeom>
          <a:solidFill>
            <a:srgbClr val="FFCC99"/>
          </a:solidFill>
          <a:ln w="28575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CC99"/>
            </a:extrusionClr>
          </a:sp3d>
        </p:spPr>
        <p:txBody>
          <a:bodyPr lIns="18000">
            <a:flatTx/>
          </a:bodyPr>
          <a:lstStyle/>
          <a:p>
            <a:pPr marL="609600" indent="-609600">
              <a:spcBef>
                <a:spcPct val="20000"/>
              </a:spcBef>
            </a:pP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硬件系统</a:t>
            </a:r>
          </a:p>
        </p:txBody>
      </p:sp>
      <p:sp>
        <p:nvSpPr>
          <p:cNvPr id="678917" name="Rectangle 5"/>
          <p:cNvSpPr>
            <a:spLocks noChangeArrowheads="1"/>
          </p:cNvSpPr>
          <p:nvPr/>
        </p:nvSpPr>
        <p:spPr bwMode="auto">
          <a:xfrm>
            <a:off x="4640709" y="5121547"/>
            <a:ext cx="1944687" cy="576263"/>
          </a:xfrm>
          <a:prstGeom prst="rect">
            <a:avLst/>
          </a:prstGeom>
          <a:solidFill>
            <a:srgbClr val="FF99CC"/>
          </a:solidFill>
          <a:ln w="28575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99CC"/>
            </a:extrusionClr>
          </a:sp3d>
        </p:spPr>
        <p:txBody>
          <a:bodyPr lIns="18000">
            <a:flatTx/>
          </a:bodyPr>
          <a:lstStyle/>
          <a:p>
            <a:pPr marL="609600" indent="-609600">
              <a:spcBef>
                <a:spcPct val="20000"/>
              </a:spcBef>
            </a:pP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软件系统 </a:t>
            </a:r>
          </a:p>
        </p:txBody>
      </p:sp>
      <p:sp>
        <p:nvSpPr>
          <p:cNvPr id="678918" name="AutoShape 6"/>
          <p:cNvSpPr>
            <a:spLocks/>
          </p:cNvSpPr>
          <p:nvPr/>
        </p:nvSpPr>
        <p:spPr bwMode="auto">
          <a:xfrm>
            <a:off x="4326384" y="2618059"/>
            <a:ext cx="288925" cy="2609850"/>
          </a:xfrm>
          <a:prstGeom prst="leftBrace">
            <a:avLst>
              <a:gd name="adj1" fmla="val 75275"/>
              <a:gd name="adj2" fmla="val 50000"/>
            </a:avLst>
          </a:prstGeom>
          <a:noFill/>
          <a:ln w="41275">
            <a:solidFill>
              <a:srgbClr val="FF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8921" name="AutoShape 9"/>
          <p:cNvSpPr>
            <a:spLocks/>
          </p:cNvSpPr>
          <p:nvPr/>
        </p:nvSpPr>
        <p:spPr bwMode="auto">
          <a:xfrm>
            <a:off x="6847333" y="1482996"/>
            <a:ext cx="215900" cy="2520950"/>
          </a:xfrm>
          <a:prstGeom prst="leftBrace">
            <a:avLst>
              <a:gd name="adj1" fmla="val 97304"/>
              <a:gd name="adj2" fmla="val 50000"/>
            </a:avLst>
          </a:prstGeom>
          <a:noFill/>
          <a:ln w="41275">
            <a:solidFill>
              <a:srgbClr val="FF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8923" name="Text Box 11"/>
          <p:cNvSpPr txBox="1">
            <a:spLocks noChangeArrowheads="1"/>
          </p:cNvSpPr>
          <p:nvPr/>
        </p:nvSpPr>
        <p:spPr bwMode="auto">
          <a:xfrm>
            <a:off x="7207696" y="1314721"/>
            <a:ext cx="12239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运算器</a:t>
            </a:r>
          </a:p>
        </p:txBody>
      </p:sp>
      <p:sp>
        <p:nvSpPr>
          <p:cNvPr id="678924" name="Text Box 12"/>
          <p:cNvSpPr txBox="1">
            <a:spLocks noChangeArrowheads="1"/>
          </p:cNvSpPr>
          <p:nvPr/>
        </p:nvSpPr>
        <p:spPr bwMode="auto">
          <a:xfrm>
            <a:off x="7207696" y="1898921"/>
            <a:ext cx="12239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控制器</a:t>
            </a:r>
          </a:p>
        </p:txBody>
      </p:sp>
      <p:sp>
        <p:nvSpPr>
          <p:cNvPr id="678925" name="Text Box 13"/>
          <p:cNvSpPr txBox="1">
            <a:spLocks noChangeArrowheads="1"/>
          </p:cNvSpPr>
          <p:nvPr/>
        </p:nvSpPr>
        <p:spPr bwMode="auto">
          <a:xfrm>
            <a:off x="7194996" y="2483121"/>
            <a:ext cx="12239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存储器</a:t>
            </a:r>
          </a:p>
        </p:txBody>
      </p:sp>
      <p:sp>
        <p:nvSpPr>
          <p:cNvPr id="678926" name="Text Box 14"/>
          <p:cNvSpPr txBox="1">
            <a:spLocks noChangeArrowheads="1"/>
          </p:cNvSpPr>
          <p:nvPr/>
        </p:nvSpPr>
        <p:spPr bwMode="auto">
          <a:xfrm>
            <a:off x="7207695" y="3194321"/>
            <a:ext cx="1485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输入设备</a:t>
            </a:r>
          </a:p>
        </p:txBody>
      </p:sp>
      <p:sp>
        <p:nvSpPr>
          <p:cNvPr id="678927" name="Text Box 15"/>
          <p:cNvSpPr txBox="1">
            <a:spLocks noChangeArrowheads="1"/>
          </p:cNvSpPr>
          <p:nvPr/>
        </p:nvSpPr>
        <p:spPr bwMode="auto">
          <a:xfrm>
            <a:off x="7220395" y="3715021"/>
            <a:ext cx="1485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输出设备</a:t>
            </a:r>
          </a:p>
        </p:txBody>
      </p:sp>
      <p:sp>
        <p:nvSpPr>
          <p:cNvPr id="678928" name="AutoShape 16"/>
          <p:cNvSpPr>
            <a:spLocks/>
          </p:cNvSpPr>
          <p:nvPr/>
        </p:nvSpPr>
        <p:spPr bwMode="auto">
          <a:xfrm>
            <a:off x="8342759" y="2284685"/>
            <a:ext cx="287337" cy="935037"/>
          </a:xfrm>
          <a:prstGeom prst="leftBrace">
            <a:avLst>
              <a:gd name="adj1" fmla="val 27118"/>
              <a:gd name="adj2" fmla="val 50000"/>
            </a:avLst>
          </a:prstGeom>
          <a:noFill/>
          <a:ln w="41275">
            <a:solidFill>
              <a:srgbClr val="FF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8929" name="Text Box 17"/>
          <p:cNvSpPr txBox="1">
            <a:spLocks noChangeArrowheads="1"/>
          </p:cNvSpPr>
          <p:nvPr/>
        </p:nvSpPr>
        <p:spPr bwMode="auto">
          <a:xfrm>
            <a:off x="8576120" y="2157684"/>
            <a:ext cx="9350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内存</a:t>
            </a:r>
          </a:p>
        </p:txBody>
      </p:sp>
      <p:sp>
        <p:nvSpPr>
          <p:cNvPr id="678930" name="Text Box 18"/>
          <p:cNvSpPr txBox="1">
            <a:spLocks noChangeArrowheads="1"/>
          </p:cNvSpPr>
          <p:nvPr/>
        </p:nvSpPr>
        <p:spPr bwMode="auto">
          <a:xfrm>
            <a:off x="8576120" y="2881584"/>
            <a:ext cx="9350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外存</a:t>
            </a:r>
          </a:p>
        </p:txBody>
      </p:sp>
      <p:sp>
        <p:nvSpPr>
          <p:cNvPr id="678931" name="AutoShape 19"/>
          <p:cNvSpPr>
            <a:spLocks/>
          </p:cNvSpPr>
          <p:nvPr/>
        </p:nvSpPr>
        <p:spPr bwMode="auto">
          <a:xfrm rot="10800000">
            <a:off x="8431659" y="1581421"/>
            <a:ext cx="287337" cy="584200"/>
          </a:xfrm>
          <a:prstGeom prst="leftBrace">
            <a:avLst>
              <a:gd name="adj1" fmla="val 16943"/>
              <a:gd name="adj2" fmla="val 50000"/>
            </a:avLst>
          </a:prstGeom>
          <a:noFill/>
          <a:ln w="41275">
            <a:solidFill>
              <a:srgbClr val="FF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8932" name="Text Box 20"/>
          <p:cNvSpPr txBox="1">
            <a:spLocks noChangeArrowheads="1"/>
          </p:cNvSpPr>
          <p:nvPr/>
        </p:nvSpPr>
        <p:spPr bwMode="auto">
          <a:xfrm>
            <a:off x="8677720" y="1598884"/>
            <a:ext cx="9350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CPU</a:t>
            </a:r>
          </a:p>
        </p:txBody>
      </p:sp>
      <p:sp>
        <p:nvSpPr>
          <p:cNvPr id="678933" name="AutoShape 21"/>
          <p:cNvSpPr>
            <a:spLocks/>
          </p:cNvSpPr>
          <p:nvPr/>
        </p:nvSpPr>
        <p:spPr bwMode="auto">
          <a:xfrm rot="10800000">
            <a:off x="9384159" y="1797321"/>
            <a:ext cx="287337" cy="584200"/>
          </a:xfrm>
          <a:prstGeom prst="leftBrace">
            <a:avLst>
              <a:gd name="adj1" fmla="val 16943"/>
              <a:gd name="adj2" fmla="val 50000"/>
            </a:avLst>
          </a:prstGeom>
          <a:noFill/>
          <a:ln w="41275">
            <a:solidFill>
              <a:srgbClr val="FF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8934" name="Text Box 22"/>
          <p:cNvSpPr txBox="1">
            <a:spLocks noChangeArrowheads="1"/>
          </p:cNvSpPr>
          <p:nvPr/>
        </p:nvSpPr>
        <p:spPr bwMode="auto">
          <a:xfrm>
            <a:off x="9625459" y="1817959"/>
            <a:ext cx="9350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主机</a:t>
            </a:r>
          </a:p>
        </p:txBody>
      </p:sp>
      <p:sp>
        <p:nvSpPr>
          <p:cNvPr id="678936" name="AutoShape 24"/>
          <p:cNvSpPr>
            <a:spLocks/>
          </p:cNvSpPr>
          <p:nvPr/>
        </p:nvSpPr>
        <p:spPr bwMode="auto">
          <a:xfrm rot="10800000">
            <a:off x="9295259" y="3165746"/>
            <a:ext cx="287337" cy="935038"/>
          </a:xfrm>
          <a:prstGeom prst="leftBrace">
            <a:avLst>
              <a:gd name="adj1" fmla="val 27118"/>
              <a:gd name="adj2" fmla="val 50000"/>
            </a:avLst>
          </a:prstGeom>
          <a:noFill/>
          <a:ln w="41275">
            <a:solidFill>
              <a:srgbClr val="FF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8937" name="Text Box 25"/>
          <p:cNvSpPr txBox="1">
            <a:spLocks noChangeArrowheads="1"/>
          </p:cNvSpPr>
          <p:nvPr/>
        </p:nvSpPr>
        <p:spPr bwMode="auto">
          <a:xfrm>
            <a:off x="9558784" y="3173685"/>
            <a:ext cx="93503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外围设备</a:t>
            </a:r>
          </a:p>
        </p:txBody>
      </p:sp>
      <p:sp>
        <p:nvSpPr>
          <p:cNvPr id="678938" name="AutoShape 26"/>
          <p:cNvSpPr>
            <a:spLocks/>
          </p:cNvSpPr>
          <p:nvPr/>
        </p:nvSpPr>
        <p:spPr bwMode="auto">
          <a:xfrm>
            <a:off x="6902895" y="4846910"/>
            <a:ext cx="287338" cy="935037"/>
          </a:xfrm>
          <a:prstGeom prst="leftBrace">
            <a:avLst>
              <a:gd name="adj1" fmla="val 27118"/>
              <a:gd name="adj2" fmla="val 50000"/>
            </a:avLst>
          </a:prstGeom>
          <a:noFill/>
          <a:ln w="41275">
            <a:solidFill>
              <a:srgbClr val="FF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8939" name="Text Box 27"/>
          <p:cNvSpPr txBox="1">
            <a:spLocks noChangeArrowheads="1"/>
          </p:cNvSpPr>
          <p:nvPr/>
        </p:nvSpPr>
        <p:spPr bwMode="auto">
          <a:xfrm>
            <a:off x="7233095" y="4616721"/>
            <a:ext cx="1485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系统软件</a:t>
            </a:r>
          </a:p>
        </p:txBody>
      </p:sp>
      <p:sp>
        <p:nvSpPr>
          <p:cNvPr id="678940" name="Text Box 28"/>
          <p:cNvSpPr txBox="1">
            <a:spLocks noChangeArrowheads="1"/>
          </p:cNvSpPr>
          <p:nvPr/>
        </p:nvSpPr>
        <p:spPr bwMode="auto">
          <a:xfrm>
            <a:off x="7156895" y="5518421"/>
            <a:ext cx="1485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应用软件</a:t>
            </a:r>
          </a:p>
        </p:txBody>
      </p:sp>
      <p:sp>
        <p:nvSpPr>
          <p:cNvPr id="678941" name="AutoShape 29"/>
          <p:cNvSpPr>
            <a:spLocks noChangeArrowheads="1"/>
          </p:cNvSpPr>
          <p:nvPr/>
        </p:nvSpPr>
        <p:spPr bwMode="auto">
          <a:xfrm>
            <a:off x="2383284" y="931600"/>
            <a:ext cx="3383731" cy="1296988"/>
          </a:xfrm>
          <a:prstGeom prst="wedgeRoundRectCallout">
            <a:avLst>
              <a:gd name="adj1" fmla="val 48604"/>
              <a:gd name="adj2" fmla="val 73222"/>
              <a:gd name="adj3" fmla="val 16667"/>
            </a:avLst>
          </a:prstGeom>
          <a:gradFill rotWithShape="1">
            <a:gsLst>
              <a:gs pos="0">
                <a:srgbClr val="FFCCFF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r>
              <a:rPr lang="en-US" altLang="zh-CN" sz="2000" b="1" dirty="0">
                <a:solidFill>
                  <a:schemeClr val="accent2"/>
                </a:solidFill>
                <a:latin typeface="楷体" pitchFamily="49" charset="-122"/>
                <a:ea typeface="楷体" pitchFamily="49" charset="-122"/>
              </a:rPr>
              <a:t>   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硬件是指构成计算机的物理装置，看得见、摸得着，是一些实实在在的有形实体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 </a:t>
            </a:r>
          </a:p>
        </p:txBody>
      </p:sp>
      <p:sp>
        <p:nvSpPr>
          <p:cNvPr id="678942" name="AutoShape 30"/>
          <p:cNvSpPr>
            <a:spLocks noChangeArrowheads="1"/>
          </p:cNvSpPr>
          <p:nvPr/>
        </p:nvSpPr>
        <p:spPr bwMode="auto">
          <a:xfrm>
            <a:off x="2351534" y="5877197"/>
            <a:ext cx="3271465" cy="792163"/>
          </a:xfrm>
          <a:prstGeom prst="wedgeRoundRectCallout">
            <a:avLst>
              <a:gd name="adj1" fmla="val 54574"/>
              <a:gd name="adj2" fmla="val -89681"/>
              <a:gd name="adj3" fmla="val 16667"/>
            </a:avLst>
          </a:prstGeom>
          <a:gradFill rotWithShape="1">
            <a:gsLst>
              <a:gs pos="0">
                <a:srgbClr val="00FFFF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r>
              <a:rPr lang="en-US" altLang="zh-CN" sz="2000" b="1" dirty="0">
                <a:solidFill>
                  <a:schemeClr val="accent2"/>
                </a:solidFill>
                <a:latin typeface="楷体" pitchFamily="49" charset="-122"/>
                <a:ea typeface="楷体" pitchFamily="49" charset="-122"/>
              </a:rPr>
              <a:t>   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软件是指计算机程序及有关程序的技术文档资料 </a:t>
            </a:r>
          </a:p>
        </p:txBody>
      </p:sp>
      <p:grpSp>
        <p:nvGrpSpPr>
          <p:cNvPr id="678949" name="Group 37"/>
          <p:cNvGrpSpPr>
            <a:grpSpLocks/>
          </p:cNvGrpSpPr>
          <p:nvPr/>
        </p:nvGrpSpPr>
        <p:grpSpPr bwMode="auto">
          <a:xfrm>
            <a:off x="-5016" y="0"/>
            <a:ext cx="446088" cy="6858000"/>
            <a:chOff x="0" y="0"/>
            <a:chExt cx="281" cy="4320"/>
          </a:xfrm>
        </p:grpSpPr>
        <p:sp>
          <p:nvSpPr>
            <p:cNvPr id="678950" name="Text Box 38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</a:rPr>
                <a:t>第三版</a:t>
              </a: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第一章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预备知识</a:t>
              </a:r>
            </a:p>
          </p:txBody>
        </p:sp>
        <p:sp>
          <p:nvSpPr>
            <p:cNvPr id="678951" name="Text Box 39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6789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789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6789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6789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789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789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789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789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6789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6789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6789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6789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6789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6789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6789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6789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6789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6789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6789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6789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6789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6789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6789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500"/>
                                        <p:tgtEl>
                                          <p:spTgt spid="6789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9" dur="500"/>
                                        <p:tgtEl>
                                          <p:spTgt spid="6789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4" dur="500"/>
                                        <p:tgtEl>
                                          <p:spTgt spid="6789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8915" grpId="0" animBg="1"/>
      <p:bldP spid="678916" grpId="0" animBg="1"/>
      <p:bldP spid="678917" grpId="0" animBg="1"/>
      <p:bldP spid="678918" grpId="0" animBg="1"/>
      <p:bldP spid="678921" grpId="0" animBg="1"/>
      <p:bldP spid="678923" grpId="0"/>
      <p:bldP spid="678924" grpId="0"/>
      <p:bldP spid="678925" grpId="0"/>
      <p:bldP spid="678926" grpId="0"/>
      <p:bldP spid="678927" grpId="0"/>
      <p:bldP spid="678928" grpId="0" animBg="1"/>
      <p:bldP spid="678929" grpId="0"/>
      <p:bldP spid="678930" grpId="0"/>
      <p:bldP spid="678931" grpId="0" animBg="1"/>
      <p:bldP spid="678932" grpId="0"/>
      <p:bldP spid="678933" grpId="0" animBg="1"/>
      <p:bldP spid="678934" grpId="0"/>
      <p:bldP spid="678936" grpId="0" animBg="1"/>
      <p:bldP spid="678937" grpId="0"/>
      <p:bldP spid="678938" grpId="0" animBg="1"/>
      <p:bldP spid="678939" grpId="0"/>
      <p:bldP spid="678940" grpId="0"/>
      <p:bldP spid="678941" grpId="0" animBg="1"/>
      <p:bldP spid="67894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938" name="Text Box 2"/>
          <p:cNvSpPr txBox="1">
            <a:spLocks noChangeArrowheads="1"/>
          </p:cNvSpPr>
          <p:nvPr/>
        </p:nvSpPr>
        <p:spPr bwMode="auto">
          <a:xfrm>
            <a:off x="455667" y="260350"/>
            <a:ext cx="6626225" cy="579438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7800" indent="-177800">
              <a:spcBef>
                <a:spcPct val="50000"/>
              </a:spcBef>
              <a:buFont typeface="Wingdings" pitchFamily="2" charset="2"/>
              <a:buChar char="u"/>
              <a:tabLst>
                <a:tab pos="177800" algn="l"/>
              </a:tabLst>
            </a:pPr>
            <a:r>
              <a:rPr kumimoji="0" lang="zh-CN" altLang="en-US" sz="32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硬件系统的基本组成及工作原理</a:t>
            </a:r>
          </a:p>
        </p:txBody>
      </p:sp>
      <p:grpSp>
        <p:nvGrpSpPr>
          <p:cNvPr id="680092" name="Group 156"/>
          <p:cNvGrpSpPr>
            <a:grpSpLocks/>
          </p:cNvGrpSpPr>
          <p:nvPr/>
        </p:nvGrpSpPr>
        <p:grpSpPr bwMode="auto">
          <a:xfrm>
            <a:off x="1415480" y="1412876"/>
            <a:ext cx="10297144" cy="5114925"/>
            <a:chOff x="297" y="890"/>
            <a:chExt cx="5244" cy="3222"/>
          </a:xfrm>
        </p:grpSpPr>
        <p:sp>
          <p:nvSpPr>
            <p:cNvPr id="680042" name="Text Box 106"/>
            <p:cNvSpPr txBox="1">
              <a:spLocks noChangeArrowheads="1"/>
            </p:cNvSpPr>
            <p:nvPr/>
          </p:nvSpPr>
          <p:spPr bwMode="auto">
            <a:xfrm>
              <a:off x="1278" y="1602"/>
              <a:ext cx="756" cy="356"/>
            </a:xfrm>
            <a:prstGeom prst="rect">
              <a:avLst/>
            </a:prstGeom>
            <a:solidFill>
              <a:srgbClr val="FFCC99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CC99"/>
              </a:extrusionClr>
            </a:sp3d>
          </p:spPr>
          <p:txBody>
            <a:bodyPr>
              <a:flatTx/>
            </a:bodyPr>
            <a:lstStyle/>
            <a:p>
              <a:pPr algn="just"/>
              <a:r>
                <a:rPr lang="zh-CN" altLang="en-US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楷体" pitchFamily="49" charset="-122"/>
                  <a:ea typeface="楷体" pitchFamily="49" charset="-122"/>
                </a:rPr>
                <a:t>输入设备</a:t>
              </a:r>
            </a:p>
          </p:txBody>
        </p:sp>
        <p:grpSp>
          <p:nvGrpSpPr>
            <p:cNvPr id="680091" name="Group 155"/>
            <p:cNvGrpSpPr>
              <a:grpSpLocks/>
            </p:cNvGrpSpPr>
            <p:nvPr/>
          </p:nvGrpSpPr>
          <p:grpSpPr bwMode="auto">
            <a:xfrm>
              <a:off x="297" y="890"/>
              <a:ext cx="5244" cy="3222"/>
              <a:chOff x="297" y="890"/>
              <a:chExt cx="5244" cy="3222"/>
            </a:xfrm>
          </p:grpSpPr>
          <p:sp>
            <p:nvSpPr>
              <p:cNvPr id="680041" name="Text Box 105"/>
              <p:cNvSpPr txBox="1">
                <a:spLocks noChangeArrowheads="1"/>
              </p:cNvSpPr>
              <p:nvPr/>
            </p:nvSpPr>
            <p:spPr bwMode="auto">
              <a:xfrm>
                <a:off x="2674" y="1613"/>
                <a:ext cx="756" cy="356"/>
              </a:xfrm>
              <a:prstGeom prst="rect">
                <a:avLst/>
              </a:prstGeom>
              <a:solidFill>
                <a:srgbClr val="FFFF00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FFFF00"/>
                </a:extrusionClr>
              </a:sp3d>
            </p:spPr>
            <p:txBody>
              <a:bodyPr>
                <a:flatTx/>
              </a:bodyPr>
              <a:lstStyle/>
              <a:p>
                <a:pPr algn="just"/>
                <a:r>
                  <a:rPr lang="zh-CN" altLang="en-US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内存储器</a:t>
                </a:r>
              </a:p>
            </p:txBody>
          </p:sp>
          <p:sp>
            <p:nvSpPr>
              <p:cNvPr id="680043" name="Text Box 107"/>
              <p:cNvSpPr txBox="1">
                <a:spLocks noChangeArrowheads="1"/>
              </p:cNvSpPr>
              <p:nvPr/>
            </p:nvSpPr>
            <p:spPr bwMode="auto">
              <a:xfrm>
                <a:off x="2695" y="890"/>
                <a:ext cx="756" cy="356"/>
              </a:xfrm>
              <a:prstGeom prst="rect">
                <a:avLst/>
              </a:prstGeom>
              <a:solidFill>
                <a:srgbClr val="CCFFFF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CCFFFF"/>
                </a:extrusionClr>
              </a:sp3d>
            </p:spPr>
            <p:txBody>
              <a:bodyPr>
                <a:flatTx/>
              </a:bodyPr>
              <a:lstStyle/>
              <a:p>
                <a:pPr algn="just"/>
                <a:r>
                  <a:rPr lang="zh-CN" altLang="en-US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外存储器</a:t>
                </a:r>
              </a:p>
            </p:txBody>
          </p:sp>
          <p:sp>
            <p:nvSpPr>
              <p:cNvPr id="680044" name="Text Box 108"/>
              <p:cNvSpPr txBox="1">
                <a:spLocks noChangeArrowheads="1"/>
              </p:cNvSpPr>
              <p:nvPr/>
            </p:nvSpPr>
            <p:spPr bwMode="auto">
              <a:xfrm>
                <a:off x="4154" y="1602"/>
                <a:ext cx="756" cy="356"/>
              </a:xfrm>
              <a:prstGeom prst="rect">
                <a:avLst/>
              </a:prstGeom>
              <a:solidFill>
                <a:srgbClr val="FF99CC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FF99CC"/>
                </a:extrusionClr>
              </a:sp3d>
            </p:spPr>
            <p:txBody>
              <a:bodyPr>
                <a:flatTx/>
              </a:bodyPr>
              <a:lstStyle/>
              <a:p>
                <a:pPr algn="ctr"/>
                <a:r>
                  <a:rPr lang="zh-CN" altLang="en-US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运算器</a:t>
                </a:r>
              </a:p>
            </p:txBody>
          </p:sp>
          <p:sp>
            <p:nvSpPr>
              <p:cNvPr id="680045" name="Text Box 109"/>
              <p:cNvSpPr txBox="1">
                <a:spLocks noChangeArrowheads="1"/>
              </p:cNvSpPr>
              <p:nvPr/>
            </p:nvSpPr>
            <p:spPr bwMode="auto">
              <a:xfrm>
                <a:off x="2674" y="3211"/>
                <a:ext cx="756" cy="356"/>
              </a:xfrm>
              <a:prstGeom prst="rect">
                <a:avLst/>
              </a:prstGeom>
              <a:solidFill>
                <a:srgbClr val="CC99FF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CC99FF"/>
                </a:extrusionClr>
              </a:sp3d>
            </p:spPr>
            <p:txBody>
              <a:bodyPr>
                <a:flatTx/>
              </a:bodyPr>
              <a:lstStyle/>
              <a:p>
                <a:pPr algn="ctr"/>
                <a:r>
                  <a:rPr lang="zh-CN" altLang="en-US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控制器</a:t>
                </a:r>
              </a:p>
            </p:txBody>
          </p:sp>
          <p:sp>
            <p:nvSpPr>
              <p:cNvPr id="680046" name="Text Box 110"/>
              <p:cNvSpPr txBox="1">
                <a:spLocks noChangeArrowheads="1"/>
              </p:cNvSpPr>
              <p:nvPr/>
            </p:nvSpPr>
            <p:spPr bwMode="auto">
              <a:xfrm>
                <a:off x="1278" y="3211"/>
                <a:ext cx="756" cy="356"/>
              </a:xfrm>
              <a:prstGeom prst="rect">
                <a:avLst/>
              </a:prstGeom>
              <a:solidFill>
                <a:srgbClr val="99CCFF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99CCFF"/>
                </a:extrusionClr>
              </a:sp3d>
            </p:spPr>
            <p:txBody>
              <a:bodyPr>
                <a:flatTx/>
              </a:bodyPr>
              <a:lstStyle/>
              <a:p>
                <a:pPr algn="just"/>
                <a:r>
                  <a:rPr lang="zh-CN" altLang="en-US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输出设备</a:t>
                </a:r>
              </a:p>
            </p:txBody>
          </p:sp>
          <p:sp>
            <p:nvSpPr>
              <p:cNvPr id="680047" name="Line 111"/>
              <p:cNvSpPr>
                <a:spLocks noChangeShapeType="1"/>
              </p:cNvSpPr>
              <p:nvPr/>
            </p:nvSpPr>
            <p:spPr bwMode="auto">
              <a:xfrm>
                <a:off x="648" y="1709"/>
                <a:ext cx="630" cy="0"/>
              </a:xfrm>
              <a:prstGeom prst="line">
                <a:avLst/>
              </a:prstGeom>
              <a:noFill/>
              <a:ln w="34925">
                <a:solidFill>
                  <a:srgbClr val="FF3300"/>
                </a:solidFill>
                <a:round/>
                <a:headEnd/>
                <a:tailEnd type="stealth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0048" name="Line 112"/>
              <p:cNvSpPr>
                <a:spLocks noChangeShapeType="1"/>
              </p:cNvSpPr>
              <p:nvPr/>
            </p:nvSpPr>
            <p:spPr bwMode="auto">
              <a:xfrm>
                <a:off x="648" y="1862"/>
                <a:ext cx="630" cy="0"/>
              </a:xfrm>
              <a:prstGeom prst="line">
                <a:avLst/>
              </a:prstGeom>
              <a:noFill/>
              <a:ln w="34925">
                <a:solidFill>
                  <a:srgbClr val="FF3300"/>
                </a:solidFill>
                <a:round/>
                <a:headEnd/>
                <a:tailEnd type="stealth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0049" name="Line 113"/>
              <p:cNvSpPr>
                <a:spLocks noChangeShapeType="1"/>
              </p:cNvSpPr>
              <p:nvPr/>
            </p:nvSpPr>
            <p:spPr bwMode="auto">
              <a:xfrm>
                <a:off x="2086" y="1744"/>
                <a:ext cx="574" cy="0"/>
              </a:xfrm>
              <a:prstGeom prst="line">
                <a:avLst/>
              </a:prstGeom>
              <a:noFill/>
              <a:ln w="34925">
                <a:solidFill>
                  <a:srgbClr val="FF3300"/>
                </a:solidFill>
                <a:round/>
                <a:headEnd/>
                <a:tailEnd type="stealth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0050" name="Line 114"/>
              <p:cNvSpPr>
                <a:spLocks noChangeShapeType="1"/>
              </p:cNvSpPr>
              <p:nvPr/>
            </p:nvSpPr>
            <p:spPr bwMode="auto">
              <a:xfrm>
                <a:off x="3493" y="1744"/>
                <a:ext cx="630" cy="0"/>
              </a:xfrm>
              <a:prstGeom prst="line">
                <a:avLst/>
              </a:prstGeom>
              <a:noFill/>
              <a:ln w="34925">
                <a:solidFill>
                  <a:srgbClr val="FF3300"/>
                </a:solidFill>
                <a:round/>
                <a:headEnd/>
                <a:tailEnd type="stealth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0051" name="Line 115"/>
              <p:cNvSpPr>
                <a:spLocks noChangeShapeType="1"/>
              </p:cNvSpPr>
              <p:nvPr/>
            </p:nvSpPr>
            <p:spPr bwMode="auto">
              <a:xfrm rot="10800000">
                <a:off x="3482" y="1880"/>
                <a:ext cx="629" cy="0"/>
              </a:xfrm>
              <a:prstGeom prst="line">
                <a:avLst/>
              </a:prstGeom>
              <a:noFill/>
              <a:ln w="34925">
                <a:solidFill>
                  <a:srgbClr val="FF3300"/>
                </a:solidFill>
                <a:round/>
                <a:headEnd/>
                <a:tailEnd type="stealth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0052" name="Line 116"/>
              <p:cNvSpPr>
                <a:spLocks noChangeShapeType="1"/>
              </p:cNvSpPr>
              <p:nvPr/>
            </p:nvSpPr>
            <p:spPr bwMode="auto">
              <a:xfrm>
                <a:off x="2915" y="1964"/>
                <a:ext cx="0" cy="1186"/>
              </a:xfrm>
              <a:prstGeom prst="line">
                <a:avLst/>
              </a:prstGeom>
              <a:noFill/>
              <a:ln w="34925">
                <a:solidFill>
                  <a:srgbClr val="FF3300"/>
                </a:solidFill>
                <a:round/>
                <a:headEnd/>
                <a:tailEnd type="stealth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0053" name="Line 117"/>
              <p:cNvSpPr>
                <a:spLocks noChangeShapeType="1"/>
              </p:cNvSpPr>
              <p:nvPr/>
            </p:nvSpPr>
            <p:spPr bwMode="auto">
              <a:xfrm rot="10800000">
                <a:off x="3167" y="1992"/>
                <a:ext cx="0" cy="1187"/>
              </a:xfrm>
              <a:prstGeom prst="line">
                <a:avLst/>
              </a:prstGeom>
              <a:noFill/>
              <a:ln w="34925" cap="rnd">
                <a:solidFill>
                  <a:srgbClr val="008000"/>
                </a:solidFill>
                <a:prstDash val="sysDot"/>
                <a:round/>
                <a:headEnd/>
                <a:tailEnd type="stealth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680054" name="Group 118"/>
              <p:cNvGrpSpPr>
                <a:grpSpLocks/>
              </p:cNvGrpSpPr>
              <p:nvPr/>
            </p:nvGrpSpPr>
            <p:grpSpPr bwMode="auto">
              <a:xfrm>
                <a:off x="3503" y="1992"/>
                <a:ext cx="1050" cy="1424"/>
                <a:chOff x="6417" y="8973"/>
                <a:chExt cx="1500" cy="1872"/>
              </a:xfrm>
            </p:grpSpPr>
            <p:sp>
              <p:nvSpPr>
                <p:cNvPr id="680055" name="Line 119"/>
                <p:cNvSpPr>
                  <a:spLocks noChangeShapeType="1"/>
                </p:cNvSpPr>
                <p:nvPr/>
              </p:nvSpPr>
              <p:spPr bwMode="auto">
                <a:xfrm>
                  <a:off x="6417" y="10845"/>
                  <a:ext cx="1497" cy="0"/>
                </a:xfrm>
                <a:prstGeom prst="line">
                  <a:avLst/>
                </a:prstGeom>
                <a:noFill/>
                <a:ln w="34925" cap="rnd">
                  <a:solidFill>
                    <a:srgbClr val="008000"/>
                  </a:solidFill>
                  <a:prstDash val="sysDot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80056" name="Line 120"/>
                <p:cNvSpPr>
                  <a:spLocks noChangeShapeType="1"/>
                </p:cNvSpPr>
                <p:nvPr/>
              </p:nvSpPr>
              <p:spPr bwMode="auto">
                <a:xfrm flipV="1">
                  <a:off x="7917" y="8973"/>
                  <a:ext cx="0" cy="1872"/>
                </a:xfrm>
                <a:prstGeom prst="line">
                  <a:avLst/>
                </a:prstGeom>
                <a:noFill/>
                <a:ln w="34925" cap="rnd">
                  <a:solidFill>
                    <a:srgbClr val="008000"/>
                  </a:solidFill>
                  <a:prstDash val="sysDot"/>
                  <a:round/>
                  <a:headEnd/>
                  <a:tailEnd type="stealth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680058" name="Line 122"/>
              <p:cNvSpPr>
                <a:spLocks noChangeShapeType="1"/>
              </p:cNvSpPr>
              <p:nvPr/>
            </p:nvSpPr>
            <p:spPr bwMode="auto">
              <a:xfrm flipH="1">
                <a:off x="2053" y="1842"/>
                <a:ext cx="252" cy="0"/>
              </a:xfrm>
              <a:prstGeom prst="line">
                <a:avLst/>
              </a:prstGeom>
              <a:noFill/>
              <a:ln w="34925" cap="rnd">
                <a:solidFill>
                  <a:srgbClr val="008000"/>
                </a:solidFill>
                <a:prstDash val="sysDot"/>
                <a:round/>
                <a:headEnd/>
                <a:tailEnd type="stealth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680087" name="Group 151"/>
              <p:cNvGrpSpPr>
                <a:grpSpLocks/>
              </p:cNvGrpSpPr>
              <p:nvPr/>
            </p:nvGrpSpPr>
            <p:grpSpPr bwMode="auto">
              <a:xfrm>
                <a:off x="2307" y="1842"/>
                <a:ext cx="365" cy="1558"/>
                <a:chOff x="2307" y="1842"/>
                <a:chExt cx="365" cy="1558"/>
              </a:xfrm>
            </p:grpSpPr>
            <p:sp>
              <p:nvSpPr>
                <p:cNvPr id="680059" name="Line 123"/>
                <p:cNvSpPr>
                  <a:spLocks noChangeShapeType="1"/>
                </p:cNvSpPr>
                <p:nvPr/>
              </p:nvSpPr>
              <p:spPr bwMode="auto">
                <a:xfrm>
                  <a:off x="2307" y="1842"/>
                  <a:ext cx="0" cy="1548"/>
                </a:xfrm>
                <a:prstGeom prst="line">
                  <a:avLst/>
                </a:prstGeom>
                <a:noFill/>
                <a:ln w="34925" cap="rnd">
                  <a:solidFill>
                    <a:srgbClr val="008000"/>
                  </a:solidFill>
                  <a:prstDash val="sysDot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80060" name="Line 124"/>
                <p:cNvSpPr>
                  <a:spLocks noChangeShapeType="1"/>
                </p:cNvSpPr>
                <p:nvPr/>
              </p:nvSpPr>
              <p:spPr bwMode="auto">
                <a:xfrm flipH="1">
                  <a:off x="2307" y="3400"/>
                  <a:ext cx="365" cy="0"/>
                </a:xfrm>
                <a:prstGeom prst="line">
                  <a:avLst/>
                </a:prstGeom>
                <a:noFill/>
                <a:ln w="34925" cap="rnd">
                  <a:solidFill>
                    <a:srgbClr val="008000"/>
                  </a:solidFill>
                  <a:prstDash val="sysDot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680061" name="Line 125"/>
              <p:cNvSpPr>
                <a:spLocks noChangeShapeType="1"/>
              </p:cNvSpPr>
              <p:nvPr/>
            </p:nvSpPr>
            <p:spPr bwMode="auto">
              <a:xfrm flipH="1">
                <a:off x="2042" y="3492"/>
                <a:ext cx="615" cy="0"/>
              </a:xfrm>
              <a:prstGeom prst="line">
                <a:avLst/>
              </a:prstGeom>
              <a:noFill/>
              <a:ln w="34925" cap="rnd">
                <a:solidFill>
                  <a:srgbClr val="008000"/>
                </a:solidFill>
                <a:prstDash val="sysDot"/>
                <a:round/>
                <a:headEnd/>
                <a:tailEnd type="stealth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680062" name="Group 126"/>
              <p:cNvGrpSpPr>
                <a:grpSpLocks/>
              </p:cNvGrpSpPr>
              <p:nvPr/>
            </p:nvGrpSpPr>
            <p:grpSpPr bwMode="auto">
              <a:xfrm>
                <a:off x="2054" y="1860"/>
                <a:ext cx="605" cy="1424"/>
                <a:chOff x="4321" y="8801"/>
                <a:chExt cx="865" cy="1872"/>
              </a:xfrm>
            </p:grpSpPr>
            <p:sp>
              <p:nvSpPr>
                <p:cNvPr id="680063" name="Line 127"/>
                <p:cNvSpPr>
                  <a:spLocks noChangeShapeType="1"/>
                </p:cNvSpPr>
                <p:nvPr/>
              </p:nvSpPr>
              <p:spPr bwMode="auto">
                <a:xfrm flipH="1">
                  <a:off x="4321" y="10659"/>
                  <a:ext cx="540" cy="0"/>
                </a:xfrm>
                <a:prstGeom prst="line">
                  <a:avLst/>
                </a:prstGeom>
                <a:noFill/>
                <a:ln w="34925">
                  <a:solidFill>
                    <a:srgbClr val="FF3300"/>
                  </a:solidFill>
                  <a:round/>
                  <a:headEnd/>
                  <a:tailEnd type="stealth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80064" name="Line 128"/>
                <p:cNvSpPr>
                  <a:spLocks noChangeShapeType="1"/>
                </p:cNvSpPr>
                <p:nvPr/>
              </p:nvSpPr>
              <p:spPr bwMode="auto">
                <a:xfrm>
                  <a:off x="4857" y="8814"/>
                  <a:ext cx="329" cy="0"/>
                </a:xfrm>
                <a:prstGeom prst="line">
                  <a:avLst/>
                </a:prstGeom>
                <a:noFill/>
                <a:ln w="34925">
                  <a:solidFill>
                    <a:srgbClr val="FF33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80065" name="Line 129"/>
                <p:cNvSpPr>
                  <a:spLocks noChangeShapeType="1"/>
                </p:cNvSpPr>
                <p:nvPr/>
              </p:nvSpPr>
              <p:spPr bwMode="auto">
                <a:xfrm>
                  <a:off x="4857" y="8801"/>
                  <a:ext cx="0" cy="1872"/>
                </a:xfrm>
                <a:prstGeom prst="line">
                  <a:avLst/>
                </a:prstGeom>
                <a:noFill/>
                <a:ln w="34925">
                  <a:solidFill>
                    <a:srgbClr val="FF33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680066" name="Line 130"/>
              <p:cNvSpPr>
                <a:spLocks noChangeShapeType="1"/>
              </p:cNvSpPr>
              <p:nvPr/>
            </p:nvSpPr>
            <p:spPr bwMode="auto">
              <a:xfrm rot="10800000">
                <a:off x="627" y="3382"/>
                <a:ext cx="630" cy="0"/>
              </a:xfrm>
              <a:prstGeom prst="line">
                <a:avLst/>
              </a:prstGeom>
              <a:noFill/>
              <a:ln w="34925">
                <a:solidFill>
                  <a:srgbClr val="FF3300"/>
                </a:solidFill>
                <a:round/>
                <a:headEnd/>
                <a:tailEnd type="stealth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0067" name="Line 131"/>
              <p:cNvSpPr>
                <a:spLocks noChangeShapeType="1"/>
              </p:cNvSpPr>
              <p:nvPr/>
            </p:nvSpPr>
            <p:spPr bwMode="auto">
              <a:xfrm>
                <a:off x="3041" y="1257"/>
                <a:ext cx="0" cy="356"/>
              </a:xfrm>
              <a:prstGeom prst="line">
                <a:avLst/>
              </a:prstGeom>
              <a:noFill/>
              <a:ln w="34925">
                <a:solidFill>
                  <a:srgbClr val="FF3300"/>
                </a:solidFill>
                <a:round/>
                <a:headEnd type="stealth" w="med" len="med"/>
                <a:tailEnd type="stealth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0069" name="Text Box 133"/>
              <p:cNvSpPr txBox="1">
                <a:spLocks noChangeArrowheads="1"/>
              </p:cNvSpPr>
              <p:nvPr/>
            </p:nvSpPr>
            <p:spPr bwMode="auto">
              <a:xfrm>
                <a:off x="637" y="1481"/>
                <a:ext cx="746" cy="2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zh-CN" altLang="en-US" sz="16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信 息</a:t>
                </a:r>
              </a:p>
            </p:txBody>
          </p:sp>
          <p:sp>
            <p:nvSpPr>
              <p:cNvPr id="680070" name="Text Box 134"/>
              <p:cNvSpPr txBox="1">
                <a:spLocks noChangeArrowheads="1"/>
              </p:cNvSpPr>
              <p:nvPr/>
            </p:nvSpPr>
            <p:spPr bwMode="auto">
              <a:xfrm>
                <a:off x="297" y="1923"/>
                <a:ext cx="1315" cy="2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16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(</a:t>
                </a:r>
                <a:r>
                  <a:rPr lang="zh-CN" altLang="en-US" sz="16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如程序、原始数据</a:t>
                </a:r>
                <a:r>
                  <a:rPr lang="en-US" altLang="zh-CN" sz="16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)</a:t>
                </a:r>
              </a:p>
            </p:txBody>
          </p:sp>
          <p:sp>
            <p:nvSpPr>
              <p:cNvPr id="680071" name="Text Box 135"/>
              <p:cNvSpPr txBox="1">
                <a:spLocks noChangeArrowheads="1"/>
              </p:cNvSpPr>
              <p:nvPr/>
            </p:nvSpPr>
            <p:spPr bwMode="auto">
              <a:xfrm>
                <a:off x="2090" y="1515"/>
                <a:ext cx="571" cy="2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16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(</a:t>
                </a:r>
                <a:r>
                  <a:rPr lang="zh-CN" altLang="en-US" sz="16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存</a:t>
                </a:r>
                <a:r>
                  <a:rPr lang="en-US" altLang="zh-CN" sz="16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)</a:t>
                </a:r>
                <a:r>
                  <a:rPr lang="zh-CN" altLang="en-US" sz="16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数据</a:t>
                </a:r>
              </a:p>
            </p:txBody>
          </p:sp>
          <p:sp>
            <p:nvSpPr>
              <p:cNvPr id="680072" name="Text Box 136"/>
              <p:cNvSpPr txBox="1">
                <a:spLocks noChangeArrowheads="1"/>
              </p:cNvSpPr>
              <p:nvPr/>
            </p:nvSpPr>
            <p:spPr bwMode="auto">
              <a:xfrm>
                <a:off x="3575" y="1524"/>
                <a:ext cx="571" cy="2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16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(</a:t>
                </a:r>
                <a:r>
                  <a:rPr lang="zh-CN" altLang="en-US" sz="16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取</a:t>
                </a:r>
                <a:r>
                  <a:rPr lang="en-US" altLang="zh-CN" sz="16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)</a:t>
                </a:r>
                <a:r>
                  <a:rPr lang="zh-CN" altLang="en-US" sz="16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数据</a:t>
                </a:r>
              </a:p>
            </p:txBody>
          </p:sp>
          <p:sp>
            <p:nvSpPr>
              <p:cNvPr id="680073" name="Text Box 137"/>
              <p:cNvSpPr txBox="1">
                <a:spLocks noChangeArrowheads="1"/>
              </p:cNvSpPr>
              <p:nvPr/>
            </p:nvSpPr>
            <p:spPr bwMode="auto">
              <a:xfrm>
                <a:off x="3682" y="3206"/>
                <a:ext cx="745" cy="2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zh-CN" altLang="en-US" sz="16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运算命令</a:t>
                </a:r>
              </a:p>
            </p:txBody>
          </p:sp>
          <p:sp>
            <p:nvSpPr>
              <p:cNvPr id="680074" name="Text Box 138"/>
              <p:cNvSpPr txBox="1">
                <a:spLocks noChangeArrowheads="1"/>
              </p:cNvSpPr>
              <p:nvPr/>
            </p:nvSpPr>
            <p:spPr bwMode="auto">
              <a:xfrm>
                <a:off x="2160" y="3496"/>
                <a:ext cx="745" cy="2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zh-CN" altLang="en-US" sz="16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输出命令</a:t>
                </a:r>
              </a:p>
            </p:txBody>
          </p:sp>
          <p:sp>
            <p:nvSpPr>
              <p:cNvPr id="680075" name="Text Box 139"/>
              <p:cNvSpPr txBox="1">
                <a:spLocks noChangeArrowheads="1"/>
              </p:cNvSpPr>
              <p:nvPr/>
            </p:nvSpPr>
            <p:spPr bwMode="auto">
              <a:xfrm>
                <a:off x="616" y="3392"/>
                <a:ext cx="746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zh-CN" altLang="en-US" sz="16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输出信息</a:t>
                </a:r>
              </a:p>
            </p:txBody>
          </p:sp>
          <p:sp>
            <p:nvSpPr>
              <p:cNvPr id="680076" name="Text Box 140"/>
              <p:cNvSpPr txBox="1">
                <a:spLocks noChangeArrowheads="1"/>
              </p:cNvSpPr>
              <p:nvPr/>
            </p:nvSpPr>
            <p:spPr bwMode="auto">
              <a:xfrm>
                <a:off x="3635" y="1908"/>
                <a:ext cx="746" cy="2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16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(</a:t>
                </a:r>
                <a:r>
                  <a:rPr lang="zh-CN" altLang="en-US" sz="16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存</a:t>
                </a:r>
                <a:r>
                  <a:rPr lang="en-US" altLang="zh-CN" sz="16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)</a:t>
                </a:r>
                <a:r>
                  <a:rPr lang="zh-CN" altLang="en-US" sz="16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数据</a:t>
                </a:r>
              </a:p>
            </p:txBody>
          </p:sp>
          <p:sp>
            <p:nvSpPr>
              <p:cNvPr id="680077" name="Text Box 141"/>
              <p:cNvSpPr txBox="1">
                <a:spLocks noChangeArrowheads="1"/>
              </p:cNvSpPr>
              <p:nvPr/>
            </p:nvSpPr>
            <p:spPr bwMode="auto">
              <a:xfrm>
                <a:off x="3065" y="2115"/>
                <a:ext cx="295" cy="86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eaVert"/>
              <a:lstStyle/>
              <a:p>
                <a:pPr algn="just"/>
                <a:r>
                  <a:rPr lang="zh-CN" altLang="en-US" sz="16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存 取 指 令</a:t>
                </a:r>
              </a:p>
            </p:txBody>
          </p:sp>
          <p:sp>
            <p:nvSpPr>
              <p:cNvPr id="680078" name="Text Box 142"/>
              <p:cNvSpPr txBox="1">
                <a:spLocks noChangeArrowheads="1"/>
              </p:cNvSpPr>
              <p:nvPr/>
            </p:nvSpPr>
            <p:spPr bwMode="auto">
              <a:xfrm>
                <a:off x="2768" y="2070"/>
                <a:ext cx="193" cy="85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eaVert"/>
              <a:lstStyle/>
              <a:p>
                <a:pPr algn="just"/>
                <a:r>
                  <a:rPr lang="zh-CN" altLang="en-US" sz="16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程 序 指 令</a:t>
                </a:r>
              </a:p>
            </p:txBody>
          </p:sp>
          <p:sp>
            <p:nvSpPr>
              <p:cNvPr id="680079" name="Text Box 143"/>
              <p:cNvSpPr txBox="1">
                <a:spLocks noChangeArrowheads="1"/>
              </p:cNvSpPr>
              <p:nvPr/>
            </p:nvSpPr>
            <p:spPr bwMode="auto">
              <a:xfrm>
                <a:off x="2391" y="2425"/>
                <a:ext cx="275" cy="4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eaVert"/>
              <a:lstStyle/>
              <a:p>
                <a:pPr algn="just"/>
                <a:r>
                  <a:rPr lang="zh-CN" altLang="en-US" sz="16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数 据</a:t>
                </a:r>
              </a:p>
            </p:txBody>
          </p:sp>
          <p:sp>
            <p:nvSpPr>
              <p:cNvPr id="680080" name="Text Box 144"/>
              <p:cNvSpPr txBox="1">
                <a:spLocks noChangeArrowheads="1"/>
              </p:cNvSpPr>
              <p:nvPr/>
            </p:nvSpPr>
            <p:spPr bwMode="auto">
              <a:xfrm>
                <a:off x="2043" y="2070"/>
                <a:ext cx="281" cy="8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eaVert"/>
              <a:lstStyle/>
              <a:p>
                <a:pPr algn="just"/>
                <a:r>
                  <a:rPr lang="zh-CN" altLang="en-US" sz="16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输 入 指 令</a:t>
                </a:r>
              </a:p>
            </p:txBody>
          </p:sp>
          <p:sp>
            <p:nvSpPr>
              <p:cNvPr id="680083" name="Line 147"/>
              <p:cNvSpPr>
                <a:spLocks noChangeShapeType="1"/>
              </p:cNvSpPr>
              <p:nvPr/>
            </p:nvSpPr>
            <p:spPr bwMode="auto">
              <a:xfrm>
                <a:off x="4738" y="3665"/>
                <a:ext cx="630" cy="0"/>
              </a:xfrm>
              <a:prstGeom prst="line">
                <a:avLst/>
              </a:prstGeom>
              <a:noFill/>
              <a:ln w="34925">
                <a:solidFill>
                  <a:srgbClr val="FF3300"/>
                </a:solidFill>
                <a:round/>
                <a:headEnd/>
                <a:tailEnd type="stealth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0084" name="Line 148"/>
              <p:cNvSpPr>
                <a:spLocks noChangeShapeType="1"/>
              </p:cNvSpPr>
              <p:nvPr/>
            </p:nvSpPr>
            <p:spPr bwMode="auto">
              <a:xfrm>
                <a:off x="4738" y="3857"/>
                <a:ext cx="630" cy="0"/>
              </a:xfrm>
              <a:prstGeom prst="line">
                <a:avLst/>
              </a:prstGeom>
              <a:noFill/>
              <a:ln w="34925" cap="rnd">
                <a:solidFill>
                  <a:srgbClr val="008000"/>
                </a:solidFill>
                <a:prstDash val="sysDot"/>
                <a:round/>
                <a:headEnd/>
                <a:tailEnd type="stealth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0085" name="Text Box 149"/>
              <p:cNvSpPr txBox="1">
                <a:spLocks noChangeArrowheads="1"/>
              </p:cNvSpPr>
              <p:nvPr/>
            </p:nvSpPr>
            <p:spPr bwMode="auto">
              <a:xfrm>
                <a:off x="4763" y="3407"/>
                <a:ext cx="756" cy="1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zh-CN" altLang="en-US" sz="16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数据信息</a:t>
                </a:r>
              </a:p>
            </p:txBody>
          </p:sp>
          <p:sp>
            <p:nvSpPr>
              <p:cNvPr id="680086" name="Text Box 150"/>
              <p:cNvSpPr txBox="1">
                <a:spLocks noChangeArrowheads="1"/>
              </p:cNvSpPr>
              <p:nvPr/>
            </p:nvSpPr>
            <p:spPr bwMode="auto">
              <a:xfrm>
                <a:off x="4785" y="3885"/>
                <a:ext cx="756" cy="2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zh-CN" altLang="en-US" sz="16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控制信息</a:t>
                </a:r>
              </a:p>
            </p:txBody>
          </p:sp>
        </p:grpSp>
      </p:grpSp>
      <p:grpSp>
        <p:nvGrpSpPr>
          <p:cNvPr id="680099" name="Group 163"/>
          <p:cNvGrpSpPr>
            <a:grpSpLocks/>
          </p:cNvGrpSpPr>
          <p:nvPr/>
        </p:nvGrpSpPr>
        <p:grpSpPr bwMode="auto">
          <a:xfrm>
            <a:off x="-5016" y="0"/>
            <a:ext cx="446088" cy="6858000"/>
            <a:chOff x="0" y="0"/>
            <a:chExt cx="281" cy="4320"/>
          </a:xfrm>
        </p:grpSpPr>
        <p:sp>
          <p:nvSpPr>
            <p:cNvPr id="680100" name="Text Box 164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</a:rPr>
                <a:t>第三版</a:t>
              </a: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第一章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预备知识</a:t>
              </a:r>
            </a:p>
          </p:txBody>
        </p:sp>
        <p:sp>
          <p:nvSpPr>
            <p:cNvPr id="680101" name="Text Box 16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799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800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993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962" name="Text Box 2"/>
          <p:cNvSpPr txBox="1">
            <a:spLocks noChangeArrowheads="1"/>
          </p:cNvSpPr>
          <p:nvPr/>
        </p:nvSpPr>
        <p:spPr bwMode="auto">
          <a:xfrm>
            <a:off x="527104" y="188640"/>
            <a:ext cx="7721600" cy="579438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kumimoji="0" lang="en-US" altLang="zh-CN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(1) </a:t>
            </a:r>
            <a:r>
              <a:rPr kumimoji="0" lang="zh-CN" altLang="en-US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运算器</a:t>
            </a:r>
            <a:r>
              <a:rPr kumimoji="0"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 </a:t>
            </a:r>
            <a:r>
              <a:rPr kumimoji="0"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隶书" pitchFamily="49" charset="-122"/>
              </a:rPr>
              <a:t>(ALU-Arithmetic Logic Unit</a:t>
            </a:r>
            <a:r>
              <a:rPr kumimoji="0" lang="en-US" altLang="zh-CN" sz="2800" dirty="0">
                <a:solidFill>
                  <a:srgbClr val="0070C0"/>
                </a:solidFill>
                <a:ea typeface="隶书" pitchFamily="49" charset="-122"/>
              </a:rPr>
              <a:t> )</a:t>
            </a:r>
            <a:r>
              <a:rPr kumimoji="0" lang="en-US" altLang="zh-CN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</a:p>
        </p:txBody>
      </p:sp>
      <p:sp>
        <p:nvSpPr>
          <p:cNvPr id="680963" name="Rectangle 3"/>
          <p:cNvSpPr>
            <a:spLocks noChangeArrowheads="1"/>
          </p:cNvSpPr>
          <p:nvPr/>
        </p:nvSpPr>
        <p:spPr bwMode="auto">
          <a:xfrm>
            <a:off x="1488701" y="846499"/>
            <a:ext cx="9991406" cy="1286357"/>
          </a:xfrm>
          <a:prstGeom prst="rect">
            <a:avLst/>
          </a:prstGeom>
          <a:ln w="38100"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8000"/>
          <a:lstStyle/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运算器又称</a:t>
            </a:r>
            <a:r>
              <a:rPr lang="zh-CN" altLang="en-US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算术逻辑部件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，简称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楷体" pitchFamily="49" charset="-122"/>
              </a:rPr>
              <a:t>ALU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，是计算机用来进行数据运算的部件。数据运算包括</a:t>
            </a:r>
            <a:r>
              <a:rPr lang="zh-CN" altLang="en-US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算术运算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和</a:t>
            </a:r>
            <a:r>
              <a:rPr lang="zh-CN" altLang="en-US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逻辑运算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，后者常被忽视，但恰恰是逻辑运算使计算机能进行因果关系分析。一般运算器都具有逻辑运算能力。 </a:t>
            </a:r>
          </a:p>
        </p:txBody>
      </p:sp>
      <p:sp>
        <p:nvSpPr>
          <p:cNvPr id="680964" name="Text Box 4"/>
          <p:cNvSpPr txBox="1">
            <a:spLocks noChangeArrowheads="1"/>
          </p:cNvSpPr>
          <p:nvPr/>
        </p:nvSpPr>
        <p:spPr bwMode="auto">
          <a:xfrm>
            <a:off x="500117" y="2385263"/>
            <a:ext cx="5097463" cy="579438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kumimoji="0" lang="en-US" altLang="zh-CN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(2) </a:t>
            </a:r>
            <a:r>
              <a:rPr kumimoji="0" lang="zh-CN" altLang="en-US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控制器</a:t>
            </a:r>
            <a:r>
              <a:rPr kumimoji="0"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 </a:t>
            </a:r>
            <a:r>
              <a:rPr kumimoji="0"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隶书" pitchFamily="49" charset="-122"/>
              </a:rPr>
              <a:t>(Controller</a:t>
            </a:r>
            <a:r>
              <a:rPr kumimoji="0" lang="en-US" altLang="zh-CN" sz="2800" dirty="0">
                <a:solidFill>
                  <a:srgbClr val="0070C0"/>
                </a:solidFill>
                <a:ea typeface="隶书" pitchFamily="49" charset="-122"/>
              </a:rPr>
              <a:t>)</a:t>
            </a:r>
            <a:r>
              <a:rPr kumimoji="0" lang="en-US" altLang="zh-CN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80965" name="Rectangle 5"/>
          <p:cNvSpPr>
            <a:spLocks noChangeArrowheads="1"/>
          </p:cNvSpPr>
          <p:nvPr/>
        </p:nvSpPr>
        <p:spPr bwMode="auto">
          <a:xfrm>
            <a:off x="1506416" y="3040197"/>
            <a:ext cx="9990184" cy="1972979"/>
          </a:xfrm>
          <a:prstGeom prst="rect">
            <a:avLst/>
          </a:prstGeom>
          <a:ln w="38100"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8000"/>
          <a:lstStyle/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控制器是计算机的指挥系统，计算机的工作就是在控制器控制下有条不紊协调工作的。控制器通过地址访问存储器，逐条取出选中单元的指令，分析指令，根据指令产生相应的控制信号作用于其它各个部件，控制其它部件完成指令要求的操作。上述过程周而复始，保证了计算机能自动、连续地工作。 </a:t>
            </a:r>
          </a:p>
        </p:txBody>
      </p:sp>
      <p:grpSp>
        <p:nvGrpSpPr>
          <p:cNvPr id="680972" name="Group 12"/>
          <p:cNvGrpSpPr>
            <a:grpSpLocks/>
          </p:cNvGrpSpPr>
          <p:nvPr/>
        </p:nvGrpSpPr>
        <p:grpSpPr bwMode="auto">
          <a:xfrm>
            <a:off x="-5016" y="0"/>
            <a:ext cx="446088" cy="6858000"/>
            <a:chOff x="0" y="0"/>
            <a:chExt cx="281" cy="4320"/>
          </a:xfrm>
        </p:grpSpPr>
        <p:sp>
          <p:nvSpPr>
            <p:cNvPr id="680973" name="Text Box 13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</a:rPr>
                <a:t>第三版</a:t>
              </a: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第一章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预备知识</a:t>
              </a:r>
            </a:p>
          </p:txBody>
        </p:sp>
        <p:sp>
          <p:nvSpPr>
            <p:cNvPr id="680974" name="Text Box 14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1494541" y="5301208"/>
            <a:ext cx="9990184" cy="1230213"/>
          </a:xfrm>
          <a:prstGeom prst="rect">
            <a:avLst/>
          </a:prstGeom>
          <a:gradFill flip="none" rotWithShape="1">
            <a:gsLst>
              <a:gs pos="0">
                <a:srgbClr val="FFFFCC">
                  <a:shade val="30000"/>
                  <a:satMod val="115000"/>
                </a:srgbClr>
              </a:gs>
              <a:gs pos="50000">
                <a:srgbClr val="FFFFCC">
                  <a:shade val="67500"/>
                  <a:satMod val="115000"/>
                </a:srgbClr>
              </a:gs>
              <a:gs pos="100000">
                <a:srgbClr val="FFFFCC">
                  <a:shade val="100000"/>
                  <a:satMod val="115000"/>
                </a:srgbClr>
              </a:gs>
            </a:gsLst>
            <a:lin ang="13500000" scaled="1"/>
            <a:tileRect/>
          </a:gradFill>
          <a:ln w="38100">
            <a:solidFill>
              <a:srgbClr val="FF33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lIns="18000"/>
          <a:lstStyle/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一般把运算器和控制器做在一块集成电路芯片上，称为</a:t>
            </a:r>
            <a:r>
              <a:rPr lang="zh-CN" altLang="en-US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中央处理器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，简称为</a:t>
            </a:r>
            <a:r>
              <a:rPr lang="en-US" altLang="zh-CN" b="1" dirty="0">
                <a:solidFill>
                  <a:srgbClr val="FF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CPU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Central Processing Unit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）。它是计算机核心和关键，计算机的性能主要取决于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CPU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。 </a:t>
            </a:r>
          </a:p>
        </p:txBody>
      </p:sp>
      <p:pic>
        <p:nvPicPr>
          <p:cNvPr id="10" name="图片 9" descr="cpu1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130289" y="3273509"/>
            <a:ext cx="4136210" cy="3038848"/>
          </a:xfrm>
          <a:prstGeom prst="rect">
            <a:avLst/>
          </a:prstGeom>
          <a:ln w="38100">
            <a:solidFill>
              <a:srgbClr val="FF00FF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</p:pic>
      <p:pic>
        <p:nvPicPr>
          <p:cNvPr id="11" name="图片 10" descr="cpu2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816080" y="3273509"/>
            <a:ext cx="3966800" cy="3038400"/>
          </a:xfrm>
          <a:prstGeom prst="rect">
            <a:avLst/>
          </a:prstGeom>
          <a:ln w="38100">
            <a:solidFill>
              <a:srgbClr val="FF00FF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09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6809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809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6809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0962" grpId="0"/>
      <p:bldP spid="680963" grpId="0" animBg="1"/>
      <p:bldP spid="680964" grpId="0"/>
      <p:bldP spid="680965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988" name="Text Box 4"/>
          <p:cNvSpPr txBox="1">
            <a:spLocks noChangeArrowheads="1"/>
          </p:cNvSpPr>
          <p:nvPr/>
        </p:nvSpPr>
        <p:spPr bwMode="auto">
          <a:xfrm>
            <a:off x="528692" y="44625"/>
            <a:ext cx="4448175" cy="579437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kumimoji="0" lang="en-US" altLang="zh-CN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(3) </a:t>
            </a:r>
            <a:r>
              <a:rPr kumimoji="0" lang="zh-CN" altLang="en-US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存储器</a:t>
            </a:r>
            <a:r>
              <a:rPr kumimoji="0"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 </a:t>
            </a:r>
            <a:r>
              <a:rPr kumimoji="0"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隶书" pitchFamily="49" charset="-122"/>
              </a:rPr>
              <a:t>(Memory</a:t>
            </a:r>
            <a:r>
              <a:rPr kumimoji="0" lang="en-US" altLang="zh-CN" sz="2800" dirty="0">
                <a:solidFill>
                  <a:srgbClr val="0070C0"/>
                </a:solidFill>
                <a:ea typeface="隶书" pitchFamily="49" charset="-122"/>
              </a:rPr>
              <a:t>)</a:t>
            </a:r>
            <a:r>
              <a:rPr kumimoji="0"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隶书" pitchFamily="49" charset="-122"/>
              </a:rPr>
              <a:t> </a:t>
            </a:r>
          </a:p>
        </p:txBody>
      </p:sp>
      <p:sp>
        <p:nvSpPr>
          <p:cNvPr id="681989" name="Rectangle 5"/>
          <p:cNvSpPr>
            <a:spLocks noChangeArrowheads="1"/>
          </p:cNvSpPr>
          <p:nvPr/>
        </p:nvSpPr>
        <p:spPr bwMode="auto">
          <a:xfrm>
            <a:off x="1362400" y="708201"/>
            <a:ext cx="9995006" cy="1640680"/>
          </a:xfrm>
          <a:prstGeom prst="rect">
            <a:avLst/>
          </a:prstGeom>
          <a:ln w="38100">
            <a:solidFill>
              <a:schemeClr val="accent1">
                <a:lumMod val="75000"/>
              </a:schemeClr>
            </a:solidFill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8000"/>
          <a:lstStyle/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存储器是计算机中具有记忆能力的部件，用来存放</a:t>
            </a:r>
            <a:r>
              <a:rPr lang="zh-CN" altLang="en-US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程序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或</a:t>
            </a:r>
            <a:r>
              <a:rPr lang="zh-CN" altLang="en-US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数据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。程序和数据是两种不同的信息，应放在不同的地方，两者不可混淆 。指令总是送到控制器，而数据则总是送到运算器。存储器就是一种能根据地址接收或提供指令或数据的装置。</a:t>
            </a:r>
          </a:p>
        </p:txBody>
      </p:sp>
      <p:sp>
        <p:nvSpPr>
          <p:cNvPr id="681990" name="Rectangle 6"/>
          <p:cNvSpPr>
            <a:spLocks noChangeArrowheads="1"/>
          </p:cNvSpPr>
          <p:nvPr/>
        </p:nvSpPr>
        <p:spPr bwMode="auto">
          <a:xfrm>
            <a:off x="1362400" y="2702372"/>
            <a:ext cx="9995006" cy="582612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000" anchor="ctr" anchorCtr="0"/>
          <a:lstStyle/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 </a:t>
            </a:r>
            <a:r>
              <a:rPr lang="zh-CN" altLang="zh-CN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存储器可分为两大类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：即</a:t>
            </a:r>
            <a:r>
              <a:rPr lang="zh-CN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内存储器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和</a:t>
            </a:r>
            <a:r>
              <a:rPr lang="zh-CN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外存储器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。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            </a:t>
            </a:r>
          </a:p>
        </p:txBody>
      </p:sp>
      <p:grpSp>
        <p:nvGrpSpPr>
          <p:cNvPr id="681998" name="Group 14"/>
          <p:cNvGrpSpPr>
            <a:grpSpLocks/>
          </p:cNvGrpSpPr>
          <p:nvPr/>
        </p:nvGrpSpPr>
        <p:grpSpPr bwMode="auto">
          <a:xfrm>
            <a:off x="-5016" y="0"/>
            <a:ext cx="446088" cy="6858000"/>
            <a:chOff x="0" y="0"/>
            <a:chExt cx="281" cy="4320"/>
          </a:xfrm>
        </p:grpSpPr>
        <p:sp>
          <p:nvSpPr>
            <p:cNvPr id="681999" name="Text Box 1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</a:rPr>
                <a:t>第三版</a:t>
              </a: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第一章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预备知识</a:t>
              </a:r>
            </a:p>
          </p:txBody>
        </p:sp>
        <p:sp>
          <p:nvSpPr>
            <p:cNvPr id="682000" name="Text Box 16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2074802" y="3643314"/>
            <a:ext cx="3929090" cy="2857520"/>
            <a:chOff x="819906" y="3643314"/>
            <a:chExt cx="3929090" cy="2857520"/>
          </a:xfrm>
        </p:grpSpPr>
        <p:pic>
          <p:nvPicPr>
            <p:cNvPr id="10" name="图片 9" descr="mem1.jp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9906" y="3643314"/>
              <a:ext cx="3929090" cy="2857520"/>
            </a:xfrm>
            <a:prstGeom prst="rect">
              <a:avLst/>
            </a:prstGeom>
            <a:ln w="38100">
              <a:solidFill>
                <a:srgbClr val="FF00FF"/>
              </a:solidFill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</p:pic>
        <p:sp>
          <p:nvSpPr>
            <p:cNvPr id="13" name="TextBox 12"/>
            <p:cNvSpPr txBox="1"/>
            <p:nvPr/>
          </p:nvSpPr>
          <p:spPr>
            <a:xfrm>
              <a:off x="928662" y="3714752"/>
              <a:ext cx="10715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隶书" pitchFamily="49" charset="-122"/>
                  <a:ea typeface="隶书" pitchFamily="49" charset="-122"/>
                </a:rPr>
                <a:t>内存条</a:t>
              </a: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6918868" y="3643315"/>
            <a:ext cx="3857652" cy="2897525"/>
            <a:chOff x="4963310" y="3643314"/>
            <a:chExt cx="3857652" cy="2897525"/>
          </a:xfrm>
        </p:grpSpPr>
        <p:pic>
          <p:nvPicPr>
            <p:cNvPr id="12" name="图片 11" descr="mem3.jp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63310" y="3643314"/>
              <a:ext cx="3857652" cy="2897525"/>
            </a:xfrm>
            <a:prstGeom prst="rect">
              <a:avLst/>
            </a:prstGeom>
            <a:ln w="38100">
              <a:solidFill>
                <a:srgbClr val="FF00FF"/>
              </a:solidFill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</p:pic>
        <p:sp>
          <p:nvSpPr>
            <p:cNvPr id="14" name="TextBox 13"/>
            <p:cNvSpPr txBox="1"/>
            <p:nvPr/>
          </p:nvSpPr>
          <p:spPr>
            <a:xfrm>
              <a:off x="5072066" y="3714752"/>
              <a:ext cx="7858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隶书" pitchFamily="49" charset="-122"/>
                  <a:ea typeface="隶书" pitchFamily="49" charset="-122"/>
                </a:rPr>
                <a:t>硬盘</a:t>
              </a:r>
            </a:p>
          </p:txBody>
        </p:sp>
      </p:grp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362400" y="2577037"/>
            <a:ext cx="9995006" cy="3948307"/>
          </a:xfrm>
          <a:prstGeom prst="rect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3500000" scaled="1"/>
            <a:tileRect/>
          </a:gradFill>
          <a:ln w="38100">
            <a:solidFill>
              <a:srgbClr val="C00000"/>
            </a:solidFill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000"/>
          <a:lstStyle/>
          <a:p>
            <a:pPr>
              <a:spcBef>
                <a:spcPct val="20000"/>
              </a:spcBef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</a:t>
            </a:r>
            <a:r>
              <a:rPr lang="zh-CN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内存储器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简称内存，又称主存，是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CPU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能根据地址线直接寻址的存储空间，是计算机内部存放数据的硬件设备，是程序和数据存储的基本要素，由半导体器件制成。内存中存放数据是以相应的内存单元为单位进行存放的，内存单元的大小可以是一个字节，也可以是多个字节，每个内存单元都有一个编号，它表示该内存单元所对应的</a:t>
            </a:r>
            <a:r>
              <a:rPr lang="zh-CN" altLang="en-US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内存地址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。内存的特点是存取速度快，基本上能与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CPU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速度相匹配。</a:t>
            </a:r>
          </a:p>
          <a:p>
            <a:pPr>
              <a:spcBef>
                <a:spcPct val="20000"/>
              </a:spcBef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        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外存储器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简称外存，它作为一种辅助存储设备，主要用来存放一些暂时不用而又需常期保存的程序或数据。当需要执行外存中的程序或处理外存中的数据时，必须通过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CPU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输入／输出指令，将其调入内存中才能被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CPU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执行处理，所以外存实际上属于输入／输出设备。 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19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6819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6819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1988" grpId="0"/>
      <p:bldP spid="681989" grpId="0" animBg="1"/>
      <p:bldP spid="681990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034" name="Text Box 2"/>
          <p:cNvSpPr txBox="1">
            <a:spLocks noChangeArrowheads="1"/>
          </p:cNvSpPr>
          <p:nvPr/>
        </p:nvSpPr>
        <p:spPr bwMode="auto">
          <a:xfrm>
            <a:off x="455667" y="273050"/>
            <a:ext cx="5834063" cy="579438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kumimoji="0" lang="en-US" altLang="zh-CN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(4) </a:t>
            </a:r>
            <a:r>
              <a:rPr kumimoji="0" lang="zh-CN" altLang="en-US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输入设备</a:t>
            </a:r>
            <a:r>
              <a:rPr kumimoji="0"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 </a:t>
            </a:r>
            <a:r>
              <a:rPr kumimoji="0"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隶书" pitchFamily="49" charset="-122"/>
              </a:rPr>
              <a:t>(Input Device</a:t>
            </a:r>
            <a:r>
              <a:rPr kumimoji="0" lang="en-US" altLang="zh-CN" sz="2800" dirty="0">
                <a:solidFill>
                  <a:srgbClr val="0070C0"/>
                </a:solidFill>
                <a:ea typeface="隶书" pitchFamily="49" charset="-122"/>
              </a:rPr>
              <a:t>)</a:t>
            </a:r>
            <a:r>
              <a:rPr kumimoji="0"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84035" name="Rectangle 3"/>
          <p:cNvSpPr>
            <a:spLocks noChangeArrowheads="1"/>
          </p:cNvSpPr>
          <p:nvPr/>
        </p:nvSpPr>
        <p:spPr bwMode="auto">
          <a:xfrm>
            <a:off x="1434408" y="882650"/>
            <a:ext cx="9860456" cy="890166"/>
          </a:xfrm>
          <a:prstGeom prst="rect">
            <a:avLst/>
          </a:prstGeom>
          <a:ln w="38100"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8000"/>
          <a:lstStyle/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   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输入设备是用来输入程序和数据的部件。常见的输入设备有：键盘、鼠标、麦克风、扫描仪、手写板、数码相机、摄像头等。</a:t>
            </a:r>
            <a:endParaRPr lang="zh-CN" altLang="en-US" b="1" dirty="0">
              <a:effectLst>
                <a:outerShdw blurRad="38100" dist="38100" dir="2700000" algn="tl">
                  <a:srgbClr val="FFFFFF"/>
                </a:outerShdw>
              </a:effectLst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684036" name="Text Box 4"/>
          <p:cNvSpPr txBox="1">
            <a:spLocks noChangeArrowheads="1"/>
          </p:cNvSpPr>
          <p:nvPr/>
        </p:nvSpPr>
        <p:spPr bwMode="auto">
          <a:xfrm>
            <a:off x="414391" y="1988840"/>
            <a:ext cx="5600700" cy="579438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kumimoji="0" lang="en-US" altLang="zh-CN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(5) </a:t>
            </a:r>
            <a:r>
              <a:rPr kumimoji="0" lang="zh-CN" altLang="en-US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输出设备</a:t>
            </a:r>
            <a:r>
              <a:rPr kumimoji="0"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 </a:t>
            </a:r>
            <a:r>
              <a:rPr kumimoji="0"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隶书" pitchFamily="49" charset="-122"/>
              </a:rPr>
              <a:t>(Output Device</a:t>
            </a:r>
            <a:r>
              <a:rPr kumimoji="0" lang="en-US" altLang="zh-CN" sz="2800" dirty="0">
                <a:solidFill>
                  <a:srgbClr val="0070C0"/>
                </a:solidFill>
                <a:ea typeface="隶书" pitchFamily="49" charset="-122"/>
              </a:rPr>
              <a:t>)</a:t>
            </a:r>
            <a:r>
              <a:rPr kumimoji="0" lang="en-US" altLang="zh-CN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84037" name="Rectangle 5"/>
          <p:cNvSpPr>
            <a:spLocks noChangeArrowheads="1"/>
          </p:cNvSpPr>
          <p:nvPr/>
        </p:nvSpPr>
        <p:spPr bwMode="auto">
          <a:xfrm>
            <a:off x="1420120" y="2619078"/>
            <a:ext cx="9860456" cy="1308194"/>
          </a:xfrm>
          <a:prstGeom prst="rect">
            <a:avLst/>
          </a:prstGeom>
          <a:ln w="38100"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8000"/>
          <a:lstStyle/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输出设备正好与输入设备相反，是用来输出结果的部件。要求输出设备能以人们所能接受的形式输出信息，如以文字、图形的形式在显示器上输出。除显示器外，常用的输出设备还有音箱、打印机、绘图仪等。 </a:t>
            </a:r>
          </a:p>
        </p:txBody>
      </p:sp>
      <p:grpSp>
        <p:nvGrpSpPr>
          <p:cNvPr id="684044" name="Group 12"/>
          <p:cNvGrpSpPr>
            <a:grpSpLocks/>
          </p:cNvGrpSpPr>
          <p:nvPr/>
        </p:nvGrpSpPr>
        <p:grpSpPr bwMode="auto">
          <a:xfrm>
            <a:off x="-5016" y="0"/>
            <a:ext cx="446088" cy="6858000"/>
            <a:chOff x="0" y="0"/>
            <a:chExt cx="281" cy="4320"/>
          </a:xfrm>
        </p:grpSpPr>
        <p:sp>
          <p:nvSpPr>
            <p:cNvPr id="684045" name="Text Box 13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</a:rPr>
                <a:t>第三版</a:t>
              </a: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第一章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预备知识</a:t>
              </a:r>
            </a:p>
          </p:txBody>
        </p:sp>
        <p:sp>
          <p:nvSpPr>
            <p:cNvPr id="684046" name="Text Box 14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600955" y="4470899"/>
            <a:ext cx="3819971" cy="579438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kumimoji="0" lang="zh-CN" altLang="en-US" sz="32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隶书" pitchFamily="49" charset="-122"/>
              </a:rPr>
              <a:t>计算机的工作原理：</a:t>
            </a: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1421775" y="5070944"/>
            <a:ext cx="9860456" cy="1250206"/>
          </a:xfrm>
          <a:prstGeom prst="rect">
            <a:avLst/>
          </a:prstGeom>
          <a:gradFill flip="none" rotWithShape="1">
            <a:gsLst>
              <a:gs pos="0">
                <a:srgbClr val="FFFFCC">
                  <a:shade val="30000"/>
                  <a:satMod val="115000"/>
                </a:srgbClr>
              </a:gs>
              <a:gs pos="50000">
                <a:srgbClr val="FFFFCC">
                  <a:shade val="67500"/>
                  <a:satMod val="115000"/>
                </a:srgbClr>
              </a:gs>
              <a:gs pos="100000">
                <a:srgbClr val="FFFFCC">
                  <a:shade val="100000"/>
                  <a:satMod val="115000"/>
                </a:srgbClr>
              </a:gs>
            </a:gsLst>
            <a:lin ang="13500000" scaled="1"/>
            <a:tileRect/>
          </a:gradFill>
          <a:ln w="38100">
            <a:solidFill>
              <a:srgbClr val="FF33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lIns="18000"/>
          <a:lstStyle/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各种各样的信息，通过输入设备，进入计算机的存储器，然后送到运算器，运算完毕把结果送到存储器存储，最后通过输出设备显示出来。整个过程由控制器进行控制。</a:t>
            </a:r>
            <a:endParaRPr lang="zh-CN" altLang="en-US" b="1" dirty="0">
              <a:effectLst>
                <a:outerShdw blurRad="38100" dist="38100" dir="2700000" algn="tl">
                  <a:srgbClr val="FFFFFF"/>
                </a:outerShdw>
              </a:effectLst>
              <a:latin typeface="楷体" pitchFamily="49" charset="-122"/>
              <a:ea typeface="楷体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40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6840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840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6840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4034" grpId="0"/>
      <p:bldP spid="684035" grpId="0" animBg="1"/>
      <p:bldP spid="684036" grpId="0"/>
      <p:bldP spid="684037" grpId="0" animBg="1"/>
      <p:bldP spid="9" grpId="0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062" name="Text Box 6"/>
          <p:cNvSpPr txBox="1">
            <a:spLocks noChangeArrowheads="1"/>
          </p:cNvSpPr>
          <p:nvPr/>
        </p:nvSpPr>
        <p:spPr bwMode="auto">
          <a:xfrm>
            <a:off x="616376" y="260649"/>
            <a:ext cx="5329238" cy="579437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7800" indent="-177800">
              <a:spcBef>
                <a:spcPct val="50000"/>
              </a:spcBef>
              <a:buFont typeface="Wingdings" pitchFamily="2" charset="2"/>
              <a:buChar char="u"/>
              <a:tabLst>
                <a:tab pos="177800" algn="l"/>
              </a:tabLst>
            </a:pPr>
            <a:r>
              <a:rPr kumimoji="0" lang="zh-CN" altLang="en-US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隶书" pitchFamily="49" charset="-122"/>
              </a:rPr>
              <a:t>软件系统的组成及分类</a:t>
            </a:r>
            <a:endParaRPr kumimoji="0" lang="zh-CN" altLang="en-US" b="1" dirty="0">
              <a:effectLst>
                <a:outerShdw blurRad="38100" dist="38100" dir="2700000" algn="tl">
                  <a:srgbClr val="FFFFFF"/>
                </a:outerShdw>
              </a:effectLst>
              <a:ea typeface="隶书" pitchFamily="49" charset="-122"/>
            </a:endParaRPr>
          </a:p>
        </p:txBody>
      </p:sp>
      <p:sp>
        <p:nvSpPr>
          <p:cNvPr id="685064" name="Rectangle 8"/>
          <p:cNvSpPr>
            <a:spLocks noChangeArrowheads="1"/>
          </p:cNvSpPr>
          <p:nvPr/>
        </p:nvSpPr>
        <p:spPr bwMode="auto">
          <a:xfrm>
            <a:off x="1199456" y="908721"/>
            <a:ext cx="10153128" cy="1224135"/>
          </a:xfrm>
          <a:prstGeom prst="rect">
            <a:avLst/>
          </a:prstGeom>
          <a:ln w="38100"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8000"/>
          <a:lstStyle/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软件是指计算机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程序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及有关程序的技术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文档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资料。两者中更为重要的是程序，它是计算机进行数据处理的指令集，也是计算机正常工作最重要的因素。在不太严格情况下，认为程序就是软件。 </a:t>
            </a:r>
          </a:p>
        </p:txBody>
      </p:sp>
      <p:sp>
        <p:nvSpPr>
          <p:cNvPr id="685065" name="Rectangle 9"/>
          <p:cNvSpPr>
            <a:spLocks noChangeArrowheads="1"/>
          </p:cNvSpPr>
          <p:nvPr/>
        </p:nvSpPr>
        <p:spPr bwMode="auto">
          <a:xfrm>
            <a:off x="1199456" y="2348880"/>
            <a:ext cx="10153128" cy="582613"/>
          </a:xfrm>
          <a:prstGeom prst="rect">
            <a:avLst/>
          </a:prstGeom>
          <a:gradFill flip="none" rotWithShape="1">
            <a:gsLst>
              <a:gs pos="0">
                <a:srgbClr val="FFFFCC">
                  <a:shade val="30000"/>
                  <a:satMod val="115000"/>
                </a:srgbClr>
              </a:gs>
              <a:gs pos="50000">
                <a:srgbClr val="FFFFCC">
                  <a:shade val="67500"/>
                  <a:satMod val="115000"/>
                </a:srgbClr>
              </a:gs>
              <a:gs pos="100000">
                <a:srgbClr val="FFFFCC">
                  <a:shade val="100000"/>
                  <a:satMod val="115000"/>
                </a:srgbClr>
              </a:gs>
            </a:gsLst>
            <a:lin ang="13500000" scaled="1"/>
            <a:tileRect/>
          </a:gradFill>
          <a:ln w="38100">
            <a:solidFill>
              <a:srgbClr val="FF00FF"/>
            </a:solidFill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8000" anchor="ctr" anchorCtr="0"/>
          <a:lstStyle/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根据软件用途将其分为两大类：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系统软件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和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应用软件</a:t>
            </a:r>
            <a:r>
              <a:rPr lang="zh-CN" altLang="en-US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 </a:t>
            </a:r>
          </a:p>
        </p:txBody>
      </p:sp>
      <p:grpSp>
        <p:nvGrpSpPr>
          <p:cNvPr id="685072" name="Group 16"/>
          <p:cNvGrpSpPr>
            <a:grpSpLocks/>
          </p:cNvGrpSpPr>
          <p:nvPr/>
        </p:nvGrpSpPr>
        <p:grpSpPr bwMode="auto">
          <a:xfrm>
            <a:off x="-5016" y="0"/>
            <a:ext cx="446088" cy="6858000"/>
            <a:chOff x="0" y="0"/>
            <a:chExt cx="281" cy="4320"/>
          </a:xfrm>
        </p:grpSpPr>
        <p:sp>
          <p:nvSpPr>
            <p:cNvPr id="685073" name="Text Box 17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</a:rPr>
                <a:t>第三版</a:t>
              </a: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第一章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预备知识</a:t>
              </a:r>
            </a:p>
          </p:txBody>
        </p:sp>
        <p:sp>
          <p:nvSpPr>
            <p:cNvPr id="685074" name="Text Box 18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8" name="Rectangle 3">
            <a:extLst>
              <a:ext uri="{FF2B5EF4-FFF2-40B4-BE49-F238E27FC236}">
                <a16:creationId xmlns:a16="http://schemas.microsoft.com/office/drawing/2014/main" id="{33ABC8DE-F1F9-41D8-B24C-E0BBF810B7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456" y="3657979"/>
            <a:ext cx="5976664" cy="3063725"/>
          </a:xfrm>
          <a:prstGeom prst="rect">
            <a:avLst/>
          </a:prstGeom>
          <a:ln w="38100"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8000"/>
          <a:lstStyle/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系统软件是指管理、监控、维护计算机正常工作和供用户操作使用计算机的软件。这类软件一般与具体应用无关，是在系统一级上提供的服务。</a:t>
            </a:r>
            <a:r>
              <a:rPr lang="zh-CN" altLang="en-US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系统软件主要包括以下两类：</a:t>
            </a:r>
            <a:r>
              <a:rPr lang="zh-CN" altLang="en-US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一类是面向计算机本身的软件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，如操作系统、诊断程序等。</a:t>
            </a:r>
            <a:r>
              <a:rPr lang="zh-CN" altLang="en-US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另一类是面向用户的软件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，如各种语言处理程序（象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楷体" pitchFamily="49" charset="-122"/>
              </a:rPr>
              <a:t>VC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楷体" pitchFamily="49" charset="-122"/>
              </a:rPr>
              <a:t>、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楷体" pitchFamily="49" charset="-122"/>
              </a:rPr>
              <a:t>CB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等）、实用程序、字处理程序等。 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446E75B9-E032-4985-AEEE-825A2AD229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8168" y="3657979"/>
            <a:ext cx="3744416" cy="3063725"/>
          </a:xfrm>
          <a:prstGeom prst="rect">
            <a:avLst/>
          </a:prstGeom>
          <a:ln w="38100"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8000"/>
          <a:lstStyle/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应用软件是指某特定领域中的某种具体应用，供最终用户使用的软件，它必须在操作系统的基础上运行。如财务报表软件、数据库应用软件等。初学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C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语言的读者主要任务是学习如何编写应用软件。 </a:t>
            </a:r>
          </a:p>
        </p:txBody>
      </p:sp>
      <p:sp>
        <p:nvSpPr>
          <p:cNvPr id="10" name="Text Box 2">
            <a:extLst>
              <a:ext uri="{FF2B5EF4-FFF2-40B4-BE49-F238E27FC236}">
                <a16:creationId xmlns:a16="http://schemas.microsoft.com/office/drawing/2014/main" id="{8C0E4C51-409A-4E87-9B7D-C761A0D387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584" y="3031189"/>
            <a:ext cx="2808312" cy="579438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kumimoji="0" lang="en-US" altLang="zh-CN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(1) </a:t>
            </a:r>
            <a:r>
              <a:rPr kumimoji="0" lang="zh-CN" altLang="en-US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系统软件</a:t>
            </a:r>
            <a:r>
              <a:rPr kumimoji="0"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id="{4F9349B7-DA3A-462C-9A16-3D85211775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5696" y="3003501"/>
            <a:ext cx="2863850" cy="579437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kumimoji="0" lang="en-US" altLang="zh-CN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(2) </a:t>
            </a:r>
            <a:r>
              <a:rPr kumimoji="0" lang="zh-CN" altLang="en-US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应用软件</a:t>
            </a:r>
            <a:r>
              <a:rPr kumimoji="0"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50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6850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6850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5062" grpId="0"/>
      <p:bldP spid="685064" grpId="0" animBg="1"/>
      <p:bldP spid="685065" grpId="0" animBg="1"/>
      <p:bldP spid="8" grpId="0" animBg="1"/>
      <p:bldP spid="9" grpId="0" animBg="1"/>
      <p:bldP spid="10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106" name="Text Box 2"/>
          <p:cNvSpPr txBox="1">
            <a:spLocks noChangeArrowheads="1"/>
          </p:cNvSpPr>
          <p:nvPr/>
        </p:nvSpPr>
        <p:spPr bwMode="auto">
          <a:xfrm>
            <a:off x="598036" y="310543"/>
            <a:ext cx="6913563" cy="579438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7800" indent="-177800">
              <a:spcBef>
                <a:spcPct val="50000"/>
              </a:spcBef>
              <a:buFont typeface="Wingdings" pitchFamily="2" charset="2"/>
              <a:buChar char="u"/>
              <a:tabLst>
                <a:tab pos="177800" algn="l"/>
              </a:tabLst>
            </a:pPr>
            <a:r>
              <a:rPr kumimoji="0" lang="zh-CN" altLang="en-US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软件与硬件的关系</a:t>
            </a:r>
            <a:r>
              <a:rPr kumimoji="0"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  </a:t>
            </a:r>
          </a:p>
        </p:txBody>
      </p:sp>
      <p:grpSp>
        <p:nvGrpSpPr>
          <p:cNvPr id="687116" name="Group 12"/>
          <p:cNvGrpSpPr>
            <a:grpSpLocks/>
          </p:cNvGrpSpPr>
          <p:nvPr/>
        </p:nvGrpSpPr>
        <p:grpSpPr bwMode="auto">
          <a:xfrm>
            <a:off x="-5016" y="0"/>
            <a:ext cx="446088" cy="6858000"/>
            <a:chOff x="0" y="0"/>
            <a:chExt cx="281" cy="4320"/>
          </a:xfrm>
        </p:grpSpPr>
        <p:sp>
          <p:nvSpPr>
            <p:cNvPr id="687117" name="Text Box 13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</a:rPr>
                <a:t>第三版</a:t>
              </a: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第一章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预备知识</a:t>
              </a:r>
            </a:p>
          </p:txBody>
        </p:sp>
        <p:sp>
          <p:nvSpPr>
            <p:cNvPr id="687118" name="Text Box 14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122130" y="1127641"/>
            <a:ext cx="10446478" cy="4893647"/>
          </a:xfrm>
          <a:prstGeom prst="rect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3500000" scaled="1"/>
            <a:tileRect/>
          </a:gradFill>
          <a:ln w="31750">
            <a:solidFill>
              <a:srgbClr val="FF00FF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rtlCol="0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   硬件和软件是一个完整的计算机系统互相依存的两大部分，它们的关系主要体现在以下几个方面：</a:t>
            </a:r>
            <a:endParaRPr lang="en-US" altLang="zh-CN" b="1" dirty="0">
              <a:solidFill>
                <a:srgbClr val="CC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" pitchFamily="49" charset="-122"/>
              <a:ea typeface="楷体" pitchFamily="49" charset="-122"/>
            </a:endParaRPr>
          </a:p>
          <a:p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   （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）硬件和软件互相依存。</a:t>
            </a:r>
            <a:endParaRPr lang="en-US" altLang="zh-CN" b="1" dirty="0">
              <a:solidFill>
                <a:srgbClr val="CC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" pitchFamily="49" charset="-122"/>
              <a:ea typeface="楷体" pitchFamily="49" charset="-122"/>
            </a:endParaRPr>
          </a:p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   硬件是软件赖以工作的物质基础，软件的正常工作是硬件发挥作用的惟一途径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,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软件是用户与机器的接口。计算机系统必须要配备完善的软件系统才能正常工作，且充分发挥其硬件的各种功能。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楷体" pitchFamily="49" charset="-122"/>
              <a:ea typeface="楷体" pitchFamily="49" charset="-122"/>
            </a:endParaRPr>
          </a:p>
          <a:p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   （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2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）硬件和软件无严格界线</a:t>
            </a:r>
            <a:endParaRPr lang="en-US" altLang="zh-CN" b="1" dirty="0">
              <a:solidFill>
                <a:srgbClr val="CC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" pitchFamily="49" charset="-122"/>
              <a:ea typeface="楷体" pitchFamily="49" charset="-122"/>
            </a:endParaRPr>
          </a:p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   随着计算机技术的发展，在许多情况下，计算机的某些功能既可以由硬件实现，也可以由软件来实现。因此，硬件与软件在一定意义上说没有绝对严格的界线。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 </a:t>
            </a:r>
            <a:endParaRPr lang="en-US" altLang="zh-CN" b="1" dirty="0">
              <a:solidFill>
                <a:srgbClr val="CC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" pitchFamily="49" charset="-122"/>
              <a:ea typeface="楷体" pitchFamily="49" charset="-122"/>
            </a:endParaRPr>
          </a:p>
          <a:p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   （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3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）硬件和软件协同发展。</a:t>
            </a:r>
            <a:endParaRPr lang="en-US" altLang="zh-CN" b="1" dirty="0">
              <a:solidFill>
                <a:srgbClr val="CC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" pitchFamily="49" charset="-122"/>
              <a:ea typeface="楷体" pitchFamily="49" charset="-122"/>
            </a:endParaRPr>
          </a:p>
          <a:p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 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计算机软件随着硬件技术的迅速发展而发展，而软件的不断发展与完善又促进硬件的更新，两者密切地交织发展，缺一不可。 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71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7106" grpId="0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130" name="Text Box 2"/>
          <p:cNvSpPr txBox="1">
            <a:spLocks noChangeArrowheads="1"/>
          </p:cNvSpPr>
          <p:nvPr/>
        </p:nvSpPr>
        <p:spPr bwMode="auto">
          <a:xfrm>
            <a:off x="598542" y="244475"/>
            <a:ext cx="5834063" cy="579438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kumimoji="0" lang="en-US" altLang="zh-CN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1.2 </a:t>
            </a:r>
            <a:r>
              <a:rPr kumimoji="0" lang="zh-CN" altLang="en-US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进位计数制及其转换 </a:t>
            </a:r>
          </a:p>
        </p:txBody>
      </p:sp>
      <p:sp>
        <p:nvSpPr>
          <p:cNvPr id="688132" name="Rectangle 4"/>
          <p:cNvSpPr>
            <a:spLocks noChangeArrowheads="1"/>
          </p:cNvSpPr>
          <p:nvPr/>
        </p:nvSpPr>
        <p:spPr bwMode="auto">
          <a:xfrm>
            <a:off x="1347613" y="1000125"/>
            <a:ext cx="8132763" cy="300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sz="32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 数码、基与权</a:t>
            </a:r>
            <a:endParaRPr lang="zh-CN" altLang="en-US" sz="3200" b="1" dirty="0">
              <a:solidFill>
                <a:srgbClr val="FF0066"/>
              </a:solidFill>
              <a:effectLst>
                <a:outerShdw blurRad="38100" dist="38100" dir="2700000" algn="tl">
                  <a:srgbClr val="000000"/>
                </a:outerShdw>
              </a:effectLst>
              <a:ea typeface="隶书" pitchFamily="49" charset="-122"/>
            </a:endParaRPr>
          </a:p>
          <a:p>
            <a:pPr marL="534988" indent="368300">
              <a:spcBef>
                <a:spcPct val="20000"/>
              </a:spcBef>
              <a:buClr>
                <a:srgbClr val="0000FF"/>
              </a:buClr>
              <a:buFont typeface="Wingdings" pitchFamily="2" charset="2"/>
              <a:buChar char="l"/>
            </a:pPr>
            <a:r>
              <a:rPr lang="zh-CN" altLang="en-US" sz="32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</a:rPr>
              <a:t> </a:t>
            </a:r>
            <a:r>
              <a:rPr lang="zh-CN" altLang="en-US" sz="32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数码：</a:t>
            </a:r>
            <a:r>
              <a:rPr lang="zh-CN" altLang="en-US" sz="32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表示数的符号</a:t>
            </a:r>
          </a:p>
          <a:p>
            <a:pPr marL="534988" indent="368300">
              <a:spcBef>
                <a:spcPct val="20000"/>
              </a:spcBef>
              <a:buClr>
                <a:srgbClr val="0000FF"/>
              </a:buClr>
              <a:buFont typeface="Wingdings" pitchFamily="2" charset="2"/>
              <a:buChar char="l"/>
            </a:pPr>
            <a:r>
              <a:rPr lang="zh-CN" altLang="en-US" sz="32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</a:t>
            </a:r>
            <a:r>
              <a:rPr lang="zh-CN" altLang="en-US" sz="32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基数</a:t>
            </a:r>
            <a:r>
              <a:rPr lang="zh-CN" altLang="en-US" sz="32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：数码的个数</a:t>
            </a:r>
          </a:p>
          <a:p>
            <a:pPr marL="534988" indent="368300">
              <a:spcBef>
                <a:spcPct val="20000"/>
              </a:spcBef>
              <a:buClr>
                <a:srgbClr val="0000FF"/>
              </a:buClr>
              <a:buFont typeface="Wingdings" pitchFamily="2" charset="2"/>
              <a:buChar char="l"/>
            </a:pPr>
            <a:r>
              <a:rPr lang="zh-CN" altLang="en-US" sz="32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</a:t>
            </a:r>
            <a:r>
              <a:rPr lang="zh-CN" altLang="en-US" sz="32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权  ：</a:t>
            </a:r>
            <a:r>
              <a:rPr lang="zh-CN" altLang="en-US" sz="32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每一位所具有的值</a:t>
            </a:r>
          </a:p>
          <a:p>
            <a:pPr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sz="32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 数制</a:t>
            </a:r>
          </a:p>
        </p:txBody>
      </p:sp>
      <p:graphicFrame>
        <p:nvGraphicFramePr>
          <p:cNvPr id="688133" name="Object 5">
            <a:hlinkClick r:id="" action="ppaction://noaction" highlightClick="1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7458480"/>
              </p:ext>
            </p:extLst>
          </p:nvPr>
        </p:nvGraphicFramePr>
        <p:xfrm>
          <a:off x="2921054" y="3861966"/>
          <a:ext cx="2665412" cy="2519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8206" name="剪辑" r:id="rId4" imgW="18154650" imgH="19516725" progId="">
                  <p:embed/>
                </p:oleObj>
              </mc:Choice>
              <mc:Fallback>
                <p:oleObj name="剪辑" r:id="rId4" imgW="18154650" imgH="19516725" progId="">
                  <p:embed/>
                  <p:pic>
                    <p:nvPicPr>
                      <p:cNvPr id="0" name="Picture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1054" y="3861966"/>
                        <a:ext cx="2665412" cy="2519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88140" name="Group 12"/>
          <p:cNvGrpSpPr>
            <a:grpSpLocks/>
          </p:cNvGrpSpPr>
          <p:nvPr/>
        </p:nvGrpSpPr>
        <p:grpSpPr bwMode="auto">
          <a:xfrm>
            <a:off x="-5016" y="0"/>
            <a:ext cx="446088" cy="6858000"/>
            <a:chOff x="0" y="0"/>
            <a:chExt cx="281" cy="4320"/>
          </a:xfrm>
        </p:grpSpPr>
        <p:sp>
          <p:nvSpPr>
            <p:cNvPr id="688141" name="Text Box 13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</a:rPr>
                <a:t>第三版</a:t>
              </a: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第一章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预备知识</a:t>
              </a:r>
            </a:p>
          </p:txBody>
        </p:sp>
        <p:sp>
          <p:nvSpPr>
            <p:cNvPr id="688142" name="Text Box 14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81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688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688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6881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6881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6881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68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8130" grpId="0"/>
      <p:bldP spid="688132" grpId="0" uiExpand="1" build="p" bldLvl="5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2">
            <a:extLst>
              <a:ext uri="{FF2B5EF4-FFF2-40B4-BE49-F238E27FC236}">
                <a16:creationId xmlns:a16="http://schemas.microsoft.com/office/drawing/2014/main" id="{571D2B3F-6343-42D1-AB81-915FED17865F}"/>
              </a:ext>
            </a:extLst>
          </p:cNvPr>
          <p:cNvGrpSpPr>
            <a:grpSpLocks/>
          </p:cNvGrpSpPr>
          <p:nvPr/>
        </p:nvGrpSpPr>
        <p:grpSpPr bwMode="auto">
          <a:xfrm>
            <a:off x="1919536" y="971550"/>
            <a:ext cx="8229600" cy="4076700"/>
            <a:chOff x="408" y="612"/>
            <a:chExt cx="5184" cy="2568"/>
          </a:xfrm>
        </p:grpSpPr>
        <p:grpSp>
          <p:nvGrpSpPr>
            <p:cNvPr id="54" name="Group 3">
              <a:extLst>
                <a:ext uri="{FF2B5EF4-FFF2-40B4-BE49-F238E27FC236}">
                  <a16:creationId xmlns:a16="http://schemas.microsoft.com/office/drawing/2014/main" id="{77EA03C3-1681-424F-99F8-AACB10395C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8" y="612"/>
              <a:ext cx="5184" cy="2568"/>
              <a:chOff x="408" y="612"/>
              <a:chExt cx="5184" cy="2568"/>
            </a:xfrm>
          </p:grpSpPr>
          <p:sp>
            <p:nvSpPr>
              <p:cNvPr id="61" name="Rectangle 4">
                <a:extLst>
                  <a:ext uri="{FF2B5EF4-FFF2-40B4-BE49-F238E27FC236}">
                    <a16:creationId xmlns:a16="http://schemas.microsoft.com/office/drawing/2014/main" id="{5C03C1AA-A084-490D-8E26-6BB0CFE8A7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" y="612"/>
                <a:ext cx="5172" cy="2568"/>
              </a:xfrm>
              <a:prstGeom prst="rect">
                <a:avLst/>
              </a:prstGeom>
              <a:noFill/>
              <a:ln w="31750">
                <a:solidFill>
                  <a:srgbClr val="006600"/>
                </a:solidFill>
                <a:miter lim="800000"/>
                <a:headEnd/>
                <a:tailEnd/>
              </a:ln>
              <a:effectLst/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2" name="Line 5">
                <a:extLst>
                  <a:ext uri="{FF2B5EF4-FFF2-40B4-BE49-F238E27FC236}">
                    <a16:creationId xmlns:a16="http://schemas.microsoft.com/office/drawing/2014/main" id="{48989208-6AED-4371-A2A1-8674FC8C82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032"/>
                <a:ext cx="5184" cy="0"/>
              </a:xfrm>
              <a:prstGeom prst="line">
                <a:avLst/>
              </a:prstGeom>
              <a:noFill/>
              <a:ln w="31750">
                <a:solidFill>
                  <a:srgbClr val="006600"/>
                </a:solidFill>
                <a:round/>
                <a:headEnd/>
                <a:tailEnd/>
              </a:ln>
              <a:effectLst/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3" name="Line 6">
                <a:extLst>
                  <a:ext uri="{FF2B5EF4-FFF2-40B4-BE49-F238E27FC236}">
                    <a16:creationId xmlns:a16="http://schemas.microsoft.com/office/drawing/2014/main" id="{15515282-1E13-4006-BEE6-6D5FB7CB28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461"/>
                <a:ext cx="5184" cy="0"/>
              </a:xfrm>
              <a:prstGeom prst="line">
                <a:avLst/>
              </a:prstGeom>
              <a:noFill/>
              <a:ln w="31750">
                <a:solidFill>
                  <a:srgbClr val="006600"/>
                </a:solidFill>
                <a:round/>
                <a:headEnd/>
                <a:tailEnd/>
              </a:ln>
              <a:effectLst/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4" name="Line 7">
                <a:extLst>
                  <a:ext uri="{FF2B5EF4-FFF2-40B4-BE49-F238E27FC236}">
                    <a16:creationId xmlns:a16="http://schemas.microsoft.com/office/drawing/2014/main" id="{DE1B913A-1233-4FB8-AA0B-338B6BC306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891"/>
                <a:ext cx="5184" cy="0"/>
              </a:xfrm>
              <a:prstGeom prst="line">
                <a:avLst/>
              </a:prstGeom>
              <a:noFill/>
              <a:ln w="31750">
                <a:solidFill>
                  <a:srgbClr val="006600"/>
                </a:solidFill>
                <a:round/>
                <a:headEnd/>
                <a:tailEnd/>
              </a:ln>
              <a:effectLst/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5" name="Line 8">
                <a:extLst>
                  <a:ext uri="{FF2B5EF4-FFF2-40B4-BE49-F238E27FC236}">
                    <a16:creationId xmlns:a16="http://schemas.microsoft.com/office/drawing/2014/main" id="{10B7F8F3-1894-4465-B8A8-363907C7F7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320"/>
                <a:ext cx="5184" cy="0"/>
              </a:xfrm>
              <a:prstGeom prst="line">
                <a:avLst/>
              </a:prstGeom>
              <a:noFill/>
              <a:ln w="31750">
                <a:solidFill>
                  <a:srgbClr val="006600"/>
                </a:solidFill>
                <a:round/>
                <a:headEnd/>
                <a:tailEnd/>
              </a:ln>
              <a:effectLst/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6" name="Line 9">
                <a:extLst>
                  <a:ext uri="{FF2B5EF4-FFF2-40B4-BE49-F238E27FC236}">
                    <a16:creationId xmlns:a16="http://schemas.microsoft.com/office/drawing/2014/main" id="{94578941-BFB7-467D-B0B1-F180E26EB5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750"/>
                <a:ext cx="5184" cy="0"/>
              </a:xfrm>
              <a:prstGeom prst="line">
                <a:avLst/>
              </a:prstGeom>
              <a:noFill/>
              <a:ln w="31750">
                <a:solidFill>
                  <a:srgbClr val="006600"/>
                </a:solidFill>
                <a:round/>
                <a:headEnd/>
                <a:tailEnd/>
              </a:ln>
              <a:effectLst/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7" name="Line 10">
                <a:extLst>
                  <a:ext uri="{FF2B5EF4-FFF2-40B4-BE49-F238E27FC236}">
                    <a16:creationId xmlns:a16="http://schemas.microsoft.com/office/drawing/2014/main" id="{267F2957-21E4-4604-88D4-C14C0DAC3A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40" y="612"/>
                <a:ext cx="0" cy="2556"/>
              </a:xfrm>
              <a:prstGeom prst="line">
                <a:avLst/>
              </a:prstGeom>
              <a:noFill/>
              <a:ln w="31750">
                <a:solidFill>
                  <a:srgbClr val="006600"/>
                </a:solidFill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8" name="Line 11">
                <a:extLst>
                  <a:ext uri="{FF2B5EF4-FFF2-40B4-BE49-F238E27FC236}">
                    <a16:creationId xmlns:a16="http://schemas.microsoft.com/office/drawing/2014/main" id="{84908374-0064-4056-879B-F7E37F5EC9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36" y="624"/>
                <a:ext cx="0" cy="2556"/>
              </a:xfrm>
              <a:prstGeom prst="line">
                <a:avLst/>
              </a:prstGeom>
              <a:noFill/>
              <a:ln w="31750">
                <a:solidFill>
                  <a:srgbClr val="006600"/>
                </a:solidFill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9" name="Line 12">
                <a:extLst>
                  <a:ext uri="{FF2B5EF4-FFF2-40B4-BE49-F238E27FC236}">
                    <a16:creationId xmlns:a16="http://schemas.microsoft.com/office/drawing/2014/main" id="{A42E4FC1-F964-45EE-8F29-E5B0FE629C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50" y="624"/>
                <a:ext cx="0" cy="2556"/>
              </a:xfrm>
              <a:prstGeom prst="line">
                <a:avLst/>
              </a:prstGeom>
              <a:noFill/>
              <a:ln w="31750">
                <a:solidFill>
                  <a:srgbClr val="006600"/>
                </a:solidFill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0" name="Line 13">
                <a:extLst>
                  <a:ext uri="{FF2B5EF4-FFF2-40B4-BE49-F238E27FC236}">
                    <a16:creationId xmlns:a16="http://schemas.microsoft.com/office/drawing/2014/main" id="{014DF453-0DFA-4F3F-95B8-4E05BD4C24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4" y="624"/>
                <a:ext cx="0" cy="2556"/>
              </a:xfrm>
              <a:prstGeom prst="line">
                <a:avLst/>
              </a:prstGeom>
              <a:noFill/>
              <a:ln w="31750">
                <a:solidFill>
                  <a:srgbClr val="006600"/>
                </a:solidFill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55" name="Text Box 14">
              <a:extLst>
                <a:ext uri="{FF2B5EF4-FFF2-40B4-BE49-F238E27FC236}">
                  <a16:creationId xmlns:a16="http://schemas.microsoft.com/office/drawing/2014/main" id="{361AC9CE-64A4-44B8-AA0A-AFD34545A2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" y="673"/>
              <a:ext cx="498" cy="288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 eaLnBrk="0" hangingPunct="0"/>
              <a:r>
                <a:rPr lang="zh-CN" altLang="en-US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itchFamily="34" charset="0"/>
                  <a:ea typeface="隶书" pitchFamily="49" charset="-122"/>
                </a:rPr>
                <a:t>数制</a:t>
              </a:r>
            </a:p>
          </p:txBody>
        </p:sp>
        <p:sp>
          <p:nvSpPr>
            <p:cNvPr id="56" name="Text Box 15">
              <a:extLst>
                <a:ext uri="{FF2B5EF4-FFF2-40B4-BE49-F238E27FC236}">
                  <a16:creationId xmlns:a16="http://schemas.microsoft.com/office/drawing/2014/main" id="{823AF7F7-11D5-49F4-8714-B447558B85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" y="1527"/>
              <a:ext cx="306" cy="288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 eaLnBrk="0" hangingPunct="0"/>
              <a:r>
                <a:rPr lang="zh-CN" altLang="en-US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itchFamily="34" charset="0"/>
                  <a:ea typeface="隶书" pitchFamily="49" charset="-122"/>
                </a:rPr>
                <a:t>基</a:t>
              </a:r>
            </a:p>
          </p:txBody>
        </p:sp>
        <p:sp>
          <p:nvSpPr>
            <p:cNvPr id="57" name="Text Box 16">
              <a:extLst>
                <a:ext uri="{FF2B5EF4-FFF2-40B4-BE49-F238E27FC236}">
                  <a16:creationId xmlns:a16="http://schemas.microsoft.com/office/drawing/2014/main" id="{0EB66F34-CEFE-488E-B034-D0B0F3FDCE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" y="1954"/>
              <a:ext cx="306" cy="288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 eaLnBrk="0" hangingPunct="0"/>
              <a:r>
                <a:rPr lang="zh-CN" altLang="en-US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itchFamily="34" charset="0"/>
                  <a:ea typeface="隶书" pitchFamily="49" charset="-122"/>
                </a:rPr>
                <a:t>权</a:t>
              </a:r>
            </a:p>
          </p:txBody>
        </p:sp>
        <p:sp>
          <p:nvSpPr>
            <p:cNvPr id="58" name="Text Box 17">
              <a:extLst>
                <a:ext uri="{FF2B5EF4-FFF2-40B4-BE49-F238E27FC236}">
                  <a16:creationId xmlns:a16="http://schemas.microsoft.com/office/drawing/2014/main" id="{E6DF3D29-017B-48A0-B4BD-4D7E99A722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" y="2381"/>
              <a:ext cx="498" cy="288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 eaLnBrk="0" hangingPunct="0"/>
              <a:r>
                <a:rPr lang="zh-CN" altLang="en-US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itchFamily="34" charset="0"/>
                  <a:ea typeface="隶书" pitchFamily="49" charset="-122"/>
                </a:rPr>
                <a:t>表示</a:t>
              </a:r>
            </a:p>
          </p:txBody>
        </p:sp>
        <p:sp>
          <p:nvSpPr>
            <p:cNvPr id="59" name="Text Box 18">
              <a:extLst>
                <a:ext uri="{FF2B5EF4-FFF2-40B4-BE49-F238E27FC236}">
                  <a16:creationId xmlns:a16="http://schemas.microsoft.com/office/drawing/2014/main" id="{3DB3E829-E948-45C9-8EF8-A91BC48D81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" y="1100"/>
              <a:ext cx="498" cy="288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 eaLnBrk="0" hangingPunct="0"/>
              <a:r>
                <a:rPr lang="zh-CN" altLang="en-US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itchFamily="34" charset="0"/>
                  <a:ea typeface="隶书" pitchFamily="49" charset="-122"/>
                </a:rPr>
                <a:t>数码</a:t>
              </a:r>
            </a:p>
          </p:txBody>
        </p:sp>
        <p:sp>
          <p:nvSpPr>
            <p:cNvPr id="60" name="Text Box 19">
              <a:extLst>
                <a:ext uri="{FF2B5EF4-FFF2-40B4-BE49-F238E27FC236}">
                  <a16:creationId xmlns:a16="http://schemas.microsoft.com/office/drawing/2014/main" id="{94551EB6-47C3-4A91-8E99-3CF6E4C29E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" y="2809"/>
              <a:ext cx="498" cy="288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 eaLnBrk="0" hangingPunct="0"/>
              <a:r>
                <a:rPr lang="zh-CN" altLang="en-US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itchFamily="34" charset="0"/>
                  <a:ea typeface="隶书" pitchFamily="49" charset="-122"/>
                </a:rPr>
                <a:t>特点</a:t>
              </a:r>
            </a:p>
          </p:txBody>
        </p:sp>
      </p:grpSp>
      <p:grpSp>
        <p:nvGrpSpPr>
          <p:cNvPr id="71" name="Group 20">
            <a:extLst>
              <a:ext uri="{FF2B5EF4-FFF2-40B4-BE49-F238E27FC236}">
                <a16:creationId xmlns:a16="http://schemas.microsoft.com/office/drawing/2014/main" id="{1C73A2B6-86FE-4AD8-8B15-0FE647034E74}"/>
              </a:ext>
            </a:extLst>
          </p:cNvPr>
          <p:cNvGrpSpPr>
            <a:grpSpLocks/>
          </p:cNvGrpSpPr>
          <p:nvPr/>
        </p:nvGrpSpPr>
        <p:grpSpPr bwMode="auto">
          <a:xfrm>
            <a:off x="3086349" y="1068388"/>
            <a:ext cx="1798637" cy="3867150"/>
            <a:chOff x="1143" y="673"/>
            <a:chExt cx="1133" cy="2436"/>
          </a:xfrm>
        </p:grpSpPr>
        <p:sp>
          <p:nvSpPr>
            <p:cNvPr id="72" name="Text Box 21">
              <a:extLst>
                <a:ext uri="{FF2B5EF4-FFF2-40B4-BE49-F238E27FC236}">
                  <a16:creationId xmlns:a16="http://schemas.microsoft.com/office/drawing/2014/main" id="{4F06E8CE-5ECA-4DD2-8897-274234D8A2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3" y="1995"/>
              <a:ext cx="1133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 eaLnBrk="0" hangingPunct="0"/>
              <a:r>
                <a:rPr lang="en-US" altLang="zh-CN" sz="16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隶书" pitchFamily="49" charset="-122"/>
                  <a:ea typeface="隶书" pitchFamily="49" charset="-122"/>
                </a:rPr>
                <a:t>10</a:t>
              </a:r>
              <a:r>
                <a:rPr lang="en-US" altLang="zh-CN" sz="1600" b="1" dirty="0">
                  <a:effectLst>
                    <a:outerShdw blurRad="38100" dist="38100" dir="2700000" algn="tl">
                      <a:srgbClr val="FFFFFF"/>
                    </a:outerShdw>
                  </a:effectLst>
                  <a:sym typeface="Symbol" pitchFamily="18" charset="2"/>
                </a:rPr>
                <a:t>º</a:t>
              </a:r>
              <a:r>
                <a:rPr lang="zh-CN" altLang="en-US" sz="1600" b="1" dirty="0">
                  <a:effectLst>
                    <a:outerShdw blurRad="38100" dist="38100" dir="2700000" algn="tl">
                      <a:srgbClr val="FFFFFF"/>
                    </a:outerShdw>
                  </a:effectLst>
                  <a:sym typeface="Symbol" pitchFamily="18" charset="2"/>
                </a:rPr>
                <a:t>，</a:t>
              </a:r>
              <a:r>
                <a:rPr lang="en-US" altLang="zh-CN" sz="1600" b="1" dirty="0">
                  <a:effectLst>
                    <a:outerShdw blurRad="38100" dist="38100" dir="2700000" algn="tl">
                      <a:srgbClr val="FFFFFF"/>
                    </a:outerShdw>
                  </a:effectLst>
                  <a:sym typeface="Symbol" pitchFamily="18" charset="2"/>
                </a:rPr>
                <a:t>10¹</a:t>
              </a:r>
              <a:r>
                <a:rPr lang="zh-CN" altLang="en-US" sz="1600" b="1" dirty="0">
                  <a:effectLst>
                    <a:outerShdw blurRad="38100" dist="38100" dir="2700000" algn="tl">
                      <a:srgbClr val="FFFFFF"/>
                    </a:outerShdw>
                  </a:effectLst>
                  <a:sym typeface="Symbol" pitchFamily="18" charset="2"/>
                </a:rPr>
                <a:t>，</a:t>
              </a:r>
              <a:r>
                <a:rPr lang="en-US" altLang="zh-CN" sz="1600" b="1" dirty="0">
                  <a:effectLst>
                    <a:outerShdw blurRad="38100" dist="38100" dir="2700000" algn="tl">
                      <a:srgbClr val="FFFFFF"/>
                    </a:outerShdw>
                  </a:effectLst>
                  <a:sym typeface="Symbol" pitchFamily="18" charset="2"/>
                </a:rPr>
                <a:t>10²</a:t>
              </a:r>
              <a:r>
                <a:rPr lang="zh-CN" altLang="en-US" sz="1600" b="1" dirty="0">
                  <a:effectLst>
                    <a:outerShdw blurRad="38100" dist="38100" dir="2700000" algn="tl">
                      <a:srgbClr val="FFFFFF"/>
                    </a:outerShdw>
                  </a:effectLst>
                  <a:sym typeface="Symbol" pitchFamily="18" charset="2"/>
                </a:rPr>
                <a:t>，</a:t>
              </a:r>
              <a:r>
                <a:rPr lang="en-US" altLang="zh-CN" sz="1600" b="1" dirty="0">
                  <a:effectLst>
                    <a:outerShdw blurRad="38100" dist="38100" dir="2700000" algn="tl">
                      <a:srgbClr val="FFFFFF"/>
                    </a:outerShdw>
                  </a:effectLst>
                  <a:sym typeface="Symbol" pitchFamily="18" charset="2"/>
                </a:rPr>
                <a:t>…</a:t>
              </a:r>
              <a:endPara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18" charset="2"/>
              </a:endParaRPr>
            </a:p>
          </p:txBody>
        </p:sp>
        <p:grpSp>
          <p:nvGrpSpPr>
            <p:cNvPr id="73" name="Group 22">
              <a:extLst>
                <a:ext uri="{FF2B5EF4-FFF2-40B4-BE49-F238E27FC236}">
                  <a16:creationId xmlns:a16="http://schemas.microsoft.com/office/drawing/2014/main" id="{B984CA2A-6C4B-489F-9BD7-3CFD78C0E6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3" y="673"/>
              <a:ext cx="888" cy="2436"/>
              <a:chOff x="1203" y="673"/>
              <a:chExt cx="888" cy="2436"/>
            </a:xfrm>
          </p:grpSpPr>
          <p:sp>
            <p:nvSpPr>
              <p:cNvPr id="74" name="Text Box 23">
                <a:extLst>
                  <a:ext uri="{FF2B5EF4-FFF2-40B4-BE49-F238E27FC236}">
                    <a16:creationId xmlns:a16="http://schemas.microsoft.com/office/drawing/2014/main" id="{A6E3A4A6-07FA-407A-8806-27391E67E6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09" y="673"/>
                <a:ext cx="88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0000" tIns="46800" rIns="90000" bIns="46800">
                <a:spAutoFit/>
              </a:bodyPr>
              <a:lstStyle/>
              <a:p>
                <a:pPr eaLnBrk="0" hangingPunct="0"/>
                <a:r>
                  <a:rPr lang="zh-CN" altLang="en-US" dirty="0">
                    <a:solidFill>
                      <a:schemeClr val="accent2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" pitchFamily="34" charset="0"/>
                    <a:ea typeface="隶书" pitchFamily="49" charset="-122"/>
                  </a:rPr>
                  <a:t>十进制数</a:t>
                </a:r>
              </a:p>
            </p:txBody>
          </p:sp>
          <p:sp>
            <p:nvSpPr>
              <p:cNvPr id="75" name="Text Box 24">
                <a:extLst>
                  <a:ext uri="{FF2B5EF4-FFF2-40B4-BE49-F238E27FC236}">
                    <a16:creationId xmlns:a16="http://schemas.microsoft.com/office/drawing/2014/main" id="{4A2DB632-947D-4544-9EE8-8F69E9127F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3" y="1118"/>
                <a:ext cx="41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0000" tIns="46800" rIns="90000" bIns="46800">
                <a:spAutoFit/>
              </a:bodyPr>
              <a:lstStyle/>
              <a:p>
                <a:pPr eaLnBrk="0" hangingPunct="0"/>
                <a:r>
                  <a:rPr lang="en-US" altLang="zh-CN" dirty="0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0~9</a:t>
                </a:r>
              </a:p>
            </p:txBody>
          </p:sp>
          <p:sp>
            <p:nvSpPr>
              <p:cNvPr id="76" name="Text Box 25">
                <a:extLst>
                  <a:ext uri="{FF2B5EF4-FFF2-40B4-BE49-F238E27FC236}">
                    <a16:creationId xmlns:a16="http://schemas.microsoft.com/office/drawing/2014/main" id="{91C40BC8-88D9-4B36-8E23-CFB84552A0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67" y="1561"/>
                <a:ext cx="32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0000" tIns="46800" rIns="90000" bIns="46800">
                <a:spAutoFit/>
              </a:bodyPr>
              <a:lstStyle/>
              <a:p>
                <a:pPr eaLnBrk="0" hangingPunct="0"/>
                <a:r>
                  <a:rPr lang="en-US" altLang="zh-CN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itchFamily="34" charset="0"/>
                    <a:ea typeface="隶书" pitchFamily="49" charset="-122"/>
                  </a:rPr>
                  <a:t>10</a:t>
                </a:r>
              </a:p>
            </p:txBody>
          </p:sp>
          <p:sp>
            <p:nvSpPr>
              <p:cNvPr id="77" name="Text Box 26">
                <a:extLst>
                  <a:ext uri="{FF2B5EF4-FFF2-40B4-BE49-F238E27FC236}">
                    <a16:creationId xmlns:a16="http://schemas.microsoft.com/office/drawing/2014/main" id="{B72193FF-4515-4FB1-AD3D-CB12EC772C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03" y="2821"/>
                <a:ext cx="88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0000" tIns="46800" rIns="90000" bIns="46800">
                <a:spAutoFit/>
              </a:bodyPr>
              <a:lstStyle/>
              <a:p>
                <a:pPr eaLnBrk="0" hangingPunct="0"/>
                <a:r>
                  <a:rPr lang="zh-CN" altLang="en-US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ea typeface="隶书" pitchFamily="49" charset="-122"/>
                    <a:sym typeface="Symbol" pitchFamily="18" charset="2"/>
                  </a:rPr>
                  <a:t>逢十进一</a:t>
                </a:r>
                <a:endParaRPr lang="zh-CN" altLang="en-US" dirty="0">
                  <a:effectLst>
                    <a:outerShdw blurRad="38100" dist="38100" dir="2700000" algn="tl">
                      <a:srgbClr val="FFFFFF"/>
                    </a:outerShdw>
                  </a:effectLst>
                  <a:sym typeface="Symbol" pitchFamily="18" charset="2"/>
                </a:endParaRPr>
              </a:p>
            </p:txBody>
          </p:sp>
        </p:grpSp>
      </p:grpSp>
      <p:grpSp>
        <p:nvGrpSpPr>
          <p:cNvPr id="78" name="Group 27">
            <a:extLst>
              <a:ext uri="{FF2B5EF4-FFF2-40B4-BE49-F238E27FC236}">
                <a16:creationId xmlns:a16="http://schemas.microsoft.com/office/drawing/2014/main" id="{DB2D0310-58FF-416E-B53B-F0B01F92182D}"/>
              </a:ext>
            </a:extLst>
          </p:cNvPr>
          <p:cNvGrpSpPr>
            <a:grpSpLocks/>
          </p:cNvGrpSpPr>
          <p:nvPr/>
        </p:nvGrpSpPr>
        <p:grpSpPr bwMode="auto">
          <a:xfrm>
            <a:off x="4845299" y="1068388"/>
            <a:ext cx="1527175" cy="3867150"/>
            <a:chOff x="2251" y="673"/>
            <a:chExt cx="962" cy="2436"/>
          </a:xfrm>
        </p:grpSpPr>
        <p:sp>
          <p:nvSpPr>
            <p:cNvPr id="79" name="Text Box 28">
              <a:extLst>
                <a:ext uri="{FF2B5EF4-FFF2-40B4-BE49-F238E27FC236}">
                  <a16:creationId xmlns:a16="http://schemas.microsoft.com/office/drawing/2014/main" id="{4A2CF9EC-FB17-42A2-8283-34BF47751F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1" y="673"/>
              <a:ext cx="88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 eaLnBrk="0" hangingPunct="0"/>
              <a:r>
                <a:rPr lang="zh-CN" altLang="en-US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itchFamily="34" charset="0"/>
                  <a:ea typeface="隶书" pitchFamily="49" charset="-122"/>
                </a:rPr>
                <a:t>二进制数</a:t>
              </a:r>
            </a:p>
          </p:txBody>
        </p:sp>
        <p:sp>
          <p:nvSpPr>
            <p:cNvPr id="80" name="Text Box 29">
              <a:extLst>
                <a:ext uri="{FF2B5EF4-FFF2-40B4-BE49-F238E27FC236}">
                  <a16:creationId xmlns:a16="http://schemas.microsoft.com/office/drawing/2014/main" id="{E1F5FF8F-8C95-4B43-A884-0CEBE49601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5" y="1118"/>
              <a:ext cx="41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 eaLnBrk="0" hangingPunct="0"/>
              <a:r>
                <a:rPr lang="en-US" altLang="zh-CN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0~1</a:t>
              </a:r>
            </a:p>
          </p:txBody>
        </p:sp>
        <p:sp>
          <p:nvSpPr>
            <p:cNvPr id="81" name="Text Box 30">
              <a:extLst>
                <a:ext uri="{FF2B5EF4-FFF2-40B4-BE49-F238E27FC236}">
                  <a16:creationId xmlns:a16="http://schemas.microsoft.com/office/drawing/2014/main" id="{FFB913BF-0D4A-4EDE-B44E-B6EEBE3686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5" y="1561"/>
              <a:ext cx="22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 eaLnBrk="0" hangingPunct="0"/>
              <a:r>
                <a:rPr lang="en-US" altLang="zh-CN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itchFamily="34" charset="0"/>
                  <a:ea typeface="隶书" pitchFamily="49" charset="-122"/>
                </a:rPr>
                <a:t>2</a:t>
              </a:r>
            </a:p>
          </p:txBody>
        </p:sp>
        <p:sp>
          <p:nvSpPr>
            <p:cNvPr id="82" name="Text Box 31">
              <a:extLst>
                <a:ext uri="{FF2B5EF4-FFF2-40B4-BE49-F238E27FC236}">
                  <a16:creationId xmlns:a16="http://schemas.microsoft.com/office/drawing/2014/main" id="{F5BD9868-D087-48E6-97F3-9EE869FAE9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1" y="1995"/>
              <a:ext cx="9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 eaLnBrk="0" hangingPunct="0"/>
              <a:r>
                <a:rPr lang="en-US" altLang="zh-CN" sz="16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隶书" pitchFamily="49" charset="-122"/>
                  <a:ea typeface="隶书" pitchFamily="49" charset="-122"/>
                </a:rPr>
                <a:t>2</a:t>
              </a:r>
              <a:r>
                <a:rPr lang="en-US" altLang="zh-CN" sz="1600" b="1">
                  <a:effectLst>
                    <a:outerShdw blurRad="38100" dist="38100" dir="2700000" algn="tl">
                      <a:srgbClr val="FFFFFF"/>
                    </a:outerShdw>
                  </a:effectLst>
                  <a:sym typeface="Symbol" pitchFamily="18" charset="2"/>
                </a:rPr>
                <a:t>º</a:t>
              </a:r>
              <a:r>
                <a:rPr lang="zh-CN" altLang="en-US" sz="1600" b="1">
                  <a:effectLst>
                    <a:outerShdw blurRad="38100" dist="38100" dir="2700000" algn="tl">
                      <a:srgbClr val="FFFFFF"/>
                    </a:outerShdw>
                  </a:effectLst>
                  <a:sym typeface="Symbol" pitchFamily="18" charset="2"/>
                </a:rPr>
                <a:t>，</a:t>
              </a:r>
              <a:r>
                <a:rPr lang="en-US" altLang="zh-CN" sz="1600" b="1">
                  <a:effectLst>
                    <a:outerShdw blurRad="38100" dist="38100" dir="2700000" algn="tl">
                      <a:srgbClr val="FFFFFF"/>
                    </a:outerShdw>
                  </a:effectLst>
                  <a:sym typeface="Symbol" pitchFamily="18" charset="2"/>
                </a:rPr>
                <a:t>2¹</a:t>
              </a:r>
              <a:r>
                <a:rPr lang="zh-CN" altLang="en-US" sz="1600" b="1">
                  <a:effectLst>
                    <a:outerShdw blurRad="38100" dist="38100" dir="2700000" algn="tl">
                      <a:srgbClr val="FFFFFF"/>
                    </a:outerShdw>
                  </a:effectLst>
                  <a:sym typeface="Symbol" pitchFamily="18" charset="2"/>
                </a:rPr>
                <a:t>，</a:t>
              </a:r>
              <a:r>
                <a:rPr lang="en-US" altLang="zh-CN" sz="1600" b="1">
                  <a:effectLst>
                    <a:outerShdw blurRad="38100" dist="38100" dir="2700000" algn="tl">
                      <a:srgbClr val="FFFFFF"/>
                    </a:outerShdw>
                  </a:effectLst>
                  <a:sym typeface="Symbol" pitchFamily="18" charset="2"/>
                </a:rPr>
                <a:t>2²</a:t>
              </a:r>
              <a:r>
                <a:rPr lang="zh-CN" altLang="en-US" sz="1600" b="1">
                  <a:effectLst>
                    <a:outerShdw blurRad="38100" dist="38100" dir="2700000" algn="tl">
                      <a:srgbClr val="FFFFFF"/>
                    </a:outerShdw>
                  </a:effectLst>
                  <a:sym typeface="Symbol" pitchFamily="18" charset="2"/>
                </a:rPr>
                <a:t>，</a:t>
              </a:r>
              <a:r>
                <a:rPr lang="en-US" altLang="zh-CN" sz="1600" b="1">
                  <a:effectLst>
                    <a:outerShdw blurRad="38100" dist="38100" dir="2700000" algn="tl">
                      <a:srgbClr val="FFFFFF"/>
                    </a:outerShdw>
                  </a:effectLst>
                  <a:sym typeface="Symbol" pitchFamily="18" charset="2"/>
                </a:rPr>
                <a:t>…</a:t>
              </a:r>
              <a:endParaRPr lang="en-US" altLang="zh-CN" b="1"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18" charset="2"/>
              </a:endParaRPr>
            </a:p>
          </p:txBody>
        </p:sp>
        <p:sp>
          <p:nvSpPr>
            <p:cNvPr id="83" name="Text Box 32">
              <a:extLst>
                <a:ext uri="{FF2B5EF4-FFF2-40B4-BE49-F238E27FC236}">
                  <a16:creationId xmlns:a16="http://schemas.microsoft.com/office/drawing/2014/main" id="{B08E2A50-C7A6-4A97-B1BE-C63B6A813A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7" y="2821"/>
              <a:ext cx="88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 eaLnBrk="0" hangingPunct="0"/>
              <a:r>
                <a:rPr lang="zh-CN" altLang="en-US">
                  <a:effectLst>
                    <a:outerShdw blurRad="38100" dist="38100" dir="2700000" algn="tl">
                      <a:srgbClr val="FFFFFF"/>
                    </a:outerShdw>
                  </a:effectLst>
                  <a:ea typeface="隶书" pitchFamily="49" charset="-122"/>
                  <a:sym typeface="Symbol" pitchFamily="18" charset="2"/>
                </a:rPr>
                <a:t>逢二进一</a:t>
              </a:r>
              <a:endParaRPr lang="zh-CN" altLang="en-US"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18" charset="2"/>
              </a:endParaRPr>
            </a:p>
          </p:txBody>
        </p:sp>
      </p:grpSp>
      <p:grpSp>
        <p:nvGrpSpPr>
          <p:cNvPr id="84" name="Group 33">
            <a:extLst>
              <a:ext uri="{FF2B5EF4-FFF2-40B4-BE49-F238E27FC236}">
                <a16:creationId xmlns:a16="http://schemas.microsoft.com/office/drawing/2014/main" id="{BA17BE95-1290-4050-A6F7-894E49648B31}"/>
              </a:ext>
            </a:extLst>
          </p:cNvPr>
          <p:cNvGrpSpPr>
            <a:grpSpLocks/>
          </p:cNvGrpSpPr>
          <p:nvPr/>
        </p:nvGrpSpPr>
        <p:grpSpPr bwMode="auto">
          <a:xfrm>
            <a:off x="6604249" y="1068388"/>
            <a:ext cx="1549400" cy="3867150"/>
            <a:chOff x="3359" y="673"/>
            <a:chExt cx="976" cy="2436"/>
          </a:xfrm>
        </p:grpSpPr>
        <p:sp>
          <p:nvSpPr>
            <p:cNvPr id="85" name="Text Box 34">
              <a:extLst>
                <a:ext uri="{FF2B5EF4-FFF2-40B4-BE49-F238E27FC236}">
                  <a16:creationId xmlns:a16="http://schemas.microsoft.com/office/drawing/2014/main" id="{B7930298-E4A3-4B43-B645-2534F0672F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3" y="673"/>
              <a:ext cx="88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 eaLnBrk="0" hangingPunct="0"/>
              <a:r>
                <a:rPr lang="zh-CN" altLang="en-US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itchFamily="34" charset="0"/>
                  <a:ea typeface="隶书" pitchFamily="49" charset="-122"/>
                </a:rPr>
                <a:t>八进制数</a:t>
              </a:r>
            </a:p>
          </p:txBody>
        </p:sp>
        <p:sp>
          <p:nvSpPr>
            <p:cNvPr id="86" name="Text Box 35">
              <a:extLst>
                <a:ext uri="{FF2B5EF4-FFF2-40B4-BE49-F238E27FC236}">
                  <a16:creationId xmlns:a16="http://schemas.microsoft.com/office/drawing/2014/main" id="{1BC36046-57CC-409B-BD00-8D2B21B0A8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7" y="1118"/>
              <a:ext cx="41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 eaLnBrk="0" hangingPunct="0"/>
              <a:r>
                <a:rPr lang="en-US" altLang="zh-CN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0~7</a:t>
              </a:r>
            </a:p>
          </p:txBody>
        </p:sp>
        <p:sp>
          <p:nvSpPr>
            <p:cNvPr id="87" name="Text Box 36">
              <a:extLst>
                <a:ext uri="{FF2B5EF4-FFF2-40B4-BE49-F238E27FC236}">
                  <a16:creationId xmlns:a16="http://schemas.microsoft.com/office/drawing/2014/main" id="{B46DAE7E-C0D4-43F5-8F0A-6FE44308B7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3" y="1561"/>
              <a:ext cx="22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 eaLnBrk="0" hangingPunct="0"/>
              <a:r>
                <a:rPr lang="en-US" altLang="zh-CN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itchFamily="34" charset="0"/>
                  <a:ea typeface="隶书" pitchFamily="49" charset="-122"/>
                </a:rPr>
                <a:t>8</a:t>
              </a:r>
            </a:p>
          </p:txBody>
        </p:sp>
        <p:sp>
          <p:nvSpPr>
            <p:cNvPr id="88" name="Text Box 37">
              <a:extLst>
                <a:ext uri="{FF2B5EF4-FFF2-40B4-BE49-F238E27FC236}">
                  <a16:creationId xmlns:a16="http://schemas.microsoft.com/office/drawing/2014/main" id="{647CE7C8-2033-4EE5-A186-9280F6DBA1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9" y="1995"/>
              <a:ext cx="9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 eaLnBrk="0" hangingPunct="0"/>
              <a:r>
                <a:rPr lang="en-US" altLang="zh-CN" sz="16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隶书" pitchFamily="49" charset="-122"/>
                  <a:ea typeface="隶书" pitchFamily="49" charset="-122"/>
                </a:rPr>
                <a:t>8</a:t>
              </a:r>
              <a:r>
                <a:rPr lang="en-US" altLang="zh-CN" sz="1600" b="1">
                  <a:effectLst>
                    <a:outerShdw blurRad="38100" dist="38100" dir="2700000" algn="tl">
                      <a:srgbClr val="FFFFFF"/>
                    </a:outerShdw>
                  </a:effectLst>
                  <a:sym typeface="Symbol" pitchFamily="18" charset="2"/>
                </a:rPr>
                <a:t>º</a:t>
              </a:r>
              <a:r>
                <a:rPr lang="zh-CN" altLang="en-US" sz="1600" b="1">
                  <a:effectLst>
                    <a:outerShdw blurRad="38100" dist="38100" dir="2700000" algn="tl">
                      <a:srgbClr val="FFFFFF"/>
                    </a:outerShdw>
                  </a:effectLst>
                  <a:sym typeface="Symbol" pitchFamily="18" charset="2"/>
                </a:rPr>
                <a:t>，</a:t>
              </a:r>
              <a:r>
                <a:rPr lang="en-US" altLang="zh-CN" sz="1600" b="1">
                  <a:effectLst>
                    <a:outerShdw blurRad="38100" dist="38100" dir="2700000" algn="tl">
                      <a:srgbClr val="FFFFFF"/>
                    </a:outerShdw>
                  </a:effectLst>
                  <a:sym typeface="Symbol" pitchFamily="18" charset="2"/>
                </a:rPr>
                <a:t>8¹</a:t>
              </a:r>
              <a:r>
                <a:rPr lang="zh-CN" altLang="en-US" sz="1600" b="1">
                  <a:effectLst>
                    <a:outerShdw blurRad="38100" dist="38100" dir="2700000" algn="tl">
                      <a:srgbClr val="FFFFFF"/>
                    </a:outerShdw>
                  </a:effectLst>
                  <a:sym typeface="Symbol" pitchFamily="18" charset="2"/>
                </a:rPr>
                <a:t>，</a:t>
              </a:r>
              <a:r>
                <a:rPr lang="en-US" altLang="zh-CN" sz="1600" b="1">
                  <a:effectLst>
                    <a:outerShdw blurRad="38100" dist="38100" dir="2700000" algn="tl">
                      <a:srgbClr val="FFFFFF"/>
                    </a:outerShdw>
                  </a:effectLst>
                  <a:sym typeface="Symbol" pitchFamily="18" charset="2"/>
                </a:rPr>
                <a:t>8²</a:t>
              </a:r>
              <a:r>
                <a:rPr lang="zh-CN" altLang="en-US" sz="1600" b="1">
                  <a:effectLst>
                    <a:outerShdw blurRad="38100" dist="38100" dir="2700000" algn="tl">
                      <a:srgbClr val="FFFFFF"/>
                    </a:outerShdw>
                  </a:effectLst>
                  <a:sym typeface="Symbol" pitchFamily="18" charset="2"/>
                </a:rPr>
                <a:t>，</a:t>
              </a:r>
              <a:r>
                <a:rPr lang="en-US" altLang="zh-CN" sz="1600" b="1">
                  <a:effectLst>
                    <a:outerShdw blurRad="38100" dist="38100" dir="2700000" algn="tl">
                      <a:srgbClr val="FFFFFF"/>
                    </a:outerShdw>
                  </a:effectLst>
                  <a:sym typeface="Symbol" pitchFamily="18" charset="2"/>
                </a:rPr>
                <a:t>…</a:t>
              </a:r>
              <a:endParaRPr lang="en-US" altLang="zh-CN" b="1"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18" charset="2"/>
              </a:endParaRPr>
            </a:p>
          </p:txBody>
        </p:sp>
        <p:sp>
          <p:nvSpPr>
            <p:cNvPr id="89" name="Text Box 38">
              <a:extLst>
                <a:ext uri="{FF2B5EF4-FFF2-40B4-BE49-F238E27FC236}">
                  <a16:creationId xmlns:a16="http://schemas.microsoft.com/office/drawing/2014/main" id="{0C1E4135-F19B-42D9-BE12-7F1A6FE198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1" y="2821"/>
              <a:ext cx="88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 eaLnBrk="0" hangingPunct="0"/>
              <a:r>
                <a:rPr lang="zh-CN" altLang="en-US">
                  <a:effectLst>
                    <a:outerShdw blurRad="38100" dist="38100" dir="2700000" algn="tl">
                      <a:srgbClr val="FFFFFF"/>
                    </a:outerShdw>
                  </a:effectLst>
                  <a:ea typeface="隶书" pitchFamily="49" charset="-122"/>
                  <a:sym typeface="Symbol" pitchFamily="18" charset="2"/>
                </a:rPr>
                <a:t>逢八进一</a:t>
              </a:r>
              <a:endParaRPr lang="zh-CN" altLang="en-US"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18" charset="2"/>
              </a:endParaRPr>
            </a:p>
          </p:txBody>
        </p:sp>
      </p:grpSp>
      <p:grpSp>
        <p:nvGrpSpPr>
          <p:cNvPr id="90" name="Group 39">
            <a:extLst>
              <a:ext uri="{FF2B5EF4-FFF2-40B4-BE49-F238E27FC236}">
                <a16:creationId xmlns:a16="http://schemas.microsoft.com/office/drawing/2014/main" id="{95D67FE8-FBAB-4EAF-A343-FD27C4ED1331}"/>
              </a:ext>
            </a:extLst>
          </p:cNvPr>
          <p:cNvGrpSpPr>
            <a:grpSpLocks/>
          </p:cNvGrpSpPr>
          <p:nvPr/>
        </p:nvGrpSpPr>
        <p:grpSpPr bwMode="auto">
          <a:xfrm>
            <a:off x="8325099" y="1049338"/>
            <a:ext cx="1836737" cy="3886200"/>
            <a:chOff x="4443" y="661"/>
            <a:chExt cx="1157" cy="2448"/>
          </a:xfrm>
        </p:grpSpPr>
        <p:sp>
          <p:nvSpPr>
            <p:cNvPr id="91" name="Text Box 40">
              <a:extLst>
                <a:ext uri="{FF2B5EF4-FFF2-40B4-BE49-F238E27FC236}">
                  <a16:creationId xmlns:a16="http://schemas.microsoft.com/office/drawing/2014/main" id="{02852E9B-B706-4114-8413-2517E80B49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5" y="661"/>
              <a:ext cx="107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 eaLnBrk="0" hangingPunct="0"/>
              <a:r>
                <a:rPr lang="zh-CN" altLang="en-US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itchFamily="34" charset="0"/>
                  <a:ea typeface="隶书" pitchFamily="49" charset="-122"/>
                </a:rPr>
                <a:t>十六进制数</a:t>
              </a:r>
            </a:p>
          </p:txBody>
        </p:sp>
        <p:sp>
          <p:nvSpPr>
            <p:cNvPr id="92" name="Text Box 41">
              <a:extLst>
                <a:ext uri="{FF2B5EF4-FFF2-40B4-BE49-F238E27FC236}">
                  <a16:creationId xmlns:a16="http://schemas.microsoft.com/office/drawing/2014/main" id="{B9A3FA18-A2ED-465F-8386-F197D56228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3" y="1130"/>
              <a:ext cx="110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 eaLnBrk="0" hangingPunct="0"/>
              <a:r>
                <a:rPr lang="en-US" altLang="zh-CN"/>
                <a:t>0~9,A~F,a~f</a:t>
              </a:r>
            </a:p>
          </p:txBody>
        </p:sp>
        <p:sp>
          <p:nvSpPr>
            <p:cNvPr id="93" name="Text Box 42">
              <a:extLst>
                <a:ext uri="{FF2B5EF4-FFF2-40B4-BE49-F238E27FC236}">
                  <a16:creationId xmlns:a16="http://schemas.microsoft.com/office/drawing/2014/main" id="{AC90ED8D-52A5-43BF-BB8D-1494F08668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1" y="1561"/>
              <a:ext cx="32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 eaLnBrk="0" hangingPunct="0"/>
              <a:r>
                <a:rPr lang="en-US" altLang="zh-CN">
                  <a:latin typeface="Arial" pitchFamily="34" charset="0"/>
                  <a:ea typeface="隶书" pitchFamily="49" charset="-122"/>
                </a:rPr>
                <a:t>16</a:t>
              </a:r>
            </a:p>
          </p:txBody>
        </p:sp>
        <p:sp>
          <p:nvSpPr>
            <p:cNvPr id="94" name="Text Box 43">
              <a:extLst>
                <a:ext uri="{FF2B5EF4-FFF2-40B4-BE49-F238E27FC236}">
                  <a16:creationId xmlns:a16="http://schemas.microsoft.com/office/drawing/2014/main" id="{1939BF1A-B4AA-4B4C-ADA5-94613F51AD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7" y="1995"/>
              <a:ext cx="1133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 eaLnBrk="0" hangingPunct="0"/>
              <a:r>
                <a:rPr lang="en-US" altLang="zh-CN" sz="1600" b="1">
                  <a:latin typeface="隶书" pitchFamily="49" charset="-122"/>
                  <a:ea typeface="隶书" pitchFamily="49" charset="-122"/>
                </a:rPr>
                <a:t>16</a:t>
              </a:r>
              <a:r>
                <a:rPr lang="en-US" altLang="zh-CN" sz="1600" b="1">
                  <a:sym typeface="Symbol" pitchFamily="18" charset="2"/>
                </a:rPr>
                <a:t>º</a:t>
              </a:r>
              <a:r>
                <a:rPr lang="zh-CN" altLang="en-US" sz="1600" b="1">
                  <a:sym typeface="Symbol" pitchFamily="18" charset="2"/>
                </a:rPr>
                <a:t>，</a:t>
              </a:r>
              <a:r>
                <a:rPr lang="en-US" altLang="zh-CN" sz="1600" b="1">
                  <a:sym typeface="Symbol" pitchFamily="18" charset="2"/>
                </a:rPr>
                <a:t>16¹</a:t>
              </a:r>
              <a:r>
                <a:rPr lang="zh-CN" altLang="en-US" sz="1600" b="1">
                  <a:sym typeface="Symbol" pitchFamily="18" charset="2"/>
                </a:rPr>
                <a:t>，</a:t>
              </a:r>
              <a:r>
                <a:rPr lang="en-US" altLang="zh-CN" sz="1600" b="1">
                  <a:sym typeface="Symbol" pitchFamily="18" charset="2"/>
                </a:rPr>
                <a:t>16²</a:t>
              </a:r>
              <a:r>
                <a:rPr lang="zh-CN" altLang="en-US" sz="1600" b="1">
                  <a:sym typeface="Symbol" pitchFamily="18" charset="2"/>
                </a:rPr>
                <a:t>，</a:t>
              </a:r>
              <a:r>
                <a:rPr lang="en-US" altLang="zh-CN" sz="1600" b="1">
                  <a:sym typeface="Symbol" pitchFamily="18" charset="2"/>
                </a:rPr>
                <a:t>…</a:t>
              </a:r>
              <a:endParaRPr lang="en-US" altLang="zh-CN" b="1">
                <a:sym typeface="Symbol" pitchFamily="18" charset="2"/>
              </a:endParaRPr>
            </a:p>
          </p:txBody>
        </p:sp>
        <p:sp>
          <p:nvSpPr>
            <p:cNvPr id="95" name="Text Box 44">
              <a:extLst>
                <a:ext uri="{FF2B5EF4-FFF2-40B4-BE49-F238E27FC236}">
                  <a16:creationId xmlns:a16="http://schemas.microsoft.com/office/drawing/2014/main" id="{6EDBBE27-0CA3-42F7-9CAE-CB5F5C8C92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5" y="2821"/>
              <a:ext cx="107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 eaLnBrk="0" hangingPunct="0"/>
              <a:r>
                <a:rPr lang="zh-CN" altLang="en-US">
                  <a:ea typeface="隶书" pitchFamily="49" charset="-122"/>
                  <a:sym typeface="Symbol" pitchFamily="18" charset="2"/>
                </a:rPr>
                <a:t>逢十六进一</a:t>
              </a:r>
              <a:endParaRPr lang="zh-CN" altLang="en-US">
                <a:sym typeface="Symbol" pitchFamily="18" charset="2"/>
              </a:endParaRPr>
            </a:p>
          </p:txBody>
        </p:sp>
      </p:grpSp>
      <p:sp>
        <p:nvSpPr>
          <p:cNvPr id="96" name="Text Box 45">
            <a:extLst>
              <a:ext uri="{FF2B5EF4-FFF2-40B4-BE49-F238E27FC236}">
                <a16:creationId xmlns:a16="http://schemas.microsoft.com/office/drawing/2014/main" id="{8064D32F-52D4-4C18-8DC1-0C51871C55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5720" y="3825875"/>
            <a:ext cx="6080125" cy="40229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90000" tIns="46800" rIns="90000" bIns="46800">
            <a:spAutoFit/>
          </a:bodyPr>
          <a:lstStyle/>
          <a:p>
            <a:pPr eaLnBrk="0" hangingPunct="0"/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隶书" pitchFamily="49" charset="-122"/>
              </a:rPr>
              <a:t>十进制：</a:t>
            </a:r>
            <a:r>
              <a:rPr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隶书" pitchFamily="49" charset="-122"/>
              </a:rPr>
              <a:t>(4956)</a:t>
            </a:r>
            <a:r>
              <a:rPr lang="en-US" altLang="zh-CN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隶书" pitchFamily="49" charset="-122"/>
              </a:rPr>
              <a:t>10</a:t>
            </a:r>
            <a:r>
              <a:rPr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隶书" pitchFamily="49" charset="-122"/>
              </a:rPr>
              <a:t>= </a:t>
            </a:r>
            <a:r>
              <a:rPr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隶书" pitchFamily="49" charset="-122"/>
                <a:sym typeface="Symbol" pitchFamily="18" charset="2"/>
              </a:rPr>
              <a:t>410³+910² +510¹+6</a:t>
            </a:r>
            <a:r>
              <a:rPr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隶书" pitchFamily="49" charset="-122"/>
              </a:rPr>
              <a:t>10</a:t>
            </a:r>
            <a:r>
              <a:rPr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隶书" pitchFamily="49" charset="-122"/>
                <a:sym typeface="Symbol" pitchFamily="18" charset="2"/>
              </a:rPr>
              <a:t>º</a:t>
            </a:r>
          </a:p>
        </p:txBody>
      </p:sp>
      <p:sp>
        <p:nvSpPr>
          <p:cNvPr id="97" name="Text Box 46">
            <a:extLst>
              <a:ext uri="{FF2B5EF4-FFF2-40B4-BE49-F238E27FC236}">
                <a16:creationId xmlns:a16="http://schemas.microsoft.com/office/drawing/2014/main" id="{DD479367-36B7-4A7A-8A7D-8325ED7E7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6183" y="3828796"/>
            <a:ext cx="6080400" cy="40229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90000" tIns="46800" rIns="90000" bIns="46800">
            <a:spAutoFit/>
          </a:bodyPr>
          <a:lstStyle/>
          <a:p>
            <a:pPr eaLnBrk="0" hangingPunct="0"/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隶书" pitchFamily="49" charset="-122"/>
                <a:sym typeface="Symbol" pitchFamily="18" charset="2"/>
              </a:rPr>
              <a:t>二进制：</a:t>
            </a:r>
            <a:r>
              <a:rPr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隶书" pitchFamily="49" charset="-122"/>
                <a:sym typeface="Symbol" pitchFamily="18" charset="2"/>
              </a:rPr>
              <a:t>(1011)</a:t>
            </a:r>
            <a:r>
              <a:rPr lang="en-US" altLang="zh-CN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隶书" pitchFamily="49" charset="-122"/>
                <a:sym typeface="Symbol" pitchFamily="18" charset="2"/>
              </a:rPr>
              <a:t>2</a:t>
            </a:r>
            <a:r>
              <a:rPr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隶书" pitchFamily="49" charset="-122"/>
                <a:sym typeface="Symbol" pitchFamily="18" charset="2"/>
              </a:rPr>
              <a:t>=12³+02² +12¹+12º</a:t>
            </a:r>
          </a:p>
        </p:txBody>
      </p:sp>
      <p:sp>
        <p:nvSpPr>
          <p:cNvPr id="99" name="Text Box 48">
            <a:extLst>
              <a:ext uri="{FF2B5EF4-FFF2-40B4-BE49-F238E27FC236}">
                <a16:creationId xmlns:a16="http://schemas.microsoft.com/office/drawing/2014/main" id="{C6F9CD3E-7DF9-4739-8E90-13224B31D6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1320" y="3834747"/>
            <a:ext cx="6080400" cy="40229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90000" tIns="46800" rIns="90000" bIns="46800">
            <a:spAutoFit/>
          </a:bodyPr>
          <a:lstStyle/>
          <a:p>
            <a:pPr eaLnBrk="0" hangingPunct="0"/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隶书" pitchFamily="49" charset="-122"/>
                <a:sym typeface="Symbol" pitchFamily="18" charset="2"/>
              </a:rPr>
              <a:t>八进制：</a:t>
            </a:r>
            <a:r>
              <a:rPr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隶书" pitchFamily="49" charset="-122"/>
                <a:sym typeface="Symbol" pitchFamily="18" charset="2"/>
              </a:rPr>
              <a:t>(4275)</a:t>
            </a:r>
            <a:r>
              <a:rPr lang="en-US" altLang="zh-CN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隶书" pitchFamily="49" charset="-122"/>
                <a:sym typeface="Symbol" pitchFamily="18" charset="2"/>
              </a:rPr>
              <a:t>8</a:t>
            </a:r>
            <a:r>
              <a:rPr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隶书" pitchFamily="49" charset="-122"/>
                <a:sym typeface="Symbol" pitchFamily="18" charset="2"/>
              </a:rPr>
              <a:t>=48³+28² +78¹+58º</a:t>
            </a:r>
            <a:endParaRPr lang="en-US" altLang="zh-CN" sz="2000" dirty="0">
              <a:effectLst>
                <a:outerShdw blurRad="38100" dist="38100" dir="2700000" algn="tl">
                  <a:srgbClr val="C0C0C0"/>
                </a:outerShdw>
              </a:effectLst>
              <a:sym typeface="Symbol" pitchFamily="18" charset="2"/>
            </a:endParaRPr>
          </a:p>
        </p:txBody>
      </p:sp>
      <p:graphicFrame>
        <p:nvGraphicFramePr>
          <p:cNvPr id="100" name="Object 49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49D4D9DA-557E-4EC4-8329-327A346F0E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8088988"/>
              </p:ext>
            </p:extLst>
          </p:nvPr>
        </p:nvGraphicFramePr>
        <p:xfrm>
          <a:off x="9577636" y="5753100"/>
          <a:ext cx="528638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9274" name="剪辑" r:id="rId7" imgW="10372725" imgH="19516725" progId="">
                  <p:embed/>
                </p:oleObj>
              </mc:Choice>
              <mc:Fallback>
                <p:oleObj name="剪辑" r:id="rId7" imgW="10372725" imgH="19516725" progId="">
                  <p:embed/>
                  <p:pic>
                    <p:nvPicPr>
                      <p:cNvPr id="0" name="Picture 1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77636" y="5753100"/>
                        <a:ext cx="528638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1" name="Group 59">
            <a:extLst>
              <a:ext uri="{FF2B5EF4-FFF2-40B4-BE49-F238E27FC236}">
                <a16:creationId xmlns:a16="http://schemas.microsoft.com/office/drawing/2014/main" id="{1927A81D-4FEA-44B0-8868-A86023123BC9}"/>
              </a:ext>
            </a:extLst>
          </p:cNvPr>
          <p:cNvGrpSpPr>
            <a:grpSpLocks/>
          </p:cNvGrpSpPr>
          <p:nvPr/>
        </p:nvGrpSpPr>
        <p:grpSpPr bwMode="auto">
          <a:xfrm>
            <a:off x="-4709" y="0"/>
            <a:ext cx="455613" cy="6858000"/>
            <a:chOff x="-6" y="0"/>
            <a:chExt cx="287" cy="4320"/>
          </a:xfrm>
        </p:grpSpPr>
        <p:sp>
          <p:nvSpPr>
            <p:cNvPr id="102" name="Text Box 60">
              <a:extLst>
                <a:ext uri="{FF2B5EF4-FFF2-40B4-BE49-F238E27FC236}">
                  <a16:creationId xmlns:a16="http://schemas.microsoft.com/office/drawing/2014/main" id="{9F618DC1-8240-4AF7-9986-4BC2CCACF2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6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</a:rPr>
                <a:t>第三版</a:t>
              </a: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第一章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预备知识</a:t>
              </a:r>
            </a:p>
          </p:txBody>
        </p:sp>
        <p:sp>
          <p:nvSpPr>
            <p:cNvPr id="103" name="Text Box 61">
              <a:extLst>
                <a:ext uri="{FF2B5EF4-FFF2-40B4-BE49-F238E27FC236}">
                  <a16:creationId xmlns:a16="http://schemas.microsoft.com/office/drawing/2014/main" id="{CDB1BBF6-BFF2-4F06-8AB9-35AD41406F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2" name="对话气泡: 矩形 1">
            <a:extLst>
              <a:ext uri="{FF2B5EF4-FFF2-40B4-BE49-F238E27FC236}">
                <a16:creationId xmlns:a16="http://schemas.microsoft.com/office/drawing/2014/main" id="{DD0D1952-3ED5-4243-BD7A-E508DD590A0C}"/>
              </a:ext>
            </a:extLst>
          </p:cNvPr>
          <p:cNvSpPr/>
          <p:nvPr/>
        </p:nvSpPr>
        <p:spPr bwMode="auto">
          <a:xfrm>
            <a:off x="5006704" y="2492302"/>
            <a:ext cx="3753590" cy="952647"/>
          </a:xfrm>
          <a:prstGeom prst="wedgeRectCallout">
            <a:avLst>
              <a:gd name="adj1" fmla="val -49831"/>
              <a:gd name="adj2" fmla="val 96157"/>
            </a:avLst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9525" cap="flat" cmpd="sng" algn="ctr">
            <a:solidFill>
              <a:srgbClr val="CC00CC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400" b="1" i="0" u="none" strike="noStrike" cap="none" normalizeH="0" baseline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C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语言中表示八进制数是在数的前面加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0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，即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0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4275</a:t>
            </a:r>
            <a:endParaRPr kumimoji="1" lang="zh-CN" altLang="en-US" sz="2400" b="1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98" name="Text Box 47">
            <a:extLst>
              <a:ext uri="{FF2B5EF4-FFF2-40B4-BE49-F238E27FC236}">
                <a16:creationId xmlns:a16="http://schemas.microsoft.com/office/drawing/2014/main" id="{2A143AB6-4A49-4D9B-ADF4-01F14A2FD5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6183" y="3824807"/>
            <a:ext cx="6080400" cy="40229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90000" tIns="46800" rIns="90000" bIns="46800">
            <a:spAutoFit/>
          </a:bodyPr>
          <a:lstStyle/>
          <a:p>
            <a:pPr eaLnBrk="0" hangingPunct="0"/>
            <a:r>
              <a:rPr lang="zh-CN" altLang="en-US" sz="2000" dirty="0">
                <a:latin typeface="Arial" pitchFamily="34" charset="0"/>
                <a:ea typeface="隶书" pitchFamily="49" charset="-122"/>
                <a:sym typeface="Symbol" pitchFamily="18" charset="2"/>
              </a:rPr>
              <a:t>十六进制：</a:t>
            </a:r>
            <a:r>
              <a:rPr lang="en-US" altLang="zh-CN" sz="2000" dirty="0">
                <a:latin typeface="Arial" pitchFamily="34" charset="0"/>
                <a:ea typeface="隶书" pitchFamily="49" charset="-122"/>
                <a:sym typeface="Symbol" pitchFamily="18" charset="2"/>
              </a:rPr>
              <a:t>(81AE)</a:t>
            </a:r>
            <a:r>
              <a:rPr lang="en-US" altLang="zh-CN" sz="2000" baseline="-25000" dirty="0">
                <a:latin typeface="Arial" pitchFamily="34" charset="0"/>
                <a:ea typeface="隶书" pitchFamily="49" charset="-122"/>
                <a:sym typeface="Symbol" pitchFamily="18" charset="2"/>
              </a:rPr>
              <a:t>16</a:t>
            </a:r>
            <a:r>
              <a:rPr lang="en-US" altLang="zh-CN" sz="2000" dirty="0">
                <a:latin typeface="Arial" pitchFamily="34" charset="0"/>
                <a:ea typeface="隶书" pitchFamily="49" charset="-122"/>
                <a:sym typeface="Symbol" pitchFamily="18" charset="2"/>
              </a:rPr>
              <a:t>=816³+116² +1016¹+1416º</a:t>
            </a:r>
            <a:endParaRPr lang="en-US" altLang="zh-CN" sz="2000" dirty="0">
              <a:sym typeface="Symbol" pitchFamily="18" charset="2"/>
            </a:endParaRPr>
          </a:p>
        </p:txBody>
      </p:sp>
      <p:sp>
        <p:nvSpPr>
          <p:cNvPr id="104" name="对话气泡: 矩形 103">
            <a:extLst>
              <a:ext uri="{FF2B5EF4-FFF2-40B4-BE49-F238E27FC236}">
                <a16:creationId xmlns:a16="http://schemas.microsoft.com/office/drawing/2014/main" id="{4AE9E427-6C31-4FFB-BFED-D35279FE3123}"/>
              </a:ext>
            </a:extLst>
          </p:cNvPr>
          <p:cNvSpPr/>
          <p:nvPr/>
        </p:nvSpPr>
        <p:spPr bwMode="auto">
          <a:xfrm>
            <a:off x="5265978" y="2528521"/>
            <a:ext cx="4293119" cy="952647"/>
          </a:xfrm>
          <a:prstGeom prst="wedgeRectCallout">
            <a:avLst>
              <a:gd name="adj1" fmla="val -49831"/>
              <a:gd name="adj2" fmla="val 96157"/>
            </a:avLst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9525" cap="flat" cmpd="sng" algn="ctr">
            <a:solidFill>
              <a:srgbClr val="CC00CC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400" b="1" i="0" u="none" strike="noStrike" cap="none" normalizeH="0" baseline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C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语言中表示十六进制数是在数的前面加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0X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或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0x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，即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0X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81AE</a:t>
            </a:r>
            <a:endParaRPr kumimoji="1" lang="zh-CN" altLang="en-US" sz="2400" b="1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05" name="Text Box 2">
            <a:extLst>
              <a:ext uri="{FF2B5EF4-FFF2-40B4-BE49-F238E27FC236}">
                <a16:creationId xmlns:a16="http://schemas.microsoft.com/office/drawing/2014/main" id="{6586E670-00BC-4FA7-8026-3F55DEEBCB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1486" y="405294"/>
            <a:ext cx="2113081" cy="461665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kumimoji="0" lang="zh-CN" altLang="en-US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常用的进制数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animBg="1" autoUpdateAnimBg="0"/>
      <p:bldP spid="97" grpId="0" animBg="1" autoUpdateAnimBg="0"/>
      <p:bldP spid="99" grpId="0" animBg="1" autoUpdateAnimBg="0"/>
      <p:bldP spid="2" grpId="0" animBg="1"/>
      <p:bldP spid="98" grpId="0" animBg="1" autoUpdateAnimBg="0"/>
      <p:bldP spid="104" grpId="0" animBg="1"/>
      <p:bldP spid="10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179" name="Rectangle 3"/>
          <p:cNvSpPr>
            <a:spLocks noChangeArrowheads="1"/>
          </p:cNvSpPr>
          <p:nvPr/>
        </p:nvSpPr>
        <p:spPr bwMode="auto">
          <a:xfrm>
            <a:off x="534735" y="214313"/>
            <a:ext cx="9449697" cy="1846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sz="32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进制之间的相互转换</a:t>
            </a:r>
            <a:endParaRPr lang="zh-CN" altLang="en-US" sz="3200" b="1" dirty="0">
              <a:solidFill>
                <a:srgbClr val="FF0066"/>
              </a:solidFill>
              <a:effectLst>
                <a:outerShdw blurRad="38100" dist="38100" dir="2700000" algn="tl">
                  <a:srgbClr val="000000"/>
                </a:outerShdw>
              </a:effectLst>
              <a:ea typeface="隶书" pitchFamily="49" charset="-122"/>
            </a:endParaRPr>
          </a:p>
          <a:p>
            <a:pPr lvl="1">
              <a:spcBef>
                <a:spcPct val="20000"/>
              </a:spcBef>
              <a:buFont typeface="Wingdings" pitchFamily="2" charset="2"/>
              <a:buChar char="l"/>
            </a:pPr>
            <a:r>
              <a:rPr lang="zh-CN" altLang="en-US" sz="3200" b="1" dirty="0">
                <a:solidFill>
                  <a:srgbClr val="0099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二进制、八进制、十六进制转换成十进制</a:t>
            </a:r>
            <a:r>
              <a:rPr lang="zh-CN" altLang="en-US" sz="3200" b="1" dirty="0">
                <a:effectLst>
                  <a:outerShdw blurRad="38100" dist="38100" dir="2700000" algn="tl">
                    <a:srgbClr val="FFFFFF"/>
                  </a:outerShdw>
                </a:effectLst>
                <a:ea typeface="隶书" pitchFamily="49" charset="-122"/>
              </a:rPr>
              <a:t> </a:t>
            </a:r>
          </a:p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zh-CN" altLang="en-US" sz="32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   </a:t>
            </a:r>
            <a:r>
              <a:rPr lang="zh-CN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方法</a:t>
            </a:r>
            <a:r>
              <a:rPr lang="zh-CN" altLang="en-US" sz="2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：</a:t>
            </a:r>
            <a:r>
              <a:rPr lang="zh-CN" altLang="en-US" sz="2800" b="1" u="sng" dirty="0">
                <a:solidFill>
                  <a:srgbClr val="0066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按权相加</a:t>
            </a:r>
          </a:p>
        </p:txBody>
      </p:sp>
      <p:graphicFrame>
        <p:nvGraphicFramePr>
          <p:cNvPr id="6901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4728420"/>
              </p:ext>
            </p:extLst>
          </p:nvPr>
        </p:nvGraphicFramePr>
        <p:xfrm>
          <a:off x="809372" y="2514601"/>
          <a:ext cx="10477222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0476" name="Equation" r:id="rId5" imgW="4381200" imgH="241200" progId="">
                  <p:embed/>
                </p:oleObj>
              </mc:Choice>
              <mc:Fallback>
                <p:oleObj name="Equation" r:id="rId5" imgW="4381200" imgH="241200" progId="">
                  <p:embed/>
                  <p:pic>
                    <p:nvPicPr>
                      <p:cNvPr id="0" name="Picture 2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372" y="2514601"/>
                        <a:ext cx="10477222" cy="4159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00CC99"/>
                          </a:gs>
                          <a:gs pos="50000">
                            <a:srgbClr val="FFFFFF"/>
                          </a:gs>
                          <a:gs pos="100000">
                            <a:srgbClr val="00CC99"/>
                          </a:gs>
                        </a:gsLst>
                        <a:lin ang="5400000" scaled="1"/>
                      </a:gradFill>
                      <a:ln w="28575">
                        <a:solidFill>
                          <a:srgbClr val="9933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018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2799038"/>
              </p:ext>
            </p:extLst>
          </p:nvPr>
        </p:nvGraphicFramePr>
        <p:xfrm>
          <a:off x="803275" y="4513263"/>
          <a:ext cx="104775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0477" name="Equation" r:id="rId7" imgW="68884800" imgH="5791200" progId="">
                  <p:embed/>
                </p:oleObj>
              </mc:Choice>
              <mc:Fallback>
                <p:oleObj name="Equation" r:id="rId7" imgW="68884800" imgH="5791200" progId="">
                  <p:embed/>
                  <p:pic>
                    <p:nvPicPr>
                      <p:cNvPr id="0" name="Picture 2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275" y="4513263"/>
                        <a:ext cx="10477500" cy="4159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00FFFF"/>
                          </a:gs>
                          <a:gs pos="50000">
                            <a:srgbClr val="FFFFFF"/>
                          </a:gs>
                          <a:gs pos="100000">
                            <a:srgbClr val="00FFFF"/>
                          </a:gs>
                        </a:gsLst>
                        <a:lin ang="5400000" scaled="1"/>
                      </a:gradFill>
                      <a:ln w="285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018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7318040"/>
              </p:ext>
            </p:extLst>
          </p:nvPr>
        </p:nvGraphicFramePr>
        <p:xfrm>
          <a:off x="799562" y="5370530"/>
          <a:ext cx="10477222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0478" name="公式" r:id="rId9" imgW="98145600" imgH="5791200" progId="">
                  <p:embed/>
                </p:oleObj>
              </mc:Choice>
              <mc:Fallback>
                <p:oleObj name="公式" r:id="rId9" imgW="98145600" imgH="5791200" progId="">
                  <p:embed/>
                  <p:pic>
                    <p:nvPicPr>
                      <p:cNvPr id="0" name="Picture 2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9562" y="5370530"/>
                        <a:ext cx="10477222" cy="4159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FF99CC"/>
                          </a:gs>
                          <a:gs pos="50000">
                            <a:srgbClr val="FFFFFF"/>
                          </a:gs>
                          <a:gs pos="100000">
                            <a:srgbClr val="FF99CC"/>
                          </a:gs>
                        </a:gsLst>
                        <a:lin ang="5400000" scaled="1"/>
                      </a:gradFill>
                      <a:ln w="285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018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2246622"/>
              </p:ext>
            </p:extLst>
          </p:nvPr>
        </p:nvGraphicFramePr>
        <p:xfrm>
          <a:off x="801242" y="3311530"/>
          <a:ext cx="10479334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0479" name="公式" r:id="rId11" imgW="103632000" imgH="11582400" progId="">
                  <p:embed/>
                </p:oleObj>
              </mc:Choice>
              <mc:Fallback>
                <p:oleObj name="公式" r:id="rId11" imgW="103632000" imgH="11582400" progId="">
                  <p:embed/>
                  <p:pic>
                    <p:nvPicPr>
                      <p:cNvPr id="0" name="Picture 2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242" y="3311530"/>
                        <a:ext cx="10479334" cy="831850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FFCC00"/>
                          </a:gs>
                          <a:gs pos="50000">
                            <a:srgbClr val="FFFFFF"/>
                          </a:gs>
                          <a:gs pos="100000">
                            <a:srgbClr val="FFCC00"/>
                          </a:gs>
                        </a:gsLst>
                        <a:lin ang="5400000" scaled="1"/>
                      </a:gradFill>
                      <a:ln w="285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90191" name="Group 15"/>
          <p:cNvGrpSpPr>
            <a:grpSpLocks/>
          </p:cNvGrpSpPr>
          <p:nvPr/>
        </p:nvGrpSpPr>
        <p:grpSpPr bwMode="auto">
          <a:xfrm>
            <a:off x="-5016" y="0"/>
            <a:ext cx="446088" cy="6858000"/>
            <a:chOff x="0" y="0"/>
            <a:chExt cx="281" cy="4320"/>
          </a:xfrm>
        </p:grpSpPr>
        <p:sp>
          <p:nvSpPr>
            <p:cNvPr id="690192" name="Text Box 16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</a:rPr>
                <a:t>第三版</a:t>
              </a: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第一章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预备知识</a:t>
              </a:r>
            </a:p>
          </p:txBody>
        </p:sp>
        <p:sp>
          <p:nvSpPr>
            <p:cNvPr id="690193" name="Text Box 17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9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69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69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6901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6901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6901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6901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0179" grpId="0" build="p" bldLvl="5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226" name="Rectangle 2"/>
          <p:cNvSpPr>
            <a:spLocks noChangeArrowheads="1"/>
          </p:cNvSpPr>
          <p:nvPr/>
        </p:nvSpPr>
        <p:spPr bwMode="auto">
          <a:xfrm>
            <a:off x="534735" y="214313"/>
            <a:ext cx="9449697" cy="1846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sz="32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进制之间的相互转换</a:t>
            </a:r>
            <a:endParaRPr lang="zh-CN" altLang="en-US" sz="3200" b="1" dirty="0">
              <a:solidFill>
                <a:srgbClr val="FF0066"/>
              </a:solidFill>
              <a:effectLst>
                <a:outerShdw blurRad="38100" dist="38100" dir="2700000" algn="tl">
                  <a:srgbClr val="000000"/>
                </a:outerShdw>
              </a:effectLst>
              <a:ea typeface="隶书" pitchFamily="49" charset="-122"/>
            </a:endParaRPr>
          </a:p>
          <a:p>
            <a:pPr lvl="1">
              <a:spcBef>
                <a:spcPct val="20000"/>
              </a:spcBef>
              <a:buFont typeface="Wingdings" pitchFamily="2" charset="2"/>
              <a:buChar char="l"/>
            </a:pPr>
            <a:r>
              <a:rPr lang="zh-CN" altLang="en-US" sz="3200" b="1" dirty="0">
                <a:solidFill>
                  <a:srgbClr val="0099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 二进制、八进制、十六进制转换成十进制</a:t>
            </a:r>
            <a:r>
              <a:rPr lang="zh-CN" altLang="en-US" sz="3200" b="1" dirty="0">
                <a:effectLst>
                  <a:outerShdw blurRad="38100" dist="38100" dir="2700000" algn="tl">
                    <a:srgbClr val="FFFFFF"/>
                  </a:outerShdw>
                </a:effectLst>
                <a:ea typeface="隶书" pitchFamily="49" charset="-122"/>
              </a:rPr>
              <a:t> </a:t>
            </a:r>
          </a:p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zh-CN" altLang="en-US" sz="3200" b="1" dirty="0">
                <a:effectLst>
                  <a:outerShdw blurRad="38100" dist="38100" dir="2700000" algn="tl">
                    <a:srgbClr val="FFFFFF"/>
                  </a:outerShdw>
                </a:effectLst>
                <a:ea typeface="隶书" pitchFamily="49" charset="-122"/>
              </a:rPr>
              <a:t>        </a:t>
            </a:r>
            <a:r>
              <a:rPr lang="zh-CN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方法</a:t>
            </a:r>
            <a:r>
              <a:rPr lang="zh-CN" altLang="en-US" sz="28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：</a:t>
            </a:r>
            <a:r>
              <a:rPr lang="zh-CN" altLang="en-US" sz="2800" b="1" u="sng" dirty="0">
                <a:solidFill>
                  <a:srgbClr val="0066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按权相加</a:t>
            </a:r>
          </a:p>
        </p:txBody>
      </p:sp>
      <p:sp>
        <p:nvSpPr>
          <p:cNvPr id="692233" name="Rectangle 9"/>
          <p:cNvSpPr>
            <a:spLocks noChangeArrowheads="1"/>
          </p:cNvSpPr>
          <p:nvPr/>
        </p:nvSpPr>
        <p:spPr bwMode="auto">
          <a:xfrm>
            <a:off x="1084936" y="1947864"/>
            <a:ext cx="820896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>
            <a:spAutoFit/>
          </a:bodyPr>
          <a:lstStyle/>
          <a:p>
            <a:pPr marL="457200" indent="-457200">
              <a:spcBef>
                <a:spcPct val="20000"/>
              </a:spcBef>
              <a:buClr>
                <a:srgbClr val="0099FF"/>
              </a:buClr>
              <a:buFont typeface="Wingdings" pitchFamily="2" charset="2"/>
              <a:buChar char="l"/>
            </a:pPr>
            <a:r>
              <a:rPr lang="zh-CN" altLang="en-US" sz="3200" dirty="0">
                <a:solidFill>
                  <a:srgbClr val="0099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十进制转换成二进制、八进制、十六进制</a:t>
            </a:r>
          </a:p>
        </p:txBody>
      </p:sp>
      <p:sp>
        <p:nvSpPr>
          <p:cNvPr id="692235" name="Rectangle 11"/>
          <p:cNvSpPr>
            <a:spLocks noChangeArrowheads="1"/>
          </p:cNvSpPr>
          <p:nvPr/>
        </p:nvSpPr>
        <p:spPr bwMode="auto">
          <a:xfrm>
            <a:off x="1374030" y="2586039"/>
            <a:ext cx="8034338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步骤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：首先进行整数部分转换，然后进行小数部分转换。</a:t>
            </a:r>
          </a:p>
          <a:p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）整数部分转换</a:t>
            </a:r>
          </a:p>
          <a:p>
            <a:pPr marL="635000" lvl="3" indent="538163">
              <a:buClr>
                <a:srgbClr val="FF0066"/>
              </a:buClr>
              <a:buFont typeface="Wingdings" pitchFamily="2" charset="2"/>
              <a:buChar char="u"/>
            </a:pPr>
            <a:r>
              <a:rPr lang="zh-CN" alt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原理</a:t>
            </a:r>
            <a:r>
              <a:rPr lang="zh-CN" alt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：</a:t>
            </a:r>
          </a:p>
        </p:txBody>
      </p:sp>
      <p:graphicFrame>
        <p:nvGraphicFramePr>
          <p:cNvPr id="692304" name="Object 8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6937312"/>
              </p:ext>
            </p:extLst>
          </p:nvPr>
        </p:nvGraphicFramePr>
        <p:xfrm>
          <a:off x="2413000" y="4264025"/>
          <a:ext cx="5113338" cy="224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2377" name="Equation" r:id="rId4" imgW="3060360" imgH="1130040" progId="">
                  <p:embed/>
                </p:oleObj>
              </mc:Choice>
              <mc:Fallback>
                <p:oleObj name="Equation" r:id="rId4" imgW="3060360" imgH="1130040" progId="">
                  <p:embed/>
                  <p:pic>
                    <p:nvPicPr>
                      <p:cNvPr id="0" name="Picture 1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3000" y="4264025"/>
                        <a:ext cx="5113338" cy="2241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2305" name="Rectangle 81"/>
          <p:cNvSpPr>
            <a:spLocks noChangeArrowheads="1"/>
          </p:cNvSpPr>
          <p:nvPr/>
        </p:nvSpPr>
        <p:spPr bwMode="auto">
          <a:xfrm>
            <a:off x="464196" y="3736976"/>
            <a:ext cx="92419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2074863" lvl="5" indent="-539750">
              <a:spcBef>
                <a:spcPct val="20000"/>
              </a:spcBef>
              <a:buClr>
                <a:srgbClr val="FF0066"/>
              </a:buClr>
              <a:buFont typeface="Wingdings" pitchFamily="2" charset="2"/>
              <a:buChar char="u"/>
            </a:pPr>
            <a:r>
              <a:rPr lang="zh-CN" alt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方法：连续除以基，从低到高记录余数，直至商为</a:t>
            </a:r>
            <a:r>
              <a:rPr lang="en-US" altLang="zh-CN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0</a:t>
            </a:r>
          </a:p>
        </p:txBody>
      </p:sp>
      <p:grpSp>
        <p:nvGrpSpPr>
          <p:cNvPr id="692309" name="Group 85"/>
          <p:cNvGrpSpPr>
            <a:grpSpLocks/>
          </p:cNvGrpSpPr>
          <p:nvPr/>
        </p:nvGrpSpPr>
        <p:grpSpPr bwMode="auto">
          <a:xfrm>
            <a:off x="-5016" y="0"/>
            <a:ext cx="446088" cy="6858000"/>
            <a:chOff x="0" y="0"/>
            <a:chExt cx="281" cy="4320"/>
          </a:xfrm>
        </p:grpSpPr>
        <p:sp>
          <p:nvSpPr>
            <p:cNvPr id="692310" name="Text Box 86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</a:rPr>
                <a:t>第三版</a:t>
              </a: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第一章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预备知识</a:t>
              </a:r>
            </a:p>
          </p:txBody>
        </p:sp>
        <p:sp>
          <p:nvSpPr>
            <p:cNvPr id="692311" name="Text Box 87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22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92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92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92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6923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923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2233" grpId="0"/>
      <p:bldP spid="69230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250" name="Text Box 2"/>
          <p:cNvSpPr txBox="1">
            <a:spLocks noChangeArrowheads="1"/>
          </p:cNvSpPr>
          <p:nvPr/>
        </p:nvSpPr>
        <p:spPr bwMode="auto">
          <a:xfrm>
            <a:off x="623392" y="185266"/>
            <a:ext cx="3672408" cy="579438"/>
          </a:xfrm>
          <a:prstGeom prst="rect">
            <a:avLst/>
          </a:prstGeom>
          <a:ln>
            <a:noFill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kumimoji="0" lang="zh-CN" altLang="en-US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整数部分转换举例</a:t>
            </a:r>
          </a:p>
        </p:txBody>
      </p:sp>
      <p:grpSp>
        <p:nvGrpSpPr>
          <p:cNvPr id="156" name="组合 155"/>
          <p:cNvGrpSpPr/>
          <p:nvPr/>
        </p:nvGrpSpPr>
        <p:grpSpPr>
          <a:xfrm>
            <a:off x="550933" y="980728"/>
            <a:ext cx="6445546" cy="5544616"/>
            <a:chOff x="5099312" y="332656"/>
            <a:chExt cx="6445546" cy="5544616"/>
          </a:xfrm>
        </p:grpSpPr>
        <p:sp>
          <p:nvSpPr>
            <p:cNvPr id="155" name="矩形 154"/>
            <p:cNvSpPr/>
            <p:nvPr/>
          </p:nvSpPr>
          <p:spPr bwMode="auto">
            <a:xfrm>
              <a:off x="5159896" y="332656"/>
              <a:ext cx="6384962" cy="5544616"/>
            </a:xfrm>
            <a:prstGeom prst="rect">
              <a:avLst/>
            </a:prstGeom>
            <a:gradFill flip="none" rotWithShape="1">
              <a:gsLst>
                <a:gs pos="0">
                  <a:srgbClr val="F8F8F8">
                    <a:shade val="30000"/>
                    <a:satMod val="115000"/>
                  </a:srgbClr>
                </a:gs>
                <a:gs pos="50000">
                  <a:srgbClr val="F8F8F8">
                    <a:shade val="67500"/>
                    <a:satMod val="115000"/>
                  </a:srgbClr>
                </a:gs>
                <a:gs pos="100000">
                  <a:srgbClr val="F8F8F8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106680" dir="2700000" algn="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693333" name="Group 85"/>
            <p:cNvGrpSpPr>
              <a:grpSpLocks/>
            </p:cNvGrpSpPr>
            <p:nvPr/>
          </p:nvGrpSpPr>
          <p:grpSpPr bwMode="auto">
            <a:xfrm>
              <a:off x="5099312" y="573188"/>
              <a:ext cx="6192838" cy="5086351"/>
              <a:chOff x="633" y="934"/>
              <a:chExt cx="3901" cy="3204"/>
            </a:xfrm>
          </p:grpSpPr>
          <p:grpSp>
            <p:nvGrpSpPr>
              <p:cNvPr id="693256" name="Group 8"/>
              <p:cNvGrpSpPr>
                <a:grpSpLocks/>
              </p:cNvGrpSpPr>
              <p:nvPr/>
            </p:nvGrpSpPr>
            <p:grpSpPr bwMode="auto">
              <a:xfrm>
                <a:off x="633" y="934"/>
                <a:ext cx="3867" cy="2386"/>
                <a:chOff x="825" y="1224"/>
                <a:chExt cx="3867" cy="2386"/>
              </a:xfrm>
            </p:grpSpPr>
            <p:sp>
              <p:nvSpPr>
                <p:cNvPr id="693257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825" y="1224"/>
                  <a:ext cx="2878" cy="25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000" b="1" dirty="0">
                      <a:solidFill>
                        <a:srgbClr val="0000FF"/>
                      </a:solidFill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  <a:ea typeface="楷体" pitchFamily="49" charset="-122"/>
                    </a:rPr>
                    <a:t>【</a:t>
                  </a:r>
                  <a:r>
                    <a:rPr lang="zh-CN" altLang="en-US" sz="2000" b="1" dirty="0">
                      <a:solidFill>
                        <a:srgbClr val="0000FF"/>
                      </a:solidFill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  <a:ea typeface="楷体" pitchFamily="49" charset="-122"/>
                    </a:rPr>
                    <a:t>例</a:t>
                  </a:r>
                  <a:r>
                    <a:rPr lang="en-US" altLang="zh-CN" sz="2000" b="1" dirty="0">
                      <a:solidFill>
                        <a:srgbClr val="0000FF"/>
                      </a:solidFill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  <a:ea typeface="楷体" pitchFamily="49" charset="-122"/>
                    </a:rPr>
                    <a:t>1】</a:t>
                  </a:r>
                  <a:r>
                    <a:rPr lang="zh-CN" altLang="en-US" sz="2000" b="1" dirty="0">
                      <a:solidFill>
                        <a:srgbClr val="0000FF"/>
                      </a:solidFill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  <a:ea typeface="楷体" pitchFamily="49" charset="-122"/>
                    </a:rPr>
                    <a:t> 把十进制数</a:t>
                  </a:r>
                  <a:r>
                    <a:rPr lang="en-US" altLang="zh-CN" sz="2000" b="1" dirty="0">
                      <a:solidFill>
                        <a:srgbClr val="0000FF"/>
                      </a:solidFill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  <a:ea typeface="楷体" pitchFamily="49" charset="-122"/>
                    </a:rPr>
                    <a:t>59</a:t>
                  </a:r>
                  <a:r>
                    <a:rPr lang="zh-CN" altLang="en-US" sz="2000" b="1" dirty="0">
                      <a:solidFill>
                        <a:srgbClr val="0000FF"/>
                      </a:solidFill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  <a:ea typeface="楷体" pitchFamily="49" charset="-122"/>
                    </a:rPr>
                    <a:t>转换成二进制数</a:t>
                  </a:r>
                </a:p>
              </p:txBody>
            </p:sp>
            <p:grpSp>
              <p:nvGrpSpPr>
                <p:cNvPr id="693258" name="Group 10"/>
                <p:cNvGrpSpPr>
                  <a:grpSpLocks/>
                </p:cNvGrpSpPr>
                <p:nvPr/>
              </p:nvGrpSpPr>
              <p:grpSpPr bwMode="auto">
                <a:xfrm>
                  <a:off x="1574" y="1592"/>
                  <a:ext cx="994" cy="1585"/>
                  <a:chOff x="1054" y="1393"/>
                  <a:chExt cx="994" cy="1585"/>
                </a:xfrm>
              </p:grpSpPr>
              <p:grpSp>
                <p:nvGrpSpPr>
                  <p:cNvPr id="693259" name="Group 11"/>
                  <p:cNvGrpSpPr>
                    <a:grpSpLocks/>
                  </p:cNvGrpSpPr>
                  <p:nvPr/>
                </p:nvGrpSpPr>
                <p:grpSpPr bwMode="auto">
                  <a:xfrm>
                    <a:off x="1054" y="1393"/>
                    <a:ext cx="668" cy="262"/>
                    <a:chOff x="1054" y="1393"/>
                    <a:chExt cx="668" cy="262"/>
                  </a:xfrm>
                </p:grpSpPr>
                <p:grpSp>
                  <p:nvGrpSpPr>
                    <p:cNvPr id="693260" name="Group 1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245" y="1444"/>
                      <a:ext cx="477" cy="211"/>
                      <a:chOff x="1245" y="1444"/>
                      <a:chExt cx="477" cy="211"/>
                    </a:xfrm>
                  </p:grpSpPr>
                  <p:sp>
                    <p:nvSpPr>
                      <p:cNvPr id="693261" name="Line 13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245" y="1444"/>
                        <a:ext cx="0" cy="211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zh-CN" altLang="en-US">
                          <a:latin typeface="+mn-lt"/>
                          <a:ea typeface="楷体" pitchFamily="49" charset="-122"/>
                        </a:endParaRPr>
                      </a:p>
                    </p:txBody>
                  </p:sp>
                  <p:sp>
                    <p:nvSpPr>
                      <p:cNvPr id="693262" name="Line 1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245" y="1655"/>
                        <a:ext cx="477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zh-CN" altLang="en-US">
                          <a:latin typeface="+mn-lt"/>
                          <a:ea typeface="楷体" pitchFamily="49" charset="-122"/>
                        </a:endParaRPr>
                      </a:p>
                    </p:txBody>
                  </p:sp>
                </p:grpSp>
                <p:sp>
                  <p:nvSpPr>
                    <p:cNvPr id="693263" name="Text Box 15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343" y="1393"/>
                      <a:ext cx="278" cy="252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altLang="zh-CN" sz="2000" dirty="0"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+mn-lt"/>
                          <a:ea typeface="楷体" pitchFamily="49" charset="-122"/>
                        </a:rPr>
                        <a:t>59</a:t>
                      </a:r>
                    </a:p>
                  </p:txBody>
                </p:sp>
                <p:sp>
                  <p:nvSpPr>
                    <p:cNvPr id="693264" name="Text Box 16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054" y="1393"/>
                      <a:ext cx="197" cy="252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altLang="zh-CN" sz="2000"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+mn-lt"/>
                          <a:ea typeface="楷体" pitchFamily="49" charset="-122"/>
                        </a:rPr>
                        <a:t>2</a:t>
                      </a:r>
                    </a:p>
                  </p:txBody>
                </p:sp>
              </p:grpSp>
              <p:grpSp>
                <p:nvGrpSpPr>
                  <p:cNvPr id="693265" name="Group 17"/>
                  <p:cNvGrpSpPr>
                    <a:grpSpLocks/>
                  </p:cNvGrpSpPr>
                  <p:nvPr/>
                </p:nvGrpSpPr>
                <p:grpSpPr bwMode="auto">
                  <a:xfrm>
                    <a:off x="1128" y="1644"/>
                    <a:ext cx="668" cy="267"/>
                    <a:chOff x="1128" y="1644"/>
                    <a:chExt cx="668" cy="267"/>
                  </a:xfrm>
                </p:grpSpPr>
                <p:sp>
                  <p:nvSpPr>
                    <p:cNvPr id="693266" name="Text Box 18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343" y="1659"/>
                      <a:ext cx="278" cy="252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altLang="zh-CN" sz="2000"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+mn-lt"/>
                          <a:ea typeface="楷体" pitchFamily="49" charset="-122"/>
                        </a:rPr>
                        <a:t>29</a:t>
                      </a:r>
                    </a:p>
                  </p:txBody>
                </p:sp>
                <p:grpSp>
                  <p:nvGrpSpPr>
                    <p:cNvPr id="693267" name="Group 1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319" y="1662"/>
                      <a:ext cx="477" cy="211"/>
                      <a:chOff x="1245" y="1444"/>
                      <a:chExt cx="477" cy="211"/>
                    </a:xfrm>
                  </p:grpSpPr>
                  <p:sp>
                    <p:nvSpPr>
                      <p:cNvPr id="693268" name="Line 20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245" y="1444"/>
                        <a:ext cx="0" cy="211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zh-CN" altLang="en-US">
                          <a:latin typeface="+mn-lt"/>
                          <a:ea typeface="楷体" pitchFamily="49" charset="-122"/>
                        </a:endParaRPr>
                      </a:p>
                    </p:txBody>
                  </p:sp>
                  <p:sp>
                    <p:nvSpPr>
                      <p:cNvPr id="693269" name="Line 2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245" y="1655"/>
                        <a:ext cx="477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zh-CN" altLang="en-US">
                          <a:latin typeface="+mn-lt"/>
                          <a:ea typeface="楷体" pitchFamily="49" charset="-122"/>
                        </a:endParaRPr>
                      </a:p>
                    </p:txBody>
                  </p:sp>
                </p:grpSp>
                <p:sp>
                  <p:nvSpPr>
                    <p:cNvPr id="693270" name="Text Box 2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128" y="1644"/>
                      <a:ext cx="197" cy="252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altLang="zh-CN" sz="2000"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+mn-lt"/>
                          <a:ea typeface="楷体" pitchFamily="49" charset="-122"/>
                        </a:rPr>
                        <a:t>2</a:t>
                      </a:r>
                    </a:p>
                  </p:txBody>
                </p:sp>
              </p:grpSp>
              <p:grpSp>
                <p:nvGrpSpPr>
                  <p:cNvPr id="693271" name="Group 23"/>
                  <p:cNvGrpSpPr>
                    <a:grpSpLocks/>
                  </p:cNvGrpSpPr>
                  <p:nvPr/>
                </p:nvGrpSpPr>
                <p:grpSpPr bwMode="auto">
                  <a:xfrm>
                    <a:off x="1202" y="1874"/>
                    <a:ext cx="668" cy="267"/>
                    <a:chOff x="1128" y="1644"/>
                    <a:chExt cx="668" cy="267"/>
                  </a:xfrm>
                </p:grpSpPr>
                <p:sp>
                  <p:nvSpPr>
                    <p:cNvPr id="693272" name="Text Box 2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343" y="1659"/>
                      <a:ext cx="278" cy="252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altLang="zh-CN" sz="2000"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+mn-lt"/>
                          <a:ea typeface="楷体" pitchFamily="49" charset="-122"/>
                        </a:rPr>
                        <a:t>14</a:t>
                      </a:r>
                    </a:p>
                  </p:txBody>
                </p:sp>
                <p:grpSp>
                  <p:nvGrpSpPr>
                    <p:cNvPr id="693273" name="Group 2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319" y="1662"/>
                      <a:ext cx="477" cy="211"/>
                      <a:chOff x="1245" y="1444"/>
                      <a:chExt cx="477" cy="211"/>
                    </a:xfrm>
                  </p:grpSpPr>
                  <p:sp>
                    <p:nvSpPr>
                      <p:cNvPr id="693274" name="Line 26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245" y="1444"/>
                        <a:ext cx="0" cy="211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zh-CN" altLang="en-US">
                          <a:latin typeface="+mn-lt"/>
                          <a:ea typeface="楷体" pitchFamily="49" charset="-122"/>
                        </a:endParaRPr>
                      </a:p>
                    </p:txBody>
                  </p:sp>
                  <p:sp>
                    <p:nvSpPr>
                      <p:cNvPr id="693275" name="Line 2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245" y="1655"/>
                        <a:ext cx="477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zh-CN" altLang="en-US">
                          <a:latin typeface="+mn-lt"/>
                          <a:ea typeface="楷体" pitchFamily="49" charset="-122"/>
                        </a:endParaRPr>
                      </a:p>
                    </p:txBody>
                  </p:sp>
                </p:grpSp>
                <p:sp>
                  <p:nvSpPr>
                    <p:cNvPr id="693276" name="Text Box 28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128" y="1644"/>
                      <a:ext cx="197" cy="252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altLang="zh-CN" sz="2000"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+mn-lt"/>
                          <a:ea typeface="楷体" pitchFamily="49" charset="-122"/>
                        </a:rPr>
                        <a:t>2</a:t>
                      </a:r>
                    </a:p>
                  </p:txBody>
                </p:sp>
              </p:grpSp>
              <p:grpSp>
                <p:nvGrpSpPr>
                  <p:cNvPr id="693277" name="Group 29"/>
                  <p:cNvGrpSpPr>
                    <a:grpSpLocks/>
                  </p:cNvGrpSpPr>
                  <p:nvPr/>
                </p:nvGrpSpPr>
                <p:grpSpPr bwMode="auto">
                  <a:xfrm>
                    <a:off x="1257" y="2085"/>
                    <a:ext cx="668" cy="267"/>
                    <a:chOff x="1128" y="1644"/>
                    <a:chExt cx="668" cy="267"/>
                  </a:xfrm>
                </p:grpSpPr>
                <p:sp>
                  <p:nvSpPr>
                    <p:cNvPr id="693278" name="Text Box 30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343" y="1659"/>
                      <a:ext cx="197" cy="252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altLang="zh-CN" sz="2000"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+mn-lt"/>
                          <a:ea typeface="楷体" pitchFamily="49" charset="-122"/>
                        </a:rPr>
                        <a:t>7</a:t>
                      </a:r>
                    </a:p>
                  </p:txBody>
                </p:sp>
                <p:grpSp>
                  <p:nvGrpSpPr>
                    <p:cNvPr id="693279" name="Group 3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319" y="1662"/>
                      <a:ext cx="477" cy="211"/>
                      <a:chOff x="1245" y="1444"/>
                      <a:chExt cx="477" cy="211"/>
                    </a:xfrm>
                  </p:grpSpPr>
                  <p:sp>
                    <p:nvSpPr>
                      <p:cNvPr id="693280" name="Line 32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245" y="1444"/>
                        <a:ext cx="0" cy="211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zh-CN" altLang="en-US">
                          <a:latin typeface="+mn-lt"/>
                          <a:ea typeface="楷体" pitchFamily="49" charset="-122"/>
                        </a:endParaRPr>
                      </a:p>
                    </p:txBody>
                  </p:sp>
                  <p:sp>
                    <p:nvSpPr>
                      <p:cNvPr id="693281" name="Line 33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245" y="1655"/>
                        <a:ext cx="477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zh-CN" altLang="en-US">
                          <a:latin typeface="+mn-lt"/>
                          <a:ea typeface="楷体" pitchFamily="49" charset="-122"/>
                        </a:endParaRPr>
                      </a:p>
                    </p:txBody>
                  </p:sp>
                </p:grpSp>
                <p:sp>
                  <p:nvSpPr>
                    <p:cNvPr id="693282" name="Text Box 3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128" y="1644"/>
                      <a:ext cx="197" cy="252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altLang="zh-CN" sz="2000"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+mn-lt"/>
                          <a:ea typeface="楷体" pitchFamily="49" charset="-122"/>
                        </a:rPr>
                        <a:t>2</a:t>
                      </a:r>
                    </a:p>
                  </p:txBody>
                </p:sp>
              </p:grpSp>
              <p:grpSp>
                <p:nvGrpSpPr>
                  <p:cNvPr id="693283" name="Group 35"/>
                  <p:cNvGrpSpPr>
                    <a:grpSpLocks/>
                  </p:cNvGrpSpPr>
                  <p:nvPr/>
                </p:nvGrpSpPr>
                <p:grpSpPr bwMode="auto">
                  <a:xfrm>
                    <a:off x="1313" y="2307"/>
                    <a:ext cx="668" cy="267"/>
                    <a:chOff x="1128" y="1644"/>
                    <a:chExt cx="668" cy="267"/>
                  </a:xfrm>
                </p:grpSpPr>
                <p:sp>
                  <p:nvSpPr>
                    <p:cNvPr id="693284" name="Text Box 36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343" y="1659"/>
                      <a:ext cx="197" cy="252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altLang="zh-CN" sz="2000"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+mn-lt"/>
                          <a:ea typeface="楷体" pitchFamily="49" charset="-122"/>
                        </a:rPr>
                        <a:t>3</a:t>
                      </a:r>
                    </a:p>
                  </p:txBody>
                </p:sp>
                <p:grpSp>
                  <p:nvGrpSpPr>
                    <p:cNvPr id="693285" name="Group 3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319" y="1662"/>
                      <a:ext cx="477" cy="211"/>
                      <a:chOff x="1245" y="1444"/>
                      <a:chExt cx="477" cy="211"/>
                    </a:xfrm>
                  </p:grpSpPr>
                  <p:sp>
                    <p:nvSpPr>
                      <p:cNvPr id="693286" name="Line 38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245" y="1444"/>
                        <a:ext cx="0" cy="211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zh-CN" altLang="en-US">
                          <a:latin typeface="+mn-lt"/>
                          <a:ea typeface="楷体" pitchFamily="49" charset="-122"/>
                        </a:endParaRPr>
                      </a:p>
                    </p:txBody>
                  </p:sp>
                  <p:sp>
                    <p:nvSpPr>
                      <p:cNvPr id="693287" name="Line 39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245" y="1655"/>
                        <a:ext cx="477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zh-CN" altLang="en-US">
                          <a:latin typeface="+mn-lt"/>
                          <a:ea typeface="楷体" pitchFamily="49" charset="-122"/>
                        </a:endParaRPr>
                      </a:p>
                    </p:txBody>
                  </p:sp>
                </p:grpSp>
                <p:sp>
                  <p:nvSpPr>
                    <p:cNvPr id="693288" name="Text Box 40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128" y="1644"/>
                      <a:ext cx="197" cy="252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altLang="zh-CN" sz="2000"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+mn-lt"/>
                          <a:ea typeface="楷体" pitchFamily="49" charset="-122"/>
                        </a:rPr>
                        <a:t>2</a:t>
                      </a:r>
                    </a:p>
                  </p:txBody>
                </p:sp>
              </p:grpSp>
              <p:grpSp>
                <p:nvGrpSpPr>
                  <p:cNvPr id="693289" name="Group 41"/>
                  <p:cNvGrpSpPr>
                    <a:grpSpLocks/>
                  </p:cNvGrpSpPr>
                  <p:nvPr/>
                </p:nvGrpSpPr>
                <p:grpSpPr bwMode="auto">
                  <a:xfrm>
                    <a:off x="1380" y="2518"/>
                    <a:ext cx="668" cy="267"/>
                    <a:chOff x="1128" y="1644"/>
                    <a:chExt cx="668" cy="267"/>
                  </a:xfrm>
                </p:grpSpPr>
                <p:sp>
                  <p:nvSpPr>
                    <p:cNvPr id="693290" name="Text Box 4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343" y="1659"/>
                      <a:ext cx="197" cy="252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altLang="zh-CN" sz="2000"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+mn-lt"/>
                          <a:ea typeface="楷体" pitchFamily="49" charset="-122"/>
                        </a:rPr>
                        <a:t>1</a:t>
                      </a:r>
                    </a:p>
                  </p:txBody>
                </p:sp>
                <p:grpSp>
                  <p:nvGrpSpPr>
                    <p:cNvPr id="693291" name="Group 4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319" y="1662"/>
                      <a:ext cx="477" cy="211"/>
                      <a:chOff x="1245" y="1444"/>
                      <a:chExt cx="477" cy="211"/>
                    </a:xfrm>
                  </p:grpSpPr>
                  <p:sp>
                    <p:nvSpPr>
                      <p:cNvPr id="693292" name="Line 44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245" y="1444"/>
                        <a:ext cx="0" cy="211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zh-CN" altLang="en-US">
                          <a:latin typeface="+mn-lt"/>
                          <a:ea typeface="楷体" pitchFamily="49" charset="-122"/>
                        </a:endParaRPr>
                      </a:p>
                    </p:txBody>
                  </p:sp>
                  <p:sp>
                    <p:nvSpPr>
                      <p:cNvPr id="693293" name="Line 4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245" y="1655"/>
                        <a:ext cx="477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zh-CN" altLang="en-US">
                          <a:latin typeface="+mn-lt"/>
                          <a:ea typeface="楷体" pitchFamily="49" charset="-122"/>
                        </a:endParaRPr>
                      </a:p>
                    </p:txBody>
                  </p:sp>
                </p:grpSp>
                <p:sp>
                  <p:nvSpPr>
                    <p:cNvPr id="693294" name="Text Box 46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128" y="1644"/>
                      <a:ext cx="197" cy="252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altLang="zh-CN" sz="2000"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+mn-lt"/>
                          <a:ea typeface="楷体" pitchFamily="49" charset="-122"/>
                        </a:rPr>
                        <a:t>2</a:t>
                      </a:r>
                    </a:p>
                  </p:txBody>
                </p:sp>
              </p:grpSp>
              <p:sp>
                <p:nvSpPr>
                  <p:cNvPr id="693295" name="Text Box 4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09" y="2726"/>
                    <a:ext cx="197" cy="25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zh-CN" sz="2000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+mn-lt"/>
                        <a:ea typeface="楷体" pitchFamily="49" charset="-122"/>
                      </a:rPr>
                      <a:t>0</a:t>
                    </a:r>
                  </a:p>
                </p:txBody>
              </p:sp>
            </p:grpSp>
            <p:sp>
              <p:nvSpPr>
                <p:cNvPr id="693296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1576" y="3358"/>
                  <a:ext cx="1171" cy="25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000" b="1" dirty="0">
                      <a:solidFill>
                        <a:srgbClr val="C00000"/>
                      </a:solidFill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  <a:ea typeface="楷体" pitchFamily="49" charset="-122"/>
                    </a:rPr>
                    <a:t>(59)</a:t>
                  </a:r>
                  <a:r>
                    <a:rPr lang="en-US" altLang="zh-CN" sz="1000" b="1" dirty="0">
                      <a:solidFill>
                        <a:srgbClr val="C00000"/>
                      </a:solidFill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  <a:ea typeface="楷体" pitchFamily="49" charset="-122"/>
                    </a:rPr>
                    <a:t>10</a:t>
                  </a:r>
                  <a:r>
                    <a:rPr lang="en-US" altLang="zh-CN" sz="2000" b="1" dirty="0">
                      <a:solidFill>
                        <a:srgbClr val="C00000"/>
                      </a:solidFill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  <a:ea typeface="楷体" pitchFamily="49" charset="-122"/>
                    </a:rPr>
                    <a:t>=(111011)</a:t>
                  </a:r>
                  <a:r>
                    <a:rPr lang="en-US" altLang="zh-CN" sz="1000" b="1" dirty="0">
                      <a:solidFill>
                        <a:srgbClr val="C00000"/>
                      </a:solidFill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  <a:ea typeface="楷体" pitchFamily="49" charset="-122"/>
                    </a:rPr>
                    <a:t>2</a:t>
                  </a:r>
                  <a:endParaRPr lang="en-US" altLang="zh-CN" sz="2000" b="1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endParaRPr>
                </a:p>
              </p:txBody>
            </p:sp>
            <p:grpSp>
              <p:nvGrpSpPr>
                <p:cNvPr id="693297" name="Group 49"/>
                <p:cNvGrpSpPr>
                  <a:grpSpLocks/>
                </p:cNvGrpSpPr>
                <p:nvPr/>
              </p:nvGrpSpPr>
              <p:grpSpPr bwMode="auto">
                <a:xfrm>
                  <a:off x="2833" y="1592"/>
                  <a:ext cx="197" cy="1387"/>
                  <a:chOff x="2833" y="1592"/>
                  <a:chExt cx="197" cy="1387"/>
                </a:xfrm>
              </p:grpSpPr>
              <p:sp>
                <p:nvSpPr>
                  <p:cNvPr id="693298" name="Text Box 5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33" y="1592"/>
                    <a:ext cx="197" cy="25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zh-CN" sz="2000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+mn-lt"/>
                        <a:ea typeface="楷体" pitchFamily="49" charset="-122"/>
                      </a:rPr>
                      <a:t>1</a:t>
                    </a:r>
                  </a:p>
                </p:txBody>
              </p:sp>
              <p:sp>
                <p:nvSpPr>
                  <p:cNvPr id="693299" name="Text Box 5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33" y="1844"/>
                    <a:ext cx="197" cy="25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zh-CN" sz="2000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+mn-lt"/>
                        <a:ea typeface="楷体" pitchFamily="49" charset="-122"/>
                      </a:rPr>
                      <a:t>1</a:t>
                    </a:r>
                  </a:p>
                </p:txBody>
              </p:sp>
              <p:sp>
                <p:nvSpPr>
                  <p:cNvPr id="693300" name="Text Box 5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33" y="2084"/>
                    <a:ext cx="197" cy="25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zh-CN" sz="2000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+mn-lt"/>
                        <a:ea typeface="楷体" pitchFamily="49" charset="-122"/>
                      </a:rPr>
                      <a:t>0</a:t>
                    </a:r>
                  </a:p>
                </p:txBody>
              </p:sp>
              <p:sp>
                <p:nvSpPr>
                  <p:cNvPr id="693301" name="Text Box 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33" y="2291"/>
                    <a:ext cx="197" cy="25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zh-CN" sz="2000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+mn-lt"/>
                        <a:ea typeface="楷体" pitchFamily="49" charset="-122"/>
                      </a:rPr>
                      <a:t>1</a:t>
                    </a:r>
                  </a:p>
                </p:txBody>
              </p:sp>
              <p:sp>
                <p:nvSpPr>
                  <p:cNvPr id="693302" name="Text Box 5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33" y="2520"/>
                    <a:ext cx="197" cy="25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zh-CN" sz="2000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+mn-lt"/>
                        <a:ea typeface="楷体" pitchFamily="49" charset="-122"/>
                      </a:rPr>
                      <a:t>1</a:t>
                    </a:r>
                  </a:p>
                </p:txBody>
              </p:sp>
              <p:sp>
                <p:nvSpPr>
                  <p:cNvPr id="693303" name="Text Box 5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33" y="2727"/>
                    <a:ext cx="197" cy="25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zh-CN" sz="2000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+mn-lt"/>
                        <a:ea typeface="楷体" pitchFamily="49" charset="-122"/>
                      </a:rPr>
                      <a:t>1</a:t>
                    </a:r>
                  </a:p>
                </p:txBody>
              </p:sp>
            </p:grpSp>
            <p:sp>
              <p:nvSpPr>
                <p:cNvPr id="693304" name="Text Box 56"/>
                <p:cNvSpPr txBox="1">
                  <a:spLocks noChangeArrowheads="1"/>
                </p:cNvSpPr>
                <p:nvPr/>
              </p:nvSpPr>
              <p:spPr bwMode="auto">
                <a:xfrm>
                  <a:off x="3240" y="2935"/>
                  <a:ext cx="1452" cy="25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2000" dirty="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  <a:ea typeface="楷体" pitchFamily="49" charset="-122"/>
                    </a:rPr>
                    <a:t>1   1   1   0   1   1</a:t>
                  </a:r>
                </a:p>
              </p:txBody>
            </p:sp>
            <p:sp>
              <p:nvSpPr>
                <p:cNvPr id="693305" name="Line 57"/>
                <p:cNvSpPr>
                  <a:spLocks noChangeShapeType="1"/>
                </p:cNvSpPr>
                <p:nvPr/>
              </p:nvSpPr>
              <p:spPr bwMode="auto">
                <a:xfrm flipH="1">
                  <a:off x="3185" y="3246"/>
                  <a:ext cx="1286" cy="0"/>
                </a:xfrm>
                <a:prstGeom prst="line">
                  <a:avLst/>
                </a:prstGeom>
                <a:noFill/>
                <a:ln w="19050">
                  <a:solidFill>
                    <a:srgbClr val="3333FF"/>
                  </a:solidFill>
                  <a:round/>
                  <a:headEnd/>
                  <a:tailEnd type="stealth" w="lg" len="lg"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693306" name="Rectangle 58"/>
                <p:cNvSpPr>
                  <a:spLocks noChangeArrowheads="1"/>
                </p:cNvSpPr>
                <p:nvPr/>
              </p:nvSpPr>
              <p:spPr bwMode="auto">
                <a:xfrm>
                  <a:off x="3212" y="2922"/>
                  <a:ext cx="1244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693307" name="Line 59"/>
                <p:cNvSpPr>
                  <a:spLocks noChangeShapeType="1"/>
                </p:cNvSpPr>
                <p:nvPr/>
              </p:nvSpPr>
              <p:spPr bwMode="auto">
                <a:xfrm>
                  <a:off x="3411" y="2922"/>
                  <a:ext cx="0" cy="25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693308" name="Line 60"/>
                <p:cNvSpPr>
                  <a:spLocks noChangeShapeType="1"/>
                </p:cNvSpPr>
                <p:nvPr/>
              </p:nvSpPr>
              <p:spPr bwMode="auto">
                <a:xfrm>
                  <a:off x="3618" y="2922"/>
                  <a:ext cx="0" cy="25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693309" name="Line 61"/>
                <p:cNvSpPr>
                  <a:spLocks noChangeShapeType="1"/>
                </p:cNvSpPr>
                <p:nvPr/>
              </p:nvSpPr>
              <p:spPr bwMode="auto">
                <a:xfrm>
                  <a:off x="3825" y="2922"/>
                  <a:ext cx="0" cy="25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693310" name="Line 62"/>
                <p:cNvSpPr>
                  <a:spLocks noChangeShapeType="1"/>
                </p:cNvSpPr>
                <p:nvPr/>
              </p:nvSpPr>
              <p:spPr bwMode="auto">
                <a:xfrm>
                  <a:off x="4032" y="2922"/>
                  <a:ext cx="0" cy="25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693311" name="Line 63"/>
                <p:cNvSpPr>
                  <a:spLocks noChangeShapeType="1"/>
                </p:cNvSpPr>
                <p:nvPr/>
              </p:nvSpPr>
              <p:spPr bwMode="auto">
                <a:xfrm>
                  <a:off x="4240" y="2922"/>
                  <a:ext cx="0" cy="25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693312" name="Line 64"/>
                <p:cNvSpPr>
                  <a:spLocks noChangeShapeType="1"/>
                </p:cNvSpPr>
                <p:nvPr/>
              </p:nvSpPr>
              <p:spPr bwMode="auto">
                <a:xfrm flipV="1">
                  <a:off x="2989" y="1726"/>
                  <a:ext cx="136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693313" name="Line 65"/>
                <p:cNvSpPr>
                  <a:spLocks noChangeShapeType="1"/>
                </p:cNvSpPr>
                <p:nvPr/>
              </p:nvSpPr>
              <p:spPr bwMode="auto">
                <a:xfrm flipH="1">
                  <a:off x="4356" y="1722"/>
                  <a:ext cx="0" cy="12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693314" name="Line 66"/>
                <p:cNvSpPr>
                  <a:spLocks noChangeShapeType="1"/>
                </p:cNvSpPr>
                <p:nvPr/>
              </p:nvSpPr>
              <p:spPr bwMode="auto">
                <a:xfrm>
                  <a:off x="2960" y="1977"/>
                  <a:ext cx="12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693315" name="Line 67"/>
                <p:cNvSpPr>
                  <a:spLocks noChangeShapeType="1"/>
                </p:cNvSpPr>
                <p:nvPr/>
              </p:nvSpPr>
              <p:spPr bwMode="auto">
                <a:xfrm>
                  <a:off x="4163" y="1977"/>
                  <a:ext cx="0" cy="94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693316" name="Line 68"/>
                <p:cNvSpPr>
                  <a:spLocks noChangeShapeType="1"/>
                </p:cNvSpPr>
                <p:nvPr/>
              </p:nvSpPr>
              <p:spPr bwMode="auto">
                <a:xfrm flipV="1">
                  <a:off x="3923" y="2200"/>
                  <a:ext cx="0" cy="71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693317" name="Line 69"/>
                <p:cNvSpPr>
                  <a:spLocks noChangeShapeType="1"/>
                </p:cNvSpPr>
                <p:nvPr/>
              </p:nvSpPr>
              <p:spPr bwMode="auto">
                <a:xfrm flipH="1">
                  <a:off x="2967" y="2200"/>
                  <a:ext cx="95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693318" name="Line 70"/>
                <p:cNvSpPr>
                  <a:spLocks noChangeShapeType="1"/>
                </p:cNvSpPr>
                <p:nvPr/>
              </p:nvSpPr>
              <p:spPr bwMode="auto">
                <a:xfrm>
                  <a:off x="2956" y="2422"/>
                  <a:ext cx="76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693319" name="Line 71"/>
                <p:cNvSpPr>
                  <a:spLocks noChangeShapeType="1"/>
                </p:cNvSpPr>
                <p:nvPr/>
              </p:nvSpPr>
              <p:spPr bwMode="auto">
                <a:xfrm>
                  <a:off x="3727" y="2422"/>
                  <a:ext cx="0" cy="5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693320" name="Line 72"/>
                <p:cNvSpPr>
                  <a:spLocks noChangeShapeType="1"/>
                </p:cNvSpPr>
                <p:nvPr/>
              </p:nvSpPr>
              <p:spPr bwMode="auto">
                <a:xfrm>
                  <a:off x="2956" y="2644"/>
                  <a:ext cx="58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693321" name="Line 73"/>
                <p:cNvSpPr>
                  <a:spLocks noChangeShapeType="1"/>
                </p:cNvSpPr>
                <p:nvPr/>
              </p:nvSpPr>
              <p:spPr bwMode="auto">
                <a:xfrm>
                  <a:off x="3541" y="2644"/>
                  <a:ext cx="0" cy="27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693322" name="Line 74"/>
                <p:cNvSpPr>
                  <a:spLocks noChangeShapeType="1"/>
                </p:cNvSpPr>
                <p:nvPr/>
              </p:nvSpPr>
              <p:spPr bwMode="auto">
                <a:xfrm>
                  <a:off x="2945" y="2844"/>
                  <a:ext cx="3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693323" name="Line 75"/>
                <p:cNvSpPr>
                  <a:spLocks noChangeShapeType="1"/>
                </p:cNvSpPr>
                <p:nvPr/>
              </p:nvSpPr>
              <p:spPr bwMode="auto">
                <a:xfrm>
                  <a:off x="3323" y="2844"/>
                  <a:ext cx="0" cy="7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693324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2620" y="1595"/>
                  <a:ext cx="276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2000" dirty="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  <a:ea typeface="楷体" pitchFamily="49" charset="-122"/>
                    </a:rPr>
                    <a:t>余</a:t>
                  </a:r>
                </a:p>
              </p:txBody>
            </p:sp>
            <p:sp>
              <p:nvSpPr>
                <p:cNvPr id="693325" name="Text Box 77"/>
                <p:cNvSpPr txBox="1">
                  <a:spLocks noChangeArrowheads="1"/>
                </p:cNvSpPr>
                <p:nvPr/>
              </p:nvSpPr>
              <p:spPr bwMode="auto">
                <a:xfrm>
                  <a:off x="2607" y="1823"/>
                  <a:ext cx="276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200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  <a:ea typeface="楷体" pitchFamily="49" charset="-122"/>
                    </a:rPr>
                    <a:t>余</a:t>
                  </a:r>
                </a:p>
              </p:txBody>
            </p:sp>
            <p:sp>
              <p:nvSpPr>
                <p:cNvPr id="693326" name="Text Box 78"/>
                <p:cNvSpPr txBox="1">
                  <a:spLocks noChangeArrowheads="1"/>
                </p:cNvSpPr>
                <p:nvPr/>
              </p:nvSpPr>
              <p:spPr bwMode="auto">
                <a:xfrm>
                  <a:off x="2607" y="2063"/>
                  <a:ext cx="276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200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  <a:ea typeface="楷体" pitchFamily="49" charset="-122"/>
                    </a:rPr>
                    <a:t>余</a:t>
                  </a:r>
                </a:p>
              </p:txBody>
            </p:sp>
            <p:sp>
              <p:nvSpPr>
                <p:cNvPr id="693327" name="Text Box 79"/>
                <p:cNvSpPr txBox="1">
                  <a:spLocks noChangeArrowheads="1"/>
                </p:cNvSpPr>
                <p:nvPr/>
              </p:nvSpPr>
              <p:spPr bwMode="auto">
                <a:xfrm>
                  <a:off x="2620" y="2291"/>
                  <a:ext cx="276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200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  <a:ea typeface="楷体" pitchFamily="49" charset="-122"/>
                    </a:rPr>
                    <a:t>余</a:t>
                  </a:r>
                </a:p>
              </p:txBody>
            </p:sp>
            <p:sp>
              <p:nvSpPr>
                <p:cNvPr id="693328" name="Text Box 80"/>
                <p:cNvSpPr txBox="1">
                  <a:spLocks noChangeArrowheads="1"/>
                </p:cNvSpPr>
                <p:nvPr/>
              </p:nvSpPr>
              <p:spPr bwMode="auto">
                <a:xfrm>
                  <a:off x="2620" y="2505"/>
                  <a:ext cx="276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200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  <a:ea typeface="楷体" pitchFamily="49" charset="-122"/>
                    </a:rPr>
                    <a:t>余</a:t>
                  </a:r>
                </a:p>
              </p:txBody>
            </p:sp>
            <p:sp>
              <p:nvSpPr>
                <p:cNvPr id="693329" name="Text Box 81"/>
                <p:cNvSpPr txBox="1">
                  <a:spLocks noChangeArrowheads="1"/>
                </p:cNvSpPr>
                <p:nvPr/>
              </p:nvSpPr>
              <p:spPr bwMode="auto">
                <a:xfrm>
                  <a:off x="2620" y="2719"/>
                  <a:ext cx="276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200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  <a:ea typeface="楷体" pitchFamily="49" charset="-122"/>
                    </a:rPr>
                    <a:t>余</a:t>
                  </a:r>
                </a:p>
              </p:txBody>
            </p:sp>
          </p:grpSp>
          <p:sp>
            <p:nvSpPr>
              <p:cNvPr id="693331" name="AutoShape 83"/>
              <p:cNvSpPr>
                <a:spLocks noChangeArrowheads="1"/>
              </p:cNvSpPr>
              <p:nvPr/>
            </p:nvSpPr>
            <p:spPr bwMode="auto">
              <a:xfrm>
                <a:off x="3173" y="3594"/>
                <a:ext cx="1361" cy="544"/>
              </a:xfrm>
              <a:prstGeom prst="wedgeRoundRectCallout">
                <a:avLst>
                  <a:gd name="adj1" fmla="val 19207"/>
                  <a:gd name="adj2" fmla="val -184191"/>
                  <a:gd name="adj3" fmla="val 16667"/>
                </a:avLst>
              </a:prstGeom>
              <a:gradFill rotWithShape="1">
                <a:gsLst>
                  <a:gs pos="0">
                    <a:srgbClr val="00FFFF"/>
                  </a:gs>
                  <a:gs pos="100000">
                    <a:schemeClr val="bg1"/>
                  </a:gs>
                </a:gsLst>
                <a:lin ang="5400000" scaled="1"/>
              </a:gradFill>
              <a:ln w="19050">
                <a:solidFill>
                  <a:srgbClr val="FF00FF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 algn="ctr"/>
                <a:r>
                  <a:rPr lang="zh-CN" altLang="en-US" sz="2000" b="1">
                    <a:solidFill>
                      <a:srgbClr val="FF0066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n-lt"/>
                    <a:ea typeface="楷体" pitchFamily="49" charset="-122"/>
                  </a:rPr>
                  <a:t>第一次得到的余数是最低位</a:t>
                </a:r>
              </a:p>
              <a:p>
                <a:pPr algn="ctr"/>
                <a:endParaRPr lang="en-US" altLang="zh-CN" sz="2000" b="1">
                  <a:solidFill>
                    <a:srgbClr val="FF00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693332" name="AutoShape 84"/>
              <p:cNvSpPr>
                <a:spLocks noChangeArrowheads="1"/>
              </p:cNvSpPr>
              <p:nvPr/>
            </p:nvSpPr>
            <p:spPr bwMode="auto">
              <a:xfrm>
                <a:off x="1677" y="3593"/>
                <a:ext cx="1361" cy="544"/>
              </a:xfrm>
              <a:prstGeom prst="wedgeRoundRectCallout">
                <a:avLst>
                  <a:gd name="adj1" fmla="val 58286"/>
                  <a:gd name="adj2" fmla="val -178660"/>
                  <a:gd name="adj3" fmla="val 16667"/>
                </a:avLst>
              </a:prstGeom>
              <a:gradFill rotWithShape="1">
                <a:gsLst>
                  <a:gs pos="0">
                    <a:srgbClr val="00FFFF"/>
                  </a:gs>
                  <a:gs pos="100000">
                    <a:schemeClr val="bg1"/>
                  </a:gs>
                </a:gsLst>
                <a:lin ang="5400000" scaled="1"/>
              </a:gradFill>
              <a:ln w="19050">
                <a:solidFill>
                  <a:srgbClr val="FF00FF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 algn="ctr"/>
                <a:r>
                  <a:rPr lang="zh-CN" altLang="en-US" sz="2000" b="1">
                    <a:solidFill>
                      <a:srgbClr val="FF0066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n-lt"/>
                    <a:ea typeface="楷体" pitchFamily="49" charset="-122"/>
                  </a:rPr>
                  <a:t>最后得到的余数是最高位</a:t>
                </a:r>
              </a:p>
              <a:p>
                <a:pPr algn="ctr"/>
                <a:endParaRPr lang="en-US" altLang="zh-CN" sz="2000" b="1">
                  <a:solidFill>
                    <a:srgbClr val="FF00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endParaRPr>
              </a:p>
            </p:txBody>
          </p:sp>
        </p:grpSp>
      </p:grpSp>
      <p:grpSp>
        <p:nvGrpSpPr>
          <p:cNvPr id="693581" name="Group 333"/>
          <p:cNvGrpSpPr>
            <a:grpSpLocks/>
          </p:cNvGrpSpPr>
          <p:nvPr/>
        </p:nvGrpSpPr>
        <p:grpSpPr bwMode="auto">
          <a:xfrm>
            <a:off x="-5016" y="0"/>
            <a:ext cx="446088" cy="6858000"/>
            <a:chOff x="0" y="0"/>
            <a:chExt cx="281" cy="4320"/>
          </a:xfrm>
        </p:grpSpPr>
        <p:sp>
          <p:nvSpPr>
            <p:cNvPr id="693582" name="Text Box 334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</a:rPr>
                <a:t>第三版</a:t>
              </a: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第一章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预备知识</a:t>
              </a:r>
            </a:p>
          </p:txBody>
        </p:sp>
        <p:sp>
          <p:nvSpPr>
            <p:cNvPr id="693583" name="Text Box 33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grpSp>
        <p:nvGrpSpPr>
          <p:cNvPr id="195" name="组合 194"/>
          <p:cNvGrpSpPr/>
          <p:nvPr/>
        </p:nvGrpSpPr>
        <p:grpSpPr>
          <a:xfrm>
            <a:off x="7104737" y="248773"/>
            <a:ext cx="4845621" cy="3024336"/>
            <a:chOff x="5786883" y="260648"/>
            <a:chExt cx="4845621" cy="3024336"/>
          </a:xfrm>
        </p:grpSpPr>
        <p:sp>
          <p:nvSpPr>
            <p:cNvPr id="157" name="矩形 156"/>
            <p:cNvSpPr/>
            <p:nvPr/>
          </p:nvSpPr>
          <p:spPr bwMode="auto">
            <a:xfrm>
              <a:off x="5879976" y="260648"/>
              <a:ext cx="4752528" cy="3024336"/>
            </a:xfrm>
            <a:prstGeom prst="rect">
              <a:avLst/>
            </a:prstGeom>
            <a:gradFill flip="none" rotWithShape="1">
              <a:gsLst>
                <a:gs pos="0">
                  <a:srgbClr val="F8F8F8">
                    <a:shade val="30000"/>
                    <a:satMod val="115000"/>
                  </a:srgbClr>
                </a:gs>
                <a:gs pos="50000">
                  <a:srgbClr val="F8F8F8">
                    <a:shade val="67500"/>
                    <a:satMod val="115000"/>
                  </a:srgbClr>
                </a:gs>
                <a:gs pos="100000">
                  <a:srgbClr val="F8F8F8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106680" dir="2700000" algn="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158" name="Group 259"/>
            <p:cNvGrpSpPr>
              <a:grpSpLocks/>
            </p:cNvGrpSpPr>
            <p:nvPr/>
          </p:nvGrpSpPr>
          <p:grpSpPr bwMode="auto">
            <a:xfrm>
              <a:off x="5786883" y="404664"/>
              <a:ext cx="4743451" cy="2608263"/>
              <a:chOff x="736" y="290"/>
              <a:chExt cx="2988" cy="1643"/>
            </a:xfrm>
          </p:grpSpPr>
          <p:sp>
            <p:nvSpPr>
              <p:cNvPr id="159" name="Text Box 260"/>
              <p:cNvSpPr txBox="1">
                <a:spLocks noChangeArrowheads="1"/>
              </p:cNvSpPr>
              <p:nvPr/>
            </p:nvSpPr>
            <p:spPr bwMode="auto">
              <a:xfrm>
                <a:off x="736" y="290"/>
                <a:ext cx="298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【</a:t>
                </a:r>
                <a:r>
                  <a:rPr lang="zh-CN" altLang="en-US" sz="2000" b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例</a:t>
                </a:r>
                <a:r>
                  <a:rPr lang="en-US" altLang="zh-CN" sz="2000" b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2】</a:t>
                </a:r>
                <a:r>
                  <a:rPr lang="zh-CN" altLang="en-US" sz="2000" b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把十进制数</a:t>
                </a:r>
                <a:r>
                  <a:rPr lang="en-US" altLang="zh-CN" sz="2000" b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159</a:t>
                </a:r>
                <a:r>
                  <a:rPr lang="zh-CN" altLang="en-US" sz="2000" b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转换成八进制数</a:t>
                </a:r>
              </a:p>
            </p:txBody>
          </p:sp>
          <p:grpSp>
            <p:nvGrpSpPr>
              <p:cNvPr id="160" name="Group 261"/>
              <p:cNvGrpSpPr>
                <a:grpSpLocks/>
              </p:cNvGrpSpPr>
              <p:nvPr/>
            </p:nvGrpSpPr>
            <p:grpSpPr bwMode="auto">
              <a:xfrm>
                <a:off x="1406" y="625"/>
                <a:ext cx="668" cy="262"/>
                <a:chOff x="1054" y="1393"/>
                <a:chExt cx="668" cy="262"/>
              </a:xfrm>
            </p:grpSpPr>
            <p:grpSp>
              <p:nvGrpSpPr>
                <p:cNvPr id="190" name="Group 262"/>
                <p:cNvGrpSpPr>
                  <a:grpSpLocks/>
                </p:cNvGrpSpPr>
                <p:nvPr/>
              </p:nvGrpSpPr>
              <p:grpSpPr bwMode="auto">
                <a:xfrm>
                  <a:off x="1245" y="1444"/>
                  <a:ext cx="477" cy="211"/>
                  <a:chOff x="1245" y="1444"/>
                  <a:chExt cx="477" cy="211"/>
                </a:xfrm>
              </p:grpSpPr>
              <p:sp>
                <p:nvSpPr>
                  <p:cNvPr id="193" name="Line 26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245" y="1444"/>
                    <a:ext cx="0" cy="21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>
                      <a:latin typeface="+mn-lt"/>
                    </a:endParaRPr>
                  </a:p>
                </p:txBody>
              </p:sp>
              <p:sp>
                <p:nvSpPr>
                  <p:cNvPr id="194" name="Line 264"/>
                  <p:cNvSpPr>
                    <a:spLocks noChangeShapeType="1"/>
                  </p:cNvSpPr>
                  <p:nvPr/>
                </p:nvSpPr>
                <p:spPr bwMode="auto">
                  <a:xfrm>
                    <a:off x="1245" y="1655"/>
                    <a:ext cx="47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>
                      <a:latin typeface="+mn-lt"/>
                    </a:endParaRPr>
                  </a:p>
                </p:txBody>
              </p:sp>
            </p:grpSp>
            <p:sp>
              <p:nvSpPr>
                <p:cNvPr id="191" name="Text Box 265"/>
                <p:cNvSpPr txBox="1">
                  <a:spLocks noChangeArrowheads="1"/>
                </p:cNvSpPr>
                <p:nvPr/>
              </p:nvSpPr>
              <p:spPr bwMode="auto">
                <a:xfrm>
                  <a:off x="1343" y="1393"/>
                  <a:ext cx="359" cy="25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000" dirty="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</a:rPr>
                    <a:t>159</a:t>
                  </a:r>
                </a:p>
              </p:txBody>
            </p:sp>
            <p:sp>
              <p:nvSpPr>
                <p:cNvPr id="192" name="Text Box 266"/>
                <p:cNvSpPr txBox="1">
                  <a:spLocks noChangeArrowheads="1"/>
                </p:cNvSpPr>
                <p:nvPr/>
              </p:nvSpPr>
              <p:spPr bwMode="auto">
                <a:xfrm>
                  <a:off x="1054" y="1393"/>
                  <a:ext cx="197" cy="25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00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</a:rPr>
                    <a:t>8</a:t>
                  </a:r>
                </a:p>
              </p:txBody>
            </p:sp>
          </p:grpSp>
          <p:grpSp>
            <p:nvGrpSpPr>
              <p:cNvPr id="161" name="Group 267"/>
              <p:cNvGrpSpPr>
                <a:grpSpLocks/>
              </p:cNvGrpSpPr>
              <p:nvPr/>
            </p:nvGrpSpPr>
            <p:grpSpPr bwMode="auto">
              <a:xfrm>
                <a:off x="1480" y="876"/>
                <a:ext cx="668" cy="267"/>
                <a:chOff x="1128" y="1644"/>
                <a:chExt cx="668" cy="267"/>
              </a:xfrm>
            </p:grpSpPr>
            <p:sp>
              <p:nvSpPr>
                <p:cNvPr id="185" name="Text Box 268"/>
                <p:cNvSpPr txBox="1">
                  <a:spLocks noChangeArrowheads="1"/>
                </p:cNvSpPr>
                <p:nvPr/>
              </p:nvSpPr>
              <p:spPr bwMode="auto">
                <a:xfrm>
                  <a:off x="1343" y="1659"/>
                  <a:ext cx="278" cy="25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00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</a:rPr>
                    <a:t>19</a:t>
                  </a:r>
                </a:p>
              </p:txBody>
            </p:sp>
            <p:grpSp>
              <p:nvGrpSpPr>
                <p:cNvPr id="186" name="Group 269"/>
                <p:cNvGrpSpPr>
                  <a:grpSpLocks/>
                </p:cNvGrpSpPr>
                <p:nvPr/>
              </p:nvGrpSpPr>
              <p:grpSpPr bwMode="auto">
                <a:xfrm>
                  <a:off x="1319" y="1662"/>
                  <a:ext cx="477" cy="211"/>
                  <a:chOff x="1245" y="1444"/>
                  <a:chExt cx="477" cy="211"/>
                </a:xfrm>
              </p:grpSpPr>
              <p:sp>
                <p:nvSpPr>
                  <p:cNvPr id="188" name="Line 27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245" y="1444"/>
                    <a:ext cx="0" cy="21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>
                      <a:latin typeface="+mn-lt"/>
                    </a:endParaRPr>
                  </a:p>
                </p:txBody>
              </p:sp>
              <p:sp>
                <p:nvSpPr>
                  <p:cNvPr id="189" name="Line 271"/>
                  <p:cNvSpPr>
                    <a:spLocks noChangeShapeType="1"/>
                  </p:cNvSpPr>
                  <p:nvPr/>
                </p:nvSpPr>
                <p:spPr bwMode="auto">
                  <a:xfrm>
                    <a:off x="1245" y="1655"/>
                    <a:ext cx="47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>
                      <a:latin typeface="+mn-lt"/>
                    </a:endParaRPr>
                  </a:p>
                </p:txBody>
              </p:sp>
            </p:grpSp>
            <p:sp>
              <p:nvSpPr>
                <p:cNvPr id="187" name="Text Box 272"/>
                <p:cNvSpPr txBox="1">
                  <a:spLocks noChangeArrowheads="1"/>
                </p:cNvSpPr>
                <p:nvPr/>
              </p:nvSpPr>
              <p:spPr bwMode="auto">
                <a:xfrm>
                  <a:off x="1128" y="1644"/>
                  <a:ext cx="197" cy="25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00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</a:rPr>
                    <a:t>8</a:t>
                  </a:r>
                </a:p>
              </p:txBody>
            </p:sp>
          </p:grpSp>
          <p:grpSp>
            <p:nvGrpSpPr>
              <p:cNvPr id="162" name="Group 273"/>
              <p:cNvGrpSpPr>
                <a:grpSpLocks/>
              </p:cNvGrpSpPr>
              <p:nvPr/>
            </p:nvGrpSpPr>
            <p:grpSpPr bwMode="auto">
              <a:xfrm>
                <a:off x="1554" y="1106"/>
                <a:ext cx="668" cy="267"/>
                <a:chOff x="1128" y="1644"/>
                <a:chExt cx="668" cy="267"/>
              </a:xfrm>
            </p:grpSpPr>
            <p:sp>
              <p:nvSpPr>
                <p:cNvPr id="180" name="Text Box 274"/>
                <p:cNvSpPr txBox="1">
                  <a:spLocks noChangeArrowheads="1"/>
                </p:cNvSpPr>
                <p:nvPr/>
              </p:nvSpPr>
              <p:spPr bwMode="auto">
                <a:xfrm>
                  <a:off x="1343" y="1659"/>
                  <a:ext cx="197" cy="25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00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</a:rPr>
                    <a:t>2</a:t>
                  </a:r>
                </a:p>
              </p:txBody>
            </p:sp>
            <p:grpSp>
              <p:nvGrpSpPr>
                <p:cNvPr id="181" name="Group 275"/>
                <p:cNvGrpSpPr>
                  <a:grpSpLocks/>
                </p:cNvGrpSpPr>
                <p:nvPr/>
              </p:nvGrpSpPr>
              <p:grpSpPr bwMode="auto">
                <a:xfrm>
                  <a:off x="1319" y="1662"/>
                  <a:ext cx="477" cy="211"/>
                  <a:chOff x="1245" y="1444"/>
                  <a:chExt cx="477" cy="211"/>
                </a:xfrm>
              </p:grpSpPr>
              <p:sp>
                <p:nvSpPr>
                  <p:cNvPr id="183" name="Line 27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245" y="1444"/>
                    <a:ext cx="0" cy="21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>
                      <a:latin typeface="+mn-lt"/>
                    </a:endParaRPr>
                  </a:p>
                </p:txBody>
              </p:sp>
              <p:sp>
                <p:nvSpPr>
                  <p:cNvPr id="184" name="Line 277"/>
                  <p:cNvSpPr>
                    <a:spLocks noChangeShapeType="1"/>
                  </p:cNvSpPr>
                  <p:nvPr/>
                </p:nvSpPr>
                <p:spPr bwMode="auto">
                  <a:xfrm>
                    <a:off x="1245" y="1655"/>
                    <a:ext cx="47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>
                      <a:latin typeface="+mn-lt"/>
                    </a:endParaRPr>
                  </a:p>
                </p:txBody>
              </p:sp>
            </p:grpSp>
            <p:sp>
              <p:nvSpPr>
                <p:cNvPr id="182" name="Text Box 278"/>
                <p:cNvSpPr txBox="1">
                  <a:spLocks noChangeArrowheads="1"/>
                </p:cNvSpPr>
                <p:nvPr/>
              </p:nvSpPr>
              <p:spPr bwMode="auto">
                <a:xfrm>
                  <a:off x="1128" y="1644"/>
                  <a:ext cx="197" cy="25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00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</a:rPr>
                    <a:t>8</a:t>
                  </a:r>
                </a:p>
              </p:txBody>
            </p:sp>
          </p:grpSp>
          <p:sp>
            <p:nvSpPr>
              <p:cNvPr id="163" name="Text Box 279"/>
              <p:cNvSpPr txBox="1">
                <a:spLocks noChangeArrowheads="1"/>
              </p:cNvSpPr>
              <p:nvPr/>
            </p:nvSpPr>
            <p:spPr bwMode="auto">
              <a:xfrm>
                <a:off x="1760" y="1303"/>
                <a:ext cx="19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</a:rPr>
                  <a:t>0</a:t>
                </a:r>
              </a:p>
            </p:txBody>
          </p:sp>
          <p:sp>
            <p:nvSpPr>
              <p:cNvPr id="164" name="Text Box 280"/>
              <p:cNvSpPr txBox="1">
                <a:spLocks noChangeArrowheads="1"/>
              </p:cNvSpPr>
              <p:nvPr/>
            </p:nvSpPr>
            <p:spPr bwMode="auto">
              <a:xfrm>
                <a:off x="1839" y="1681"/>
                <a:ext cx="102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</a:rPr>
                  <a:t>(159)</a:t>
                </a:r>
                <a:r>
                  <a:rPr lang="en-US" altLang="zh-CN" sz="1000" b="1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</a:rPr>
                  <a:t>10</a:t>
                </a:r>
                <a:r>
                  <a:rPr lang="en-US" altLang="zh-CN" sz="2000" b="1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</a:rPr>
                  <a:t>=(237)</a:t>
                </a:r>
                <a:r>
                  <a:rPr lang="en-US" altLang="zh-CN" sz="1000" b="1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</a:rPr>
                  <a:t>8</a:t>
                </a:r>
                <a:endParaRPr lang="en-US" altLang="zh-CN" sz="20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</a:endParaRPr>
              </a:p>
            </p:txBody>
          </p:sp>
          <p:grpSp>
            <p:nvGrpSpPr>
              <p:cNvPr id="165" name="Group 281"/>
              <p:cNvGrpSpPr>
                <a:grpSpLocks/>
              </p:cNvGrpSpPr>
              <p:nvPr/>
            </p:nvGrpSpPr>
            <p:grpSpPr bwMode="auto">
              <a:xfrm>
                <a:off x="2833" y="1355"/>
                <a:ext cx="669" cy="309"/>
                <a:chOff x="3901" y="2222"/>
                <a:chExt cx="669" cy="309"/>
              </a:xfrm>
            </p:grpSpPr>
            <p:sp>
              <p:nvSpPr>
                <p:cNvPr id="175" name="Text Box 282"/>
                <p:cNvSpPr txBox="1">
                  <a:spLocks noChangeArrowheads="1"/>
                </p:cNvSpPr>
                <p:nvPr/>
              </p:nvSpPr>
              <p:spPr bwMode="auto">
                <a:xfrm>
                  <a:off x="3929" y="2235"/>
                  <a:ext cx="641" cy="25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000" dirty="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</a:rPr>
                    <a:t>2  3   7  </a:t>
                  </a:r>
                </a:p>
              </p:txBody>
            </p:sp>
            <p:sp>
              <p:nvSpPr>
                <p:cNvPr id="176" name="Line 283"/>
                <p:cNvSpPr>
                  <a:spLocks noChangeShapeType="1"/>
                </p:cNvSpPr>
                <p:nvPr/>
              </p:nvSpPr>
              <p:spPr bwMode="auto">
                <a:xfrm flipH="1">
                  <a:off x="3943" y="2531"/>
                  <a:ext cx="567" cy="0"/>
                </a:xfrm>
                <a:prstGeom prst="line">
                  <a:avLst/>
                </a:prstGeom>
                <a:noFill/>
                <a:ln w="9525">
                  <a:solidFill>
                    <a:srgbClr val="3333FF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</a:endParaRPr>
                </a:p>
              </p:txBody>
            </p:sp>
            <p:sp>
              <p:nvSpPr>
                <p:cNvPr id="177" name="Rectangle 284"/>
                <p:cNvSpPr>
                  <a:spLocks noChangeArrowheads="1"/>
                </p:cNvSpPr>
                <p:nvPr/>
              </p:nvSpPr>
              <p:spPr bwMode="auto">
                <a:xfrm>
                  <a:off x="3901" y="2222"/>
                  <a:ext cx="655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dirty="0">
                    <a:latin typeface="+mn-lt"/>
                  </a:endParaRPr>
                </a:p>
              </p:txBody>
            </p:sp>
            <p:sp>
              <p:nvSpPr>
                <p:cNvPr id="178" name="Line 285"/>
                <p:cNvSpPr>
                  <a:spLocks noChangeShapeType="1"/>
                </p:cNvSpPr>
                <p:nvPr/>
              </p:nvSpPr>
              <p:spPr bwMode="auto">
                <a:xfrm>
                  <a:off x="4100" y="2222"/>
                  <a:ext cx="0" cy="25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</a:endParaRPr>
                </a:p>
              </p:txBody>
            </p:sp>
            <p:sp>
              <p:nvSpPr>
                <p:cNvPr id="179" name="Line 286"/>
                <p:cNvSpPr>
                  <a:spLocks noChangeShapeType="1"/>
                </p:cNvSpPr>
                <p:nvPr/>
              </p:nvSpPr>
              <p:spPr bwMode="auto">
                <a:xfrm>
                  <a:off x="4307" y="2222"/>
                  <a:ext cx="0" cy="25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</a:endParaRPr>
                </a:p>
              </p:txBody>
            </p:sp>
          </p:grpSp>
          <p:sp>
            <p:nvSpPr>
              <p:cNvPr id="166" name="Text Box 287"/>
              <p:cNvSpPr txBox="1">
                <a:spLocks noChangeArrowheads="1"/>
              </p:cNvSpPr>
              <p:nvPr/>
            </p:nvSpPr>
            <p:spPr bwMode="auto">
              <a:xfrm>
                <a:off x="2286" y="626"/>
                <a:ext cx="409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zh-CN" altLang="en-US" sz="2000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余 </a:t>
                </a:r>
                <a:r>
                  <a:rPr lang="en-US" altLang="zh-CN" sz="2000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7</a:t>
                </a:r>
              </a:p>
            </p:txBody>
          </p:sp>
          <p:sp>
            <p:nvSpPr>
              <p:cNvPr id="167" name="Text Box 288"/>
              <p:cNvSpPr txBox="1">
                <a:spLocks noChangeArrowheads="1"/>
              </p:cNvSpPr>
              <p:nvPr/>
            </p:nvSpPr>
            <p:spPr bwMode="auto">
              <a:xfrm>
                <a:off x="2286" y="872"/>
                <a:ext cx="409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zh-CN" altLang="en-US" sz="2000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余 </a:t>
                </a:r>
                <a:r>
                  <a:rPr lang="en-US" altLang="zh-CN" sz="2000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3</a:t>
                </a:r>
              </a:p>
            </p:txBody>
          </p:sp>
          <p:sp>
            <p:nvSpPr>
              <p:cNvPr id="168" name="Text Box 289"/>
              <p:cNvSpPr txBox="1">
                <a:spLocks noChangeArrowheads="1"/>
              </p:cNvSpPr>
              <p:nvPr/>
            </p:nvSpPr>
            <p:spPr bwMode="auto">
              <a:xfrm>
                <a:off x="2286" y="1118"/>
                <a:ext cx="409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zh-CN" altLang="en-US" sz="2000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余 </a:t>
                </a:r>
                <a:r>
                  <a:rPr lang="en-US" altLang="zh-CN" sz="2000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2</a:t>
                </a:r>
              </a:p>
            </p:txBody>
          </p:sp>
          <p:sp>
            <p:nvSpPr>
              <p:cNvPr id="169" name="Line 290"/>
              <p:cNvSpPr>
                <a:spLocks noChangeShapeType="1"/>
              </p:cNvSpPr>
              <p:nvPr/>
            </p:nvSpPr>
            <p:spPr bwMode="auto">
              <a:xfrm>
                <a:off x="2633" y="1255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170" name="Line 291"/>
              <p:cNvSpPr>
                <a:spLocks noChangeShapeType="1"/>
              </p:cNvSpPr>
              <p:nvPr/>
            </p:nvSpPr>
            <p:spPr bwMode="auto">
              <a:xfrm>
                <a:off x="2622" y="733"/>
                <a:ext cx="74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171" name="Line 292"/>
              <p:cNvSpPr>
                <a:spLocks noChangeShapeType="1"/>
              </p:cNvSpPr>
              <p:nvPr/>
            </p:nvSpPr>
            <p:spPr bwMode="auto">
              <a:xfrm>
                <a:off x="3367" y="733"/>
                <a:ext cx="0" cy="6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172" name="Line 293"/>
              <p:cNvSpPr>
                <a:spLocks noChangeShapeType="1"/>
              </p:cNvSpPr>
              <p:nvPr/>
            </p:nvSpPr>
            <p:spPr bwMode="auto">
              <a:xfrm>
                <a:off x="2644" y="977"/>
                <a:ext cx="47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173" name="Line 294"/>
              <p:cNvSpPr>
                <a:spLocks noChangeShapeType="1"/>
              </p:cNvSpPr>
              <p:nvPr/>
            </p:nvSpPr>
            <p:spPr bwMode="auto">
              <a:xfrm>
                <a:off x="3122" y="977"/>
                <a:ext cx="0" cy="3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174" name="Line 295"/>
              <p:cNvSpPr>
                <a:spLocks noChangeShapeType="1"/>
              </p:cNvSpPr>
              <p:nvPr/>
            </p:nvSpPr>
            <p:spPr bwMode="auto">
              <a:xfrm flipV="1">
                <a:off x="2944" y="1255"/>
                <a:ext cx="0" cy="1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>
                  <a:latin typeface="+mn-lt"/>
                </a:endParaRPr>
              </a:p>
            </p:txBody>
          </p:sp>
        </p:grpSp>
      </p:grpSp>
      <p:grpSp>
        <p:nvGrpSpPr>
          <p:cNvPr id="269" name="组合 268"/>
          <p:cNvGrpSpPr/>
          <p:nvPr/>
        </p:nvGrpSpPr>
        <p:grpSpPr>
          <a:xfrm>
            <a:off x="7105443" y="3501766"/>
            <a:ext cx="4954588" cy="3024336"/>
            <a:chOff x="5137477" y="3573016"/>
            <a:chExt cx="4954588" cy="3024336"/>
          </a:xfrm>
        </p:grpSpPr>
        <p:sp>
          <p:nvSpPr>
            <p:cNvPr id="197" name="矩形 196"/>
            <p:cNvSpPr/>
            <p:nvPr/>
          </p:nvSpPr>
          <p:spPr bwMode="auto">
            <a:xfrm>
              <a:off x="5231904" y="3573016"/>
              <a:ext cx="4752528" cy="3024336"/>
            </a:xfrm>
            <a:prstGeom prst="rect">
              <a:avLst/>
            </a:prstGeom>
            <a:gradFill flip="none" rotWithShape="1">
              <a:gsLst>
                <a:gs pos="0">
                  <a:srgbClr val="F8F8F8">
                    <a:shade val="30000"/>
                    <a:satMod val="115000"/>
                  </a:srgbClr>
                </a:gs>
                <a:gs pos="50000">
                  <a:srgbClr val="F8F8F8">
                    <a:shade val="67500"/>
                    <a:satMod val="115000"/>
                  </a:srgbClr>
                </a:gs>
                <a:gs pos="100000">
                  <a:srgbClr val="F8F8F8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106680" dir="2700000" algn="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235" name="Group 296"/>
            <p:cNvGrpSpPr>
              <a:grpSpLocks/>
            </p:cNvGrpSpPr>
            <p:nvPr/>
          </p:nvGrpSpPr>
          <p:grpSpPr bwMode="auto">
            <a:xfrm>
              <a:off x="5137477" y="3722385"/>
              <a:ext cx="4954588" cy="2678113"/>
              <a:chOff x="892" y="1987"/>
              <a:chExt cx="3121" cy="1687"/>
            </a:xfrm>
          </p:grpSpPr>
          <p:sp>
            <p:nvSpPr>
              <p:cNvPr id="236" name="Text Box 297"/>
              <p:cNvSpPr txBox="1">
                <a:spLocks noChangeArrowheads="1"/>
              </p:cNvSpPr>
              <p:nvPr/>
            </p:nvSpPr>
            <p:spPr bwMode="auto">
              <a:xfrm>
                <a:off x="892" y="1987"/>
                <a:ext cx="3121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【</a:t>
                </a:r>
                <a:r>
                  <a:rPr lang="zh-CN" altLang="en-US" sz="2000" b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例</a:t>
                </a:r>
                <a:r>
                  <a:rPr lang="en-US" altLang="zh-CN" sz="2000" b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3】</a:t>
                </a:r>
                <a:r>
                  <a:rPr lang="zh-CN" altLang="en-US" sz="2000" b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把十进制数</a:t>
                </a:r>
                <a:r>
                  <a:rPr lang="en-US" altLang="zh-CN" sz="2000" b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459</a:t>
                </a:r>
                <a:r>
                  <a:rPr lang="zh-CN" altLang="en-US" sz="2000" b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转换成十六进制数</a:t>
                </a:r>
              </a:p>
            </p:txBody>
          </p:sp>
          <p:grpSp>
            <p:nvGrpSpPr>
              <p:cNvPr id="237" name="Group 298"/>
              <p:cNvGrpSpPr>
                <a:grpSpLocks/>
              </p:cNvGrpSpPr>
              <p:nvPr/>
            </p:nvGrpSpPr>
            <p:grpSpPr bwMode="auto">
              <a:xfrm>
                <a:off x="1649" y="2416"/>
                <a:ext cx="477" cy="211"/>
                <a:chOff x="1245" y="1444"/>
                <a:chExt cx="477" cy="211"/>
              </a:xfrm>
            </p:grpSpPr>
            <p:sp>
              <p:nvSpPr>
                <p:cNvPr id="267" name="Line 299"/>
                <p:cNvSpPr>
                  <a:spLocks noChangeShapeType="1"/>
                </p:cNvSpPr>
                <p:nvPr/>
              </p:nvSpPr>
              <p:spPr bwMode="auto">
                <a:xfrm flipH="1">
                  <a:off x="1245" y="1444"/>
                  <a:ext cx="0" cy="21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</a:endParaRPr>
                </a:p>
              </p:txBody>
            </p:sp>
            <p:sp>
              <p:nvSpPr>
                <p:cNvPr id="268" name="Line 300"/>
                <p:cNvSpPr>
                  <a:spLocks noChangeShapeType="1"/>
                </p:cNvSpPr>
                <p:nvPr/>
              </p:nvSpPr>
              <p:spPr bwMode="auto">
                <a:xfrm>
                  <a:off x="1245" y="1655"/>
                  <a:ext cx="47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</a:endParaRPr>
                </a:p>
              </p:txBody>
            </p:sp>
          </p:grpSp>
          <p:sp>
            <p:nvSpPr>
              <p:cNvPr id="238" name="Text Box 301"/>
              <p:cNvSpPr txBox="1">
                <a:spLocks noChangeArrowheads="1"/>
              </p:cNvSpPr>
              <p:nvPr/>
            </p:nvSpPr>
            <p:spPr bwMode="auto">
              <a:xfrm>
                <a:off x="1747" y="2365"/>
                <a:ext cx="359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latin typeface="+mn-lt"/>
                  </a:rPr>
                  <a:t>459</a:t>
                </a:r>
              </a:p>
            </p:txBody>
          </p:sp>
          <p:sp>
            <p:nvSpPr>
              <p:cNvPr id="239" name="Text Box 302"/>
              <p:cNvSpPr txBox="1">
                <a:spLocks noChangeArrowheads="1"/>
              </p:cNvSpPr>
              <p:nvPr/>
            </p:nvSpPr>
            <p:spPr bwMode="auto">
              <a:xfrm>
                <a:off x="1380" y="2376"/>
                <a:ext cx="27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latin typeface="+mn-lt"/>
                  </a:rPr>
                  <a:t>16</a:t>
                </a:r>
              </a:p>
            </p:txBody>
          </p:sp>
          <p:sp>
            <p:nvSpPr>
              <p:cNvPr id="240" name="Text Box 303"/>
              <p:cNvSpPr txBox="1">
                <a:spLocks noChangeArrowheads="1"/>
              </p:cNvSpPr>
              <p:nvPr/>
            </p:nvSpPr>
            <p:spPr bwMode="auto">
              <a:xfrm>
                <a:off x="1747" y="2643"/>
                <a:ext cx="27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latin typeface="+mn-lt"/>
                  </a:rPr>
                  <a:t>28</a:t>
                </a:r>
              </a:p>
            </p:txBody>
          </p:sp>
          <p:grpSp>
            <p:nvGrpSpPr>
              <p:cNvPr id="241" name="Group 304"/>
              <p:cNvGrpSpPr>
                <a:grpSpLocks/>
              </p:cNvGrpSpPr>
              <p:nvPr/>
            </p:nvGrpSpPr>
            <p:grpSpPr bwMode="auto">
              <a:xfrm>
                <a:off x="1723" y="2646"/>
                <a:ext cx="477" cy="211"/>
                <a:chOff x="1245" y="1444"/>
                <a:chExt cx="477" cy="211"/>
              </a:xfrm>
            </p:grpSpPr>
            <p:sp>
              <p:nvSpPr>
                <p:cNvPr id="265" name="Line 305"/>
                <p:cNvSpPr>
                  <a:spLocks noChangeShapeType="1"/>
                </p:cNvSpPr>
                <p:nvPr/>
              </p:nvSpPr>
              <p:spPr bwMode="auto">
                <a:xfrm flipH="1">
                  <a:off x="1245" y="1444"/>
                  <a:ext cx="0" cy="21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</a:endParaRPr>
                </a:p>
              </p:txBody>
            </p:sp>
            <p:sp>
              <p:nvSpPr>
                <p:cNvPr id="266" name="Line 306"/>
                <p:cNvSpPr>
                  <a:spLocks noChangeShapeType="1"/>
                </p:cNvSpPr>
                <p:nvPr/>
              </p:nvSpPr>
              <p:spPr bwMode="auto">
                <a:xfrm>
                  <a:off x="1245" y="1655"/>
                  <a:ext cx="47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</a:endParaRPr>
                </a:p>
              </p:txBody>
            </p:sp>
          </p:grpSp>
          <p:sp>
            <p:nvSpPr>
              <p:cNvPr id="242" name="Text Box 307"/>
              <p:cNvSpPr txBox="1">
                <a:spLocks noChangeArrowheads="1"/>
              </p:cNvSpPr>
              <p:nvPr/>
            </p:nvSpPr>
            <p:spPr bwMode="auto">
              <a:xfrm>
                <a:off x="1465" y="2639"/>
                <a:ext cx="27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latin typeface="+mn-lt"/>
                  </a:rPr>
                  <a:t>16</a:t>
                </a:r>
              </a:p>
            </p:txBody>
          </p:sp>
          <p:sp>
            <p:nvSpPr>
              <p:cNvPr id="243" name="Text Box 308"/>
              <p:cNvSpPr txBox="1">
                <a:spLocks noChangeArrowheads="1"/>
              </p:cNvSpPr>
              <p:nvPr/>
            </p:nvSpPr>
            <p:spPr bwMode="auto">
              <a:xfrm>
                <a:off x="1821" y="2873"/>
                <a:ext cx="19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latin typeface="+mn-lt"/>
                  </a:rPr>
                  <a:t>1</a:t>
                </a:r>
              </a:p>
            </p:txBody>
          </p:sp>
          <p:grpSp>
            <p:nvGrpSpPr>
              <p:cNvPr id="244" name="Group 309"/>
              <p:cNvGrpSpPr>
                <a:grpSpLocks/>
              </p:cNvGrpSpPr>
              <p:nvPr/>
            </p:nvGrpSpPr>
            <p:grpSpPr bwMode="auto">
              <a:xfrm>
                <a:off x="1797" y="2876"/>
                <a:ext cx="477" cy="211"/>
                <a:chOff x="1245" y="1444"/>
                <a:chExt cx="477" cy="211"/>
              </a:xfrm>
            </p:grpSpPr>
            <p:sp>
              <p:nvSpPr>
                <p:cNvPr id="263" name="Line 310"/>
                <p:cNvSpPr>
                  <a:spLocks noChangeShapeType="1"/>
                </p:cNvSpPr>
                <p:nvPr/>
              </p:nvSpPr>
              <p:spPr bwMode="auto">
                <a:xfrm flipH="1">
                  <a:off x="1245" y="1444"/>
                  <a:ext cx="0" cy="21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</a:endParaRPr>
                </a:p>
              </p:txBody>
            </p:sp>
            <p:sp>
              <p:nvSpPr>
                <p:cNvPr id="264" name="Line 311"/>
                <p:cNvSpPr>
                  <a:spLocks noChangeShapeType="1"/>
                </p:cNvSpPr>
                <p:nvPr/>
              </p:nvSpPr>
              <p:spPr bwMode="auto">
                <a:xfrm>
                  <a:off x="1245" y="1655"/>
                  <a:ext cx="47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</a:endParaRPr>
                </a:p>
              </p:txBody>
            </p:sp>
          </p:grpSp>
          <p:sp>
            <p:nvSpPr>
              <p:cNvPr id="245" name="Text Box 312"/>
              <p:cNvSpPr txBox="1">
                <a:spLocks noChangeArrowheads="1"/>
              </p:cNvSpPr>
              <p:nvPr/>
            </p:nvSpPr>
            <p:spPr bwMode="auto">
              <a:xfrm>
                <a:off x="1539" y="2858"/>
                <a:ext cx="27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000" dirty="0">
                    <a:latin typeface="+mn-lt"/>
                  </a:rPr>
                  <a:t>16</a:t>
                </a:r>
              </a:p>
            </p:txBody>
          </p:sp>
          <p:sp>
            <p:nvSpPr>
              <p:cNvPr id="246" name="Text Box 313"/>
              <p:cNvSpPr txBox="1">
                <a:spLocks noChangeArrowheads="1"/>
              </p:cNvSpPr>
              <p:nvPr/>
            </p:nvSpPr>
            <p:spPr bwMode="auto">
              <a:xfrm>
                <a:off x="1812" y="3055"/>
                <a:ext cx="19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latin typeface="+mn-lt"/>
                  </a:rPr>
                  <a:t>0</a:t>
                </a:r>
              </a:p>
            </p:txBody>
          </p:sp>
          <p:sp>
            <p:nvSpPr>
              <p:cNvPr id="247" name="Text Box 314"/>
              <p:cNvSpPr txBox="1">
                <a:spLocks noChangeArrowheads="1"/>
              </p:cNvSpPr>
              <p:nvPr/>
            </p:nvSpPr>
            <p:spPr bwMode="auto">
              <a:xfrm>
                <a:off x="1670" y="3422"/>
                <a:ext cx="1122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C00000"/>
                    </a:solidFill>
                    <a:latin typeface="+mn-lt"/>
                  </a:rPr>
                  <a:t>(459)</a:t>
                </a:r>
                <a:r>
                  <a:rPr lang="en-US" altLang="zh-CN" sz="1000" b="1" dirty="0">
                    <a:solidFill>
                      <a:srgbClr val="C00000"/>
                    </a:solidFill>
                    <a:latin typeface="+mn-lt"/>
                  </a:rPr>
                  <a:t>10</a:t>
                </a:r>
                <a:r>
                  <a:rPr lang="en-US" altLang="zh-CN" sz="2000" b="1" dirty="0">
                    <a:solidFill>
                      <a:srgbClr val="C00000"/>
                    </a:solidFill>
                    <a:latin typeface="+mn-lt"/>
                  </a:rPr>
                  <a:t>=(1CB)</a:t>
                </a:r>
                <a:r>
                  <a:rPr lang="en-US" altLang="zh-CN" sz="1000" b="1" dirty="0">
                    <a:solidFill>
                      <a:srgbClr val="C00000"/>
                    </a:solidFill>
                    <a:latin typeface="+mn-lt"/>
                  </a:rPr>
                  <a:t>16</a:t>
                </a:r>
                <a:endParaRPr lang="en-US" altLang="zh-CN" sz="2000" b="1" dirty="0">
                  <a:solidFill>
                    <a:srgbClr val="C00000"/>
                  </a:solidFill>
                  <a:latin typeface="+mn-lt"/>
                </a:endParaRPr>
              </a:p>
            </p:txBody>
          </p:sp>
          <p:grpSp>
            <p:nvGrpSpPr>
              <p:cNvPr id="248" name="Group 315"/>
              <p:cNvGrpSpPr>
                <a:grpSpLocks/>
              </p:cNvGrpSpPr>
              <p:nvPr/>
            </p:nvGrpSpPr>
            <p:grpSpPr bwMode="auto">
              <a:xfrm>
                <a:off x="2884" y="3117"/>
                <a:ext cx="724" cy="309"/>
                <a:chOff x="3901" y="2222"/>
                <a:chExt cx="724" cy="309"/>
              </a:xfrm>
            </p:grpSpPr>
            <p:sp>
              <p:nvSpPr>
                <p:cNvPr id="258" name="Text Box 316"/>
                <p:cNvSpPr txBox="1">
                  <a:spLocks noChangeArrowheads="1"/>
                </p:cNvSpPr>
                <p:nvPr/>
              </p:nvSpPr>
              <p:spPr bwMode="auto">
                <a:xfrm>
                  <a:off x="3929" y="2235"/>
                  <a:ext cx="696" cy="25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000">
                      <a:latin typeface="+mn-lt"/>
                    </a:rPr>
                    <a:t>1  C   B  </a:t>
                  </a:r>
                </a:p>
              </p:txBody>
            </p:sp>
            <p:sp>
              <p:nvSpPr>
                <p:cNvPr id="259" name="Line 317"/>
                <p:cNvSpPr>
                  <a:spLocks noChangeShapeType="1"/>
                </p:cNvSpPr>
                <p:nvPr/>
              </p:nvSpPr>
              <p:spPr bwMode="auto">
                <a:xfrm flipH="1">
                  <a:off x="3943" y="2531"/>
                  <a:ext cx="567" cy="0"/>
                </a:xfrm>
                <a:prstGeom prst="line">
                  <a:avLst/>
                </a:prstGeom>
                <a:noFill/>
                <a:ln w="9525">
                  <a:solidFill>
                    <a:srgbClr val="3333FF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</a:endParaRPr>
                </a:p>
              </p:txBody>
            </p:sp>
            <p:sp>
              <p:nvSpPr>
                <p:cNvPr id="260" name="Rectangle 318"/>
                <p:cNvSpPr>
                  <a:spLocks noChangeArrowheads="1"/>
                </p:cNvSpPr>
                <p:nvPr/>
              </p:nvSpPr>
              <p:spPr bwMode="auto">
                <a:xfrm>
                  <a:off x="3901" y="2222"/>
                  <a:ext cx="655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</a:endParaRPr>
                </a:p>
              </p:txBody>
            </p:sp>
            <p:sp>
              <p:nvSpPr>
                <p:cNvPr id="261" name="Line 319"/>
                <p:cNvSpPr>
                  <a:spLocks noChangeShapeType="1"/>
                </p:cNvSpPr>
                <p:nvPr/>
              </p:nvSpPr>
              <p:spPr bwMode="auto">
                <a:xfrm>
                  <a:off x="4100" y="2222"/>
                  <a:ext cx="0" cy="25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</a:endParaRPr>
                </a:p>
              </p:txBody>
            </p:sp>
            <p:sp>
              <p:nvSpPr>
                <p:cNvPr id="262" name="Line 320"/>
                <p:cNvSpPr>
                  <a:spLocks noChangeShapeType="1"/>
                </p:cNvSpPr>
                <p:nvPr/>
              </p:nvSpPr>
              <p:spPr bwMode="auto">
                <a:xfrm>
                  <a:off x="4307" y="2222"/>
                  <a:ext cx="0" cy="25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</a:endParaRPr>
                </a:p>
              </p:txBody>
            </p:sp>
          </p:grpSp>
          <p:sp>
            <p:nvSpPr>
              <p:cNvPr id="249" name="Text Box 321"/>
              <p:cNvSpPr txBox="1">
                <a:spLocks noChangeArrowheads="1"/>
              </p:cNvSpPr>
              <p:nvPr/>
            </p:nvSpPr>
            <p:spPr bwMode="auto">
              <a:xfrm>
                <a:off x="2315" y="2388"/>
                <a:ext cx="433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zh-CN" altLang="en-US" sz="2000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余</a:t>
                </a:r>
                <a:r>
                  <a:rPr lang="en-US" altLang="zh-CN" sz="2000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11</a:t>
                </a:r>
              </a:p>
            </p:txBody>
          </p:sp>
          <p:sp>
            <p:nvSpPr>
              <p:cNvPr id="250" name="Text Box 322"/>
              <p:cNvSpPr txBox="1">
                <a:spLocks noChangeArrowheads="1"/>
              </p:cNvSpPr>
              <p:nvPr/>
            </p:nvSpPr>
            <p:spPr bwMode="auto">
              <a:xfrm>
                <a:off x="2315" y="2634"/>
                <a:ext cx="454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zh-CN" altLang="en-US" sz="2000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余</a:t>
                </a:r>
                <a:r>
                  <a:rPr lang="en-US" altLang="zh-CN" sz="2000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12</a:t>
                </a:r>
              </a:p>
            </p:txBody>
          </p:sp>
          <p:sp>
            <p:nvSpPr>
              <p:cNvPr id="251" name="Text Box 323"/>
              <p:cNvSpPr txBox="1">
                <a:spLocks noChangeArrowheads="1"/>
              </p:cNvSpPr>
              <p:nvPr/>
            </p:nvSpPr>
            <p:spPr bwMode="auto">
              <a:xfrm>
                <a:off x="2315" y="2880"/>
                <a:ext cx="409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zh-CN" altLang="en-US" sz="2000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余 </a:t>
                </a:r>
                <a:r>
                  <a:rPr lang="en-US" altLang="zh-CN" sz="2000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1</a:t>
                </a:r>
              </a:p>
            </p:txBody>
          </p:sp>
          <p:sp>
            <p:nvSpPr>
              <p:cNvPr id="252" name="Line 324"/>
              <p:cNvSpPr>
                <a:spLocks noChangeShapeType="1"/>
              </p:cNvSpPr>
              <p:nvPr/>
            </p:nvSpPr>
            <p:spPr bwMode="auto">
              <a:xfrm>
                <a:off x="2662" y="3017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53" name="Line 325"/>
              <p:cNvSpPr>
                <a:spLocks noChangeShapeType="1"/>
              </p:cNvSpPr>
              <p:nvPr/>
            </p:nvSpPr>
            <p:spPr bwMode="auto">
              <a:xfrm>
                <a:off x="2684" y="2495"/>
                <a:ext cx="7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54" name="Line 326"/>
              <p:cNvSpPr>
                <a:spLocks noChangeShapeType="1"/>
              </p:cNvSpPr>
              <p:nvPr/>
            </p:nvSpPr>
            <p:spPr bwMode="auto">
              <a:xfrm>
                <a:off x="3396" y="2495"/>
                <a:ext cx="0" cy="6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55" name="Line 327"/>
              <p:cNvSpPr>
                <a:spLocks noChangeShapeType="1"/>
              </p:cNvSpPr>
              <p:nvPr/>
            </p:nvSpPr>
            <p:spPr bwMode="auto">
              <a:xfrm>
                <a:off x="2695" y="2739"/>
                <a:ext cx="4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56" name="Line 328"/>
              <p:cNvSpPr>
                <a:spLocks noChangeShapeType="1"/>
              </p:cNvSpPr>
              <p:nvPr/>
            </p:nvSpPr>
            <p:spPr bwMode="auto">
              <a:xfrm>
                <a:off x="3151" y="2739"/>
                <a:ext cx="0" cy="3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57" name="Line 329"/>
              <p:cNvSpPr>
                <a:spLocks noChangeShapeType="1"/>
              </p:cNvSpPr>
              <p:nvPr/>
            </p:nvSpPr>
            <p:spPr bwMode="auto">
              <a:xfrm flipV="1">
                <a:off x="2973" y="3017"/>
                <a:ext cx="0" cy="1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>
                  <a:latin typeface="+mn-lt"/>
                </a:endParaRP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32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325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274" name="Text Box 2"/>
          <p:cNvSpPr txBox="1">
            <a:spLocks noChangeArrowheads="1"/>
          </p:cNvSpPr>
          <p:nvPr/>
        </p:nvSpPr>
        <p:spPr bwMode="auto">
          <a:xfrm>
            <a:off x="582140" y="244475"/>
            <a:ext cx="6786563" cy="457200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7800" indent="-177800">
              <a:tabLst>
                <a:tab pos="177800" algn="l"/>
              </a:tabLst>
            </a:pPr>
            <a:r>
              <a:rPr lang="en-US" altLang="zh-CN" b="1" dirty="0">
                <a:latin typeface="楷体" pitchFamily="49" charset="-122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2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）小数部分转换</a:t>
            </a:r>
          </a:p>
        </p:txBody>
      </p:sp>
      <p:sp>
        <p:nvSpPr>
          <p:cNvPr id="694426" name="Rectangle 154"/>
          <p:cNvSpPr>
            <a:spLocks noChangeArrowheads="1"/>
          </p:cNvSpPr>
          <p:nvPr/>
        </p:nvSpPr>
        <p:spPr bwMode="auto">
          <a:xfrm>
            <a:off x="1221903" y="750888"/>
            <a:ext cx="10346705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Clr>
                <a:srgbClr val="FF0066"/>
              </a:buClr>
              <a:buFont typeface="Wingdings" pitchFamily="2" charset="2"/>
              <a:buChar char="u"/>
            </a:pPr>
            <a:r>
              <a:rPr lang="zh-CN" alt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原理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：</a:t>
            </a:r>
          </a:p>
          <a:p>
            <a:pPr>
              <a:buClr>
                <a:srgbClr val="FF0066"/>
              </a:buClr>
              <a:buFont typeface="Wingdings" pitchFamily="2" charset="2"/>
              <a:buChar char="u"/>
            </a:pPr>
            <a:r>
              <a:rPr lang="zh-CN" alt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方法：连续乘以基，从高到低记录整数部分，直至结果的小数部分为</a:t>
            </a:r>
            <a:r>
              <a:rPr lang="en-US" altLang="zh-CN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0</a:t>
            </a:r>
          </a:p>
          <a:p>
            <a:pPr>
              <a:buClr>
                <a:srgbClr val="FF0066"/>
              </a:buClr>
              <a:buFont typeface="Wingding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在十进制的小数部分转换中，有时连续乘以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2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不一定能使小数部分等于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0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，这说明该十进制小数不能用有限位二进制小数表示。这时，只要取足够多的位数，使其误差达到所要求的精度就可以了。</a:t>
            </a:r>
            <a:r>
              <a:rPr lang="zh-CN" altLang="en-US" dirty="0">
                <a:latin typeface="楷体" pitchFamily="49" charset="-122"/>
                <a:ea typeface="楷体" pitchFamily="49" charset="-122"/>
              </a:rPr>
              <a:t> </a:t>
            </a:r>
          </a:p>
        </p:txBody>
      </p:sp>
      <p:graphicFrame>
        <p:nvGraphicFramePr>
          <p:cNvPr id="694427" name="Object 1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9764020"/>
              </p:ext>
            </p:extLst>
          </p:nvPr>
        </p:nvGraphicFramePr>
        <p:xfrm>
          <a:off x="1952152" y="1227139"/>
          <a:ext cx="4583112" cy="191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4500" name="Equation" r:id="rId4" imgW="2743200" imgH="965160" progId="">
                  <p:embed/>
                </p:oleObj>
              </mc:Choice>
              <mc:Fallback>
                <p:oleObj name="Equation" r:id="rId4" imgW="2743200" imgH="965160" progId="">
                  <p:embed/>
                  <p:pic>
                    <p:nvPicPr>
                      <p:cNvPr id="0" name="Picture 2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2152" y="1227139"/>
                        <a:ext cx="4583112" cy="1914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94434" name="Group 162"/>
          <p:cNvGrpSpPr>
            <a:grpSpLocks/>
          </p:cNvGrpSpPr>
          <p:nvPr/>
        </p:nvGrpSpPr>
        <p:grpSpPr bwMode="auto">
          <a:xfrm>
            <a:off x="1847924" y="1844824"/>
            <a:ext cx="8424864" cy="4240213"/>
            <a:chOff x="772" y="1262"/>
            <a:chExt cx="5307" cy="2671"/>
          </a:xfrm>
        </p:grpSpPr>
        <p:grpSp>
          <p:nvGrpSpPr>
            <p:cNvPr id="694432" name="Group 160"/>
            <p:cNvGrpSpPr>
              <a:grpSpLocks/>
            </p:cNvGrpSpPr>
            <p:nvPr/>
          </p:nvGrpSpPr>
          <p:grpSpPr bwMode="auto">
            <a:xfrm>
              <a:off x="772" y="1262"/>
              <a:ext cx="5080" cy="1454"/>
              <a:chOff x="385" y="2117"/>
              <a:chExt cx="5080" cy="1454"/>
            </a:xfrm>
          </p:grpSpPr>
          <p:sp>
            <p:nvSpPr>
              <p:cNvPr id="694428" name="Rectangle 156"/>
              <p:cNvSpPr>
                <a:spLocks noChangeArrowheads="1"/>
              </p:cNvSpPr>
              <p:nvPr/>
            </p:nvSpPr>
            <p:spPr bwMode="auto">
              <a:xfrm>
                <a:off x="385" y="2117"/>
                <a:ext cx="5080" cy="14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 indent="1466850"/>
                <a:r>
                  <a:rPr lang="zh-CN" altLang="en-US" dirty="0">
                    <a:solidFill>
                      <a:srgbClr val="FF0066"/>
                    </a:solidFill>
                    <a:latin typeface="+mn-lt"/>
                    <a:ea typeface="楷体" pitchFamily="49" charset="-122"/>
                  </a:rPr>
                  <a:t>例： 将十进制数</a:t>
                </a:r>
                <a:r>
                  <a:rPr lang="en-US" altLang="zh-CN" dirty="0">
                    <a:solidFill>
                      <a:srgbClr val="FF0066"/>
                    </a:solidFill>
                    <a:latin typeface="+mn-lt"/>
                    <a:ea typeface="楷体" pitchFamily="49" charset="-122"/>
                  </a:rPr>
                  <a:t>0.8125</a:t>
                </a:r>
                <a:r>
                  <a:rPr lang="zh-CN" altLang="en-US" dirty="0">
                    <a:solidFill>
                      <a:srgbClr val="FF0066"/>
                    </a:solidFill>
                    <a:latin typeface="+mn-lt"/>
                    <a:ea typeface="楷体" pitchFamily="49" charset="-122"/>
                  </a:rPr>
                  <a:t>转换成二进制</a:t>
                </a:r>
              </a:p>
              <a:p>
                <a:pPr indent="1466850"/>
                <a:r>
                  <a:rPr lang="zh-CN" altLang="en-US" dirty="0">
                    <a:latin typeface="+mn-lt"/>
                    <a:ea typeface="楷体" pitchFamily="49" charset="-122"/>
                  </a:rPr>
                  <a:t>      </a:t>
                </a:r>
                <a:r>
                  <a:rPr lang="en-US" altLang="zh-CN" dirty="0">
                    <a:latin typeface="+mn-lt"/>
                    <a:ea typeface="楷体" pitchFamily="49" charset="-122"/>
                  </a:rPr>
                  <a:t>0.8125 × 2 </a:t>
                </a:r>
                <a:r>
                  <a:rPr lang="zh-CN" altLang="en-US" dirty="0">
                    <a:latin typeface="+mn-lt"/>
                    <a:ea typeface="楷体" pitchFamily="49" charset="-122"/>
                  </a:rPr>
                  <a:t>＝ </a:t>
                </a:r>
                <a:r>
                  <a:rPr lang="en-US" altLang="zh-CN" b="1" dirty="0">
                    <a:solidFill>
                      <a:schemeClr val="accent2"/>
                    </a:solidFill>
                    <a:latin typeface="+mn-lt"/>
                    <a:ea typeface="楷体" pitchFamily="49" charset="-122"/>
                  </a:rPr>
                  <a:t>1</a:t>
                </a:r>
                <a:r>
                  <a:rPr lang="en-US" altLang="zh-CN" dirty="0">
                    <a:latin typeface="+mn-lt"/>
                    <a:ea typeface="楷体" pitchFamily="49" charset="-122"/>
                  </a:rPr>
                  <a:t>.625     </a:t>
                </a:r>
                <a:r>
                  <a:rPr lang="zh-CN" altLang="en-US" dirty="0">
                    <a:latin typeface="+mn-lt"/>
                    <a:ea typeface="楷体" pitchFamily="49" charset="-122"/>
                  </a:rPr>
                  <a:t>（</a:t>
                </a:r>
                <a:r>
                  <a:rPr lang="en-US" altLang="zh-CN" dirty="0">
                    <a:latin typeface="+mn-lt"/>
                    <a:ea typeface="楷体" pitchFamily="49" charset="-122"/>
                  </a:rPr>
                  <a:t>b1 </a:t>
                </a:r>
                <a:r>
                  <a:rPr lang="zh-CN" altLang="en-US" dirty="0">
                    <a:latin typeface="+mn-lt"/>
                    <a:ea typeface="楷体" pitchFamily="49" charset="-122"/>
                  </a:rPr>
                  <a:t>＝ </a:t>
                </a:r>
                <a:r>
                  <a:rPr lang="en-US" altLang="zh-CN" dirty="0">
                    <a:latin typeface="+mn-lt"/>
                    <a:ea typeface="楷体" pitchFamily="49" charset="-122"/>
                  </a:rPr>
                  <a:t>1</a:t>
                </a:r>
                <a:r>
                  <a:rPr lang="zh-CN" altLang="en-US" dirty="0">
                    <a:latin typeface="+mn-lt"/>
                    <a:ea typeface="楷体" pitchFamily="49" charset="-122"/>
                  </a:rPr>
                  <a:t>）  </a:t>
                </a:r>
                <a:r>
                  <a:rPr lang="zh-CN" altLang="en-US" sz="1800" b="1" dirty="0">
                    <a:solidFill>
                      <a:schemeClr val="accent2"/>
                    </a:solidFill>
                    <a:latin typeface="+mn-lt"/>
                    <a:ea typeface="楷体" pitchFamily="49" charset="-122"/>
                  </a:rPr>
                  <a:t>最高小数位</a:t>
                </a:r>
              </a:p>
              <a:p>
                <a:pPr indent="1466850"/>
                <a:r>
                  <a:rPr lang="zh-CN" altLang="en-US" dirty="0">
                    <a:latin typeface="+mn-lt"/>
                    <a:ea typeface="楷体" pitchFamily="49" charset="-122"/>
                  </a:rPr>
                  <a:t>      </a:t>
                </a:r>
                <a:r>
                  <a:rPr lang="en-US" altLang="zh-CN" dirty="0">
                    <a:latin typeface="+mn-lt"/>
                    <a:ea typeface="楷体" pitchFamily="49" charset="-122"/>
                  </a:rPr>
                  <a:t>0.625 × 2   </a:t>
                </a:r>
                <a:r>
                  <a:rPr lang="zh-CN" altLang="en-US" dirty="0">
                    <a:latin typeface="+mn-lt"/>
                    <a:ea typeface="楷体" pitchFamily="49" charset="-122"/>
                  </a:rPr>
                  <a:t>＝ </a:t>
                </a:r>
                <a:r>
                  <a:rPr lang="en-US" altLang="zh-CN" b="1" dirty="0">
                    <a:solidFill>
                      <a:schemeClr val="accent2"/>
                    </a:solidFill>
                    <a:latin typeface="+mn-lt"/>
                    <a:ea typeface="楷体" pitchFamily="49" charset="-122"/>
                  </a:rPr>
                  <a:t>1</a:t>
                </a:r>
                <a:r>
                  <a:rPr lang="en-US" altLang="zh-CN" dirty="0">
                    <a:latin typeface="+mn-lt"/>
                    <a:ea typeface="楷体" pitchFamily="49" charset="-122"/>
                  </a:rPr>
                  <a:t>.25       </a:t>
                </a:r>
                <a:r>
                  <a:rPr lang="zh-CN" altLang="en-US" dirty="0">
                    <a:latin typeface="+mn-lt"/>
                    <a:ea typeface="楷体" pitchFamily="49" charset="-122"/>
                  </a:rPr>
                  <a:t>（</a:t>
                </a:r>
                <a:r>
                  <a:rPr lang="en-US" altLang="zh-CN" dirty="0">
                    <a:latin typeface="+mn-lt"/>
                    <a:ea typeface="楷体" pitchFamily="49" charset="-122"/>
                  </a:rPr>
                  <a:t>b2 </a:t>
                </a:r>
                <a:r>
                  <a:rPr lang="zh-CN" altLang="en-US" dirty="0">
                    <a:latin typeface="+mn-lt"/>
                    <a:ea typeface="楷体" pitchFamily="49" charset="-122"/>
                  </a:rPr>
                  <a:t>＝ </a:t>
                </a:r>
                <a:r>
                  <a:rPr lang="en-US" altLang="zh-CN" dirty="0">
                    <a:latin typeface="+mn-lt"/>
                    <a:ea typeface="楷体" pitchFamily="49" charset="-122"/>
                  </a:rPr>
                  <a:t>1</a:t>
                </a:r>
                <a:r>
                  <a:rPr lang="zh-CN" altLang="en-US" dirty="0">
                    <a:latin typeface="+mn-lt"/>
                    <a:ea typeface="楷体" pitchFamily="49" charset="-122"/>
                  </a:rPr>
                  <a:t>）</a:t>
                </a:r>
              </a:p>
              <a:p>
                <a:pPr indent="1466850"/>
                <a:r>
                  <a:rPr lang="zh-CN" altLang="en-US" dirty="0">
                    <a:latin typeface="+mn-lt"/>
                    <a:ea typeface="楷体" pitchFamily="49" charset="-122"/>
                  </a:rPr>
                  <a:t>      </a:t>
                </a:r>
                <a:r>
                  <a:rPr lang="en-US" altLang="zh-CN" dirty="0">
                    <a:latin typeface="+mn-lt"/>
                    <a:ea typeface="楷体" pitchFamily="49" charset="-122"/>
                  </a:rPr>
                  <a:t>0.25 × 2     </a:t>
                </a:r>
                <a:r>
                  <a:rPr lang="zh-CN" altLang="en-US" dirty="0">
                    <a:latin typeface="+mn-lt"/>
                    <a:ea typeface="楷体" pitchFamily="49" charset="-122"/>
                  </a:rPr>
                  <a:t>＝ </a:t>
                </a:r>
                <a:r>
                  <a:rPr lang="en-US" altLang="zh-CN" b="1" dirty="0">
                    <a:solidFill>
                      <a:schemeClr val="accent2"/>
                    </a:solidFill>
                    <a:latin typeface="+mn-lt"/>
                    <a:ea typeface="楷体" pitchFamily="49" charset="-122"/>
                  </a:rPr>
                  <a:t>0</a:t>
                </a:r>
                <a:r>
                  <a:rPr lang="en-US" altLang="zh-CN" dirty="0">
                    <a:latin typeface="+mn-lt"/>
                    <a:ea typeface="楷体" pitchFamily="49" charset="-122"/>
                  </a:rPr>
                  <a:t>.5         </a:t>
                </a:r>
                <a:r>
                  <a:rPr lang="zh-CN" altLang="en-US" dirty="0">
                    <a:latin typeface="+mn-lt"/>
                    <a:ea typeface="楷体" pitchFamily="49" charset="-122"/>
                  </a:rPr>
                  <a:t>（</a:t>
                </a:r>
                <a:r>
                  <a:rPr lang="en-US" altLang="zh-CN" dirty="0">
                    <a:latin typeface="+mn-lt"/>
                    <a:ea typeface="楷体" pitchFamily="49" charset="-122"/>
                  </a:rPr>
                  <a:t>b3 </a:t>
                </a:r>
                <a:r>
                  <a:rPr lang="zh-CN" altLang="en-US" dirty="0">
                    <a:latin typeface="+mn-lt"/>
                    <a:ea typeface="楷体" pitchFamily="49" charset="-122"/>
                  </a:rPr>
                  <a:t>＝ </a:t>
                </a:r>
                <a:r>
                  <a:rPr lang="en-US" altLang="zh-CN" dirty="0">
                    <a:latin typeface="+mn-lt"/>
                    <a:ea typeface="楷体" pitchFamily="49" charset="-122"/>
                  </a:rPr>
                  <a:t>0</a:t>
                </a:r>
                <a:r>
                  <a:rPr lang="zh-CN" altLang="en-US" dirty="0">
                    <a:latin typeface="+mn-lt"/>
                    <a:ea typeface="楷体" pitchFamily="49" charset="-122"/>
                  </a:rPr>
                  <a:t>）</a:t>
                </a:r>
              </a:p>
              <a:p>
                <a:pPr indent="1466850"/>
                <a:r>
                  <a:rPr lang="zh-CN" altLang="en-US" dirty="0">
                    <a:latin typeface="+mn-lt"/>
                    <a:ea typeface="楷体" pitchFamily="49" charset="-122"/>
                  </a:rPr>
                  <a:t>      </a:t>
                </a:r>
                <a:r>
                  <a:rPr lang="en-US" altLang="zh-CN" dirty="0">
                    <a:latin typeface="+mn-lt"/>
                    <a:ea typeface="楷体" pitchFamily="49" charset="-122"/>
                  </a:rPr>
                  <a:t>0.5 × 2       </a:t>
                </a:r>
                <a:r>
                  <a:rPr lang="zh-CN" altLang="en-US" dirty="0">
                    <a:latin typeface="+mn-lt"/>
                    <a:ea typeface="楷体" pitchFamily="49" charset="-122"/>
                  </a:rPr>
                  <a:t>＝ </a:t>
                </a:r>
                <a:r>
                  <a:rPr lang="en-US" altLang="zh-CN" b="1" dirty="0">
                    <a:solidFill>
                      <a:schemeClr val="accent2"/>
                    </a:solidFill>
                    <a:latin typeface="+mn-lt"/>
                    <a:ea typeface="楷体" pitchFamily="49" charset="-122"/>
                  </a:rPr>
                  <a:t>1</a:t>
                </a:r>
                <a:r>
                  <a:rPr lang="en-US" altLang="zh-CN" dirty="0">
                    <a:latin typeface="+mn-lt"/>
                    <a:ea typeface="楷体" pitchFamily="49" charset="-122"/>
                  </a:rPr>
                  <a:t>.0         </a:t>
                </a:r>
                <a:r>
                  <a:rPr lang="zh-CN" altLang="en-US" dirty="0">
                    <a:latin typeface="+mn-lt"/>
                    <a:ea typeface="楷体" pitchFamily="49" charset="-122"/>
                  </a:rPr>
                  <a:t>（</a:t>
                </a:r>
                <a:r>
                  <a:rPr lang="en-US" altLang="zh-CN" dirty="0">
                    <a:latin typeface="+mn-lt"/>
                    <a:ea typeface="楷体" pitchFamily="49" charset="-122"/>
                  </a:rPr>
                  <a:t>b4 </a:t>
                </a:r>
                <a:r>
                  <a:rPr lang="zh-CN" altLang="en-US" dirty="0">
                    <a:latin typeface="+mn-lt"/>
                    <a:ea typeface="楷体" pitchFamily="49" charset="-122"/>
                  </a:rPr>
                  <a:t>＝ </a:t>
                </a:r>
                <a:r>
                  <a:rPr lang="en-US" altLang="zh-CN" dirty="0">
                    <a:latin typeface="+mn-lt"/>
                    <a:ea typeface="楷体" pitchFamily="49" charset="-122"/>
                  </a:rPr>
                  <a:t>1</a:t>
                </a:r>
                <a:r>
                  <a:rPr lang="zh-CN" altLang="en-US" dirty="0">
                    <a:latin typeface="+mn-lt"/>
                    <a:ea typeface="楷体" pitchFamily="49" charset="-122"/>
                  </a:rPr>
                  <a:t>）  </a:t>
                </a:r>
                <a:r>
                  <a:rPr lang="zh-CN" altLang="en-US" sz="1800" b="1" dirty="0">
                    <a:solidFill>
                      <a:schemeClr val="accent2"/>
                    </a:solidFill>
                    <a:latin typeface="+mn-lt"/>
                    <a:ea typeface="楷体" pitchFamily="49" charset="-122"/>
                  </a:rPr>
                  <a:t>最低小数位</a:t>
                </a:r>
                <a:r>
                  <a:rPr lang="zh-CN" altLang="en-US" dirty="0">
                    <a:latin typeface="+mn-lt"/>
                    <a:ea typeface="楷体" pitchFamily="49" charset="-122"/>
                  </a:rPr>
                  <a:t>   </a:t>
                </a:r>
              </a:p>
              <a:p>
                <a:pPr indent="1466850"/>
                <a:r>
                  <a:rPr lang="zh-CN" altLang="en-US" dirty="0">
                    <a:latin typeface="+mn-lt"/>
                    <a:ea typeface="楷体" pitchFamily="49" charset="-122"/>
                  </a:rPr>
                  <a:t>      所以  </a:t>
                </a:r>
                <a:r>
                  <a:rPr lang="en-US" altLang="zh-CN" dirty="0">
                    <a:latin typeface="+mn-lt"/>
                    <a:ea typeface="楷体" pitchFamily="49" charset="-122"/>
                  </a:rPr>
                  <a:t>(0.8125)</a:t>
                </a:r>
                <a:r>
                  <a:rPr lang="en-US" altLang="zh-CN" baseline="-25000" dirty="0">
                    <a:latin typeface="+mn-lt"/>
                    <a:ea typeface="楷体" pitchFamily="49" charset="-122"/>
                  </a:rPr>
                  <a:t>10</a:t>
                </a:r>
                <a:r>
                  <a:rPr lang="en-US" altLang="zh-CN" dirty="0">
                    <a:latin typeface="+mn-lt"/>
                    <a:ea typeface="楷体" pitchFamily="49" charset="-122"/>
                  </a:rPr>
                  <a:t> </a:t>
                </a:r>
                <a:r>
                  <a:rPr lang="zh-CN" altLang="en-US" dirty="0">
                    <a:latin typeface="+mn-lt"/>
                    <a:ea typeface="楷体" pitchFamily="49" charset="-122"/>
                  </a:rPr>
                  <a:t>＝ </a:t>
                </a:r>
                <a:r>
                  <a:rPr lang="en-US" altLang="zh-CN" dirty="0">
                    <a:latin typeface="+mn-lt"/>
                    <a:ea typeface="楷体" pitchFamily="49" charset="-122"/>
                  </a:rPr>
                  <a:t>(0.1101)</a:t>
                </a:r>
                <a:r>
                  <a:rPr lang="en-US" altLang="zh-CN" baseline="-25000" dirty="0">
                    <a:latin typeface="+mn-lt"/>
                    <a:ea typeface="楷体" pitchFamily="49" charset="-122"/>
                  </a:rPr>
                  <a:t>2</a:t>
                </a:r>
              </a:p>
            </p:txBody>
          </p:sp>
          <p:sp>
            <p:nvSpPr>
              <p:cNvPr id="694429" name="Line 157"/>
              <p:cNvSpPr>
                <a:spLocks noChangeShapeType="1"/>
              </p:cNvSpPr>
              <p:nvPr/>
            </p:nvSpPr>
            <p:spPr bwMode="auto">
              <a:xfrm flipV="1">
                <a:off x="3560" y="2387"/>
                <a:ext cx="0" cy="95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94433" name="AutoShape 161"/>
            <p:cNvSpPr>
              <a:spLocks noChangeArrowheads="1"/>
            </p:cNvSpPr>
            <p:nvPr/>
          </p:nvSpPr>
          <p:spPr bwMode="auto">
            <a:xfrm>
              <a:off x="2631" y="2981"/>
              <a:ext cx="3448" cy="952"/>
            </a:xfrm>
            <a:prstGeom prst="wedgeRoundRectCallout">
              <a:avLst>
                <a:gd name="adj1" fmla="val 2782"/>
                <a:gd name="adj2" fmla="val -103046"/>
                <a:gd name="adj3" fmla="val 16667"/>
              </a:avLst>
            </a:prstGeom>
            <a:gradFill rotWithShape="1">
              <a:gsLst>
                <a:gs pos="0">
                  <a:srgbClr val="00FFFF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FF00FF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/>
            <a:lstStyle/>
            <a:p>
              <a:r>
                <a:rPr lang="zh-CN" altLang="en-US" sz="2000" b="1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" pitchFamily="49" charset="-122"/>
                  <a:ea typeface="楷体" pitchFamily="49" charset="-122"/>
                </a:rPr>
                <a:t>注意：</a:t>
              </a:r>
              <a:r>
                <a:rPr lang="zh-CN" altLang="en-US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楷体" pitchFamily="49" charset="-122"/>
                  <a:ea typeface="楷体" pitchFamily="49" charset="-122"/>
                </a:rPr>
                <a:t>对于小数部分的转换式中的整数不参加连乘，第一次乘以</a:t>
              </a:r>
              <a:r>
                <a:rPr lang="en-US" altLang="zh-CN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楷体" pitchFamily="49" charset="-122"/>
                  <a:ea typeface="楷体" pitchFamily="49" charset="-122"/>
                </a:rPr>
                <a:t>2</a:t>
              </a:r>
              <a:r>
                <a:rPr lang="zh-CN" altLang="en-US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楷体" pitchFamily="49" charset="-122"/>
                  <a:ea typeface="楷体" pitchFamily="49" charset="-122"/>
                </a:rPr>
                <a:t>所得到的整数部分是二进制数小数的最高位，最后所得到的整数部分是二进制数小数的最低位。</a:t>
              </a:r>
            </a:p>
          </p:txBody>
        </p:sp>
      </p:grpSp>
      <p:grpSp>
        <p:nvGrpSpPr>
          <p:cNvPr id="694441" name="Group 169"/>
          <p:cNvGrpSpPr>
            <a:grpSpLocks/>
          </p:cNvGrpSpPr>
          <p:nvPr/>
        </p:nvGrpSpPr>
        <p:grpSpPr bwMode="auto">
          <a:xfrm>
            <a:off x="417039" y="3363915"/>
            <a:ext cx="8064500" cy="2678113"/>
            <a:chOff x="1151" y="2182"/>
            <a:chExt cx="5080" cy="1687"/>
          </a:xfrm>
        </p:grpSpPr>
        <p:sp>
          <p:nvSpPr>
            <p:cNvPr id="694437" name="Rectangle 165"/>
            <p:cNvSpPr>
              <a:spLocks noChangeArrowheads="1"/>
            </p:cNvSpPr>
            <p:nvPr/>
          </p:nvSpPr>
          <p:spPr bwMode="auto">
            <a:xfrm>
              <a:off x="1151" y="2182"/>
              <a:ext cx="5080" cy="16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indent="1466850"/>
              <a:r>
                <a:rPr lang="zh-CN" altLang="en-US" dirty="0">
                  <a:solidFill>
                    <a:srgbClr val="FF0066"/>
                  </a:solidFill>
                  <a:latin typeface="+mn-lt"/>
                  <a:ea typeface="楷体" pitchFamily="49" charset="-122"/>
                </a:rPr>
                <a:t>例  将十进制数</a:t>
              </a:r>
              <a:r>
                <a:rPr lang="en-US" altLang="zh-CN" dirty="0">
                  <a:solidFill>
                    <a:srgbClr val="FF0066"/>
                  </a:solidFill>
                  <a:latin typeface="+mn-lt"/>
                  <a:ea typeface="楷体" pitchFamily="49" charset="-122"/>
                </a:rPr>
                <a:t>0.8123</a:t>
              </a:r>
              <a:r>
                <a:rPr lang="zh-CN" altLang="en-US" dirty="0">
                  <a:solidFill>
                    <a:srgbClr val="FF0066"/>
                  </a:solidFill>
                  <a:latin typeface="+mn-lt"/>
                  <a:ea typeface="楷体" pitchFamily="49" charset="-122"/>
                </a:rPr>
                <a:t>转换成二进制</a:t>
              </a:r>
            </a:p>
            <a:p>
              <a:pPr indent="1466850"/>
              <a:r>
                <a:rPr lang="zh-CN" altLang="en-US" dirty="0">
                  <a:latin typeface="+mn-lt"/>
                  <a:ea typeface="楷体" pitchFamily="49" charset="-122"/>
                </a:rPr>
                <a:t>      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0.8123 × 2 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＝ </a:t>
              </a:r>
              <a:r>
                <a:rPr lang="en-US" altLang="zh-CN" b="1" dirty="0">
                  <a:solidFill>
                    <a:schemeClr val="accent2"/>
                  </a:solidFill>
                  <a:latin typeface="+mn-lt"/>
                  <a:ea typeface="楷体" pitchFamily="49" charset="-122"/>
                </a:rPr>
                <a:t>1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.6246     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（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b1 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＝ 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1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）  </a:t>
              </a:r>
              <a:r>
                <a:rPr lang="zh-CN" altLang="en-US" sz="1800" b="1" dirty="0">
                  <a:solidFill>
                    <a:schemeClr val="accent2"/>
                  </a:solidFill>
                  <a:latin typeface="+mn-lt"/>
                  <a:ea typeface="楷体" pitchFamily="49" charset="-122"/>
                </a:rPr>
                <a:t>最高小数位</a:t>
              </a:r>
            </a:p>
            <a:p>
              <a:pPr indent="1466850"/>
              <a:r>
                <a:rPr lang="zh-CN" altLang="en-US" dirty="0">
                  <a:latin typeface="+mn-lt"/>
                  <a:ea typeface="楷体" pitchFamily="49" charset="-122"/>
                </a:rPr>
                <a:t>      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0.6246 × 2 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＝ </a:t>
              </a:r>
              <a:r>
                <a:rPr lang="en-US" altLang="zh-CN" b="1" dirty="0">
                  <a:solidFill>
                    <a:schemeClr val="accent2"/>
                  </a:solidFill>
                  <a:latin typeface="+mn-lt"/>
                  <a:ea typeface="楷体" pitchFamily="49" charset="-122"/>
                </a:rPr>
                <a:t>1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.2492     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（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b2 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＝ 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1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）</a:t>
              </a:r>
            </a:p>
            <a:p>
              <a:pPr indent="1466850"/>
              <a:r>
                <a:rPr lang="zh-CN" altLang="en-US" dirty="0">
                  <a:latin typeface="+mn-lt"/>
                  <a:ea typeface="楷体" pitchFamily="49" charset="-122"/>
                </a:rPr>
                <a:t>      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0.2492 × 2 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＝ </a:t>
              </a:r>
              <a:r>
                <a:rPr lang="en-US" altLang="zh-CN" b="1" dirty="0">
                  <a:solidFill>
                    <a:schemeClr val="accent2"/>
                  </a:solidFill>
                  <a:latin typeface="+mn-lt"/>
                  <a:ea typeface="楷体" pitchFamily="49" charset="-122"/>
                </a:rPr>
                <a:t>0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.4984     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（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b3 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＝ 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0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）</a:t>
              </a:r>
            </a:p>
            <a:p>
              <a:pPr indent="1466850"/>
              <a:r>
                <a:rPr lang="zh-CN" altLang="en-US" dirty="0">
                  <a:latin typeface="+mn-lt"/>
                  <a:ea typeface="楷体" pitchFamily="49" charset="-122"/>
                </a:rPr>
                <a:t>      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0.4984 × 2 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＝ </a:t>
              </a:r>
              <a:r>
                <a:rPr lang="en-US" altLang="zh-CN" b="1" dirty="0">
                  <a:solidFill>
                    <a:schemeClr val="accent2"/>
                  </a:solidFill>
                  <a:latin typeface="+mn-lt"/>
                  <a:ea typeface="楷体" pitchFamily="49" charset="-122"/>
                </a:rPr>
                <a:t>0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.9968     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（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b4 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＝ 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0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）  </a:t>
              </a:r>
              <a:r>
                <a:rPr lang="zh-CN" altLang="en-US" sz="1800" b="1" dirty="0">
                  <a:solidFill>
                    <a:schemeClr val="accent2"/>
                  </a:solidFill>
                  <a:latin typeface="+mn-lt"/>
                  <a:ea typeface="楷体" pitchFamily="49" charset="-122"/>
                </a:rPr>
                <a:t>最低小数位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   </a:t>
              </a:r>
            </a:p>
            <a:p>
              <a:pPr indent="1466850"/>
              <a:r>
                <a:rPr lang="zh-CN" altLang="en-US" dirty="0">
                  <a:latin typeface="+mn-lt"/>
                  <a:ea typeface="楷体" pitchFamily="49" charset="-122"/>
                </a:rPr>
                <a:t>      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…………</a:t>
              </a:r>
            </a:p>
            <a:p>
              <a:pPr indent="1466850"/>
              <a:r>
                <a:rPr lang="en-US" altLang="zh-CN" dirty="0">
                  <a:latin typeface="+mn-lt"/>
                  <a:ea typeface="楷体" pitchFamily="49" charset="-122"/>
                </a:rPr>
                <a:t>      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所以  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(0.8123)</a:t>
              </a:r>
              <a:r>
                <a:rPr lang="en-US" altLang="zh-CN" baseline="-25000" dirty="0">
                  <a:latin typeface="+mn-lt"/>
                  <a:ea typeface="楷体" pitchFamily="49" charset="-122"/>
                </a:rPr>
                <a:t>10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 </a:t>
              </a:r>
              <a:r>
                <a:rPr lang="zh-CN" altLang="zh-CN" dirty="0">
                  <a:latin typeface="+mn-lt"/>
                  <a:ea typeface="楷体" pitchFamily="49" charset="-122"/>
                </a:rPr>
                <a:t>≈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 (0.1100)</a:t>
              </a:r>
              <a:r>
                <a:rPr lang="en-US" altLang="zh-CN" baseline="-25000" dirty="0">
                  <a:latin typeface="+mn-lt"/>
                  <a:ea typeface="楷体" pitchFamily="49" charset="-122"/>
                </a:rPr>
                <a:t>2</a:t>
              </a:r>
            </a:p>
          </p:txBody>
        </p:sp>
        <p:sp>
          <p:nvSpPr>
            <p:cNvPr id="694438" name="Line 166"/>
            <p:cNvSpPr>
              <a:spLocks noChangeShapeType="1"/>
            </p:cNvSpPr>
            <p:nvPr/>
          </p:nvSpPr>
          <p:spPr bwMode="auto">
            <a:xfrm flipV="1">
              <a:off x="4461" y="2451"/>
              <a:ext cx="0" cy="95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</p:grpSp>
      <p:grpSp>
        <p:nvGrpSpPr>
          <p:cNvPr id="694442" name="Group 170"/>
          <p:cNvGrpSpPr>
            <a:grpSpLocks/>
          </p:cNvGrpSpPr>
          <p:nvPr/>
        </p:nvGrpSpPr>
        <p:grpSpPr bwMode="auto">
          <a:xfrm>
            <a:off x="424977" y="3433765"/>
            <a:ext cx="8064500" cy="2678113"/>
            <a:chOff x="1151" y="2182"/>
            <a:chExt cx="5080" cy="1687"/>
          </a:xfrm>
        </p:grpSpPr>
        <p:sp>
          <p:nvSpPr>
            <p:cNvPr id="694443" name="Rectangle 171"/>
            <p:cNvSpPr>
              <a:spLocks noChangeArrowheads="1"/>
            </p:cNvSpPr>
            <p:nvPr/>
          </p:nvSpPr>
          <p:spPr bwMode="auto">
            <a:xfrm>
              <a:off x="1151" y="2182"/>
              <a:ext cx="5080" cy="16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indent="1466850"/>
              <a:r>
                <a:rPr lang="zh-CN" altLang="en-US" dirty="0">
                  <a:solidFill>
                    <a:srgbClr val="FF0066"/>
                  </a:solidFill>
                  <a:latin typeface="+mn-lt"/>
                  <a:ea typeface="楷体" pitchFamily="49" charset="-122"/>
                </a:rPr>
                <a:t>例  将十进制数</a:t>
              </a:r>
              <a:r>
                <a:rPr lang="en-US" altLang="zh-CN" dirty="0">
                  <a:solidFill>
                    <a:srgbClr val="FF0066"/>
                  </a:solidFill>
                  <a:latin typeface="+mn-lt"/>
                  <a:ea typeface="楷体" pitchFamily="49" charset="-122"/>
                </a:rPr>
                <a:t>0.8123</a:t>
              </a:r>
              <a:r>
                <a:rPr lang="zh-CN" altLang="en-US" dirty="0">
                  <a:solidFill>
                    <a:srgbClr val="FF0066"/>
                  </a:solidFill>
                  <a:latin typeface="+mn-lt"/>
                  <a:ea typeface="楷体" pitchFamily="49" charset="-122"/>
                </a:rPr>
                <a:t>转换成八进制</a:t>
              </a:r>
            </a:p>
            <a:p>
              <a:pPr indent="1466850"/>
              <a:r>
                <a:rPr lang="zh-CN" altLang="en-US" dirty="0">
                  <a:latin typeface="+mn-lt"/>
                  <a:ea typeface="楷体" pitchFamily="49" charset="-122"/>
                </a:rPr>
                <a:t>      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0.8123 × 8 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＝ </a:t>
              </a:r>
              <a:r>
                <a:rPr lang="en-US" altLang="zh-CN" b="1" dirty="0">
                  <a:solidFill>
                    <a:schemeClr val="accent2"/>
                  </a:solidFill>
                  <a:latin typeface="+mn-lt"/>
                  <a:ea typeface="楷体" pitchFamily="49" charset="-122"/>
                </a:rPr>
                <a:t>6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.4984     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（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b1 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＝ 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6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）  </a:t>
              </a:r>
              <a:r>
                <a:rPr lang="zh-CN" altLang="en-US" sz="1800" b="1" dirty="0">
                  <a:solidFill>
                    <a:schemeClr val="accent2"/>
                  </a:solidFill>
                  <a:latin typeface="+mn-lt"/>
                  <a:ea typeface="楷体" pitchFamily="49" charset="-122"/>
                </a:rPr>
                <a:t>最高小数位</a:t>
              </a:r>
            </a:p>
            <a:p>
              <a:pPr indent="1466850"/>
              <a:r>
                <a:rPr lang="zh-CN" altLang="en-US" dirty="0">
                  <a:latin typeface="+mn-lt"/>
                  <a:ea typeface="楷体" pitchFamily="49" charset="-122"/>
                </a:rPr>
                <a:t>      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0.4984 × 8 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＝ </a:t>
              </a:r>
              <a:r>
                <a:rPr lang="en-US" altLang="zh-CN" b="1" dirty="0">
                  <a:solidFill>
                    <a:schemeClr val="accent2"/>
                  </a:solidFill>
                  <a:latin typeface="+mn-lt"/>
                  <a:ea typeface="楷体" pitchFamily="49" charset="-122"/>
                </a:rPr>
                <a:t>3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.9872     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（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b2 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＝ 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3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）</a:t>
              </a:r>
            </a:p>
            <a:p>
              <a:pPr indent="1466850"/>
              <a:r>
                <a:rPr lang="zh-CN" altLang="en-US" dirty="0">
                  <a:latin typeface="+mn-lt"/>
                  <a:ea typeface="楷体" pitchFamily="49" charset="-122"/>
                </a:rPr>
                <a:t>      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0.9872 × 8 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＝ </a:t>
              </a:r>
              <a:r>
                <a:rPr lang="en-US" altLang="zh-CN" b="1" dirty="0">
                  <a:solidFill>
                    <a:schemeClr val="accent2"/>
                  </a:solidFill>
                  <a:latin typeface="+mn-lt"/>
                  <a:ea typeface="楷体" pitchFamily="49" charset="-122"/>
                </a:rPr>
                <a:t>7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.8976     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（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b3 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＝ 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7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）</a:t>
              </a:r>
            </a:p>
            <a:p>
              <a:pPr indent="1466850"/>
              <a:r>
                <a:rPr lang="zh-CN" altLang="en-US" dirty="0">
                  <a:latin typeface="+mn-lt"/>
                  <a:ea typeface="楷体" pitchFamily="49" charset="-122"/>
                </a:rPr>
                <a:t>      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0.8976 × 8 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＝ </a:t>
              </a:r>
              <a:r>
                <a:rPr lang="en-US" altLang="zh-CN" b="1" dirty="0">
                  <a:solidFill>
                    <a:schemeClr val="accent2"/>
                  </a:solidFill>
                  <a:latin typeface="+mn-lt"/>
                  <a:ea typeface="楷体" pitchFamily="49" charset="-122"/>
                </a:rPr>
                <a:t>7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.1808     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（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b4 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＝ 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7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）  </a:t>
              </a:r>
              <a:r>
                <a:rPr lang="zh-CN" altLang="en-US" sz="1800" b="1" dirty="0">
                  <a:solidFill>
                    <a:schemeClr val="accent2"/>
                  </a:solidFill>
                  <a:latin typeface="+mn-lt"/>
                  <a:ea typeface="楷体" pitchFamily="49" charset="-122"/>
                </a:rPr>
                <a:t>最低小数位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   </a:t>
              </a:r>
            </a:p>
            <a:p>
              <a:pPr indent="1466850"/>
              <a:r>
                <a:rPr lang="zh-CN" altLang="en-US" dirty="0">
                  <a:latin typeface="+mn-lt"/>
                  <a:ea typeface="楷体" pitchFamily="49" charset="-122"/>
                </a:rPr>
                <a:t>      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…………</a:t>
              </a:r>
            </a:p>
            <a:p>
              <a:pPr indent="1466850"/>
              <a:r>
                <a:rPr lang="en-US" altLang="zh-CN" dirty="0">
                  <a:latin typeface="+mn-lt"/>
                  <a:ea typeface="楷体" pitchFamily="49" charset="-122"/>
                </a:rPr>
                <a:t>      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所以  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(0.8123)</a:t>
              </a:r>
              <a:r>
                <a:rPr lang="en-US" altLang="zh-CN" baseline="-25000" dirty="0">
                  <a:latin typeface="+mn-lt"/>
                  <a:ea typeface="楷体" pitchFamily="49" charset="-122"/>
                </a:rPr>
                <a:t>10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 </a:t>
              </a:r>
              <a:r>
                <a:rPr lang="zh-CN" altLang="zh-CN" dirty="0">
                  <a:latin typeface="+mn-lt"/>
                  <a:ea typeface="楷体" pitchFamily="49" charset="-122"/>
                </a:rPr>
                <a:t>≈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 (0.6377)</a:t>
              </a:r>
              <a:r>
                <a:rPr lang="en-US" altLang="zh-CN" baseline="-25000" dirty="0">
                  <a:latin typeface="+mn-lt"/>
                  <a:ea typeface="楷体" pitchFamily="49" charset="-122"/>
                </a:rPr>
                <a:t>8</a:t>
              </a:r>
            </a:p>
          </p:txBody>
        </p:sp>
        <p:sp>
          <p:nvSpPr>
            <p:cNvPr id="694444" name="Line 172"/>
            <p:cNvSpPr>
              <a:spLocks noChangeShapeType="1"/>
            </p:cNvSpPr>
            <p:nvPr/>
          </p:nvSpPr>
          <p:spPr bwMode="auto">
            <a:xfrm flipV="1">
              <a:off x="4461" y="2451"/>
              <a:ext cx="0" cy="95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94448" name="Group 176"/>
          <p:cNvGrpSpPr>
            <a:grpSpLocks/>
          </p:cNvGrpSpPr>
          <p:nvPr/>
        </p:nvGrpSpPr>
        <p:grpSpPr bwMode="auto">
          <a:xfrm>
            <a:off x="-11586" y="0"/>
            <a:ext cx="446088" cy="6858000"/>
            <a:chOff x="0" y="0"/>
            <a:chExt cx="281" cy="4320"/>
          </a:xfrm>
        </p:grpSpPr>
        <p:sp>
          <p:nvSpPr>
            <p:cNvPr id="694449" name="Text Box 177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</a:rPr>
                <a:t>第三版</a:t>
              </a: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第一章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预备知识</a:t>
              </a:r>
            </a:p>
          </p:txBody>
        </p:sp>
        <p:sp>
          <p:nvSpPr>
            <p:cNvPr id="694450" name="Text Box 178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42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94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6944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4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4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944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944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4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4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944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944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4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944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427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306" name="Rectangle 10"/>
          <p:cNvSpPr>
            <a:spLocks noChangeArrowheads="1"/>
          </p:cNvSpPr>
          <p:nvPr/>
        </p:nvSpPr>
        <p:spPr bwMode="auto">
          <a:xfrm>
            <a:off x="822073" y="1196976"/>
            <a:ext cx="10818543" cy="158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ts val="3000"/>
              </a:lnSpc>
              <a:spcBef>
                <a:spcPct val="20000"/>
              </a:spcBef>
              <a:buFont typeface="Wingdings" pitchFamily="2" charset="2"/>
              <a:buChar char="ü"/>
            </a:pPr>
            <a:r>
              <a:rPr lang="zh-CN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二进制 </a:t>
            </a:r>
            <a:r>
              <a:rPr lang="zh-CN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  <a:sym typeface="Wingdings" pitchFamily="2" charset="2"/>
              </a:rPr>
              <a:t> </a:t>
            </a:r>
            <a:r>
              <a:rPr lang="zh-CN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八进制</a:t>
            </a:r>
          </a:p>
          <a:p>
            <a:pPr>
              <a:lnSpc>
                <a:spcPts val="3500"/>
              </a:lnSpc>
              <a:spcBef>
                <a:spcPct val="20000"/>
              </a:spcBef>
            </a:pPr>
            <a:r>
              <a:rPr lang="zh-CN" altLang="en-US" sz="32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方法：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从小数点开始，分别向左、右按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3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位分组转换成对应的八进制数字字符，最后不满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3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位的，则需补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0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。</a:t>
            </a:r>
            <a:r>
              <a:rPr lang="zh-CN" altLang="en-US" sz="36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</a:t>
            </a:r>
          </a:p>
        </p:txBody>
      </p:sp>
      <p:sp>
        <p:nvSpPr>
          <p:cNvPr id="695307" name="Rectangle 11"/>
          <p:cNvSpPr>
            <a:spLocks noChangeArrowheads="1"/>
          </p:cNvSpPr>
          <p:nvPr/>
        </p:nvSpPr>
        <p:spPr bwMode="auto">
          <a:xfrm>
            <a:off x="750635" y="404814"/>
            <a:ext cx="820896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>
            <a:spAutoFit/>
          </a:bodyPr>
          <a:lstStyle/>
          <a:p>
            <a:pPr marL="457200" indent="-457200">
              <a:spcBef>
                <a:spcPct val="20000"/>
              </a:spcBef>
              <a:buClr>
                <a:srgbClr val="0099FF"/>
              </a:buClr>
              <a:buFont typeface="Wingdings" pitchFamily="2" charset="2"/>
              <a:buChar char="l"/>
            </a:pPr>
            <a:r>
              <a:rPr lang="zh-CN" altLang="en-US" sz="3200">
                <a:solidFill>
                  <a:srgbClr val="0099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二进制、八进制、十六进制之间的转换</a:t>
            </a:r>
          </a:p>
        </p:txBody>
      </p:sp>
      <p:sp>
        <p:nvSpPr>
          <p:cNvPr id="695308" name="Text Box 12"/>
          <p:cNvSpPr txBox="1">
            <a:spLocks noChangeArrowheads="1"/>
          </p:cNvSpPr>
          <p:nvPr/>
        </p:nvSpPr>
        <p:spPr bwMode="auto">
          <a:xfrm>
            <a:off x="9165307" y="2898200"/>
            <a:ext cx="1716081" cy="3046988"/>
          </a:xfrm>
          <a:prstGeom prst="rect">
            <a:avLst/>
          </a:prstGeom>
          <a:ln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eaLnBrk="0" hangingPunct="0"/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000 ~ 0</a:t>
            </a:r>
          </a:p>
          <a:p>
            <a:pPr algn="ctr" eaLnBrk="0" hangingPunct="0"/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001 ~ 1</a:t>
            </a:r>
          </a:p>
          <a:p>
            <a:pPr algn="ctr" eaLnBrk="0" hangingPunct="0"/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010 ~ 2</a:t>
            </a:r>
          </a:p>
          <a:p>
            <a:pPr algn="ctr" eaLnBrk="0" hangingPunct="0"/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011 ~ 3</a:t>
            </a:r>
          </a:p>
          <a:p>
            <a:pPr algn="ctr" eaLnBrk="0" hangingPunct="0"/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100 ~ 4</a:t>
            </a:r>
          </a:p>
          <a:p>
            <a:pPr algn="ctr" eaLnBrk="0" hangingPunct="0"/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101 ~ 5</a:t>
            </a:r>
          </a:p>
          <a:p>
            <a:pPr algn="ctr" eaLnBrk="0" hangingPunct="0"/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110 ~ 6</a:t>
            </a:r>
          </a:p>
          <a:p>
            <a:pPr algn="ctr" eaLnBrk="0" hangingPunct="0"/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111 ~ 7</a:t>
            </a:r>
          </a:p>
        </p:txBody>
      </p:sp>
      <p:sp>
        <p:nvSpPr>
          <p:cNvPr id="695309" name="Rectangle 13"/>
          <p:cNvSpPr>
            <a:spLocks noChangeArrowheads="1"/>
          </p:cNvSpPr>
          <p:nvPr/>
        </p:nvSpPr>
        <p:spPr bwMode="auto">
          <a:xfrm>
            <a:off x="930018" y="2847976"/>
            <a:ext cx="685167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例：</a:t>
            </a:r>
            <a:r>
              <a:rPr lang="zh-CN" altLang="en-US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将二进制数</a:t>
            </a:r>
            <a:r>
              <a:rPr lang="en-US" altLang="zh-CN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(1101101.10101)</a:t>
            </a:r>
            <a:r>
              <a:rPr lang="en-US" altLang="zh-CN" baseline="-30000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zh-CN" altLang="en-US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转换成八进制数</a:t>
            </a:r>
          </a:p>
        </p:txBody>
      </p:sp>
      <p:sp>
        <p:nvSpPr>
          <p:cNvPr id="695360" name="Rectangle 64"/>
          <p:cNvSpPr>
            <a:spLocks noChangeArrowheads="1"/>
          </p:cNvSpPr>
          <p:nvPr/>
        </p:nvSpPr>
        <p:spPr bwMode="auto">
          <a:xfrm>
            <a:off x="1542798" y="5487988"/>
            <a:ext cx="61928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zh-CN" altLang="en-US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所以</a:t>
            </a:r>
            <a:r>
              <a:rPr lang="zh-CN" altLang="en-US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(1101101.10101)</a:t>
            </a:r>
            <a:r>
              <a:rPr lang="en-US" altLang="zh-CN" baseline="-300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2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zh-CN" altLang="en-US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＝ 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(155.52)</a:t>
            </a:r>
            <a:r>
              <a:rPr lang="en-US" altLang="zh-CN" baseline="-300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8</a:t>
            </a:r>
            <a:endParaRPr lang="en-US" altLang="zh-CN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695401" name="Rectangle 105"/>
          <p:cNvSpPr>
            <a:spLocks noChangeArrowheads="1"/>
          </p:cNvSpPr>
          <p:nvPr/>
        </p:nvSpPr>
        <p:spPr bwMode="auto">
          <a:xfrm>
            <a:off x="1542797" y="3435350"/>
            <a:ext cx="5086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二进制数：</a:t>
            </a:r>
            <a:r>
              <a:rPr lang="zh-CN" altLang="en-US" b="1" u="sng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altLang="zh-CN" b="1" u="sng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00</a:t>
            </a:r>
            <a:r>
              <a:rPr lang="en-US" altLang="zh-CN" b="1" u="sng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1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lang="en-US" altLang="zh-CN" b="1" u="sng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101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lang="en-US" altLang="zh-CN" b="1" u="sng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101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.  </a:t>
            </a:r>
            <a:r>
              <a:rPr lang="en-US" altLang="zh-CN" b="1" u="sng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101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lang="en-US" altLang="zh-CN" b="1" u="sng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01</a:t>
            </a:r>
            <a:r>
              <a:rPr lang="en-US" altLang="zh-CN" b="1" u="sng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</a:p>
        </p:txBody>
      </p:sp>
      <p:sp>
        <p:nvSpPr>
          <p:cNvPr id="695404" name="Line 108"/>
          <p:cNvSpPr>
            <a:spLocks noChangeShapeType="1"/>
          </p:cNvSpPr>
          <p:nvPr/>
        </p:nvSpPr>
        <p:spPr bwMode="auto">
          <a:xfrm flipH="1">
            <a:off x="3271585" y="3284538"/>
            <a:ext cx="1008063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stealth" w="lg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95405" name="Line 109"/>
          <p:cNvSpPr>
            <a:spLocks noChangeShapeType="1"/>
          </p:cNvSpPr>
          <p:nvPr/>
        </p:nvSpPr>
        <p:spPr bwMode="auto">
          <a:xfrm>
            <a:off x="4422523" y="3284538"/>
            <a:ext cx="7207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stealth" w="lg" len="lg"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695409" name="Group 113"/>
          <p:cNvGrpSpPr>
            <a:grpSpLocks/>
          </p:cNvGrpSpPr>
          <p:nvPr/>
        </p:nvGrpSpPr>
        <p:grpSpPr bwMode="auto">
          <a:xfrm>
            <a:off x="3308098" y="3860800"/>
            <a:ext cx="358775" cy="1174750"/>
            <a:chOff x="2087" y="2432"/>
            <a:chExt cx="226" cy="740"/>
          </a:xfrm>
        </p:grpSpPr>
        <p:sp>
          <p:nvSpPr>
            <p:cNvPr id="695406" name="Line 110"/>
            <p:cNvSpPr>
              <a:spLocks noChangeShapeType="1"/>
            </p:cNvSpPr>
            <p:nvPr/>
          </p:nvSpPr>
          <p:spPr bwMode="auto">
            <a:xfrm>
              <a:off x="2196" y="2432"/>
              <a:ext cx="0" cy="45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5407" name="Rectangle 111"/>
            <p:cNvSpPr>
              <a:spLocks noChangeArrowheads="1"/>
            </p:cNvSpPr>
            <p:nvPr/>
          </p:nvSpPr>
          <p:spPr bwMode="auto">
            <a:xfrm>
              <a:off x="2087" y="2922"/>
              <a:ext cx="22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zh-CN" sz="2000" b="1">
                  <a:solidFill>
                    <a:schemeClr val="accent2"/>
                  </a:solidFill>
                </a:rPr>
                <a:t>1</a:t>
              </a:r>
            </a:p>
          </p:txBody>
        </p:sp>
      </p:grpSp>
      <p:sp>
        <p:nvSpPr>
          <p:cNvPr id="695408" name="Rectangle 112"/>
          <p:cNvSpPr>
            <a:spLocks noChangeArrowheads="1"/>
          </p:cNvSpPr>
          <p:nvPr/>
        </p:nvSpPr>
        <p:spPr bwMode="auto">
          <a:xfrm>
            <a:off x="1541209" y="4567238"/>
            <a:ext cx="17160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八进制数：</a:t>
            </a:r>
          </a:p>
        </p:txBody>
      </p:sp>
      <p:grpSp>
        <p:nvGrpSpPr>
          <p:cNvPr id="695410" name="Group 114"/>
          <p:cNvGrpSpPr>
            <a:grpSpLocks/>
          </p:cNvGrpSpPr>
          <p:nvPr/>
        </p:nvGrpSpPr>
        <p:grpSpPr bwMode="auto">
          <a:xfrm>
            <a:off x="3881185" y="3862388"/>
            <a:ext cx="358775" cy="1174750"/>
            <a:chOff x="2087" y="2432"/>
            <a:chExt cx="226" cy="740"/>
          </a:xfrm>
        </p:grpSpPr>
        <p:sp>
          <p:nvSpPr>
            <p:cNvPr id="695411" name="Line 115"/>
            <p:cNvSpPr>
              <a:spLocks noChangeShapeType="1"/>
            </p:cNvSpPr>
            <p:nvPr/>
          </p:nvSpPr>
          <p:spPr bwMode="auto">
            <a:xfrm>
              <a:off x="2196" y="2432"/>
              <a:ext cx="0" cy="45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5412" name="Rectangle 116"/>
            <p:cNvSpPr>
              <a:spLocks noChangeArrowheads="1"/>
            </p:cNvSpPr>
            <p:nvPr/>
          </p:nvSpPr>
          <p:spPr bwMode="auto">
            <a:xfrm>
              <a:off x="2087" y="2922"/>
              <a:ext cx="22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zh-CN" sz="2000" b="1">
                  <a:solidFill>
                    <a:schemeClr val="accent2"/>
                  </a:solidFill>
                </a:rPr>
                <a:t>5</a:t>
              </a:r>
            </a:p>
          </p:txBody>
        </p:sp>
      </p:grpSp>
      <p:grpSp>
        <p:nvGrpSpPr>
          <p:cNvPr id="695413" name="Group 117"/>
          <p:cNvGrpSpPr>
            <a:grpSpLocks/>
          </p:cNvGrpSpPr>
          <p:nvPr/>
        </p:nvGrpSpPr>
        <p:grpSpPr bwMode="auto">
          <a:xfrm>
            <a:off x="4511423" y="3863975"/>
            <a:ext cx="358775" cy="1174750"/>
            <a:chOff x="2087" y="2432"/>
            <a:chExt cx="226" cy="740"/>
          </a:xfrm>
        </p:grpSpPr>
        <p:sp>
          <p:nvSpPr>
            <p:cNvPr id="695414" name="Line 118"/>
            <p:cNvSpPr>
              <a:spLocks noChangeShapeType="1"/>
            </p:cNvSpPr>
            <p:nvPr/>
          </p:nvSpPr>
          <p:spPr bwMode="auto">
            <a:xfrm>
              <a:off x="2196" y="2432"/>
              <a:ext cx="0" cy="45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5415" name="Rectangle 119"/>
            <p:cNvSpPr>
              <a:spLocks noChangeArrowheads="1"/>
            </p:cNvSpPr>
            <p:nvPr/>
          </p:nvSpPr>
          <p:spPr bwMode="auto">
            <a:xfrm>
              <a:off x="2087" y="2922"/>
              <a:ext cx="22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zh-CN" sz="2000" b="1">
                  <a:solidFill>
                    <a:schemeClr val="accent2"/>
                  </a:solidFill>
                </a:rPr>
                <a:t>5</a:t>
              </a:r>
            </a:p>
          </p:txBody>
        </p:sp>
      </p:grpSp>
      <p:grpSp>
        <p:nvGrpSpPr>
          <p:cNvPr id="695416" name="Group 120"/>
          <p:cNvGrpSpPr>
            <a:grpSpLocks/>
          </p:cNvGrpSpPr>
          <p:nvPr/>
        </p:nvGrpSpPr>
        <p:grpSpPr bwMode="auto">
          <a:xfrm>
            <a:off x="4927348" y="3851275"/>
            <a:ext cx="358775" cy="1174750"/>
            <a:chOff x="2087" y="2432"/>
            <a:chExt cx="226" cy="740"/>
          </a:xfrm>
        </p:grpSpPr>
        <p:sp>
          <p:nvSpPr>
            <p:cNvPr id="695417" name="Line 121"/>
            <p:cNvSpPr>
              <a:spLocks noChangeShapeType="1"/>
            </p:cNvSpPr>
            <p:nvPr/>
          </p:nvSpPr>
          <p:spPr bwMode="auto">
            <a:xfrm>
              <a:off x="2196" y="2432"/>
              <a:ext cx="0" cy="45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5418" name="Rectangle 122"/>
            <p:cNvSpPr>
              <a:spLocks noChangeArrowheads="1"/>
            </p:cNvSpPr>
            <p:nvPr/>
          </p:nvSpPr>
          <p:spPr bwMode="auto">
            <a:xfrm>
              <a:off x="2087" y="2922"/>
              <a:ext cx="22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zh-CN" sz="2000" b="1">
                  <a:solidFill>
                    <a:schemeClr val="accent2"/>
                  </a:solidFill>
                </a:rPr>
                <a:t> .</a:t>
              </a:r>
            </a:p>
          </p:txBody>
        </p:sp>
      </p:grpSp>
      <p:grpSp>
        <p:nvGrpSpPr>
          <p:cNvPr id="695419" name="Group 123"/>
          <p:cNvGrpSpPr>
            <a:grpSpLocks/>
          </p:cNvGrpSpPr>
          <p:nvPr/>
        </p:nvGrpSpPr>
        <p:grpSpPr bwMode="auto">
          <a:xfrm>
            <a:off x="5398835" y="3865563"/>
            <a:ext cx="358775" cy="1174750"/>
            <a:chOff x="2087" y="2432"/>
            <a:chExt cx="226" cy="740"/>
          </a:xfrm>
        </p:grpSpPr>
        <p:sp>
          <p:nvSpPr>
            <p:cNvPr id="695420" name="Line 124"/>
            <p:cNvSpPr>
              <a:spLocks noChangeShapeType="1"/>
            </p:cNvSpPr>
            <p:nvPr/>
          </p:nvSpPr>
          <p:spPr bwMode="auto">
            <a:xfrm>
              <a:off x="2196" y="2432"/>
              <a:ext cx="0" cy="45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5421" name="Rectangle 125"/>
            <p:cNvSpPr>
              <a:spLocks noChangeArrowheads="1"/>
            </p:cNvSpPr>
            <p:nvPr/>
          </p:nvSpPr>
          <p:spPr bwMode="auto">
            <a:xfrm>
              <a:off x="2087" y="2922"/>
              <a:ext cx="22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zh-CN" sz="2000" b="1">
                  <a:solidFill>
                    <a:schemeClr val="accent2"/>
                  </a:solidFill>
                </a:rPr>
                <a:t>5</a:t>
              </a:r>
            </a:p>
          </p:txBody>
        </p:sp>
      </p:grpSp>
      <p:grpSp>
        <p:nvGrpSpPr>
          <p:cNvPr id="695422" name="Group 126"/>
          <p:cNvGrpSpPr>
            <a:grpSpLocks/>
          </p:cNvGrpSpPr>
          <p:nvPr/>
        </p:nvGrpSpPr>
        <p:grpSpPr bwMode="auto">
          <a:xfrm>
            <a:off x="5971923" y="3867150"/>
            <a:ext cx="358775" cy="1174750"/>
            <a:chOff x="2087" y="2432"/>
            <a:chExt cx="226" cy="740"/>
          </a:xfrm>
        </p:grpSpPr>
        <p:sp>
          <p:nvSpPr>
            <p:cNvPr id="695423" name="Line 127"/>
            <p:cNvSpPr>
              <a:spLocks noChangeShapeType="1"/>
            </p:cNvSpPr>
            <p:nvPr/>
          </p:nvSpPr>
          <p:spPr bwMode="auto">
            <a:xfrm>
              <a:off x="2196" y="2432"/>
              <a:ext cx="0" cy="45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5424" name="Rectangle 128"/>
            <p:cNvSpPr>
              <a:spLocks noChangeArrowheads="1"/>
            </p:cNvSpPr>
            <p:nvPr/>
          </p:nvSpPr>
          <p:spPr bwMode="auto">
            <a:xfrm>
              <a:off x="2087" y="2922"/>
              <a:ext cx="22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zh-CN" sz="2000" b="1">
                  <a:solidFill>
                    <a:schemeClr val="accent2"/>
                  </a:solidFill>
                </a:rPr>
                <a:t>2</a:t>
              </a:r>
            </a:p>
          </p:txBody>
        </p:sp>
      </p:grpSp>
      <p:grpSp>
        <p:nvGrpSpPr>
          <p:cNvPr id="695428" name="Group 132"/>
          <p:cNvGrpSpPr>
            <a:grpSpLocks/>
          </p:cNvGrpSpPr>
          <p:nvPr/>
        </p:nvGrpSpPr>
        <p:grpSpPr bwMode="auto">
          <a:xfrm>
            <a:off x="-5016" y="0"/>
            <a:ext cx="446088" cy="6858000"/>
            <a:chOff x="0" y="0"/>
            <a:chExt cx="281" cy="4320"/>
          </a:xfrm>
        </p:grpSpPr>
        <p:sp>
          <p:nvSpPr>
            <p:cNvPr id="695429" name="Text Box 133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</a:rPr>
                <a:t>第三版</a:t>
              </a: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第一章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预备知识</a:t>
              </a:r>
            </a:p>
          </p:txBody>
        </p:sp>
        <p:sp>
          <p:nvSpPr>
            <p:cNvPr id="695430" name="Text Box 134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53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695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695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6953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953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6954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u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6954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u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954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954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" dur="2000"/>
                                        <p:tgtEl>
                                          <p:spTgt spid="6954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7" dur="2000"/>
                                        <p:tgtEl>
                                          <p:spTgt spid="6954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2" dur="2000"/>
                                        <p:tgtEl>
                                          <p:spTgt spid="6954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7" dur="2000"/>
                                        <p:tgtEl>
                                          <p:spTgt spid="6954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2" dur="2000"/>
                                        <p:tgtEl>
                                          <p:spTgt spid="6954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7" dur="2000"/>
                                        <p:tgtEl>
                                          <p:spTgt spid="6954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6953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5306" grpId="0" uiExpand="1" build="p" bldLvl="5" autoUpdateAnimBg="0"/>
      <p:bldP spid="695307" grpId="0"/>
      <p:bldP spid="695308" grpId="0" animBg="1" autoUpdateAnimBg="0"/>
      <p:bldP spid="695309" grpId="0"/>
      <p:bldP spid="695360" grpId="0"/>
      <p:bldP spid="695401" grpId="0"/>
      <p:bldP spid="695404" grpId="0" animBg="1"/>
      <p:bldP spid="695405" grpId="0" animBg="1"/>
      <p:bldP spid="69540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349" name="Rectangle 5"/>
          <p:cNvSpPr>
            <a:spLocks noChangeArrowheads="1"/>
          </p:cNvSpPr>
          <p:nvPr/>
        </p:nvSpPr>
        <p:spPr bwMode="auto">
          <a:xfrm>
            <a:off x="822073" y="1196976"/>
            <a:ext cx="7704137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ts val="3000"/>
              </a:lnSpc>
              <a:spcBef>
                <a:spcPct val="20000"/>
              </a:spcBef>
              <a:buFont typeface="Wingdings" pitchFamily="2" charset="2"/>
              <a:buChar char="ü"/>
            </a:pPr>
            <a:r>
              <a:rPr lang="zh-CN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八进制 </a:t>
            </a:r>
            <a:r>
              <a:rPr lang="zh-CN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  <a:sym typeface="Wingdings" pitchFamily="2" charset="2"/>
              </a:rPr>
              <a:t> </a:t>
            </a:r>
            <a:r>
              <a:rPr lang="zh-CN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二进制</a:t>
            </a:r>
          </a:p>
          <a:p>
            <a:pPr>
              <a:lnSpc>
                <a:spcPts val="3000"/>
              </a:lnSpc>
              <a:spcBef>
                <a:spcPct val="20000"/>
              </a:spcBef>
            </a:pP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  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方法：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将每位八进制数用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3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位二进制表示即可。</a:t>
            </a:r>
            <a:r>
              <a:rPr lang="zh-CN" altLang="en-US" sz="36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</a:t>
            </a:r>
          </a:p>
        </p:txBody>
      </p:sp>
      <p:sp>
        <p:nvSpPr>
          <p:cNvPr id="697350" name="Rectangle 6"/>
          <p:cNvSpPr>
            <a:spLocks noChangeArrowheads="1"/>
          </p:cNvSpPr>
          <p:nvPr/>
        </p:nvSpPr>
        <p:spPr bwMode="auto">
          <a:xfrm>
            <a:off x="750635" y="404814"/>
            <a:ext cx="820896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>
            <a:spAutoFit/>
          </a:bodyPr>
          <a:lstStyle/>
          <a:p>
            <a:pPr marL="457200" indent="-457200">
              <a:spcBef>
                <a:spcPct val="20000"/>
              </a:spcBef>
              <a:buClr>
                <a:srgbClr val="0099FF"/>
              </a:buClr>
              <a:buFont typeface="Wingdings" pitchFamily="2" charset="2"/>
              <a:buChar char="l"/>
            </a:pPr>
            <a:r>
              <a:rPr lang="zh-CN" altLang="en-US" sz="3200">
                <a:solidFill>
                  <a:srgbClr val="0099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二进制、八进制、十六进制之间的转换</a:t>
            </a:r>
          </a:p>
        </p:txBody>
      </p:sp>
      <p:sp>
        <p:nvSpPr>
          <p:cNvPr id="697351" name="Text Box 7"/>
          <p:cNvSpPr txBox="1">
            <a:spLocks noChangeArrowheads="1"/>
          </p:cNvSpPr>
          <p:nvPr/>
        </p:nvSpPr>
        <p:spPr bwMode="auto">
          <a:xfrm>
            <a:off x="8745460" y="2943889"/>
            <a:ext cx="1637949" cy="30469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algn="ctr" eaLnBrk="0" hangingPunct="0"/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000 ~ 0</a:t>
            </a:r>
          </a:p>
          <a:p>
            <a:pPr algn="ctr" eaLnBrk="0" hangingPunct="0"/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001 ~ 1</a:t>
            </a:r>
          </a:p>
          <a:p>
            <a:pPr algn="ctr" eaLnBrk="0" hangingPunct="0"/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010 ~ 2</a:t>
            </a:r>
          </a:p>
          <a:p>
            <a:pPr algn="ctr" eaLnBrk="0" hangingPunct="0"/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011 ~ 3</a:t>
            </a:r>
          </a:p>
          <a:p>
            <a:pPr algn="ctr" eaLnBrk="0" hangingPunct="0"/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100 ~ 4</a:t>
            </a:r>
          </a:p>
          <a:p>
            <a:pPr algn="ctr" eaLnBrk="0" hangingPunct="0"/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101 ~ 5</a:t>
            </a:r>
          </a:p>
          <a:p>
            <a:pPr algn="ctr" eaLnBrk="0" hangingPunct="0"/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110 ~ 6</a:t>
            </a:r>
          </a:p>
          <a:p>
            <a:pPr algn="ctr" eaLnBrk="0" hangingPunct="0"/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111 ~ 7</a:t>
            </a:r>
          </a:p>
        </p:txBody>
      </p:sp>
      <p:sp>
        <p:nvSpPr>
          <p:cNvPr id="697352" name="Rectangle 8"/>
          <p:cNvSpPr>
            <a:spLocks noChangeArrowheads="1"/>
          </p:cNvSpPr>
          <p:nvPr/>
        </p:nvSpPr>
        <p:spPr bwMode="auto">
          <a:xfrm>
            <a:off x="1079248" y="2847975"/>
            <a:ext cx="66246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zh-CN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例：将八进制数</a:t>
            </a:r>
            <a:r>
              <a:rPr lang="en-US" altLang="zh-CN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(345.64)</a:t>
            </a:r>
            <a:r>
              <a:rPr lang="en-US" altLang="zh-CN" b="1" baseline="-30000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8</a:t>
            </a:r>
            <a:r>
              <a:rPr lang="zh-CN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转换成二进制数</a:t>
            </a:r>
          </a:p>
        </p:txBody>
      </p:sp>
      <p:sp>
        <p:nvSpPr>
          <p:cNvPr id="697353" name="Rectangle 9"/>
          <p:cNvSpPr>
            <a:spLocks noChangeArrowheads="1"/>
          </p:cNvSpPr>
          <p:nvPr/>
        </p:nvSpPr>
        <p:spPr bwMode="auto">
          <a:xfrm>
            <a:off x="1542798" y="5487988"/>
            <a:ext cx="61928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zh-CN" altLang="en-US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所以</a:t>
            </a:r>
            <a:r>
              <a:rPr lang="zh-CN" altLang="en-US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(345.64)</a:t>
            </a:r>
            <a:r>
              <a:rPr lang="en-US" altLang="zh-CN" baseline="-300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8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zh-CN" altLang="en-US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＝ 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(11100101.1101)</a:t>
            </a:r>
            <a:r>
              <a:rPr lang="en-US" altLang="zh-CN" baseline="-300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2</a:t>
            </a:r>
            <a:endParaRPr lang="en-US" altLang="zh-CN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697354" name="Rectangle 10"/>
          <p:cNvSpPr>
            <a:spLocks noChangeArrowheads="1"/>
          </p:cNvSpPr>
          <p:nvPr/>
        </p:nvSpPr>
        <p:spPr bwMode="auto">
          <a:xfrm>
            <a:off x="1542797" y="3435350"/>
            <a:ext cx="5086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八进制数：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</a:t>
            </a:r>
            <a:r>
              <a:rPr lang="en-US" altLang="zh-CN" b="1" u="sng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3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</a:t>
            </a:r>
            <a:r>
              <a:rPr lang="en-US" altLang="zh-CN" b="1" u="sng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4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</a:t>
            </a:r>
            <a:r>
              <a:rPr lang="en-US" altLang="zh-CN" b="1" u="sng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5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.    </a:t>
            </a:r>
            <a:r>
              <a:rPr lang="en-US" altLang="zh-CN" b="1" u="sng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6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</a:t>
            </a:r>
            <a:r>
              <a:rPr lang="en-US" altLang="zh-CN" b="1" u="sng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4</a:t>
            </a:r>
          </a:p>
        </p:txBody>
      </p:sp>
      <p:grpSp>
        <p:nvGrpSpPr>
          <p:cNvPr id="697376" name="Group 32"/>
          <p:cNvGrpSpPr>
            <a:grpSpLocks/>
          </p:cNvGrpSpPr>
          <p:nvPr/>
        </p:nvGrpSpPr>
        <p:grpSpPr bwMode="auto">
          <a:xfrm>
            <a:off x="3212847" y="3860800"/>
            <a:ext cx="647700" cy="1174750"/>
            <a:chOff x="2027" y="2432"/>
            <a:chExt cx="408" cy="740"/>
          </a:xfrm>
        </p:grpSpPr>
        <p:sp>
          <p:nvSpPr>
            <p:cNvPr id="697358" name="Line 14"/>
            <p:cNvSpPr>
              <a:spLocks noChangeShapeType="1"/>
            </p:cNvSpPr>
            <p:nvPr/>
          </p:nvSpPr>
          <p:spPr bwMode="auto">
            <a:xfrm>
              <a:off x="2196" y="2432"/>
              <a:ext cx="0" cy="45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359" name="Rectangle 15"/>
            <p:cNvSpPr>
              <a:spLocks noChangeArrowheads="1"/>
            </p:cNvSpPr>
            <p:nvPr/>
          </p:nvSpPr>
          <p:spPr bwMode="auto">
            <a:xfrm>
              <a:off x="2027" y="2922"/>
              <a:ext cx="40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zh-CN" sz="2000" b="1">
                  <a:solidFill>
                    <a:schemeClr val="accent2"/>
                  </a:solidFill>
                </a:rPr>
                <a:t>011</a:t>
              </a:r>
            </a:p>
          </p:txBody>
        </p:sp>
      </p:grpSp>
      <p:sp>
        <p:nvSpPr>
          <p:cNvPr id="697360" name="Rectangle 16"/>
          <p:cNvSpPr>
            <a:spLocks noChangeArrowheads="1"/>
          </p:cNvSpPr>
          <p:nvPr/>
        </p:nvSpPr>
        <p:spPr bwMode="auto">
          <a:xfrm>
            <a:off x="1541209" y="4567238"/>
            <a:ext cx="17160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二进制数：</a:t>
            </a:r>
          </a:p>
        </p:txBody>
      </p:sp>
      <p:grpSp>
        <p:nvGrpSpPr>
          <p:cNvPr id="697377" name="Group 33"/>
          <p:cNvGrpSpPr>
            <a:grpSpLocks/>
          </p:cNvGrpSpPr>
          <p:nvPr/>
        </p:nvGrpSpPr>
        <p:grpSpPr bwMode="auto">
          <a:xfrm>
            <a:off x="3757359" y="3862388"/>
            <a:ext cx="647700" cy="1174750"/>
            <a:chOff x="2027" y="2432"/>
            <a:chExt cx="408" cy="740"/>
          </a:xfrm>
        </p:grpSpPr>
        <p:sp>
          <p:nvSpPr>
            <p:cNvPr id="697378" name="Line 34"/>
            <p:cNvSpPr>
              <a:spLocks noChangeShapeType="1"/>
            </p:cNvSpPr>
            <p:nvPr/>
          </p:nvSpPr>
          <p:spPr bwMode="auto">
            <a:xfrm>
              <a:off x="2196" y="2432"/>
              <a:ext cx="0" cy="45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379" name="Rectangle 35"/>
            <p:cNvSpPr>
              <a:spLocks noChangeArrowheads="1"/>
            </p:cNvSpPr>
            <p:nvPr/>
          </p:nvSpPr>
          <p:spPr bwMode="auto">
            <a:xfrm>
              <a:off x="2027" y="2922"/>
              <a:ext cx="40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zh-CN" sz="2000" b="1">
                  <a:solidFill>
                    <a:schemeClr val="accent2"/>
                  </a:solidFill>
                </a:rPr>
                <a:t>100</a:t>
              </a:r>
            </a:p>
          </p:txBody>
        </p:sp>
      </p:grpSp>
      <p:grpSp>
        <p:nvGrpSpPr>
          <p:cNvPr id="697380" name="Group 36"/>
          <p:cNvGrpSpPr>
            <a:grpSpLocks/>
          </p:cNvGrpSpPr>
          <p:nvPr/>
        </p:nvGrpSpPr>
        <p:grpSpPr bwMode="auto">
          <a:xfrm>
            <a:off x="4273297" y="3863975"/>
            <a:ext cx="647700" cy="1174750"/>
            <a:chOff x="2027" y="2432"/>
            <a:chExt cx="408" cy="740"/>
          </a:xfrm>
        </p:grpSpPr>
        <p:sp>
          <p:nvSpPr>
            <p:cNvPr id="697381" name="Line 37"/>
            <p:cNvSpPr>
              <a:spLocks noChangeShapeType="1"/>
            </p:cNvSpPr>
            <p:nvPr/>
          </p:nvSpPr>
          <p:spPr bwMode="auto">
            <a:xfrm>
              <a:off x="2196" y="2432"/>
              <a:ext cx="0" cy="45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382" name="Rectangle 38"/>
            <p:cNvSpPr>
              <a:spLocks noChangeArrowheads="1"/>
            </p:cNvSpPr>
            <p:nvPr/>
          </p:nvSpPr>
          <p:spPr bwMode="auto">
            <a:xfrm>
              <a:off x="2027" y="2922"/>
              <a:ext cx="40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zh-CN" sz="2000" b="1">
                  <a:solidFill>
                    <a:schemeClr val="accent2"/>
                  </a:solidFill>
                </a:rPr>
                <a:t>101</a:t>
              </a:r>
            </a:p>
          </p:txBody>
        </p:sp>
      </p:grpSp>
      <p:grpSp>
        <p:nvGrpSpPr>
          <p:cNvPr id="697383" name="Group 39"/>
          <p:cNvGrpSpPr>
            <a:grpSpLocks/>
          </p:cNvGrpSpPr>
          <p:nvPr/>
        </p:nvGrpSpPr>
        <p:grpSpPr bwMode="auto">
          <a:xfrm>
            <a:off x="4689222" y="3865563"/>
            <a:ext cx="647700" cy="1174750"/>
            <a:chOff x="2027" y="2432"/>
            <a:chExt cx="408" cy="740"/>
          </a:xfrm>
        </p:grpSpPr>
        <p:sp>
          <p:nvSpPr>
            <p:cNvPr id="697384" name="Line 40"/>
            <p:cNvSpPr>
              <a:spLocks noChangeShapeType="1"/>
            </p:cNvSpPr>
            <p:nvPr/>
          </p:nvSpPr>
          <p:spPr bwMode="auto">
            <a:xfrm>
              <a:off x="2196" y="2432"/>
              <a:ext cx="0" cy="45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385" name="Rectangle 41"/>
            <p:cNvSpPr>
              <a:spLocks noChangeArrowheads="1"/>
            </p:cNvSpPr>
            <p:nvPr/>
          </p:nvSpPr>
          <p:spPr bwMode="auto">
            <a:xfrm>
              <a:off x="2027" y="2922"/>
              <a:ext cx="40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zh-CN" sz="2000" b="1">
                  <a:solidFill>
                    <a:schemeClr val="accent2"/>
                  </a:solidFill>
                </a:rPr>
                <a:t>  .</a:t>
              </a:r>
            </a:p>
          </p:txBody>
        </p:sp>
      </p:grpSp>
      <p:grpSp>
        <p:nvGrpSpPr>
          <p:cNvPr id="697386" name="Group 42"/>
          <p:cNvGrpSpPr>
            <a:grpSpLocks/>
          </p:cNvGrpSpPr>
          <p:nvPr/>
        </p:nvGrpSpPr>
        <p:grpSpPr bwMode="auto">
          <a:xfrm>
            <a:off x="5117847" y="3851275"/>
            <a:ext cx="647700" cy="1174750"/>
            <a:chOff x="2027" y="2432"/>
            <a:chExt cx="408" cy="740"/>
          </a:xfrm>
        </p:grpSpPr>
        <p:sp>
          <p:nvSpPr>
            <p:cNvPr id="697387" name="Line 43"/>
            <p:cNvSpPr>
              <a:spLocks noChangeShapeType="1"/>
            </p:cNvSpPr>
            <p:nvPr/>
          </p:nvSpPr>
          <p:spPr bwMode="auto">
            <a:xfrm>
              <a:off x="2196" y="2432"/>
              <a:ext cx="0" cy="45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388" name="Rectangle 44"/>
            <p:cNvSpPr>
              <a:spLocks noChangeArrowheads="1"/>
            </p:cNvSpPr>
            <p:nvPr/>
          </p:nvSpPr>
          <p:spPr bwMode="auto">
            <a:xfrm>
              <a:off x="2027" y="2922"/>
              <a:ext cx="40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zh-CN" sz="2000" b="1">
                  <a:solidFill>
                    <a:schemeClr val="accent2"/>
                  </a:solidFill>
                </a:rPr>
                <a:t>110</a:t>
              </a:r>
            </a:p>
          </p:txBody>
        </p:sp>
      </p:grpSp>
      <p:grpSp>
        <p:nvGrpSpPr>
          <p:cNvPr id="697389" name="Group 45"/>
          <p:cNvGrpSpPr>
            <a:grpSpLocks/>
          </p:cNvGrpSpPr>
          <p:nvPr/>
        </p:nvGrpSpPr>
        <p:grpSpPr bwMode="auto">
          <a:xfrm>
            <a:off x="5662359" y="3852863"/>
            <a:ext cx="647700" cy="1174750"/>
            <a:chOff x="2027" y="2432"/>
            <a:chExt cx="408" cy="740"/>
          </a:xfrm>
        </p:grpSpPr>
        <p:sp>
          <p:nvSpPr>
            <p:cNvPr id="697390" name="Line 46"/>
            <p:cNvSpPr>
              <a:spLocks noChangeShapeType="1"/>
            </p:cNvSpPr>
            <p:nvPr/>
          </p:nvSpPr>
          <p:spPr bwMode="auto">
            <a:xfrm>
              <a:off x="2196" y="2432"/>
              <a:ext cx="0" cy="45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391" name="Rectangle 47"/>
            <p:cNvSpPr>
              <a:spLocks noChangeArrowheads="1"/>
            </p:cNvSpPr>
            <p:nvPr/>
          </p:nvSpPr>
          <p:spPr bwMode="auto">
            <a:xfrm>
              <a:off x="2027" y="2922"/>
              <a:ext cx="40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zh-CN" sz="2000" b="1">
                  <a:solidFill>
                    <a:schemeClr val="accent2"/>
                  </a:solidFill>
                </a:rPr>
                <a:t>100</a:t>
              </a:r>
            </a:p>
          </p:txBody>
        </p:sp>
      </p:grpSp>
      <p:grpSp>
        <p:nvGrpSpPr>
          <p:cNvPr id="697395" name="Group 51"/>
          <p:cNvGrpSpPr>
            <a:grpSpLocks/>
          </p:cNvGrpSpPr>
          <p:nvPr/>
        </p:nvGrpSpPr>
        <p:grpSpPr bwMode="auto">
          <a:xfrm>
            <a:off x="-5016" y="0"/>
            <a:ext cx="446088" cy="6858000"/>
            <a:chOff x="0" y="0"/>
            <a:chExt cx="281" cy="4320"/>
          </a:xfrm>
        </p:grpSpPr>
        <p:sp>
          <p:nvSpPr>
            <p:cNvPr id="697396" name="Text Box 52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</a:rPr>
                <a:t>第三版</a:t>
              </a: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第一章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预备知识</a:t>
              </a:r>
            </a:p>
          </p:txBody>
        </p:sp>
        <p:sp>
          <p:nvSpPr>
            <p:cNvPr id="697397" name="Text Box 53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73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697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6973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6973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973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973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973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2" dur="2000"/>
                                        <p:tgtEl>
                                          <p:spTgt spid="6973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7" dur="2000"/>
                                        <p:tgtEl>
                                          <p:spTgt spid="6973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" dur="2000"/>
                                        <p:tgtEl>
                                          <p:spTgt spid="6973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7" dur="2000"/>
                                        <p:tgtEl>
                                          <p:spTgt spid="6973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2" dur="2000"/>
                                        <p:tgtEl>
                                          <p:spTgt spid="6973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7" dur="2000"/>
                                        <p:tgtEl>
                                          <p:spTgt spid="6973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6973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7349" grpId="0" build="p" bldLvl="5" autoUpdateAnimBg="0"/>
      <p:bldP spid="697350" grpId="0"/>
      <p:bldP spid="697351" grpId="0" animBg="1" autoUpdateAnimBg="0"/>
      <p:bldP spid="697352" grpId="0"/>
      <p:bldP spid="697353" grpId="0"/>
      <p:bldP spid="697354" grpId="0"/>
      <p:bldP spid="69736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374" name="Rectangle 6"/>
          <p:cNvSpPr>
            <a:spLocks noChangeArrowheads="1"/>
          </p:cNvSpPr>
          <p:nvPr/>
        </p:nvSpPr>
        <p:spPr bwMode="auto">
          <a:xfrm>
            <a:off x="750635" y="404814"/>
            <a:ext cx="820896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>
            <a:spAutoFit/>
          </a:bodyPr>
          <a:lstStyle/>
          <a:p>
            <a:pPr marL="457200" indent="-457200">
              <a:spcBef>
                <a:spcPct val="20000"/>
              </a:spcBef>
              <a:buClr>
                <a:srgbClr val="0099FF"/>
              </a:buClr>
              <a:buFont typeface="Wingdings" pitchFamily="2" charset="2"/>
              <a:buChar char="l"/>
            </a:pPr>
            <a:r>
              <a:rPr lang="zh-CN" altLang="en-US" sz="3200" dirty="0">
                <a:solidFill>
                  <a:srgbClr val="0099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二进制、八进制、十六进制之间的转换</a:t>
            </a:r>
          </a:p>
        </p:txBody>
      </p:sp>
      <p:sp>
        <p:nvSpPr>
          <p:cNvPr id="698376" name="Rectangle 8"/>
          <p:cNvSpPr>
            <a:spLocks noChangeArrowheads="1"/>
          </p:cNvSpPr>
          <p:nvPr/>
        </p:nvSpPr>
        <p:spPr bwMode="auto">
          <a:xfrm>
            <a:off x="1415480" y="2924944"/>
            <a:ext cx="680930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例：</a:t>
            </a:r>
            <a:r>
              <a:rPr lang="zh-CN" altLang="en-US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将二进制数</a:t>
            </a:r>
            <a:r>
              <a:rPr lang="en-US" altLang="zh-CN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(1101101.10101)</a:t>
            </a:r>
            <a:r>
              <a:rPr lang="en-US" altLang="zh-CN" baseline="-30000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zh-CN" altLang="en-US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转换成</a:t>
            </a:r>
            <a:r>
              <a:rPr lang="en-US" altLang="zh-CN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16</a:t>
            </a:r>
            <a:r>
              <a:rPr lang="zh-CN" altLang="en-US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进制数</a:t>
            </a:r>
          </a:p>
        </p:txBody>
      </p:sp>
      <p:sp>
        <p:nvSpPr>
          <p:cNvPr id="698377" name="Rectangle 9"/>
          <p:cNvSpPr>
            <a:spLocks noChangeArrowheads="1"/>
          </p:cNvSpPr>
          <p:nvPr/>
        </p:nvSpPr>
        <p:spPr bwMode="auto">
          <a:xfrm>
            <a:off x="2063701" y="5181425"/>
            <a:ext cx="61928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所以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(1101101.10101)</a:t>
            </a:r>
            <a:r>
              <a:rPr lang="en-US" altLang="zh-CN" b="1" baseline="-300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2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＝ 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(6D.A8)</a:t>
            </a:r>
            <a:r>
              <a:rPr lang="en-US" altLang="zh-CN" b="1" baseline="-300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16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698378" name="Rectangle 10"/>
          <p:cNvSpPr>
            <a:spLocks noChangeArrowheads="1"/>
          </p:cNvSpPr>
          <p:nvPr/>
        </p:nvSpPr>
        <p:spPr bwMode="auto">
          <a:xfrm>
            <a:off x="2063700" y="3443112"/>
            <a:ext cx="56880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二进制数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：</a:t>
            </a:r>
            <a:r>
              <a:rPr lang="zh-CN" altLang="en-US" b="1" u="sng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altLang="zh-CN" b="1" u="sng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0110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</a:t>
            </a:r>
            <a:r>
              <a:rPr lang="en-US" altLang="zh-CN" b="1" u="sng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1101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.  </a:t>
            </a:r>
            <a:r>
              <a:rPr lang="en-US" altLang="zh-CN" b="1" u="sng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1010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</a:t>
            </a:r>
            <a:r>
              <a:rPr lang="en-US" altLang="zh-CN" b="1" u="sng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1000</a:t>
            </a:r>
          </a:p>
        </p:txBody>
      </p:sp>
      <p:sp>
        <p:nvSpPr>
          <p:cNvPr id="698379" name="Line 11"/>
          <p:cNvSpPr>
            <a:spLocks noChangeShapeType="1"/>
          </p:cNvSpPr>
          <p:nvPr/>
        </p:nvSpPr>
        <p:spPr bwMode="auto">
          <a:xfrm flipH="1">
            <a:off x="3792488" y="3363737"/>
            <a:ext cx="1008063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stealth" w="lg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98380" name="Line 12"/>
          <p:cNvSpPr>
            <a:spLocks noChangeShapeType="1"/>
          </p:cNvSpPr>
          <p:nvPr/>
        </p:nvSpPr>
        <p:spPr bwMode="auto">
          <a:xfrm>
            <a:off x="4943426" y="3363737"/>
            <a:ext cx="7207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stealth" w="lg" len="lg"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698381" name="Group 13"/>
          <p:cNvGrpSpPr>
            <a:grpSpLocks/>
          </p:cNvGrpSpPr>
          <p:nvPr/>
        </p:nvGrpSpPr>
        <p:grpSpPr bwMode="auto">
          <a:xfrm>
            <a:off x="3914726" y="3868562"/>
            <a:ext cx="358775" cy="1174750"/>
            <a:chOff x="2087" y="2432"/>
            <a:chExt cx="226" cy="740"/>
          </a:xfrm>
        </p:grpSpPr>
        <p:sp>
          <p:nvSpPr>
            <p:cNvPr id="698382" name="Line 14"/>
            <p:cNvSpPr>
              <a:spLocks noChangeShapeType="1"/>
            </p:cNvSpPr>
            <p:nvPr/>
          </p:nvSpPr>
          <p:spPr bwMode="auto">
            <a:xfrm>
              <a:off x="2196" y="2432"/>
              <a:ext cx="0" cy="45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8383" name="Rectangle 15"/>
            <p:cNvSpPr>
              <a:spLocks noChangeArrowheads="1"/>
            </p:cNvSpPr>
            <p:nvPr/>
          </p:nvSpPr>
          <p:spPr bwMode="auto">
            <a:xfrm>
              <a:off x="2087" y="2922"/>
              <a:ext cx="22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zh-CN" sz="2000" b="1">
                  <a:solidFill>
                    <a:schemeClr val="accent2"/>
                  </a:solidFill>
                </a:rPr>
                <a:t>6</a:t>
              </a:r>
            </a:p>
          </p:txBody>
        </p:sp>
      </p:grpSp>
      <p:sp>
        <p:nvSpPr>
          <p:cNvPr id="698384" name="Rectangle 16"/>
          <p:cNvSpPr>
            <a:spLocks noChangeArrowheads="1"/>
          </p:cNvSpPr>
          <p:nvPr/>
        </p:nvSpPr>
        <p:spPr bwMode="auto">
          <a:xfrm>
            <a:off x="1733501" y="4575000"/>
            <a:ext cx="20224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十六进制数：</a:t>
            </a:r>
          </a:p>
        </p:txBody>
      </p:sp>
      <p:grpSp>
        <p:nvGrpSpPr>
          <p:cNvPr id="698385" name="Group 17"/>
          <p:cNvGrpSpPr>
            <a:grpSpLocks/>
          </p:cNvGrpSpPr>
          <p:nvPr/>
        </p:nvGrpSpPr>
        <p:grpSpPr bwMode="auto">
          <a:xfrm>
            <a:off x="4716413" y="3870150"/>
            <a:ext cx="358775" cy="1174750"/>
            <a:chOff x="2087" y="2432"/>
            <a:chExt cx="226" cy="740"/>
          </a:xfrm>
        </p:grpSpPr>
        <p:sp>
          <p:nvSpPr>
            <p:cNvPr id="698386" name="Line 18"/>
            <p:cNvSpPr>
              <a:spLocks noChangeShapeType="1"/>
            </p:cNvSpPr>
            <p:nvPr/>
          </p:nvSpPr>
          <p:spPr bwMode="auto">
            <a:xfrm>
              <a:off x="2196" y="2432"/>
              <a:ext cx="0" cy="45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8387" name="Rectangle 19"/>
            <p:cNvSpPr>
              <a:spLocks noChangeArrowheads="1"/>
            </p:cNvSpPr>
            <p:nvPr/>
          </p:nvSpPr>
          <p:spPr bwMode="auto">
            <a:xfrm>
              <a:off x="2087" y="2922"/>
              <a:ext cx="22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zh-CN" sz="2000" b="1">
                  <a:solidFill>
                    <a:schemeClr val="accent2"/>
                  </a:solidFill>
                </a:rPr>
                <a:t>D</a:t>
              </a:r>
            </a:p>
          </p:txBody>
        </p:sp>
      </p:grpSp>
      <p:grpSp>
        <p:nvGrpSpPr>
          <p:cNvPr id="698391" name="Group 23"/>
          <p:cNvGrpSpPr>
            <a:grpSpLocks/>
          </p:cNvGrpSpPr>
          <p:nvPr/>
        </p:nvGrpSpPr>
        <p:grpSpPr bwMode="auto">
          <a:xfrm>
            <a:off x="5305376" y="3859037"/>
            <a:ext cx="358775" cy="1174750"/>
            <a:chOff x="2087" y="2432"/>
            <a:chExt cx="226" cy="740"/>
          </a:xfrm>
        </p:grpSpPr>
        <p:sp>
          <p:nvSpPr>
            <p:cNvPr id="698392" name="Line 24"/>
            <p:cNvSpPr>
              <a:spLocks noChangeShapeType="1"/>
            </p:cNvSpPr>
            <p:nvPr/>
          </p:nvSpPr>
          <p:spPr bwMode="auto">
            <a:xfrm>
              <a:off x="2196" y="2432"/>
              <a:ext cx="0" cy="45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8393" name="Rectangle 25"/>
            <p:cNvSpPr>
              <a:spLocks noChangeArrowheads="1"/>
            </p:cNvSpPr>
            <p:nvPr/>
          </p:nvSpPr>
          <p:spPr bwMode="auto">
            <a:xfrm>
              <a:off x="2087" y="2922"/>
              <a:ext cx="22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zh-CN" sz="2000" b="1">
                  <a:solidFill>
                    <a:schemeClr val="accent2"/>
                  </a:solidFill>
                </a:rPr>
                <a:t> .</a:t>
              </a:r>
            </a:p>
          </p:txBody>
        </p:sp>
      </p:grpSp>
      <p:grpSp>
        <p:nvGrpSpPr>
          <p:cNvPr id="698394" name="Group 26"/>
          <p:cNvGrpSpPr>
            <a:grpSpLocks/>
          </p:cNvGrpSpPr>
          <p:nvPr/>
        </p:nvGrpSpPr>
        <p:grpSpPr bwMode="auto">
          <a:xfrm>
            <a:off x="5791151" y="3873325"/>
            <a:ext cx="358775" cy="1174750"/>
            <a:chOff x="2087" y="2432"/>
            <a:chExt cx="226" cy="740"/>
          </a:xfrm>
        </p:grpSpPr>
        <p:sp>
          <p:nvSpPr>
            <p:cNvPr id="698395" name="Line 27"/>
            <p:cNvSpPr>
              <a:spLocks noChangeShapeType="1"/>
            </p:cNvSpPr>
            <p:nvPr/>
          </p:nvSpPr>
          <p:spPr bwMode="auto">
            <a:xfrm>
              <a:off x="2196" y="2432"/>
              <a:ext cx="0" cy="45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8396" name="Rectangle 28"/>
            <p:cNvSpPr>
              <a:spLocks noChangeArrowheads="1"/>
            </p:cNvSpPr>
            <p:nvPr/>
          </p:nvSpPr>
          <p:spPr bwMode="auto">
            <a:xfrm>
              <a:off x="2087" y="2922"/>
              <a:ext cx="22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zh-CN" sz="2000" b="1">
                  <a:solidFill>
                    <a:schemeClr val="accent2"/>
                  </a:solidFill>
                </a:rPr>
                <a:t>A</a:t>
              </a:r>
            </a:p>
          </p:txBody>
        </p:sp>
      </p:grpSp>
      <p:grpSp>
        <p:nvGrpSpPr>
          <p:cNvPr id="698397" name="Group 29"/>
          <p:cNvGrpSpPr>
            <a:grpSpLocks/>
          </p:cNvGrpSpPr>
          <p:nvPr/>
        </p:nvGrpSpPr>
        <p:grpSpPr bwMode="auto">
          <a:xfrm>
            <a:off x="6635701" y="3874912"/>
            <a:ext cx="358775" cy="1174750"/>
            <a:chOff x="2087" y="2432"/>
            <a:chExt cx="226" cy="740"/>
          </a:xfrm>
        </p:grpSpPr>
        <p:sp>
          <p:nvSpPr>
            <p:cNvPr id="698398" name="Line 30"/>
            <p:cNvSpPr>
              <a:spLocks noChangeShapeType="1"/>
            </p:cNvSpPr>
            <p:nvPr/>
          </p:nvSpPr>
          <p:spPr bwMode="auto">
            <a:xfrm>
              <a:off x="2196" y="2432"/>
              <a:ext cx="0" cy="45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8399" name="Rectangle 31"/>
            <p:cNvSpPr>
              <a:spLocks noChangeArrowheads="1"/>
            </p:cNvSpPr>
            <p:nvPr/>
          </p:nvSpPr>
          <p:spPr bwMode="auto">
            <a:xfrm>
              <a:off x="2087" y="2922"/>
              <a:ext cx="22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zh-CN" sz="2000" b="1">
                  <a:solidFill>
                    <a:schemeClr val="accent2"/>
                  </a:solidFill>
                </a:rPr>
                <a:t>8</a:t>
              </a:r>
            </a:p>
          </p:txBody>
        </p:sp>
      </p:grpSp>
      <p:sp>
        <p:nvSpPr>
          <p:cNvPr id="698400" name="Text Box 32"/>
          <p:cNvSpPr txBox="1">
            <a:spLocks noChangeArrowheads="1"/>
          </p:cNvSpPr>
          <p:nvPr/>
        </p:nvSpPr>
        <p:spPr bwMode="auto">
          <a:xfrm>
            <a:off x="10056440" y="739725"/>
            <a:ext cx="1482803" cy="6001643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0000 ~ 0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0001 ~ 1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0010 ~ 2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0011 ~ 3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0100 ~ 4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0101 ~ 5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0110 ~ 6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0111 ~ 7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1000 ~ 8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1001 ~ 9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1010 ~ A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1011 ~ B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1100 ~ C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1101 ~ D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1110 ~ E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1111 ~ F</a:t>
            </a:r>
          </a:p>
        </p:txBody>
      </p:sp>
      <p:grpSp>
        <p:nvGrpSpPr>
          <p:cNvPr id="698404" name="Group 36"/>
          <p:cNvGrpSpPr>
            <a:grpSpLocks/>
          </p:cNvGrpSpPr>
          <p:nvPr/>
        </p:nvGrpSpPr>
        <p:grpSpPr bwMode="auto">
          <a:xfrm>
            <a:off x="-5016" y="0"/>
            <a:ext cx="446088" cy="6858000"/>
            <a:chOff x="0" y="0"/>
            <a:chExt cx="281" cy="4320"/>
          </a:xfrm>
        </p:grpSpPr>
        <p:sp>
          <p:nvSpPr>
            <p:cNvPr id="698405" name="Text Box 37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</a:rPr>
                <a:t>第三版</a:t>
              </a: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第一章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预备知识</a:t>
              </a:r>
            </a:p>
          </p:txBody>
        </p:sp>
        <p:sp>
          <p:nvSpPr>
            <p:cNvPr id="698406" name="Text Box 38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750560" y="1196752"/>
            <a:ext cx="9089856" cy="13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buFont typeface="Wingdings" pitchFamily="2" charset="2"/>
              <a:buChar char="ü"/>
            </a:pPr>
            <a:r>
              <a:rPr lang="zh-CN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二进制 </a:t>
            </a:r>
            <a:r>
              <a:rPr lang="zh-CN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  <a:sym typeface="Wingdings" pitchFamily="2" charset="2"/>
              </a:rPr>
              <a:t> </a:t>
            </a:r>
            <a:r>
              <a:rPr lang="zh-CN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十六进制</a:t>
            </a:r>
            <a:endParaRPr lang="en-US" altLang="zh-CN" b="1" dirty="0">
              <a:latin typeface="楷体" pitchFamily="49" charset="-122"/>
              <a:ea typeface="楷体" pitchFamily="49" charset="-122"/>
            </a:endParaRPr>
          </a:p>
          <a:p>
            <a:pPr>
              <a:lnSpc>
                <a:spcPts val="3500"/>
              </a:lnSpc>
            </a:pPr>
            <a:r>
              <a:rPr lang="zh-CN" altLang="en-US" b="1" dirty="0">
                <a:solidFill>
                  <a:srgbClr val="0000FF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楷体" pitchFamily="49" charset="-122"/>
                <a:ea typeface="楷体" pitchFamily="49" charset="-122"/>
              </a:rPr>
              <a:t>    方法：</a:t>
            </a:r>
            <a:r>
              <a:rPr lang="zh-CN" altLang="en-US" b="1" dirty="0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楷体" pitchFamily="49" charset="-122"/>
                <a:ea typeface="楷体" pitchFamily="49" charset="-122"/>
              </a:rPr>
              <a:t>从小数点开始，分别向左、右按</a:t>
            </a:r>
            <a:r>
              <a:rPr lang="en-US" altLang="zh-CN" b="1" dirty="0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楷体" pitchFamily="49" charset="-122"/>
                <a:ea typeface="楷体" pitchFamily="49" charset="-122"/>
              </a:rPr>
              <a:t>4</a:t>
            </a:r>
            <a:r>
              <a:rPr lang="zh-CN" altLang="en-US" b="1" dirty="0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楷体" pitchFamily="49" charset="-122"/>
                <a:ea typeface="楷体" pitchFamily="49" charset="-122"/>
              </a:rPr>
              <a:t>位分组转换成对应的十六进制数字字符，最后不满</a:t>
            </a:r>
            <a:r>
              <a:rPr lang="en-US" altLang="zh-CN" b="1" dirty="0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楷体" pitchFamily="49" charset="-122"/>
                <a:ea typeface="楷体" pitchFamily="49" charset="-122"/>
              </a:rPr>
              <a:t>4</a:t>
            </a:r>
            <a:r>
              <a:rPr lang="zh-CN" altLang="en-US" b="1" dirty="0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楷体" pitchFamily="49" charset="-122"/>
                <a:ea typeface="楷体" pitchFamily="49" charset="-122"/>
              </a:rPr>
              <a:t>位的，则需补</a:t>
            </a:r>
            <a:r>
              <a:rPr lang="en-US" altLang="zh-CN" b="1" dirty="0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楷体" pitchFamily="49" charset="-122"/>
                <a:ea typeface="楷体" pitchFamily="49" charset="-122"/>
              </a:rPr>
              <a:t>0</a:t>
            </a:r>
            <a:r>
              <a:rPr lang="zh-CN" altLang="en-US" b="1" dirty="0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楷体" pitchFamily="49" charset="-122"/>
                <a:ea typeface="楷体" pitchFamily="49" charset="-122"/>
              </a:rPr>
              <a:t>。</a:t>
            </a:r>
            <a:endParaRPr lang="zh-CN" altLang="en-US" dirty="0"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83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6984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983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6983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pu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6983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pu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983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983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" dur="2000"/>
                                        <p:tgtEl>
                                          <p:spTgt spid="6983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7" dur="2000"/>
                                        <p:tgtEl>
                                          <p:spTgt spid="6983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2" dur="2000"/>
                                        <p:tgtEl>
                                          <p:spTgt spid="6983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7" dur="2000"/>
                                        <p:tgtEl>
                                          <p:spTgt spid="6983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2" dur="2000"/>
                                        <p:tgtEl>
                                          <p:spTgt spid="6983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6983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8374" grpId="0"/>
      <p:bldP spid="698376" grpId="0"/>
      <p:bldP spid="698377" grpId="0"/>
      <p:bldP spid="698378" grpId="0"/>
      <p:bldP spid="698379" grpId="0" animBg="1"/>
      <p:bldP spid="698380" grpId="0" animBg="1"/>
      <p:bldP spid="698384" grpId="0"/>
      <p:bldP spid="698400" grpId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397" name="Rectangle 5"/>
          <p:cNvSpPr>
            <a:spLocks noChangeArrowheads="1"/>
          </p:cNvSpPr>
          <p:nvPr/>
        </p:nvSpPr>
        <p:spPr bwMode="auto">
          <a:xfrm>
            <a:off x="822073" y="1196976"/>
            <a:ext cx="7704137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ts val="3500"/>
              </a:lnSpc>
              <a:spcBef>
                <a:spcPct val="20000"/>
              </a:spcBef>
              <a:buFont typeface="Wingdings" pitchFamily="2" charset="2"/>
              <a:buChar char="ü"/>
            </a:pPr>
            <a:r>
              <a:rPr lang="zh-CN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十六进制 </a:t>
            </a:r>
            <a:r>
              <a:rPr lang="zh-CN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  <a:sym typeface="Wingdings" pitchFamily="2" charset="2"/>
              </a:rPr>
              <a:t> </a:t>
            </a:r>
            <a:r>
              <a:rPr lang="zh-CN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二进制</a:t>
            </a:r>
          </a:p>
          <a:p>
            <a:pPr>
              <a:lnSpc>
                <a:spcPts val="3500"/>
              </a:lnSpc>
              <a:spcBef>
                <a:spcPct val="20000"/>
              </a:spcBef>
            </a:pPr>
            <a:r>
              <a:rPr lang="zh-CN" altLang="en-US" sz="32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 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方法：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将每位十六进制数用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4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位二进制表示即可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。</a:t>
            </a:r>
            <a:r>
              <a:rPr lang="zh-CN" altLang="en-US" sz="36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</a:p>
        </p:txBody>
      </p:sp>
      <p:sp>
        <p:nvSpPr>
          <p:cNvPr id="699398" name="Rectangle 6"/>
          <p:cNvSpPr>
            <a:spLocks noChangeArrowheads="1"/>
          </p:cNvSpPr>
          <p:nvPr/>
        </p:nvSpPr>
        <p:spPr bwMode="auto">
          <a:xfrm>
            <a:off x="750635" y="404814"/>
            <a:ext cx="820896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>
            <a:spAutoFit/>
          </a:bodyPr>
          <a:lstStyle/>
          <a:p>
            <a:pPr marL="457200" indent="-457200">
              <a:spcBef>
                <a:spcPct val="20000"/>
              </a:spcBef>
              <a:buClr>
                <a:srgbClr val="0099FF"/>
              </a:buClr>
              <a:buFont typeface="Wingdings" pitchFamily="2" charset="2"/>
              <a:buChar char="l"/>
            </a:pPr>
            <a:r>
              <a:rPr lang="zh-CN" altLang="en-US" sz="3200">
                <a:solidFill>
                  <a:srgbClr val="0099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二进制、八进制、十六进制之间的转换</a:t>
            </a:r>
          </a:p>
        </p:txBody>
      </p:sp>
      <p:sp>
        <p:nvSpPr>
          <p:cNvPr id="699400" name="Rectangle 8"/>
          <p:cNvSpPr>
            <a:spLocks noChangeArrowheads="1"/>
          </p:cNvSpPr>
          <p:nvPr/>
        </p:nvSpPr>
        <p:spPr bwMode="auto">
          <a:xfrm>
            <a:off x="1079248" y="2847975"/>
            <a:ext cx="66246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zh-CN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例：将十六进制数</a:t>
            </a:r>
            <a:r>
              <a:rPr lang="en-US" altLang="zh-CN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(A9D.6C)</a:t>
            </a:r>
            <a:r>
              <a:rPr lang="en-US" altLang="zh-CN" b="1" baseline="-30000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16</a:t>
            </a:r>
            <a:r>
              <a:rPr lang="zh-CN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转换成二进制数</a:t>
            </a:r>
          </a:p>
        </p:txBody>
      </p:sp>
      <p:sp>
        <p:nvSpPr>
          <p:cNvPr id="699401" name="Rectangle 9"/>
          <p:cNvSpPr>
            <a:spLocks noChangeArrowheads="1"/>
          </p:cNvSpPr>
          <p:nvPr/>
        </p:nvSpPr>
        <p:spPr bwMode="auto">
          <a:xfrm>
            <a:off x="1542798" y="5487988"/>
            <a:ext cx="61928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所以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(A9D.6C)</a:t>
            </a:r>
            <a:r>
              <a:rPr lang="en-US" altLang="zh-CN" b="1" baseline="-300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16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＝ 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(101010011101.011011)</a:t>
            </a:r>
            <a:r>
              <a:rPr lang="en-US" altLang="zh-CN" b="1" baseline="-300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2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699402" name="Rectangle 10"/>
          <p:cNvSpPr>
            <a:spLocks noChangeArrowheads="1"/>
          </p:cNvSpPr>
          <p:nvPr/>
        </p:nvSpPr>
        <p:spPr bwMode="auto">
          <a:xfrm>
            <a:off x="1542798" y="3435350"/>
            <a:ext cx="57610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十六进制数：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</a:t>
            </a:r>
            <a:r>
              <a:rPr lang="en-US" altLang="zh-CN" b="1" u="sng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A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</a:t>
            </a:r>
            <a:r>
              <a:rPr lang="en-US" altLang="zh-CN" b="1" u="sng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9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</a:t>
            </a:r>
            <a:r>
              <a:rPr lang="en-US" altLang="zh-CN" b="1" u="sng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D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.     </a:t>
            </a:r>
            <a:r>
              <a:rPr lang="en-US" altLang="zh-CN" b="1" u="sng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6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</a:t>
            </a:r>
            <a:r>
              <a:rPr lang="en-US" altLang="zh-CN" b="1" u="sng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C</a:t>
            </a:r>
          </a:p>
        </p:txBody>
      </p:sp>
      <p:grpSp>
        <p:nvGrpSpPr>
          <p:cNvPr id="699423" name="Group 31"/>
          <p:cNvGrpSpPr>
            <a:grpSpLocks/>
          </p:cNvGrpSpPr>
          <p:nvPr/>
        </p:nvGrpSpPr>
        <p:grpSpPr bwMode="auto">
          <a:xfrm>
            <a:off x="3484310" y="3860800"/>
            <a:ext cx="777875" cy="1174750"/>
            <a:chOff x="2198" y="2432"/>
            <a:chExt cx="490" cy="740"/>
          </a:xfrm>
        </p:grpSpPr>
        <p:sp>
          <p:nvSpPr>
            <p:cNvPr id="699404" name="Line 12"/>
            <p:cNvSpPr>
              <a:spLocks noChangeShapeType="1"/>
            </p:cNvSpPr>
            <p:nvPr/>
          </p:nvSpPr>
          <p:spPr bwMode="auto">
            <a:xfrm>
              <a:off x="2403" y="2432"/>
              <a:ext cx="0" cy="45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9405" name="Rectangle 13"/>
            <p:cNvSpPr>
              <a:spLocks noChangeArrowheads="1"/>
            </p:cNvSpPr>
            <p:nvPr/>
          </p:nvSpPr>
          <p:spPr bwMode="auto">
            <a:xfrm>
              <a:off x="2198" y="2922"/>
              <a:ext cx="49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zh-CN" sz="2000" b="1">
                  <a:solidFill>
                    <a:schemeClr val="accent2"/>
                  </a:solidFill>
                </a:rPr>
                <a:t>1010</a:t>
              </a:r>
            </a:p>
          </p:txBody>
        </p:sp>
      </p:grpSp>
      <p:sp>
        <p:nvSpPr>
          <p:cNvPr id="699406" name="Rectangle 14"/>
          <p:cNvSpPr>
            <a:spLocks noChangeArrowheads="1"/>
          </p:cNvSpPr>
          <p:nvPr/>
        </p:nvSpPr>
        <p:spPr bwMode="auto">
          <a:xfrm>
            <a:off x="1541209" y="4567238"/>
            <a:ext cx="17160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二进制数：</a:t>
            </a:r>
          </a:p>
        </p:txBody>
      </p:sp>
      <p:sp>
        <p:nvSpPr>
          <p:cNvPr id="699422" name="Text Box 30"/>
          <p:cNvSpPr txBox="1">
            <a:spLocks noChangeArrowheads="1"/>
          </p:cNvSpPr>
          <p:nvPr/>
        </p:nvSpPr>
        <p:spPr bwMode="auto">
          <a:xfrm>
            <a:off x="9570785" y="663128"/>
            <a:ext cx="1727795" cy="6001643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0000 ~ 0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0001 ~ 1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0010 ~ 2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0011 ~ 3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0100 ~ 4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0101 ~ 5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0110 ~ 6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0111 ~ 7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1000 ~ 8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1001 ~ 9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1010 ~ A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1011 ~ B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1100 ~ C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1101 ~ D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1110 ~ E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1111 ~ F</a:t>
            </a:r>
          </a:p>
        </p:txBody>
      </p:sp>
      <p:grpSp>
        <p:nvGrpSpPr>
          <p:cNvPr id="699427" name="Group 35"/>
          <p:cNvGrpSpPr>
            <a:grpSpLocks/>
          </p:cNvGrpSpPr>
          <p:nvPr/>
        </p:nvGrpSpPr>
        <p:grpSpPr bwMode="auto">
          <a:xfrm>
            <a:off x="4128835" y="3862388"/>
            <a:ext cx="777875" cy="1174750"/>
            <a:chOff x="2198" y="2432"/>
            <a:chExt cx="490" cy="740"/>
          </a:xfrm>
        </p:grpSpPr>
        <p:sp>
          <p:nvSpPr>
            <p:cNvPr id="699428" name="Line 36"/>
            <p:cNvSpPr>
              <a:spLocks noChangeShapeType="1"/>
            </p:cNvSpPr>
            <p:nvPr/>
          </p:nvSpPr>
          <p:spPr bwMode="auto">
            <a:xfrm>
              <a:off x="2403" y="2432"/>
              <a:ext cx="0" cy="45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9429" name="Rectangle 37"/>
            <p:cNvSpPr>
              <a:spLocks noChangeArrowheads="1"/>
            </p:cNvSpPr>
            <p:nvPr/>
          </p:nvSpPr>
          <p:spPr bwMode="auto">
            <a:xfrm>
              <a:off x="2198" y="2922"/>
              <a:ext cx="49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zh-CN" sz="2000" b="1">
                  <a:solidFill>
                    <a:schemeClr val="accent2"/>
                  </a:solidFill>
                </a:rPr>
                <a:t>1001</a:t>
              </a:r>
            </a:p>
          </p:txBody>
        </p:sp>
      </p:grpSp>
      <p:grpSp>
        <p:nvGrpSpPr>
          <p:cNvPr id="699430" name="Group 38"/>
          <p:cNvGrpSpPr>
            <a:grpSpLocks/>
          </p:cNvGrpSpPr>
          <p:nvPr/>
        </p:nvGrpSpPr>
        <p:grpSpPr bwMode="auto">
          <a:xfrm>
            <a:off x="4759073" y="3863975"/>
            <a:ext cx="777875" cy="1174750"/>
            <a:chOff x="2198" y="2432"/>
            <a:chExt cx="490" cy="740"/>
          </a:xfrm>
        </p:grpSpPr>
        <p:sp>
          <p:nvSpPr>
            <p:cNvPr id="699431" name="Line 39"/>
            <p:cNvSpPr>
              <a:spLocks noChangeShapeType="1"/>
            </p:cNvSpPr>
            <p:nvPr/>
          </p:nvSpPr>
          <p:spPr bwMode="auto">
            <a:xfrm>
              <a:off x="2403" y="2432"/>
              <a:ext cx="0" cy="45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9432" name="Rectangle 40"/>
            <p:cNvSpPr>
              <a:spLocks noChangeArrowheads="1"/>
            </p:cNvSpPr>
            <p:nvPr/>
          </p:nvSpPr>
          <p:spPr bwMode="auto">
            <a:xfrm>
              <a:off x="2198" y="2922"/>
              <a:ext cx="49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zh-CN" sz="2000" b="1">
                  <a:solidFill>
                    <a:schemeClr val="accent2"/>
                  </a:solidFill>
                </a:rPr>
                <a:t>1101</a:t>
              </a:r>
            </a:p>
          </p:txBody>
        </p:sp>
      </p:grpSp>
      <p:grpSp>
        <p:nvGrpSpPr>
          <p:cNvPr id="699433" name="Group 41"/>
          <p:cNvGrpSpPr>
            <a:grpSpLocks/>
          </p:cNvGrpSpPr>
          <p:nvPr/>
        </p:nvGrpSpPr>
        <p:grpSpPr bwMode="auto">
          <a:xfrm>
            <a:off x="5303585" y="3865563"/>
            <a:ext cx="777875" cy="1174750"/>
            <a:chOff x="2198" y="2432"/>
            <a:chExt cx="490" cy="740"/>
          </a:xfrm>
        </p:grpSpPr>
        <p:sp>
          <p:nvSpPr>
            <p:cNvPr id="699434" name="Line 42"/>
            <p:cNvSpPr>
              <a:spLocks noChangeShapeType="1"/>
            </p:cNvSpPr>
            <p:nvPr/>
          </p:nvSpPr>
          <p:spPr bwMode="auto">
            <a:xfrm>
              <a:off x="2403" y="2432"/>
              <a:ext cx="0" cy="45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9435" name="Rectangle 43"/>
            <p:cNvSpPr>
              <a:spLocks noChangeArrowheads="1"/>
            </p:cNvSpPr>
            <p:nvPr/>
          </p:nvSpPr>
          <p:spPr bwMode="auto">
            <a:xfrm>
              <a:off x="2198" y="2922"/>
              <a:ext cx="49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zh-CN" sz="2000" b="1">
                  <a:solidFill>
                    <a:schemeClr val="accent2"/>
                  </a:solidFill>
                </a:rPr>
                <a:t>   .</a:t>
              </a:r>
            </a:p>
          </p:txBody>
        </p:sp>
      </p:grpSp>
      <p:grpSp>
        <p:nvGrpSpPr>
          <p:cNvPr id="699436" name="Group 44"/>
          <p:cNvGrpSpPr>
            <a:grpSpLocks/>
          </p:cNvGrpSpPr>
          <p:nvPr/>
        </p:nvGrpSpPr>
        <p:grpSpPr bwMode="auto">
          <a:xfrm>
            <a:off x="5789360" y="3879850"/>
            <a:ext cx="777875" cy="1174750"/>
            <a:chOff x="2198" y="2432"/>
            <a:chExt cx="490" cy="740"/>
          </a:xfrm>
        </p:grpSpPr>
        <p:sp>
          <p:nvSpPr>
            <p:cNvPr id="699437" name="Line 45"/>
            <p:cNvSpPr>
              <a:spLocks noChangeShapeType="1"/>
            </p:cNvSpPr>
            <p:nvPr/>
          </p:nvSpPr>
          <p:spPr bwMode="auto">
            <a:xfrm>
              <a:off x="2403" y="2432"/>
              <a:ext cx="0" cy="45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9438" name="Rectangle 46"/>
            <p:cNvSpPr>
              <a:spLocks noChangeArrowheads="1"/>
            </p:cNvSpPr>
            <p:nvPr/>
          </p:nvSpPr>
          <p:spPr bwMode="auto">
            <a:xfrm>
              <a:off x="2198" y="2922"/>
              <a:ext cx="49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zh-CN" sz="2000" b="1">
                  <a:solidFill>
                    <a:schemeClr val="accent2"/>
                  </a:solidFill>
                </a:rPr>
                <a:t>0110</a:t>
              </a:r>
            </a:p>
          </p:txBody>
        </p:sp>
      </p:grpSp>
      <p:grpSp>
        <p:nvGrpSpPr>
          <p:cNvPr id="699439" name="Group 47"/>
          <p:cNvGrpSpPr>
            <a:grpSpLocks/>
          </p:cNvGrpSpPr>
          <p:nvPr/>
        </p:nvGrpSpPr>
        <p:grpSpPr bwMode="auto">
          <a:xfrm>
            <a:off x="6448173" y="3881438"/>
            <a:ext cx="777875" cy="1174750"/>
            <a:chOff x="2198" y="2432"/>
            <a:chExt cx="490" cy="740"/>
          </a:xfrm>
        </p:grpSpPr>
        <p:sp>
          <p:nvSpPr>
            <p:cNvPr id="699440" name="Line 48"/>
            <p:cNvSpPr>
              <a:spLocks noChangeShapeType="1"/>
            </p:cNvSpPr>
            <p:nvPr/>
          </p:nvSpPr>
          <p:spPr bwMode="auto">
            <a:xfrm>
              <a:off x="2403" y="2432"/>
              <a:ext cx="0" cy="45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9441" name="Rectangle 49"/>
            <p:cNvSpPr>
              <a:spLocks noChangeArrowheads="1"/>
            </p:cNvSpPr>
            <p:nvPr/>
          </p:nvSpPr>
          <p:spPr bwMode="auto">
            <a:xfrm>
              <a:off x="2198" y="2922"/>
              <a:ext cx="49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zh-CN" sz="2000" b="1">
                  <a:solidFill>
                    <a:schemeClr val="accent2"/>
                  </a:solidFill>
                </a:rPr>
                <a:t>1100</a:t>
              </a:r>
            </a:p>
          </p:txBody>
        </p:sp>
      </p:grpSp>
      <p:sp>
        <p:nvSpPr>
          <p:cNvPr id="699442" name="AutoShape 50"/>
          <p:cNvSpPr>
            <a:spLocks noChangeArrowheads="1"/>
          </p:cNvSpPr>
          <p:nvPr/>
        </p:nvSpPr>
        <p:spPr bwMode="auto">
          <a:xfrm>
            <a:off x="1559169" y="1917551"/>
            <a:ext cx="7488832" cy="3095625"/>
          </a:xfrm>
          <a:prstGeom prst="cloudCallout">
            <a:avLst>
              <a:gd name="adj1" fmla="val -12819"/>
              <a:gd name="adj2" fmla="val 70000"/>
            </a:avLst>
          </a:prstGeom>
          <a:gradFill rotWithShape="1">
            <a:gsLst>
              <a:gs pos="0">
                <a:srgbClr val="00FFFF"/>
              </a:gs>
              <a:gs pos="100000">
                <a:schemeClr val="bg1"/>
              </a:gs>
            </a:gsLst>
            <a:lin ang="5400000" scaled="1"/>
          </a:gradFill>
          <a:ln w="25400">
            <a:solidFill>
              <a:srgbClr val="FF00FF"/>
            </a:solidFill>
            <a:round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请问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……….????</a:t>
            </a:r>
          </a:p>
          <a:p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(9FDA.4B)</a:t>
            </a:r>
            <a:r>
              <a:rPr lang="en-US" altLang="zh-CN" sz="2800" b="1" baseline="-250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16</a:t>
            </a: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= (__________)</a:t>
            </a:r>
            <a:r>
              <a:rPr lang="en-US" altLang="zh-CN" sz="2800" b="1" baseline="-250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8</a:t>
            </a:r>
          </a:p>
          <a:p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(256)</a:t>
            </a:r>
            <a:r>
              <a:rPr lang="en-US" altLang="zh-CN" sz="2800" b="1" baseline="-250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7</a:t>
            </a: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= (___________)</a:t>
            </a:r>
            <a:r>
              <a:rPr lang="en-US" altLang="zh-CN" sz="2800" b="1" baseline="-250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6</a:t>
            </a:r>
          </a:p>
        </p:txBody>
      </p:sp>
      <p:grpSp>
        <p:nvGrpSpPr>
          <p:cNvPr id="699446" name="Group 54"/>
          <p:cNvGrpSpPr>
            <a:grpSpLocks/>
          </p:cNvGrpSpPr>
          <p:nvPr/>
        </p:nvGrpSpPr>
        <p:grpSpPr bwMode="auto">
          <a:xfrm>
            <a:off x="-5016" y="0"/>
            <a:ext cx="446088" cy="6858000"/>
            <a:chOff x="0" y="0"/>
            <a:chExt cx="281" cy="4320"/>
          </a:xfrm>
        </p:grpSpPr>
        <p:sp>
          <p:nvSpPr>
            <p:cNvPr id="699447" name="Text Box 5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</a:rPr>
                <a:t>第三版</a:t>
              </a: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第一章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预备知识</a:t>
              </a:r>
            </a:p>
          </p:txBody>
        </p:sp>
        <p:sp>
          <p:nvSpPr>
            <p:cNvPr id="699448" name="Text Box 56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93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699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3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6993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6994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994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994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994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2" dur="2000"/>
                                        <p:tgtEl>
                                          <p:spTgt spid="6994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7" dur="2000"/>
                                        <p:tgtEl>
                                          <p:spTgt spid="6994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" dur="2000"/>
                                        <p:tgtEl>
                                          <p:spTgt spid="6994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7" dur="2000"/>
                                        <p:tgtEl>
                                          <p:spTgt spid="6994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2" dur="2000"/>
                                        <p:tgtEl>
                                          <p:spTgt spid="6994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7" dur="2000"/>
                                        <p:tgtEl>
                                          <p:spTgt spid="6994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6994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699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699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9397" grpId="0" build="p" bldLvl="5" autoUpdateAnimBg="0"/>
      <p:bldP spid="699398" grpId="0"/>
      <p:bldP spid="699400" grpId="0"/>
      <p:bldP spid="699401" grpId="0"/>
      <p:bldP spid="699402" grpId="0"/>
      <p:bldP spid="699406" grpId="0"/>
      <p:bldP spid="699422" grpId="0" animBg="1" autoUpdateAnimBg="0"/>
      <p:bldP spid="69944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418" name="Text Box 2"/>
          <p:cNvSpPr txBox="1">
            <a:spLocks noChangeArrowheads="1"/>
          </p:cNvSpPr>
          <p:nvPr/>
        </p:nvSpPr>
        <p:spPr bwMode="auto">
          <a:xfrm>
            <a:off x="578985" y="244475"/>
            <a:ext cx="6931025" cy="579438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kumimoji="0" lang="en-US" altLang="zh-CN" sz="32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1.3 </a:t>
            </a:r>
            <a:r>
              <a:rPr kumimoji="0" lang="zh-CN" altLang="en-US" sz="32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机器数的表示形式及其表示范围</a:t>
            </a:r>
          </a:p>
        </p:txBody>
      </p:sp>
      <p:sp>
        <p:nvSpPr>
          <p:cNvPr id="700419" name="Rectangle 3"/>
          <p:cNvSpPr>
            <a:spLocks noChangeArrowheads="1"/>
          </p:cNvSpPr>
          <p:nvPr/>
        </p:nvSpPr>
        <p:spPr bwMode="auto">
          <a:xfrm>
            <a:off x="525008" y="1000127"/>
            <a:ext cx="11187609" cy="3221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sz="32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真值与机器数</a:t>
            </a:r>
            <a:endParaRPr lang="zh-CN" altLang="en-US" sz="3200" b="1" dirty="0">
              <a:solidFill>
                <a:srgbClr val="FF0066"/>
              </a:solidFill>
              <a:effectLst>
                <a:outerShdw blurRad="38100" dist="38100" dir="2700000" algn="tl">
                  <a:srgbClr val="000000"/>
                </a:outerShdw>
              </a:effectLst>
              <a:ea typeface="隶书" pitchFamily="49" charset="-122"/>
            </a:endParaRPr>
          </a:p>
          <a:p>
            <a:pPr>
              <a:spcBef>
                <a:spcPct val="20000"/>
              </a:spcBef>
            </a:pPr>
            <a:r>
              <a:rPr lang="zh-CN" altLang="en-US" sz="3200" b="1" dirty="0">
                <a:solidFill>
                  <a:srgbClr val="0066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     </a:t>
            </a:r>
            <a:r>
              <a:rPr lang="zh-CN" alt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真值：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一个带符号数由两部分组成：一部分表示数的符号，另一部分表示数的数值。一般，直接用正号“＋”和负号“－”来表示符号的二进制数，叫做符号数的真值。</a:t>
            </a:r>
          </a:p>
          <a:p>
            <a:pPr>
              <a:spcBef>
                <a:spcPct val="20000"/>
              </a:spcBef>
            </a:pPr>
            <a:r>
              <a:rPr lang="zh-CN" alt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   </a:t>
            </a:r>
            <a:r>
              <a:rPr lang="zh-CN" alt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机器数</a:t>
            </a:r>
            <a:r>
              <a:rPr lang="zh-CN" alt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计算机中的数是用二进制来表示的，数的符号也是用二进制来表示的。把一个数连同其符号在内在机器中的表示加以数值化，这样的数称为机器数。</a:t>
            </a:r>
          </a:p>
          <a:p>
            <a:pPr>
              <a:spcBef>
                <a:spcPct val="20000"/>
              </a:spcBef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  </a:t>
            </a:r>
            <a:r>
              <a:rPr lang="zh-CN" altLang="en-US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一般用最高有效位来表示数的符号，正数用</a:t>
            </a:r>
            <a:r>
              <a:rPr lang="en-US" altLang="zh-CN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表示，负数用</a:t>
            </a:r>
            <a:r>
              <a:rPr lang="en-US" altLang="zh-CN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表示。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</p:txBody>
      </p:sp>
      <p:grpSp>
        <p:nvGrpSpPr>
          <p:cNvPr id="700438" name="Group 22"/>
          <p:cNvGrpSpPr>
            <a:grpSpLocks/>
          </p:cNvGrpSpPr>
          <p:nvPr/>
        </p:nvGrpSpPr>
        <p:grpSpPr bwMode="auto">
          <a:xfrm>
            <a:off x="1992238" y="4725148"/>
            <a:ext cx="4895850" cy="1743077"/>
            <a:chOff x="657" y="3113"/>
            <a:chExt cx="3084" cy="1098"/>
          </a:xfrm>
        </p:grpSpPr>
        <p:sp>
          <p:nvSpPr>
            <p:cNvPr id="700424" name="Text Box 8"/>
            <p:cNvSpPr txBox="1">
              <a:spLocks noChangeArrowheads="1"/>
            </p:cNvSpPr>
            <p:nvPr/>
          </p:nvSpPr>
          <p:spPr bwMode="auto">
            <a:xfrm>
              <a:off x="657" y="3113"/>
              <a:ext cx="3084" cy="64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marL="177800" indent="-177800">
                <a:spcBef>
                  <a:spcPct val="50000"/>
                </a:spcBef>
                <a:tabLst>
                  <a:tab pos="177800" algn="l"/>
                </a:tabLst>
              </a:pPr>
              <a:r>
                <a:rPr kumimoji="0" lang="zh-CN" altLang="en-US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楷体" pitchFamily="49" charset="-122"/>
                  <a:ea typeface="楷体" pitchFamily="49" charset="-122"/>
                </a:rPr>
                <a:t>真值：   </a:t>
              </a:r>
              <a:r>
                <a:rPr kumimoji="0" lang="en-US" altLang="zh-CN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+ 1 0 1 1               - 1 0 1 1</a:t>
              </a:r>
            </a:p>
            <a:p>
              <a:pPr marL="177800" indent="-177800">
                <a:spcBef>
                  <a:spcPct val="50000"/>
                </a:spcBef>
                <a:tabLst>
                  <a:tab pos="177800" algn="l"/>
                </a:tabLst>
              </a:pPr>
              <a:r>
                <a:rPr kumimoji="0" lang="zh-CN" altLang="en-US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楷体" pitchFamily="49" charset="-122"/>
                  <a:ea typeface="楷体" pitchFamily="49" charset="-122"/>
                </a:rPr>
                <a:t>机器数： </a:t>
              </a:r>
              <a:r>
                <a:rPr kumimoji="0" lang="en-US" altLang="zh-CN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</a:t>
              </a:r>
              <a:r>
                <a:rPr kumimoji="0" lang="en-US" altLang="zh-CN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 </a:t>
              </a:r>
              <a:r>
                <a:rPr kumimoji="0" lang="en-US" altLang="zh-CN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1 0 1 1               </a:t>
              </a:r>
              <a:r>
                <a:rPr kumimoji="0" lang="en-US" altLang="zh-CN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r>
                <a:rPr kumimoji="0" lang="en-US" altLang="zh-CN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 </a:t>
              </a:r>
              <a:r>
                <a:rPr kumimoji="0" lang="en-US" altLang="zh-CN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1 0 1 1</a:t>
              </a:r>
            </a:p>
          </p:txBody>
        </p:sp>
        <p:grpSp>
          <p:nvGrpSpPr>
            <p:cNvPr id="700430" name="Group 14"/>
            <p:cNvGrpSpPr>
              <a:grpSpLocks/>
            </p:cNvGrpSpPr>
            <p:nvPr/>
          </p:nvGrpSpPr>
          <p:grpSpPr bwMode="auto">
            <a:xfrm>
              <a:off x="1421" y="3687"/>
              <a:ext cx="902" cy="524"/>
              <a:chOff x="1358" y="3714"/>
              <a:chExt cx="902" cy="524"/>
            </a:xfrm>
          </p:grpSpPr>
          <p:sp>
            <p:nvSpPr>
              <p:cNvPr id="700425" name="AutoShape 9"/>
              <p:cNvSpPr>
                <a:spLocks/>
              </p:cNvSpPr>
              <p:nvPr/>
            </p:nvSpPr>
            <p:spPr bwMode="auto">
              <a:xfrm rot="5400000">
                <a:off x="1856" y="3552"/>
                <a:ext cx="107" cy="432"/>
              </a:xfrm>
              <a:prstGeom prst="rightBrace">
                <a:avLst>
                  <a:gd name="adj1" fmla="val 33242"/>
                  <a:gd name="adj2" fmla="val 50000"/>
                </a:avLst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00426" name="Text Box 10"/>
              <p:cNvSpPr txBox="1">
                <a:spLocks noChangeArrowheads="1"/>
              </p:cNvSpPr>
              <p:nvPr/>
            </p:nvSpPr>
            <p:spPr bwMode="auto">
              <a:xfrm>
                <a:off x="1716" y="3790"/>
                <a:ext cx="544" cy="233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marL="177800" indent="-177800">
                  <a:spcBef>
                    <a:spcPct val="50000"/>
                  </a:spcBef>
                  <a:tabLst>
                    <a:tab pos="177800" algn="l"/>
                  </a:tabLst>
                </a:pPr>
                <a:r>
                  <a:rPr kumimoji="0" lang="zh-CN" altLang="en-US" sz="1800" b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数值</a:t>
                </a:r>
              </a:p>
            </p:txBody>
          </p:sp>
          <p:sp>
            <p:nvSpPr>
              <p:cNvPr id="700427" name="Line 11"/>
              <p:cNvSpPr>
                <a:spLocks noChangeShapeType="1"/>
              </p:cNvSpPr>
              <p:nvPr/>
            </p:nvSpPr>
            <p:spPr bwMode="auto">
              <a:xfrm flipV="1">
                <a:off x="1564" y="3735"/>
                <a:ext cx="0" cy="317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0428" name="Text Box 12"/>
              <p:cNvSpPr txBox="1">
                <a:spLocks noChangeArrowheads="1"/>
              </p:cNvSpPr>
              <p:nvPr/>
            </p:nvSpPr>
            <p:spPr bwMode="auto">
              <a:xfrm>
                <a:off x="1358" y="4005"/>
                <a:ext cx="478" cy="233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marL="177800" indent="-177800">
                  <a:spcBef>
                    <a:spcPct val="50000"/>
                  </a:spcBef>
                  <a:tabLst>
                    <a:tab pos="177800" algn="l"/>
                  </a:tabLst>
                </a:pPr>
                <a:r>
                  <a:rPr kumimoji="0" lang="zh-CN" altLang="en-US" sz="18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符号</a:t>
                </a:r>
              </a:p>
            </p:txBody>
          </p:sp>
        </p:grpSp>
        <p:grpSp>
          <p:nvGrpSpPr>
            <p:cNvPr id="700431" name="Group 15"/>
            <p:cNvGrpSpPr>
              <a:grpSpLocks/>
            </p:cNvGrpSpPr>
            <p:nvPr/>
          </p:nvGrpSpPr>
          <p:grpSpPr bwMode="auto">
            <a:xfrm>
              <a:off x="2834" y="3683"/>
              <a:ext cx="887" cy="525"/>
              <a:chOff x="1604" y="3709"/>
              <a:chExt cx="887" cy="525"/>
            </a:xfrm>
          </p:grpSpPr>
          <p:sp>
            <p:nvSpPr>
              <p:cNvPr id="700432" name="AutoShape 16"/>
              <p:cNvSpPr>
                <a:spLocks/>
              </p:cNvSpPr>
              <p:nvPr/>
            </p:nvSpPr>
            <p:spPr bwMode="auto">
              <a:xfrm rot="5400000">
                <a:off x="2098" y="3534"/>
                <a:ext cx="97" cy="447"/>
              </a:xfrm>
              <a:prstGeom prst="rightBrace">
                <a:avLst>
                  <a:gd name="adj1" fmla="val 33242"/>
                  <a:gd name="adj2" fmla="val 50000"/>
                </a:avLst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00433" name="Text Box 17"/>
              <p:cNvSpPr txBox="1">
                <a:spLocks noChangeArrowheads="1"/>
              </p:cNvSpPr>
              <p:nvPr/>
            </p:nvSpPr>
            <p:spPr bwMode="auto">
              <a:xfrm>
                <a:off x="1947" y="3779"/>
                <a:ext cx="544" cy="233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marL="177800" indent="-177800">
                  <a:spcBef>
                    <a:spcPct val="50000"/>
                  </a:spcBef>
                  <a:tabLst>
                    <a:tab pos="177800" algn="l"/>
                  </a:tabLst>
                </a:pPr>
                <a:r>
                  <a:rPr kumimoji="0" lang="zh-CN" altLang="en-US" sz="1800" b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数值</a:t>
                </a:r>
              </a:p>
            </p:txBody>
          </p:sp>
          <p:sp>
            <p:nvSpPr>
              <p:cNvPr id="700434" name="Line 18"/>
              <p:cNvSpPr>
                <a:spLocks noChangeShapeType="1"/>
              </p:cNvSpPr>
              <p:nvPr/>
            </p:nvSpPr>
            <p:spPr bwMode="auto">
              <a:xfrm flipV="1">
                <a:off x="1797" y="3726"/>
                <a:ext cx="0" cy="317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0435" name="Text Box 19"/>
              <p:cNvSpPr txBox="1">
                <a:spLocks noChangeArrowheads="1"/>
              </p:cNvSpPr>
              <p:nvPr/>
            </p:nvSpPr>
            <p:spPr bwMode="auto">
              <a:xfrm>
                <a:off x="1604" y="4001"/>
                <a:ext cx="544" cy="233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marL="177800" indent="-177800">
                  <a:spcBef>
                    <a:spcPct val="50000"/>
                  </a:spcBef>
                  <a:tabLst>
                    <a:tab pos="177800" algn="l"/>
                  </a:tabLst>
                </a:pPr>
                <a:r>
                  <a:rPr kumimoji="0" lang="zh-CN" altLang="en-US" sz="18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符号</a:t>
                </a:r>
              </a:p>
            </p:txBody>
          </p:sp>
        </p:grpSp>
      </p:grpSp>
      <p:grpSp>
        <p:nvGrpSpPr>
          <p:cNvPr id="700443" name="Group 27"/>
          <p:cNvGrpSpPr>
            <a:grpSpLocks/>
          </p:cNvGrpSpPr>
          <p:nvPr/>
        </p:nvGrpSpPr>
        <p:grpSpPr bwMode="auto">
          <a:xfrm>
            <a:off x="7546954" y="4652964"/>
            <a:ext cx="4021655" cy="1944687"/>
            <a:chOff x="3693" y="2931"/>
            <a:chExt cx="1863" cy="1225"/>
          </a:xfrm>
        </p:grpSpPr>
        <p:sp>
          <p:nvSpPr>
            <p:cNvPr id="700442" name="Rectangle 26"/>
            <p:cNvSpPr>
              <a:spLocks noChangeArrowheads="1"/>
            </p:cNvSpPr>
            <p:nvPr/>
          </p:nvSpPr>
          <p:spPr bwMode="auto">
            <a:xfrm>
              <a:off x="3787" y="2931"/>
              <a:ext cx="1769" cy="1225"/>
            </a:xfrm>
            <a:prstGeom prst="rect">
              <a:avLst/>
            </a:prstGeom>
            <a:gradFill rotWithShape="1">
              <a:gsLst>
                <a:gs pos="0">
                  <a:srgbClr val="00FFFF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FF00FF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700441" name="Group 25"/>
            <p:cNvGrpSpPr>
              <a:grpSpLocks/>
            </p:cNvGrpSpPr>
            <p:nvPr/>
          </p:nvGrpSpPr>
          <p:grpSpPr bwMode="auto">
            <a:xfrm>
              <a:off x="3693" y="2985"/>
              <a:ext cx="1517" cy="1035"/>
              <a:chOff x="3693" y="2985"/>
              <a:chExt cx="1517" cy="1035"/>
            </a:xfrm>
          </p:grpSpPr>
          <p:sp>
            <p:nvSpPr>
              <p:cNvPr id="700437" name="Text Box 21"/>
              <p:cNvSpPr txBox="1">
                <a:spLocks noChangeArrowheads="1"/>
              </p:cNvSpPr>
              <p:nvPr/>
            </p:nvSpPr>
            <p:spPr bwMode="auto">
              <a:xfrm>
                <a:off x="3693" y="3186"/>
                <a:ext cx="862" cy="834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marL="177800" indent="-177800" algn="ctr">
                  <a:spcBef>
                    <a:spcPct val="50000"/>
                  </a:spcBef>
                  <a:tabLst>
                    <a:tab pos="177800" algn="l"/>
                  </a:tabLst>
                </a:pPr>
                <a:r>
                  <a:rPr kumimoji="0" lang="en-US" altLang="zh-CN" sz="3200" b="1" dirty="0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 </a:t>
                </a:r>
                <a:r>
                  <a:rPr kumimoji="0" lang="zh-CN" altLang="en-US" b="1" dirty="0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机器数的表示形式</a:t>
                </a:r>
              </a:p>
            </p:txBody>
          </p:sp>
          <p:sp>
            <p:nvSpPr>
              <p:cNvPr id="700439" name="Text Box 23"/>
              <p:cNvSpPr txBox="1">
                <a:spLocks noChangeArrowheads="1"/>
              </p:cNvSpPr>
              <p:nvPr/>
            </p:nvSpPr>
            <p:spPr bwMode="auto">
              <a:xfrm>
                <a:off x="4621" y="2985"/>
                <a:ext cx="589" cy="98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marL="177800" indent="-177800" algn="ctr">
                  <a:spcBef>
                    <a:spcPct val="50000"/>
                  </a:spcBef>
                  <a:tabLst>
                    <a:tab pos="177800" algn="l"/>
                  </a:tabLst>
                </a:pPr>
                <a:r>
                  <a:rPr kumimoji="0" lang="zh-CN" altLang="en-US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原码</a:t>
                </a:r>
              </a:p>
              <a:p>
                <a:pPr marL="177800" indent="-177800" algn="ctr">
                  <a:spcBef>
                    <a:spcPct val="50000"/>
                  </a:spcBef>
                  <a:tabLst>
                    <a:tab pos="177800" algn="l"/>
                  </a:tabLst>
                </a:pPr>
                <a:r>
                  <a:rPr kumimoji="0" lang="zh-CN" altLang="en-US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补码</a:t>
                </a:r>
              </a:p>
              <a:p>
                <a:pPr marL="177800" indent="-177800" algn="ctr">
                  <a:spcBef>
                    <a:spcPct val="50000"/>
                  </a:spcBef>
                  <a:tabLst>
                    <a:tab pos="177800" algn="l"/>
                  </a:tabLst>
                </a:pPr>
                <a:r>
                  <a:rPr kumimoji="0" lang="zh-CN" altLang="en-US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反码</a:t>
                </a:r>
              </a:p>
            </p:txBody>
          </p:sp>
          <p:sp>
            <p:nvSpPr>
              <p:cNvPr id="700440" name="AutoShape 24"/>
              <p:cNvSpPr>
                <a:spLocks/>
              </p:cNvSpPr>
              <p:nvPr/>
            </p:nvSpPr>
            <p:spPr bwMode="auto">
              <a:xfrm>
                <a:off x="4555" y="3113"/>
                <a:ext cx="135" cy="771"/>
              </a:xfrm>
              <a:prstGeom prst="leftBrace">
                <a:avLst>
                  <a:gd name="adj1" fmla="val 70604"/>
                  <a:gd name="adj2" fmla="val 50000"/>
                </a:avLst>
              </a:prstGeom>
              <a:noFill/>
              <a:ln w="38100">
                <a:solidFill>
                  <a:srgbClr val="0066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700447" name="Group 31"/>
          <p:cNvGrpSpPr>
            <a:grpSpLocks/>
          </p:cNvGrpSpPr>
          <p:nvPr/>
        </p:nvGrpSpPr>
        <p:grpSpPr bwMode="auto">
          <a:xfrm>
            <a:off x="-14741" y="0"/>
            <a:ext cx="446088" cy="6858000"/>
            <a:chOff x="0" y="0"/>
            <a:chExt cx="281" cy="4320"/>
          </a:xfrm>
        </p:grpSpPr>
        <p:sp>
          <p:nvSpPr>
            <p:cNvPr id="700448" name="Text Box 32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</a:rPr>
                <a:t>第三版</a:t>
              </a: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第一章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预备知识</a:t>
              </a:r>
            </a:p>
          </p:txBody>
        </p:sp>
        <p:sp>
          <p:nvSpPr>
            <p:cNvPr id="700449" name="Text Box 33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004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70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70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70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70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004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004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0418" grpId="0"/>
      <p:bldP spid="700419" grpId="0" uiExpand="1" build="p" bldLvl="5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442" name="Text Box 2"/>
          <p:cNvSpPr txBox="1">
            <a:spLocks noChangeArrowheads="1"/>
          </p:cNvSpPr>
          <p:nvPr/>
        </p:nvSpPr>
        <p:spPr bwMode="auto">
          <a:xfrm>
            <a:off x="578985" y="244475"/>
            <a:ext cx="6931025" cy="579438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kumimoji="0" lang="en-US" altLang="zh-CN" sz="32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1.3 </a:t>
            </a:r>
            <a:r>
              <a:rPr kumimoji="0" lang="zh-CN" altLang="en-US" sz="32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机器数的表示形式及其表示范围</a:t>
            </a:r>
          </a:p>
        </p:txBody>
      </p:sp>
      <p:sp>
        <p:nvSpPr>
          <p:cNvPr id="701443" name="Rectangle 3"/>
          <p:cNvSpPr>
            <a:spLocks noChangeArrowheads="1"/>
          </p:cNvSpPr>
          <p:nvPr/>
        </p:nvSpPr>
        <p:spPr bwMode="auto">
          <a:xfrm>
            <a:off x="695400" y="908720"/>
            <a:ext cx="10945216" cy="178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sz="32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原码</a:t>
            </a:r>
            <a:endParaRPr lang="zh-CN" altLang="en-US" sz="3200" b="1" dirty="0">
              <a:solidFill>
                <a:srgbClr val="FF0066"/>
              </a:solidFill>
              <a:effectLst>
                <a:outerShdw blurRad="38100" dist="38100" dir="2700000" algn="tl">
                  <a:srgbClr val="000000"/>
                </a:outerShdw>
              </a:effectLst>
              <a:ea typeface="隶书" pitchFamily="49" charset="-122"/>
            </a:endParaRPr>
          </a:p>
          <a:p>
            <a:pPr algn="just">
              <a:spcBef>
                <a:spcPct val="20000"/>
              </a:spcBef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    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原码又称为“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符号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-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数值表示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”。在以原码形式表示的正数和负数中，第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位表示符号位，对于正数，符号位记为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0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，对于负数，符号位记为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，其余各位表示数值部分。</a:t>
            </a:r>
          </a:p>
        </p:txBody>
      </p:sp>
      <p:sp>
        <p:nvSpPr>
          <p:cNvPr id="701465" name="Rectangle 25"/>
          <p:cNvSpPr>
            <a:spLocks noChangeArrowheads="1"/>
          </p:cNvSpPr>
          <p:nvPr/>
        </p:nvSpPr>
        <p:spPr bwMode="auto">
          <a:xfrm>
            <a:off x="1344438" y="2741613"/>
            <a:ext cx="8135938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zh-CN" altLang="en-US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例：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N1  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＝ 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+10011             N2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＝    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-01010</a:t>
            </a:r>
          </a:p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[N1]</a:t>
            </a:r>
            <a:r>
              <a:rPr lang="zh-CN" altLang="en-US" b="1" baseline="-250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原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＝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10011           [N2]</a:t>
            </a:r>
            <a:r>
              <a:rPr lang="zh-CN" altLang="en-US" b="1" baseline="-250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原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＝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01010</a:t>
            </a:r>
          </a:p>
        </p:txBody>
      </p:sp>
      <p:sp>
        <p:nvSpPr>
          <p:cNvPr id="701466" name="Rectangle 26"/>
          <p:cNvSpPr>
            <a:spLocks noChangeArrowheads="1"/>
          </p:cNvSpPr>
          <p:nvPr/>
        </p:nvSpPr>
        <p:spPr bwMode="auto">
          <a:xfrm>
            <a:off x="707774" y="3714750"/>
            <a:ext cx="10801200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   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根据上述原码形成规则，一个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位的整数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（包含一位符号位）的原码一般表示为：</a:t>
            </a:r>
          </a:p>
        </p:txBody>
      </p:sp>
      <p:grpSp>
        <p:nvGrpSpPr>
          <p:cNvPr id="701472" name="Group 32"/>
          <p:cNvGrpSpPr>
            <a:grpSpLocks/>
          </p:cNvGrpSpPr>
          <p:nvPr/>
        </p:nvGrpSpPr>
        <p:grpSpPr bwMode="auto">
          <a:xfrm>
            <a:off x="2063552" y="4725144"/>
            <a:ext cx="8496944" cy="1295400"/>
            <a:chOff x="841" y="2805"/>
            <a:chExt cx="4173" cy="816"/>
          </a:xfrm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grpSpPr>
        <p:sp>
          <p:nvSpPr>
            <p:cNvPr id="701471" name="Rectangle 31"/>
            <p:cNvSpPr>
              <a:spLocks noChangeArrowheads="1"/>
            </p:cNvSpPr>
            <p:nvPr/>
          </p:nvSpPr>
          <p:spPr bwMode="auto">
            <a:xfrm>
              <a:off x="841" y="2805"/>
              <a:ext cx="4173" cy="816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shade val="30000"/>
                    <a:satMod val="115000"/>
                  </a:schemeClr>
                </a:gs>
                <a:gs pos="50000">
                  <a:schemeClr val="bg1">
                    <a:shade val="67500"/>
                    <a:satMod val="11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 w="38100">
              <a:solidFill>
                <a:srgbClr val="CC00CC"/>
              </a:solidFill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701470" name="Group 30"/>
            <p:cNvGrpSpPr>
              <a:grpSpLocks/>
            </p:cNvGrpSpPr>
            <p:nvPr/>
          </p:nvGrpSpPr>
          <p:grpSpPr bwMode="auto">
            <a:xfrm>
              <a:off x="1071" y="2817"/>
              <a:ext cx="3490" cy="756"/>
              <a:chOff x="729" y="2907"/>
              <a:chExt cx="3490" cy="756"/>
            </a:xfrm>
          </p:grpSpPr>
          <p:sp>
            <p:nvSpPr>
              <p:cNvPr id="701468" name="Rectangle 28"/>
              <p:cNvSpPr>
                <a:spLocks noChangeArrowheads="1"/>
              </p:cNvSpPr>
              <p:nvPr/>
            </p:nvSpPr>
            <p:spPr bwMode="auto">
              <a:xfrm>
                <a:off x="729" y="2907"/>
                <a:ext cx="3490" cy="7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indent="266700"/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           N                0 ≤ N </a:t>
                </a:r>
                <a:r>
                  <a:rPr lang="zh-CN" alt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＜ 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US" altLang="zh-CN" b="1" baseline="30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n-1</a:t>
                </a:r>
              </a:p>
              <a:p>
                <a:pPr indent="266700"/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[N]</a:t>
                </a:r>
                <a:r>
                  <a:rPr lang="zh-CN" altLang="en-US" b="1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原</a:t>
                </a:r>
                <a:r>
                  <a:rPr lang="zh-CN" alt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＝ </a:t>
                </a:r>
              </a:p>
              <a:p>
                <a:pPr indent="266700"/>
                <a:r>
                  <a:rPr lang="zh-CN" alt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          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US" altLang="zh-CN" b="1" baseline="30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n-1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zh-CN" alt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－ 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N     </a:t>
                </a:r>
                <a:r>
                  <a:rPr lang="zh-CN" alt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－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US" altLang="zh-CN" b="1" baseline="30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n-1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zh-CN" alt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＜ 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N ≤ 0</a:t>
                </a:r>
              </a:p>
            </p:txBody>
          </p:sp>
          <p:sp>
            <p:nvSpPr>
              <p:cNvPr id="701469" name="AutoShape 29"/>
              <p:cNvSpPr>
                <a:spLocks/>
              </p:cNvSpPr>
              <p:nvPr/>
            </p:nvSpPr>
            <p:spPr bwMode="auto">
              <a:xfrm>
                <a:off x="1560" y="3022"/>
                <a:ext cx="136" cy="544"/>
              </a:xfrm>
              <a:prstGeom prst="leftBrace">
                <a:avLst>
                  <a:gd name="adj1" fmla="val 33333"/>
                  <a:gd name="adj2" fmla="val 50000"/>
                </a:avLst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701476" name="Group 36"/>
          <p:cNvGrpSpPr>
            <a:grpSpLocks/>
          </p:cNvGrpSpPr>
          <p:nvPr/>
        </p:nvGrpSpPr>
        <p:grpSpPr bwMode="auto">
          <a:xfrm>
            <a:off x="-14741" y="0"/>
            <a:ext cx="446088" cy="6858000"/>
            <a:chOff x="0" y="0"/>
            <a:chExt cx="281" cy="4320"/>
          </a:xfrm>
        </p:grpSpPr>
        <p:sp>
          <p:nvSpPr>
            <p:cNvPr id="701477" name="Text Box 37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</a:rPr>
                <a:t>第三版</a:t>
              </a: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第一章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预备知识</a:t>
              </a:r>
            </a:p>
          </p:txBody>
        </p:sp>
        <p:sp>
          <p:nvSpPr>
            <p:cNvPr id="701478" name="Text Box 38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0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70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7014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7014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701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7014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1443" grpId="0" build="p" bldLvl="5" autoUpdateAnimBg="0"/>
      <p:bldP spid="701465" grpId="0" build="p" bldLvl="5" autoUpdateAnimBg="0"/>
      <p:bldP spid="701466" grpId="0" build="p" bldLvl="5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466" name="Text Box 2"/>
          <p:cNvSpPr txBox="1">
            <a:spLocks noChangeArrowheads="1"/>
          </p:cNvSpPr>
          <p:nvPr/>
        </p:nvSpPr>
        <p:spPr bwMode="auto">
          <a:xfrm>
            <a:off x="578985" y="244475"/>
            <a:ext cx="6931025" cy="579438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kumimoji="0" lang="en-US" altLang="zh-CN" sz="32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1.3 </a:t>
            </a:r>
            <a:r>
              <a:rPr kumimoji="0" lang="zh-CN" altLang="en-US" sz="32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机器数的表示形式及其表示范围</a:t>
            </a:r>
          </a:p>
        </p:txBody>
      </p:sp>
      <p:sp>
        <p:nvSpPr>
          <p:cNvPr id="702467" name="Rectangle 3"/>
          <p:cNvSpPr>
            <a:spLocks noChangeArrowheads="1"/>
          </p:cNvSpPr>
          <p:nvPr/>
        </p:nvSpPr>
        <p:spPr bwMode="auto">
          <a:xfrm>
            <a:off x="624358" y="784102"/>
            <a:ext cx="8135938" cy="557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sz="32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原码</a:t>
            </a:r>
            <a:endParaRPr lang="zh-CN" altLang="en-US" sz="3200" b="1" dirty="0">
              <a:solidFill>
                <a:srgbClr val="FF0066"/>
              </a:solidFill>
              <a:effectLst>
                <a:outerShdw blurRad="38100" dist="38100" dir="2700000" algn="tl">
                  <a:srgbClr val="000000"/>
                </a:outerShdw>
              </a:effectLst>
              <a:ea typeface="隶书" pitchFamily="49" charset="-122"/>
            </a:endParaRPr>
          </a:p>
          <a:p>
            <a:pPr algn="just">
              <a:spcBef>
                <a:spcPct val="20000"/>
              </a:spcBef>
            </a:pP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02472" name="Rectangle 8"/>
          <p:cNvSpPr>
            <a:spLocks noChangeArrowheads="1"/>
          </p:cNvSpPr>
          <p:nvPr/>
        </p:nvSpPr>
        <p:spPr bwMode="auto">
          <a:xfrm>
            <a:off x="741481" y="1354087"/>
            <a:ext cx="10251063" cy="490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对于这样的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位整数其原码表示的数的范围为：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－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(2</a:t>
            </a:r>
            <a:r>
              <a:rPr lang="en-US" altLang="zh-CN" b="1" baseline="30000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n-1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－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1) 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～ 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(2</a:t>
            </a:r>
            <a:r>
              <a:rPr lang="en-US" altLang="zh-CN" b="1" baseline="30000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n-1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－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1)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。</a:t>
            </a:r>
          </a:p>
        </p:txBody>
      </p:sp>
      <p:grpSp>
        <p:nvGrpSpPr>
          <p:cNvPr id="702473" name="Group 9"/>
          <p:cNvGrpSpPr>
            <a:grpSpLocks/>
          </p:cNvGrpSpPr>
          <p:nvPr/>
        </p:nvGrpSpPr>
        <p:grpSpPr bwMode="auto">
          <a:xfrm>
            <a:off x="1752396" y="3861792"/>
            <a:ext cx="8664084" cy="1295400"/>
            <a:chOff x="841" y="2805"/>
            <a:chExt cx="4173" cy="816"/>
          </a:xfrm>
        </p:grpSpPr>
        <p:sp>
          <p:nvSpPr>
            <p:cNvPr id="702474" name="Rectangle 10"/>
            <p:cNvSpPr>
              <a:spLocks noChangeArrowheads="1"/>
            </p:cNvSpPr>
            <p:nvPr/>
          </p:nvSpPr>
          <p:spPr bwMode="auto">
            <a:xfrm>
              <a:off x="841" y="2805"/>
              <a:ext cx="4173" cy="816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shade val="30000"/>
                    <a:satMod val="115000"/>
                  </a:schemeClr>
                </a:gs>
                <a:gs pos="50000">
                  <a:schemeClr val="bg1">
                    <a:shade val="67500"/>
                    <a:satMod val="11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 w="38100">
              <a:solidFill>
                <a:srgbClr val="CC00CC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702475" name="Group 11"/>
            <p:cNvGrpSpPr>
              <a:grpSpLocks/>
            </p:cNvGrpSpPr>
            <p:nvPr/>
          </p:nvGrpSpPr>
          <p:grpSpPr bwMode="auto">
            <a:xfrm>
              <a:off x="1071" y="2817"/>
              <a:ext cx="3145" cy="756"/>
              <a:chOff x="729" y="2907"/>
              <a:chExt cx="3145" cy="756"/>
            </a:xfrm>
          </p:grpSpPr>
          <p:sp>
            <p:nvSpPr>
              <p:cNvPr id="702476" name="Rectangle 12"/>
              <p:cNvSpPr>
                <a:spLocks noChangeArrowheads="1"/>
              </p:cNvSpPr>
              <p:nvPr/>
            </p:nvSpPr>
            <p:spPr bwMode="auto">
              <a:xfrm>
                <a:off x="729" y="2907"/>
                <a:ext cx="3145" cy="7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indent="266700"/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           N                0 ≤ N </a:t>
                </a:r>
                <a:r>
                  <a:rPr lang="zh-CN" alt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＜ 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endParaRPr lang="en-US" altLang="zh-CN" b="1" baseline="30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indent="266700"/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[N]</a:t>
                </a:r>
                <a:r>
                  <a:rPr lang="zh-CN" altLang="en-US" b="1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原</a:t>
                </a:r>
                <a:r>
                  <a:rPr lang="zh-CN" alt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＝ </a:t>
                </a:r>
              </a:p>
              <a:p>
                <a:pPr indent="266700"/>
                <a:r>
                  <a:rPr lang="zh-CN" alt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          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 </a:t>
                </a:r>
                <a:r>
                  <a:rPr lang="zh-CN" alt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－ 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N     </a:t>
                </a:r>
                <a:r>
                  <a:rPr lang="zh-CN" alt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－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 </a:t>
                </a:r>
                <a:r>
                  <a:rPr lang="zh-CN" alt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＜ 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N ≤ 0</a:t>
                </a:r>
              </a:p>
            </p:txBody>
          </p:sp>
          <p:sp>
            <p:nvSpPr>
              <p:cNvPr id="702477" name="AutoShape 13"/>
              <p:cNvSpPr>
                <a:spLocks/>
              </p:cNvSpPr>
              <p:nvPr/>
            </p:nvSpPr>
            <p:spPr bwMode="auto">
              <a:xfrm>
                <a:off x="1551" y="3022"/>
                <a:ext cx="136" cy="544"/>
              </a:xfrm>
              <a:prstGeom prst="leftBrace">
                <a:avLst>
                  <a:gd name="adj1" fmla="val 33333"/>
                  <a:gd name="adj2" fmla="val 50000"/>
                </a:avLst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702493" name="Group 29"/>
          <p:cNvGrpSpPr>
            <a:grpSpLocks/>
          </p:cNvGrpSpPr>
          <p:nvPr/>
        </p:nvGrpSpPr>
        <p:grpSpPr bwMode="auto">
          <a:xfrm>
            <a:off x="3941663" y="1895103"/>
            <a:ext cx="4746625" cy="885825"/>
            <a:chOff x="1332" y="1689"/>
            <a:chExt cx="2990" cy="558"/>
          </a:xfrm>
        </p:grpSpPr>
        <p:grpSp>
          <p:nvGrpSpPr>
            <p:cNvPr id="702488" name="Group 24"/>
            <p:cNvGrpSpPr>
              <a:grpSpLocks/>
            </p:cNvGrpSpPr>
            <p:nvPr/>
          </p:nvGrpSpPr>
          <p:grpSpPr bwMode="auto">
            <a:xfrm>
              <a:off x="1332" y="1706"/>
              <a:ext cx="1315" cy="541"/>
              <a:chOff x="1332" y="1706"/>
              <a:chExt cx="1315" cy="541"/>
            </a:xfrm>
          </p:grpSpPr>
          <p:sp>
            <p:nvSpPr>
              <p:cNvPr id="702480" name="AutoShape 16"/>
              <p:cNvSpPr>
                <a:spLocks/>
              </p:cNvSpPr>
              <p:nvPr/>
            </p:nvSpPr>
            <p:spPr bwMode="auto">
              <a:xfrm rot="5400000">
                <a:off x="1845" y="1616"/>
                <a:ext cx="127" cy="762"/>
              </a:xfrm>
              <a:prstGeom prst="rightBrace">
                <a:avLst>
                  <a:gd name="adj1" fmla="val 50000"/>
                  <a:gd name="adj2" fmla="val 50000"/>
                </a:avLst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2481" name="Text Box 17"/>
              <p:cNvSpPr txBox="1">
                <a:spLocks noChangeArrowheads="1"/>
              </p:cNvSpPr>
              <p:nvPr/>
            </p:nvSpPr>
            <p:spPr bwMode="auto">
              <a:xfrm>
                <a:off x="1332" y="1706"/>
                <a:ext cx="1315" cy="1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b="1" dirty="0">
                    <a:solidFill>
                      <a:srgbClr val="FF0000"/>
                    </a:solidFill>
                  </a:rPr>
                  <a:t>1</a:t>
                </a:r>
                <a:r>
                  <a:rPr lang="en-US" altLang="zh-CN" b="1" dirty="0"/>
                  <a:t>11………1</a:t>
                </a:r>
              </a:p>
            </p:txBody>
          </p:sp>
          <p:sp>
            <p:nvSpPr>
              <p:cNvPr id="702482" name="Text Box 18"/>
              <p:cNvSpPr txBox="1">
                <a:spLocks noChangeArrowheads="1"/>
              </p:cNvSpPr>
              <p:nvPr/>
            </p:nvSpPr>
            <p:spPr bwMode="auto">
              <a:xfrm>
                <a:off x="1651" y="2060"/>
                <a:ext cx="671" cy="1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1800" b="1"/>
                  <a:t>n-1</a:t>
                </a:r>
                <a:r>
                  <a:rPr lang="zh-CN" altLang="en-US" sz="1800" b="1"/>
                  <a:t>个</a:t>
                </a:r>
                <a:r>
                  <a:rPr lang="en-US" altLang="zh-CN" sz="1800" b="1"/>
                  <a:t>1</a:t>
                </a:r>
              </a:p>
            </p:txBody>
          </p:sp>
        </p:grpSp>
        <p:sp>
          <p:nvSpPr>
            <p:cNvPr id="702487" name="Line 23"/>
            <p:cNvSpPr>
              <a:spLocks noChangeShapeType="1"/>
            </p:cNvSpPr>
            <p:nvPr/>
          </p:nvSpPr>
          <p:spPr bwMode="auto">
            <a:xfrm>
              <a:off x="2494" y="1862"/>
              <a:ext cx="473" cy="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ysDot"/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02489" name="Group 25"/>
            <p:cNvGrpSpPr>
              <a:grpSpLocks/>
            </p:cNvGrpSpPr>
            <p:nvPr/>
          </p:nvGrpSpPr>
          <p:grpSpPr bwMode="auto">
            <a:xfrm>
              <a:off x="3007" y="1689"/>
              <a:ext cx="1315" cy="541"/>
              <a:chOff x="1332" y="1706"/>
              <a:chExt cx="1315" cy="541"/>
            </a:xfrm>
          </p:grpSpPr>
          <p:sp>
            <p:nvSpPr>
              <p:cNvPr id="702490" name="AutoShape 26"/>
              <p:cNvSpPr>
                <a:spLocks/>
              </p:cNvSpPr>
              <p:nvPr/>
            </p:nvSpPr>
            <p:spPr bwMode="auto">
              <a:xfrm rot="5400000">
                <a:off x="1845" y="1616"/>
                <a:ext cx="127" cy="762"/>
              </a:xfrm>
              <a:prstGeom prst="rightBrace">
                <a:avLst>
                  <a:gd name="adj1" fmla="val 50000"/>
                  <a:gd name="adj2" fmla="val 50000"/>
                </a:avLst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2491" name="Text Box 27"/>
              <p:cNvSpPr txBox="1">
                <a:spLocks noChangeArrowheads="1"/>
              </p:cNvSpPr>
              <p:nvPr/>
            </p:nvSpPr>
            <p:spPr bwMode="auto">
              <a:xfrm>
                <a:off x="1332" y="1706"/>
                <a:ext cx="1315" cy="1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b="1">
                    <a:solidFill>
                      <a:srgbClr val="FF0000"/>
                    </a:solidFill>
                  </a:rPr>
                  <a:t>0</a:t>
                </a:r>
                <a:r>
                  <a:rPr lang="en-US" altLang="zh-CN" b="1"/>
                  <a:t>11………1</a:t>
                </a:r>
              </a:p>
            </p:txBody>
          </p:sp>
          <p:sp>
            <p:nvSpPr>
              <p:cNvPr id="702492" name="Text Box 28"/>
              <p:cNvSpPr txBox="1">
                <a:spLocks noChangeArrowheads="1"/>
              </p:cNvSpPr>
              <p:nvPr/>
            </p:nvSpPr>
            <p:spPr bwMode="auto">
              <a:xfrm>
                <a:off x="1651" y="2060"/>
                <a:ext cx="671" cy="1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1800" b="1"/>
                  <a:t>n-1</a:t>
                </a:r>
                <a:r>
                  <a:rPr lang="zh-CN" altLang="en-US" sz="1800" b="1"/>
                  <a:t>个</a:t>
                </a:r>
                <a:r>
                  <a:rPr lang="en-US" altLang="zh-CN" sz="1800" b="1"/>
                  <a:t>1</a:t>
                </a:r>
              </a:p>
            </p:txBody>
          </p:sp>
        </p:grpSp>
      </p:grpSp>
      <p:sp>
        <p:nvSpPr>
          <p:cNvPr id="702494" name="Rectangle 30"/>
          <p:cNvSpPr>
            <a:spLocks noChangeArrowheads="1"/>
          </p:cNvSpPr>
          <p:nvPr/>
        </p:nvSpPr>
        <p:spPr bwMode="auto">
          <a:xfrm>
            <a:off x="479376" y="2924944"/>
            <a:ext cx="10926124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    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对于定点小数，通常小数点定在最高位的左边，这时数值小于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。定点小数原码一般表示为： </a:t>
            </a:r>
          </a:p>
        </p:txBody>
      </p:sp>
      <p:sp>
        <p:nvSpPr>
          <p:cNvPr id="702495" name="Rectangle 31"/>
          <p:cNvSpPr>
            <a:spLocks noChangeArrowheads="1"/>
          </p:cNvSpPr>
          <p:nvPr/>
        </p:nvSpPr>
        <p:spPr bwMode="auto">
          <a:xfrm>
            <a:off x="740908" y="5333578"/>
            <a:ext cx="11451091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spcBef>
                <a:spcPct val="20000"/>
              </a:spcBef>
              <a:buFont typeface="Wingding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楷体" pitchFamily="49" charset="-122"/>
              </a:rPr>
              <a:t>    对于这样的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楷体" pitchFamily="49" charset="-122"/>
              </a:rPr>
              <a:t>m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楷体" pitchFamily="49" charset="-122"/>
              </a:rPr>
              <a:t>位小数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楷体" pitchFamily="49" charset="-122"/>
              </a:rPr>
              <a:t>(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楷体" pitchFamily="49" charset="-122"/>
              </a:rPr>
              <a:t>含一符号位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楷体" pitchFamily="49" charset="-122"/>
              </a:rPr>
              <a:t>)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楷体" pitchFamily="49" charset="-122"/>
              </a:rPr>
              <a:t>其原码表示数的范围为：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+mj-lt"/>
              <a:ea typeface="楷体" pitchFamily="49" charset="-122"/>
            </a:endParaRPr>
          </a:p>
          <a:p>
            <a:pPr algn="just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楷体" pitchFamily="49" charset="-122"/>
              </a:rPr>
              <a:t>                   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－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(1 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－ 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2</a:t>
            </a:r>
            <a:r>
              <a:rPr lang="en-US" altLang="zh-CN" b="1" baseline="30000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-(m-1)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) 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～ 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(1 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－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2</a:t>
            </a:r>
            <a:r>
              <a:rPr lang="en-US" altLang="zh-CN" b="1" baseline="30000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-(m-1)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)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。</a:t>
            </a:r>
          </a:p>
        </p:txBody>
      </p:sp>
      <p:grpSp>
        <p:nvGrpSpPr>
          <p:cNvPr id="702499" name="Group 35"/>
          <p:cNvGrpSpPr>
            <a:grpSpLocks/>
          </p:cNvGrpSpPr>
          <p:nvPr/>
        </p:nvGrpSpPr>
        <p:grpSpPr bwMode="auto">
          <a:xfrm>
            <a:off x="-14741" y="0"/>
            <a:ext cx="446088" cy="6858000"/>
            <a:chOff x="0" y="0"/>
            <a:chExt cx="281" cy="4320"/>
          </a:xfrm>
        </p:grpSpPr>
        <p:sp>
          <p:nvSpPr>
            <p:cNvPr id="702500" name="Text Box 36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</a:rPr>
                <a:t>第三版</a:t>
              </a: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第一章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预备知识</a:t>
              </a:r>
            </a:p>
          </p:txBody>
        </p:sp>
        <p:sp>
          <p:nvSpPr>
            <p:cNvPr id="702501" name="Text Box 37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2EBD997-1A14-4A2B-A86F-7B3E5D137408}"/>
              </a:ext>
            </a:extLst>
          </p:cNvPr>
          <p:cNvGrpSpPr>
            <a:grpSpLocks/>
          </p:cNvGrpSpPr>
          <p:nvPr/>
        </p:nvGrpSpPr>
        <p:grpSpPr bwMode="auto">
          <a:xfrm>
            <a:off x="6911083" y="5727700"/>
            <a:ext cx="4746625" cy="885825"/>
            <a:chOff x="1332" y="1050"/>
            <a:chExt cx="2990" cy="558"/>
          </a:xfrm>
        </p:grpSpPr>
        <p:sp>
          <p:nvSpPr>
            <p:cNvPr id="26" name="AutoShape 15">
              <a:extLst>
                <a:ext uri="{FF2B5EF4-FFF2-40B4-BE49-F238E27FC236}">
                  <a16:creationId xmlns:a16="http://schemas.microsoft.com/office/drawing/2014/main" id="{E8F66106-E8D3-4C1B-9FEB-AEAD0236F5D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899" y="989"/>
              <a:ext cx="127" cy="762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 Box 16">
              <a:extLst>
                <a:ext uri="{FF2B5EF4-FFF2-40B4-BE49-F238E27FC236}">
                  <a16:creationId xmlns:a16="http://schemas.microsoft.com/office/drawing/2014/main" id="{430325D2-9DD9-4BC8-90CF-634DA7F3F4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2" y="1067"/>
              <a:ext cx="1315" cy="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b="1" dirty="0">
                  <a:solidFill>
                    <a:srgbClr val="FF0000"/>
                  </a:solidFill>
                </a:rPr>
                <a:t>1</a:t>
              </a:r>
              <a:r>
                <a:rPr lang="en-US" altLang="zh-CN" b="1" dirty="0"/>
                <a:t>.11………1</a:t>
              </a:r>
            </a:p>
          </p:txBody>
        </p:sp>
        <p:sp>
          <p:nvSpPr>
            <p:cNvPr id="28" name="Text Box 17">
              <a:extLst>
                <a:ext uri="{FF2B5EF4-FFF2-40B4-BE49-F238E27FC236}">
                  <a16:creationId xmlns:a16="http://schemas.microsoft.com/office/drawing/2014/main" id="{5308EE05-C9F4-4CC1-95BB-B9F5EB834B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2" y="1421"/>
              <a:ext cx="671" cy="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1800" b="1"/>
                <a:t>m-1</a:t>
              </a:r>
              <a:r>
                <a:rPr lang="zh-CN" altLang="en-US" sz="1800" b="1"/>
                <a:t>个</a:t>
              </a:r>
              <a:r>
                <a:rPr lang="en-US" altLang="zh-CN" sz="1800" b="1"/>
                <a:t>1</a:t>
              </a:r>
            </a:p>
          </p:txBody>
        </p:sp>
        <p:sp>
          <p:nvSpPr>
            <p:cNvPr id="29" name="Line 18">
              <a:extLst>
                <a:ext uri="{FF2B5EF4-FFF2-40B4-BE49-F238E27FC236}">
                  <a16:creationId xmlns:a16="http://schemas.microsoft.com/office/drawing/2014/main" id="{FC5F71A7-ED0E-49AB-8FC5-140CA450E5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4" y="1223"/>
              <a:ext cx="473" cy="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ysDot"/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AutoShape 20">
              <a:extLst>
                <a:ext uri="{FF2B5EF4-FFF2-40B4-BE49-F238E27FC236}">
                  <a16:creationId xmlns:a16="http://schemas.microsoft.com/office/drawing/2014/main" id="{CBC7D131-0271-4777-A295-7C912C048BD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3574" y="960"/>
              <a:ext cx="127" cy="762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Text Box 21">
              <a:extLst>
                <a:ext uri="{FF2B5EF4-FFF2-40B4-BE49-F238E27FC236}">
                  <a16:creationId xmlns:a16="http://schemas.microsoft.com/office/drawing/2014/main" id="{2C67A3D2-4E8B-454B-BD20-47F118B947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7" y="1050"/>
              <a:ext cx="1315" cy="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b="1">
                  <a:solidFill>
                    <a:srgbClr val="FF0000"/>
                  </a:solidFill>
                </a:rPr>
                <a:t>0</a:t>
              </a:r>
              <a:r>
                <a:rPr lang="en-US" altLang="zh-CN" b="1"/>
                <a:t>.11………1</a:t>
              </a:r>
            </a:p>
          </p:txBody>
        </p:sp>
        <p:sp>
          <p:nvSpPr>
            <p:cNvPr id="32" name="Text Box 22">
              <a:extLst>
                <a:ext uri="{FF2B5EF4-FFF2-40B4-BE49-F238E27FC236}">
                  <a16:creationId xmlns:a16="http://schemas.microsoft.com/office/drawing/2014/main" id="{BCC83F75-B2FE-4DD6-A97A-26415EF650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6" y="1404"/>
              <a:ext cx="671" cy="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1800" b="1"/>
                <a:t>m-1</a:t>
              </a:r>
              <a:r>
                <a:rPr lang="zh-CN" altLang="en-US" sz="1800" b="1"/>
                <a:t>个</a:t>
              </a:r>
              <a:r>
                <a:rPr lang="en-US" altLang="zh-CN" sz="1800" b="1"/>
                <a:t>1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4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024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024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4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7024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7024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4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7024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4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7024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2472" grpId="0" build="p" bldLvl="5" autoUpdateAnimBg="0"/>
      <p:bldP spid="702494" grpId="0" build="p" bldLvl="5" autoUpdateAnimBg="0"/>
      <p:bldP spid="702495" grpId="0" build="p" bldLvl="5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490" name="Text Box 2"/>
          <p:cNvSpPr txBox="1">
            <a:spLocks noChangeArrowheads="1"/>
          </p:cNvSpPr>
          <p:nvPr/>
        </p:nvSpPr>
        <p:spPr bwMode="auto">
          <a:xfrm>
            <a:off x="578985" y="244475"/>
            <a:ext cx="6931025" cy="579438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kumimoji="0" lang="en-US" altLang="zh-CN" sz="32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1.3 </a:t>
            </a:r>
            <a:r>
              <a:rPr kumimoji="0" lang="zh-CN" altLang="en-US" sz="32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机器数的表示形式及其表示范围</a:t>
            </a:r>
          </a:p>
        </p:txBody>
      </p:sp>
      <p:sp>
        <p:nvSpPr>
          <p:cNvPr id="703491" name="Rectangle 3"/>
          <p:cNvSpPr>
            <a:spLocks noChangeArrowheads="1"/>
          </p:cNvSpPr>
          <p:nvPr/>
        </p:nvSpPr>
        <p:spPr bwMode="auto">
          <a:xfrm>
            <a:off x="624358" y="908720"/>
            <a:ext cx="8135938" cy="557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sz="32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原码</a:t>
            </a:r>
            <a:endParaRPr lang="zh-CN" altLang="en-US" sz="3200" b="1" dirty="0">
              <a:solidFill>
                <a:srgbClr val="FF0066"/>
              </a:solidFill>
              <a:effectLst>
                <a:outerShdw blurRad="38100" dist="38100" dir="2700000" algn="tl">
                  <a:srgbClr val="000000"/>
                </a:outerShdw>
              </a:effectLst>
              <a:ea typeface="隶书" pitchFamily="49" charset="-122"/>
            </a:endParaRPr>
          </a:p>
          <a:p>
            <a:pPr algn="just">
              <a:spcBef>
                <a:spcPct val="20000"/>
              </a:spcBef>
            </a:pP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03511" name="Rectangle 23"/>
          <p:cNvSpPr>
            <a:spLocks noChangeArrowheads="1"/>
          </p:cNvSpPr>
          <p:nvPr/>
        </p:nvSpPr>
        <p:spPr bwMode="auto">
          <a:xfrm>
            <a:off x="1271464" y="1700808"/>
            <a:ext cx="10297144" cy="3672408"/>
          </a:xfrm>
          <a:prstGeom prst="rect">
            <a:avLst/>
          </a:prstGeom>
          <a:ln w="38100"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ts val="3500"/>
              </a:lnSpc>
              <a:spcBef>
                <a:spcPct val="20000"/>
              </a:spcBef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楷体" pitchFamily="49" charset="-122"/>
              </a:rPr>
              <a:t>总结：</a:t>
            </a:r>
          </a:p>
          <a:p>
            <a:pPr marL="342900" indent="-342900">
              <a:lnSpc>
                <a:spcPts val="3500"/>
              </a:lnSpc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当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N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为正数时，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[N]</a:t>
            </a:r>
            <a:r>
              <a:rPr lang="zh-CN" altLang="en-US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原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和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N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的区别只是增加一位用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0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表示的符号位。由于在数的左边增加一位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0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对该数的数值并无影响，所以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[N]</a:t>
            </a:r>
            <a:r>
              <a:rPr lang="zh-CN" altLang="en-US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原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就是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N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本身。 </a:t>
            </a:r>
            <a:endParaRPr lang="zh-CN" altLang="en-US" b="1" dirty="0">
              <a:effectLst>
                <a:outerShdw blurRad="38100" dist="38100" dir="2700000" algn="tl">
                  <a:srgbClr val="FFFFFF"/>
                </a:outerShdw>
              </a:effectLst>
              <a:latin typeface="+mj-lt"/>
              <a:ea typeface="楷体" pitchFamily="49" charset="-122"/>
            </a:endParaRPr>
          </a:p>
          <a:p>
            <a:pPr marL="342900" indent="-342900">
              <a:lnSpc>
                <a:spcPts val="3500"/>
              </a:lnSpc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楷体" pitchFamily="49" charset="-122"/>
              </a:rPr>
              <a:t>当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N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为负数时，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[N]</a:t>
            </a:r>
            <a:r>
              <a:rPr lang="zh-CN" altLang="en-US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原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和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N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的区别是增加一位用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1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表示的符号位。</a:t>
            </a:r>
          </a:p>
          <a:p>
            <a:pPr marL="342900" indent="-342900">
              <a:lnSpc>
                <a:spcPts val="3500"/>
              </a:lnSpc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楷体" pitchFamily="49" charset="-122"/>
              </a:rPr>
              <a:t>在原码表示中，有两种不同形式的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楷体" pitchFamily="49" charset="-122"/>
              </a:rPr>
              <a:t>0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楷体" pitchFamily="49" charset="-122"/>
              </a:rPr>
              <a:t>，即：</a:t>
            </a:r>
          </a:p>
          <a:p>
            <a:pPr>
              <a:lnSpc>
                <a:spcPts val="3500"/>
              </a:lnSpc>
              <a:spcBef>
                <a:spcPct val="20000"/>
              </a:spcBef>
              <a:buFont typeface="Wingdings" pitchFamily="2" charset="2"/>
              <a:buNone/>
            </a:pP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楷体" pitchFamily="49" charset="-122"/>
              </a:rPr>
              <a:t>                                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楷体" pitchFamily="49" charset="-122"/>
              </a:rPr>
              <a:t>[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楷体" pitchFamily="49" charset="-122"/>
              </a:rPr>
              <a:t>＋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楷体" pitchFamily="49" charset="-122"/>
              </a:rPr>
              <a:t>0]</a:t>
            </a:r>
            <a:r>
              <a:rPr lang="zh-CN" altLang="en-US" b="1" baseline="-25000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楷体" pitchFamily="49" charset="-122"/>
              </a:rPr>
              <a:t>原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楷体" pitchFamily="49" charset="-122"/>
              </a:rPr>
              <a:t> ＝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楷体" pitchFamily="49" charset="-122"/>
              </a:rPr>
              <a:t>0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楷体" pitchFamily="49" charset="-122"/>
              </a:rPr>
              <a:t>00…0  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楷体" pitchFamily="49" charset="-122"/>
              </a:rPr>
              <a:t>或 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楷体" pitchFamily="49" charset="-122"/>
              </a:rPr>
              <a:t>0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楷体" pitchFamily="49" charset="-122"/>
              </a:rPr>
              <a:t>.00…0</a:t>
            </a:r>
          </a:p>
          <a:p>
            <a:pPr>
              <a:lnSpc>
                <a:spcPts val="3500"/>
              </a:lnSpc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楷体" pitchFamily="49" charset="-122"/>
              </a:rPr>
              <a:t>                                [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楷体" pitchFamily="49" charset="-122"/>
              </a:rPr>
              <a:t>－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楷体" pitchFamily="49" charset="-122"/>
              </a:rPr>
              <a:t>0]</a:t>
            </a:r>
            <a:r>
              <a:rPr lang="zh-CN" altLang="en-US" b="1" baseline="-25000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楷体" pitchFamily="49" charset="-122"/>
              </a:rPr>
              <a:t>原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楷体" pitchFamily="49" charset="-122"/>
              </a:rPr>
              <a:t> ＝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楷体" pitchFamily="49" charset="-122"/>
              </a:rPr>
              <a:t>1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楷体" pitchFamily="49" charset="-122"/>
              </a:rPr>
              <a:t>00…0  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楷体" pitchFamily="49" charset="-122"/>
              </a:rPr>
              <a:t>或 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楷体" pitchFamily="49" charset="-122"/>
              </a:rPr>
              <a:t>1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楷体" pitchFamily="49" charset="-122"/>
              </a:rPr>
              <a:t>.00…0</a:t>
            </a:r>
          </a:p>
        </p:txBody>
      </p:sp>
      <p:grpSp>
        <p:nvGrpSpPr>
          <p:cNvPr id="703517" name="Group 29"/>
          <p:cNvGrpSpPr>
            <a:grpSpLocks/>
          </p:cNvGrpSpPr>
          <p:nvPr/>
        </p:nvGrpSpPr>
        <p:grpSpPr bwMode="auto">
          <a:xfrm>
            <a:off x="-14741" y="0"/>
            <a:ext cx="446088" cy="6858000"/>
            <a:chOff x="0" y="0"/>
            <a:chExt cx="281" cy="4320"/>
          </a:xfrm>
        </p:grpSpPr>
        <p:sp>
          <p:nvSpPr>
            <p:cNvPr id="703518" name="Text Box 30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</a:rPr>
                <a:t>第三版</a:t>
              </a: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第一章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预备知识</a:t>
              </a:r>
            </a:p>
          </p:txBody>
        </p:sp>
        <p:sp>
          <p:nvSpPr>
            <p:cNvPr id="703519" name="Text Box 31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035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7035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7035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7035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7035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7035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3511" grpId="0" build="p" bldLvl="5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514" name="Text Box 2"/>
          <p:cNvSpPr txBox="1">
            <a:spLocks noChangeArrowheads="1"/>
          </p:cNvSpPr>
          <p:nvPr/>
        </p:nvSpPr>
        <p:spPr bwMode="auto">
          <a:xfrm>
            <a:off x="578985" y="244475"/>
            <a:ext cx="6931025" cy="579438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kumimoji="0" lang="en-US" altLang="zh-CN" sz="32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1.3 </a:t>
            </a:r>
            <a:r>
              <a:rPr kumimoji="0" lang="zh-CN" altLang="en-US" sz="32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机器数的表示形式及其表示范围</a:t>
            </a:r>
          </a:p>
        </p:txBody>
      </p:sp>
      <p:sp>
        <p:nvSpPr>
          <p:cNvPr id="704515" name="Rectangle 3"/>
          <p:cNvSpPr>
            <a:spLocks noChangeArrowheads="1"/>
          </p:cNvSpPr>
          <p:nvPr/>
        </p:nvSpPr>
        <p:spPr bwMode="auto">
          <a:xfrm>
            <a:off x="587751" y="828677"/>
            <a:ext cx="11052865" cy="1808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sz="32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反码</a:t>
            </a:r>
            <a:endParaRPr lang="zh-CN" altLang="en-US" sz="3200" b="1" dirty="0">
              <a:solidFill>
                <a:srgbClr val="FF0066"/>
              </a:solidFill>
              <a:effectLst>
                <a:outerShdw blurRad="38100" dist="38100" dir="2700000" algn="tl">
                  <a:srgbClr val="000000"/>
                </a:outerShdw>
              </a:effectLst>
              <a:ea typeface="隶书" pitchFamily="49" charset="-122"/>
            </a:endParaRPr>
          </a:p>
          <a:p>
            <a:pPr algn="just">
              <a:spcBef>
                <a:spcPct val="20000"/>
              </a:spcBef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    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反码又称为“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对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的补数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”。用反码表示时，左边第一位也是符号位，符号位为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0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代表正数，符号位为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代表负数，对于负数，反码的数值是将原码数值</a:t>
            </a:r>
            <a:r>
              <a:rPr lang="zh-CN" altLang="en-US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按位求反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，而对于正数，反码和原码相同。所以，反码数值的形成与它的符号位有关。 </a:t>
            </a:r>
          </a:p>
        </p:txBody>
      </p:sp>
      <p:sp>
        <p:nvSpPr>
          <p:cNvPr id="704519" name="Rectangle 7"/>
          <p:cNvSpPr>
            <a:spLocks noChangeArrowheads="1"/>
          </p:cNvSpPr>
          <p:nvPr/>
        </p:nvSpPr>
        <p:spPr bwMode="auto">
          <a:xfrm>
            <a:off x="1200249" y="2597274"/>
            <a:ext cx="6911975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例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：  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N1  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＝ 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+10011             N2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＝ 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- 01010</a:t>
            </a:r>
          </a:p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 [N1]</a:t>
            </a:r>
            <a:r>
              <a:rPr lang="zh-CN" altLang="en-US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反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＝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10011           [N2]</a:t>
            </a:r>
            <a:r>
              <a:rPr lang="zh-CN" altLang="en-US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反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＝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10101</a:t>
            </a:r>
          </a:p>
        </p:txBody>
      </p:sp>
      <p:sp>
        <p:nvSpPr>
          <p:cNvPr id="704520" name="Rectangle 8"/>
          <p:cNvSpPr>
            <a:spLocks noChangeArrowheads="1"/>
          </p:cNvSpPr>
          <p:nvPr/>
        </p:nvSpPr>
        <p:spPr bwMode="auto">
          <a:xfrm>
            <a:off x="623392" y="3664074"/>
            <a:ext cx="10873208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   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根据上述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反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码形成规则，一个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位的整数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（包含一位符号位）的反码一般表示为：</a:t>
            </a:r>
          </a:p>
        </p:txBody>
      </p:sp>
      <p:grpSp>
        <p:nvGrpSpPr>
          <p:cNvPr id="704521" name="Group 9"/>
          <p:cNvGrpSpPr>
            <a:grpSpLocks/>
          </p:cNvGrpSpPr>
          <p:nvPr/>
        </p:nvGrpSpPr>
        <p:grpSpPr bwMode="auto">
          <a:xfrm>
            <a:off x="1919536" y="4581128"/>
            <a:ext cx="8496944" cy="1295400"/>
            <a:chOff x="841" y="2805"/>
            <a:chExt cx="4173" cy="816"/>
          </a:xfrm>
        </p:grpSpPr>
        <p:sp>
          <p:nvSpPr>
            <p:cNvPr id="704522" name="Rectangle 10"/>
            <p:cNvSpPr>
              <a:spLocks noChangeArrowheads="1"/>
            </p:cNvSpPr>
            <p:nvPr/>
          </p:nvSpPr>
          <p:spPr bwMode="auto">
            <a:xfrm>
              <a:off x="841" y="2805"/>
              <a:ext cx="4173" cy="816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shade val="30000"/>
                    <a:satMod val="115000"/>
                  </a:schemeClr>
                </a:gs>
                <a:gs pos="50000">
                  <a:schemeClr val="bg1">
                    <a:shade val="67500"/>
                    <a:satMod val="11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 w="38100">
              <a:solidFill>
                <a:srgbClr val="CC00CC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704523" name="Group 11"/>
            <p:cNvGrpSpPr>
              <a:grpSpLocks/>
            </p:cNvGrpSpPr>
            <p:nvPr/>
          </p:nvGrpSpPr>
          <p:grpSpPr bwMode="auto">
            <a:xfrm>
              <a:off x="1071" y="2817"/>
              <a:ext cx="3820" cy="756"/>
              <a:chOff x="729" y="2907"/>
              <a:chExt cx="3820" cy="756"/>
            </a:xfrm>
          </p:grpSpPr>
          <p:sp>
            <p:nvSpPr>
              <p:cNvPr id="704524" name="Rectangle 12"/>
              <p:cNvSpPr>
                <a:spLocks noChangeArrowheads="1"/>
              </p:cNvSpPr>
              <p:nvPr/>
            </p:nvSpPr>
            <p:spPr bwMode="auto">
              <a:xfrm>
                <a:off x="729" y="2907"/>
                <a:ext cx="3820" cy="7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indent="266700"/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           N                      0 ≤ N </a:t>
                </a:r>
                <a:r>
                  <a:rPr lang="zh-CN" alt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＜ 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US" altLang="zh-CN" b="1" baseline="30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n-1</a:t>
                </a:r>
              </a:p>
              <a:p>
                <a:pPr indent="266700"/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[N]</a:t>
                </a:r>
                <a:r>
                  <a:rPr lang="zh-CN" altLang="en-US" b="1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反</a:t>
                </a:r>
                <a:r>
                  <a:rPr lang="zh-CN" alt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＝ </a:t>
                </a:r>
              </a:p>
              <a:p>
                <a:pPr indent="266700"/>
                <a:r>
                  <a:rPr lang="zh-CN" alt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          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(2</a:t>
                </a:r>
                <a:r>
                  <a:rPr lang="en-US" altLang="zh-CN" b="1" baseline="30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n</a:t>
                </a:r>
                <a:r>
                  <a:rPr lang="zh-CN" alt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－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1) </a:t>
                </a:r>
                <a:r>
                  <a:rPr lang="zh-CN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＋</a:t>
                </a:r>
                <a:r>
                  <a:rPr lang="zh-CN" alt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N     </a:t>
                </a:r>
                <a:r>
                  <a:rPr lang="zh-CN" alt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－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US" altLang="zh-CN" b="1" baseline="30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n-1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zh-CN" alt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＜ 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N ≤ 0</a:t>
                </a:r>
              </a:p>
            </p:txBody>
          </p:sp>
          <p:sp>
            <p:nvSpPr>
              <p:cNvPr id="704525" name="AutoShape 13"/>
              <p:cNvSpPr>
                <a:spLocks/>
              </p:cNvSpPr>
              <p:nvPr/>
            </p:nvSpPr>
            <p:spPr bwMode="auto">
              <a:xfrm>
                <a:off x="1545" y="3022"/>
                <a:ext cx="136" cy="544"/>
              </a:xfrm>
              <a:prstGeom prst="leftBrace">
                <a:avLst>
                  <a:gd name="adj1" fmla="val 33333"/>
                  <a:gd name="adj2" fmla="val 50000"/>
                </a:avLst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</p:grpSp>
      </p:grpSp>
      <p:grpSp>
        <p:nvGrpSpPr>
          <p:cNvPr id="704529" name="Group 17"/>
          <p:cNvGrpSpPr>
            <a:grpSpLocks/>
          </p:cNvGrpSpPr>
          <p:nvPr/>
        </p:nvGrpSpPr>
        <p:grpSpPr bwMode="auto">
          <a:xfrm>
            <a:off x="-14741" y="0"/>
            <a:ext cx="446088" cy="6858000"/>
            <a:chOff x="0" y="0"/>
            <a:chExt cx="281" cy="4320"/>
          </a:xfrm>
        </p:grpSpPr>
        <p:sp>
          <p:nvSpPr>
            <p:cNvPr id="704530" name="Text Box 18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</a:rPr>
                <a:t>第三版</a:t>
              </a: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第一章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预备知识</a:t>
              </a:r>
            </a:p>
          </p:txBody>
        </p:sp>
        <p:sp>
          <p:nvSpPr>
            <p:cNvPr id="704531" name="Text Box 19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0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70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7045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7045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7045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7045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4515" grpId="0" build="p" bldLvl="5" autoUpdateAnimBg="0"/>
      <p:bldP spid="704519" grpId="0" build="p" bldLvl="5" autoUpdateAnimBg="0"/>
      <p:bldP spid="704520" grpId="0" build="p" bldLvl="5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538" name="Text Box 2"/>
          <p:cNvSpPr txBox="1">
            <a:spLocks noChangeArrowheads="1"/>
          </p:cNvSpPr>
          <p:nvPr/>
        </p:nvSpPr>
        <p:spPr bwMode="auto">
          <a:xfrm>
            <a:off x="578985" y="244475"/>
            <a:ext cx="6931025" cy="579438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kumimoji="0" lang="en-US" altLang="zh-CN" sz="32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1.3 </a:t>
            </a:r>
            <a:r>
              <a:rPr kumimoji="0" lang="zh-CN" altLang="en-US" sz="32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机器数的表示形式及其表示范围</a:t>
            </a:r>
          </a:p>
        </p:txBody>
      </p:sp>
      <p:sp>
        <p:nvSpPr>
          <p:cNvPr id="705539" name="Rectangle 3"/>
          <p:cNvSpPr>
            <a:spLocks noChangeArrowheads="1"/>
          </p:cNvSpPr>
          <p:nvPr/>
        </p:nvSpPr>
        <p:spPr bwMode="auto">
          <a:xfrm>
            <a:off x="669025" y="910675"/>
            <a:ext cx="2690671" cy="557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sz="32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反码</a:t>
            </a:r>
            <a:endParaRPr lang="zh-CN" altLang="en-US" sz="3200" b="1" dirty="0">
              <a:solidFill>
                <a:srgbClr val="FF0066"/>
              </a:solidFill>
              <a:effectLst>
                <a:outerShdw blurRad="38100" dist="38100" dir="2700000" algn="tl">
                  <a:srgbClr val="000000"/>
                </a:outerShdw>
              </a:effectLst>
              <a:ea typeface="隶书" pitchFamily="49" charset="-122"/>
            </a:endParaRPr>
          </a:p>
          <a:p>
            <a:pPr algn="just">
              <a:spcBef>
                <a:spcPct val="20000"/>
              </a:spcBef>
            </a:pP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05543" name="Rectangle 7"/>
          <p:cNvSpPr>
            <a:spLocks noChangeArrowheads="1"/>
          </p:cNvSpPr>
          <p:nvPr/>
        </p:nvSpPr>
        <p:spPr bwMode="auto">
          <a:xfrm>
            <a:off x="808619" y="1485900"/>
            <a:ext cx="10107047" cy="481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对于这样的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位整数其反码表示的数的范围为：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－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(2</a:t>
            </a:r>
            <a:r>
              <a:rPr lang="en-US" altLang="zh-CN" b="1" baseline="30000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n-1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－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1) 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～ 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(2</a:t>
            </a:r>
            <a:r>
              <a:rPr lang="en-US" altLang="zh-CN" b="1" baseline="30000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n-1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－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1)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。</a:t>
            </a:r>
          </a:p>
        </p:txBody>
      </p:sp>
      <p:grpSp>
        <p:nvGrpSpPr>
          <p:cNvPr id="705544" name="Group 8"/>
          <p:cNvGrpSpPr>
            <a:grpSpLocks/>
          </p:cNvGrpSpPr>
          <p:nvPr/>
        </p:nvGrpSpPr>
        <p:grpSpPr bwMode="auto">
          <a:xfrm>
            <a:off x="1847627" y="3861048"/>
            <a:ext cx="8712869" cy="1295400"/>
            <a:chOff x="841" y="2805"/>
            <a:chExt cx="4173" cy="816"/>
          </a:xfrm>
        </p:grpSpPr>
        <p:sp>
          <p:nvSpPr>
            <p:cNvPr id="705545" name="Rectangle 9"/>
            <p:cNvSpPr>
              <a:spLocks noChangeArrowheads="1"/>
            </p:cNvSpPr>
            <p:nvPr/>
          </p:nvSpPr>
          <p:spPr bwMode="auto">
            <a:xfrm>
              <a:off x="841" y="2805"/>
              <a:ext cx="4173" cy="816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shade val="30000"/>
                    <a:satMod val="115000"/>
                  </a:schemeClr>
                </a:gs>
                <a:gs pos="50000">
                  <a:schemeClr val="bg1">
                    <a:shade val="67500"/>
                    <a:satMod val="11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 w="38100">
              <a:solidFill>
                <a:srgbClr val="CC00CC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705546" name="Group 10"/>
            <p:cNvGrpSpPr>
              <a:grpSpLocks/>
            </p:cNvGrpSpPr>
            <p:nvPr/>
          </p:nvGrpSpPr>
          <p:grpSpPr bwMode="auto">
            <a:xfrm>
              <a:off x="1071" y="2817"/>
              <a:ext cx="3720" cy="756"/>
              <a:chOff x="729" y="2907"/>
              <a:chExt cx="3720" cy="756"/>
            </a:xfrm>
          </p:grpSpPr>
          <p:sp>
            <p:nvSpPr>
              <p:cNvPr id="705547" name="Rectangle 11"/>
              <p:cNvSpPr>
                <a:spLocks noChangeArrowheads="1"/>
              </p:cNvSpPr>
              <p:nvPr/>
            </p:nvSpPr>
            <p:spPr bwMode="auto">
              <a:xfrm>
                <a:off x="729" y="2907"/>
                <a:ext cx="3720" cy="7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indent="266700"/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           N                         0 ≤ N </a:t>
                </a:r>
                <a:r>
                  <a:rPr lang="zh-CN" alt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＜ 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endParaRPr lang="en-US" altLang="zh-CN" b="1" baseline="30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indent="266700"/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[N]</a:t>
                </a:r>
                <a:r>
                  <a:rPr lang="zh-CN" altLang="en-US" b="1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反</a:t>
                </a:r>
                <a:r>
                  <a:rPr lang="zh-CN" alt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＝ </a:t>
                </a:r>
              </a:p>
              <a:p>
                <a:pPr indent="266700"/>
                <a:r>
                  <a:rPr lang="zh-CN" alt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          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(2 </a:t>
                </a:r>
                <a:r>
                  <a:rPr lang="zh-CN" alt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－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US" altLang="zh-CN" b="1" baseline="30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-m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)</a:t>
                </a:r>
                <a:r>
                  <a:rPr lang="zh-CN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＋</a:t>
                </a:r>
                <a:r>
                  <a:rPr lang="zh-CN" alt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N     </a:t>
                </a:r>
                <a:r>
                  <a:rPr lang="zh-CN" alt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－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 </a:t>
                </a:r>
                <a:r>
                  <a:rPr lang="zh-CN" alt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＜ 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N ≤ 0</a:t>
                </a:r>
              </a:p>
            </p:txBody>
          </p:sp>
          <p:sp>
            <p:nvSpPr>
              <p:cNvPr id="705548" name="AutoShape 12"/>
              <p:cNvSpPr>
                <a:spLocks/>
              </p:cNvSpPr>
              <p:nvPr/>
            </p:nvSpPr>
            <p:spPr bwMode="auto">
              <a:xfrm>
                <a:off x="1519" y="3022"/>
                <a:ext cx="136" cy="544"/>
              </a:xfrm>
              <a:prstGeom prst="leftBrace">
                <a:avLst>
                  <a:gd name="adj1" fmla="val 33333"/>
                  <a:gd name="adj2" fmla="val 50000"/>
                </a:avLst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</p:grpSp>
      </p:grpSp>
      <p:grpSp>
        <p:nvGrpSpPr>
          <p:cNvPr id="705549" name="Group 13"/>
          <p:cNvGrpSpPr>
            <a:grpSpLocks/>
          </p:cNvGrpSpPr>
          <p:nvPr/>
        </p:nvGrpSpPr>
        <p:grpSpPr bwMode="auto">
          <a:xfrm>
            <a:off x="3437607" y="2060848"/>
            <a:ext cx="4746625" cy="885825"/>
            <a:chOff x="1332" y="1689"/>
            <a:chExt cx="2990" cy="558"/>
          </a:xfrm>
        </p:grpSpPr>
        <p:grpSp>
          <p:nvGrpSpPr>
            <p:cNvPr id="705550" name="Group 14"/>
            <p:cNvGrpSpPr>
              <a:grpSpLocks/>
            </p:cNvGrpSpPr>
            <p:nvPr/>
          </p:nvGrpSpPr>
          <p:grpSpPr bwMode="auto">
            <a:xfrm>
              <a:off x="1332" y="1706"/>
              <a:ext cx="1315" cy="541"/>
              <a:chOff x="1332" y="1706"/>
              <a:chExt cx="1315" cy="541"/>
            </a:xfrm>
          </p:grpSpPr>
          <p:sp>
            <p:nvSpPr>
              <p:cNvPr id="705551" name="AutoShape 15"/>
              <p:cNvSpPr>
                <a:spLocks/>
              </p:cNvSpPr>
              <p:nvPr/>
            </p:nvSpPr>
            <p:spPr bwMode="auto">
              <a:xfrm rot="5400000">
                <a:off x="1845" y="1628"/>
                <a:ext cx="127" cy="762"/>
              </a:xfrm>
              <a:prstGeom prst="rightBrace">
                <a:avLst>
                  <a:gd name="adj1" fmla="val 50000"/>
                  <a:gd name="adj2" fmla="val 50000"/>
                </a:avLst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5552" name="Text Box 16"/>
              <p:cNvSpPr txBox="1">
                <a:spLocks noChangeArrowheads="1"/>
              </p:cNvSpPr>
              <p:nvPr/>
            </p:nvSpPr>
            <p:spPr bwMode="auto">
              <a:xfrm>
                <a:off x="1332" y="1706"/>
                <a:ext cx="1315" cy="1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b="1">
                    <a:solidFill>
                      <a:srgbClr val="FF0000"/>
                    </a:solidFill>
                  </a:rPr>
                  <a:t>1</a:t>
                </a:r>
                <a:r>
                  <a:rPr lang="en-US" altLang="zh-CN" b="1"/>
                  <a:t>00………0</a:t>
                </a:r>
              </a:p>
            </p:txBody>
          </p:sp>
          <p:sp>
            <p:nvSpPr>
              <p:cNvPr id="705553" name="Text Box 17"/>
              <p:cNvSpPr txBox="1">
                <a:spLocks noChangeArrowheads="1"/>
              </p:cNvSpPr>
              <p:nvPr/>
            </p:nvSpPr>
            <p:spPr bwMode="auto">
              <a:xfrm>
                <a:off x="1651" y="2060"/>
                <a:ext cx="671" cy="1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1800" b="1"/>
                  <a:t>n-1</a:t>
                </a:r>
                <a:r>
                  <a:rPr lang="zh-CN" altLang="en-US" sz="1800" b="1"/>
                  <a:t>个</a:t>
                </a:r>
                <a:r>
                  <a:rPr lang="en-US" altLang="zh-CN" sz="1800" b="1"/>
                  <a:t>0</a:t>
                </a:r>
              </a:p>
            </p:txBody>
          </p:sp>
        </p:grpSp>
        <p:sp>
          <p:nvSpPr>
            <p:cNvPr id="705554" name="Line 18"/>
            <p:cNvSpPr>
              <a:spLocks noChangeShapeType="1"/>
            </p:cNvSpPr>
            <p:nvPr/>
          </p:nvSpPr>
          <p:spPr bwMode="auto">
            <a:xfrm>
              <a:off x="2494" y="1862"/>
              <a:ext cx="473" cy="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ysDot"/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05555" name="Group 19"/>
            <p:cNvGrpSpPr>
              <a:grpSpLocks/>
            </p:cNvGrpSpPr>
            <p:nvPr/>
          </p:nvGrpSpPr>
          <p:grpSpPr bwMode="auto">
            <a:xfrm>
              <a:off x="3007" y="1689"/>
              <a:ext cx="1315" cy="541"/>
              <a:chOff x="1332" y="1706"/>
              <a:chExt cx="1315" cy="541"/>
            </a:xfrm>
          </p:grpSpPr>
          <p:sp>
            <p:nvSpPr>
              <p:cNvPr id="705556" name="AutoShape 20"/>
              <p:cNvSpPr>
                <a:spLocks/>
              </p:cNvSpPr>
              <p:nvPr/>
            </p:nvSpPr>
            <p:spPr bwMode="auto">
              <a:xfrm rot="5400000">
                <a:off x="1845" y="1616"/>
                <a:ext cx="127" cy="762"/>
              </a:xfrm>
              <a:prstGeom prst="rightBrace">
                <a:avLst>
                  <a:gd name="adj1" fmla="val 50000"/>
                  <a:gd name="adj2" fmla="val 50000"/>
                </a:avLst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5557" name="Text Box 21"/>
              <p:cNvSpPr txBox="1">
                <a:spLocks noChangeArrowheads="1"/>
              </p:cNvSpPr>
              <p:nvPr/>
            </p:nvSpPr>
            <p:spPr bwMode="auto">
              <a:xfrm>
                <a:off x="1332" y="1706"/>
                <a:ext cx="1315" cy="1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b="1" dirty="0">
                    <a:solidFill>
                      <a:srgbClr val="FF0000"/>
                    </a:solidFill>
                  </a:rPr>
                  <a:t>0</a:t>
                </a:r>
                <a:r>
                  <a:rPr lang="en-US" altLang="zh-CN" b="1" dirty="0"/>
                  <a:t>11………1</a:t>
                </a:r>
              </a:p>
            </p:txBody>
          </p:sp>
          <p:sp>
            <p:nvSpPr>
              <p:cNvPr id="705558" name="Text Box 22"/>
              <p:cNvSpPr txBox="1">
                <a:spLocks noChangeArrowheads="1"/>
              </p:cNvSpPr>
              <p:nvPr/>
            </p:nvSpPr>
            <p:spPr bwMode="auto">
              <a:xfrm>
                <a:off x="1651" y="2060"/>
                <a:ext cx="671" cy="1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1800" b="1"/>
                  <a:t>n-1</a:t>
                </a:r>
                <a:r>
                  <a:rPr lang="zh-CN" altLang="en-US" sz="1800" b="1"/>
                  <a:t>个</a:t>
                </a:r>
                <a:r>
                  <a:rPr lang="en-US" altLang="zh-CN" sz="1800" b="1"/>
                  <a:t>1</a:t>
                </a:r>
              </a:p>
            </p:txBody>
          </p:sp>
        </p:grpSp>
      </p:grpSp>
      <p:sp>
        <p:nvSpPr>
          <p:cNvPr id="705559" name="Rectangle 23"/>
          <p:cNvSpPr>
            <a:spLocks noChangeArrowheads="1"/>
          </p:cNvSpPr>
          <p:nvPr/>
        </p:nvSpPr>
        <p:spPr bwMode="auto">
          <a:xfrm>
            <a:off x="828691" y="3186113"/>
            <a:ext cx="10235861" cy="5146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对于定点小数，若小数部分的位数为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m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位，则定点小数反码一般表示为： </a:t>
            </a:r>
          </a:p>
        </p:txBody>
      </p:sp>
      <p:sp>
        <p:nvSpPr>
          <p:cNvPr id="705560" name="Rectangle 24"/>
          <p:cNvSpPr>
            <a:spLocks noChangeArrowheads="1"/>
          </p:cNvSpPr>
          <p:nvPr/>
        </p:nvSpPr>
        <p:spPr bwMode="auto">
          <a:xfrm>
            <a:off x="1029957" y="5445224"/>
            <a:ext cx="7730339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spcBef>
                <a:spcPct val="20000"/>
              </a:spcBef>
              <a:buFont typeface="Wingding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对于这样的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m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位小数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(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含一符号位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)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其反码表示数的范围为：</a:t>
            </a:r>
          </a:p>
          <a:p>
            <a:pPr algn="just">
              <a:spcBef>
                <a:spcPct val="20000"/>
              </a:spcBef>
              <a:buFont typeface="Wingding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  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－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(1 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－ 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2</a:t>
            </a:r>
            <a:r>
              <a:rPr lang="en-US" altLang="zh-CN" b="1" baseline="30000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-(m-1)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) 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～ 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(1 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－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2</a:t>
            </a:r>
            <a:r>
              <a:rPr lang="en-US" altLang="zh-CN" b="1" baseline="30000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-(m-1)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)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。</a:t>
            </a:r>
          </a:p>
        </p:txBody>
      </p:sp>
      <p:grpSp>
        <p:nvGrpSpPr>
          <p:cNvPr id="705564" name="Group 28"/>
          <p:cNvGrpSpPr>
            <a:grpSpLocks/>
          </p:cNvGrpSpPr>
          <p:nvPr/>
        </p:nvGrpSpPr>
        <p:grpSpPr bwMode="auto">
          <a:xfrm>
            <a:off x="-14741" y="0"/>
            <a:ext cx="446088" cy="6858000"/>
            <a:chOff x="0" y="0"/>
            <a:chExt cx="281" cy="4320"/>
          </a:xfrm>
        </p:grpSpPr>
        <p:sp>
          <p:nvSpPr>
            <p:cNvPr id="705565" name="Text Box 29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</a:rPr>
                <a:t>第三版</a:t>
              </a: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第一章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预备知识</a:t>
              </a:r>
            </a:p>
          </p:txBody>
        </p:sp>
        <p:sp>
          <p:nvSpPr>
            <p:cNvPr id="705566" name="Text Box 30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grpSp>
        <p:nvGrpSpPr>
          <p:cNvPr id="25" name="Group 7">
            <a:extLst>
              <a:ext uri="{FF2B5EF4-FFF2-40B4-BE49-F238E27FC236}">
                <a16:creationId xmlns:a16="http://schemas.microsoft.com/office/drawing/2014/main" id="{862DF00E-8D30-4FD6-8D2A-C4CE45AF3DBD}"/>
              </a:ext>
            </a:extLst>
          </p:cNvPr>
          <p:cNvGrpSpPr>
            <a:grpSpLocks/>
          </p:cNvGrpSpPr>
          <p:nvPr/>
        </p:nvGrpSpPr>
        <p:grpSpPr bwMode="auto">
          <a:xfrm>
            <a:off x="6317927" y="5826352"/>
            <a:ext cx="4746625" cy="885825"/>
            <a:chOff x="1332" y="1050"/>
            <a:chExt cx="2990" cy="558"/>
          </a:xfrm>
        </p:grpSpPr>
        <p:sp>
          <p:nvSpPr>
            <p:cNvPr id="26" name="AutoShape 8">
              <a:extLst>
                <a:ext uri="{FF2B5EF4-FFF2-40B4-BE49-F238E27FC236}">
                  <a16:creationId xmlns:a16="http://schemas.microsoft.com/office/drawing/2014/main" id="{A1F08E18-EC44-48CA-A264-002621801D8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899" y="989"/>
              <a:ext cx="127" cy="762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 Box 9">
              <a:extLst>
                <a:ext uri="{FF2B5EF4-FFF2-40B4-BE49-F238E27FC236}">
                  <a16:creationId xmlns:a16="http://schemas.microsoft.com/office/drawing/2014/main" id="{EF7C6F82-FC33-4BB2-8DA4-3E91B624C0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2" y="1067"/>
              <a:ext cx="1315" cy="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b="1">
                  <a:solidFill>
                    <a:srgbClr val="FF0000"/>
                  </a:solidFill>
                </a:rPr>
                <a:t>1</a:t>
              </a:r>
              <a:r>
                <a:rPr lang="en-US" altLang="zh-CN" b="1"/>
                <a:t>.00………0</a:t>
              </a:r>
            </a:p>
          </p:txBody>
        </p:sp>
        <p:sp>
          <p:nvSpPr>
            <p:cNvPr id="28" name="Text Box 10">
              <a:extLst>
                <a:ext uri="{FF2B5EF4-FFF2-40B4-BE49-F238E27FC236}">
                  <a16:creationId xmlns:a16="http://schemas.microsoft.com/office/drawing/2014/main" id="{75AF2D1F-E17A-4D12-B807-0E3D338F7A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2" y="1421"/>
              <a:ext cx="671" cy="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1800" b="1"/>
                <a:t>m-1</a:t>
              </a:r>
              <a:r>
                <a:rPr lang="zh-CN" altLang="en-US" sz="1800" b="1"/>
                <a:t>个</a:t>
              </a:r>
              <a:r>
                <a:rPr lang="en-US" altLang="zh-CN" sz="1800" b="1"/>
                <a:t>0</a:t>
              </a:r>
            </a:p>
          </p:txBody>
        </p:sp>
        <p:sp>
          <p:nvSpPr>
            <p:cNvPr id="29" name="Line 11">
              <a:extLst>
                <a:ext uri="{FF2B5EF4-FFF2-40B4-BE49-F238E27FC236}">
                  <a16:creationId xmlns:a16="http://schemas.microsoft.com/office/drawing/2014/main" id="{6A3DEF63-A7D1-470E-9056-B2706DAF97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4" y="1223"/>
              <a:ext cx="473" cy="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ysDot"/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AutoShape 12">
              <a:extLst>
                <a:ext uri="{FF2B5EF4-FFF2-40B4-BE49-F238E27FC236}">
                  <a16:creationId xmlns:a16="http://schemas.microsoft.com/office/drawing/2014/main" id="{785B1BDC-D3D8-4D33-8173-1B12A67C3B3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3574" y="960"/>
              <a:ext cx="127" cy="762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Text Box 13">
              <a:extLst>
                <a:ext uri="{FF2B5EF4-FFF2-40B4-BE49-F238E27FC236}">
                  <a16:creationId xmlns:a16="http://schemas.microsoft.com/office/drawing/2014/main" id="{9E989A79-8B98-41FA-A9EF-DB5115090A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7" y="1050"/>
              <a:ext cx="1315" cy="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b="1" dirty="0">
                  <a:solidFill>
                    <a:srgbClr val="FF0000"/>
                  </a:solidFill>
                </a:rPr>
                <a:t>0</a:t>
              </a:r>
              <a:r>
                <a:rPr lang="en-US" altLang="zh-CN" b="1" dirty="0"/>
                <a:t>.11………1</a:t>
              </a:r>
            </a:p>
          </p:txBody>
        </p:sp>
        <p:sp>
          <p:nvSpPr>
            <p:cNvPr id="32" name="Text Box 14">
              <a:extLst>
                <a:ext uri="{FF2B5EF4-FFF2-40B4-BE49-F238E27FC236}">
                  <a16:creationId xmlns:a16="http://schemas.microsoft.com/office/drawing/2014/main" id="{9A754554-E90E-4092-9547-5D9AB6714A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6" y="1404"/>
              <a:ext cx="671" cy="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1800" b="1"/>
                <a:t>m-1</a:t>
              </a:r>
              <a:r>
                <a:rPr lang="zh-CN" altLang="en-US" sz="1800" b="1"/>
                <a:t>个</a:t>
              </a:r>
              <a:r>
                <a:rPr lang="en-US" altLang="zh-CN" sz="1800" b="1"/>
                <a:t>1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055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055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7055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7055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7055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7055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5543" grpId="0" build="p" bldLvl="5" autoUpdateAnimBg="0"/>
      <p:bldP spid="705559" grpId="0" build="p" bldLvl="5" autoUpdateAnimBg="0"/>
      <p:bldP spid="705560" grpId="0" build="p" bldLvl="5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62" name="Text Box 2"/>
          <p:cNvSpPr txBox="1">
            <a:spLocks noChangeArrowheads="1"/>
          </p:cNvSpPr>
          <p:nvPr/>
        </p:nvSpPr>
        <p:spPr bwMode="auto">
          <a:xfrm>
            <a:off x="578985" y="244475"/>
            <a:ext cx="6931025" cy="579438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kumimoji="0" lang="en-US" altLang="zh-CN" sz="32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1.3 </a:t>
            </a:r>
            <a:r>
              <a:rPr kumimoji="0" lang="zh-CN" altLang="en-US" sz="32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机器数的表示形式及其表示范围</a:t>
            </a:r>
          </a:p>
        </p:txBody>
      </p:sp>
      <p:sp>
        <p:nvSpPr>
          <p:cNvPr id="706563" name="Rectangle 3"/>
          <p:cNvSpPr>
            <a:spLocks noChangeArrowheads="1"/>
          </p:cNvSpPr>
          <p:nvPr/>
        </p:nvSpPr>
        <p:spPr bwMode="auto">
          <a:xfrm>
            <a:off x="768374" y="980728"/>
            <a:ext cx="8135938" cy="557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sz="32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反码</a:t>
            </a:r>
            <a:endParaRPr lang="zh-CN" altLang="en-US" sz="3200" b="1" dirty="0">
              <a:solidFill>
                <a:srgbClr val="FF0066"/>
              </a:solidFill>
              <a:effectLst>
                <a:outerShdw blurRad="38100" dist="38100" dir="2700000" algn="tl">
                  <a:srgbClr val="000000"/>
                </a:outerShdw>
              </a:effectLst>
              <a:ea typeface="隶书" pitchFamily="49" charset="-122"/>
            </a:endParaRPr>
          </a:p>
          <a:p>
            <a:pPr algn="just">
              <a:spcBef>
                <a:spcPct val="20000"/>
              </a:spcBef>
            </a:pP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06575" name="Rectangle 15"/>
          <p:cNvSpPr>
            <a:spLocks noChangeArrowheads="1"/>
          </p:cNvSpPr>
          <p:nvPr/>
        </p:nvSpPr>
        <p:spPr bwMode="auto">
          <a:xfrm>
            <a:off x="1199456" y="1809179"/>
            <a:ext cx="10297144" cy="3203997"/>
          </a:xfrm>
          <a:prstGeom prst="rect">
            <a:avLst/>
          </a:prstGeom>
          <a:ln w="38100"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ts val="3500"/>
              </a:lnSpc>
              <a:spcBef>
                <a:spcPct val="20000"/>
              </a:spcBef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总结：</a:t>
            </a:r>
          </a:p>
          <a:p>
            <a:pPr marL="342900" indent="-342900">
              <a:lnSpc>
                <a:spcPts val="3500"/>
              </a:lnSpc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正数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N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的反码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[N]</a:t>
            </a:r>
            <a:r>
              <a:rPr lang="zh-CN" altLang="en-US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反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与原码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[N]</a:t>
            </a:r>
            <a:r>
              <a:rPr lang="zh-CN" altLang="en-US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原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相同。</a:t>
            </a:r>
          </a:p>
          <a:p>
            <a:pPr marL="342900" indent="-342900">
              <a:lnSpc>
                <a:spcPts val="3500"/>
              </a:lnSpc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对于负数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N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，其反码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[N]</a:t>
            </a:r>
            <a:r>
              <a:rPr lang="zh-CN" altLang="en-US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反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的符号为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1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，数值部分是将原码数值按位求反。</a:t>
            </a:r>
          </a:p>
          <a:p>
            <a:pPr marL="342900" indent="-342900">
              <a:lnSpc>
                <a:spcPts val="3500"/>
              </a:lnSpc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在反码表示中，有两种不同形式的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0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，即：</a:t>
            </a:r>
          </a:p>
          <a:p>
            <a:pPr lvl="1">
              <a:lnSpc>
                <a:spcPts val="3500"/>
              </a:lnSpc>
              <a:spcBef>
                <a:spcPct val="20000"/>
              </a:spcBef>
            </a:pP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                          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[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＋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0]</a:t>
            </a:r>
            <a:r>
              <a:rPr lang="zh-CN" altLang="en-US" b="1" baseline="-25000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反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 ＝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0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00…0  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或 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0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.00…0</a:t>
            </a:r>
          </a:p>
          <a:p>
            <a:pPr lvl="1">
              <a:lnSpc>
                <a:spcPts val="35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                          [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－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0]</a:t>
            </a:r>
            <a:r>
              <a:rPr lang="zh-CN" altLang="en-US" b="1" baseline="-25000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反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 ＝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1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11…1  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或 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1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.11…1</a:t>
            </a:r>
          </a:p>
        </p:txBody>
      </p:sp>
      <p:grpSp>
        <p:nvGrpSpPr>
          <p:cNvPr id="706579" name="Group 19"/>
          <p:cNvGrpSpPr>
            <a:grpSpLocks/>
          </p:cNvGrpSpPr>
          <p:nvPr/>
        </p:nvGrpSpPr>
        <p:grpSpPr bwMode="auto">
          <a:xfrm>
            <a:off x="-14741" y="0"/>
            <a:ext cx="446088" cy="6858000"/>
            <a:chOff x="0" y="0"/>
            <a:chExt cx="281" cy="4320"/>
          </a:xfrm>
        </p:grpSpPr>
        <p:sp>
          <p:nvSpPr>
            <p:cNvPr id="706580" name="Text Box 20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</a:rPr>
                <a:t>第三版</a:t>
              </a: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第一章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预备知识</a:t>
              </a:r>
            </a:p>
          </p:txBody>
        </p:sp>
        <p:sp>
          <p:nvSpPr>
            <p:cNvPr id="706581" name="Text Box 21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065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7065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7065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7065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7065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7065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75" grpId="0" build="p" bldLvl="5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7593" name="Group 9"/>
          <p:cNvGrpSpPr>
            <a:grpSpLocks/>
          </p:cNvGrpSpPr>
          <p:nvPr/>
        </p:nvGrpSpPr>
        <p:grpSpPr bwMode="auto">
          <a:xfrm>
            <a:off x="1775520" y="5065179"/>
            <a:ext cx="9145016" cy="1295400"/>
            <a:chOff x="841" y="2805"/>
            <a:chExt cx="4173" cy="816"/>
          </a:xfrm>
        </p:grpSpPr>
        <p:sp>
          <p:nvSpPr>
            <p:cNvPr id="707594" name="Rectangle 10"/>
            <p:cNvSpPr>
              <a:spLocks noChangeArrowheads="1"/>
            </p:cNvSpPr>
            <p:nvPr/>
          </p:nvSpPr>
          <p:spPr bwMode="auto">
            <a:xfrm>
              <a:off x="841" y="2805"/>
              <a:ext cx="4173" cy="816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shade val="30000"/>
                    <a:satMod val="115000"/>
                  </a:schemeClr>
                </a:gs>
                <a:gs pos="50000">
                  <a:schemeClr val="bg1">
                    <a:shade val="67500"/>
                    <a:satMod val="11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 w="38100">
              <a:solidFill>
                <a:srgbClr val="CC00CC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none" anchor="ctr"/>
            <a:lstStyle/>
            <a:p>
              <a:endPara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707595" name="Group 11"/>
            <p:cNvGrpSpPr>
              <a:grpSpLocks/>
            </p:cNvGrpSpPr>
            <p:nvPr/>
          </p:nvGrpSpPr>
          <p:grpSpPr bwMode="auto">
            <a:xfrm>
              <a:off x="1071" y="2817"/>
              <a:ext cx="3690" cy="756"/>
              <a:chOff x="729" y="2907"/>
              <a:chExt cx="3690" cy="756"/>
            </a:xfrm>
          </p:grpSpPr>
          <p:sp>
            <p:nvSpPr>
              <p:cNvPr id="707596" name="Rectangle 12"/>
              <p:cNvSpPr>
                <a:spLocks noChangeArrowheads="1"/>
              </p:cNvSpPr>
              <p:nvPr/>
            </p:nvSpPr>
            <p:spPr bwMode="auto">
              <a:xfrm>
                <a:off x="729" y="2907"/>
                <a:ext cx="3690" cy="7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indent="266700"/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           N                      0 ≤ N </a:t>
                </a:r>
                <a:r>
                  <a:rPr lang="zh-CN" alt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＜ 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US" altLang="zh-CN" b="1" baseline="30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n-1</a:t>
                </a:r>
              </a:p>
              <a:p>
                <a:pPr indent="266700"/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[N]</a:t>
                </a:r>
                <a:r>
                  <a:rPr lang="zh-CN" altLang="en-US" b="1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补</a:t>
                </a:r>
                <a:r>
                  <a:rPr lang="zh-CN" alt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＝ </a:t>
                </a:r>
              </a:p>
              <a:p>
                <a:pPr indent="266700"/>
                <a:r>
                  <a:rPr lang="zh-CN" alt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          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US" altLang="zh-CN" b="1" baseline="30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n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zh-CN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＋</a:t>
                </a:r>
                <a:r>
                  <a:rPr lang="zh-CN" alt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N           </a:t>
                </a:r>
                <a:r>
                  <a:rPr lang="zh-CN" alt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－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US" altLang="zh-CN" b="1" baseline="30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n-1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US" altLang="zh-CN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≤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N </a:t>
                </a:r>
                <a:r>
                  <a:rPr lang="zh-CN" altLang="en-US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＜</a:t>
                </a:r>
                <a:r>
                  <a:rPr lang="zh-CN" alt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0</a:t>
                </a:r>
              </a:p>
            </p:txBody>
          </p:sp>
          <p:sp>
            <p:nvSpPr>
              <p:cNvPr id="707597" name="AutoShape 13"/>
              <p:cNvSpPr>
                <a:spLocks/>
              </p:cNvSpPr>
              <p:nvPr/>
            </p:nvSpPr>
            <p:spPr bwMode="auto">
              <a:xfrm>
                <a:off x="1485" y="3022"/>
                <a:ext cx="136" cy="544"/>
              </a:xfrm>
              <a:prstGeom prst="leftBrace">
                <a:avLst>
                  <a:gd name="adj1" fmla="val 33333"/>
                  <a:gd name="adj2" fmla="val 50000"/>
                </a:avLst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707586" name="Text Box 2"/>
          <p:cNvSpPr txBox="1">
            <a:spLocks noChangeArrowheads="1"/>
          </p:cNvSpPr>
          <p:nvPr/>
        </p:nvSpPr>
        <p:spPr bwMode="auto">
          <a:xfrm>
            <a:off x="578985" y="244475"/>
            <a:ext cx="6931025" cy="579438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kumimoji="0" lang="en-US" altLang="zh-CN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1.3 </a:t>
            </a:r>
            <a:r>
              <a:rPr kumimoji="0" lang="zh-CN" altLang="en-US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机器数的表示形式及其表示范围</a:t>
            </a:r>
          </a:p>
        </p:txBody>
      </p:sp>
      <p:sp>
        <p:nvSpPr>
          <p:cNvPr id="707587" name="Rectangle 3"/>
          <p:cNvSpPr>
            <a:spLocks noChangeArrowheads="1"/>
          </p:cNvSpPr>
          <p:nvPr/>
        </p:nvSpPr>
        <p:spPr bwMode="auto">
          <a:xfrm>
            <a:off x="567873" y="828677"/>
            <a:ext cx="11000735" cy="1808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sz="32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补码</a:t>
            </a:r>
            <a:endParaRPr lang="zh-CN" altLang="en-US" sz="3200" b="1" dirty="0">
              <a:solidFill>
                <a:srgbClr val="FF0066"/>
              </a:solidFill>
              <a:effectLst>
                <a:outerShdw blurRad="38100" dist="38100" dir="2700000" algn="tl">
                  <a:srgbClr val="000000"/>
                </a:outerShdw>
              </a:effectLst>
              <a:ea typeface="隶书" pitchFamily="49" charset="-122"/>
            </a:endParaRPr>
          </a:p>
          <a:p>
            <a:pPr algn="just">
              <a:spcBef>
                <a:spcPct val="20000"/>
              </a:spcBef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   补码又称为“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对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2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的补数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”。在补码表示法中，正数的补码表示同原码和反码的表示是相同的，而负数的补码表示却不同。对于负数的补码，其符号位为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，而数值位是将原码“</a:t>
            </a:r>
            <a:r>
              <a:rPr lang="zh-CN" altLang="en-US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按位求反，末位加</a:t>
            </a:r>
            <a:r>
              <a:rPr lang="en-US" altLang="zh-CN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1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”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。</a:t>
            </a:r>
          </a:p>
        </p:txBody>
      </p:sp>
      <p:sp>
        <p:nvSpPr>
          <p:cNvPr id="707591" name="Rectangle 7"/>
          <p:cNvSpPr>
            <a:spLocks noChangeArrowheads="1"/>
          </p:cNvSpPr>
          <p:nvPr/>
        </p:nvSpPr>
        <p:spPr bwMode="auto">
          <a:xfrm>
            <a:off x="1098098" y="2708920"/>
            <a:ext cx="6911975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例： 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N1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＝ ＋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10011             N2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＝ －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01010</a:t>
            </a:r>
          </a:p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[N1]</a:t>
            </a:r>
            <a:r>
              <a:rPr lang="zh-CN" altLang="en-US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补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＝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10011           [N2]</a:t>
            </a:r>
            <a:r>
              <a:rPr lang="zh-CN" altLang="en-US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补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＝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10110</a:t>
            </a:r>
          </a:p>
        </p:txBody>
      </p:sp>
      <p:sp>
        <p:nvSpPr>
          <p:cNvPr id="707592" name="Rectangle 8"/>
          <p:cNvSpPr>
            <a:spLocks noChangeArrowheads="1"/>
          </p:cNvSpPr>
          <p:nvPr/>
        </p:nvSpPr>
        <p:spPr bwMode="auto">
          <a:xfrm>
            <a:off x="642484" y="4052888"/>
            <a:ext cx="10926124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   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根据上述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补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码形成规则，一个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位的整数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（包含一位符号位）的补码一般表示为：</a:t>
            </a:r>
          </a:p>
        </p:txBody>
      </p:sp>
      <p:grpSp>
        <p:nvGrpSpPr>
          <p:cNvPr id="707603" name="Group 19"/>
          <p:cNvGrpSpPr>
            <a:grpSpLocks/>
          </p:cNvGrpSpPr>
          <p:nvPr/>
        </p:nvGrpSpPr>
        <p:grpSpPr bwMode="auto">
          <a:xfrm>
            <a:off x="-14741" y="0"/>
            <a:ext cx="446088" cy="6858000"/>
            <a:chOff x="0" y="0"/>
            <a:chExt cx="281" cy="4320"/>
          </a:xfrm>
        </p:grpSpPr>
        <p:sp>
          <p:nvSpPr>
            <p:cNvPr id="707604" name="Text Box 20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</a:rPr>
                <a:t>第三版</a:t>
              </a: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第一章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预备知识</a:t>
              </a:r>
            </a:p>
          </p:txBody>
        </p:sp>
        <p:sp>
          <p:nvSpPr>
            <p:cNvPr id="707605" name="Text Box 21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707599" name="AutoShape 15"/>
          <p:cNvSpPr>
            <a:spLocks noChangeArrowheads="1"/>
          </p:cNvSpPr>
          <p:nvPr/>
        </p:nvSpPr>
        <p:spPr bwMode="auto">
          <a:xfrm>
            <a:off x="7125957" y="2708920"/>
            <a:ext cx="3240137" cy="1006599"/>
          </a:xfrm>
          <a:prstGeom prst="wedgeRoundRectCallout">
            <a:avLst>
              <a:gd name="adj1" fmla="val -54032"/>
              <a:gd name="adj2" fmla="val 270529"/>
              <a:gd name="adj3" fmla="val 16667"/>
            </a:avLst>
          </a:prstGeom>
          <a:gradFill rotWithShape="1">
            <a:gsLst>
              <a:gs pos="0">
                <a:srgbClr val="00FFFF"/>
              </a:gs>
              <a:gs pos="100000">
                <a:schemeClr val="bg1"/>
              </a:gs>
            </a:gsLst>
            <a:lin ang="5400000" scaled="1"/>
          </a:gradFill>
          <a:ln w="28575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ctr"/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注意：同原码、反码的区分！！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!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0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70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7075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7075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7075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7075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07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07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7587" grpId="0" build="p" bldLvl="5" autoUpdateAnimBg="0"/>
      <p:bldP spid="707591" grpId="0" build="p" bldLvl="5" autoUpdateAnimBg="0"/>
      <p:bldP spid="707592" grpId="0" build="p" bldLvl="5" autoUpdateAnimBg="0"/>
      <p:bldP spid="70759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610" name="Text Box 2"/>
          <p:cNvSpPr txBox="1">
            <a:spLocks noChangeArrowheads="1"/>
          </p:cNvSpPr>
          <p:nvPr/>
        </p:nvSpPr>
        <p:spPr bwMode="auto">
          <a:xfrm>
            <a:off x="578985" y="244475"/>
            <a:ext cx="6931025" cy="579438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kumimoji="0" lang="en-US" altLang="zh-CN" sz="32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1.3 </a:t>
            </a:r>
            <a:r>
              <a:rPr kumimoji="0" lang="zh-CN" altLang="en-US" sz="32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机器数的表示形式及其表示范围</a:t>
            </a:r>
          </a:p>
        </p:txBody>
      </p:sp>
      <p:sp>
        <p:nvSpPr>
          <p:cNvPr id="708611" name="Rectangle 3"/>
          <p:cNvSpPr>
            <a:spLocks noChangeArrowheads="1"/>
          </p:cNvSpPr>
          <p:nvPr/>
        </p:nvSpPr>
        <p:spPr bwMode="auto">
          <a:xfrm>
            <a:off x="644277" y="908720"/>
            <a:ext cx="8135938" cy="557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sz="32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补码</a:t>
            </a:r>
            <a:endParaRPr lang="zh-CN" altLang="en-US" sz="3200" b="1" dirty="0">
              <a:solidFill>
                <a:srgbClr val="FF0066"/>
              </a:solidFill>
              <a:effectLst>
                <a:outerShdw blurRad="38100" dist="38100" dir="2700000" algn="tl">
                  <a:srgbClr val="000000"/>
                </a:outerShdw>
              </a:effectLst>
              <a:ea typeface="隶书" pitchFamily="49" charset="-122"/>
            </a:endParaRPr>
          </a:p>
          <a:p>
            <a:pPr algn="just">
              <a:spcBef>
                <a:spcPct val="20000"/>
              </a:spcBef>
            </a:pP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08615" name="Rectangle 7"/>
          <p:cNvSpPr>
            <a:spLocks noChangeArrowheads="1"/>
          </p:cNvSpPr>
          <p:nvPr/>
        </p:nvSpPr>
        <p:spPr bwMode="auto">
          <a:xfrm>
            <a:off x="797053" y="1515717"/>
            <a:ext cx="10997518" cy="510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</a:rPr>
              <a:t>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对于这样的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n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位整数其补码表示的数的范围为：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－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2</a:t>
            </a:r>
            <a:r>
              <a:rPr lang="en-US" altLang="zh-CN" b="1" baseline="30000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n-1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～ 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(2</a:t>
            </a:r>
            <a:r>
              <a:rPr lang="en-US" altLang="zh-CN" b="1" baseline="30000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n-1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－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1)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。</a:t>
            </a:r>
          </a:p>
        </p:txBody>
      </p:sp>
      <p:grpSp>
        <p:nvGrpSpPr>
          <p:cNvPr id="708616" name="Group 8"/>
          <p:cNvGrpSpPr>
            <a:grpSpLocks/>
          </p:cNvGrpSpPr>
          <p:nvPr/>
        </p:nvGrpSpPr>
        <p:grpSpPr bwMode="auto">
          <a:xfrm>
            <a:off x="1452016" y="3812449"/>
            <a:ext cx="9684544" cy="1295400"/>
            <a:chOff x="841" y="2805"/>
            <a:chExt cx="4173" cy="816"/>
          </a:xfrm>
        </p:grpSpPr>
        <p:sp>
          <p:nvSpPr>
            <p:cNvPr id="708617" name="Rectangle 9"/>
            <p:cNvSpPr>
              <a:spLocks noChangeArrowheads="1"/>
            </p:cNvSpPr>
            <p:nvPr/>
          </p:nvSpPr>
          <p:spPr bwMode="auto">
            <a:xfrm>
              <a:off x="841" y="2805"/>
              <a:ext cx="4173" cy="816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shade val="30000"/>
                    <a:satMod val="115000"/>
                  </a:schemeClr>
                </a:gs>
                <a:gs pos="50000">
                  <a:schemeClr val="bg1">
                    <a:shade val="67500"/>
                    <a:satMod val="11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 w="38100">
              <a:solidFill>
                <a:srgbClr val="CC00CC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708618" name="Group 10"/>
            <p:cNvGrpSpPr>
              <a:grpSpLocks/>
            </p:cNvGrpSpPr>
            <p:nvPr/>
          </p:nvGrpSpPr>
          <p:grpSpPr bwMode="auto">
            <a:xfrm>
              <a:off x="1071" y="2817"/>
              <a:ext cx="3681" cy="756"/>
              <a:chOff x="729" y="2907"/>
              <a:chExt cx="3681" cy="756"/>
            </a:xfrm>
          </p:grpSpPr>
          <p:sp>
            <p:nvSpPr>
              <p:cNvPr id="708619" name="Rectangle 11"/>
              <p:cNvSpPr>
                <a:spLocks noChangeArrowheads="1"/>
              </p:cNvSpPr>
              <p:nvPr/>
            </p:nvSpPr>
            <p:spPr bwMode="auto">
              <a:xfrm>
                <a:off x="729" y="2907"/>
                <a:ext cx="3681" cy="7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indent="266700"/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           N                         0 ≤ N </a:t>
                </a:r>
                <a:r>
                  <a:rPr lang="zh-CN" alt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＜ 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endParaRPr lang="en-US" altLang="zh-CN" b="1" baseline="30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indent="266700"/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[N]</a:t>
                </a:r>
                <a:r>
                  <a:rPr lang="zh-CN" altLang="en-US" b="1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补</a:t>
                </a:r>
                <a:r>
                  <a:rPr lang="zh-CN" alt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＝ </a:t>
                </a:r>
              </a:p>
              <a:p>
                <a:pPr indent="266700"/>
                <a:r>
                  <a:rPr lang="zh-CN" alt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          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 </a:t>
                </a:r>
                <a:r>
                  <a:rPr lang="zh-CN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＋</a:t>
                </a:r>
                <a:r>
                  <a:rPr lang="zh-CN" alt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N                </a:t>
                </a:r>
                <a:r>
                  <a:rPr lang="zh-CN" alt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－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 </a:t>
                </a:r>
                <a:r>
                  <a:rPr lang="en-US" altLang="zh-CN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≤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N </a:t>
                </a:r>
                <a:r>
                  <a:rPr lang="zh-CN" altLang="en-US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＜</a:t>
                </a:r>
                <a:r>
                  <a:rPr lang="zh-CN" alt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0</a:t>
                </a:r>
              </a:p>
            </p:txBody>
          </p:sp>
          <p:sp>
            <p:nvSpPr>
              <p:cNvPr id="708620" name="AutoShape 12"/>
              <p:cNvSpPr>
                <a:spLocks/>
              </p:cNvSpPr>
              <p:nvPr/>
            </p:nvSpPr>
            <p:spPr bwMode="auto">
              <a:xfrm>
                <a:off x="1433" y="3022"/>
                <a:ext cx="136" cy="544"/>
              </a:xfrm>
              <a:prstGeom prst="leftBrace">
                <a:avLst>
                  <a:gd name="adj1" fmla="val 33333"/>
                  <a:gd name="adj2" fmla="val 50000"/>
                </a:avLst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708621" name="Group 13"/>
          <p:cNvGrpSpPr>
            <a:grpSpLocks/>
          </p:cNvGrpSpPr>
          <p:nvPr/>
        </p:nvGrpSpPr>
        <p:grpSpPr bwMode="auto">
          <a:xfrm>
            <a:off x="3437607" y="1988840"/>
            <a:ext cx="4746625" cy="885825"/>
            <a:chOff x="1332" y="1689"/>
            <a:chExt cx="2990" cy="558"/>
          </a:xfrm>
        </p:grpSpPr>
        <p:grpSp>
          <p:nvGrpSpPr>
            <p:cNvPr id="708622" name="Group 14"/>
            <p:cNvGrpSpPr>
              <a:grpSpLocks/>
            </p:cNvGrpSpPr>
            <p:nvPr/>
          </p:nvGrpSpPr>
          <p:grpSpPr bwMode="auto">
            <a:xfrm>
              <a:off x="1332" y="1706"/>
              <a:ext cx="1315" cy="541"/>
              <a:chOff x="1332" y="1706"/>
              <a:chExt cx="1315" cy="541"/>
            </a:xfrm>
          </p:grpSpPr>
          <p:sp>
            <p:nvSpPr>
              <p:cNvPr id="708623" name="AutoShape 15"/>
              <p:cNvSpPr>
                <a:spLocks/>
              </p:cNvSpPr>
              <p:nvPr/>
            </p:nvSpPr>
            <p:spPr bwMode="auto">
              <a:xfrm rot="5400000">
                <a:off x="1845" y="1622"/>
                <a:ext cx="127" cy="762"/>
              </a:xfrm>
              <a:prstGeom prst="rightBrace">
                <a:avLst>
                  <a:gd name="adj1" fmla="val 50000"/>
                  <a:gd name="adj2" fmla="val 50000"/>
                </a:avLst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8624" name="Text Box 16"/>
              <p:cNvSpPr txBox="1">
                <a:spLocks noChangeArrowheads="1"/>
              </p:cNvSpPr>
              <p:nvPr/>
            </p:nvSpPr>
            <p:spPr bwMode="auto">
              <a:xfrm>
                <a:off x="1332" y="1706"/>
                <a:ext cx="1315" cy="1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b="1">
                    <a:solidFill>
                      <a:srgbClr val="FF0000"/>
                    </a:solidFill>
                  </a:rPr>
                  <a:t>1</a:t>
                </a:r>
                <a:r>
                  <a:rPr lang="en-US" altLang="zh-CN" b="1"/>
                  <a:t>00………0</a:t>
                </a:r>
              </a:p>
            </p:txBody>
          </p:sp>
          <p:sp>
            <p:nvSpPr>
              <p:cNvPr id="708625" name="Text Box 17"/>
              <p:cNvSpPr txBox="1">
                <a:spLocks noChangeArrowheads="1"/>
              </p:cNvSpPr>
              <p:nvPr/>
            </p:nvSpPr>
            <p:spPr bwMode="auto">
              <a:xfrm>
                <a:off x="1651" y="2060"/>
                <a:ext cx="671" cy="1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1800" b="1"/>
                  <a:t>n-1</a:t>
                </a:r>
                <a:r>
                  <a:rPr lang="zh-CN" altLang="en-US" sz="1800" b="1"/>
                  <a:t>个</a:t>
                </a:r>
                <a:r>
                  <a:rPr lang="en-US" altLang="zh-CN" sz="1800" b="1"/>
                  <a:t>0</a:t>
                </a:r>
              </a:p>
            </p:txBody>
          </p:sp>
        </p:grpSp>
        <p:sp>
          <p:nvSpPr>
            <p:cNvPr id="708626" name="Line 18"/>
            <p:cNvSpPr>
              <a:spLocks noChangeShapeType="1"/>
            </p:cNvSpPr>
            <p:nvPr/>
          </p:nvSpPr>
          <p:spPr bwMode="auto">
            <a:xfrm>
              <a:off x="2494" y="1862"/>
              <a:ext cx="473" cy="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ysDot"/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08627" name="Group 19"/>
            <p:cNvGrpSpPr>
              <a:grpSpLocks/>
            </p:cNvGrpSpPr>
            <p:nvPr/>
          </p:nvGrpSpPr>
          <p:grpSpPr bwMode="auto">
            <a:xfrm>
              <a:off x="3007" y="1689"/>
              <a:ext cx="1315" cy="541"/>
              <a:chOff x="1332" y="1706"/>
              <a:chExt cx="1315" cy="541"/>
            </a:xfrm>
          </p:grpSpPr>
          <p:sp>
            <p:nvSpPr>
              <p:cNvPr id="708628" name="AutoShape 20"/>
              <p:cNvSpPr>
                <a:spLocks/>
              </p:cNvSpPr>
              <p:nvPr/>
            </p:nvSpPr>
            <p:spPr bwMode="auto">
              <a:xfrm rot="5400000">
                <a:off x="1845" y="1628"/>
                <a:ext cx="127" cy="762"/>
              </a:xfrm>
              <a:prstGeom prst="rightBrace">
                <a:avLst>
                  <a:gd name="adj1" fmla="val 50000"/>
                  <a:gd name="adj2" fmla="val 50000"/>
                </a:avLst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8629" name="Text Box 21"/>
              <p:cNvSpPr txBox="1">
                <a:spLocks noChangeArrowheads="1"/>
              </p:cNvSpPr>
              <p:nvPr/>
            </p:nvSpPr>
            <p:spPr bwMode="auto">
              <a:xfrm>
                <a:off x="1332" y="1706"/>
                <a:ext cx="1315" cy="1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b="1">
                    <a:solidFill>
                      <a:srgbClr val="FF0000"/>
                    </a:solidFill>
                  </a:rPr>
                  <a:t>0</a:t>
                </a:r>
                <a:r>
                  <a:rPr lang="en-US" altLang="zh-CN" b="1"/>
                  <a:t>11………1</a:t>
                </a:r>
              </a:p>
            </p:txBody>
          </p:sp>
          <p:sp>
            <p:nvSpPr>
              <p:cNvPr id="708630" name="Text Box 22"/>
              <p:cNvSpPr txBox="1">
                <a:spLocks noChangeArrowheads="1"/>
              </p:cNvSpPr>
              <p:nvPr/>
            </p:nvSpPr>
            <p:spPr bwMode="auto">
              <a:xfrm>
                <a:off x="1651" y="2060"/>
                <a:ext cx="671" cy="1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1800" b="1"/>
                  <a:t>n-1</a:t>
                </a:r>
                <a:r>
                  <a:rPr lang="zh-CN" altLang="en-US" sz="1800" b="1"/>
                  <a:t>个</a:t>
                </a:r>
                <a:r>
                  <a:rPr lang="en-US" altLang="zh-CN" sz="1800" b="1"/>
                  <a:t>1</a:t>
                </a:r>
              </a:p>
            </p:txBody>
          </p:sp>
        </p:grpSp>
      </p:grpSp>
      <p:sp>
        <p:nvSpPr>
          <p:cNvPr id="708631" name="Rectangle 23"/>
          <p:cNvSpPr>
            <a:spLocks noChangeArrowheads="1"/>
          </p:cNvSpPr>
          <p:nvPr/>
        </p:nvSpPr>
        <p:spPr bwMode="auto">
          <a:xfrm>
            <a:off x="696366" y="3140968"/>
            <a:ext cx="8135938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对于定点小数，补码一般表示为： </a:t>
            </a:r>
          </a:p>
        </p:txBody>
      </p:sp>
      <p:sp>
        <p:nvSpPr>
          <p:cNvPr id="708632" name="Rectangle 24"/>
          <p:cNvSpPr>
            <a:spLocks noChangeArrowheads="1"/>
          </p:cNvSpPr>
          <p:nvPr/>
        </p:nvSpPr>
        <p:spPr bwMode="auto">
          <a:xfrm>
            <a:off x="1010079" y="5445125"/>
            <a:ext cx="8388350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spcBef>
                <a:spcPct val="20000"/>
              </a:spcBef>
              <a:buFont typeface="Wingding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对于这样的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m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位小数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(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含一符号位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)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其补码表示数的范围为：</a:t>
            </a:r>
          </a:p>
          <a:p>
            <a:pPr algn="just">
              <a:spcBef>
                <a:spcPct val="20000"/>
              </a:spcBef>
              <a:buFont typeface="Wingding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        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－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1  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～ 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(1 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－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2</a:t>
            </a:r>
            <a:r>
              <a:rPr lang="en-US" altLang="zh-CN" b="1" baseline="30000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-(m-1)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)</a:t>
            </a:r>
          </a:p>
        </p:txBody>
      </p:sp>
      <p:grpSp>
        <p:nvGrpSpPr>
          <p:cNvPr id="708636" name="Group 28"/>
          <p:cNvGrpSpPr>
            <a:grpSpLocks/>
          </p:cNvGrpSpPr>
          <p:nvPr/>
        </p:nvGrpSpPr>
        <p:grpSpPr bwMode="auto">
          <a:xfrm>
            <a:off x="-14741" y="0"/>
            <a:ext cx="446088" cy="6858000"/>
            <a:chOff x="0" y="0"/>
            <a:chExt cx="281" cy="4320"/>
          </a:xfrm>
        </p:grpSpPr>
        <p:sp>
          <p:nvSpPr>
            <p:cNvPr id="708637" name="Text Box 29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</a:rPr>
                <a:t>第三版</a:t>
              </a: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第一章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预备知识</a:t>
              </a:r>
            </a:p>
          </p:txBody>
        </p:sp>
        <p:sp>
          <p:nvSpPr>
            <p:cNvPr id="708638" name="Text Box 30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grpSp>
        <p:nvGrpSpPr>
          <p:cNvPr id="25" name="Group 7">
            <a:extLst>
              <a:ext uri="{FF2B5EF4-FFF2-40B4-BE49-F238E27FC236}">
                <a16:creationId xmlns:a16="http://schemas.microsoft.com/office/drawing/2014/main" id="{6352D282-C92A-496A-996B-1B40E55744CC}"/>
              </a:ext>
            </a:extLst>
          </p:cNvPr>
          <p:cNvGrpSpPr>
            <a:grpSpLocks/>
          </p:cNvGrpSpPr>
          <p:nvPr/>
        </p:nvGrpSpPr>
        <p:grpSpPr bwMode="auto">
          <a:xfrm>
            <a:off x="6108441" y="5835081"/>
            <a:ext cx="4746625" cy="885825"/>
            <a:chOff x="1332" y="1050"/>
            <a:chExt cx="2990" cy="558"/>
          </a:xfrm>
        </p:grpSpPr>
        <p:sp>
          <p:nvSpPr>
            <p:cNvPr id="26" name="AutoShape 8">
              <a:extLst>
                <a:ext uri="{FF2B5EF4-FFF2-40B4-BE49-F238E27FC236}">
                  <a16:creationId xmlns:a16="http://schemas.microsoft.com/office/drawing/2014/main" id="{B70AF1D2-FE75-462F-AE9B-0476C4EE098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899" y="977"/>
              <a:ext cx="127" cy="762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 Box 9">
              <a:extLst>
                <a:ext uri="{FF2B5EF4-FFF2-40B4-BE49-F238E27FC236}">
                  <a16:creationId xmlns:a16="http://schemas.microsoft.com/office/drawing/2014/main" id="{D4D189A2-CF8D-47BB-A741-0F2CC1392E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2" y="1067"/>
              <a:ext cx="1315" cy="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b="1" dirty="0">
                  <a:solidFill>
                    <a:srgbClr val="FF0000"/>
                  </a:solidFill>
                </a:rPr>
                <a:t>1</a:t>
              </a:r>
              <a:r>
                <a:rPr lang="en-US" altLang="zh-CN" b="1" dirty="0"/>
                <a:t>.00………0</a:t>
              </a:r>
            </a:p>
          </p:txBody>
        </p:sp>
        <p:sp>
          <p:nvSpPr>
            <p:cNvPr id="28" name="Text Box 10">
              <a:extLst>
                <a:ext uri="{FF2B5EF4-FFF2-40B4-BE49-F238E27FC236}">
                  <a16:creationId xmlns:a16="http://schemas.microsoft.com/office/drawing/2014/main" id="{945246D9-FD73-49EF-92C5-CD474CBBF1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2" y="1421"/>
              <a:ext cx="671" cy="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1800" b="1"/>
                <a:t>m-1</a:t>
              </a:r>
              <a:r>
                <a:rPr lang="zh-CN" altLang="en-US" sz="1800" b="1"/>
                <a:t>个</a:t>
              </a:r>
              <a:r>
                <a:rPr lang="en-US" altLang="zh-CN" sz="1800" b="1"/>
                <a:t>0</a:t>
              </a:r>
            </a:p>
          </p:txBody>
        </p:sp>
        <p:sp>
          <p:nvSpPr>
            <p:cNvPr id="29" name="Line 11">
              <a:extLst>
                <a:ext uri="{FF2B5EF4-FFF2-40B4-BE49-F238E27FC236}">
                  <a16:creationId xmlns:a16="http://schemas.microsoft.com/office/drawing/2014/main" id="{69860519-8930-4FAD-AD76-79F72887C4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4" y="1223"/>
              <a:ext cx="473" cy="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ysDot"/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AutoShape 12">
              <a:extLst>
                <a:ext uri="{FF2B5EF4-FFF2-40B4-BE49-F238E27FC236}">
                  <a16:creationId xmlns:a16="http://schemas.microsoft.com/office/drawing/2014/main" id="{759E460D-5C48-4E71-88B5-49C2AF0A92E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3574" y="972"/>
              <a:ext cx="127" cy="762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Text Box 13">
              <a:extLst>
                <a:ext uri="{FF2B5EF4-FFF2-40B4-BE49-F238E27FC236}">
                  <a16:creationId xmlns:a16="http://schemas.microsoft.com/office/drawing/2014/main" id="{F939961E-42E9-4E60-A3A2-A94334355B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7" y="1050"/>
              <a:ext cx="1315" cy="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b="1">
                  <a:solidFill>
                    <a:srgbClr val="FF0000"/>
                  </a:solidFill>
                </a:rPr>
                <a:t>0</a:t>
              </a:r>
              <a:r>
                <a:rPr lang="en-US" altLang="zh-CN" b="1"/>
                <a:t>.11………1</a:t>
              </a:r>
            </a:p>
          </p:txBody>
        </p:sp>
        <p:sp>
          <p:nvSpPr>
            <p:cNvPr id="32" name="Text Box 14">
              <a:extLst>
                <a:ext uri="{FF2B5EF4-FFF2-40B4-BE49-F238E27FC236}">
                  <a16:creationId xmlns:a16="http://schemas.microsoft.com/office/drawing/2014/main" id="{354D2B8C-968D-4BBF-BF42-922A896E13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6" y="1404"/>
              <a:ext cx="671" cy="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1800" b="1"/>
                <a:t>m-1</a:t>
              </a:r>
              <a:r>
                <a:rPr lang="zh-CN" altLang="en-US" sz="1800" b="1"/>
                <a:t>个</a:t>
              </a:r>
              <a:r>
                <a:rPr lang="en-US" altLang="zh-CN" sz="1800" b="1"/>
                <a:t>1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0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086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7086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7086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7086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7086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8615" grpId="0" build="p" bldLvl="5" autoUpdateAnimBg="0"/>
      <p:bldP spid="708631" grpId="0" build="p" bldLvl="5" autoUpdateAnimBg="0"/>
      <p:bldP spid="708632" grpId="0" build="p" bldLvl="5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634" name="Text Box 2"/>
          <p:cNvSpPr txBox="1">
            <a:spLocks noChangeArrowheads="1"/>
          </p:cNvSpPr>
          <p:nvPr/>
        </p:nvSpPr>
        <p:spPr bwMode="auto">
          <a:xfrm>
            <a:off x="586176" y="244475"/>
            <a:ext cx="6931025" cy="579438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kumimoji="0" lang="en-US" altLang="zh-CN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1.3 </a:t>
            </a:r>
            <a:r>
              <a:rPr kumimoji="0" lang="zh-CN" altLang="en-US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机器数的表示形式及其表示范围</a:t>
            </a:r>
          </a:p>
        </p:txBody>
      </p:sp>
      <p:sp>
        <p:nvSpPr>
          <p:cNvPr id="709635" name="Rectangle 3"/>
          <p:cNvSpPr>
            <a:spLocks noChangeArrowheads="1"/>
          </p:cNvSpPr>
          <p:nvPr/>
        </p:nvSpPr>
        <p:spPr bwMode="auto">
          <a:xfrm>
            <a:off x="768374" y="1000126"/>
            <a:ext cx="2375298" cy="557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sz="32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补码</a:t>
            </a:r>
            <a:endParaRPr lang="zh-CN" altLang="en-US" sz="3200" b="1" dirty="0">
              <a:solidFill>
                <a:srgbClr val="FF0066"/>
              </a:solidFill>
              <a:effectLst>
                <a:outerShdw blurRad="38100" dist="38100" dir="2700000" algn="tl">
                  <a:srgbClr val="000000"/>
                </a:outerShdw>
              </a:effectLst>
              <a:ea typeface="隶书" pitchFamily="49" charset="-122"/>
            </a:endParaRPr>
          </a:p>
          <a:p>
            <a:pPr algn="just">
              <a:spcBef>
                <a:spcPct val="20000"/>
              </a:spcBef>
            </a:pP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09647" name="Rectangle 15"/>
          <p:cNvSpPr>
            <a:spLocks noChangeArrowheads="1"/>
          </p:cNvSpPr>
          <p:nvPr/>
        </p:nvSpPr>
        <p:spPr bwMode="auto">
          <a:xfrm>
            <a:off x="1127448" y="1848636"/>
            <a:ext cx="10297144" cy="3236548"/>
          </a:xfrm>
          <a:prstGeom prst="rect">
            <a:avLst/>
          </a:prstGeom>
          <a:ln w="38100"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ts val="3500"/>
              </a:lnSpc>
              <a:spcBef>
                <a:spcPct val="20000"/>
              </a:spcBef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总结：</a:t>
            </a:r>
          </a:p>
          <a:p>
            <a:pPr marL="342900" indent="-342900">
              <a:lnSpc>
                <a:spcPts val="3500"/>
              </a:lnSpc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正数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N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的补码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[N]</a:t>
            </a:r>
            <a:r>
              <a:rPr lang="zh-CN" altLang="en-US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补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与原码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[N]</a:t>
            </a:r>
            <a:r>
              <a:rPr lang="zh-CN" altLang="en-US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原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和反码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[N]</a:t>
            </a:r>
            <a:r>
              <a:rPr lang="zh-CN" altLang="en-US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反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相同。</a:t>
            </a:r>
          </a:p>
          <a:p>
            <a:pPr marL="342900" indent="-342900">
              <a:lnSpc>
                <a:spcPts val="3500"/>
              </a:lnSpc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对于负数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N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，其补码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[N]</a:t>
            </a:r>
            <a:r>
              <a:rPr lang="zh-CN" altLang="en-US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补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的符号为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1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，数值部分为反码数值加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1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。</a:t>
            </a:r>
          </a:p>
          <a:p>
            <a:pPr marL="342900" indent="-342900">
              <a:lnSpc>
                <a:spcPts val="3500"/>
              </a:lnSpc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在补码表示法中，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0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的表示形式是唯一的，即：</a:t>
            </a:r>
          </a:p>
          <a:p>
            <a:pPr>
              <a:lnSpc>
                <a:spcPts val="3500"/>
              </a:lnSpc>
              <a:spcBef>
                <a:spcPct val="20000"/>
              </a:spcBef>
            </a:pP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                                     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[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＋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0]</a:t>
            </a:r>
            <a:r>
              <a:rPr lang="zh-CN" altLang="en-US" b="1" baseline="-25000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补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 ＝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0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00…0  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或 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0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.00…0</a:t>
            </a:r>
          </a:p>
          <a:p>
            <a:pPr>
              <a:lnSpc>
                <a:spcPts val="35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                                     [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－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0]</a:t>
            </a:r>
            <a:r>
              <a:rPr lang="zh-CN" altLang="en-US" b="1" baseline="-25000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补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 ＝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0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00…0  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或 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0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.00…0</a:t>
            </a:r>
          </a:p>
        </p:txBody>
      </p:sp>
      <p:sp>
        <p:nvSpPr>
          <p:cNvPr id="709648" name="Text Box 16"/>
          <p:cNvSpPr txBox="1">
            <a:spLocks noChangeArrowheads="1"/>
          </p:cNvSpPr>
          <p:nvPr/>
        </p:nvSpPr>
        <p:spPr bwMode="auto">
          <a:xfrm>
            <a:off x="-529233" y="5546303"/>
            <a:ext cx="9145513" cy="835025"/>
          </a:xfrm>
          <a:prstGeom prst="rect">
            <a:avLst/>
          </a:prstGeom>
          <a:solidFill>
            <a:srgbClr val="FF0000"/>
          </a:solidFill>
          <a:ln w="28575">
            <a:noFill/>
            <a:miter lim="800000"/>
            <a:headEnd/>
            <a:tailEnd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txBody>
          <a:bodyPr lIns="90000" tIns="46800" rIns="90000" bIns="46800"/>
          <a:lstStyle/>
          <a:p>
            <a:pPr algn="just"/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</a:rPr>
              <a:t>注意：绝大多数机器数的表示采用补码表示法。象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</a:rPr>
              <a:t>C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</a:rPr>
              <a:t>语言中整数在计算机中就是以其补码的形式存储的。</a:t>
            </a:r>
          </a:p>
        </p:txBody>
      </p:sp>
      <p:grpSp>
        <p:nvGrpSpPr>
          <p:cNvPr id="709652" name="Group 20"/>
          <p:cNvGrpSpPr>
            <a:grpSpLocks/>
          </p:cNvGrpSpPr>
          <p:nvPr/>
        </p:nvGrpSpPr>
        <p:grpSpPr bwMode="auto">
          <a:xfrm>
            <a:off x="-7550" y="0"/>
            <a:ext cx="446088" cy="6858000"/>
            <a:chOff x="0" y="0"/>
            <a:chExt cx="281" cy="4320"/>
          </a:xfrm>
        </p:grpSpPr>
        <p:sp>
          <p:nvSpPr>
            <p:cNvPr id="709653" name="Text Box 21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</a:rPr>
                <a:t>第三版</a:t>
              </a: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第一章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预备知识</a:t>
              </a:r>
            </a:p>
          </p:txBody>
        </p:sp>
        <p:sp>
          <p:nvSpPr>
            <p:cNvPr id="709654" name="Text Box 22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096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7096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7096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7096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7096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7096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7096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9647" grpId="0" build="p" bldLvl="5" autoUpdateAnimBg="0"/>
      <p:bldP spid="70964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0658" name="Group 2"/>
          <p:cNvGrpSpPr>
            <a:grpSpLocks/>
          </p:cNvGrpSpPr>
          <p:nvPr/>
        </p:nvGrpSpPr>
        <p:grpSpPr bwMode="auto">
          <a:xfrm>
            <a:off x="1026623" y="903382"/>
            <a:ext cx="10415414" cy="3744914"/>
            <a:chOff x="599" y="164"/>
            <a:chExt cx="4445" cy="2359"/>
          </a:xfrm>
        </p:grpSpPr>
        <p:sp>
          <p:nvSpPr>
            <p:cNvPr id="710659" name="Rectangle 3"/>
            <p:cNvSpPr>
              <a:spLocks noChangeArrowheads="1"/>
            </p:cNvSpPr>
            <p:nvPr/>
          </p:nvSpPr>
          <p:spPr bwMode="auto">
            <a:xfrm>
              <a:off x="599" y="556"/>
              <a:ext cx="4445" cy="1967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40000"/>
                    <a:lumOff val="60000"/>
                    <a:tint val="66000"/>
                    <a:satMod val="160000"/>
                  </a:schemeClr>
                </a:gs>
                <a:gs pos="50000">
                  <a:schemeClr val="accent1">
                    <a:lumMod val="40000"/>
                    <a:lumOff val="60000"/>
                    <a:tint val="44500"/>
                    <a:satMod val="160000"/>
                  </a:schemeClr>
                </a:gs>
                <a:gs pos="100000">
                  <a:schemeClr val="accent1">
                    <a:lumMod val="40000"/>
                    <a:lumOff val="60000"/>
                    <a:tint val="23500"/>
                    <a:satMod val="160000"/>
                  </a:schemeClr>
                </a:gs>
              </a:gsLst>
              <a:lin ang="16200000" scaled="1"/>
              <a:tileRect/>
            </a:gradFill>
            <a:ln w="38100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itchFamily="49" charset="-122"/>
                <a:ea typeface="楷体" pitchFamily="49" charset="-122"/>
              </a:endParaRPr>
            </a:p>
          </p:txBody>
        </p:sp>
        <p:sp>
          <p:nvSpPr>
            <p:cNvPr id="710660" name="Text Box 4"/>
            <p:cNvSpPr txBox="1">
              <a:spLocks noChangeArrowheads="1"/>
            </p:cNvSpPr>
            <p:nvPr/>
          </p:nvSpPr>
          <p:spPr bwMode="auto">
            <a:xfrm>
              <a:off x="1663" y="543"/>
              <a:ext cx="34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原码</a:t>
              </a:r>
            </a:p>
          </p:txBody>
        </p:sp>
        <p:sp>
          <p:nvSpPr>
            <p:cNvPr id="710661" name="Text Box 5"/>
            <p:cNvSpPr txBox="1">
              <a:spLocks noChangeArrowheads="1"/>
            </p:cNvSpPr>
            <p:nvPr/>
          </p:nvSpPr>
          <p:spPr bwMode="auto">
            <a:xfrm>
              <a:off x="2986" y="543"/>
              <a:ext cx="34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反码</a:t>
              </a:r>
            </a:p>
          </p:txBody>
        </p:sp>
        <p:sp>
          <p:nvSpPr>
            <p:cNvPr id="710662" name="Text Box 6"/>
            <p:cNvSpPr txBox="1">
              <a:spLocks noChangeArrowheads="1"/>
            </p:cNvSpPr>
            <p:nvPr/>
          </p:nvSpPr>
          <p:spPr bwMode="auto">
            <a:xfrm>
              <a:off x="4198" y="543"/>
              <a:ext cx="34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b="1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补码</a:t>
              </a:r>
            </a:p>
          </p:txBody>
        </p:sp>
        <p:sp>
          <p:nvSpPr>
            <p:cNvPr id="710663" name="Line 7"/>
            <p:cNvSpPr>
              <a:spLocks noChangeShapeType="1"/>
            </p:cNvSpPr>
            <p:nvPr/>
          </p:nvSpPr>
          <p:spPr bwMode="auto">
            <a:xfrm>
              <a:off x="599" y="823"/>
              <a:ext cx="4445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710664" name="Text Box 8"/>
            <p:cNvSpPr txBox="1">
              <a:spLocks noChangeArrowheads="1"/>
            </p:cNvSpPr>
            <p:nvPr/>
          </p:nvSpPr>
          <p:spPr bwMode="auto">
            <a:xfrm>
              <a:off x="811" y="823"/>
              <a:ext cx="21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+7</a:t>
              </a:r>
            </a:p>
          </p:txBody>
        </p:sp>
        <p:sp>
          <p:nvSpPr>
            <p:cNvPr id="710665" name="Text Box 9"/>
            <p:cNvSpPr txBox="1">
              <a:spLocks noChangeArrowheads="1"/>
            </p:cNvSpPr>
            <p:nvPr/>
          </p:nvSpPr>
          <p:spPr bwMode="auto">
            <a:xfrm>
              <a:off x="1554" y="823"/>
              <a:ext cx="61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00000111</a:t>
              </a:r>
            </a:p>
          </p:txBody>
        </p:sp>
        <p:sp>
          <p:nvSpPr>
            <p:cNvPr id="710666" name="Text Box 10"/>
            <p:cNvSpPr txBox="1">
              <a:spLocks noChangeArrowheads="1"/>
            </p:cNvSpPr>
            <p:nvPr/>
          </p:nvSpPr>
          <p:spPr bwMode="auto">
            <a:xfrm>
              <a:off x="2795" y="823"/>
              <a:ext cx="61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00000111</a:t>
              </a:r>
            </a:p>
          </p:txBody>
        </p:sp>
        <p:sp>
          <p:nvSpPr>
            <p:cNvPr id="710667" name="Text Box 11"/>
            <p:cNvSpPr txBox="1">
              <a:spLocks noChangeArrowheads="1"/>
            </p:cNvSpPr>
            <p:nvPr/>
          </p:nvSpPr>
          <p:spPr bwMode="auto">
            <a:xfrm>
              <a:off x="4018" y="823"/>
              <a:ext cx="61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00000111</a:t>
              </a:r>
            </a:p>
          </p:txBody>
        </p:sp>
        <p:sp>
          <p:nvSpPr>
            <p:cNvPr id="710668" name="Line 12"/>
            <p:cNvSpPr>
              <a:spLocks noChangeShapeType="1"/>
            </p:cNvSpPr>
            <p:nvPr/>
          </p:nvSpPr>
          <p:spPr bwMode="auto">
            <a:xfrm flipH="1">
              <a:off x="1282" y="556"/>
              <a:ext cx="17" cy="19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710669" name="Line 13"/>
            <p:cNvSpPr>
              <a:spLocks noChangeShapeType="1"/>
            </p:cNvSpPr>
            <p:nvPr/>
          </p:nvSpPr>
          <p:spPr bwMode="auto">
            <a:xfrm flipH="1">
              <a:off x="2544" y="556"/>
              <a:ext cx="0" cy="19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710670" name="Line 14"/>
            <p:cNvSpPr>
              <a:spLocks noChangeShapeType="1"/>
            </p:cNvSpPr>
            <p:nvPr/>
          </p:nvSpPr>
          <p:spPr bwMode="auto">
            <a:xfrm>
              <a:off x="3755" y="556"/>
              <a:ext cx="0" cy="19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710671" name="Line 15"/>
            <p:cNvSpPr>
              <a:spLocks noChangeShapeType="1"/>
            </p:cNvSpPr>
            <p:nvPr/>
          </p:nvSpPr>
          <p:spPr bwMode="auto">
            <a:xfrm>
              <a:off x="599" y="1089"/>
              <a:ext cx="44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710672" name="Text Box 16"/>
            <p:cNvSpPr txBox="1">
              <a:spLocks noChangeArrowheads="1"/>
            </p:cNvSpPr>
            <p:nvPr/>
          </p:nvSpPr>
          <p:spPr bwMode="auto">
            <a:xfrm>
              <a:off x="807" y="1130"/>
              <a:ext cx="21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-7</a:t>
              </a:r>
            </a:p>
          </p:txBody>
        </p:sp>
        <p:sp>
          <p:nvSpPr>
            <p:cNvPr id="710673" name="Text Box 17"/>
            <p:cNvSpPr txBox="1">
              <a:spLocks noChangeArrowheads="1"/>
            </p:cNvSpPr>
            <p:nvPr/>
          </p:nvSpPr>
          <p:spPr bwMode="auto">
            <a:xfrm>
              <a:off x="1543" y="1093"/>
              <a:ext cx="61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1</a:t>
              </a:r>
              <a:r>
                <a:rPr lang="en-US" altLang="zh-CN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0000111</a:t>
              </a:r>
            </a:p>
          </p:txBody>
        </p:sp>
        <p:sp>
          <p:nvSpPr>
            <p:cNvPr id="710674" name="Text Box 18"/>
            <p:cNvSpPr txBox="1">
              <a:spLocks noChangeArrowheads="1"/>
            </p:cNvSpPr>
            <p:nvPr/>
          </p:nvSpPr>
          <p:spPr bwMode="auto">
            <a:xfrm>
              <a:off x="2784" y="1093"/>
              <a:ext cx="61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1</a:t>
              </a:r>
              <a:r>
                <a:rPr lang="en-US" altLang="zh-CN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1111000</a:t>
              </a:r>
            </a:p>
          </p:txBody>
        </p:sp>
        <p:sp>
          <p:nvSpPr>
            <p:cNvPr id="710675" name="Text Box 19"/>
            <p:cNvSpPr txBox="1">
              <a:spLocks noChangeArrowheads="1"/>
            </p:cNvSpPr>
            <p:nvPr/>
          </p:nvSpPr>
          <p:spPr bwMode="auto">
            <a:xfrm>
              <a:off x="4021" y="1093"/>
              <a:ext cx="61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1</a:t>
              </a:r>
              <a:r>
                <a:rPr lang="en-US" altLang="zh-CN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1111001</a:t>
              </a:r>
            </a:p>
          </p:txBody>
        </p:sp>
        <p:sp>
          <p:nvSpPr>
            <p:cNvPr id="710676" name="Line 20"/>
            <p:cNvSpPr>
              <a:spLocks noChangeShapeType="1"/>
            </p:cNvSpPr>
            <p:nvPr/>
          </p:nvSpPr>
          <p:spPr bwMode="auto">
            <a:xfrm>
              <a:off x="599" y="1356"/>
              <a:ext cx="44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710677" name="Text Box 21"/>
            <p:cNvSpPr txBox="1">
              <a:spLocks noChangeArrowheads="1"/>
            </p:cNvSpPr>
            <p:nvPr/>
          </p:nvSpPr>
          <p:spPr bwMode="auto">
            <a:xfrm>
              <a:off x="813" y="1375"/>
              <a:ext cx="21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+0</a:t>
              </a:r>
            </a:p>
          </p:txBody>
        </p:sp>
        <p:sp>
          <p:nvSpPr>
            <p:cNvPr id="710678" name="Text Box 22"/>
            <p:cNvSpPr txBox="1">
              <a:spLocks noChangeArrowheads="1"/>
            </p:cNvSpPr>
            <p:nvPr/>
          </p:nvSpPr>
          <p:spPr bwMode="auto">
            <a:xfrm>
              <a:off x="1555" y="1375"/>
              <a:ext cx="61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00000000</a:t>
              </a:r>
            </a:p>
          </p:txBody>
        </p:sp>
        <p:sp>
          <p:nvSpPr>
            <p:cNvPr id="710679" name="Text Box 23"/>
            <p:cNvSpPr txBox="1">
              <a:spLocks noChangeArrowheads="1"/>
            </p:cNvSpPr>
            <p:nvPr/>
          </p:nvSpPr>
          <p:spPr bwMode="auto">
            <a:xfrm>
              <a:off x="2787" y="1356"/>
              <a:ext cx="61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00000000</a:t>
              </a:r>
            </a:p>
          </p:txBody>
        </p:sp>
        <p:sp>
          <p:nvSpPr>
            <p:cNvPr id="710680" name="Text Box 24"/>
            <p:cNvSpPr txBox="1">
              <a:spLocks noChangeArrowheads="1"/>
            </p:cNvSpPr>
            <p:nvPr/>
          </p:nvSpPr>
          <p:spPr bwMode="auto">
            <a:xfrm>
              <a:off x="4018" y="1353"/>
              <a:ext cx="61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00000000</a:t>
              </a:r>
            </a:p>
          </p:txBody>
        </p:sp>
        <p:sp>
          <p:nvSpPr>
            <p:cNvPr id="710681" name="Line 25"/>
            <p:cNvSpPr>
              <a:spLocks noChangeShapeType="1"/>
            </p:cNvSpPr>
            <p:nvPr/>
          </p:nvSpPr>
          <p:spPr bwMode="auto">
            <a:xfrm>
              <a:off x="599" y="1623"/>
              <a:ext cx="44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710682" name="Text Box 26"/>
            <p:cNvSpPr txBox="1">
              <a:spLocks noChangeArrowheads="1"/>
            </p:cNvSpPr>
            <p:nvPr/>
          </p:nvSpPr>
          <p:spPr bwMode="auto">
            <a:xfrm>
              <a:off x="802" y="1663"/>
              <a:ext cx="21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-0</a:t>
              </a:r>
            </a:p>
          </p:txBody>
        </p:sp>
        <p:sp>
          <p:nvSpPr>
            <p:cNvPr id="710683" name="Text Box 27"/>
            <p:cNvSpPr txBox="1">
              <a:spLocks noChangeArrowheads="1"/>
            </p:cNvSpPr>
            <p:nvPr/>
          </p:nvSpPr>
          <p:spPr bwMode="auto">
            <a:xfrm>
              <a:off x="1544" y="1626"/>
              <a:ext cx="61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10000000</a:t>
              </a:r>
            </a:p>
          </p:txBody>
        </p:sp>
        <p:sp>
          <p:nvSpPr>
            <p:cNvPr id="710684" name="Text Box 28"/>
            <p:cNvSpPr txBox="1">
              <a:spLocks noChangeArrowheads="1"/>
            </p:cNvSpPr>
            <p:nvPr/>
          </p:nvSpPr>
          <p:spPr bwMode="auto">
            <a:xfrm>
              <a:off x="2785" y="1616"/>
              <a:ext cx="61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11111111</a:t>
              </a:r>
            </a:p>
          </p:txBody>
        </p:sp>
        <p:sp>
          <p:nvSpPr>
            <p:cNvPr id="710685" name="Text Box 29"/>
            <p:cNvSpPr txBox="1">
              <a:spLocks noChangeArrowheads="1"/>
            </p:cNvSpPr>
            <p:nvPr/>
          </p:nvSpPr>
          <p:spPr bwMode="auto">
            <a:xfrm>
              <a:off x="4022" y="1616"/>
              <a:ext cx="61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00000000</a:t>
              </a:r>
            </a:p>
          </p:txBody>
        </p:sp>
        <p:sp>
          <p:nvSpPr>
            <p:cNvPr id="710686" name="Line 30"/>
            <p:cNvSpPr>
              <a:spLocks noChangeShapeType="1"/>
            </p:cNvSpPr>
            <p:nvPr/>
          </p:nvSpPr>
          <p:spPr bwMode="auto">
            <a:xfrm>
              <a:off x="599" y="1901"/>
              <a:ext cx="44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710687" name="Text Box 31"/>
            <p:cNvSpPr txBox="1">
              <a:spLocks noChangeArrowheads="1"/>
            </p:cNvSpPr>
            <p:nvPr/>
          </p:nvSpPr>
          <p:spPr bwMode="auto">
            <a:xfrm>
              <a:off x="645" y="2050"/>
              <a:ext cx="60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itchFamily="49" charset="-122"/>
                  <a:ea typeface="楷体" pitchFamily="49" charset="-122"/>
                </a:rPr>
                <a:t>数的范围</a:t>
              </a:r>
            </a:p>
          </p:txBody>
        </p:sp>
        <p:sp>
          <p:nvSpPr>
            <p:cNvPr id="710688" name="Text Box 32"/>
            <p:cNvSpPr txBox="1">
              <a:spLocks noChangeArrowheads="1"/>
            </p:cNvSpPr>
            <p:nvPr/>
          </p:nvSpPr>
          <p:spPr bwMode="auto">
            <a:xfrm>
              <a:off x="1323" y="1961"/>
              <a:ext cx="1281" cy="5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11111111</a:t>
              </a:r>
              <a:r>
                <a:rPr lang="en-US" altLang="zh-CN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</a:rPr>
                <a:t>~</a:t>
              </a:r>
              <a:r>
                <a:rPr lang="en-US" altLang="zh-CN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01111111</a:t>
              </a:r>
            </a:p>
            <a:p>
              <a:r>
                <a:rPr lang="en-US" altLang="zh-CN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   (-127</a:t>
              </a:r>
              <a:r>
                <a:rPr lang="en-US" altLang="zh-CN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</a:rPr>
                <a:t>~</a:t>
              </a:r>
              <a:r>
                <a:rPr lang="en-US" altLang="zh-CN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+127)</a:t>
              </a:r>
            </a:p>
          </p:txBody>
        </p:sp>
        <p:sp>
          <p:nvSpPr>
            <p:cNvPr id="710689" name="Text Box 33"/>
            <p:cNvSpPr txBox="1">
              <a:spLocks noChangeArrowheads="1"/>
            </p:cNvSpPr>
            <p:nvPr/>
          </p:nvSpPr>
          <p:spPr bwMode="auto">
            <a:xfrm>
              <a:off x="2544" y="1963"/>
              <a:ext cx="1211" cy="5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10000000</a:t>
              </a:r>
              <a:r>
                <a:rPr lang="en-US" altLang="zh-CN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</a:rPr>
                <a:t>~</a:t>
              </a:r>
              <a:r>
                <a:rPr lang="en-US" altLang="zh-CN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01111111</a:t>
              </a:r>
            </a:p>
            <a:p>
              <a:r>
                <a:rPr lang="en-US" altLang="zh-CN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   (-127</a:t>
              </a:r>
              <a:r>
                <a:rPr lang="en-US" altLang="zh-CN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</a:rPr>
                <a:t>~</a:t>
              </a:r>
              <a:r>
                <a:rPr lang="en-US" altLang="zh-CN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+127)</a:t>
              </a:r>
            </a:p>
          </p:txBody>
        </p:sp>
        <p:sp>
          <p:nvSpPr>
            <p:cNvPr id="710690" name="Text Box 34"/>
            <p:cNvSpPr txBox="1">
              <a:spLocks noChangeArrowheads="1"/>
            </p:cNvSpPr>
            <p:nvPr/>
          </p:nvSpPr>
          <p:spPr bwMode="auto">
            <a:xfrm>
              <a:off x="3784" y="1964"/>
              <a:ext cx="1230" cy="5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10000000</a:t>
              </a:r>
              <a:r>
                <a:rPr lang="en-US" altLang="zh-CN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</a:rPr>
                <a:t>~</a:t>
              </a:r>
              <a:r>
                <a:rPr lang="en-US" altLang="zh-CN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01111111</a:t>
              </a:r>
            </a:p>
            <a:p>
              <a:r>
                <a:rPr lang="en-US" altLang="zh-CN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    (-128</a:t>
              </a:r>
              <a:r>
                <a:rPr lang="en-US" altLang="zh-CN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</a:rPr>
                <a:t>~</a:t>
              </a:r>
              <a:r>
                <a:rPr lang="en-US" altLang="zh-CN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+127)</a:t>
              </a:r>
            </a:p>
          </p:txBody>
        </p:sp>
        <p:sp>
          <p:nvSpPr>
            <p:cNvPr id="710691" name="Text Box 35"/>
            <p:cNvSpPr txBox="1">
              <a:spLocks noChangeArrowheads="1"/>
            </p:cNvSpPr>
            <p:nvPr/>
          </p:nvSpPr>
          <p:spPr bwMode="auto">
            <a:xfrm>
              <a:off x="610" y="164"/>
              <a:ext cx="1267" cy="291"/>
            </a:xfrm>
            <a:prstGeom prst="rect">
              <a:avLst/>
            </a:prstGeom>
            <a:ln>
              <a:noFill/>
              <a:headEnd/>
              <a:tailEnd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隶书" pitchFamily="49" charset="-122"/>
                  <a:ea typeface="隶书" pitchFamily="49" charset="-122"/>
                </a:rPr>
                <a:t>（用一字节表示数）</a:t>
              </a:r>
            </a:p>
          </p:txBody>
        </p:sp>
      </p:grpSp>
      <p:sp>
        <p:nvSpPr>
          <p:cNvPr id="710692" name="Rectangle 36"/>
          <p:cNvSpPr>
            <a:spLocks noChangeArrowheads="1"/>
          </p:cNvSpPr>
          <p:nvPr/>
        </p:nvSpPr>
        <p:spPr bwMode="auto">
          <a:xfrm>
            <a:off x="-14741" y="4967381"/>
            <a:ext cx="9144000" cy="595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143000" lvl="2" indent="-228600">
              <a:spcBef>
                <a:spcPct val="20000"/>
              </a:spcBef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负数补码转换成十进制数：最高位不动，其余位取反加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1</a:t>
            </a:r>
          </a:p>
        </p:txBody>
      </p:sp>
      <p:sp>
        <p:nvSpPr>
          <p:cNvPr id="710693" name="Text Box 37"/>
          <p:cNvSpPr txBox="1">
            <a:spLocks noChangeArrowheads="1"/>
          </p:cNvSpPr>
          <p:nvPr/>
        </p:nvSpPr>
        <p:spPr bwMode="auto">
          <a:xfrm>
            <a:off x="1198110" y="5469031"/>
            <a:ext cx="3446777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例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 补码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ea"/>
                <a:ea typeface="+mn-ea"/>
              </a:rPr>
              <a:t>：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rPr>
              <a:t>1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ea"/>
                <a:ea typeface="+mn-ea"/>
              </a:rPr>
              <a:t>1111001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ea"/>
                <a:ea typeface="+mn-ea"/>
              </a:rPr>
              <a:t> 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取反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ea"/>
                <a:ea typeface="+mn-ea"/>
              </a:rPr>
              <a:t>：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rPr>
              <a:t>1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ea"/>
                <a:ea typeface="+mn-ea"/>
              </a:rPr>
              <a:t>0000110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ea"/>
                <a:ea typeface="+mn-ea"/>
              </a:rPr>
              <a:t>  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加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ea"/>
                <a:ea typeface="+mn-ea"/>
              </a:rPr>
              <a:t>：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rPr>
              <a:t>1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ea"/>
                <a:ea typeface="+mn-ea"/>
              </a:rPr>
              <a:t>0000111=-7</a:t>
            </a:r>
          </a:p>
        </p:txBody>
      </p:sp>
      <p:grpSp>
        <p:nvGrpSpPr>
          <p:cNvPr id="710707" name="Group 51"/>
          <p:cNvGrpSpPr>
            <a:grpSpLocks/>
          </p:cNvGrpSpPr>
          <p:nvPr/>
        </p:nvGrpSpPr>
        <p:grpSpPr bwMode="auto">
          <a:xfrm>
            <a:off x="-14741" y="0"/>
            <a:ext cx="446088" cy="6858000"/>
            <a:chOff x="0" y="0"/>
            <a:chExt cx="281" cy="4320"/>
          </a:xfrm>
        </p:grpSpPr>
        <p:sp>
          <p:nvSpPr>
            <p:cNvPr id="710708" name="Text Box 52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</a:rPr>
                <a:t>第三版</a:t>
              </a: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第一章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预备知识</a:t>
              </a:r>
            </a:p>
          </p:txBody>
        </p:sp>
        <p:sp>
          <p:nvSpPr>
            <p:cNvPr id="710709" name="Text Box 53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41" name="Text Box 2">
            <a:extLst>
              <a:ext uri="{FF2B5EF4-FFF2-40B4-BE49-F238E27FC236}">
                <a16:creationId xmlns:a16="http://schemas.microsoft.com/office/drawing/2014/main" id="{122CBDDE-9606-411B-9CA9-91FBC2F6DE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176" y="244475"/>
            <a:ext cx="6931025" cy="579438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kumimoji="0" lang="en-US" altLang="zh-CN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1.3 </a:t>
            </a:r>
            <a:r>
              <a:rPr kumimoji="0" lang="zh-CN" altLang="en-US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机器数的表示形式及其表示范围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106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7106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7106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7106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7106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0692" grpId="0" build="p" autoUpdateAnimBg="0"/>
      <p:bldP spid="710693" grpId="0" build="p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682" name="Text Box 2"/>
          <p:cNvSpPr txBox="1">
            <a:spLocks noChangeArrowheads="1"/>
          </p:cNvSpPr>
          <p:nvPr/>
        </p:nvSpPr>
        <p:spPr bwMode="auto">
          <a:xfrm>
            <a:off x="578985" y="244475"/>
            <a:ext cx="6931025" cy="579438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kumimoji="0" lang="en-US" altLang="zh-CN" sz="32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1.3 </a:t>
            </a:r>
            <a:r>
              <a:rPr kumimoji="0" lang="zh-CN" altLang="en-US" sz="32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机器数的表示形式及其表示范围</a:t>
            </a:r>
          </a:p>
        </p:txBody>
      </p:sp>
      <p:sp>
        <p:nvSpPr>
          <p:cNvPr id="711683" name="Rectangle 3"/>
          <p:cNvSpPr>
            <a:spLocks noChangeArrowheads="1"/>
          </p:cNvSpPr>
          <p:nvPr/>
        </p:nvSpPr>
        <p:spPr bwMode="auto">
          <a:xfrm>
            <a:off x="696366" y="980728"/>
            <a:ext cx="8135938" cy="557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sz="32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补码的加、减运算</a:t>
            </a:r>
            <a:endParaRPr lang="zh-CN" altLang="en-US" sz="3200" b="1" dirty="0">
              <a:solidFill>
                <a:srgbClr val="FF0066"/>
              </a:solidFill>
              <a:effectLst>
                <a:outerShdw blurRad="38100" dist="38100" dir="2700000" algn="tl">
                  <a:srgbClr val="000000"/>
                </a:outerShdw>
              </a:effectLst>
              <a:ea typeface="隶书" pitchFamily="49" charset="-122"/>
            </a:endParaRPr>
          </a:p>
          <a:p>
            <a:pPr algn="just">
              <a:spcBef>
                <a:spcPct val="20000"/>
              </a:spcBef>
            </a:pP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11687" name="Rectangle 7"/>
          <p:cNvSpPr>
            <a:spLocks noChangeArrowheads="1"/>
          </p:cNvSpPr>
          <p:nvPr/>
        </p:nvSpPr>
        <p:spPr bwMode="auto">
          <a:xfrm>
            <a:off x="1055440" y="1628775"/>
            <a:ext cx="8135937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spcBef>
                <a:spcPct val="20000"/>
              </a:spcBef>
              <a:buFont typeface="Wingding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由补码的定义可以证明如下补码加、减运算规则：</a:t>
            </a:r>
          </a:p>
        </p:txBody>
      </p:sp>
      <p:sp>
        <p:nvSpPr>
          <p:cNvPr id="711704" name="Rectangle 24"/>
          <p:cNvSpPr>
            <a:spLocks noChangeArrowheads="1"/>
          </p:cNvSpPr>
          <p:nvPr/>
        </p:nvSpPr>
        <p:spPr bwMode="auto">
          <a:xfrm>
            <a:off x="1923522" y="2276872"/>
            <a:ext cx="8276934" cy="1008062"/>
          </a:xfrm>
          <a:prstGeom prst="rect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3500000" scaled="1"/>
            <a:tileRect/>
          </a:gra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                   </a:t>
            </a:r>
            <a:r>
              <a:rPr lang="en-US" altLang="zh-CN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[N1 </a:t>
            </a:r>
            <a:r>
              <a:rPr lang="zh-CN" altLang="en-US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＋ </a:t>
            </a:r>
            <a:r>
              <a:rPr lang="en-US" altLang="zh-CN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N2]</a:t>
            </a:r>
            <a:r>
              <a:rPr lang="zh-CN" altLang="en-US" b="1" baseline="-250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补</a:t>
            </a:r>
            <a:r>
              <a:rPr lang="zh-CN" altLang="en-US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＝ </a:t>
            </a:r>
            <a:r>
              <a:rPr lang="en-US" altLang="zh-CN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[N1]</a:t>
            </a:r>
            <a:r>
              <a:rPr lang="zh-CN" altLang="en-US" b="1" baseline="-250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补</a:t>
            </a:r>
            <a:r>
              <a:rPr lang="zh-CN" altLang="en-US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＋ </a:t>
            </a:r>
            <a:r>
              <a:rPr lang="en-US" altLang="zh-CN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[N2]</a:t>
            </a:r>
            <a:r>
              <a:rPr lang="zh-CN" altLang="en-US" b="1" baseline="-250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补</a:t>
            </a:r>
          </a:p>
          <a:p>
            <a:pPr>
              <a:spcBef>
                <a:spcPct val="20000"/>
              </a:spcBef>
            </a:pPr>
            <a:r>
              <a:rPr lang="zh-CN" altLang="en-US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                       </a:t>
            </a:r>
            <a:r>
              <a:rPr lang="en-US" altLang="zh-CN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[N1 </a:t>
            </a:r>
            <a:r>
              <a:rPr lang="zh-CN" altLang="en-US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－ </a:t>
            </a:r>
            <a:r>
              <a:rPr lang="en-US" altLang="zh-CN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N2]</a:t>
            </a:r>
            <a:r>
              <a:rPr lang="zh-CN" altLang="en-US" b="1" baseline="-250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补</a:t>
            </a:r>
            <a:r>
              <a:rPr lang="zh-CN" altLang="en-US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＝ </a:t>
            </a:r>
            <a:r>
              <a:rPr lang="en-US" altLang="zh-CN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[N1]</a:t>
            </a:r>
            <a:r>
              <a:rPr lang="zh-CN" altLang="en-US" b="1" baseline="-250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补</a:t>
            </a:r>
            <a:r>
              <a:rPr lang="zh-CN" altLang="en-US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＋ </a:t>
            </a:r>
            <a:r>
              <a:rPr lang="en-US" altLang="zh-CN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[</a:t>
            </a:r>
            <a:r>
              <a:rPr lang="zh-CN" altLang="en-US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－</a:t>
            </a:r>
            <a:r>
              <a:rPr lang="en-US" altLang="zh-CN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N2]</a:t>
            </a:r>
            <a:r>
              <a:rPr lang="zh-CN" altLang="en-US" b="1" baseline="-250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补</a:t>
            </a:r>
          </a:p>
        </p:txBody>
      </p:sp>
      <p:sp>
        <p:nvSpPr>
          <p:cNvPr id="711706" name="Rectangle 26"/>
          <p:cNvSpPr>
            <a:spLocks noChangeArrowheads="1"/>
          </p:cNvSpPr>
          <p:nvPr/>
        </p:nvSpPr>
        <p:spPr bwMode="auto">
          <a:xfrm>
            <a:off x="1055440" y="3473785"/>
            <a:ext cx="10971143" cy="1827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>
              <a:lnSpc>
                <a:spcPts val="3500"/>
              </a:lnSpc>
              <a:buClr>
                <a:srgbClr val="0000FF"/>
              </a:buClr>
              <a:buFont typeface="Wingdings" panose="05000000000000000000" pitchFamily="2" charset="2"/>
              <a:buChar char="u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符号位和数据位一起参加运算；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楷体" pitchFamily="49" charset="-122"/>
              <a:ea typeface="楷体" pitchFamily="49" charset="-122"/>
            </a:endParaRPr>
          </a:p>
          <a:p>
            <a:pPr marL="342900" indent="-342900">
              <a:lnSpc>
                <a:spcPts val="3500"/>
              </a:lnSpc>
              <a:buClr>
                <a:srgbClr val="0000FF"/>
              </a:buClr>
              <a:buFont typeface="Wingdings" panose="05000000000000000000" pitchFamily="2" charset="2"/>
              <a:buChar char="u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如果符号位产生进位，则需要将此进位“</a:t>
            </a:r>
            <a:r>
              <a:rPr lang="zh-CN" altLang="en-US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丢掉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”；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楷体" pitchFamily="49" charset="-122"/>
              <a:ea typeface="楷体" pitchFamily="49" charset="-122"/>
            </a:endParaRPr>
          </a:p>
          <a:p>
            <a:pPr marL="342900" indent="-342900">
              <a:lnSpc>
                <a:spcPts val="3500"/>
              </a:lnSpc>
              <a:buClr>
                <a:srgbClr val="0000FF"/>
              </a:buClr>
              <a:buFont typeface="Wingdings" panose="05000000000000000000" pitchFamily="2" charset="2"/>
              <a:buChar char="u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运算结果的符号位为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0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时，说明是正数的补码；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楷体" pitchFamily="49" charset="-122"/>
              <a:ea typeface="楷体" pitchFamily="49" charset="-122"/>
            </a:endParaRPr>
          </a:p>
          <a:p>
            <a:pPr marL="342900" indent="-342900">
              <a:lnSpc>
                <a:spcPts val="3500"/>
              </a:lnSpc>
              <a:buClr>
                <a:srgbClr val="0000FF"/>
              </a:buClr>
              <a:buFont typeface="Wingdings" panose="05000000000000000000" pitchFamily="2" charset="2"/>
              <a:buChar char="u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运算结果的符号为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时，说明是负数的补码。 </a:t>
            </a:r>
          </a:p>
        </p:txBody>
      </p:sp>
      <p:grpSp>
        <p:nvGrpSpPr>
          <p:cNvPr id="711710" name="Group 30"/>
          <p:cNvGrpSpPr>
            <a:grpSpLocks/>
          </p:cNvGrpSpPr>
          <p:nvPr/>
        </p:nvGrpSpPr>
        <p:grpSpPr bwMode="auto">
          <a:xfrm>
            <a:off x="-14741" y="0"/>
            <a:ext cx="446088" cy="6858000"/>
            <a:chOff x="0" y="0"/>
            <a:chExt cx="281" cy="4320"/>
          </a:xfrm>
        </p:grpSpPr>
        <p:sp>
          <p:nvSpPr>
            <p:cNvPr id="711711" name="Text Box 31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>
                  <a:solidFill>
                    <a:srgbClr val="3333CC"/>
                  </a:solidFill>
                </a:rPr>
                <a:t>第二版</a:t>
              </a:r>
              <a:endParaRPr lang="zh-CN" altLang="en-US" sz="1800" b="1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>
                  <a:solidFill>
                    <a:srgbClr val="3333CC"/>
                  </a:solidFill>
                  <a:latin typeface="Verdana" pitchFamily="34" charset="0"/>
                </a:rPr>
                <a:t>第一章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>
                  <a:solidFill>
                    <a:srgbClr val="3333CC"/>
                  </a:solidFill>
                  <a:latin typeface="Verdana" pitchFamily="34" charset="0"/>
                </a:rPr>
                <a:t>预备知识</a:t>
              </a:r>
            </a:p>
          </p:txBody>
        </p:sp>
        <p:sp>
          <p:nvSpPr>
            <p:cNvPr id="711712" name="Text Box 32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7116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7116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117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11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11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1683" grpId="0"/>
      <p:bldP spid="711687" grpId="0" build="p" bldLvl="5" autoUpdateAnimBg="0"/>
      <p:bldP spid="711704" grpId="0" animBg="1"/>
      <p:bldP spid="71170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706" name="Text Box 2"/>
          <p:cNvSpPr txBox="1">
            <a:spLocks noChangeArrowheads="1"/>
          </p:cNvSpPr>
          <p:nvPr/>
        </p:nvSpPr>
        <p:spPr bwMode="auto">
          <a:xfrm>
            <a:off x="578985" y="244475"/>
            <a:ext cx="6931025" cy="579438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kumimoji="0" lang="en-US" altLang="zh-CN" sz="32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1.3 </a:t>
            </a:r>
            <a:r>
              <a:rPr kumimoji="0" lang="zh-CN" altLang="en-US" sz="32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机器数的表示形式及其表示范围</a:t>
            </a:r>
          </a:p>
        </p:txBody>
      </p:sp>
      <p:sp>
        <p:nvSpPr>
          <p:cNvPr id="712707" name="Rectangle 3"/>
          <p:cNvSpPr>
            <a:spLocks noChangeArrowheads="1"/>
          </p:cNvSpPr>
          <p:nvPr/>
        </p:nvSpPr>
        <p:spPr bwMode="auto">
          <a:xfrm>
            <a:off x="696366" y="980728"/>
            <a:ext cx="8135938" cy="557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sz="32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补码的加、减运算</a:t>
            </a:r>
            <a:endParaRPr lang="zh-CN" altLang="en-US" sz="3200" b="1" dirty="0">
              <a:solidFill>
                <a:srgbClr val="FF0066"/>
              </a:solidFill>
              <a:effectLst>
                <a:outerShdw blurRad="38100" dist="38100" dir="2700000" algn="tl">
                  <a:srgbClr val="000000"/>
                </a:outerShdw>
              </a:effectLst>
              <a:ea typeface="隶书" pitchFamily="49" charset="-122"/>
            </a:endParaRPr>
          </a:p>
          <a:p>
            <a:pPr algn="just">
              <a:spcBef>
                <a:spcPct val="20000"/>
              </a:spcBef>
            </a:pP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12711" name="Rectangle 7"/>
          <p:cNvSpPr>
            <a:spLocks noChangeArrowheads="1"/>
          </p:cNvSpPr>
          <p:nvPr/>
        </p:nvSpPr>
        <p:spPr bwMode="auto">
          <a:xfrm>
            <a:off x="695400" y="1701130"/>
            <a:ext cx="11089232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【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例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1】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已知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N1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＝＋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10011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N2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＝－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01010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，求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[N1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＋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N2]</a:t>
            </a:r>
            <a:r>
              <a:rPr lang="zh-CN" altLang="en-US" b="1" baseline="-25000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补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和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[N1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－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N2]</a:t>
            </a:r>
            <a:r>
              <a:rPr lang="zh-CN" altLang="en-US" b="1" baseline="-25000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补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。</a:t>
            </a:r>
          </a:p>
          <a:p>
            <a:pPr>
              <a:spcBef>
                <a:spcPct val="20000"/>
              </a:spcBef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 解： 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[N1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＋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N2]</a:t>
            </a:r>
            <a:r>
              <a:rPr lang="zh-CN" altLang="en-US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补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＝ 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[N1]</a:t>
            </a:r>
            <a:r>
              <a:rPr lang="zh-CN" altLang="en-US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补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＋ 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[N2]</a:t>
            </a:r>
            <a:r>
              <a:rPr lang="zh-CN" altLang="en-US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补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   </a:t>
            </a:r>
          </a:p>
          <a:p>
            <a:pPr>
              <a:spcBef>
                <a:spcPct val="20000"/>
              </a:spcBef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                ＝ 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010011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＋ 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110110</a:t>
            </a:r>
          </a:p>
          <a:p>
            <a:pPr>
              <a:spcBef>
                <a:spcPct val="20000"/>
              </a:spcBef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             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＝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0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01001</a:t>
            </a:r>
          </a:p>
          <a:p>
            <a:pPr>
              <a:spcBef>
                <a:spcPct val="20000"/>
              </a:spcBef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              </a:t>
            </a:r>
          </a:p>
          <a:p>
            <a:pPr>
              <a:spcBef>
                <a:spcPct val="20000"/>
              </a:spcBef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                 0  1  0  0  1  1</a:t>
            </a:r>
            <a:endParaRPr lang="en-US" altLang="zh-CN" b="1" u="sng" dirty="0">
              <a:effectLst>
                <a:outerShdw blurRad="38100" dist="38100" dir="2700000" algn="tl">
                  <a:srgbClr val="FFFFFF"/>
                </a:outerShdw>
              </a:effectLst>
              <a:latin typeface="楷体" pitchFamily="49" charset="-122"/>
              <a:ea typeface="楷体" pitchFamily="49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           </a:t>
            </a:r>
            <a:r>
              <a:rPr lang="zh-CN" altLang="en-US" b="1" u="sng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＋）  </a:t>
            </a:r>
            <a:r>
              <a:rPr lang="en-US" altLang="zh-CN" b="1" u="sng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1  1  0  1  1  0   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楷体" pitchFamily="49" charset="-122"/>
              <a:ea typeface="楷体" pitchFamily="49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        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丢掉←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1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 0  0  1  0  0  1</a:t>
            </a:r>
          </a:p>
        </p:txBody>
      </p:sp>
      <p:sp>
        <p:nvSpPr>
          <p:cNvPr id="712715" name="Freeform 11"/>
          <p:cNvSpPr>
            <a:spLocks/>
          </p:cNvSpPr>
          <p:nvPr/>
        </p:nvSpPr>
        <p:spPr bwMode="auto">
          <a:xfrm>
            <a:off x="3444079" y="4750371"/>
            <a:ext cx="2647950" cy="527050"/>
          </a:xfrm>
          <a:custGeom>
            <a:avLst/>
            <a:gdLst/>
            <a:ahLst/>
            <a:cxnLst>
              <a:cxn ang="0">
                <a:pos x="77" y="40"/>
              </a:cxn>
              <a:cxn ang="0">
                <a:pos x="51" y="57"/>
              </a:cxn>
              <a:cxn ang="0">
                <a:pos x="34" y="109"/>
              </a:cxn>
              <a:cxn ang="0">
                <a:pos x="8" y="160"/>
              </a:cxn>
              <a:cxn ang="0">
                <a:pos x="43" y="263"/>
              </a:cxn>
              <a:cxn ang="0">
                <a:pos x="455" y="332"/>
              </a:cxn>
              <a:cxn ang="0">
                <a:pos x="1599" y="298"/>
              </a:cxn>
              <a:cxn ang="0">
                <a:pos x="1650" y="272"/>
              </a:cxn>
              <a:cxn ang="0">
                <a:pos x="1668" y="220"/>
              </a:cxn>
              <a:cxn ang="0">
                <a:pos x="1633" y="109"/>
              </a:cxn>
              <a:cxn ang="0">
                <a:pos x="1556" y="74"/>
              </a:cxn>
              <a:cxn ang="0">
                <a:pos x="1100" y="23"/>
              </a:cxn>
              <a:cxn ang="0">
                <a:pos x="86" y="31"/>
              </a:cxn>
              <a:cxn ang="0">
                <a:pos x="43" y="66"/>
              </a:cxn>
              <a:cxn ang="0">
                <a:pos x="77" y="40"/>
              </a:cxn>
            </a:cxnLst>
            <a:rect l="0" t="0" r="r" b="b"/>
            <a:pathLst>
              <a:path w="1668" h="332">
                <a:moveTo>
                  <a:pt x="77" y="40"/>
                </a:moveTo>
                <a:cubicBezTo>
                  <a:pt x="68" y="46"/>
                  <a:pt x="57" y="49"/>
                  <a:pt x="51" y="57"/>
                </a:cubicBezTo>
                <a:cubicBezTo>
                  <a:pt x="40" y="71"/>
                  <a:pt x="42" y="93"/>
                  <a:pt x="34" y="109"/>
                </a:cubicBezTo>
                <a:cubicBezTo>
                  <a:pt x="0" y="175"/>
                  <a:pt x="31" y="94"/>
                  <a:pt x="8" y="160"/>
                </a:cubicBezTo>
                <a:cubicBezTo>
                  <a:pt x="12" y="184"/>
                  <a:pt x="16" y="246"/>
                  <a:pt x="43" y="263"/>
                </a:cubicBezTo>
                <a:cubicBezTo>
                  <a:pt x="143" y="326"/>
                  <a:pt x="356" y="328"/>
                  <a:pt x="455" y="332"/>
                </a:cubicBezTo>
                <a:cubicBezTo>
                  <a:pt x="839" y="327"/>
                  <a:pt x="1216" y="309"/>
                  <a:pt x="1599" y="298"/>
                </a:cubicBezTo>
                <a:cubicBezTo>
                  <a:pt x="1613" y="293"/>
                  <a:pt x="1641" y="286"/>
                  <a:pt x="1650" y="272"/>
                </a:cubicBezTo>
                <a:cubicBezTo>
                  <a:pt x="1660" y="256"/>
                  <a:pt x="1668" y="220"/>
                  <a:pt x="1668" y="220"/>
                </a:cubicBezTo>
                <a:cubicBezTo>
                  <a:pt x="1664" y="190"/>
                  <a:pt x="1662" y="132"/>
                  <a:pt x="1633" y="109"/>
                </a:cubicBezTo>
                <a:cubicBezTo>
                  <a:pt x="1614" y="94"/>
                  <a:pt x="1578" y="85"/>
                  <a:pt x="1556" y="74"/>
                </a:cubicBezTo>
                <a:cubicBezTo>
                  <a:pt x="1409" y="0"/>
                  <a:pt x="1282" y="27"/>
                  <a:pt x="1100" y="23"/>
                </a:cubicBezTo>
                <a:cubicBezTo>
                  <a:pt x="762" y="26"/>
                  <a:pt x="424" y="23"/>
                  <a:pt x="86" y="31"/>
                </a:cubicBezTo>
                <a:cubicBezTo>
                  <a:pt x="68" y="31"/>
                  <a:pt x="26" y="74"/>
                  <a:pt x="43" y="66"/>
                </a:cubicBezTo>
                <a:cubicBezTo>
                  <a:pt x="56" y="60"/>
                  <a:pt x="66" y="49"/>
                  <a:pt x="77" y="40"/>
                </a:cubicBezTo>
                <a:close/>
              </a:path>
            </a:pathLst>
          </a:custGeom>
          <a:noFill/>
          <a:ln w="34925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712719" name="Group 15"/>
          <p:cNvGrpSpPr>
            <a:grpSpLocks/>
          </p:cNvGrpSpPr>
          <p:nvPr/>
        </p:nvGrpSpPr>
        <p:grpSpPr bwMode="auto">
          <a:xfrm>
            <a:off x="5087269" y="3284984"/>
            <a:ext cx="1440779" cy="1800101"/>
            <a:chOff x="3528" y="2251"/>
            <a:chExt cx="945" cy="1179"/>
          </a:xfrm>
        </p:grpSpPr>
        <p:sp>
          <p:nvSpPr>
            <p:cNvPr id="712716" name="Line 12"/>
            <p:cNvSpPr>
              <a:spLocks noChangeShapeType="1"/>
            </p:cNvSpPr>
            <p:nvPr/>
          </p:nvSpPr>
          <p:spPr bwMode="auto">
            <a:xfrm>
              <a:off x="4187" y="3430"/>
              <a:ext cx="281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2717" name="Line 13"/>
            <p:cNvSpPr>
              <a:spLocks noChangeShapeType="1"/>
            </p:cNvSpPr>
            <p:nvPr/>
          </p:nvSpPr>
          <p:spPr bwMode="auto">
            <a:xfrm flipV="1">
              <a:off x="4468" y="2251"/>
              <a:ext cx="0" cy="117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2718" name="Line 14"/>
            <p:cNvSpPr>
              <a:spLocks noChangeShapeType="1"/>
            </p:cNvSpPr>
            <p:nvPr/>
          </p:nvSpPr>
          <p:spPr bwMode="auto">
            <a:xfrm flipH="1" flipV="1">
              <a:off x="3528" y="2251"/>
              <a:ext cx="945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12730" name="Group 26"/>
          <p:cNvGrpSpPr>
            <a:grpSpLocks/>
          </p:cNvGrpSpPr>
          <p:nvPr/>
        </p:nvGrpSpPr>
        <p:grpSpPr bwMode="auto">
          <a:xfrm>
            <a:off x="-14741" y="0"/>
            <a:ext cx="446088" cy="6858000"/>
            <a:chOff x="0" y="0"/>
            <a:chExt cx="281" cy="4320"/>
          </a:xfrm>
        </p:grpSpPr>
        <p:sp>
          <p:nvSpPr>
            <p:cNvPr id="712731" name="Text Box 27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</a:rPr>
                <a:t>第三版</a:t>
              </a: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第一章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预备知识</a:t>
              </a:r>
            </a:p>
          </p:txBody>
        </p:sp>
        <p:sp>
          <p:nvSpPr>
            <p:cNvPr id="712732" name="Text Box 28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7127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27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127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127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127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127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127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127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1" dur="2000"/>
                                        <p:tgtEl>
                                          <p:spTgt spid="7127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7127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2707" grpId="0"/>
      <p:bldP spid="71271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706" name="Text Box 2"/>
          <p:cNvSpPr txBox="1">
            <a:spLocks noChangeArrowheads="1"/>
          </p:cNvSpPr>
          <p:nvPr/>
        </p:nvSpPr>
        <p:spPr bwMode="auto">
          <a:xfrm>
            <a:off x="578985" y="244475"/>
            <a:ext cx="6931025" cy="579438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kumimoji="0" lang="en-US" altLang="zh-CN" sz="32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1.3 </a:t>
            </a:r>
            <a:r>
              <a:rPr kumimoji="0" lang="zh-CN" altLang="en-US" sz="32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机器数的表示形式及其表示范围</a:t>
            </a:r>
          </a:p>
        </p:txBody>
      </p:sp>
      <p:sp>
        <p:nvSpPr>
          <p:cNvPr id="712707" name="Rectangle 3"/>
          <p:cNvSpPr>
            <a:spLocks noChangeArrowheads="1"/>
          </p:cNvSpPr>
          <p:nvPr/>
        </p:nvSpPr>
        <p:spPr bwMode="auto">
          <a:xfrm>
            <a:off x="696366" y="980728"/>
            <a:ext cx="8135938" cy="557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sz="32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补码的加、减运算</a:t>
            </a:r>
            <a:endParaRPr lang="zh-CN" altLang="en-US" sz="3200" b="1" dirty="0">
              <a:solidFill>
                <a:srgbClr val="FF0066"/>
              </a:solidFill>
              <a:effectLst>
                <a:outerShdw blurRad="38100" dist="38100" dir="2700000" algn="tl">
                  <a:srgbClr val="000000"/>
                </a:outerShdw>
              </a:effectLst>
              <a:ea typeface="隶书" pitchFamily="49" charset="-122"/>
            </a:endParaRPr>
          </a:p>
          <a:p>
            <a:pPr algn="just">
              <a:spcBef>
                <a:spcPct val="20000"/>
              </a:spcBef>
            </a:pP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712730" name="Group 26"/>
          <p:cNvGrpSpPr>
            <a:grpSpLocks/>
          </p:cNvGrpSpPr>
          <p:nvPr/>
        </p:nvGrpSpPr>
        <p:grpSpPr bwMode="auto">
          <a:xfrm>
            <a:off x="-14741" y="0"/>
            <a:ext cx="446088" cy="6858000"/>
            <a:chOff x="0" y="0"/>
            <a:chExt cx="281" cy="4320"/>
          </a:xfrm>
        </p:grpSpPr>
        <p:sp>
          <p:nvSpPr>
            <p:cNvPr id="712731" name="Text Box 27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</a:rPr>
                <a:t>第三版</a:t>
              </a: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第一章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预备知识</a:t>
              </a:r>
            </a:p>
          </p:txBody>
        </p:sp>
        <p:sp>
          <p:nvSpPr>
            <p:cNvPr id="712732" name="Text Box 28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id="{B142376D-2DFA-4463-BDA0-5C3E0A77B9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428" y="1571212"/>
            <a:ext cx="10297143" cy="3384550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itchFamily="49" charset="-122"/>
                <a:ea typeface="楷体" pitchFamily="49" charset="-122"/>
              </a:rPr>
              <a:t>【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itchFamily="49" charset="-122"/>
                <a:ea typeface="楷体" pitchFamily="49" charset="-122"/>
              </a:rPr>
              <a:t>例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itchFamily="49" charset="-122"/>
                <a:ea typeface="楷体" pitchFamily="49" charset="-122"/>
              </a:rPr>
              <a:t>2】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itchFamily="49" charset="-122"/>
                <a:ea typeface="楷体" pitchFamily="49" charset="-122"/>
              </a:rPr>
              <a:t>已知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N1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＝＋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10011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N2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＝－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01010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itchFamily="49" charset="-122"/>
                <a:ea typeface="楷体" pitchFamily="49" charset="-122"/>
              </a:rPr>
              <a:t>，求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[N1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＋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N2]</a:t>
            </a:r>
            <a:r>
              <a:rPr lang="zh-CN" altLang="en-US" b="1" baseline="-250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itchFamily="49" charset="-122"/>
                <a:ea typeface="楷体" pitchFamily="49" charset="-122"/>
              </a:rPr>
              <a:t>和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[N1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－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N2]</a:t>
            </a:r>
            <a:r>
              <a:rPr lang="zh-CN" altLang="en-US" b="1" baseline="-250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itchFamily="49" charset="-122"/>
                <a:ea typeface="楷体" pitchFamily="49" charset="-122"/>
              </a:rPr>
              <a:t>。 </a:t>
            </a:r>
          </a:p>
          <a:p>
            <a:pPr>
              <a:spcBef>
                <a:spcPct val="20000"/>
              </a:spcBef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itchFamily="49" charset="-122"/>
                <a:ea typeface="楷体" pitchFamily="49" charset="-122"/>
              </a:rPr>
              <a:t> 解：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[N1-N2]</a:t>
            </a:r>
            <a:r>
              <a:rPr lang="zh-CN" altLang="en-US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itchFamily="49" charset="-122"/>
                <a:ea typeface="楷体" pitchFamily="49" charset="-122"/>
              </a:rPr>
              <a:t>补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＝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[N1]</a:t>
            </a:r>
            <a:r>
              <a:rPr lang="zh-CN" altLang="en-US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itchFamily="49" charset="-122"/>
                <a:ea typeface="楷体" pitchFamily="49" charset="-122"/>
              </a:rPr>
              <a:t>补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＋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[-N2]</a:t>
            </a:r>
            <a:r>
              <a:rPr lang="zh-CN" altLang="en-US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itchFamily="49" charset="-122"/>
                <a:ea typeface="楷体" pitchFamily="49" charset="-122"/>
              </a:rPr>
              <a:t>补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</a:p>
          <a:p>
            <a:pPr>
              <a:spcBef>
                <a:spcPct val="20000"/>
              </a:spcBef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              ＝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010011 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＋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001010</a:t>
            </a:r>
          </a:p>
          <a:p>
            <a:pPr>
              <a:spcBef>
                <a:spcPct val="20000"/>
              </a:spcBef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              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＝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11101</a:t>
            </a:r>
          </a:p>
          <a:p>
            <a:pPr>
              <a:spcBef>
                <a:spcPct val="20000"/>
              </a:spcBef>
            </a:pPr>
            <a:endParaRPr lang="en-US" altLang="zh-CN" b="1" dirty="0">
              <a:effectLst>
                <a:outerShdw blurRad="38100" dist="38100" dir="2700000" algn="tl">
                  <a:srgbClr val="C0C0C0"/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                 0  1  0  0  1  1</a:t>
            </a:r>
            <a:endParaRPr lang="en-US" altLang="zh-CN" b="1" u="sng" dirty="0">
              <a:effectLst>
                <a:outerShdw blurRad="38100" dist="38100" dir="2700000" algn="tl">
                  <a:srgbClr val="C0C0C0"/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           </a:t>
            </a:r>
            <a:r>
              <a:rPr lang="zh-CN" altLang="en-US" b="1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＋）  </a:t>
            </a:r>
            <a:r>
              <a:rPr lang="en-US" altLang="zh-CN" b="1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0  0  1  0  1  0  </a:t>
            </a:r>
          </a:p>
          <a:p>
            <a:pPr>
              <a:spcBef>
                <a:spcPct val="20000"/>
              </a:spcBef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                 0  1  1  1  0  1</a:t>
            </a:r>
          </a:p>
        </p:txBody>
      </p:sp>
      <p:sp>
        <p:nvSpPr>
          <p:cNvPr id="14" name="Freeform 8">
            <a:extLst>
              <a:ext uri="{FF2B5EF4-FFF2-40B4-BE49-F238E27FC236}">
                <a16:creationId xmlns:a16="http://schemas.microsoft.com/office/drawing/2014/main" id="{B2532CCC-5D3C-48CF-ADF9-D3D1D6DC315E}"/>
              </a:ext>
            </a:extLst>
          </p:cNvPr>
          <p:cNvSpPr>
            <a:spLocks/>
          </p:cNvSpPr>
          <p:nvPr/>
        </p:nvSpPr>
        <p:spPr bwMode="auto">
          <a:xfrm>
            <a:off x="3790702" y="4652481"/>
            <a:ext cx="2647950" cy="527050"/>
          </a:xfrm>
          <a:custGeom>
            <a:avLst/>
            <a:gdLst/>
            <a:ahLst/>
            <a:cxnLst>
              <a:cxn ang="0">
                <a:pos x="77" y="40"/>
              </a:cxn>
              <a:cxn ang="0">
                <a:pos x="51" y="57"/>
              </a:cxn>
              <a:cxn ang="0">
                <a:pos x="34" y="109"/>
              </a:cxn>
              <a:cxn ang="0">
                <a:pos x="8" y="160"/>
              </a:cxn>
              <a:cxn ang="0">
                <a:pos x="43" y="263"/>
              </a:cxn>
              <a:cxn ang="0">
                <a:pos x="455" y="332"/>
              </a:cxn>
              <a:cxn ang="0">
                <a:pos x="1599" y="298"/>
              </a:cxn>
              <a:cxn ang="0">
                <a:pos x="1650" y="272"/>
              </a:cxn>
              <a:cxn ang="0">
                <a:pos x="1668" y="220"/>
              </a:cxn>
              <a:cxn ang="0">
                <a:pos x="1633" y="109"/>
              </a:cxn>
              <a:cxn ang="0">
                <a:pos x="1556" y="74"/>
              </a:cxn>
              <a:cxn ang="0">
                <a:pos x="1100" y="23"/>
              </a:cxn>
              <a:cxn ang="0">
                <a:pos x="86" y="31"/>
              </a:cxn>
              <a:cxn ang="0">
                <a:pos x="43" y="66"/>
              </a:cxn>
              <a:cxn ang="0">
                <a:pos x="77" y="40"/>
              </a:cxn>
            </a:cxnLst>
            <a:rect l="0" t="0" r="r" b="b"/>
            <a:pathLst>
              <a:path w="1668" h="332">
                <a:moveTo>
                  <a:pt x="77" y="40"/>
                </a:moveTo>
                <a:cubicBezTo>
                  <a:pt x="68" y="46"/>
                  <a:pt x="57" y="49"/>
                  <a:pt x="51" y="57"/>
                </a:cubicBezTo>
                <a:cubicBezTo>
                  <a:pt x="40" y="71"/>
                  <a:pt x="42" y="93"/>
                  <a:pt x="34" y="109"/>
                </a:cubicBezTo>
                <a:cubicBezTo>
                  <a:pt x="0" y="175"/>
                  <a:pt x="31" y="94"/>
                  <a:pt x="8" y="160"/>
                </a:cubicBezTo>
                <a:cubicBezTo>
                  <a:pt x="12" y="184"/>
                  <a:pt x="16" y="246"/>
                  <a:pt x="43" y="263"/>
                </a:cubicBezTo>
                <a:cubicBezTo>
                  <a:pt x="143" y="326"/>
                  <a:pt x="356" y="328"/>
                  <a:pt x="455" y="332"/>
                </a:cubicBezTo>
                <a:cubicBezTo>
                  <a:pt x="839" y="327"/>
                  <a:pt x="1216" y="309"/>
                  <a:pt x="1599" y="298"/>
                </a:cubicBezTo>
                <a:cubicBezTo>
                  <a:pt x="1613" y="293"/>
                  <a:pt x="1641" y="286"/>
                  <a:pt x="1650" y="272"/>
                </a:cubicBezTo>
                <a:cubicBezTo>
                  <a:pt x="1660" y="256"/>
                  <a:pt x="1668" y="220"/>
                  <a:pt x="1668" y="220"/>
                </a:cubicBezTo>
                <a:cubicBezTo>
                  <a:pt x="1664" y="190"/>
                  <a:pt x="1662" y="132"/>
                  <a:pt x="1633" y="109"/>
                </a:cubicBezTo>
                <a:cubicBezTo>
                  <a:pt x="1614" y="94"/>
                  <a:pt x="1578" y="85"/>
                  <a:pt x="1556" y="74"/>
                </a:cubicBezTo>
                <a:cubicBezTo>
                  <a:pt x="1409" y="0"/>
                  <a:pt x="1282" y="27"/>
                  <a:pt x="1100" y="23"/>
                </a:cubicBezTo>
                <a:cubicBezTo>
                  <a:pt x="762" y="26"/>
                  <a:pt x="424" y="23"/>
                  <a:pt x="86" y="31"/>
                </a:cubicBezTo>
                <a:cubicBezTo>
                  <a:pt x="68" y="31"/>
                  <a:pt x="26" y="74"/>
                  <a:pt x="43" y="66"/>
                </a:cubicBezTo>
                <a:cubicBezTo>
                  <a:pt x="56" y="60"/>
                  <a:pt x="66" y="49"/>
                  <a:pt x="77" y="40"/>
                </a:cubicBezTo>
                <a:close/>
              </a:path>
            </a:pathLst>
          </a:custGeom>
          <a:noFill/>
          <a:ln w="34925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15" name="Group 9">
            <a:extLst>
              <a:ext uri="{FF2B5EF4-FFF2-40B4-BE49-F238E27FC236}">
                <a16:creationId xmlns:a16="http://schemas.microsoft.com/office/drawing/2014/main" id="{321E15BE-A788-419D-9B53-75A3B9DA91F9}"/>
              </a:ext>
            </a:extLst>
          </p:cNvPr>
          <p:cNvGrpSpPr>
            <a:grpSpLocks/>
          </p:cNvGrpSpPr>
          <p:nvPr/>
        </p:nvGrpSpPr>
        <p:grpSpPr bwMode="auto">
          <a:xfrm>
            <a:off x="5230862" y="3163281"/>
            <a:ext cx="1873250" cy="1800101"/>
            <a:chOff x="3288" y="2251"/>
            <a:chExt cx="1180" cy="1179"/>
          </a:xfrm>
        </p:grpSpPr>
        <p:sp>
          <p:nvSpPr>
            <p:cNvPr id="16" name="Line 10">
              <a:extLst>
                <a:ext uri="{FF2B5EF4-FFF2-40B4-BE49-F238E27FC236}">
                  <a16:creationId xmlns:a16="http://schemas.microsoft.com/office/drawing/2014/main" id="{87C17EFE-157F-43D5-BF5B-88A45DCFEF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9" y="3430"/>
              <a:ext cx="409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1">
              <a:extLst>
                <a:ext uri="{FF2B5EF4-FFF2-40B4-BE49-F238E27FC236}">
                  <a16:creationId xmlns:a16="http://schemas.microsoft.com/office/drawing/2014/main" id="{D03BE677-0EA4-44D9-A145-50F1334E8E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68" y="2251"/>
              <a:ext cx="0" cy="117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2">
              <a:extLst>
                <a:ext uri="{FF2B5EF4-FFF2-40B4-BE49-F238E27FC236}">
                  <a16:creationId xmlns:a16="http://schemas.microsoft.com/office/drawing/2014/main" id="{24E38886-647C-4C4C-8117-025B62FDEB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88" y="2251"/>
              <a:ext cx="118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295973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7127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2707" grpId="0"/>
      <p:bldP spid="1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754" name="Text Box 2"/>
          <p:cNvSpPr txBox="1">
            <a:spLocks noChangeArrowheads="1"/>
          </p:cNvSpPr>
          <p:nvPr/>
        </p:nvSpPr>
        <p:spPr bwMode="auto">
          <a:xfrm>
            <a:off x="578985" y="244475"/>
            <a:ext cx="6931025" cy="579438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kumimoji="0" lang="en-US" altLang="zh-CN" sz="32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1.3 </a:t>
            </a:r>
            <a:r>
              <a:rPr kumimoji="0" lang="zh-CN" altLang="en-US" sz="32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机器数的表示形式及其表示范围</a:t>
            </a:r>
          </a:p>
        </p:txBody>
      </p:sp>
      <p:sp>
        <p:nvSpPr>
          <p:cNvPr id="714755" name="Rectangle 3"/>
          <p:cNvSpPr>
            <a:spLocks noChangeArrowheads="1"/>
          </p:cNvSpPr>
          <p:nvPr/>
        </p:nvSpPr>
        <p:spPr bwMode="auto">
          <a:xfrm>
            <a:off x="525009" y="1000126"/>
            <a:ext cx="8135938" cy="557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sz="3200" b="1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无符号整数</a:t>
            </a:r>
            <a:endParaRPr lang="zh-CN" altLang="en-US" sz="3200" b="1">
              <a:solidFill>
                <a:srgbClr val="FF0066"/>
              </a:solidFill>
              <a:effectLst>
                <a:outerShdw blurRad="38100" dist="38100" dir="2700000" algn="tl">
                  <a:srgbClr val="000000"/>
                </a:outerShdw>
              </a:effectLst>
              <a:ea typeface="隶书" pitchFamily="49" charset="-122"/>
            </a:endParaRPr>
          </a:p>
          <a:p>
            <a:pPr algn="just">
              <a:spcBef>
                <a:spcPct val="20000"/>
              </a:spcBef>
            </a:pPr>
            <a:endParaRPr lang="en-US" altLang="zh-CN" b="1">
              <a:effectLst>
                <a:outerShdw blurRad="38100" dist="38100" dir="2700000" algn="tl">
                  <a:srgbClr val="FFFFFF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 useBgFill="1">
        <p:nvSpPr>
          <p:cNvPr id="714759" name="Rectangle 7"/>
          <p:cNvSpPr>
            <a:spLocks noChangeArrowheads="1"/>
          </p:cNvSpPr>
          <p:nvPr/>
        </p:nvSpPr>
        <p:spPr bwMode="auto">
          <a:xfrm>
            <a:off x="555173" y="1628775"/>
            <a:ext cx="11013435" cy="2160588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楷体" pitchFamily="49" charset="-122"/>
              </a:rPr>
              <a:t>        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楷体" pitchFamily="49" charset="-122"/>
              </a:rPr>
              <a:t>在某些情况下，要处理的数全是正数，此时再保留符号位就没有意义了。我们可以把最高有效位也作为数值处理，这样的数称为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楷体" pitchFamily="49" charset="-122"/>
              </a:rPr>
              <a:t>无符号数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楷体" pitchFamily="49" charset="-122"/>
              </a:rPr>
              <a:t>。</a:t>
            </a:r>
          </a:p>
          <a:p>
            <a:pPr>
              <a:spcBef>
                <a:spcPct val="20000"/>
              </a:spcBef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楷体" pitchFamily="49" charset="-122"/>
              </a:rPr>
              <a:t>   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楷体" pitchFamily="49" charset="-122"/>
              </a:rPr>
              <a:t>16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楷体" pitchFamily="49" charset="-122"/>
              </a:rPr>
              <a:t>位无符号数的表示范围是：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0 ≤ N ≤ 65535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楷体" pitchFamily="49" charset="-122"/>
              </a:rPr>
              <a:t>，</a:t>
            </a:r>
          </a:p>
          <a:p>
            <a:pPr>
              <a:spcBef>
                <a:spcPct val="20000"/>
              </a:spcBef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楷体" pitchFamily="49" charset="-122"/>
              </a:rPr>
              <a:t>    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楷体" pitchFamily="49" charset="-122"/>
              </a:rPr>
              <a:t>8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楷体" pitchFamily="49" charset="-122"/>
              </a:rPr>
              <a:t>位无符号数的表示范围是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： 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0 ≤ N ≤ 255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楷体" pitchFamily="49" charset="-122"/>
              </a:rPr>
              <a:t>。</a:t>
            </a:r>
          </a:p>
        </p:txBody>
      </p:sp>
      <p:sp>
        <p:nvSpPr>
          <p:cNvPr id="714765" name="Rectangle 13"/>
          <p:cNvSpPr>
            <a:spLocks noChangeArrowheads="1"/>
          </p:cNvSpPr>
          <p:nvPr/>
        </p:nvSpPr>
        <p:spPr bwMode="auto">
          <a:xfrm>
            <a:off x="496434" y="3689351"/>
            <a:ext cx="8135938" cy="557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sz="32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字符表示法</a:t>
            </a:r>
            <a:endParaRPr lang="zh-CN" altLang="en-US" sz="3200" b="1" dirty="0">
              <a:solidFill>
                <a:srgbClr val="FF0066"/>
              </a:solidFill>
              <a:effectLst>
                <a:outerShdw blurRad="38100" dist="38100" dir="2700000" algn="tl">
                  <a:srgbClr val="000000"/>
                </a:outerShdw>
              </a:effectLst>
              <a:ea typeface="隶书" pitchFamily="49" charset="-122"/>
            </a:endParaRPr>
          </a:p>
          <a:p>
            <a:pPr algn="just">
              <a:spcBef>
                <a:spcPct val="20000"/>
              </a:spcBef>
            </a:pP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14766" name="Rectangle 14"/>
          <p:cNvSpPr>
            <a:spLocks noChangeArrowheads="1"/>
          </p:cNvSpPr>
          <p:nvPr/>
        </p:nvSpPr>
        <p:spPr bwMode="auto">
          <a:xfrm>
            <a:off x="587649" y="4356633"/>
            <a:ext cx="11115036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    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计算机中处理的信息并不全是数，有时需要处理字符或字符串，例如从键盘输入的信息或打印输出的信息都是字符方式输入输出的，因此，计算机必须能表示字符（例如，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C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语言中可通过定义字符型变量来存储字符）。</a:t>
            </a:r>
          </a:p>
        </p:txBody>
      </p:sp>
      <p:grpSp>
        <p:nvGrpSpPr>
          <p:cNvPr id="714770" name="Group 18"/>
          <p:cNvGrpSpPr>
            <a:grpSpLocks/>
          </p:cNvGrpSpPr>
          <p:nvPr/>
        </p:nvGrpSpPr>
        <p:grpSpPr bwMode="auto">
          <a:xfrm>
            <a:off x="-14741" y="0"/>
            <a:ext cx="446088" cy="6858000"/>
            <a:chOff x="0" y="0"/>
            <a:chExt cx="281" cy="4320"/>
          </a:xfrm>
        </p:grpSpPr>
        <p:sp>
          <p:nvSpPr>
            <p:cNvPr id="714771" name="Text Box 19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</a:rPr>
                <a:t>第三版</a:t>
              </a: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第一章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预备知识</a:t>
              </a:r>
            </a:p>
          </p:txBody>
        </p:sp>
        <p:sp>
          <p:nvSpPr>
            <p:cNvPr id="714772" name="Text Box 20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47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47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147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7147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4755" grpId="0"/>
      <p:bldP spid="714759" grpId="0" animBg="1"/>
      <p:bldP spid="714765" grpId="0"/>
      <p:bldP spid="71476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778" name="Text Box 2"/>
          <p:cNvSpPr txBox="1">
            <a:spLocks noChangeArrowheads="1"/>
          </p:cNvSpPr>
          <p:nvPr/>
        </p:nvSpPr>
        <p:spPr bwMode="auto">
          <a:xfrm>
            <a:off x="578985" y="244475"/>
            <a:ext cx="6931025" cy="579438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kumimoji="0" lang="en-US" altLang="zh-CN" sz="32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1.3 </a:t>
            </a:r>
            <a:r>
              <a:rPr kumimoji="0" lang="zh-CN" altLang="en-US" sz="32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机器数的表示形式及其表示范围</a:t>
            </a:r>
          </a:p>
        </p:txBody>
      </p:sp>
      <p:sp>
        <p:nvSpPr>
          <p:cNvPr id="715784" name="Rectangle 8"/>
          <p:cNvSpPr>
            <a:spLocks noChangeArrowheads="1"/>
          </p:cNvSpPr>
          <p:nvPr/>
        </p:nvSpPr>
        <p:spPr bwMode="auto">
          <a:xfrm>
            <a:off x="453573" y="981076"/>
            <a:ext cx="8135937" cy="557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sz="3200" b="1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字符表示法</a:t>
            </a:r>
            <a:endParaRPr lang="zh-CN" altLang="en-US" sz="3200" b="1">
              <a:solidFill>
                <a:srgbClr val="FF0066"/>
              </a:solidFill>
              <a:effectLst>
                <a:outerShdw blurRad="38100" dist="38100" dir="2700000" algn="tl">
                  <a:srgbClr val="000000"/>
                </a:outerShdw>
              </a:effectLst>
              <a:ea typeface="隶书" pitchFamily="49" charset="-122"/>
            </a:endParaRPr>
          </a:p>
          <a:p>
            <a:pPr algn="just">
              <a:spcBef>
                <a:spcPct val="20000"/>
              </a:spcBef>
            </a:pPr>
            <a:endParaRPr lang="en-US" altLang="zh-CN" b="1">
              <a:effectLst>
                <a:outerShdw blurRad="38100" dist="38100" dir="2700000" algn="tl">
                  <a:srgbClr val="FFFFFF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15785" name="Rectangle 9"/>
          <p:cNvSpPr>
            <a:spLocks noChangeArrowheads="1"/>
          </p:cNvSpPr>
          <p:nvPr/>
        </p:nvSpPr>
        <p:spPr bwMode="auto">
          <a:xfrm>
            <a:off x="983432" y="1772372"/>
            <a:ext cx="10801200" cy="4536948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pPr marL="800100" lvl="1" indent="-342900">
              <a:lnSpc>
                <a:spcPts val="3500"/>
              </a:lnSpc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字母：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A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、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B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、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…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、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Z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，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a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、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b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、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…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、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z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；</a:t>
            </a:r>
          </a:p>
          <a:p>
            <a:pPr marL="800100" lvl="1" indent="-342900">
              <a:lnSpc>
                <a:spcPts val="3500"/>
              </a:lnSpc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数字：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0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、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1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、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…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、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9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；、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  <a:p>
            <a:pPr marL="800100" lvl="1" indent="-342900">
              <a:lnSpc>
                <a:spcPts val="3500"/>
              </a:lnSpc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专用字符：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＋、－、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﹡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、∕、↑、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SP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space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空格）、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…</a:t>
            </a:r>
          </a:p>
          <a:p>
            <a:pPr marL="800100" lvl="1" indent="-342900">
              <a:lnSpc>
                <a:spcPts val="3500"/>
              </a:lnSpc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非打印字符：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BEL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（响铃）、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LF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（换行）、    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CR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（回车）、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…</a:t>
            </a:r>
          </a:p>
          <a:p>
            <a:pPr marL="914400" lvl="1" indent="-457200">
              <a:lnSpc>
                <a:spcPts val="3500"/>
              </a:lnSpc>
              <a:buFont typeface="+mj-ea"/>
              <a:buAutoNum type="circleNumDbPlain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这些字符在机器里必须用二进制数来表示。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  <a:p>
            <a:pPr marL="914400" lvl="1" indent="-457200">
              <a:lnSpc>
                <a:spcPts val="3500"/>
              </a:lnSpc>
              <a:buFont typeface="+mj-ea"/>
              <a:buAutoNum type="circleNumDbPlain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采用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美国信息交换标准代码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ASCII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A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merican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S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tandard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C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ode for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I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nformation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I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nterchange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）来表示。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  <a:p>
            <a:pPr marL="914400" lvl="1" indent="-457200">
              <a:lnSpc>
                <a:spcPts val="3500"/>
              </a:lnSpc>
              <a:buFont typeface="+mj-ea"/>
              <a:buAutoNum type="circleNumDbPlain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用一个字节（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8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位二进制码）来表示一个字符，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  <a:p>
            <a:pPr marL="914400" lvl="1" indent="-457200">
              <a:lnSpc>
                <a:spcPts val="3500"/>
              </a:lnSpc>
              <a:buFont typeface="+mj-ea"/>
              <a:buAutoNum type="circleNumDbPlain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低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7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位为字符的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ASCII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值，最高位一般用作校验位。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  <a:p>
            <a:pPr marL="914400" lvl="1" indent="-457200">
              <a:lnSpc>
                <a:spcPts val="3500"/>
              </a:lnSpc>
              <a:buFont typeface="+mj-ea"/>
              <a:buAutoNum type="circleNumDbPlain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教材在附录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E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中给出了常用字符的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ASCII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值。</a:t>
            </a:r>
          </a:p>
        </p:txBody>
      </p:sp>
      <p:grpSp>
        <p:nvGrpSpPr>
          <p:cNvPr id="715789" name="Group 13"/>
          <p:cNvGrpSpPr>
            <a:grpSpLocks/>
          </p:cNvGrpSpPr>
          <p:nvPr/>
        </p:nvGrpSpPr>
        <p:grpSpPr bwMode="auto">
          <a:xfrm>
            <a:off x="-14741" y="0"/>
            <a:ext cx="446088" cy="6858000"/>
            <a:chOff x="0" y="0"/>
            <a:chExt cx="281" cy="4320"/>
          </a:xfrm>
        </p:grpSpPr>
        <p:sp>
          <p:nvSpPr>
            <p:cNvPr id="715790" name="Text Box 14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</a:rPr>
                <a:t>第三版</a:t>
              </a: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第一章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预备知识</a:t>
              </a:r>
            </a:p>
          </p:txBody>
        </p:sp>
        <p:sp>
          <p:nvSpPr>
            <p:cNvPr id="715791" name="Text Box 1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57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157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5784" grpId="0"/>
      <p:bldP spid="71578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02" name="Text Box 2"/>
          <p:cNvSpPr txBox="1">
            <a:spLocks noChangeArrowheads="1"/>
          </p:cNvSpPr>
          <p:nvPr/>
        </p:nvSpPr>
        <p:spPr bwMode="auto">
          <a:xfrm>
            <a:off x="578985" y="244475"/>
            <a:ext cx="6931025" cy="579438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kumimoji="0" lang="en-US" altLang="zh-CN" sz="32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1.4 </a:t>
            </a:r>
            <a:r>
              <a:rPr kumimoji="0" lang="zh-CN" altLang="en-US" sz="32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二进制数的位运算</a:t>
            </a:r>
          </a:p>
        </p:txBody>
      </p:sp>
      <p:sp>
        <p:nvSpPr>
          <p:cNvPr id="716806" name="Rectangle 6"/>
          <p:cNvSpPr>
            <a:spLocks noChangeArrowheads="1"/>
          </p:cNvSpPr>
          <p:nvPr/>
        </p:nvSpPr>
        <p:spPr bwMode="auto">
          <a:xfrm>
            <a:off x="539298" y="1366838"/>
            <a:ext cx="11245334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sz="32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逻辑变量</a:t>
            </a:r>
          </a:p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zh-CN" altLang="en-US" sz="32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其值只能有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0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或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两种取值的变量</a:t>
            </a:r>
          </a:p>
          <a:p>
            <a:pPr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sz="32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/>
                <a:ea typeface="隶书" pitchFamily="49" charset="-122"/>
              </a:rPr>
              <a:t>“</a:t>
            </a:r>
            <a:r>
              <a:rPr lang="zh-CN" altLang="en-US" sz="32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与</a:t>
            </a:r>
            <a:r>
              <a:rPr lang="zh-CN" altLang="en-US" sz="32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/>
                <a:ea typeface="隶书" pitchFamily="49" charset="-122"/>
              </a:rPr>
              <a:t>”</a:t>
            </a:r>
            <a:r>
              <a:rPr lang="zh-CN" altLang="en-US" sz="32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运算</a:t>
            </a:r>
            <a:r>
              <a:rPr lang="en-US" altLang="zh-CN" sz="32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(AND)</a:t>
            </a:r>
          </a:p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        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“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与”运算又称为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逻辑乘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，可用符号“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·”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或“∧”来表示，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C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语言中用“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&amp;”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来表示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。如有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A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、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B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两个逻辑变量，可能有的取值情况只有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4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种。</a:t>
            </a:r>
          </a:p>
          <a:p>
            <a:pPr algn="just">
              <a:spcBef>
                <a:spcPct val="20000"/>
              </a:spcBef>
            </a:pP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16807" name="Rectangle 7"/>
          <p:cNvSpPr>
            <a:spLocks noChangeArrowheads="1"/>
          </p:cNvSpPr>
          <p:nvPr/>
        </p:nvSpPr>
        <p:spPr bwMode="auto">
          <a:xfrm>
            <a:off x="947687" y="931219"/>
            <a:ext cx="874871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位运算主要包括：与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(AND)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、或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(OR)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、非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(NOT)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、异或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(XOR)</a:t>
            </a:r>
          </a:p>
        </p:txBody>
      </p:sp>
      <p:graphicFrame>
        <p:nvGraphicFramePr>
          <p:cNvPr id="716849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211666"/>
              </p:ext>
            </p:extLst>
          </p:nvPr>
        </p:nvGraphicFramePr>
        <p:xfrm>
          <a:off x="2207568" y="4077072"/>
          <a:ext cx="4454204" cy="259080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484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5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42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49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A&amp;B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16850" name="Rectangle 50"/>
          <p:cNvSpPr>
            <a:spLocks noChangeArrowheads="1"/>
          </p:cNvSpPr>
          <p:nvPr/>
        </p:nvSpPr>
        <p:spPr bwMode="auto">
          <a:xfrm>
            <a:off x="7320136" y="4797152"/>
            <a:ext cx="4032448" cy="120032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13500000" scaled="1"/>
            <a:tileRect/>
          </a:gradFill>
          <a:ln w="28575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结论：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即只有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、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B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两个变量取值均为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，则它们“与”运算的结果才为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，其它均为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0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。</a:t>
            </a:r>
            <a:r>
              <a:rPr lang="zh-CN" altLang="en-US" b="1" dirty="0">
                <a:solidFill>
                  <a:srgbClr val="FF0000"/>
                </a:solidFill>
                <a:latin typeface="+mn-lt"/>
                <a:ea typeface="楷体" pitchFamily="49" charset="-122"/>
              </a:rPr>
              <a:t> </a:t>
            </a:r>
          </a:p>
        </p:txBody>
      </p:sp>
      <p:grpSp>
        <p:nvGrpSpPr>
          <p:cNvPr id="716854" name="Group 54"/>
          <p:cNvGrpSpPr>
            <a:grpSpLocks/>
          </p:cNvGrpSpPr>
          <p:nvPr/>
        </p:nvGrpSpPr>
        <p:grpSpPr bwMode="auto">
          <a:xfrm>
            <a:off x="-14741" y="0"/>
            <a:ext cx="446088" cy="6858000"/>
            <a:chOff x="0" y="0"/>
            <a:chExt cx="281" cy="4320"/>
          </a:xfrm>
        </p:grpSpPr>
        <p:sp>
          <p:nvSpPr>
            <p:cNvPr id="716855" name="Text Box 5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</a:rPr>
                <a:t>第三版</a:t>
              </a: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第一章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预备知识</a:t>
              </a:r>
            </a:p>
          </p:txBody>
        </p:sp>
        <p:sp>
          <p:nvSpPr>
            <p:cNvPr id="716856" name="Text Box 56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168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68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168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168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168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68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68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168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168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07" grpId="0"/>
      <p:bldP spid="71685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826" name="Text Box 2"/>
          <p:cNvSpPr txBox="1">
            <a:spLocks noChangeArrowheads="1"/>
          </p:cNvSpPr>
          <p:nvPr/>
        </p:nvSpPr>
        <p:spPr bwMode="auto">
          <a:xfrm>
            <a:off x="578985" y="244475"/>
            <a:ext cx="6931025" cy="579438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kumimoji="0" lang="en-US" altLang="zh-CN" sz="32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1.4 </a:t>
            </a:r>
            <a:r>
              <a:rPr kumimoji="0" lang="zh-CN" altLang="en-US" sz="32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二进制数的位运算</a:t>
            </a:r>
          </a:p>
        </p:txBody>
      </p:sp>
      <p:sp>
        <p:nvSpPr>
          <p:cNvPr id="717830" name="Rectangle 6"/>
          <p:cNvSpPr>
            <a:spLocks noChangeArrowheads="1"/>
          </p:cNvSpPr>
          <p:nvPr/>
        </p:nvSpPr>
        <p:spPr bwMode="auto">
          <a:xfrm>
            <a:off x="611306" y="934095"/>
            <a:ext cx="11317342" cy="177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zh-CN" sz="32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/>
                <a:ea typeface="隶书" pitchFamily="49" charset="-122"/>
              </a:rPr>
              <a:t>“</a:t>
            </a:r>
            <a:r>
              <a:rPr lang="zh-CN" altLang="en-US" sz="32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或</a:t>
            </a:r>
            <a:r>
              <a:rPr lang="zh-CN" altLang="en-US" sz="32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/>
                <a:ea typeface="隶书" pitchFamily="49" charset="-122"/>
              </a:rPr>
              <a:t>”</a:t>
            </a:r>
            <a:r>
              <a:rPr lang="zh-CN" altLang="en-US" sz="32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运算</a:t>
            </a:r>
            <a:r>
              <a:rPr lang="en-US" altLang="zh-CN" sz="32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(OR)</a:t>
            </a:r>
          </a:p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“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或”运算又称为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逻辑加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，可用符号“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+”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或“∨”来表示，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C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语言中用“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|”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来表示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。如有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A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、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B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两个逻辑变量，可能有的取值情况只有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4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种。</a:t>
            </a:r>
          </a:p>
          <a:p>
            <a:pPr algn="just">
              <a:spcBef>
                <a:spcPct val="20000"/>
              </a:spcBef>
            </a:pP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717832" name="Group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015714"/>
              </p:ext>
            </p:extLst>
          </p:nvPr>
        </p:nvGraphicFramePr>
        <p:xfrm>
          <a:off x="1919536" y="2708920"/>
          <a:ext cx="5111750" cy="259080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703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4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3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A|B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17858" name="Rectangle 34"/>
          <p:cNvSpPr>
            <a:spLocks noChangeArrowheads="1"/>
          </p:cNvSpPr>
          <p:nvPr/>
        </p:nvSpPr>
        <p:spPr bwMode="auto">
          <a:xfrm>
            <a:off x="7571755" y="3392010"/>
            <a:ext cx="3816424" cy="120032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13500000" scaled="1"/>
            <a:tileRect/>
          </a:gradFill>
          <a:ln w="28575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结论：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即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、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B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变量中只要一个变量取值为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，则它们“或”运算的结果就是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。</a:t>
            </a:r>
            <a:r>
              <a:rPr lang="zh-CN" altLang="en-US" b="1" dirty="0">
                <a:solidFill>
                  <a:srgbClr val="FF0000"/>
                </a:solidFill>
                <a:latin typeface="+mn-lt"/>
                <a:ea typeface="楷体" pitchFamily="49" charset="-122"/>
              </a:rPr>
              <a:t> </a:t>
            </a:r>
          </a:p>
        </p:txBody>
      </p:sp>
      <p:grpSp>
        <p:nvGrpSpPr>
          <p:cNvPr id="717862" name="Group 38"/>
          <p:cNvGrpSpPr>
            <a:grpSpLocks/>
          </p:cNvGrpSpPr>
          <p:nvPr/>
        </p:nvGrpSpPr>
        <p:grpSpPr bwMode="auto">
          <a:xfrm>
            <a:off x="-14741" y="0"/>
            <a:ext cx="446088" cy="6858000"/>
            <a:chOff x="0" y="0"/>
            <a:chExt cx="281" cy="4320"/>
          </a:xfrm>
        </p:grpSpPr>
        <p:sp>
          <p:nvSpPr>
            <p:cNvPr id="717863" name="Text Box 39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</a:rPr>
                <a:t>第三版</a:t>
              </a: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第一章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预备知识</a:t>
              </a:r>
            </a:p>
          </p:txBody>
        </p:sp>
        <p:sp>
          <p:nvSpPr>
            <p:cNvPr id="717864" name="Text Box 40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78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78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178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178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178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178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85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850" name="Text Box 2"/>
          <p:cNvSpPr txBox="1">
            <a:spLocks noChangeArrowheads="1"/>
          </p:cNvSpPr>
          <p:nvPr/>
        </p:nvSpPr>
        <p:spPr bwMode="auto">
          <a:xfrm>
            <a:off x="578985" y="244475"/>
            <a:ext cx="6931025" cy="579438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kumimoji="0" lang="en-US" altLang="zh-CN" sz="32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1.4 </a:t>
            </a:r>
            <a:r>
              <a:rPr kumimoji="0" lang="zh-CN" altLang="en-US" sz="32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二进制数的位运算</a:t>
            </a:r>
          </a:p>
        </p:txBody>
      </p:sp>
      <p:sp>
        <p:nvSpPr>
          <p:cNvPr id="718854" name="Rectangle 6"/>
          <p:cNvSpPr>
            <a:spLocks noChangeArrowheads="1"/>
          </p:cNvSpPr>
          <p:nvPr/>
        </p:nvSpPr>
        <p:spPr bwMode="auto">
          <a:xfrm>
            <a:off x="552351" y="908720"/>
            <a:ext cx="8135937" cy="1125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zh-CN" sz="32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/>
                <a:ea typeface="隶书" pitchFamily="49" charset="-122"/>
              </a:rPr>
              <a:t>“</a:t>
            </a:r>
            <a:r>
              <a:rPr lang="zh-CN" altLang="en-US" sz="32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非</a:t>
            </a:r>
            <a:r>
              <a:rPr lang="zh-CN" altLang="en-US" sz="32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/>
                <a:ea typeface="隶书" pitchFamily="49" charset="-122"/>
              </a:rPr>
              <a:t>”</a:t>
            </a:r>
            <a:r>
              <a:rPr lang="zh-CN" altLang="en-US" sz="32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运算</a:t>
            </a:r>
            <a:r>
              <a:rPr lang="en-US" altLang="zh-CN" sz="32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(NOT)</a:t>
            </a:r>
          </a:p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      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“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非”运算又称为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逻辑反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C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语言中用“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~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”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来表示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。</a:t>
            </a:r>
          </a:p>
          <a:p>
            <a:pPr algn="just">
              <a:spcBef>
                <a:spcPct val="20000"/>
              </a:spcBef>
            </a:pP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718883" name="Group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983885"/>
              </p:ext>
            </p:extLst>
          </p:nvPr>
        </p:nvGraphicFramePr>
        <p:xfrm>
          <a:off x="1775520" y="2348880"/>
          <a:ext cx="3406775" cy="155448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703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3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~A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18881" name="Rectangle 33"/>
          <p:cNvSpPr>
            <a:spLocks noChangeArrowheads="1"/>
          </p:cNvSpPr>
          <p:nvPr/>
        </p:nvSpPr>
        <p:spPr bwMode="auto">
          <a:xfrm>
            <a:off x="6384032" y="2578100"/>
            <a:ext cx="2519363" cy="8509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13500000" scaled="1"/>
            <a:tileRect/>
          </a:gradFill>
          <a:ln w="28575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结论：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即将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的值求反。</a:t>
            </a:r>
            <a:r>
              <a:rPr lang="zh-CN" altLang="en-US" b="1" dirty="0">
                <a:solidFill>
                  <a:srgbClr val="FF0000"/>
                </a:solidFill>
                <a:latin typeface="+mn-lt"/>
                <a:ea typeface="楷体" pitchFamily="49" charset="-122"/>
              </a:rPr>
              <a:t> </a:t>
            </a:r>
          </a:p>
        </p:txBody>
      </p:sp>
      <p:grpSp>
        <p:nvGrpSpPr>
          <p:cNvPr id="718887" name="Group 39"/>
          <p:cNvGrpSpPr>
            <a:grpSpLocks/>
          </p:cNvGrpSpPr>
          <p:nvPr/>
        </p:nvGrpSpPr>
        <p:grpSpPr bwMode="auto">
          <a:xfrm>
            <a:off x="-14741" y="0"/>
            <a:ext cx="446088" cy="6858000"/>
            <a:chOff x="0" y="0"/>
            <a:chExt cx="281" cy="4320"/>
          </a:xfrm>
        </p:grpSpPr>
        <p:sp>
          <p:nvSpPr>
            <p:cNvPr id="718888" name="Text Box 40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</a:rPr>
                <a:t>第三版</a:t>
              </a: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第一章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预备知识</a:t>
              </a:r>
            </a:p>
          </p:txBody>
        </p:sp>
        <p:sp>
          <p:nvSpPr>
            <p:cNvPr id="718889" name="Text Box 41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88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18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18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188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188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854" grpId="0" autoUpdateAnimBg="0"/>
      <p:bldP spid="718881" grpId="0" animBg="1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874" name="Text Box 2"/>
          <p:cNvSpPr txBox="1">
            <a:spLocks noChangeArrowheads="1"/>
          </p:cNvSpPr>
          <p:nvPr/>
        </p:nvSpPr>
        <p:spPr bwMode="auto">
          <a:xfrm>
            <a:off x="582099" y="244475"/>
            <a:ext cx="6931025" cy="579438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kumimoji="0" lang="en-US" altLang="zh-CN" sz="32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1.4 </a:t>
            </a:r>
            <a:r>
              <a:rPr kumimoji="0" lang="zh-CN" altLang="en-US" sz="32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二进制数的位运算</a:t>
            </a:r>
          </a:p>
        </p:txBody>
      </p:sp>
      <p:sp>
        <p:nvSpPr>
          <p:cNvPr id="719878" name="Rectangle 6"/>
          <p:cNvSpPr>
            <a:spLocks noChangeArrowheads="1"/>
          </p:cNvSpPr>
          <p:nvPr/>
        </p:nvSpPr>
        <p:spPr bwMode="auto">
          <a:xfrm>
            <a:off x="562290" y="908720"/>
            <a:ext cx="11150334" cy="177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zh-CN" sz="32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/>
                <a:ea typeface="隶书" pitchFamily="49" charset="-122"/>
              </a:rPr>
              <a:t>“</a:t>
            </a:r>
            <a:r>
              <a:rPr lang="zh-CN" altLang="en-US" sz="32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异或</a:t>
            </a:r>
            <a:r>
              <a:rPr lang="zh-CN" altLang="en-US" sz="32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/>
                <a:ea typeface="隶书" pitchFamily="49" charset="-122"/>
              </a:rPr>
              <a:t>”</a:t>
            </a:r>
            <a:r>
              <a:rPr lang="zh-CN" altLang="en-US" sz="32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运算</a:t>
            </a:r>
            <a:r>
              <a:rPr lang="en-US" altLang="zh-CN" sz="32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(XOR)</a:t>
            </a:r>
          </a:p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  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“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异或”运算可用符号“</a:t>
            </a:r>
            <a:r>
              <a:rPr lang="zh-CN" altLang="en-US" sz="2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⊕</a:t>
            </a:r>
            <a:r>
              <a:rPr lang="zh-CN" altLang="en-US" sz="32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” 来表示，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C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语言中用“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^”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来表示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。如有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A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、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B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两个逻辑变量，可能有的取值情况只有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4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种。</a:t>
            </a:r>
          </a:p>
          <a:p>
            <a:pPr algn="just">
              <a:spcBef>
                <a:spcPct val="20000"/>
              </a:spcBef>
            </a:pP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719879" name="Group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2183752"/>
              </p:ext>
            </p:extLst>
          </p:nvPr>
        </p:nvGraphicFramePr>
        <p:xfrm>
          <a:off x="1491736" y="2740143"/>
          <a:ext cx="5111750" cy="259080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703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4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3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A^B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19905" name="Rectangle 33"/>
          <p:cNvSpPr>
            <a:spLocks noChangeArrowheads="1"/>
          </p:cNvSpPr>
          <p:nvPr/>
        </p:nvSpPr>
        <p:spPr bwMode="auto">
          <a:xfrm>
            <a:off x="7513124" y="3250713"/>
            <a:ext cx="3767452" cy="156966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13500000" scaled="1"/>
            <a:tileRect/>
          </a:gradFill>
          <a:ln w="28575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结论：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即当两个变量的取值相异时，则它们“异或”运算的结果就是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，相同则结果为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0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。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</a:t>
            </a:r>
          </a:p>
        </p:txBody>
      </p:sp>
      <p:grpSp>
        <p:nvGrpSpPr>
          <p:cNvPr id="719909" name="Group 37"/>
          <p:cNvGrpSpPr>
            <a:grpSpLocks/>
          </p:cNvGrpSpPr>
          <p:nvPr/>
        </p:nvGrpSpPr>
        <p:grpSpPr bwMode="auto">
          <a:xfrm>
            <a:off x="-11627" y="0"/>
            <a:ext cx="446088" cy="6858000"/>
            <a:chOff x="0" y="0"/>
            <a:chExt cx="281" cy="4320"/>
          </a:xfrm>
        </p:grpSpPr>
        <p:sp>
          <p:nvSpPr>
            <p:cNvPr id="719910" name="Text Box 38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</a:rPr>
                <a:t>第三版</a:t>
              </a: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第一章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预备知识</a:t>
              </a:r>
            </a:p>
          </p:txBody>
        </p:sp>
        <p:sp>
          <p:nvSpPr>
            <p:cNvPr id="719911" name="Text Box 39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98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98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198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198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199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199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990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898" name="Text Box 2"/>
          <p:cNvSpPr txBox="1">
            <a:spLocks noChangeArrowheads="1"/>
          </p:cNvSpPr>
          <p:nvPr/>
        </p:nvSpPr>
        <p:spPr bwMode="auto">
          <a:xfrm>
            <a:off x="578985" y="244475"/>
            <a:ext cx="6931025" cy="579438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kumimoji="0" lang="zh-CN" altLang="en-US" sz="32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按位运算举例</a:t>
            </a:r>
          </a:p>
        </p:txBody>
      </p:sp>
      <p:sp>
        <p:nvSpPr>
          <p:cNvPr id="720902" name="Rectangle 6"/>
          <p:cNvSpPr>
            <a:spLocks noChangeArrowheads="1"/>
          </p:cNvSpPr>
          <p:nvPr/>
        </p:nvSpPr>
        <p:spPr bwMode="auto">
          <a:xfrm>
            <a:off x="539296" y="881064"/>
            <a:ext cx="11173327" cy="1125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      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【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例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】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:  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如果两个变量的其值为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X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＝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0X00FF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，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Y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＝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0X5555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，求 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X&amp;Y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、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X|Y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、 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~X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、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X^Y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的值 </a:t>
            </a:r>
          </a:p>
        </p:txBody>
      </p:sp>
      <p:sp>
        <p:nvSpPr>
          <p:cNvPr id="721223" name="Rectangle 327"/>
          <p:cNvSpPr>
            <a:spLocks noChangeArrowheads="1"/>
          </p:cNvSpPr>
          <p:nvPr/>
        </p:nvSpPr>
        <p:spPr bwMode="auto">
          <a:xfrm>
            <a:off x="2753245" y="3138014"/>
            <a:ext cx="660206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X &amp; Y =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（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0 0 0 0 0 0 0 0 0 1 0 1 0 1 0 1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）</a:t>
            </a:r>
            <a:r>
              <a:rPr lang="en-US" altLang="zh-CN" sz="2800" b="1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2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</a:p>
        </p:txBody>
      </p:sp>
      <p:grpSp>
        <p:nvGrpSpPr>
          <p:cNvPr id="721228" name="Group 332"/>
          <p:cNvGrpSpPr>
            <a:grpSpLocks/>
          </p:cNvGrpSpPr>
          <p:nvPr/>
        </p:nvGrpSpPr>
        <p:grpSpPr bwMode="auto">
          <a:xfrm>
            <a:off x="2932840" y="1916832"/>
            <a:ext cx="6769103" cy="1127126"/>
            <a:chOff x="901" y="1215"/>
            <a:chExt cx="4264" cy="710"/>
          </a:xfrm>
        </p:grpSpPr>
        <p:sp>
          <p:nvSpPr>
            <p:cNvPr id="721221" name="Rectangle 325"/>
            <p:cNvSpPr>
              <a:spLocks noChangeArrowheads="1"/>
            </p:cNvSpPr>
            <p:nvPr/>
          </p:nvSpPr>
          <p:spPr bwMode="auto">
            <a:xfrm>
              <a:off x="1190" y="1215"/>
              <a:ext cx="3767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altLang="zh-CN" sz="28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X  =</a:t>
              </a:r>
              <a:r>
                <a:rPr lang="zh-CN" altLang="en-US" sz="28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（</a:t>
              </a:r>
              <a:r>
                <a:rPr lang="en-US" altLang="zh-CN" sz="28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0 0 0 0 0 0 0 0 1 1 1 1 1 1 1 1</a:t>
              </a:r>
              <a:r>
                <a:rPr lang="zh-CN" altLang="en-US" sz="28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）</a:t>
              </a:r>
              <a:r>
                <a:rPr lang="en-US" altLang="zh-CN" sz="2800" b="1" baseline="-25000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2</a:t>
              </a:r>
              <a:r>
                <a:rPr lang="en-US" altLang="zh-CN" sz="28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 </a:t>
              </a:r>
            </a:p>
          </p:txBody>
        </p:sp>
        <p:sp>
          <p:nvSpPr>
            <p:cNvPr id="721222" name="Rectangle 326"/>
            <p:cNvSpPr>
              <a:spLocks noChangeArrowheads="1"/>
            </p:cNvSpPr>
            <p:nvPr/>
          </p:nvSpPr>
          <p:spPr bwMode="auto">
            <a:xfrm>
              <a:off x="1191" y="1560"/>
              <a:ext cx="3758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altLang="zh-CN" sz="28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Y  =</a:t>
              </a:r>
              <a:r>
                <a:rPr lang="zh-CN" altLang="en-US" sz="28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（</a:t>
              </a:r>
              <a:r>
                <a:rPr lang="en-US" altLang="zh-CN" sz="28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0 1 0 1 0 1 0 1 0 1 0 1 0 1 0 1</a:t>
              </a:r>
              <a:r>
                <a:rPr lang="zh-CN" altLang="en-US" sz="28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）</a:t>
              </a:r>
              <a:r>
                <a:rPr lang="en-US" altLang="zh-CN" sz="2800" b="1" baseline="-25000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2</a:t>
              </a:r>
              <a:r>
                <a:rPr lang="en-US" altLang="zh-CN" sz="28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 </a:t>
              </a:r>
            </a:p>
          </p:txBody>
        </p:sp>
        <p:sp>
          <p:nvSpPr>
            <p:cNvPr id="721224" name="Line 328"/>
            <p:cNvSpPr>
              <a:spLocks noChangeShapeType="1"/>
            </p:cNvSpPr>
            <p:nvPr/>
          </p:nvSpPr>
          <p:spPr bwMode="auto">
            <a:xfrm>
              <a:off x="901" y="1925"/>
              <a:ext cx="42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2800"/>
            </a:p>
          </p:txBody>
        </p:sp>
      </p:grpSp>
      <p:sp>
        <p:nvSpPr>
          <p:cNvPr id="721229" name="Rectangle 333"/>
          <p:cNvSpPr>
            <a:spLocks noChangeArrowheads="1"/>
          </p:cNvSpPr>
          <p:nvPr/>
        </p:nvSpPr>
        <p:spPr bwMode="auto">
          <a:xfrm>
            <a:off x="2711624" y="3693536"/>
            <a:ext cx="661969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X  |  Y =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（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0 1 0 1 0 1 0 1 1 1 1 1 1 1 1 1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）</a:t>
            </a:r>
            <a:r>
              <a:rPr lang="en-US" altLang="zh-CN" sz="2800" b="1" baseline="-25000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2 </a:t>
            </a:r>
          </a:p>
        </p:txBody>
      </p:sp>
      <p:sp>
        <p:nvSpPr>
          <p:cNvPr id="721230" name="Rectangle 334"/>
          <p:cNvSpPr>
            <a:spLocks noChangeArrowheads="1"/>
          </p:cNvSpPr>
          <p:nvPr/>
        </p:nvSpPr>
        <p:spPr bwMode="auto">
          <a:xfrm>
            <a:off x="3168824" y="4251990"/>
            <a:ext cx="613501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solidFill>
                  <a:srgbClr val="008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~X  =</a:t>
            </a:r>
            <a:r>
              <a:rPr lang="zh-CN" altLang="en-US" sz="2800" b="1" dirty="0">
                <a:solidFill>
                  <a:srgbClr val="008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（</a:t>
            </a:r>
            <a:r>
              <a:rPr lang="en-US" altLang="zh-CN" sz="2800" b="1" dirty="0">
                <a:solidFill>
                  <a:srgbClr val="008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1 1 1 1 1 1 1 1 0 0 0 0 0 0 0 0</a:t>
            </a:r>
            <a:r>
              <a:rPr lang="zh-CN" altLang="en-US" sz="2800" b="1" dirty="0">
                <a:solidFill>
                  <a:srgbClr val="008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）</a:t>
            </a:r>
            <a:r>
              <a:rPr lang="en-US" altLang="zh-CN" sz="2800" b="1" baseline="-25000" dirty="0">
                <a:solidFill>
                  <a:srgbClr val="008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2 </a:t>
            </a:r>
          </a:p>
        </p:txBody>
      </p:sp>
      <p:sp>
        <p:nvSpPr>
          <p:cNvPr id="721231" name="Rectangle 335"/>
          <p:cNvSpPr>
            <a:spLocks noChangeArrowheads="1"/>
          </p:cNvSpPr>
          <p:nvPr/>
        </p:nvSpPr>
        <p:spPr bwMode="auto">
          <a:xfrm>
            <a:off x="2824738" y="4790152"/>
            <a:ext cx="651069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solidFill>
                  <a:srgbClr val="CC00CC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X ^ Y =</a:t>
            </a:r>
            <a:r>
              <a:rPr lang="zh-CN" altLang="en-US" sz="2800" b="1" dirty="0">
                <a:solidFill>
                  <a:srgbClr val="CC00CC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（</a:t>
            </a:r>
            <a:r>
              <a:rPr lang="en-US" altLang="zh-CN" sz="2800" b="1" dirty="0">
                <a:solidFill>
                  <a:srgbClr val="CC00CC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0 1 0 1 0 1 0 1 1 0 1 0 1 0 1 0</a:t>
            </a:r>
            <a:r>
              <a:rPr lang="zh-CN" altLang="en-US" sz="2800" b="1" dirty="0">
                <a:solidFill>
                  <a:srgbClr val="CC00CC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）</a:t>
            </a:r>
            <a:r>
              <a:rPr lang="en-US" altLang="zh-CN" sz="2800" b="1" baseline="-25000" dirty="0">
                <a:solidFill>
                  <a:srgbClr val="CC00CC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2</a:t>
            </a:r>
            <a:r>
              <a:rPr lang="en-US" altLang="zh-CN" sz="2800" b="1" dirty="0">
                <a:solidFill>
                  <a:srgbClr val="CC00CC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</a:p>
        </p:txBody>
      </p:sp>
      <p:grpSp>
        <p:nvGrpSpPr>
          <p:cNvPr id="721235" name="Group 339"/>
          <p:cNvGrpSpPr>
            <a:grpSpLocks/>
          </p:cNvGrpSpPr>
          <p:nvPr/>
        </p:nvGrpSpPr>
        <p:grpSpPr bwMode="auto">
          <a:xfrm>
            <a:off x="-14741" y="0"/>
            <a:ext cx="446088" cy="6858000"/>
            <a:chOff x="0" y="0"/>
            <a:chExt cx="281" cy="4320"/>
          </a:xfrm>
        </p:grpSpPr>
        <p:sp>
          <p:nvSpPr>
            <p:cNvPr id="721236" name="Text Box 340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</a:rPr>
                <a:t>第三版</a:t>
              </a: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第一章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预备知识</a:t>
              </a:r>
            </a:p>
          </p:txBody>
        </p:sp>
        <p:sp>
          <p:nvSpPr>
            <p:cNvPr id="721237" name="Text Box 341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208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209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212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21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21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21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21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21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21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21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21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0898" grpId="0"/>
      <p:bldP spid="720902" grpId="0"/>
      <p:bldP spid="721223" grpId="0"/>
      <p:bldP spid="721229" grpId="0"/>
      <p:bldP spid="721230" grpId="0"/>
      <p:bldP spid="72123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922" name="Text Box 2"/>
          <p:cNvSpPr txBox="1">
            <a:spLocks noChangeArrowheads="1"/>
          </p:cNvSpPr>
          <p:nvPr/>
        </p:nvSpPr>
        <p:spPr bwMode="auto">
          <a:xfrm>
            <a:off x="668827" y="176765"/>
            <a:ext cx="2232248" cy="579438"/>
          </a:xfrm>
          <a:prstGeom prst="rect">
            <a:avLst/>
          </a:prstGeom>
          <a:ln>
            <a:noFill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kumimoji="0" lang="zh-CN" altLang="en-US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本章小结：</a:t>
            </a:r>
          </a:p>
        </p:txBody>
      </p:sp>
      <p:sp>
        <p:nvSpPr>
          <p:cNvPr id="721938" name="Rectangle 18"/>
          <p:cNvSpPr>
            <a:spLocks noChangeArrowheads="1"/>
          </p:cNvSpPr>
          <p:nvPr/>
        </p:nvSpPr>
        <p:spPr bwMode="auto">
          <a:xfrm>
            <a:off x="739045" y="1052736"/>
            <a:ext cx="11043152" cy="4990597"/>
          </a:xfrm>
          <a:prstGeom prst="rect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3500000" scaled="1"/>
            <a:tileRect/>
          </a:grad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342900" indent="-342900">
              <a:lnSpc>
                <a:spcPts val="3500"/>
              </a:lnSpc>
              <a:buClr>
                <a:srgbClr val="FF00FF"/>
              </a:buClr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rgbClr val="FF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计算机是由硬件系统和软件系统组成的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。硬件系统又是由控制器、运算器、存储器及输入输出设备五大部件构成的，其中控制器和运算器集成在一起成为中央处理器（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CPU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），控制器发出控制命令指挥其它逻辑部件进行工作，运算器可执行算术和逻辑运算操作，存储器分为内存和外存，所有的数据和程序必须在内存中运行和执行，内存中存放数据是以存储单元为单位进行存放的，每个存储单元都有一个存储地址，计算机就是通过存储地址来访问存储单元的数据的。</a:t>
            </a:r>
            <a:endParaRPr lang="en-US" altLang="zh-CN" b="1" dirty="0">
              <a:solidFill>
                <a:srgbClr val="0070C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ts val="3500"/>
              </a:lnSpc>
              <a:buClr>
                <a:srgbClr val="FF00FF"/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FF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软件是指计算机程序及有关程序的技术文档资料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。两者中更为重要的是程序，它是计算机进行数据处理的指令集，也是计算机正常工作最重要的因素。计算机离开了软件系统是无法工作的，软件分为系统软件和应用软件，系统软件中最为典型的就是操作系统，我们平时编制的软件通常是应用软件。  </a:t>
            </a:r>
          </a:p>
        </p:txBody>
      </p:sp>
      <p:grpSp>
        <p:nvGrpSpPr>
          <p:cNvPr id="721939" name="Group 19"/>
          <p:cNvGrpSpPr>
            <a:grpSpLocks/>
          </p:cNvGrpSpPr>
          <p:nvPr/>
        </p:nvGrpSpPr>
        <p:grpSpPr bwMode="auto">
          <a:xfrm>
            <a:off x="-14741" y="0"/>
            <a:ext cx="446088" cy="6858000"/>
            <a:chOff x="0" y="0"/>
            <a:chExt cx="281" cy="4320"/>
          </a:xfrm>
        </p:grpSpPr>
        <p:sp>
          <p:nvSpPr>
            <p:cNvPr id="721940" name="Text Box 20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</a:rPr>
                <a:t>第三版</a:t>
              </a: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第一章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预备知识</a:t>
              </a:r>
            </a:p>
          </p:txBody>
        </p:sp>
        <p:sp>
          <p:nvSpPr>
            <p:cNvPr id="721941" name="Text Box 21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219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7219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1922" grpId="0" animBg="1"/>
      <p:bldP spid="72193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922" name="Text Box 2"/>
          <p:cNvSpPr txBox="1">
            <a:spLocks noChangeArrowheads="1"/>
          </p:cNvSpPr>
          <p:nvPr/>
        </p:nvSpPr>
        <p:spPr bwMode="auto">
          <a:xfrm>
            <a:off x="668827" y="176765"/>
            <a:ext cx="2232248" cy="579438"/>
          </a:xfrm>
          <a:prstGeom prst="rect">
            <a:avLst/>
          </a:prstGeom>
          <a:ln>
            <a:noFill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kumimoji="0" lang="zh-CN" altLang="en-US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本章小结：</a:t>
            </a:r>
          </a:p>
        </p:txBody>
      </p:sp>
      <p:sp>
        <p:nvSpPr>
          <p:cNvPr id="721938" name="Rectangle 18"/>
          <p:cNvSpPr>
            <a:spLocks noChangeArrowheads="1"/>
          </p:cNvSpPr>
          <p:nvPr/>
        </p:nvSpPr>
        <p:spPr bwMode="auto">
          <a:xfrm>
            <a:off x="739045" y="1052736"/>
            <a:ext cx="11043152" cy="4092915"/>
          </a:xfrm>
          <a:prstGeom prst="rect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3500000" scaled="1"/>
            <a:tileRect/>
          </a:grad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342900" indent="-342900">
              <a:lnSpc>
                <a:spcPts val="3500"/>
              </a:lnSpc>
              <a:buClr>
                <a:srgbClr val="FF00FF"/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FF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计算机中使用的进制数是二进制数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，而不是十进制数，因为二进制只有两个数码，运算简单便于硬件实现，同时二进制便于逻辑运算。将十进制转换成二进制整数部分可采用基数除法来实现，小数部分可采用基数乘法来实现。八进制和十六进制也是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语言中经常表示数据的进制，因为它门与二进制之间的转换非常方便，但要注意它们不是计算机中使用的进制。</a:t>
            </a:r>
            <a:endParaRPr lang="en-US" altLang="zh-CN" b="1" dirty="0">
              <a:solidFill>
                <a:srgbClr val="0070C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ts val="3500"/>
              </a:lnSpc>
              <a:buClr>
                <a:srgbClr val="FF00FF"/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FF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机器数的表示形式有原码、反码和补码几种形式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，计算机中通常是使用补码的形式来表示一个数，因为补码运算可以连同符号位一起参与运算，这便于运算器的设计和实现。</a:t>
            </a:r>
            <a:endParaRPr lang="en-US" altLang="zh-CN" b="1" dirty="0">
              <a:solidFill>
                <a:srgbClr val="0070C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ts val="3500"/>
              </a:lnSpc>
              <a:buClr>
                <a:srgbClr val="FF00FF"/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FF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二进制的位运算有“与” 、“或”、“非”和“异或”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。 </a:t>
            </a:r>
          </a:p>
        </p:txBody>
      </p:sp>
      <p:grpSp>
        <p:nvGrpSpPr>
          <p:cNvPr id="721939" name="Group 19"/>
          <p:cNvGrpSpPr>
            <a:grpSpLocks/>
          </p:cNvGrpSpPr>
          <p:nvPr/>
        </p:nvGrpSpPr>
        <p:grpSpPr bwMode="auto">
          <a:xfrm>
            <a:off x="-14741" y="0"/>
            <a:ext cx="446088" cy="6858000"/>
            <a:chOff x="0" y="0"/>
            <a:chExt cx="281" cy="4320"/>
          </a:xfrm>
        </p:grpSpPr>
        <p:sp>
          <p:nvSpPr>
            <p:cNvPr id="721940" name="Text Box 20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</a:rPr>
                <a:t>第三版</a:t>
              </a: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8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第一章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3333CC"/>
                  </a:solidFill>
                  <a:latin typeface="Verdana" pitchFamily="34" charset="0"/>
                </a:rPr>
                <a:t>预备知识</a:t>
              </a:r>
            </a:p>
          </p:txBody>
        </p:sp>
        <p:sp>
          <p:nvSpPr>
            <p:cNvPr id="721941" name="Text Box 21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7" name="Rectangle 7">
            <a:extLst>
              <a:ext uri="{FF2B5EF4-FFF2-40B4-BE49-F238E27FC236}">
                <a16:creationId xmlns:a16="http://schemas.microsoft.com/office/drawing/2014/main" id="{B2C5FC48-B9FA-4E6C-AF8C-08B95271AA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408" y="5589240"/>
            <a:ext cx="7921625" cy="461665"/>
          </a:xfrm>
          <a:prstGeom prst="rect">
            <a:avLst/>
          </a:prstGeom>
          <a:solidFill>
            <a:srgbClr val="FF0000"/>
          </a:solidFill>
          <a:ln w="28575">
            <a:solidFill>
              <a:srgbClr val="00CCFF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习题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：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1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、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、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  <a:r>
              <a:rPr lang="en-US" altLang="zh-CN" b="1" dirty="0">
                <a:solidFill>
                  <a:srgbClr val="FF66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371725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219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1938" grpId="0" animBg="1"/>
      <p:bldP spid="7" grpId="0" animBg="1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5650</TotalTime>
  <Words>6215</Words>
  <Application>Microsoft Office PowerPoint</Application>
  <PresentationFormat>宽屏</PresentationFormat>
  <Paragraphs>996</Paragraphs>
  <Slides>46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46</vt:i4>
      </vt:variant>
    </vt:vector>
  </HeadingPairs>
  <TitlesOfParts>
    <vt:vector size="64" baseType="lpstr">
      <vt:lpstr>ˎ̥</vt:lpstr>
      <vt:lpstr>굴림</vt:lpstr>
      <vt:lpstr>华文琥珀</vt:lpstr>
      <vt:lpstr>华文新魏</vt:lpstr>
      <vt:lpstr>楷体</vt:lpstr>
      <vt:lpstr>楷体_GB2312</vt:lpstr>
      <vt:lpstr>隶书</vt:lpstr>
      <vt:lpstr>宋体</vt:lpstr>
      <vt:lpstr>微软雅黑</vt:lpstr>
      <vt:lpstr>Arial</vt:lpstr>
      <vt:lpstr>Symbol</vt:lpstr>
      <vt:lpstr>Times New Roman</vt:lpstr>
      <vt:lpstr>Verdana</vt:lpstr>
      <vt:lpstr>Wingdings</vt:lpstr>
      <vt:lpstr>默认设计模板</vt:lpstr>
      <vt:lpstr>剪辑</vt:lpstr>
      <vt:lpstr>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software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yanweimin</dc:creator>
  <cp:lastModifiedBy>WIN10-20H2</cp:lastModifiedBy>
  <cp:revision>417</cp:revision>
  <dcterms:created xsi:type="dcterms:W3CDTF">1999-05-31T10:27:02Z</dcterms:created>
  <dcterms:modified xsi:type="dcterms:W3CDTF">2022-03-11T00:29:48Z</dcterms:modified>
</cp:coreProperties>
</file>